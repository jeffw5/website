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29"/>
  </p:notesMasterIdLst>
  <p:handoutMasterIdLst>
    <p:handoutMasterId r:id="rId30"/>
  </p:handoutMasterIdLst>
  <p:sldIdLst>
    <p:sldId id="257" r:id="rId2"/>
    <p:sldId id="280" r:id="rId3"/>
    <p:sldId id="281" r:id="rId4"/>
    <p:sldId id="283" r:id="rId5"/>
    <p:sldId id="282" r:id="rId6"/>
    <p:sldId id="279" r:id="rId7"/>
    <p:sldId id="266" r:id="rId8"/>
    <p:sldId id="267" r:id="rId9"/>
    <p:sldId id="268" r:id="rId10"/>
    <p:sldId id="269" r:id="rId11"/>
    <p:sldId id="270" r:id="rId12"/>
    <p:sldId id="271" r:id="rId13"/>
    <p:sldId id="278" r:id="rId14"/>
    <p:sldId id="273" r:id="rId15"/>
    <p:sldId id="274" r:id="rId16"/>
    <p:sldId id="277" r:id="rId17"/>
    <p:sldId id="276" r:id="rId18"/>
    <p:sldId id="284" r:id="rId19"/>
    <p:sldId id="285" r:id="rId20"/>
    <p:sldId id="286" r:id="rId21"/>
    <p:sldId id="290" r:id="rId22"/>
    <p:sldId id="288" r:id="rId23"/>
    <p:sldId id="289" r:id="rId24"/>
    <p:sldId id="294" r:id="rId25"/>
    <p:sldId id="293" r:id="rId26"/>
    <p:sldId id="292" r:id="rId27"/>
    <p:sldId id="272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103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0DB8C4-3BD2-47FE-B88A-0472FB3FC17F}" type="datetimeFigureOut">
              <a:rPr lang="en-US"/>
              <a:pPr>
                <a:defRPr/>
              </a:pPr>
              <a:t>11/18/2009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3D4289C-8493-4E63-AF53-D90E3BD50D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6EE55AA-28B4-4551-B527-B786BD651246}" type="datetimeFigureOut">
              <a:rPr lang="en-US"/>
              <a:pPr>
                <a:defRPr/>
              </a:pPr>
              <a:t>11/18/2009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FDE667A-B541-42EB-AFA1-818156A26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21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>
                <a:cs typeface="Arial" pitchFamily="34" charset="0"/>
              </a:rPr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cs typeface="+mn-cs"/>
              </a:rPr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9F18F26-F0A7-4867-9B50-B61B56729298}" type="datetimeFigureOut">
              <a:rPr lang="en-US"/>
              <a:pPr>
                <a:defRPr/>
              </a:pPr>
              <a:t>11/18/2009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9B1A13B-7143-457F-9A83-279316F5E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>
                <a:cs typeface="Arial" pitchFamily="34" charset="0"/>
              </a:rPr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4761283-92D1-465A-A9DE-39C1FE64F1B0}" type="datetimeFigureOut">
              <a:rPr lang="en-US"/>
              <a:pPr>
                <a:defRPr/>
              </a:pPr>
              <a:t>11/18/2009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EA57725-A5CD-4197-8D5F-07A59FCA78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DB4570B-824E-4710-9FE7-4999F7678D30}" type="datetimeFigureOut">
              <a:rPr lang="en-US"/>
              <a:pPr>
                <a:defRPr/>
              </a:pPr>
              <a:t>11/18/2009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8D5D752D-DB20-4E61-9C42-04CC536BC0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118F216-1DCA-4CBA-98DA-01F0A8D357B0}" type="datetimeFigureOut">
              <a:rPr lang="en-US"/>
              <a:pPr>
                <a:defRPr/>
              </a:pPr>
              <a:t>11/18/2009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86D9F4F0-59D6-4DAE-9DC1-E2C1EA9AEE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09276F0D-77EE-4E97-972A-77DC7C07586C}" type="datetimeFigureOut">
              <a:rPr lang="en-US"/>
              <a:pPr>
                <a:defRPr/>
              </a:pPr>
              <a:t>11/18/2009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9F7AB826-232E-4629-97E5-A4AD76A053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8403592-4301-49FE-AB1B-72F22E9A6758}" type="datetimeFigureOut">
              <a:rPr lang="en-US"/>
              <a:pPr>
                <a:defRPr/>
              </a:pPr>
              <a:t>11/18/2009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00D9CA1-F449-4B62-9FEE-53124E9D8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90ED000F-6DD7-4B8F-B405-AB2F688E2F27}" type="datetimeFigureOut">
              <a:rPr lang="en-US"/>
              <a:pPr>
                <a:defRPr/>
              </a:pPr>
              <a:t>11/18/2009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EDD0FC1-BF73-4473-9C32-E5565BB691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3246C29-74FE-4BDE-BB7E-48B722A004D5}" type="datetimeFigureOut">
              <a:rPr lang="en-US"/>
              <a:pPr>
                <a:defRPr/>
              </a:pPr>
              <a:t>11/18/2009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D638F575-5C92-4641-AC7D-93565BB5F4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1E62F3E-EB45-4360-8B66-20490B5DFFFD}" type="datetimeFigureOut">
              <a:rPr lang="en-US"/>
              <a:pPr>
                <a:defRPr/>
              </a:pPr>
              <a:t>11/18/2009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6879031-AAC8-4347-9B22-7765580863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8B29E5D2-6DAA-4C51-856A-06DF7B1863BD}" type="datetimeFigureOut">
              <a:rPr lang="en-US"/>
              <a:pPr>
                <a:defRPr/>
              </a:pPr>
              <a:t>11/18/2009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9003868-752D-4AF2-80DC-EFC2BFBF8C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2C23AB1-A186-4D17-B0BE-DBDC6EFF55B7}" type="datetimeFigureOut">
              <a:rPr lang="en-US"/>
              <a:pPr>
                <a:defRPr/>
              </a:pPr>
              <a:t>11/18/2009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2">
                    <a:shade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40CFA1D-0092-447C-A60E-2973D07A72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Shir Hadash</a:t>
            </a:r>
            <a:br>
              <a:rPr lang="en-US" b="1" dirty="0" smtClean="0"/>
            </a:br>
            <a:r>
              <a:rPr lang="en-US" b="1" dirty="0" smtClean="0"/>
              <a:t>Ideation Session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3657600"/>
            <a:ext cx="2878710" cy="2366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773842" y="152400"/>
            <a:ext cx="2204579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0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It</a:t>
            </a:r>
            <a:r>
              <a:rPr lang="en-US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’s Fun !</a:t>
            </a:r>
          </a:p>
          <a:p>
            <a:pPr algn="ctr"/>
            <a:r>
              <a:rPr lang="en-US" sz="20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It’s Fast !</a:t>
            </a:r>
          </a:p>
          <a:p>
            <a:pPr algn="ctr"/>
            <a:r>
              <a:rPr lang="en-US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It’s Productive !</a:t>
            </a:r>
            <a:endParaRPr lang="en-US" sz="2000" b="1" cap="none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524000"/>
          <a:ext cx="8001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/>
                <a:gridCol w="1981200"/>
                <a:gridCol w="1143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Activity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Resources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Effort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Define the Objective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Ed Committee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r>
                        <a:rPr lang="en-US" baseline="0" dirty="0" smtClean="0"/>
                        <a:t> min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Initial Idea Dump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Students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 min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Concept Fan + More Ideas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Teachers</a:t>
                      </a:r>
                      <a:r>
                        <a:rPr lang="en-US" baseline="0" dirty="0" smtClean="0"/>
                        <a:t> (ideally)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 min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Random Entry 1 (Out</a:t>
                      </a:r>
                      <a:r>
                        <a:rPr lang="en-US" baseline="0" dirty="0" smtClean="0"/>
                        <a:t> of the Box Ideas)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Parents/Members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 min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Random Entry 2 (Out</a:t>
                      </a:r>
                      <a:r>
                        <a:rPr lang="en-US" baseline="0" dirty="0" smtClean="0"/>
                        <a:t> of the Box Ideas)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Parents/Members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 min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Harvesting (Categorization</a:t>
                      </a:r>
                      <a:r>
                        <a:rPr lang="en-US" baseline="0" dirty="0" smtClean="0"/>
                        <a:t> &amp; Prioritization)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Ed Committee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 min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Idea</a:t>
                      </a:r>
                      <a:r>
                        <a:rPr lang="en-US" baseline="0" dirty="0" smtClean="0"/>
                        <a:t> Selection (Top 3 Ideas – Voting for 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Ed Committee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 min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Total Time</a:t>
                      </a:r>
                      <a:endParaRPr lang="en-US" b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4 hours</a:t>
                      </a:r>
                      <a:endParaRPr lang="en-US" b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DC8F3F-C0B9-4610-B5ED-E5336873386D}" type="slidenum">
              <a:rPr lang="en-GB"/>
              <a:pPr/>
              <a:t>3</a:t>
            </a:fld>
            <a:endParaRPr lang="en-GB"/>
          </a:p>
        </p:txBody>
      </p:sp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 Statement</a:t>
            </a:r>
          </a:p>
        </p:txBody>
      </p:sp>
      <p:sp>
        <p:nvSpPr>
          <p:cNvPr id="222213" name="Rectangle 5"/>
          <p:cNvSpPr>
            <a:spLocks noChangeArrowheads="1"/>
          </p:cNvSpPr>
          <p:nvPr/>
        </p:nvSpPr>
        <p:spPr bwMode="auto">
          <a:xfrm>
            <a:off x="914400" y="1387019"/>
            <a:ext cx="7412038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AU" sz="3200" b="1" i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3200" b="1" i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Develop a Shabbat program to build an all-inclusive, all-embracing </a:t>
            </a:r>
            <a:r>
              <a:rPr lang="en-US" sz="32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Shir</a:t>
            </a:r>
            <a:r>
              <a:rPr lang="en-US" sz="3200" b="1" i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Hadash</a:t>
            </a:r>
            <a:r>
              <a:rPr lang="en-US" sz="3200" b="1" i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community where members of all ages and all levels want to be a part</a:t>
            </a:r>
            <a:r>
              <a:rPr lang="en-US" sz="3200" b="1" i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.”</a:t>
            </a:r>
            <a:endParaRPr lang="en-US" sz="3200" b="1" i="1" dirty="0" smtClean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3200" b="1" i="1" dirty="0" smtClean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800" b="1" i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800" b="1" i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program will include: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2800" b="1" i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Jewish </a:t>
            </a:r>
            <a:r>
              <a:rPr lang="en-US" sz="2800" b="1" i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Culture and Traditions (Dance, Music &amp; </a:t>
            </a:r>
            <a:r>
              <a:rPr lang="en-US" sz="2800" b="1" i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Food)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2800" b="1" i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Jewish History and </a:t>
            </a:r>
            <a:r>
              <a:rPr lang="en-US" sz="2800" b="1" i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800" b="1" i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course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2800" b="1" i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Jewish Education </a:t>
            </a:r>
            <a:endParaRPr lang="en-AU" sz="2800" b="1" i="1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Idea Dump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30 min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2CA609-A159-4213-B654-F06B956700CE}" type="slidenum">
              <a:rPr lang="en-GB"/>
              <a:pPr/>
              <a:t>5</a:t>
            </a:fld>
            <a:endParaRPr lang="en-GB"/>
          </a:p>
        </p:txBody>
      </p:sp>
      <p:sp>
        <p:nvSpPr>
          <p:cNvPr id="22835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Definition: </a:t>
            </a:r>
            <a:r>
              <a:rPr 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Idea</a:t>
            </a:r>
          </a:p>
          <a:p>
            <a:pPr lvl="1"/>
            <a:r>
              <a:rPr lang="en-US"/>
              <a:t>A general approach to doing something </a:t>
            </a:r>
            <a:r>
              <a:rPr lang="en-US">
                <a:sym typeface="Symbol" pitchFamily="18" charset="2"/>
              </a:rPr>
              <a:t></a:t>
            </a:r>
            <a:r>
              <a:rPr lang="en-US"/>
              <a:t> A general direction </a:t>
            </a:r>
            <a:r>
              <a:rPr lang="en-US">
                <a:sym typeface="Symbol" pitchFamily="18" charset="2"/>
              </a:rPr>
              <a:t></a:t>
            </a:r>
            <a:r>
              <a:rPr lang="en-US"/>
              <a:t> High level, view from above  </a:t>
            </a:r>
            <a:r>
              <a:rPr lang="en-US">
                <a:sym typeface="Symbol" pitchFamily="18" charset="2"/>
              </a:rPr>
              <a:t></a:t>
            </a:r>
            <a:r>
              <a:rPr lang="en-US"/>
              <a:t> </a:t>
            </a:r>
            <a:r>
              <a:rPr lang="en-US" u="sng"/>
              <a:t>Is not</a:t>
            </a:r>
            <a:r>
              <a:rPr lang="en-US"/>
              <a:t> “actionable”</a:t>
            </a:r>
          </a:p>
          <a:p>
            <a:pPr lvl="1"/>
            <a:endParaRPr lang="en-US"/>
          </a:p>
          <a:p>
            <a:r>
              <a:rPr lang="en-US"/>
              <a:t>Examples:</a:t>
            </a:r>
          </a:p>
          <a:p>
            <a:pPr lvl="1"/>
            <a:r>
              <a:rPr lang="en-US"/>
              <a:t>Create a new platform -</a:t>
            </a:r>
            <a:r>
              <a:rPr lang="en-US" b="1">
                <a:solidFill>
                  <a:srgbClr val="CC0000"/>
                </a:solidFill>
              </a:rPr>
              <a:t> NO</a:t>
            </a:r>
          </a:p>
          <a:p>
            <a:pPr lvl="1"/>
            <a:r>
              <a:rPr lang="en-US"/>
              <a:t>Create a diagnostics platform to launch new products and services - </a:t>
            </a:r>
            <a:r>
              <a:rPr lang="en-US" b="1">
                <a:solidFill>
                  <a:srgbClr val="009900"/>
                </a:solidFill>
              </a:rPr>
              <a:t>YES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A few definitions 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The Concept Fan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Organizing our Ideas</a:t>
            </a:r>
          </a:p>
          <a:p>
            <a:endParaRPr lang="en-US" dirty="0" smtClean="0"/>
          </a:p>
          <a:p>
            <a:r>
              <a:rPr lang="en-US" dirty="0" smtClean="0"/>
              <a:t>30 min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ADC17-21F7-4111-8E02-59B99DF3D4E3}" type="slidenum">
              <a:rPr lang="en-GB"/>
              <a:pPr/>
              <a:t>7</a:t>
            </a:fld>
            <a:endParaRPr lang="en-GB"/>
          </a:p>
        </p:txBody>
      </p:sp>
      <p:sp>
        <p:nvSpPr>
          <p:cNvPr id="226306" name="AutoShape 4"/>
          <p:cNvSpPr>
            <a:spLocks noChangeArrowheads="1"/>
          </p:cNvSpPr>
          <p:nvPr/>
        </p:nvSpPr>
        <p:spPr bwMode="auto">
          <a:xfrm>
            <a:off x="6661150" y="4800600"/>
            <a:ext cx="914400" cy="609600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US" sz="600" i="1">
              <a:solidFill>
                <a:srgbClr val="0000FF"/>
              </a:solidFill>
              <a:latin typeface="Arial Unicode MS" pitchFamily="34" charset="-128"/>
            </a:endParaRPr>
          </a:p>
        </p:txBody>
      </p:sp>
      <p:sp>
        <p:nvSpPr>
          <p:cNvPr id="530437" name="Text Box 5"/>
          <p:cNvSpPr txBox="1">
            <a:spLocks noChangeArrowheads="1"/>
          </p:cNvSpPr>
          <p:nvPr/>
        </p:nvSpPr>
        <p:spPr bwMode="auto">
          <a:xfrm>
            <a:off x="5946775" y="5486400"/>
            <a:ext cx="2600325" cy="8255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b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Objective Statement</a:t>
            </a:r>
            <a:r>
              <a:rPr lang="en-US" sz="1600" b="0">
                <a:latin typeface="Arial Black" pitchFamily="34" charset="0"/>
              </a:rPr>
              <a:t>:</a:t>
            </a:r>
            <a:r>
              <a:rPr lang="en-US" sz="1600" b="0">
                <a:solidFill>
                  <a:srgbClr val="0000FF"/>
                </a:solidFill>
                <a:latin typeface="Arial Black" pitchFamily="34" charset="0"/>
              </a:rPr>
              <a:t> Reduce Downtown Litter</a:t>
            </a:r>
            <a:endParaRPr lang="en-US" b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226308" name="Rectangle 7"/>
          <p:cNvSpPr>
            <a:spLocks noChangeArrowheads="1"/>
          </p:cNvSpPr>
          <p:nvPr/>
        </p:nvSpPr>
        <p:spPr bwMode="auto">
          <a:xfrm>
            <a:off x="2622550" y="4724400"/>
            <a:ext cx="609600" cy="5334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US" b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530440" name="Text Box 8"/>
          <p:cNvSpPr txBox="1">
            <a:spLocks noChangeArrowheads="1"/>
          </p:cNvSpPr>
          <p:nvPr/>
        </p:nvSpPr>
        <p:spPr bwMode="auto">
          <a:xfrm>
            <a:off x="2089150" y="5334000"/>
            <a:ext cx="1600200" cy="730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IDEA</a:t>
            </a:r>
            <a:r>
              <a:rPr lang="en-US" sz="1400" b="0">
                <a:latin typeface="Arial Black" pitchFamily="34" charset="0"/>
              </a:rPr>
              <a:t>:</a:t>
            </a:r>
            <a:r>
              <a:rPr lang="en-US" sz="1400" b="0">
                <a:solidFill>
                  <a:srgbClr val="0000FF"/>
                </a:solidFill>
                <a:latin typeface="Arial Black" pitchFamily="34" charset="0"/>
              </a:rPr>
              <a:t> Fine Those That Litter</a:t>
            </a:r>
          </a:p>
        </p:txBody>
      </p:sp>
      <p:sp>
        <p:nvSpPr>
          <p:cNvPr id="226310" name="Line 9"/>
          <p:cNvSpPr>
            <a:spLocks noChangeShapeType="1"/>
          </p:cNvSpPr>
          <p:nvPr/>
        </p:nvSpPr>
        <p:spPr bwMode="auto">
          <a:xfrm>
            <a:off x="3613150" y="5029200"/>
            <a:ext cx="2590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6311" name="Line 11"/>
          <p:cNvSpPr>
            <a:spLocks noChangeShapeType="1"/>
          </p:cNvSpPr>
          <p:nvPr/>
        </p:nvSpPr>
        <p:spPr bwMode="auto">
          <a:xfrm rot="-1768478" flipH="1" flipV="1">
            <a:off x="2698750" y="3505200"/>
            <a:ext cx="1905000" cy="1588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6312" name="Rectangle 12"/>
          <p:cNvSpPr>
            <a:spLocks noChangeArrowheads="1"/>
          </p:cNvSpPr>
          <p:nvPr/>
        </p:nvSpPr>
        <p:spPr bwMode="auto">
          <a:xfrm>
            <a:off x="2089150" y="3886200"/>
            <a:ext cx="609600" cy="5334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US" b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530445" name="Text Box 13"/>
          <p:cNvSpPr txBox="1">
            <a:spLocks noChangeArrowheads="1"/>
          </p:cNvSpPr>
          <p:nvPr/>
        </p:nvSpPr>
        <p:spPr bwMode="auto">
          <a:xfrm>
            <a:off x="565150" y="3810000"/>
            <a:ext cx="1600200" cy="730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IDEA</a:t>
            </a:r>
            <a:r>
              <a:rPr lang="en-US" sz="1400" b="0">
                <a:latin typeface="Arial Black" pitchFamily="34" charset="0"/>
              </a:rPr>
              <a:t>:</a:t>
            </a:r>
            <a:r>
              <a:rPr lang="en-US" sz="1400" b="0">
                <a:solidFill>
                  <a:srgbClr val="0000FF"/>
                </a:solidFill>
                <a:latin typeface="Arial Black" pitchFamily="34" charset="0"/>
              </a:rPr>
              <a:t> Serve Time Picking Up Litter</a:t>
            </a:r>
            <a:endParaRPr lang="en-US" b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226314" name="Line 15"/>
          <p:cNvSpPr>
            <a:spLocks noChangeShapeType="1"/>
          </p:cNvSpPr>
          <p:nvPr/>
        </p:nvSpPr>
        <p:spPr bwMode="auto">
          <a:xfrm rot="-882012" flipH="1" flipV="1">
            <a:off x="2546350" y="3124200"/>
            <a:ext cx="1905000" cy="1588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6315" name="Rectangle 16"/>
          <p:cNvSpPr>
            <a:spLocks noChangeArrowheads="1"/>
          </p:cNvSpPr>
          <p:nvPr/>
        </p:nvSpPr>
        <p:spPr bwMode="auto">
          <a:xfrm>
            <a:off x="1860550" y="2971800"/>
            <a:ext cx="609600" cy="5334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US" b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530449" name="Text Box 17"/>
          <p:cNvSpPr txBox="1">
            <a:spLocks noChangeArrowheads="1"/>
          </p:cNvSpPr>
          <p:nvPr/>
        </p:nvSpPr>
        <p:spPr bwMode="auto">
          <a:xfrm>
            <a:off x="336550" y="2819400"/>
            <a:ext cx="1447800" cy="730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IDEA</a:t>
            </a:r>
            <a:r>
              <a:rPr lang="en-US" sz="1400" b="0">
                <a:latin typeface="Arial Black" pitchFamily="34" charset="0"/>
              </a:rPr>
              <a:t>:</a:t>
            </a:r>
            <a:r>
              <a:rPr lang="en-US" sz="1400" b="0">
                <a:solidFill>
                  <a:srgbClr val="0000FF"/>
                </a:solidFill>
                <a:latin typeface="Arial Black" pitchFamily="34" charset="0"/>
              </a:rPr>
              <a:t> Put  Picture In Newspaper</a:t>
            </a:r>
          </a:p>
        </p:txBody>
      </p:sp>
      <p:sp>
        <p:nvSpPr>
          <p:cNvPr id="226317" name="Line 19"/>
          <p:cNvSpPr>
            <a:spLocks noChangeShapeType="1"/>
          </p:cNvSpPr>
          <p:nvPr/>
        </p:nvSpPr>
        <p:spPr bwMode="auto">
          <a:xfrm rot="-2906902">
            <a:off x="3042444" y="3999706"/>
            <a:ext cx="1905000" cy="1588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6318" name="Line 20"/>
          <p:cNvSpPr>
            <a:spLocks noChangeShapeType="1"/>
          </p:cNvSpPr>
          <p:nvPr/>
        </p:nvSpPr>
        <p:spPr bwMode="auto">
          <a:xfrm rot="2906902" flipV="1">
            <a:off x="5328444" y="3999706"/>
            <a:ext cx="1905000" cy="1588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6319" name="AutoShape 21"/>
          <p:cNvSpPr>
            <a:spLocks noChangeArrowheads="1"/>
          </p:cNvSpPr>
          <p:nvPr/>
        </p:nvSpPr>
        <p:spPr bwMode="auto">
          <a:xfrm>
            <a:off x="4756150" y="2819400"/>
            <a:ext cx="685800" cy="609600"/>
          </a:xfrm>
          <a:prstGeom prst="octagon">
            <a:avLst>
              <a:gd name="adj" fmla="val 29287"/>
            </a:avLst>
          </a:prstGeom>
          <a:solidFill>
            <a:srgbClr val="99FF66"/>
          </a:solidFill>
          <a:ln w="571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US" sz="600" i="1">
              <a:solidFill>
                <a:srgbClr val="0000FF"/>
              </a:solidFill>
              <a:latin typeface="Arial Unicode MS" pitchFamily="34" charset="-128"/>
            </a:endParaRPr>
          </a:p>
        </p:txBody>
      </p:sp>
      <p:sp>
        <p:nvSpPr>
          <p:cNvPr id="530454" name="Text Box 22"/>
          <p:cNvSpPr txBox="1">
            <a:spLocks noChangeArrowheads="1"/>
          </p:cNvSpPr>
          <p:nvPr/>
        </p:nvSpPr>
        <p:spPr bwMode="auto">
          <a:xfrm>
            <a:off x="3765550" y="2209800"/>
            <a:ext cx="2667000" cy="5810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b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CONCEPT</a:t>
            </a:r>
            <a:r>
              <a:rPr lang="en-US" sz="1600" b="0">
                <a:latin typeface="Arial Black" pitchFamily="34" charset="0"/>
              </a:rPr>
              <a:t>:</a:t>
            </a:r>
            <a:r>
              <a:rPr lang="en-US" sz="1600" b="0">
                <a:solidFill>
                  <a:srgbClr val="0000FF"/>
                </a:solidFill>
                <a:latin typeface="Arial Black" pitchFamily="34" charset="0"/>
              </a:rPr>
              <a:t> Ways To </a:t>
            </a:r>
            <a:r>
              <a:rPr lang="en-US" sz="1600" b="0" u="sng">
                <a:solidFill>
                  <a:srgbClr val="0000FF"/>
                </a:solidFill>
                <a:latin typeface="Arial Black" pitchFamily="34" charset="0"/>
              </a:rPr>
              <a:t>Punish</a:t>
            </a:r>
            <a:r>
              <a:rPr lang="en-US" sz="1600" b="0">
                <a:solidFill>
                  <a:srgbClr val="0000FF"/>
                </a:solidFill>
                <a:latin typeface="Arial Black" pitchFamily="34" charset="0"/>
              </a:rPr>
              <a:t> For Littering</a:t>
            </a:r>
          </a:p>
        </p:txBody>
      </p:sp>
      <p:sp>
        <p:nvSpPr>
          <p:cNvPr id="530455" name="Text Box 23"/>
          <p:cNvSpPr txBox="1">
            <a:spLocks noChangeArrowheads="1"/>
          </p:cNvSpPr>
          <p:nvPr/>
        </p:nvSpPr>
        <p:spPr bwMode="auto">
          <a:xfrm>
            <a:off x="393700" y="1284288"/>
            <a:ext cx="2771775" cy="6413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en-US" sz="1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1.</a:t>
            </a:r>
            <a:r>
              <a:rPr lang="en-US" sz="180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 </a:t>
            </a:r>
            <a:r>
              <a:rPr lang="en-US" sz="1800" i="1">
                <a:latin typeface="Comic Sans MS" pitchFamily="66" charset="0"/>
              </a:rPr>
              <a:t>What is the concept behind the idea?</a:t>
            </a:r>
          </a:p>
        </p:txBody>
      </p:sp>
      <p:sp>
        <p:nvSpPr>
          <p:cNvPr id="530456" name="Text Box 24"/>
          <p:cNvSpPr txBox="1">
            <a:spLocks noChangeArrowheads="1"/>
          </p:cNvSpPr>
          <p:nvPr/>
        </p:nvSpPr>
        <p:spPr bwMode="auto">
          <a:xfrm>
            <a:off x="3452813" y="1281113"/>
            <a:ext cx="3505200" cy="6413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2.</a:t>
            </a:r>
            <a:r>
              <a:rPr lang="en-US" sz="180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 </a:t>
            </a:r>
            <a:r>
              <a:rPr lang="en-US" sz="1800" i="1">
                <a:latin typeface="Comic Sans MS" pitchFamily="66" charset="0"/>
              </a:rPr>
              <a:t>Are there any other ways to carry out that concept?</a:t>
            </a:r>
            <a:r>
              <a:rPr lang="en-US" sz="1800">
                <a:latin typeface="Arial Black" pitchFamily="34" charset="0"/>
              </a:rPr>
              <a:t> </a:t>
            </a:r>
          </a:p>
        </p:txBody>
      </p:sp>
      <p:sp>
        <p:nvSpPr>
          <p:cNvPr id="530457" name="Text Box 25"/>
          <p:cNvSpPr txBox="1">
            <a:spLocks noChangeArrowheads="1"/>
          </p:cNvSpPr>
          <p:nvPr/>
        </p:nvSpPr>
        <p:spPr bwMode="auto">
          <a:xfrm>
            <a:off x="6842125" y="1284288"/>
            <a:ext cx="2541588" cy="6413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3.</a:t>
            </a:r>
            <a:r>
              <a:rPr lang="en-US" sz="180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 </a:t>
            </a:r>
            <a:r>
              <a:rPr lang="en-US" sz="1800" i="1">
                <a:latin typeface="Comic Sans MS" pitchFamily="66" charset="0"/>
              </a:rPr>
              <a:t>Are there any other concepts?</a:t>
            </a:r>
          </a:p>
        </p:txBody>
      </p:sp>
      <p:sp>
        <p:nvSpPr>
          <p:cNvPr id="226324" name="Rectangle 20"/>
          <p:cNvSpPr>
            <a:spLocks noChangeArrowheads="1"/>
          </p:cNvSpPr>
          <p:nvPr/>
        </p:nvSpPr>
        <p:spPr bwMode="auto">
          <a:xfrm>
            <a:off x="914400" y="433388"/>
            <a:ext cx="7620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eaLnBrk="1" hangingPunct="1">
              <a:lnSpc>
                <a:spcPct val="90000"/>
              </a:lnSpc>
            </a:pPr>
            <a:r>
              <a:rPr lang="en-US" sz="3200" b="0">
                <a:solidFill>
                  <a:schemeClr val="tx2"/>
                </a:solidFill>
                <a:latin typeface="Arial" charset="0"/>
              </a:rPr>
              <a:t>Introducing the Concept Fan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0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30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0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455" grpId="0" build="allAtOnce"/>
      <p:bldP spid="530457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89CA4-9B90-42FE-AE8E-B88EFCF7C30F}" type="slidenum">
              <a:rPr lang="en-GB"/>
              <a:pPr/>
              <a:t>8</a:t>
            </a:fld>
            <a:endParaRPr lang="en-GB"/>
          </a:p>
        </p:txBody>
      </p:sp>
      <p:sp>
        <p:nvSpPr>
          <p:cNvPr id="227330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 w="381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31" name="Rectangle 3"/>
          <p:cNvSpPr>
            <a:spLocks noChangeArrowheads="1"/>
          </p:cNvSpPr>
          <p:nvPr/>
        </p:nvSpPr>
        <p:spPr bwMode="auto">
          <a:xfrm>
            <a:off x="7848600" y="1905000"/>
            <a:ext cx="533400" cy="609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32" name="Text Box 4"/>
          <p:cNvSpPr txBox="1">
            <a:spLocks noChangeArrowheads="1"/>
          </p:cNvSpPr>
          <p:nvPr/>
        </p:nvSpPr>
        <p:spPr bwMode="auto">
          <a:xfrm>
            <a:off x="7239000" y="5334000"/>
            <a:ext cx="914400" cy="835025"/>
          </a:xfrm>
          <a:prstGeom prst="rect">
            <a:avLst/>
          </a:prstGeom>
          <a:solidFill>
            <a:srgbClr val="FFFF66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5F5F5F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i="1">
                <a:latin typeface="Comic Sans MS" pitchFamily="66" charset="0"/>
                <a:cs typeface="Arial" charset="0"/>
              </a:rPr>
              <a:t>Create a posting board divided into an urgent vs important  grid</a:t>
            </a:r>
          </a:p>
        </p:txBody>
      </p:sp>
      <p:sp>
        <p:nvSpPr>
          <p:cNvPr id="227333" name="Text Box 5"/>
          <p:cNvSpPr txBox="1">
            <a:spLocks noChangeArrowheads="1"/>
          </p:cNvSpPr>
          <p:nvPr/>
        </p:nvSpPr>
        <p:spPr bwMode="auto">
          <a:xfrm>
            <a:off x="6553200" y="2514600"/>
            <a:ext cx="914400" cy="881063"/>
          </a:xfrm>
          <a:prstGeom prst="rect">
            <a:avLst/>
          </a:prstGeom>
          <a:solidFill>
            <a:srgbClr val="FFD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i="1">
                <a:latin typeface="Comic Sans MS" pitchFamily="66" charset="0"/>
                <a:cs typeface="Arial" charset="0"/>
              </a:rPr>
              <a:t>Ways to better organize the sticky notes after they are written</a:t>
            </a:r>
            <a:endParaRPr lang="en-US" sz="200" i="1">
              <a:latin typeface="Comic Sans MS" pitchFamily="66" charset="0"/>
              <a:cs typeface="Arial" charset="0"/>
            </a:endParaRPr>
          </a:p>
          <a:p>
            <a:pPr algn="ctr">
              <a:spcBef>
                <a:spcPct val="50000"/>
              </a:spcBef>
            </a:pPr>
            <a:endParaRPr lang="en-US" sz="200">
              <a:latin typeface="Arial" charset="0"/>
              <a:cs typeface="Arial" charset="0"/>
            </a:endParaRPr>
          </a:p>
        </p:txBody>
      </p:sp>
      <p:sp>
        <p:nvSpPr>
          <p:cNvPr id="227334" name="Rectangle 6"/>
          <p:cNvSpPr>
            <a:spLocks noChangeArrowheads="1"/>
          </p:cNvSpPr>
          <p:nvPr/>
        </p:nvSpPr>
        <p:spPr bwMode="auto">
          <a:xfrm>
            <a:off x="533400" y="0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1"/>
            </a:outerShdw>
          </a:effectLst>
        </p:spPr>
        <p:txBody>
          <a:bodyPr lIns="0" tIns="0" rIns="0" bIns="0" anchor="ctr"/>
          <a:lstStyle/>
          <a:p>
            <a:pPr algn="ctr" eaLnBrk="1" hangingPunct="1">
              <a:lnSpc>
                <a:spcPct val="90000"/>
              </a:lnSpc>
            </a:pPr>
            <a:r>
              <a:rPr lang="en-US" sz="3200" b="0">
                <a:solidFill>
                  <a:srgbClr val="00FF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Introducing the Concept Fan</a:t>
            </a:r>
          </a:p>
        </p:txBody>
      </p:sp>
      <p:sp>
        <p:nvSpPr>
          <p:cNvPr id="227335" name="Text Box 7"/>
          <p:cNvSpPr txBox="1">
            <a:spLocks noChangeArrowheads="1"/>
          </p:cNvSpPr>
          <p:nvPr/>
        </p:nvSpPr>
        <p:spPr bwMode="auto">
          <a:xfrm>
            <a:off x="3581400" y="1371600"/>
            <a:ext cx="1828800" cy="923925"/>
          </a:xfrm>
          <a:prstGeom prst="rect">
            <a:avLst/>
          </a:prstGeom>
          <a:solidFill>
            <a:srgbClr val="99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>
                <a:latin typeface="Arial" charset="0"/>
                <a:cs typeface="Arial" charset="0"/>
              </a:rPr>
              <a:t>OBJECTIVE:</a:t>
            </a:r>
          </a:p>
          <a:p>
            <a:pPr algn="ctr">
              <a:spcBef>
                <a:spcPct val="50000"/>
              </a:spcBef>
            </a:pPr>
            <a:r>
              <a:rPr lang="en-US" sz="1200" i="1">
                <a:latin typeface="Comic Sans MS" pitchFamily="66" charset="0"/>
                <a:cs typeface="Arial" charset="0"/>
              </a:rPr>
              <a:t>Generate ideas on how to make sticky notes more popular</a:t>
            </a:r>
          </a:p>
        </p:txBody>
      </p:sp>
      <p:sp>
        <p:nvSpPr>
          <p:cNvPr id="227336" name="Text Box 8"/>
          <p:cNvSpPr txBox="1">
            <a:spLocks noChangeArrowheads="1"/>
          </p:cNvSpPr>
          <p:nvPr/>
        </p:nvSpPr>
        <p:spPr bwMode="auto">
          <a:xfrm>
            <a:off x="6553200" y="4495800"/>
            <a:ext cx="914400" cy="852488"/>
          </a:xfrm>
          <a:prstGeom prst="rect">
            <a:avLst/>
          </a:prstGeom>
          <a:solidFill>
            <a:srgbClr val="FFFF66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5F5F5F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i="1">
                <a:latin typeface="Comic Sans MS" pitchFamily="66" charset="0"/>
                <a:cs typeface="Arial" charset="0"/>
              </a:rPr>
              <a:t>Create a to-do list board so notes can be posetd and re-arranged</a:t>
            </a:r>
          </a:p>
          <a:p>
            <a:pPr algn="ctr">
              <a:spcBef>
                <a:spcPct val="50000"/>
              </a:spcBef>
            </a:pPr>
            <a:endParaRPr lang="en-US" sz="300" i="1">
              <a:latin typeface="Comic Sans MS" pitchFamily="66" charset="0"/>
              <a:cs typeface="Arial" charset="0"/>
            </a:endParaRPr>
          </a:p>
          <a:p>
            <a:pPr algn="ctr">
              <a:spcBef>
                <a:spcPct val="50000"/>
              </a:spcBef>
            </a:pPr>
            <a:endParaRPr lang="en-US" sz="300">
              <a:latin typeface="Arial" charset="0"/>
              <a:cs typeface="Arial" charset="0"/>
            </a:endParaRPr>
          </a:p>
        </p:txBody>
      </p:sp>
      <p:sp>
        <p:nvSpPr>
          <p:cNvPr id="227337" name="Text Box 9"/>
          <p:cNvSpPr txBox="1">
            <a:spLocks noChangeArrowheads="1"/>
          </p:cNvSpPr>
          <p:nvPr/>
        </p:nvSpPr>
        <p:spPr bwMode="auto">
          <a:xfrm>
            <a:off x="381000" y="2667000"/>
            <a:ext cx="914400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en-US">
              <a:latin typeface="Arial Black" pitchFamily="34" charset="0"/>
              <a:cs typeface="Arial" charset="0"/>
            </a:endParaRPr>
          </a:p>
        </p:txBody>
      </p:sp>
      <p:sp>
        <p:nvSpPr>
          <p:cNvPr id="227338" name="Text Box 10"/>
          <p:cNvSpPr txBox="1">
            <a:spLocks noChangeArrowheads="1"/>
          </p:cNvSpPr>
          <p:nvPr/>
        </p:nvSpPr>
        <p:spPr bwMode="auto">
          <a:xfrm>
            <a:off x="457200" y="2514600"/>
            <a:ext cx="914400" cy="803275"/>
          </a:xfrm>
          <a:prstGeom prst="rect">
            <a:avLst/>
          </a:prstGeom>
          <a:solidFill>
            <a:srgbClr val="FFD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5F5F5F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i="1">
                <a:latin typeface="Comic Sans MS" pitchFamily="66" charset="0"/>
                <a:cs typeface="Arial" charset="0"/>
              </a:rPr>
              <a:t>Ways to more easily transport sticky notes after writing</a:t>
            </a:r>
          </a:p>
          <a:p>
            <a:pPr algn="ctr">
              <a:spcBef>
                <a:spcPct val="50000"/>
              </a:spcBef>
            </a:pPr>
            <a:endParaRPr lang="en-US" sz="400" i="1">
              <a:latin typeface="Comic Sans MS" pitchFamily="66" charset="0"/>
              <a:cs typeface="Arial" charset="0"/>
            </a:endParaRPr>
          </a:p>
        </p:txBody>
      </p:sp>
      <p:sp>
        <p:nvSpPr>
          <p:cNvPr id="227339" name="Text Box 11"/>
          <p:cNvSpPr txBox="1">
            <a:spLocks noChangeArrowheads="1"/>
          </p:cNvSpPr>
          <p:nvPr/>
        </p:nvSpPr>
        <p:spPr bwMode="auto">
          <a:xfrm>
            <a:off x="2895600" y="4495800"/>
            <a:ext cx="914400" cy="835025"/>
          </a:xfrm>
          <a:prstGeom prst="rect">
            <a:avLst/>
          </a:prstGeom>
          <a:solidFill>
            <a:srgbClr val="FFFF66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i="1">
                <a:latin typeface="Comic Sans MS" pitchFamily="66" charset="0"/>
                <a:cs typeface="Arial" charset="0"/>
              </a:rPr>
              <a:t>Print a blank smiley face on the note so sender can indicate an emotion</a:t>
            </a:r>
            <a:endParaRPr lang="en-US" sz="300" i="1">
              <a:latin typeface="Comic Sans MS" pitchFamily="66" charset="0"/>
              <a:cs typeface="Arial" charset="0"/>
            </a:endParaRPr>
          </a:p>
        </p:txBody>
      </p:sp>
      <p:sp>
        <p:nvSpPr>
          <p:cNvPr id="227340" name="Text Box 12"/>
          <p:cNvSpPr txBox="1">
            <a:spLocks noChangeArrowheads="1"/>
          </p:cNvSpPr>
          <p:nvPr/>
        </p:nvSpPr>
        <p:spPr bwMode="auto">
          <a:xfrm>
            <a:off x="5334000" y="4495800"/>
            <a:ext cx="914400" cy="865188"/>
          </a:xfrm>
          <a:prstGeom prst="rect">
            <a:avLst/>
          </a:prstGeom>
          <a:solidFill>
            <a:srgbClr val="FFFF66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5F5F5F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i="1">
                <a:latin typeface="Comic Sans MS" pitchFamily="66" charset="0"/>
                <a:cs typeface="Arial" charset="0"/>
              </a:rPr>
              <a:t>Notes that look like  were torn out – rough edges</a:t>
            </a:r>
          </a:p>
          <a:p>
            <a:pPr algn="ctr">
              <a:spcBef>
                <a:spcPct val="50000"/>
              </a:spcBef>
            </a:pPr>
            <a:endParaRPr lang="en-US" sz="800">
              <a:latin typeface="Arial" charset="0"/>
              <a:cs typeface="Arial" charset="0"/>
            </a:endParaRPr>
          </a:p>
          <a:p>
            <a:pPr algn="ctr">
              <a:spcBef>
                <a:spcPct val="50000"/>
              </a:spcBef>
            </a:pPr>
            <a:endParaRPr lang="en-US" sz="400">
              <a:latin typeface="Arial" charset="0"/>
              <a:cs typeface="Arial" charset="0"/>
            </a:endParaRPr>
          </a:p>
        </p:txBody>
      </p:sp>
      <p:sp>
        <p:nvSpPr>
          <p:cNvPr id="227341" name="Text Box 13"/>
          <p:cNvSpPr txBox="1">
            <a:spLocks noChangeArrowheads="1"/>
          </p:cNvSpPr>
          <p:nvPr/>
        </p:nvSpPr>
        <p:spPr bwMode="auto">
          <a:xfrm>
            <a:off x="6858000" y="5181600"/>
            <a:ext cx="914400" cy="835025"/>
          </a:xfrm>
          <a:prstGeom prst="rect">
            <a:avLst/>
          </a:prstGeom>
          <a:solidFill>
            <a:srgbClr val="FFFF66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5F5F5F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i="1">
                <a:latin typeface="Comic Sans MS" pitchFamily="66" charset="0"/>
                <a:cs typeface="Arial" charset="0"/>
              </a:rPr>
              <a:t>Have uniquely shaped notes that visually communicate even without reading</a:t>
            </a:r>
          </a:p>
        </p:txBody>
      </p:sp>
      <p:sp>
        <p:nvSpPr>
          <p:cNvPr id="227342" name="Text Box 14"/>
          <p:cNvSpPr txBox="1">
            <a:spLocks noChangeArrowheads="1"/>
          </p:cNvSpPr>
          <p:nvPr/>
        </p:nvSpPr>
        <p:spPr bwMode="auto">
          <a:xfrm>
            <a:off x="6629400" y="5410200"/>
            <a:ext cx="914400" cy="835025"/>
          </a:xfrm>
          <a:prstGeom prst="rect">
            <a:avLst/>
          </a:prstGeom>
          <a:solidFill>
            <a:srgbClr val="FFFF66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5F5F5F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i="1">
                <a:latin typeface="Comic Sans MS" pitchFamily="66" charset="0"/>
                <a:cs typeface="Arial" charset="0"/>
              </a:rPr>
              <a:t>Create rolls  of sticky notes that can be dispensed in any length</a:t>
            </a:r>
            <a:endParaRPr lang="en-US" sz="700" i="1">
              <a:latin typeface="Comic Sans MS" pitchFamily="66" charset="0"/>
              <a:cs typeface="Arial" charset="0"/>
            </a:endParaRPr>
          </a:p>
        </p:txBody>
      </p:sp>
      <p:sp>
        <p:nvSpPr>
          <p:cNvPr id="227343" name="Text Box 15"/>
          <p:cNvSpPr txBox="1">
            <a:spLocks noChangeArrowheads="1"/>
          </p:cNvSpPr>
          <p:nvPr/>
        </p:nvSpPr>
        <p:spPr bwMode="auto">
          <a:xfrm>
            <a:off x="6324600" y="5181600"/>
            <a:ext cx="914400" cy="866775"/>
          </a:xfrm>
          <a:prstGeom prst="rect">
            <a:avLst/>
          </a:prstGeom>
          <a:solidFill>
            <a:srgbClr val="FFFF66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5F5F5F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i="1">
                <a:latin typeface="Comic Sans MS" pitchFamily="66" charset="0"/>
                <a:cs typeface="Arial" charset="0"/>
              </a:rPr>
              <a:t>Have an urgent vs important grid pre-printed</a:t>
            </a:r>
          </a:p>
          <a:p>
            <a:pPr algn="ctr">
              <a:spcBef>
                <a:spcPct val="50000"/>
              </a:spcBef>
            </a:pPr>
            <a:endParaRPr lang="en-US" sz="600" i="1">
              <a:latin typeface="Comic Sans MS" pitchFamily="66" charset="0"/>
              <a:cs typeface="Arial" charset="0"/>
            </a:endParaRPr>
          </a:p>
          <a:p>
            <a:pPr algn="ctr">
              <a:spcBef>
                <a:spcPct val="50000"/>
              </a:spcBef>
            </a:pPr>
            <a:endParaRPr lang="en-US" sz="600">
              <a:latin typeface="Arial Black" pitchFamily="34" charset="0"/>
              <a:cs typeface="Arial" charset="0"/>
            </a:endParaRPr>
          </a:p>
        </p:txBody>
      </p:sp>
      <p:sp>
        <p:nvSpPr>
          <p:cNvPr id="227344" name="Text Box 16"/>
          <p:cNvSpPr txBox="1">
            <a:spLocks noChangeArrowheads="1"/>
          </p:cNvSpPr>
          <p:nvPr/>
        </p:nvSpPr>
        <p:spPr bwMode="auto">
          <a:xfrm>
            <a:off x="6172200" y="5562600"/>
            <a:ext cx="914400" cy="835025"/>
          </a:xfrm>
          <a:prstGeom prst="rect">
            <a:avLst/>
          </a:prstGeom>
          <a:solidFill>
            <a:srgbClr val="FFFF66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5F5F5F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i="1">
                <a:latin typeface="Comic Sans MS" pitchFamily="66" charset="0"/>
                <a:cs typeface="Arial" charset="0"/>
              </a:rPr>
              <a:t>Have pre-printed checkable boxes to indicate things</a:t>
            </a:r>
            <a:endParaRPr lang="en-US" sz="300">
              <a:latin typeface="Arial" charset="0"/>
              <a:cs typeface="Arial" charset="0"/>
            </a:endParaRPr>
          </a:p>
        </p:txBody>
      </p:sp>
      <p:sp>
        <p:nvSpPr>
          <p:cNvPr id="227345" name="Text Box 17"/>
          <p:cNvSpPr txBox="1">
            <a:spLocks noChangeArrowheads="1"/>
          </p:cNvSpPr>
          <p:nvPr/>
        </p:nvSpPr>
        <p:spPr bwMode="auto">
          <a:xfrm>
            <a:off x="5943600" y="5105400"/>
            <a:ext cx="914400" cy="835025"/>
          </a:xfrm>
          <a:prstGeom prst="rect">
            <a:avLst/>
          </a:prstGeom>
          <a:solidFill>
            <a:srgbClr val="FFFF66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5F5F5F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i="1">
                <a:latin typeface="Comic Sans MS" pitchFamily="66" charset="0"/>
                <a:cs typeface="Arial" charset="0"/>
              </a:rPr>
              <a:t>Make them where they will not stick to pockets, etc. when carried</a:t>
            </a:r>
          </a:p>
        </p:txBody>
      </p:sp>
      <p:sp>
        <p:nvSpPr>
          <p:cNvPr id="227346" name="Text Box 18"/>
          <p:cNvSpPr txBox="1">
            <a:spLocks noChangeArrowheads="1"/>
          </p:cNvSpPr>
          <p:nvPr/>
        </p:nvSpPr>
        <p:spPr bwMode="auto">
          <a:xfrm>
            <a:off x="1676400" y="2514600"/>
            <a:ext cx="914400" cy="835025"/>
          </a:xfrm>
          <a:prstGeom prst="rect">
            <a:avLst/>
          </a:prstGeom>
          <a:solidFill>
            <a:srgbClr val="FFD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i="1">
                <a:latin typeface="Comic Sans MS" pitchFamily="66" charset="0"/>
                <a:cs typeface="Arial" charset="0"/>
              </a:rPr>
              <a:t>Ways to make it easier for sender to clearly indicate something</a:t>
            </a:r>
          </a:p>
        </p:txBody>
      </p:sp>
      <p:sp>
        <p:nvSpPr>
          <p:cNvPr id="227347" name="Text Box 19"/>
          <p:cNvSpPr txBox="1">
            <a:spLocks noChangeArrowheads="1"/>
          </p:cNvSpPr>
          <p:nvPr/>
        </p:nvSpPr>
        <p:spPr bwMode="auto">
          <a:xfrm>
            <a:off x="2895600" y="2514600"/>
            <a:ext cx="914400" cy="835025"/>
          </a:xfrm>
          <a:prstGeom prst="rect">
            <a:avLst/>
          </a:prstGeom>
          <a:solidFill>
            <a:srgbClr val="FFD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i="1">
                <a:latin typeface="Comic Sans MS" pitchFamily="66" charset="0"/>
                <a:cs typeface="Arial" charset="0"/>
              </a:rPr>
              <a:t>Ways to have sticky notes indicate something in a unique and fun way</a:t>
            </a:r>
          </a:p>
        </p:txBody>
      </p:sp>
      <p:sp>
        <p:nvSpPr>
          <p:cNvPr id="227348" name="Text Box 20"/>
          <p:cNvSpPr txBox="1">
            <a:spLocks noChangeArrowheads="1"/>
          </p:cNvSpPr>
          <p:nvPr/>
        </p:nvSpPr>
        <p:spPr bwMode="auto">
          <a:xfrm>
            <a:off x="4114800" y="2514600"/>
            <a:ext cx="914400" cy="819150"/>
          </a:xfrm>
          <a:prstGeom prst="rect">
            <a:avLst/>
          </a:prstGeom>
          <a:solidFill>
            <a:srgbClr val="FFD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i="1">
                <a:latin typeface="Comic Sans MS" pitchFamily="66" charset="0"/>
                <a:cs typeface="Arial" charset="0"/>
              </a:rPr>
              <a:t>Ways to provide more flexibility to the user</a:t>
            </a:r>
          </a:p>
          <a:p>
            <a:pPr algn="ctr">
              <a:spcBef>
                <a:spcPct val="50000"/>
              </a:spcBef>
            </a:pPr>
            <a:endParaRPr lang="en-US" sz="500" i="1">
              <a:latin typeface="Comic Sans MS" pitchFamily="66" charset="0"/>
              <a:cs typeface="Arial" charset="0"/>
            </a:endParaRPr>
          </a:p>
          <a:p>
            <a:pPr algn="ctr">
              <a:spcBef>
                <a:spcPct val="50000"/>
              </a:spcBef>
            </a:pPr>
            <a:endParaRPr lang="en-US" sz="500">
              <a:latin typeface="Arial" charset="0"/>
              <a:cs typeface="Arial" charset="0"/>
            </a:endParaRPr>
          </a:p>
        </p:txBody>
      </p:sp>
      <p:sp>
        <p:nvSpPr>
          <p:cNvPr id="227349" name="Text Box 21"/>
          <p:cNvSpPr txBox="1">
            <a:spLocks noChangeArrowheads="1"/>
          </p:cNvSpPr>
          <p:nvPr/>
        </p:nvSpPr>
        <p:spPr bwMode="auto">
          <a:xfrm>
            <a:off x="5334000" y="2514600"/>
            <a:ext cx="914400" cy="835025"/>
          </a:xfrm>
          <a:prstGeom prst="rect">
            <a:avLst/>
          </a:prstGeom>
          <a:solidFill>
            <a:srgbClr val="FFD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i="1">
                <a:latin typeface="Comic Sans MS" pitchFamily="66" charset="0"/>
                <a:cs typeface="Arial" charset="0"/>
              </a:rPr>
              <a:t>Ways to use  shapes to indicate something or enhance the message</a:t>
            </a:r>
          </a:p>
        </p:txBody>
      </p:sp>
      <p:sp>
        <p:nvSpPr>
          <p:cNvPr id="227350" name="AutoShape 22"/>
          <p:cNvSpPr>
            <a:spLocks noChangeArrowheads="1"/>
          </p:cNvSpPr>
          <p:nvPr/>
        </p:nvSpPr>
        <p:spPr bwMode="auto">
          <a:xfrm>
            <a:off x="762000" y="2057400"/>
            <a:ext cx="3810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66FF"/>
          </a:solidFill>
          <a:ln w="6350" algn="ctr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solidFill>
                <a:srgbClr val="FF0000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27351" name="AutoShape 23"/>
          <p:cNvSpPr>
            <a:spLocks noChangeArrowheads="1"/>
          </p:cNvSpPr>
          <p:nvPr/>
        </p:nvSpPr>
        <p:spPr bwMode="auto">
          <a:xfrm>
            <a:off x="1905000" y="2057400"/>
            <a:ext cx="3810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66FF"/>
          </a:solidFill>
          <a:ln w="6350" algn="ctr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solidFill>
                <a:srgbClr val="FF0000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27352" name="AutoShape 24"/>
          <p:cNvSpPr>
            <a:spLocks noChangeArrowheads="1"/>
          </p:cNvSpPr>
          <p:nvPr/>
        </p:nvSpPr>
        <p:spPr bwMode="auto">
          <a:xfrm>
            <a:off x="3124200" y="2057400"/>
            <a:ext cx="3810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66FF"/>
          </a:solidFill>
          <a:ln w="6350" algn="ctr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solidFill>
                <a:srgbClr val="FF0000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27353" name="AutoShape 25"/>
          <p:cNvSpPr>
            <a:spLocks noChangeArrowheads="1"/>
          </p:cNvSpPr>
          <p:nvPr/>
        </p:nvSpPr>
        <p:spPr bwMode="auto">
          <a:xfrm>
            <a:off x="4343400" y="2057400"/>
            <a:ext cx="3810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66FF"/>
          </a:solidFill>
          <a:ln w="6350" algn="ctr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endParaRPr lang="en-US">
              <a:solidFill>
                <a:srgbClr val="FF0000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27354" name="AutoShape 26"/>
          <p:cNvSpPr>
            <a:spLocks noChangeArrowheads="1"/>
          </p:cNvSpPr>
          <p:nvPr/>
        </p:nvSpPr>
        <p:spPr bwMode="auto">
          <a:xfrm>
            <a:off x="5562600" y="2057400"/>
            <a:ext cx="3810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66FF"/>
          </a:solidFill>
          <a:ln w="6350" algn="ctr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solidFill>
                <a:srgbClr val="FF0000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27355" name="AutoShape 27"/>
          <p:cNvSpPr>
            <a:spLocks noChangeArrowheads="1"/>
          </p:cNvSpPr>
          <p:nvPr/>
        </p:nvSpPr>
        <p:spPr bwMode="auto">
          <a:xfrm>
            <a:off x="6781800" y="2057400"/>
            <a:ext cx="3810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66FF"/>
          </a:solidFill>
          <a:ln w="6350" algn="ctr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solidFill>
                <a:srgbClr val="FF0000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27356" name="Text Box 28"/>
          <p:cNvSpPr txBox="1">
            <a:spLocks noChangeArrowheads="1"/>
          </p:cNvSpPr>
          <p:nvPr/>
        </p:nvSpPr>
        <p:spPr bwMode="auto">
          <a:xfrm>
            <a:off x="304800" y="152400"/>
            <a:ext cx="1219200" cy="6413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1"/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cs typeface="Arial" charset="0"/>
              </a:rPr>
              <a:t>Random Word</a:t>
            </a:r>
          </a:p>
        </p:txBody>
      </p:sp>
      <p:sp>
        <p:nvSpPr>
          <p:cNvPr id="227357" name="Text Box 29"/>
          <p:cNvSpPr txBox="1">
            <a:spLocks noChangeArrowheads="1"/>
          </p:cNvSpPr>
          <p:nvPr/>
        </p:nvSpPr>
        <p:spPr bwMode="auto">
          <a:xfrm>
            <a:off x="152400" y="838200"/>
            <a:ext cx="1524000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1"/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cs typeface="Arial" charset="0"/>
              </a:rPr>
              <a:t>“onion”</a:t>
            </a:r>
          </a:p>
        </p:txBody>
      </p:sp>
      <p:sp>
        <p:nvSpPr>
          <p:cNvPr id="227358" name="Rectangle 30"/>
          <p:cNvSpPr>
            <a:spLocks noChangeArrowheads="1"/>
          </p:cNvSpPr>
          <p:nvPr/>
        </p:nvSpPr>
        <p:spPr bwMode="auto">
          <a:xfrm>
            <a:off x="5334000" y="4419600"/>
            <a:ext cx="3200400" cy="2209800"/>
          </a:xfrm>
          <a:prstGeom prst="rect">
            <a:avLst/>
          </a:prstGeom>
          <a:solidFill>
            <a:schemeClr val="tx1"/>
          </a:solidFill>
          <a:ln w="381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59" name="Text Box 31"/>
          <p:cNvSpPr txBox="1">
            <a:spLocks noChangeArrowheads="1"/>
          </p:cNvSpPr>
          <p:nvPr/>
        </p:nvSpPr>
        <p:spPr bwMode="auto">
          <a:xfrm>
            <a:off x="457200" y="4495800"/>
            <a:ext cx="914400" cy="835025"/>
          </a:xfrm>
          <a:prstGeom prst="rect">
            <a:avLst/>
          </a:prstGeom>
          <a:solidFill>
            <a:srgbClr val="FFFF66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i="1">
                <a:latin typeface="Comic Sans MS" pitchFamily="66" charset="0"/>
                <a:cs typeface="Arial" charset="0"/>
              </a:rPr>
              <a:t>Create  a  small book with clear plastic pages to store notes for travel</a:t>
            </a:r>
          </a:p>
        </p:txBody>
      </p:sp>
      <p:sp>
        <p:nvSpPr>
          <p:cNvPr id="227360" name="Text Box 32"/>
          <p:cNvSpPr txBox="1">
            <a:spLocks noChangeArrowheads="1"/>
          </p:cNvSpPr>
          <p:nvPr/>
        </p:nvSpPr>
        <p:spPr bwMode="auto">
          <a:xfrm>
            <a:off x="1676400" y="152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endParaRPr lang="en-US" sz="1800" b="0">
              <a:latin typeface="Arial" charset="0"/>
              <a:cs typeface="Arial" charset="0"/>
            </a:endParaRPr>
          </a:p>
        </p:txBody>
      </p:sp>
      <p:sp>
        <p:nvSpPr>
          <p:cNvPr id="227361" name="AutoShape 33"/>
          <p:cNvSpPr>
            <a:spLocks noChangeArrowheads="1"/>
          </p:cNvSpPr>
          <p:nvPr/>
        </p:nvSpPr>
        <p:spPr bwMode="auto">
          <a:xfrm rot="2151454">
            <a:off x="1447800" y="1676400"/>
            <a:ext cx="1752600" cy="304800"/>
          </a:xfrm>
          <a:prstGeom prst="notchedRightArrow">
            <a:avLst>
              <a:gd name="adj1" fmla="val 50000"/>
              <a:gd name="adj2" fmla="val 143750"/>
            </a:avLst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62" name="AutoShape 34"/>
          <p:cNvSpPr>
            <a:spLocks noChangeArrowheads="1"/>
          </p:cNvSpPr>
          <p:nvPr/>
        </p:nvSpPr>
        <p:spPr bwMode="auto">
          <a:xfrm>
            <a:off x="5562600" y="1828800"/>
            <a:ext cx="2971800" cy="762000"/>
          </a:xfrm>
          <a:custGeom>
            <a:avLst/>
            <a:gdLst>
              <a:gd name="G0" fmla="+- 0 0 0"/>
              <a:gd name="G1" fmla="+- -11796480 0 0"/>
              <a:gd name="G2" fmla="+- 0 0 -11796480"/>
              <a:gd name="G3" fmla="+- 10800 0 0"/>
              <a:gd name="G4" fmla="+- 0 0 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5400 0 0"/>
              <a:gd name="G9" fmla="+- 0 0 -11796480"/>
              <a:gd name="G10" fmla="+- 5400 0 2700"/>
              <a:gd name="G11" fmla="cos G10 0"/>
              <a:gd name="G12" fmla="sin G10 0"/>
              <a:gd name="G13" fmla="cos 13500 0"/>
              <a:gd name="G14" fmla="sin 13500 0"/>
              <a:gd name="G15" fmla="+- G11 10800 0"/>
              <a:gd name="G16" fmla="+- G12 10800 0"/>
              <a:gd name="G17" fmla="+- G13 10800 0"/>
              <a:gd name="G18" fmla="+- G14 10800 0"/>
              <a:gd name="G19" fmla="*/ 5400 1 2"/>
              <a:gd name="G20" fmla="+- G19 5400 0"/>
              <a:gd name="G21" fmla="cos G20 0"/>
              <a:gd name="G22" fmla="sin G20 0"/>
              <a:gd name="G23" fmla="+- G21 10800 0"/>
              <a:gd name="G24" fmla="+- G12 G23 G22"/>
              <a:gd name="G25" fmla="+- G22 G23 G11"/>
              <a:gd name="G26" fmla="cos 10800 0"/>
              <a:gd name="G27" fmla="sin 10800 0"/>
              <a:gd name="G28" fmla="cos 5400 0"/>
              <a:gd name="G29" fmla="sin 5400 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5400 G39"/>
              <a:gd name="G43" fmla="sin 54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799 w 21600"/>
              <a:gd name="T5" fmla="*/ 0 h 21600"/>
              <a:gd name="T6" fmla="*/ 2700 w 21600"/>
              <a:gd name="T7" fmla="*/ 10800 h 21600"/>
              <a:gd name="T8" fmla="*/ 10799 w 21600"/>
              <a:gd name="T9" fmla="*/ 5400 h 21600"/>
              <a:gd name="T10" fmla="*/ 24300 w 21600"/>
              <a:gd name="T11" fmla="*/ 10800 h 21600"/>
              <a:gd name="T12" fmla="*/ 18900 w 21600"/>
              <a:gd name="T13" fmla="*/ 16200 h 21600"/>
              <a:gd name="T14" fmla="*/ 13500 w 21600"/>
              <a:gd name="T15" fmla="*/ 10800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17" y="5400"/>
                  <a:pt x="5400" y="7817"/>
                  <a:pt x="5400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63" name="Text Box 35"/>
          <p:cNvSpPr txBox="1">
            <a:spLocks noChangeArrowheads="1"/>
          </p:cNvSpPr>
          <p:nvPr/>
        </p:nvSpPr>
        <p:spPr bwMode="auto">
          <a:xfrm>
            <a:off x="7696200" y="2514600"/>
            <a:ext cx="914400" cy="881063"/>
          </a:xfrm>
          <a:prstGeom prst="rect">
            <a:avLst/>
          </a:prstGeom>
          <a:solidFill>
            <a:srgbClr val="FFD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i="1">
                <a:latin typeface="Comic Sans MS" pitchFamily="66" charset="0"/>
                <a:cs typeface="Arial" charset="0"/>
              </a:rPr>
              <a:t>Ways to use </a:t>
            </a:r>
            <a:r>
              <a:rPr lang="en-US" sz="800" i="1" u="sng">
                <a:latin typeface="Comic Sans MS" pitchFamily="66" charset="0"/>
                <a:cs typeface="Arial" charset="0"/>
              </a:rPr>
              <a:t>texture</a:t>
            </a:r>
            <a:r>
              <a:rPr lang="en-US" sz="800" i="1">
                <a:latin typeface="Comic Sans MS" pitchFamily="66" charset="0"/>
                <a:cs typeface="Arial" charset="0"/>
              </a:rPr>
              <a:t> to  indicate something or enhance the message</a:t>
            </a:r>
          </a:p>
          <a:p>
            <a:pPr algn="ctr">
              <a:spcBef>
                <a:spcPct val="50000"/>
              </a:spcBef>
            </a:pPr>
            <a:endParaRPr lang="en-US" sz="200">
              <a:latin typeface="Arial" charset="0"/>
              <a:cs typeface="Arial" charset="0"/>
            </a:endParaRPr>
          </a:p>
        </p:txBody>
      </p:sp>
      <p:sp>
        <p:nvSpPr>
          <p:cNvPr id="227364" name="Rectangle 36"/>
          <p:cNvSpPr>
            <a:spLocks noChangeArrowheads="1"/>
          </p:cNvSpPr>
          <p:nvPr/>
        </p:nvSpPr>
        <p:spPr bwMode="auto">
          <a:xfrm>
            <a:off x="5562600" y="1828800"/>
            <a:ext cx="3581400" cy="609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65" name="Text Box 37"/>
          <p:cNvSpPr txBox="1">
            <a:spLocks noChangeArrowheads="1"/>
          </p:cNvSpPr>
          <p:nvPr/>
        </p:nvSpPr>
        <p:spPr bwMode="auto">
          <a:xfrm>
            <a:off x="7696200" y="3581400"/>
            <a:ext cx="914400" cy="852488"/>
          </a:xfrm>
          <a:prstGeom prst="rect">
            <a:avLst/>
          </a:prstGeom>
          <a:solidFill>
            <a:srgbClr val="FFFF66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i="1">
                <a:latin typeface="Comic Sans MS" pitchFamily="66" charset="0"/>
                <a:cs typeface="Arial" charset="0"/>
              </a:rPr>
              <a:t>Emboss an image to match the fragrance on the note </a:t>
            </a:r>
          </a:p>
          <a:p>
            <a:pPr algn="ctr">
              <a:spcBef>
                <a:spcPct val="50000"/>
              </a:spcBef>
            </a:pPr>
            <a:endParaRPr lang="en-US" sz="300" i="1">
              <a:latin typeface="Comic Sans MS" pitchFamily="66" charset="0"/>
              <a:cs typeface="Arial" charset="0"/>
            </a:endParaRPr>
          </a:p>
          <a:p>
            <a:pPr algn="ctr">
              <a:spcBef>
                <a:spcPct val="50000"/>
              </a:spcBef>
            </a:pPr>
            <a:endParaRPr lang="en-US" sz="300" i="1">
              <a:latin typeface="Comic Sans MS" pitchFamily="66" charset="0"/>
              <a:cs typeface="Arial" charset="0"/>
            </a:endParaRPr>
          </a:p>
        </p:txBody>
      </p:sp>
      <p:sp>
        <p:nvSpPr>
          <p:cNvPr id="227366" name="Freeform 38"/>
          <p:cNvSpPr>
            <a:spLocks/>
          </p:cNvSpPr>
          <p:nvPr/>
        </p:nvSpPr>
        <p:spPr bwMode="auto">
          <a:xfrm>
            <a:off x="0" y="228600"/>
            <a:ext cx="3048000" cy="2286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440"/>
              </a:cxn>
              <a:cxn ang="0">
                <a:pos x="1920" y="1440"/>
              </a:cxn>
              <a:cxn ang="0">
                <a:pos x="1920" y="720"/>
              </a:cxn>
              <a:cxn ang="0">
                <a:pos x="1152" y="720"/>
              </a:cxn>
              <a:cxn ang="0">
                <a:pos x="1152" y="0"/>
              </a:cxn>
              <a:cxn ang="0">
                <a:pos x="0" y="0"/>
              </a:cxn>
            </a:cxnLst>
            <a:rect l="0" t="0" r="r" b="b"/>
            <a:pathLst>
              <a:path w="1920" h="1440">
                <a:moveTo>
                  <a:pt x="0" y="0"/>
                </a:moveTo>
                <a:lnTo>
                  <a:pt x="0" y="1440"/>
                </a:lnTo>
                <a:lnTo>
                  <a:pt x="1920" y="1440"/>
                </a:lnTo>
                <a:lnTo>
                  <a:pt x="1920" y="720"/>
                </a:lnTo>
                <a:lnTo>
                  <a:pt x="1152" y="720"/>
                </a:lnTo>
                <a:lnTo>
                  <a:pt x="115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7367" name="Text Box 39"/>
          <p:cNvSpPr txBox="1">
            <a:spLocks noChangeArrowheads="1"/>
          </p:cNvSpPr>
          <p:nvPr/>
        </p:nvSpPr>
        <p:spPr bwMode="auto">
          <a:xfrm>
            <a:off x="0" y="6469063"/>
            <a:ext cx="5715000" cy="4572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i="1">
                <a:solidFill>
                  <a:schemeClr val="bg1"/>
                </a:solidFill>
                <a:latin typeface="Comic Sans MS" pitchFamily="66" charset="0"/>
                <a:cs typeface="Arial" charset="0"/>
              </a:rPr>
              <a:t>First – Generate some ideas.</a:t>
            </a:r>
            <a:endParaRPr lang="en-US" sz="1400" i="1">
              <a:solidFill>
                <a:schemeClr val="bg1"/>
              </a:solidFill>
              <a:latin typeface="Comic Sans MS" pitchFamily="66" charset="0"/>
              <a:cs typeface="Arial" charset="0"/>
            </a:endParaRPr>
          </a:p>
        </p:txBody>
      </p:sp>
      <p:sp>
        <p:nvSpPr>
          <p:cNvPr id="227368" name="AutoShape 40"/>
          <p:cNvSpPr>
            <a:spLocks noChangeArrowheads="1"/>
          </p:cNvSpPr>
          <p:nvPr/>
        </p:nvSpPr>
        <p:spPr bwMode="auto">
          <a:xfrm>
            <a:off x="8001000" y="2057400"/>
            <a:ext cx="3810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66FF"/>
          </a:solidFill>
          <a:ln w="6350" algn="ctr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endParaRPr lang="en-US">
              <a:solidFill>
                <a:srgbClr val="FF0000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27369" name="Text Box 41"/>
          <p:cNvSpPr txBox="1">
            <a:spLocks noChangeArrowheads="1"/>
          </p:cNvSpPr>
          <p:nvPr/>
        </p:nvSpPr>
        <p:spPr bwMode="auto">
          <a:xfrm>
            <a:off x="2895600" y="5486400"/>
            <a:ext cx="914400" cy="904875"/>
          </a:xfrm>
          <a:prstGeom prst="rect">
            <a:avLst/>
          </a:prstGeom>
          <a:solidFill>
            <a:srgbClr val="FFFF66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i="1">
                <a:latin typeface="Comic Sans MS" pitchFamily="66" charset="0"/>
                <a:cs typeface="Arial" charset="0"/>
              </a:rPr>
              <a:t>Add scents &amp; colors to help get message across - scratch &amp; sniff!!!</a:t>
            </a:r>
          </a:p>
          <a:p>
            <a:pPr algn="ctr">
              <a:spcBef>
                <a:spcPct val="50000"/>
              </a:spcBef>
            </a:pPr>
            <a:endParaRPr lang="en-US" sz="300">
              <a:latin typeface="Arial" charset="0"/>
              <a:cs typeface="Arial" charset="0"/>
            </a:endParaRPr>
          </a:p>
        </p:txBody>
      </p:sp>
      <p:sp>
        <p:nvSpPr>
          <p:cNvPr id="227370" name="Text Box 42"/>
          <p:cNvSpPr txBox="1">
            <a:spLocks noChangeArrowheads="1"/>
          </p:cNvSpPr>
          <p:nvPr/>
        </p:nvSpPr>
        <p:spPr bwMode="auto">
          <a:xfrm>
            <a:off x="457200" y="5867400"/>
            <a:ext cx="4572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800" b="0">
                <a:latin typeface="Arial" charset="0"/>
                <a:cs typeface="Arial" charset="0"/>
              </a:rPr>
              <a:t>“Ae there an</a:t>
            </a:r>
          </a:p>
        </p:txBody>
      </p:sp>
      <p:sp>
        <p:nvSpPr>
          <p:cNvPr id="227371" name="Text Box 43"/>
          <p:cNvSpPr txBox="1">
            <a:spLocks noChangeArrowheads="1"/>
          </p:cNvSpPr>
          <p:nvPr/>
        </p:nvSpPr>
        <p:spPr bwMode="auto">
          <a:xfrm>
            <a:off x="457200" y="5791200"/>
            <a:ext cx="541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800" b="0">
                <a:latin typeface="Arial" charset="0"/>
                <a:cs typeface="Arial" charset="0"/>
              </a:rPr>
              <a:t>“Are there any </a:t>
            </a:r>
          </a:p>
        </p:txBody>
      </p:sp>
      <p:sp>
        <p:nvSpPr>
          <p:cNvPr id="227372" name="Text Box 44"/>
          <p:cNvSpPr txBox="1">
            <a:spLocks noChangeArrowheads="1"/>
          </p:cNvSpPr>
          <p:nvPr/>
        </p:nvSpPr>
        <p:spPr bwMode="auto">
          <a:xfrm>
            <a:off x="0" y="6400800"/>
            <a:ext cx="7620000" cy="4572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i="1">
                <a:solidFill>
                  <a:schemeClr val="bg1"/>
                </a:solidFill>
                <a:latin typeface="Comic Sans MS" pitchFamily="66" charset="0"/>
                <a:cs typeface="Arial" charset="0"/>
              </a:rPr>
              <a:t>Ask – “What is the concept behind this idea?”</a:t>
            </a: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0" y="609600"/>
            <a:ext cx="7696200" cy="6248400"/>
            <a:chOff x="0" y="384"/>
            <a:chExt cx="4848" cy="3936"/>
          </a:xfrm>
        </p:grpSpPr>
        <p:sp>
          <p:nvSpPr>
            <p:cNvPr id="227374" name="Text Box 46"/>
            <p:cNvSpPr txBox="1">
              <a:spLocks noChangeArrowheads="1"/>
            </p:cNvSpPr>
            <p:nvPr/>
          </p:nvSpPr>
          <p:spPr bwMode="auto">
            <a:xfrm>
              <a:off x="1200" y="384"/>
              <a:ext cx="3648" cy="48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sz="2200" i="1">
                  <a:solidFill>
                    <a:schemeClr val="bg1"/>
                  </a:solidFill>
                  <a:latin typeface="Comic Sans MS" pitchFamily="66" charset="0"/>
                  <a:cs typeface="Arial" charset="0"/>
                </a:rPr>
                <a:t>Ask – “Are there any other ways to carry out this concept?”</a:t>
              </a:r>
            </a:p>
          </p:txBody>
        </p:sp>
        <p:sp>
          <p:nvSpPr>
            <p:cNvPr id="227375" name="Rectangle 47"/>
            <p:cNvSpPr>
              <a:spLocks noChangeArrowheads="1"/>
            </p:cNvSpPr>
            <p:nvPr/>
          </p:nvSpPr>
          <p:spPr bwMode="auto">
            <a:xfrm>
              <a:off x="0" y="4032"/>
              <a:ext cx="4608" cy="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7376" name="Text Box 48"/>
          <p:cNvSpPr txBox="1">
            <a:spLocks noChangeArrowheads="1"/>
          </p:cNvSpPr>
          <p:nvPr/>
        </p:nvSpPr>
        <p:spPr bwMode="auto">
          <a:xfrm>
            <a:off x="2057400" y="533400"/>
            <a:ext cx="5410200" cy="8223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i="1">
                <a:solidFill>
                  <a:schemeClr val="bg1"/>
                </a:solidFill>
                <a:latin typeface="Comic Sans MS" pitchFamily="66" charset="0"/>
                <a:cs typeface="Arial" charset="0"/>
              </a:rPr>
              <a:t>Ask – “Are there any other concepts?</a:t>
            </a:r>
          </a:p>
        </p:txBody>
      </p:sp>
      <p:sp>
        <p:nvSpPr>
          <p:cNvPr id="227377" name="Text Box 49"/>
          <p:cNvSpPr txBox="1">
            <a:spLocks noChangeArrowheads="1"/>
          </p:cNvSpPr>
          <p:nvPr/>
        </p:nvSpPr>
        <p:spPr bwMode="auto">
          <a:xfrm>
            <a:off x="2133600" y="533400"/>
            <a:ext cx="5257800" cy="8223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i="1">
                <a:solidFill>
                  <a:schemeClr val="bg1"/>
                </a:solidFill>
                <a:latin typeface="Comic Sans MS" pitchFamily="66" charset="0"/>
                <a:cs typeface="Arial" charset="0"/>
              </a:rPr>
              <a:t>Ask – “Are there any other ways to carry out this concept?”</a:t>
            </a:r>
          </a:p>
        </p:txBody>
      </p: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2133600" y="609600"/>
            <a:ext cx="6400800" cy="1905000"/>
            <a:chOff x="1344" y="384"/>
            <a:chExt cx="4032" cy="1200"/>
          </a:xfrm>
        </p:grpSpPr>
        <p:sp>
          <p:nvSpPr>
            <p:cNvPr id="227379" name="Rectangle 51"/>
            <p:cNvSpPr>
              <a:spLocks noChangeArrowheads="1"/>
            </p:cNvSpPr>
            <p:nvPr/>
          </p:nvSpPr>
          <p:spPr bwMode="auto">
            <a:xfrm>
              <a:off x="4944" y="1200"/>
              <a:ext cx="432" cy="38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80" name="Rectangle 52"/>
            <p:cNvSpPr>
              <a:spLocks noChangeArrowheads="1"/>
            </p:cNvSpPr>
            <p:nvPr/>
          </p:nvSpPr>
          <p:spPr bwMode="auto">
            <a:xfrm>
              <a:off x="1344" y="384"/>
              <a:ext cx="3264" cy="48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7381" name="Freeform 53"/>
          <p:cNvSpPr>
            <a:spLocks/>
          </p:cNvSpPr>
          <p:nvPr/>
        </p:nvSpPr>
        <p:spPr bwMode="auto">
          <a:xfrm>
            <a:off x="7543800" y="1828800"/>
            <a:ext cx="152400" cy="76200"/>
          </a:xfrm>
          <a:custGeom>
            <a:avLst/>
            <a:gdLst/>
            <a:ahLst/>
            <a:cxnLst>
              <a:cxn ang="0">
                <a:pos x="24" y="0"/>
              </a:cxn>
              <a:cxn ang="0">
                <a:pos x="0" y="12"/>
              </a:cxn>
              <a:cxn ang="0">
                <a:pos x="24" y="0"/>
              </a:cxn>
            </a:cxnLst>
            <a:rect l="0" t="0" r="r" b="b"/>
            <a:pathLst>
              <a:path w="24" h="12">
                <a:moveTo>
                  <a:pt x="24" y="0"/>
                </a:moveTo>
                <a:cubicBezTo>
                  <a:pt x="16" y="4"/>
                  <a:pt x="0" y="12"/>
                  <a:pt x="0" y="12"/>
                </a:cubicBezTo>
                <a:cubicBezTo>
                  <a:pt x="0" y="12"/>
                  <a:pt x="16" y="4"/>
                  <a:pt x="24" y="0"/>
                </a:cubicBezTo>
                <a:close/>
              </a:path>
            </a:pathLst>
          </a:custGeom>
          <a:solidFill>
            <a:schemeClr val="accent1"/>
          </a:solidFill>
          <a:ln w="76200" cmpd="sng">
            <a:noFill/>
            <a:round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6477000" y="533400"/>
            <a:ext cx="1905000" cy="1752600"/>
            <a:chOff x="4080" y="384"/>
            <a:chExt cx="1152" cy="1056"/>
          </a:xfrm>
        </p:grpSpPr>
        <p:sp>
          <p:nvSpPr>
            <p:cNvPr id="227383" name="Rectangle 55"/>
            <p:cNvSpPr>
              <a:spLocks noChangeArrowheads="1"/>
            </p:cNvSpPr>
            <p:nvPr/>
          </p:nvSpPr>
          <p:spPr bwMode="auto">
            <a:xfrm>
              <a:off x="4080" y="384"/>
              <a:ext cx="1152" cy="1056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384" name="Freeform 56"/>
            <p:cNvSpPr>
              <a:spLocks/>
            </p:cNvSpPr>
            <p:nvPr/>
          </p:nvSpPr>
          <p:spPr bwMode="auto">
            <a:xfrm>
              <a:off x="4320" y="960"/>
              <a:ext cx="720" cy="381"/>
            </a:xfrm>
            <a:custGeom>
              <a:avLst/>
              <a:gdLst/>
              <a:ahLst/>
              <a:cxnLst>
                <a:cxn ang="0">
                  <a:pos x="0" y="129"/>
                </a:cxn>
                <a:cxn ang="0">
                  <a:pos x="0" y="381"/>
                </a:cxn>
                <a:cxn ang="0">
                  <a:pos x="102" y="309"/>
                </a:cxn>
                <a:cxn ang="0">
                  <a:pos x="156" y="267"/>
                </a:cxn>
                <a:cxn ang="0">
                  <a:pos x="312" y="327"/>
                </a:cxn>
                <a:cxn ang="0">
                  <a:pos x="486" y="357"/>
                </a:cxn>
                <a:cxn ang="0">
                  <a:pos x="618" y="315"/>
                </a:cxn>
                <a:cxn ang="0">
                  <a:pos x="720" y="273"/>
                </a:cxn>
                <a:cxn ang="0">
                  <a:pos x="672" y="225"/>
                </a:cxn>
                <a:cxn ang="0">
                  <a:pos x="720" y="177"/>
                </a:cxn>
                <a:cxn ang="0">
                  <a:pos x="624" y="111"/>
                </a:cxn>
                <a:cxn ang="0">
                  <a:pos x="513" y="87"/>
                </a:cxn>
                <a:cxn ang="0">
                  <a:pos x="399" y="0"/>
                </a:cxn>
                <a:cxn ang="0">
                  <a:pos x="360" y="27"/>
                </a:cxn>
                <a:cxn ang="0">
                  <a:pos x="321" y="75"/>
                </a:cxn>
                <a:cxn ang="0">
                  <a:pos x="240" y="129"/>
                </a:cxn>
                <a:cxn ang="0">
                  <a:pos x="138" y="177"/>
                </a:cxn>
                <a:cxn ang="0">
                  <a:pos x="0" y="129"/>
                </a:cxn>
              </a:cxnLst>
              <a:rect l="0" t="0" r="r" b="b"/>
              <a:pathLst>
                <a:path w="720" h="381">
                  <a:moveTo>
                    <a:pt x="0" y="129"/>
                  </a:moveTo>
                  <a:cubicBezTo>
                    <a:pt x="9" y="213"/>
                    <a:pt x="0" y="297"/>
                    <a:pt x="0" y="381"/>
                  </a:cubicBezTo>
                  <a:lnTo>
                    <a:pt x="102" y="309"/>
                  </a:lnTo>
                  <a:lnTo>
                    <a:pt x="156" y="267"/>
                  </a:lnTo>
                  <a:lnTo>
                    <a:pt x="312" y="327"/>
                  </a:lnTo>
                  <a:lnTo>
                    <a:pt x="486" y="357"/>
                  </a:lnTo>
                  <a:lnTo>
                    <a:pt x="618" y="315"/>
                  </a:lnTo>
                  <a:lnTo>
                    <a:pt x="720" y="273"/>
                  </a:lnTo>
                  <a:lnTo>
                    <a:pt x="672" y="225"/>
                  </a:lnTo>
                  <a:lnTo>
                    <a:pt x="720" y="177"/>
                  </a:lnTo>
                  <a:lnTo>
                    <a:pt x="624" y="111"/>
                  </a:lnTo>
                  <a:lnTo>
                    <a:pt x="513" y="87"/>
                  </a:lnTo>
                  <a:lnTo>
                    <a:pt x="399" y="0"/>
                  </a:lnTo>
                  <a:cubicBezTo>
                    <a:pt x="383" y="10"/>
                    <a:pt x="396" y="42"/>
                    <a:pt x="360" y="27"/>
                  </a:cubicBezTo>
                  <a:cubicBezTo>
                    <a:pt x="322" y="95"/>
                    <a:pt x="352" y="75"/>
                    <a:pt x="321" y="75"/>
                  </a:cubicBezTo>
                  <a:cubicBezTo>
                    <a:pt x="275" y="79"/>
                    <a:pt x="280" y="119"/>
                    <a:pt x="240" y="129"/>
                  </a:cubicBezTo>
                  <a:cubicBezTo>
                    <a:pt x="221" y="158"/>
                    <a:pt x="178" y="177"/>
                    <a:pt x="138" y="177"/>
                  </a:cubicBezTo>
                  <a:lnTo>
                    <a:pt x="0" y="129"/>
                  </a:lnTo>
                  <a:close/>
                </a:path>
              </a:pathLst>
            </a:custGeom>
            <a:solidFill>
              <a:srgbClr val="CAFF95"/>
            </a:solidFill>
            <a:ln w="76200" cmpd="sng">
              <a:solidFill>
                <a:srgbClr val="C8FF91"/>
              </a:solidFill>
              <a:round/>
              <a:headEnd/>
              <a:tailEnd/>
            </a:ln>
            <a:effectLst>
              <a:prstShdw prst="shdw17" dist="17961" dir="2700000">
                <a:srgbClr val="808080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85" name="Freeform 57"/>
            <p:cNvSpPr>
              <a:spLocks/>
            </p:cNvSpPr>
            <p:nvPr/>
          </p:nvSpPr>
          <p:spPr bwMode="auto">
            <a:xfrm rot="-925330">
              <a:off x="4752" y="1200"/>
              <a:ext cx="96" cy="48"/>
            </a:xfrm>
            <a:custGeom>
              <a:avLst/>
              <a:gdLst/>
              <a:ahLst/>
              <a:cxnLst>
                <a:cxn ang="0">
                  <a:pos x="93" y="32"/>
                </a:cxn>
                <a:cxn ang="0">
                  <a:pos x="21" y="14"/>
                </a:cxn>
                <a:cxn ang="0">
                  <a:pos x="9" y="50"/>
                </a:cxn>
                <a:cxn ang="0">
                  <a:pos x="3" y="68"/>
                </a:cxn>
                <a:cxn ang="0">
                  <a:pos x="9" y="98"/>
                </a:cxn>
                <a:cxn ang="0">
                  <a:pos x="81" y="80"/>
                </a:cxn>
                <a:cxn ang="0">
                  <a:pos x="105" y="44"/>
                </a:cxn>
                <a:cxn ang="0">
                  <a:pos x="93" y="32"/>
                </a:cxn>
              </a:cxnLst>
              <a:rect l="0" t="0" r="r" b="b"/>
              <a:pathLst>
                <a:path w="117" h="111">
                  <a:moveTo>
                    <a:pt x="93" y="32"/>
                  </a:moveTo>
                  <a:cubicBezTo>
                    <a:pt x="72" y="0"/>
                    <a:pt x="61" y="8"/>
                    <a:pt x="21" y="14"/>
                  </a:cubicBezTo>
                  <a:cubicBezTo>
                    <a:pt x="17" y="26"/>
                    <a:pt x="13" y="38"/>
                    <a:pt x="9" y="50"/>
                  </a:cubicBezTo>
                  <a:cubicBezTo>
                    <a:pt x="7" y="56"/>
                    <a:pt x="3" y="68"/>
                    <a:pt x="3" y="68"/>
                  </a:cubicBezTo>
                  <a:cubicBezTo>
                    <a:pt x="5" y="78"/>
                    <a:pt x="0" y="94"/>
                    <a:pt x="9" y="98"/>
                  </a:cubicBezTo>
                  <a:cubicBezTo>
                    <a:pt x="41" y="111"/>
                    <a:pt x="60" y="94"/>
                    <a:pt x="81" y="80"/>
                  </a:cubicBezTo>
                  <a:cubicBezTo>
                    <a:pt x="89" y="68"/>
                    <a:pt x="117" y="52"/>
                    <a:pt x="105" y="44"/>
                  </a:cubicBezTo>
                  <a:cubicBezTo>
                    <a:pt x="85" y="31"/>
                    <a:pt x="80" y="32"/>
                    <a:pt x="93" y="32"/>
                  </a:cubicBezTo>
                  <a:close/>
                </a:path>
              </a:pathLst>
            </a:custGeom>
            <a:solidFill>
              <a:srgbClr val="CCFF99"/>
            </a:solidFill>
            <a:ln w="19050" cmpd="sng">
              <a:solidFill>
                <a:srgbClr val="CCFF99"/>
              </a:solidFill>
              <a:round/>
              <a:headEnd/>
              <a:tailEnd/>
            </a:ln>
            <a:effectLst>
              <a:prstShdw prst="shdw17" dist="17961" dir="2700000">
                <a:srgbClr val="808080"/>
              </a:prst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27386" name="Oval 58"/>
            <p:cNvSpPr>
              <a:spLocks noChangeArrowheads="1"/>
            </p:cNvSpPr>
            <p:nvPr/>
          </p:nvSpPr>
          <p:spPr bwMode="auto">
            <a:xfrm>
              <a:off x="4896" y="1104"/>
              <a:ext cx="48" cy="48"/>
            </a:xfrm>
            <a:prstGeom prst="ellipse">
              <a:avLst/>
            </a:prstGeom>
            <a:solidFill>
              <a:srgbClr val="CCFF99"/>
            </a:solidFill>
            <a:ln w="9525">
              <a:solidFill>
                <a:srgbClr val="CCFF99"/>
              </a:solidFill>
              <a:round/>
              <a:headEnd/>
              <a:tailEnd/>
            </a:ln>
            <a:effectLst>
              <a:prstShdw prst="shdw17" dist="17961" dir="2700000">
                <a:srgbClr val="808080"/>
              </a:prstShdw>
            </a:effec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7387" name="Text Box 59"/>
          <p:cNvSpPr txBox="1">
            <a:spLocks noChangeArrowheads="1"/>
          </p:cNvSpPr>
          <p:nvPr/>
        </p:nvSpPr>
        <p:spPr bwMode="auto">
          <a:xfrm>
            <a:off x="6553200" y="685800"/>
            <a:ext cx="1828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  <a:cs typeface="Arial" charset="0"/>
            </a:endParaRPr>
          </a:p>
        </p:txBody>
      </p:sp>
      <p:sp>
        <p:nvSpPr>
          <p:cNvPr id="227388" name="Text Box 60"/>
          <p:cNvSpPr txBox="1">
            <a:spLocks noChangeArrowheads="1"/>
          </p:cNvSpPr>
          <p:nvPr/>
        </p:nvSpPr>
        <p:spPr bwMode="auto">
          <a:xfrm>
            <a:off x="6477000" y="609600"/>
            <a:ext cx="18288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2000" b="0">
                <a:latin typeface="Staccato222 BT" pitchFamily="66" charset="0"/>
                <a:cs typeface="Arial" charset="0"/>
              </a:rPr>
              <a:t>This offer seems a little fishy if you ask me!</a:t>
            </a:r>
          </a:p>
        </p:txBody>
      </p:sp>
      <p:grpSp>
        <p:nvGrpSpPr>
          <p:cNvPr id="5" name="Group 61"/>
          <p:cNvGrpSpPr>
            <a:grpSpLocks/>
          </p:cNvGrpSpPr>
          <p:nvPr/>
        </p:nvGrpSpPr>
        <p:grpSpPr bwMode="auto">
          <a:xfrm>
            <a:off x="3733800" y="2209800"/>
            <a:ext cx="4657725" cy="3505200"/>
            <a:chOff x="2352" y="1392"/>
            <a:chExt cx="2934" cy="2208"/>
          </a:xfrm>
        </p:grpSpPr>
        <p:sp>
          <p:nvSpPr>
            <p:cNvPr id="227390" name="Line 62"/>
            <p:cNvSpPr>
              <a:spLocks noChangeShapeType="1"/>
            </p:cNvSpPr>
            <p:nvPr/>
          </p:nvSpPr>
          <p:spPr bwMode="auto">
            <a:xfrm flipV="1">
              <a:off x="2352" y="1392"/>
              <a:ext cx="2208" cy="220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7391" name="Line 63"/>
            <p:cNvSpPr>
              <a:spLocks noChangeShapeType="1"/>
            </p:cNvSpPr>
            <p:nvPr/>
          </p:nvSpPr>
          <p:spPr bwMode="auto">
            <a:xfrm flipV="1">
              <a:off x="3888" y="1392"/>
              <a:ext cx="816" cy="100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7392" name="Line 64"/>
            <p:cNvSpPr>
              <a:spLocks noChangeShapeType="1"/>
            </p:cNvSpPr>
            <p:nvPr/>
          </p:nvSpPr>
          <p:spPr bwMode="auto">
            <a:xfrm rot="17964716" flipV="1">
              <a:off x="4647" y="1501"/>
              <a:ext cx="605" cy="67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7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2000"/>
                                        <p:tgtEl>
                                          <p:spTgt spid="227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2.59259E-6 L -0.6 -0.24074 " pathEditMode="relative" rAng="0" ptsTypes="AA">
                                      <p:cBhvr>
                                        <p:cTn id="16" dur="1400" fill="hold"/>
                                        <p:tgtEl>
                                          <p:spTgt spid="2273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" y="-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7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73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27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4.07407E-6 L -0.49167 -0.29629 " pathEditMode="relative" rAng="0" ptsTypes="AA">
                                      <p:cBhvr>
                                        <p:cTn id="33" dur="1300" fill="hold"/>
                                        <p:tgtEl>
                                          <p:spTgt spid="2273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6" y="-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273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27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33333E-6 L -0.375 -0.24305 " pathEditMode="relative" rAng="0" ptsTypes="AA">
                                      <p:cBhvr>
                                        <p:cTn id="45" dur="1200" fill="hold"/>
                                        <p:tgtEl>
                                          <p:spTgt spid="2273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8" y="-1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2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3.7037E-7 L -0.275 -0.27685 " pathEditMode="relative" rAng="0" ptsTypes="AA">
                                      <p:cBhvr>
                                        <p:cTn id="54" dur="1100" fill="hold"/>
                                        <p:tgtEl>
                                          <p:spTgt spid="2273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" y="-1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2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1.48148E-6 L -0.16667 -0.24074 " pathEditMode="relative" rAng="0" ptsTypes="AA">
                                      <p:cBhvr>
                                        <p:cTn id="63" dur="1000" fill="hold"/>
                                        <p:tgtEl>
                                          <p:spTgt spid="2273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" y="-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2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07407 L -0.075 -0.26296 " pathEditMode="relative" rAng="0" ptsTypes="AA">
                                      <p:cBhvr>
                                        <p:cTn id="72" dur="900" fill="hold"/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" y="-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2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2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27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2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22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227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22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22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227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22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227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22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22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227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227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22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227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22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22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227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0" dur="500"/>
                                        <p:tgtEl>
                                          <p:spTgt spid="227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22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5" dur="500"/>
                                        <p:tgtEl>
                                          <p:spTgt spid="227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2" grpId="0" animBg="1"/>
      <p:bldP spid="227333" grpId="0" animBg="1"/>
      <p:bldP spid="227336" grpId="0" animBg="1"/>
      <p:bldP spid="227338" grpId="0" build="allAtOnce" animBg="1"/>
      <p:bldP spid="227339" grpId="0" animBg="1"/>
      <p:bldP spid="227340" grpId="0" animBg="1"/>
      <p:bldP spid="227341" grpId="0" animBg="1"/>
      <p:bldP spid="227342" grpId="0" animBg="1"/>
      <p:bldP spid="227343" grpId="0" animBg="1"/>
      <p:bldP spid="227344" grpId="0" animBg="1"/>
      <p:bldP spid="227345" grpId="0" animBg="1"/>
      <p:bldP spid="227346" grpId="0" build="allAtOnce" animBg="1"/>
      <p:bldP spid="227347" grpId="0" animBg="1"/>
      <p:bldP spid="227348" grpId="0" animBg="1"/>
      <p:bldP spid="227349" grpId="0" animBg="1"/>
      <p:bldP spid="227350" grpId="0" animBg="1"/>
      <p:bldP spid="227350" grpId="1" animBg="1"/>
      <p:bldP spid="227351" grpId="0" animBg="1"/>
      <p:bldP spid="227351" grpId="1" animBg="1"/>
      <p:bldP spid="227352" grpId="0" animBg="1"/>
      <p:bldP spid="227352" grpId="1" animBg="1"/>
      <p:bldP spid="227353" grpId="0" animBg="1"/>
      <p:bldP spid="227353" grpId="1" animBg="1"/>
      <p:bldP spid="227354" grpId="0" animBg="1"/>
      <p:bldP spid="227354" grpId="1" animBg="1"/>
      <p:bldP spid="227355" grpId="0" animBg="1"/>
      <p:bldP spid="227355" grpId="1" animBg="1"/>
      <p:bldP spid="227356" grpId="0"/>
      <p:bldP spid="227357" grpId="0"/>
      <p:bldP spid="227358" grpId="0" animBg="1"/>
      <p:bldP spid="227359" grpId="0" animBg="1"/>
      <p:bldP spid="227361" grpId="0" animBg="1"/>
      <p:bldP spid="227362" grpId="0" animBg="1"/>
      <p:bldP spid="227363" grpId="0" animBg="1"/>
      <p:bldP spid="227364" grpId="0" animBg="1"/>
      <p:bldP spid="227365" grpId="0" animBg="1"/>
      <p:bldP spid="227366" grpId="0" animBg="1"/>
      <p:bldP spid="227368" grpId="0" animBg="1"/>
      <p:bldP spid="227369" grpId="0" animBg="1"/>
      <p:bldP spid="227372" grpId="0" animBg="1"/>
      <p:bldP spid="227376" grpId="0" animBg="1"/>
      <p:bldP spid="227377" grpId="0" animBg="1"/>
      <p:bldP spid="227388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2CA609-A159-4213-B654-F06B956700CE}" type="slidenum">
              <a:rPr lang="en-GB"/>
              <a:pPr/>
              <a:t>9</a:t>
            </a:fld>
            <a:endParaRPr lang="en-GB"/>
          </a:p>
        </p:txBody>
      </p:sp>
      <p:sp>
        <p:nvSpPr>
          <p:cNvPr id="22835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Definition: </a:t>
            </a:r>
            <a:r>
              <a:rPr 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Idea</a:t>
            </a:r>
          </a:p>
          <a:p>
            <a:pPr lvl="1"/>
            <a:r>
              <a:rPr lang="en-US"/>
              <a:t>A general approach to doing something </a:t>
            </a:r>
            <a:r>
              <a:rPr lang="en-US">
                <a:sym typeface="Symbol" pitchFamily="18" charset="2"/>
              </a:rPr>
              <a:t></a:t>
            </a:r>
            <a:r>
              <a:rPr lang="en-US"/>
              <a:t> A general direction </a:t>
            </a:r>
            <a:r>
              <a:rPr lang="en-US">
                <a:sym typeface="Symbol" pitchFamily="18" charset="2"/>
              </a:rPr>
              <a:t></a:t>
            </a:r>
            <a:r>
              <a:rPr lang="en-US"/>
              <a:t> High level, view from above  </a:t>
            </a:r>
            <a:r>
              <a:rPr lang="en-US">
                <a:sym typeface="Symbol" pitchFamily="18" charset="2"/>
              </a:rPr>
              <a:t></a:t>
            </a:r>
            <a:r>
              <a:rPr lang="en-US"/>
              <a:t> </a:t>
            </a:r>
            <a:r>
              <a:rPr lang="en-US" u="sng"/>
              <a:t>Is not</a:t>
            </a:r>
            <a:r>
              <a:rPr lang="en-US"/>
              <a:t> “actionable”</a:t>
            </a:r>
          </a:p>
          <a:p>
            <a:pPr lvl="1"/>
            <a:endParaRPr lang="en-US"/>
          </a:p>
          <a:p>
            <a:r>
              <a:rPr lang="en-US"/>
              <a:t>Examples:</a:t>
            </a:r>
          </a:p>
          <a:p>
            <a:pPr lvl="1"/>
            <a:r>
              <a:rPr lang="en-US"/>
              <a:t>Create a new platform -</a:t>
            </a:r>
            <a:r>
              <a:rPr lang="en-US" b="1">
                <a:solidFill>
                  <a:srgbClr val="CC0000"/>
                </a:solidFill>
              </a:rPr>
              <a:t> NO</a:t>
            </a:r>
          </a:p>
          <a:p>
            <a:pPr lvl="1"/>
            <a:r>
              <a:rPr lang="en-US"/>
              <a:t>Create a diagnostics platform to launch new products and services - </a:t>
            </a:r>
            <a:r>
              <a:rPr lang="en-US" b="1">
                <a:solidFill>
                  <a:srgbClr val="009900"/>
                </a:solidFill>
              </a:rPr>
              <a:t>YES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A few definitions 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058B59-445F-487D-8785-508AF3EF5FDE}" type="slidenum">
              <a:rPr lang="en-GB"/>
              <a:pPr/>
              <a:t>10</a:t>
            </a:fld>
            <a:endParaRPr lang="en-GB"/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Definition:  </a:t>
            </a:r>
            <a:r>
              <a:rPr 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Concept</a:t>
            </a:r>
          </a:p>
          <a:p>
            <a:pPr lvl="1"/>
            <a:r>
              <a:rPr lang="en-US"/>
              <a:t>A specific way of doing something </a:t>
            </a:r>
            <a:br>
              <a:rPr lang="en-US"/>
            </a:br>
            <a:r>
              <a:rPr lang="en-US">
                <a:sym typeface="Symbol" pitchFamily="18" charset="2"/>
              </a:rPr>
              <a:t></a:t>
            </a:r>
            <a:r>
              <a:rPr lang="en-US"/>
              <a:t> Low level of detail  </a:t>
            </a:r>
            <a:r>
              <a:rPr lang="en-US">
                <a:sym typeface="Symbol" pitchFamily="18" charset="2"/>
              </a:rPr>
              <a:t></a:t>
            </a:r>
            <a:r>
              <a:rPr lang="en-US"/>
              <a:t> Specific </a:t>
            </a:r>
            <a:r>
              <a:rPr lang="en-US">
                <a:sym typeface="Symbol" pitchFamily="18" charset="2"/>
              </a:rPr>
              <a:t></a:t>
            </a:r>
            <a:r>
              <a:rPr lang="en-US"/>
              <a:t> </a:t>
            </a:r>
            <a:r>
              <a:rPr lang="en-US" u="sng"/>
              <a:t>Is</a:t>
            </a:r>
            <a:r>
              <a:rPr lang="en-US"/>
              <a:t> “actionable</a:t>
            </a:r>
          </a:p>
          <a:p>
            <a:endParaRPr lang="en-US"/>
          </a:p>
          <a:p>
            <a:r>
              <a:rPr lang="en-US"/>
              <a:t>Examples:</a:t>
            </a:r>
          </a:p>
          <a:p>
            <a:pPr lvl="1"/>
            <a:r>
              <a:rPr lang="en-US"/>
              <a:t>Ways to minimize the likelihood of mistakes</a:t>
            </a:r>
            <a:endParaRPr lang="en-US" b="1">
              <a:solidFill>
                <a:srgbClr val="CC0000"/>
              </a:solidFill>
            </a:endParaRPr>
          </a:p>
          <a:p>
            <a:pPr lvl="1"/>
            <a:r>
              <a:rPr lang="en-US"/>
              <a:t>Ways to reduce the cost of a product</a:t>
            </a:r>
            <a:endParaRPr lang="en-US" b="1">
              <a:solidFill>
                <a:srgbClr val="009900"/>
              </a:solidFill>
            </a:endParaRPr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A few definitions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14607-0A39-48E7-9C9E-6771F78F89D7}" type="slidenum">
              <a:rPr lang="en-GB"/>
              <a:pPr/>
              <a:t>11</a:t>
            </a:fld>
            <a:endParaRPr lang="en-GB"/>
          </a:p>
        </p:txBody>
      </p:sp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Ideation (Round 1): </a:t>
            </a:r>
            <a:r>
              <a:rPr lang="en-US" dirty="0" smtClean="0"/>
              <a:t>(15 </a:t>
            </a:r>
            <a:r>
              <a:rPr lang="en-US" dirty="0"/>
              <a:t>min)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0" hangingPunct="0">
              <a:spcBef>
                <a:spcPct val="50000"/>
              </a:spcBef>
              <a:buSzPct val="120000"/>
            </a:pPr>
            <a:r>
              <a:rPr lang="en-US"/>
              <a:t>Review the focus statement</a:t>
            </a:r>
          </a:p>
          <a:p>
            <a:pPr eaLnBrk="0" hangingPunct="0">
              <a:spcBef>
                <a:spcPct val="50000"/>
              </a:spcBef>
              <a:buSzPct val="120000"/>
            </a:pPr>
            <a:r>
              <a:rPr lang="en-US"/>
              <a:t>Review our concept fans </a:t>
            </a:r>
          </a:p>
          <a:p>
            <a:pPr eaLnBrk="0" hangingPunct="0">
              <a:spcBef>
                <a:spcPct val="50000"/>
              </a:spcBef>
              <a:buSzPct val="120000"/>
            </a:pPr>
            <a:r>
              <a:rPr lang="en-US"/>
              <a:t>Divide the concepts amongst the team</a:t>
            </a:r>
          </a:p>
          <a:p>
            <a:pPr eaLnBrk="0" hangingPunct="0">
              <a:spcBef>
                <a:spcPct val="50000"/>
              </a:spcBef>
              <a:buSzPct val="120000"/>
            </a:pPr>
            <a:r>
              <a:rPr lang="en-US"/>
              <a:t>Generate ideas for each concept 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FE951-79E5-40BB-AD96-3A4F927F81D8}" type="slidenum">
              <a:rPr lang="en-GB"/>
              <a:pPr/>
              <a:t>12</a:t>
            </a:fld>
            <a:endParaRPr lang="en-GB"/>
          </a:p>
        </p:txBody>
      </p:sp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Ideation (Round 2): </a:t>
            </a:r>
            <a:r>
              <a:rPr lang="en-US" dirty="0" smtClean="0"/>
              <a:t>(15 </a:t>
            </a:r>
            <a:r>
              <a:rPr lang="en-US" dirty="0"/>
              <a:t>min)</a:t>
            </a:r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0" hangingPunct="0">
              <a:spcBef>
                <a:spcPct val="50000"/>
              </a:spcBef>
              <a:buSzPct val="120000"/>
            </a:pPr>
            <a:r>
              <a:rPr lang="en-US" dirty="0"/>
              <a:t>Divide the concepts amongst the team</a:t>
            </a:r>
          </a:p>
          <a:p>
            <a:pPr eaLnBrk="0" hangingPunct="0">
              <a:spcBef>
                <a:spcPct val="50000"/>
              </a:spcBef>
              <a:buSzPct val="120000"/>
            </a:pPr>
            <a:r>
              <a:rPr lang="en-US" dirty="0"/>
              <a:t>Generate ideas for each concept 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Random Entry (1 &amp; 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Generate More Ideas</a:t>
            </a:r>
          </a:p>
          <a:p>
            <a:endParaRPr lang="en-US" dirty="0" smtClean="0"/>
          </a:p>
          <a:p>
            <a:r>
              <a:rPr lang="en-US" dirty="0" smtClean="0"/>
              <a:t>30 min (each)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21867A-C9F8-4356-88F3-AFAEDB542DB7}" type="slidenum">
              <a:rPr lang="en-GB"/>
              <a:pPr/>
              <a:t>14</a:t>
            </a:fld>
            <a:endParaRPr lang="en-GB"/>
          </a:p>
        </p:txBody>
      </p:sp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Explanation of </a:t>
            </a:r>
            <a:r>
              <a:rPr lang="en-US" sz="2800" dirty="0" smtClean="0"/>
              <a:t>Random </a:t>
            </a:r>
            <a:r>
              <a:rPr lang="en-US" sz="2800" dirty="0"/>
              <a:t>Entry  </a:t>
            </a:r>
          </a:p>
        </p:txBody>
      </p:sp>
      <p:sp>
        <p:nvSpPr>
          <p:cNvPr id="230404" name="Rectangle 11"/>
          <p:cNvSpPr>
            <a:spLocks noChangeArrowheads="1"/>
          </p:cNvSpPr>
          <p:nvPr/>
        </p:nvSpPr>
        <p:spPr bwMode="auto">
          <a:xfrm>
            <a:off x="762000" y="3200400"/>
            <a:ext cx="7772400" cy="304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600" i="1">
              <a:latin typeface="Arial Unicode MS" pitchFamily="34" charset="-128"/>
            </a:endParaRPr>
          </a:p>
        </p:txBody>
      </p:sp>
      <p:sp>
        <p:nvSpPr>
          <p:cNvPr id="230405" name="Rectangle 11"/>
          <p:cNvSpPr>
            <a:spLocks noChangeArrowheads="1"/>
          </p:cNvSpPr>
          <p:nvPr/>
        </p:nvSpPr>
        <p:spPr bwMode="auto">
          <a:xfrm>
            <a:off x="762000" y="3200400"/>
            <a:ext cx="7772400" cy="304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600" i="1">
              <a:latin typeface="Arial Unicode MS" pitchFamily="34" charset="-128"/>
            </a:endParaRPr>
          </a:p>
        </p:txBody>
      </p:sp>
      <p:pic>
        <p:nvPicPr>
          <p:cNvPr id="230406" name="Picture 12" descr="4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054225"/>
            <a:ext cx="7543800" cy="20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0407" name="Rectangle 14"/>
          <p:cNvSpPr>
            <a:spLocks noChangeArrowheads="1"/>
          </p:cNvSpPr>
          <p:nvPr/>
        </p:nvSpPr>
        <p:spPr bwMode="auto">
          <a:xfrm>
            <a:off x="990600" y="3502025"/>
            <a:ext cx="3048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600" i="1">
              <a:latin typeface="Arial Unicode MS" pitchFamily="34" charset="-128"/>
            </a:endParaRPr>
          </a:p>
        </p:txBody>
      </p:sp>
      <p:sp>
        <p:nvSpPr>
          <p:cNvPr id="230408" name="Rectangle 15"/>
          <p:cNvSpPr>
            <a:spLocks noChangeArrowheads="1"/>
          </p:cNvSpPr>
          <p:nvPr/>
        </p:nvSpPr>
        <p:spPr bwMode="auto">
          <a:xfrm>
            <a:off x="4724400" y="3502025"/>
            <a:ext cx="3048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600" i="1">
              <a:latin typeface="Arial Unicode MS" pitchFamily="34" charset="-128"/>
            </a:endParaRPr>
          </a:p>
        </p:txBody>
      </p:sp>
      <p:sp>
        <p:nvSpPr>
          <p:cNvPr id="230409" name="Rectangle 16"/>
          <p:cNvSpPr>
            <a:spLocks noChangeArrowheads="1"/>
          </p:cNvSpPr>
          <p:nvPr/>
        </p:nvSpPr>
        <p:spPr bwMode="auto">
          <a:xfrm>
            <a:off x="3810000" y="3502025"/>
            <a:ext cx="3048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600" i="1">
              <a:latin typeface="Arial Unicode MS" pitchFamily="34" charset="-128"/>
            </a:endParaRPr>
          </a:p>
        </p:txBody>
      </p:sp>
      <p:sp>
        <p:nvSpPr>
          <p:cNvPr id="230410" name="Rectangle 17"/>
          <p:cNvSpPr>
            <a:spLocks noChangeArrowheads="1"/>
          </p:cNvSpPr>
          <p:nvPr/>
        </p:nvSpPr>
        <p:spPr bwMode="auto">
          <a:xfrm>
            <a:off x="7620000" y="3502025"/>
            <a:ext cx="3048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600" i="1">
              <a:latin typeface="Arial Unicode MS" pitchFamily="34" charset="-128"/>
            </a:endParaRPr>
          </a:p>
        </p:txBody>
      </p:sp>
      <p:sp>
        <p:nvSpPr>
          <p:cNvPr id="230411" name="Rectangle 18"/>
          <p:cNvSpPr>
            <a:spLocks noChangeArrowheads="1"/>
          </p:cNvSpPr>
          <p:nvPr/>
        </p:nvSpPr>
        <p:spPr bwMode="auto">
          <a:xfrm>
            <a:off x="6705600" y="2130425"/>
            <a:ext cx="3048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600" i="1">
              <a:latin typeface="Arial Unicode MS" pitchFamily="34" charset="-128"/>
            </a:endParaRPr>
          </a:p>
        </p:txBody>
      </p:sp>
      <p:sp>
        <p:nvSpPr>
          <p:cNvPr id="230412" name="Rectangle 19"/>
          <p:cNvSpPr>
            <a:spLocks noChangeArrowheads="1"/>
          </p:cNvSpPr>
          <p:nvPr/>
        </p:nvSpPr>
        <p:spPr bwMode="auto">
          <a:xfrm>
            <a:off x="5562600" y="2206625"/>
            <a:ext cx="1524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600" i="1">
              <a:latin typeface="Arial Unicode MS" pitchFamily="34" charset="-128"/>
            </a:endParaRPr>
          </a:p>
        </p:txBody>
      </p:sp>
      <p:sp>
        <p:nvSpPr>
          <p:cNvPr id="230413" name="Oval 20"/>
          <p:cNvSpPr>
            <a:spLocks noChangeArrowheads="1"/>
          </p:cNvSpPr>
          <p:nvPr/>
        </p:nvSpPr>
        <p:spPr bwMode="auto">
          <a:xfrm>
            <a:off x="2895600" y="2206625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sz="600" i="1">
              <a:latin typeface="Arial Unicode MS" pitchFamily="34" charset="-128"/>
            </a:endParaRPr>
          </a:p>
        </p:txBody>
      </p:sp>
      <p:sp>
        <p:nvSpPr>
          <p:cNvPr id="230414" name="Rectangle 21"/>
          <p:cNvSpPr>
            <a:spLocks noChangeArrowheads="1"/>
          </p:cNvSpPr>
          <p:nvPr/>
        </p:nvSpPr>
        <p:spPr bwMode="auto">
          <a:xfrm>
            <a:off x="6934200" y="1825625"/>
            <a:ext cx="3048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600" i="1">
              <a:latin typeface="Arial Unicode MS" pitchFamily="34" charset="-128"/>
            </a:endParaRPr>
          </a:p>
        </p:txBody>
      </p:sp>
      <p:sp>
        <p:nvSpPr>
          <p:cNvPr id="230415" name="Oval 22"/>
          <p:cNvSpPr>
            <a:spLocks noChangeArrowheads="1"/>
          </p:cNvSpPr>
          <p:nvPr/>
        </p:nvSpPr>
        <p:spPr bwMode="auto">
          <a:xfrm>
            <a:off x="6705600" y="2206625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sz="600" i="1">
              <a:latin typeface="Arial Unicode MS" pitchFamily="34" charset="-128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E13698-F908-4E87-BD40-445ECBEB52CA}" type="slidenum">
              <a:rPr lang="en-GB"/>
              <a:pPr/>
              <a:t>15</a:t>
            </a:fld>
            <a:endParaRPr lang="en-GB"/>
          </a:p>
        </p:txBody>
      </p:sp>
      <p:sp>
        <p:nvSpPr>
          <p:cNvPr id="220162" name="Text Box 6"/>
          <p:cNvSpPr txBox="1">
            <a:spLocks noChangeArrowheads="1"/>
          </p:cNvSpPr>
          <p:nvPr/>
        </p:nvSpPr>
        <p:spPr bwMode="auto">
          <a:xfrm>
            <a:off x="923925" y="1646238"/>
            <a:ext cx="7856538" cy="326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9250" indent="-349250">
              <a:lnSpc>
                <a:spcPct val="120000"/>
              </a:lnSpc>
              <a:spcBef>
                <a:spcPct val="50000"/>
              </a:spcBef>
              <a:buClr>
                <a:schemeClr val="folHlink"/>
              </a:buClr>
              <a:buSzPct val="120000"/>
            </a:pPr>
            <a:r>
              <a:rPr lang="en-US" b="0">
                <a:latin typeface="Arial" charset="0"/>
              </a:rPr>
              <a:t>1. Select a focus.</a:t>
            </a:r>
          </a:p>
          <a:p>
            <a:pPr marL="349250" indent="-349250">
              <a:lnSpc>
                <a:spcPct val="120000"/>
              </a:lnSpc>
              <a:spcBef>
                <a:spcPct val="50000"/>
              </a:spcBef>
              <a:buClr>
                <a:schemeClr val="folHlink"/>
              </a:buClr>
              <a:buSzPct val="120000"/>
            </a:pPr>
            <a:r>
              <a:rPr lang="en-US" b="0">
                <a:latin typeface="Arial" charset="0"/>
              </a:rPr>
              <a:t>2. Obtain a random word or object.</a:t>
            </a:r>
          </a:p>
          <a:p>
            <a:pPr marL="349250" indent="-349250">
              <a:lnSpc>
                <a:spcPct val="120000"/>
              </a:lnSpc>
              <a:spcBef>
                <a:spcPct val="50000"/>
              </a:spcBef>
              <a:buClr>
                <a:schemeClr val="folHlink"/>
              </a:buClr>
              <a:buSzPct val="120000"/>
            </a:pPr>
            <a:r>
              <a:rPr lang="en-US" b="0">
                <a:latin typeface="Arial" charset="0"/>
              </a:rPr>
              <a:t>3. Think about the </a:t>
            </a:r>
            <a:r>
              <a:rPr lang="en-US" b="0">
                <a:solidFill>
                  <a:srgbClr val="0000FF"/>
                </a:solidFill>
                <a:latin typeface="Arial" charset="0"/>
              </a:rPr>
              <a:t>attributes</a:t>
            </a:r>
            <a:r>
              <a:rPr lang="en-US" b="0">
                <a:latin typeface="Arial" charset="0"/>
              </a:rPr>
              <a:t> or </a:t>
            </a:r>
            <a:r>
              <a:rPr lang="en-US" b="0">
                <a:solidFill>
                  <a:srgbClr val="0000FF"/>
                </a:solidFill>
                <a:latin typeface="Arial" charset="0"/>
              </a:rPr>
              <a:t>characteristics</a:t>
            </a:r>
            <a:r>
              <a:rPr lang="en-US" b="0">
                <a:latin typeface="Arial" charset="0"/>
              </a:rPr>
              <a:t> of the word or object not the word or object itself. </a:t>
            </a:r>
          </a:p>
          <a:p>
            <a:pPr marL="349250" indent="-349250">
              <a:lnSpc>
                <a:spcPct val="120000"/>
              </a:lnSpc>
              <a:spcBef>
                <a:spcPct val="50000"/>
              </a:spcBef>
              <a:buClr>
                <a:schemeClr val="folHlink"/>
              </a:buClr>
              <a:buSzPct val="120000"/>
            </a:pPr>
            <a:r>
              <a:rPr lang="en-US" b="0">
                <a:latin typeface="Arial" charset="0"/>
              </a:rPr>
              <a:t>4. What ideas from the random entry can be applied to the focus?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Random Entry: Overview  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 Life Example: New Business</a:t>
            </a:r>
            <a:endParaRPr lang="en-US" dirty="0"/>
          </a:p>
        </p:txBody>
      </p:sp>
      <p:pic>
        <p:nvPicPr>
          <p:cNvPr id="4" name="Picture 12" descr="blin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95838" y="1439863"/>
            <a:ext cx="3787775" cy="5078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9600" y="2436813"/>
            <a:ext cx="3867150" cy="1917700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b="0" dirty="0">
                <a:solidFill>
                  <a:schemeClr val="tx2"/>
                </a:solidFill>
              </a:rPr>
              <a:t>Product innovation inspired by random entry thinking about how qualities of </a:t>
            </a:r>
            <a:br>
              <a:rPr lang="en-US" b="0" dirty="0">
                <a:solidFill>
                  <a:schemeClr val="tx2"/>
                </a:solidFill>
              </a:rPr>
            </a:br>
            <a:r>
              <a:rPr lang="en-US" b="0" dirty="0">
                <a:solidFill>
                  <a:schemeClr val="tx2"/>
                </a:solidFill>
              </a:rPr>
              <a:t>“oak barrels” might apply </a:t>
            </a:r>
            <a:br>
              <a:rPr lang="en-US" b="0" dirty="0">
                <a:solidFill>
                  <a:schemeClr val="tx2"/>
                </a:solidFill>
              </a:rPr>
            </a:br>
            <a:r>
              <a:rPr lang="en-US" b="0" dirty="0">
                <a:solidFill>
                  <a:schemeClr val="tx2"/>
                </a:solidFill>
              </a:rPr>
              <a:t>to hunting blinds.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205C64-14CC-4DF0-B802-20698331F6E6}" type="slidenum">
              <a:rPr lang="en-GB"/>
              <a:pPr/>
              <a:t>17</a:t>
            </a:fld>
            <a:endParaRPr lang="en-GB"/>
          </a:p>
        </p:txBody>
      </p:sp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Entry (5 min x 6 sets)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I will provide random words and random objects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For each, try to generate ideas for 5 minutes related to our overall objective or any of the concepts</a:t>
            </a:r>
          </a:p>
          <a:p>
            <a:endParaRPr lang="en-US" sz="2800" dirty="0"/>
          </a:p>
          <a:p>
            <a:r>
              <a:rPr lang="en-US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Things To Avoid</a:t>
            </a:r>
          </a:p>
          <a:p>
            <a:pPr lvl="1"/>
            <a:r>
              <a:rPr lang="en-US" sz="2400" b="1" dirty="0"/>
              <a:t>Don’t wait for the perfect word or object.   </a:t>
            </a:r>
          </a:p>
          <a:p>
            <a:pPr lvl="1"/>
            <a:r>
              <a:rPr lang="en-US" sz="2400" b="1" dirty="0"/>
              <a:t>Don’t list all the attributes of the word first.</a:t>
            </a:r>
          </a:p>
          <a:p>
            <a:pPr lvl="1"/>
            <a:r>
              <a:rPr lang="en-US" sz="2400" b="1" dirty="0"/>
              <a:t>Don’t make too many jumps</a:t>
            </a:r>
          </a:p>
          <a:p>
            <a:pPr lvl="1"/>
            <a:r>
              <a:rPr lang="en-US" sz="2400" b="1" dirty="0"/>
              <a:t>No need to explain how you got the </a:t>
            </a:r>
            <a:r>
              <a:rPr lang="en-US" sz="2400" b="1" dirty="0" smtClean="0"/>
              <a:t>idea</a:t>
            </a:r>
            <a:endParaRPr lang="en-US" sz="2400" b="1" dirty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Harvesting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60 min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0B43D-5083-42A1-9E76-D2A8439A2017}" type="slidenum">
              <a:rPr lang="en-GB"/>
              <a:pPr/>
              <a:t>19</a:t>
            </a:fld>
            <a:endParaRPr lang="en-GB"/>
          </a:p>
        </p:txBody>
      </p:sp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Categorize Ideas (45 min)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7238" y="1498600"/>
            <a:ext cx="7869237" cy="4564063"/>
          </a:xfrm>
        </p:spPr>
        <p:txBody>
          <a:bodyPr/>
          <a:lstStyle/>
          <a:p>
            <a:pPr>
              <a:tabLst>
                <a:tab pos="2232025" algn="l"/>
              </a:tabLst>
            </a:pPr>
            <a:r>
              <a:rPr lang="en-US" dirty="0"/>
              <a:t>For each idea, you need to </a:t>
            </a:r>
            <a:r>
              <a:rPr lang="en-US" b="1" i="1" dirty="0">
                <a:solidFill>
                  <a:schemeClr val="hlink"/>
                </a:solidFill>
              </a:rPr>
              <a:t>estimate</a:t>
            </a:r>
            <a:r>
              <a:rPr lang="en-US" dirty="0"/>
              <a:t> how long it will take to implement the idea.  We’re looking to slot each idea into 1 of the following 3 buckets by placing a letter S, M, or L into the column next to the idea</a:t>
            </a:r>
            <a:r>
              <a:rPr lang="en-US" dirty="0" smtClean="0"/>
              <a:t>:</a:t>
            </a:r>
            <a:endParaRPr lang="en-US" dirty="0"/>
          </a:p>
          <a:p>
            <a:pPr lvl="1">
              <a:tabLst>
                <a:tab pos="2232025" algn="l"/>
              </a:tabLst>
            </a:pPr>
            <a:r>
              <a:rPr lang="en-US" sz="1700" b="1" dirty="0">
                <a:solidFill>
                  <a:srgbClr val="0000FF"/>
                </a:solidFill>
              </a:rPr>
              <a:t>S = Short Term ideas</a:t>
            </a:r>
            <a:r>
              <a:rPr lang="en-US" sz="1700" dirty="0"/>
              <a:t>  (1-2 weeks)</a:t>
            </a:r>
          </a:p>
          <a:p>
            <a:pPr lvl="2">
              <a:tabLst>
                <a:tab pos="2232025" algn="l"/>
              </a:tabLst>
            </a:pPr>
            <a:r>
              <a:rPr lang="en-US" sz="1500" dirty="0"/>
              <a:t>These are ones you can assign to folks now</a:t>
            </a:r>
          </a:p>
          <a:p>
            <a:pPr lvl="1">
              <a:tabLst>
                <a:tab pos="2232025" algn="l"/>
              </a:tabLst>
            </a:pPr>
            <a:r>
              <a:rPr lang="en-US" sz="1700" b="1" dirty="0">
                <a:solidFill>
                  <a:srgbClr val="0000FF"/>
                </a:solidFill>
              </a:rPr>
              <a:t>M = Mid Term ideas</a:t>
            </a:r>
            <a:r>
              <a:rPr lang="en-US" sz="1700" dirty="0"/>
              <a:t>     (3-24 weeks)</a:t>
            </a:r>
          </a:p>
          <a:p>
            <a:pPr lvl="2">
              <a:tabLst>
                <a:tab pos="2232025" algn="l"/>
              </a:tabLst>
            </a:pPr>
            <a:r>
              <a:rPr lang="en-US" sz="1500" dirty="0"/>
              <a:t>These need a bit more planning.  Typically grouping one or more into a project</a:t>
            </a:r>
          </a:p>
          <a:p>
            <a:pPr lvl="1">
              <a:tabLst>
                <a:tab pos="2232025" algn="l"/>
              </a:tabLst>
            </a:pPr>
            <a:r>
              <a:rPr lang="en-US" sz="1700" b="1" dirty="0">
                <a:solidFill>
                  <a:srgbClr val="0000FF"/>
                </a:solidFill>
              </a:rPr>
              <a:t>L = Long Term ideas</a:t>
            </a:r>
            <a:r>
              <a:rPr lang="en-US" sz="1700" dirty="0"/>
              <a:t>   (&gt; 24 weeks)</a:t>
            </a:r>
          </a:p>
          <a:p>
            <a:pPr lvl="2">
              <a:tabLst>
                <a:tab pos="2232025" algn="l"/>
              </a:tabLst>
            </a:pPr>
            <a:r>
              <a:rPr lang="en-US" sz="1500" dirty="0"/>
              <a:t>Requires more formal analysis, planning and funding and might require several iterations to complete 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49699B-386B-4D88-82DD-183D5B505A87}" type="slidenum">
              <a:rPr lang="en-GB"/>
              <a:pPr/>
              <a:t>20</a:t>
            </a:fld>
            <a:endParaRPr lang="en-GB"/>
          </a:p>
        </p:txBody>
      </p:sp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Harvesting (Overview)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lnSpc>
                <a:spcPct val="90000"/>
              </a:lnSpc>
            </a:pPr>
            <a:r>
              <a:rPr lang="en-US" dirty="0"/>
              <a:t>For each idea, we need to evaluate it along 2 dimensions:</a:t>
            </a:r>
          </a:p>
          <a:p>
            <a:pPr marL="457200" indent="-457200">
              <a:lnSpc>
                <a:spcPct val="90000"/>
              </a:lnSpc>
            </a:pPr>
            <a:endParaRPr lang="en-US" dirty="0"/>
          </a:p>
          <a:p>
            <a:pPr marL="857250" lvl="1" indent="-400050">
              <a:lnSpc>
                <a:spcPct val="90000"/>
              </a:lnSpc>
              <a:buFontTx/>
              <a:buAutoNum type="arabicPeriod"/>
            </a:pPr>
            <a:r>
              <a:rPr lang="en-US" sz="2400" b="1" dirty="0">
                <a:solidFill>
                  <a:srgbClr val="0000FF"/>
                </a:solidFill>
              </a:rPr>
              <a:t>Impact</a:t>
            </a:r>
            <a:r>
              <a:rPr lang="en-US" sz="2400" dirty="0">
                <a:solidFill>
                  <a:srgbClr val="0000FF"/>
                </a:solidFill>
              </a:rPr>
              <a:t> on the objective</a:t>
            </a:r>
          </a:p>
          <a:p>
            <a:pPr marL="1276350" lvl="2" indent="-361950">
              <a:lnSpc>
                <a:spcPct val="90000"/>
              </a:lnSpc>
            </a:pPr>
            <a:r>
              <a:rPr lang="en-US" sz="2000" dirty="0"/>
              <a:t>Is this a game changer ?</a:t>
            </a:r>
          </a:p>
          <a:p>
            <a:pPr marL="1276350" lvl="2" indent="-361950">
              <a:lnSpc>
                <a:spcPct val="90000"/>
              </a:lnSpc>
            </a:pPr>
            <a:r>
              <a:rPr lang="en-US" sz="2000" dirty="0"/>
              <a:t>What portion of our goal can we achieve ?</a:t>
            </a:r>
          </a:p>
          <a:p>
            <a:pPr marL="857250" lvl="1" indent="-400050">
              <a:lnSpc>
                <a:spcPct val="90000"/>
              </a:lnSpc>
              <a:buFontTx/>
              <a:buNone/>
            </a:pPr>
            <a:endParaRPr lang="en-US" sz="2400" dirty="0"/>
          </a:p>
          <a:p>
            <a:pPr marL="857250" lvl="1" indent="-400050">
              <a:lnSpc>
                <a:spcPct val="90000"/>
              </a:lnSpc>
              <a:buFontTx/>
              <a:buAutoNum type="arabicPeriod" startAt="2"/>
            </a:pPr>
            <a:r>
              <a:rPr lang="en-US" sz="2400" b="1" dirty="0">
                <a:solidFill>
                  <a:srgbClr val="0000FF"/>
                </a:solidFill>
              </a:rPr>
              <a:t>Do-Ability</a:t>
            </a:r>
            <a:r>
              <a:rPr lang="en-US" sz="2400" dirty="0">
                <a:solidFill>
                  <a:srgbClr val="0000FF"/>
                </a:solidFill>
              </a:rPr>
              <a:t> (how easy this is to accomplish ?)</a:t>
            </a:r>
          </a:p>
          <a:p>
            <a:pPr marL="1276350" lvl="2" indent="-361950">
              <a:lnSpc>
                <a:spcPct val="90000"/>
              </a:lnSpc>
            </a:pPr>
            <a:r>
              <a:rPr lang="en-US" sz="2000" dirty="0"/>
              <a:t>Right information (does this require upfront analysis ?)</a:t>
            </a:r>
          </a:p>
          <a:p>
            <a:pPr marL="1276350" lvl="2" indent="-361950">
              <a:lnSpc>
                <a:spcPct val="90000"/>
              </a:lnSpc>
            </a:pPr>
            <a:r>
              <a:rPr lang="en-US" sz="2000" dirty="0"/>
              <a:t>Right resources (human, technical)</a:t>
            </a:r>
          </a:p>
          <a:p>
            <a:pPr marL="1276350" lvl="2" indent="-361950">
              <a:lnSpc>
                <a:spcPct val="90000"/>
              </a:lnSpc>
            </a:pPr>
            <a:r>
              <a:rPr lang="en-US" sz="2000" dirty="0"/>
              <a:t>Right scope (are there other areas that are impacted ?)</a:t>
            </a:r>
          </a:p>
          <a:p>
            <a:pPr marL="1276350" lvl="2" indent="-361950">
              <a:lnSpc>
                <a:spcPct val="90000"/>
              </a:lnSpc>
            </a:pPr>
            <a:r>
              <a:rPr lang="en-US" sz="2000" dirty="0"/>
              <a:t>Right funding (lots or a little ?)</a:t>
            </a:r>
          </a:p>
          <a:p>
            <a:pPr marL="857250" lvl="1" indent="-400050">
              <a:lnSpc>
                <a:spcPct val="9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gri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447800"/>
            <a:ext cx="8694737" cy="5132388"/>
          </a:xfrm>
          <a:prstGeom prst="rect">
            <a:avLst/>
          </a:prstGeom>
          <a:noFill/>
        </p:spPr>
      </p:pic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2119312" y="3159125"/>
            <a:ext cx="238125" cy="238125"/>
          </a:xfrm>
          <a:prstGeom prst="ellipse">
            <a:avLst/>
          </a:prstGeom>
          <a:solidFill>
            <a:srgbClr val="FF0000"/>
          </a:solidFill>
          <a:ln w="381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064000" y="4851400"/>
            <a:ext cx="238125" cy="238125"/>
          </a:xfrm>
          <a:prstGeom prst="ellipse">
            <a:avLst/>
          </a:prstGeom>
          <a:solidFill>
            <a:srgbClr val="FF0000"/>
          </a:solidFill>
          <a:ln w="381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 flipV="1">
            <a:off x="2406650" y="3086100"/>
            <a:ext cx="1584325" cy="1444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 flipV="1">
            <a:off x="4135437" y="3519488"/>
            <a:ext cx="144463" cy="12239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5449887" y="4629150"/>
            <a:ext cx="3473450" cy="1908175"/>
          </a:xfrm>
          <a:prstGeom prst="rect">
            <a:avLst/>
          </a:prstGeom>
          <a:solidFill>
            <a:schemeClr val="bg1"/>
          </a:solidFill>
          <a:ln w="381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F8CD5B-8292-4E3A-BD63-DD4C075D0647}" type="slidenum">
              <a:rPr lang="en-GB"/>
              <a:pPr/>
              <a:t>22</a:t>
            </a:fld>
            <a:endParaRPr lang="en-GB"/>
          </a:p>
        </p:txBody>
      </p:sp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Harvest Ideas (Part 1): (30 min)</a:t>
            </a:r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7238" y="1498600"/>
            <a:ext cx="7869237" cy="4564063"/>
          </a:xfrm>
        </p:spPr>
        <p:txBody>
          <a:bodyPr/>
          <a:lstStyle/>
          <a:p>
            <a:r>
              <a:rPr lang="en-US" sz="2800" b="1" dirty="0"/>
              <a:t>Objective: “To design, pilot and implement a sustainable rapid development process that is best in class and evolves with </a:t>
            </a:r>
            <a:r>
              <a:rPr lang="en-US" sz="2800" b="1" dirty="0" err="1"/>
              <a:t>Hospira</a:t>
            </a:r>
            <a:r>
              <a:rPr lang="en-US" sz="2800" b="1" dirty="0"/>
              <a:t> R&amp;D”</a:t>
            </a:r>
          </a:p>
          <a:p>
            <a:pPr lvl="1">
              <a:buFontTx/>
              <a:buNone/>
            </a:pPr>
            <a:endParaRPr lang="en-US" sz="1800" dirty="0"/>
          </a:p>
          <a:p>
            <a:r>
              <a:rPr lang="en-US" sz="2800" dirty="0"/>
              <a:t>For each idea, you need to write the letter (rating) following in the columns provided next to each idea:</a:t>
            </a:r>
          </a:p>
          <a:p>
            <a:pPr>
              <a:buFont typeface="Wingdings" pitchFamily="2" charset="2"/>
              <a:buNone/>
            </a:pPr>
            <a:endParaRPr lang="en-US" sz="2800" dirty="0"/>
          </a:p>
          <a:p>
            <a:pPr lvl="1"/>
            <a:r>
              <a:rPr lang="en-US" sz="2400" b="1" dirty="0"/>
              <a:t>Impact</a:t>
            </a:r>
            <a:r>
              <a:rPr lang="en-US" sz="2400" dirty="0"/>
              <a:t>:      (</a:t>
            </a:r>
            <a:r>
              <a:rPr lang="en-US" sz="2400" b="1" dirty="0">
                <a:solidFill>
                  <a:srgbClr val="0000FF"/>
                </a:solidFill>
              </a:rPr>
              <a:t>H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– high,  </a:t>
            </a:r>
            <a:r>
              <a:rPr lang="en-US" sz="2400" b="1" dirty="0">
                <a:solidFill>
                  <a:srgbClr val="0000FF"/>
                </a:solidFill>
              </a:rPr>
              <a:t>L</a:t>
            </a:r>
            <a:r>
              <a:rPr lang="en-US" sz="2400" dirty="0"/>
              <a:t> - low)</a:t>
            </a:r>
          </a:p>
          <a:p>
            <a:pPr lvl="1"/>
            <a:r>
              <a:rPr lang="en-US" sz="2400" b="1" dirty="0"/>
              <a:t>Do-Ability</a:t>
            </a:r>
            <a:r>
              <a:rPr lang="en-US" sz="2400" dirty="0"/>
              <a:t>: (</a:t>
            </a:r>
            <a:r>
              <a:rPr lang="en-US" sz="2400" b="1" dirty="0">
                <a:solidFill>
                  <a:srgbClr val="0000FF"/>
                </a:solidFill>
              </a:rPr>
              <a:t>H</a:t>
            </a:r>
            <a:r>
              <a:rPr lang="en-US" sz="2400" dirty="0"/>
              <a:t> – easy, </a:t>
            </a:r>
            <a:r>
              <a:rPr lang="en-US" sz="2400" b="1" dirty="0">
                <a:solidFill>
                  <a:srgbClr val="0000FF"/>
                </a:solidFill>
              </a:rPr>
              <a:t>M</a:t>
            </a:r>
            <a:r>
              <a:rPr lang="en-US" sz="2400" dirty="0"/>
              <a:t> - medium, </a:t>
            </a:r>
            <a:r>
              <a:rPr lang="en-US" sz="2400" b="1" dirty="0">
                <a:solidFill>
                  <a:srgbClr val="0000FF"/>
                </a:solidFill>
              </a:rPr>
              <a:t>L</a:t>
            </a:r>
            <a:r>
              <a:rPr lang="en-US" sz="2400" dirty="0"/>
              <a:t> - hard)</a:t>
            </a:r>
          </a:p>
          <a:p>
            <a:pPr lvl="1">
              <a:buFontTx/>
              <a:buNone/>
            </a:pPr>
            <a:endParaRPr lang="en-US" sz="2400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5ECEFF-9BAF-4830-ABA2-7F62F3A1FD3D}" type="slidenum">
              <a:rPr lang="en-GB"/>
              <a:pPr/>
              <a:t>23</a:t>
            </a:fld>
            <a:endParaRPr lang="en-GB"/>
          </a:p>
        </p:txBody>
      </p:sp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Harvest Ideas (Part 2): (30 min)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7238" y="1498600"/>
            <a:ext cx="7869237" cy="4564063"/>
          </a:xfrm>
        </p:spPr>
        <p:txBody>
          <a:bodyPr/>
          <a:lstStyle/>
          <a:p>
            <a:r>
              <a:rPr lang="en-US"/>
              <a:t>Next, you need to look for ideas that can address multiple concepts.  These are typically some of the best ideas as they satisfy several areas of opportunity.</a:t>
            </a:r>
          </a:p>
          <a:p>
            <a:pPr lvl="1">
              <a:buFontTx/>
              <a:buNone/>
            </a:pPr>
            <a:endParaRPr lang="en-US" sz="1900"/>
          </a:p>
          <a:p>
            <a:r>
              <a:rPr lang="en-US"/>
              <a:t>For each idea, you need to write the </a:t>
            </a:r>
            <a:r>
              <a:rPr lang="en-US">
                <a:solidFill>
                  <a:srgbClr val="0000FF"/>
                </a:solidFill>
              </a:rPr>
              <a:t>concept number</a:t>
            </a:r>
            <a:r>
              <a:rPr lang="en-US"/>
              <a:t>(s) in the column provided next to each idea:</a:t>
            </a:r>
          </a:p>
          <a:p>
            <a:pPr lvl="1"/>
            <a:endParaRPr lang="en-US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Idea Selection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30 min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Lateral Thinking Overview</a:t>
            </a:r>
            <a:endParaRPr lang="en-US" dirty="0"/>
          </a:p>
        </p:txBody>
      </p:sp>
      <p:pic>
        <p:nvPicPr>
          <p:cNvPr id="4" name="Picture 4" descr="Ideation Scan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1371600"/>
            <a:ext cx="6629400" cy="5091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ular Callout 4"/>
          <p:cNvSpPr/>
          <p:nvPr/>
        </p:nvSpPr>
        <p:spPr>
          <a:xfrm>
            <a:off x="7467600" y="1676400"/>
            <a:ext cx="1447800" cy="838200"/>
          </a:xfrm>
          <a:prstGeom prst="wedgeRectCallout">
            <a:avLst>
              <a:gd name="adj1" fmla="val -80276"/>
              <a:gd name="adj2" fmla="val 17961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We’re at the final stage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Selecting the Best Idea(s)</a:t>
            </a:r>
            <a:endParaRPr lang="en-US" dirty="0"/>
          </a:p>
        </p:txBody>
      </p:sp>
      <p:sp>
        <p:nvSpPr>
          <p:cNvPr id="233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US" sz="2800" dirty="0"/>
              <a:t>Identify the Boldest ideas within each approach </a:t>
            </a:r>
            <a:r>
              <a:rPr lang="en-US" sz="2800" dirty="0" smtClean="0"/>
              <a:t>by </a:t>
            </a:r>
            <a:r>
              <a:rPr lang="en-US" sz="2800" dirty="0"/>
              <a:t>using the following 2 dimensions:</a:t>
            </a:r>
          </a:p>
          <a:p>
            <a:pPr marL="457200" indent="-457200"/>
            <a:endParaRPr lang="en-US" sz="2800" dirty="0"/>
          </a:p>
          <a:p>
            <a:pPr marL="857250" lvl="1" indent="-400050">
              <a:buFontTx/>
              <a:buAutoNum type="arabicPeriod"/>
            </a:pPr>
            <a:r>
              <a:rPr lang="en-US" sz="2400" b="1" dirty="0" smtClean="0">
                <a:solidFill>
                  <a:srgbClr val="0000FF"/>
                </a:solidFill>
              </a:rPr>
              <a:t>Impact</a:t>
            </a:r>
            <a:r>
              <a:rPr lang="en-US" sz="2400" dirty="0" smtClean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on the objective</a:t>
            </a:r>
          </a:p>
          <a:p>
            <a:pPr marL="1276350" lvl="2" indent="-361950"/>
            <a:r>
              <a:rPr lang="en-US" sz="2000" dirty="0"/>
              <a:t>Is this a game changer ?</a:t>
            </a:r>
          </a:p>
          <a:p>
            <a:pPr marL="1276350" lvl="2" indent="-361950"/>
            <a:r>
              <a:rPr lang="en-US" sz="2000" dirty="0"/>
              <a:t>What portion of our goal can we influence ?</a:t>
            </a:r>
          </a:p>
          <a:p>
            <a:pPr marL="857250" lvl="1" indent="-400050">
              <a:buFontTx/>
              <a:buNone/>
            </a:pPr>
            <a:endParaRPr lang="en-US" sz="2400" dirty="0"/>
          </a:p>
          <a:p>
            <a:pPr marL="857250" lvl="1" indent="-400050">
              <a:buFontTx/>
              <a:buAutoNum type="arabicPeriod" startAt="2"/>
            </a:pPr>
            <a:r>
              <a:rPr lang="en-US" sz="2400" b="1" dirty="0">
                <a:solidFill>
                  <a:srgbClr val="0000FF"/>
                </a:solidFill>
              </a:rPr>
              <a:t>Do-Ability</a:t>
            </a:r>
            <a:r>
              <a:rPr lang="en-US" sz="2400" dirty="0">
                <a:solidFill>
                  <a:srgbClr val="0000FF"/>
                </a:solidFill>
              </a:rPr>
              <a:t> (how easy this is to accomplish ?)</a:t>
            </a:r>
          </a:p>
          <a:p>
            <a:pPr marL="1276350" lvl="2" indent="-361950"/>
            <a:r>
              <a:rPr lang="en-US" sz="2000" dirty="0"/>
              <a:t>Time &amp; Cost to implement</a:t>
            </a:r>
          </a:p>
          <a:p>
            <a:pPr marL="1276350" lvl="2" indent="-361950"/>
            <a:r>
              <a:rPr lang="en-US" sz="2000" dirty="0"/>
              <a:t>Acceptance of greater risk</a:t>
            </a:r>
          </a:p>
          <a:p>
            <a:pPr marL="1276350" lvl="2" indent="-361950">
              <a:buFontTx/>
              <a:buNone/>
            </a:pPr>
            <a:endParaRPr lang="en-US" sz="2000" dirty="0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7DE45-ADBC-4535-8D8D-CE431F804563}" type="slidenum">
              <a:rPr lang="en-GB"/>
              <a:pPr/>
              <a:t>26</a:t>
            </a:fld>
            <a:endParaRPr lang="en-GB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107950" y="6475413"/>
            <a:ext cx="304800" cy="20796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>
              <a:lnSpc>
                <a:spcPct val="90000"/>
              </a:lnSpc>
              <a:defRPr/>
            </a:pPr>
            <a:fld id="{EB235546-2281-4D94-BCCF-3D8808775586}" type="slidenum">
              <a:rPr lang="en-GB" sz="1100" b="0">
                <a:solidFill>
                  <a:schemeClr val="bg1"/>
                </a:solidFill>
                <a:latin typeface="+mn-lt"/>
              </a:rPr>
              <a:pPr algn="ctr">
                <a:lnSpc>
                  <a:spcPct val="90000"/>
                </a:lnSpc>
                <a:defRPr/>
              </a:pPr>
              <a:t>26</a:t>
            </a:fld>
            <a:endParaRPr lang="en-GB" sz="1100" b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2060575"/>
          </a:xfrm>
        </p:spPr>
        <p:txBody>
          <a:bodyPr/>
          <a:lstStyle/>
          <a:p>
            <a:r>
              <a:rPr lang="en-US" dirty="0" smtClean="0"/>
              <a:t>Thank You </a:t>
            </a:r>
            <a:br>
              <a:rPr lang="en-US" dirty="0" smtClean="0"/>
            </a:br>
            <a:r>
              <a:rPr lang="en-US" dirty="0" smtClean="0"/>
              <a:t>for </a:t>
            </a:r>
            <a:br>
              <a:rPr lang="en-US" dirty="0" smtClean="0"/>
            </a:br>
            <a:r>
              <a:rPr lang="en-US" dirty="0" smtClean="0"/>
              <a:t>Your Ideas 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F713E-7C7A-40F3-B178-FDD3B8D70E56}" type="slidenum">
              <a:rPr lang="en-GB"/>
              <a:pPr/>
              <a:t>27</a:t>
            </a:fld>
            <a:endParaRPr lang="en-GB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5875</TotalTime>
  <Words>1240</Words>
  <Application>Microsoft Office PowerPoint</Application>
  <PresentationFormat>On-screen Show (4:3)</PresentationFormat>
  <Paragraphs>211</Paragraphs>
  <Slides>27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VEG</vt:lpstr>
      <vt:lpstr>Shir Hadash Ideation Session</vt:lpstr>
      <vt:lpstr>Agenda</vt:lpstr>
      <vt:lpstr>Objective Statement</vt:lpstr>
      <vt:lpstr>Idea Dump</vt:lpstr>
      <vt:lpstr>A few definitions </vt:lpstr>
      <vt:lpstr>The Concept Fan</vt:lpstr>
      <vt:lpstr>Slide 7</vt:lpstr>
      <vt:lpstr>Slide 8</vt:lpstr>
      <vt:lpstr>A few definitions </vt:lpstr>
      <vt:lpstr>A few definitions</vt:lpstr>
      <vt:lpstr>Ideation (Round 1): (15 min)</vt:lpstr>
      <vt:lpstr>Ideation (Round 2): (15 min)</vt:lpstr>
      <vt:lpstr>Random Entry (1 &amp; 2)</vt:lpstr>
      <vt:lpstr>Explanation of Random Entry  </vt:lpstr>
      <vt:lpstr>Random Entry: Overview  </vt:lpstr>
      <vt:lpstr>Real Life Example: New Business</vt:lpstr>
      <vt:lpstr>Random Entry (5 min x 6 sets)</vt:lpstr>
      <vt:lpstr>Harvesting</vt:lpstr>
      <vt:lpstr>Categorize Ideas (45 min)</vt:lpstr>
      <vt:lpstr>Harvesting (Overview)</vt:lpstr>
      <vt:lpstr>Slide 21</vt:lpstr>
      <vt:lpstr>Harvest Ideas (Part 1): (30 min)</vt:lpstr>
      <vt:lpstr>Harvest Ideas (Part 2): (30 min)</vt:lpstr>
      <vt:lpstr>Idea Selection</vt:lpstr>
      <vt:lpstr>Lateral Thinking Overview</vt:lpstr>
      <vt:lpstr>Selecting the Best Idea(s)</vt:lpstr>
      <vt:lpstr>Thank You  for  Your Ideas !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</cp:lastModifiedBy>
  <cp:revision>41</cp:revision>
  <dcterms:created xsi:type="dcterms:W3CDTF">2009-06-09T11:36:35Z</dcterms:created>
  <dcterms:modified xsi:type="dcterms:W3CDTF">2009-11-19T02:47:08Z</dcterms:modified>
</cp:coreProperties>
</file>
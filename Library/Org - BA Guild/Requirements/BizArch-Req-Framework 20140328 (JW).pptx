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3" r:id="rId1"/>
    <p:sldMasterId id="2147483851" r:id="rId2"/>
  </p:sldMasterIdLst>
  <p:notesMasterIdLst>
    <p:notesMasterId r:id="rId8"/>
  </p:notesMasterIdLst>
  <p:sldIdLst>
    <p:sldId id="257" r:id="rId3"/>
    <p:sldId id="258" r:id="rId4"/>
    <p:sldId id="259" r:id="rId5"/>
    <p:sldId id="260" r:id="rId6"/>
    <p:sldId id="261" r:id="rId7"/>
  </p:sldIdLst>
  <p:sldSz cx="9144000" cy="6858000" type="letter"/>
  <p:notesSz cx="7102475" cy="10234613"/>
  <p:defaultTextStyle>
    <a:defPPr>
      <a:defRPr lang="en-US"/>
    </a:defPPr>
    <a:lvl1pPr algn="ctr" rtl="0" fontAlgn="base">
      <a:spcBef>
        <a:spcPct val="0"/>
      </a:spcBef>
      <a:spcAft>
        <a:spcPct val="0"/>
      </a:spcAft>
      <a:buChar char="•"/>
      <a:defRPr sz="800" b="1" kern="1200">
        <a:solidFill>
          <a:srgbClr val="000000"/>
        </a:solidFill>
        <a:latin typeface="Arial" charset="0"/>
        <a:ea typeface="ＭＳ Ｐゴシック" charset="0"/>
        <a:cs typeface="ＭＳ Ｐゴシック" charset="0"/>
        <a:sym typeface="Arial" charset="0"/>
      </a:defRPr>
    </a:lvl1pPr>
    <a:lvl2pPr marL="319088" indent="138113" algn="ctr" rtl="0" fontAlgn="base">
      <a:spcBef>
        <a:spcPct val="0"/>
      </a:spcBef>
      <a:spcAft>
        <a:spcPct val="0"/>
      </a:spcAft>
      <a:buChar char="•"/>
      <a:defRPr sz="800" b="1" kern="1200">
        <a:solidFill>
          <a:srgbClr val="000000"/>
        </a:solidFill>
        <a:latin typeface="Arial" charset="0"/>
        <a:ea typeface="ＭＳ Ｐゴシック" charset="0"/>
        <a:cs typeface="ＭＳ Ｐゴシック" charset="0"/>
        <a:sym typeface="Arial" charset="0"/>
      </a:defRPr>
    </a:lvl2pPr>
    <a:lvl3pPr marL="639763" indent="274638" algn="ctr" rtl="0" fontAlgn="base">
      <a:spcBef>
        <a:spcPct val="0"/>
      </a:spcBef>
      <a:spcAft>
        <a:spcPct val="0"/>
      </a:spcAft>
      <a:buChar char="•"/>
      <a:defRPr sz="800" b="1" kern="1200">
        <a:solidFill>
          <a:srgbClr val="000000"/>
        </a:solidFill>
        <a:latin typeface="Arial" charset="0"/>
        <a:ea typeface="ＭＳ Ｐゴシック" charset="0"/>
        <a:cs typeface="ＭＳ Ｐゴシック" charset="0"/>
        <a:sym typeface="Arial" charset="0"/>
      </a:defRPr>
    </a:lvl3pPr>
    <a:lvl4pPr marL="962025" indent="409575" algn="ctr" rtl="0" fontAlgn="base">
      <a:spcBef>
        <a:spcPct val="0"/>
      </a:spcBef>
      <a:spcAft>
        <a:spcPct val="0"/>
      </a:spcAft>
      <a:buChar char="•"/>
      <a:defRPr sz="800" b="1" kern="1200">
        <a:solidFill>
          <a:srgbClr val="000000"/>
        </a:solidFill>
        <a:latin typeface="Arial" charset="0"/>
        <a:ea typeface="ＭＳ Ｐゴシック" charset="0"/>
        <a:cs typeface="ＭＳ Ｐゴシック" charset="0"/>
        <a:sym typeface="Arial" charset="0"/>
      </a:defRPr>
    </a:lvl4pPr>
    <a:lvl5pPr marL="1282700" indent="546100" algn="ctr" rtl="0" fontAlgn="base">
      <a:spcBef>
        <a:spcPct val="0"/>
      </a:spcBef>
      <a:spcAft>
        <a:spcPct val="0"/>
      </a:spcAft>
      <a:buChar char="•"/>
      <a:defRPr sz="800" b="1" kern="1200">
        <a:solidFill>
          <a:srgbClr val="000000"/>
        </a:solidFill>
        <a:latin typeface="Arial" charset="0"/>
        <a:ea typeface="ＭＳ Ｐゴシック" charset="0"/>
        <a:cs typeface="ＭＳ Ｐゴシック" charset="0"/>
        <a:sym typeface="Arial" charset="0"/>
      </a:defRPr>
    </a:lvl5pPr>
    <a:lvl6pPr marL="2286000" algn="l" defTabSz="457200" rtl="0" eaLnBrk="1" latinLnBrk="0" hangingPunct="1">
      <a:defRPr sz="800" b="1" kern="1200">
        <a:solidFill>
          <a:srgbClr val="000000"/>
        </a:solidFill>
        <a:latin typeface="Arial" charset="0"/>
        <a:ea typeface="ＭＳ Ｐゴシック" charset="0"/>
        <a:cs typeface="ＭＳ Ｐゴシック" charset="0"/>
        <a:sym typeface="Arial" charset="0"/>
      </a:defRPr>
    </a:lvl6pPr>
    <a:lvl7pPr marL="2743200" algn="l" defTabSz="457200" rtl="0" eaLnBrk="1" latinLnBrk="0" hangingPunct="1">
      <a:defRPr sz="800" b="1" kern="1200">
        <a:solidFill>
          <a:srgbClr val="000000"/>
        </a:solidFill>
        <a:latin typeface="Arial" charset="0"/>
        <a:ea typeface="ＭＳ Ｐゴシック" charset="0"/>
        <a:cs typeface="ＭＳ Ｐゴシック" charset="0"/>
        <a:sym typeface="Arial" charset="0"/>
      </a:defRPr>
    </a:lvl7pPr>
    <a:lvl8pPr marL="3200400" algn="l" defTabSz="457200" rtl="0" eaLnBrk="1" latinLnBrk="0" hangingPunct="1">
      <a:defRPr sz="800" b="1" kern="1200">
        <a:solidFill>
          <a:srgbClr val="000000"/>
        </a:solidFill>
        <a:latin typeface="Arial" charset="0"/>
        <a:ea typeface="ＭＳ Ｐゴシック" charset="0"/>
        <a:cs typeface="ＭＳ Ｐゴシック" charset="0"/>
        <a:sym typeface="Arial" charset="0"/>
      </a:defRPr>
    </a:lvl8pPr>
    <a:lvl9pPr marL="3657600" algn="l" defTabSz="457200" rtl="0" eaLnBrk="1" latinLnBrk="0" hangingPunct="1">
      <a:defRPr sz="800" b="1" kern="1200">
        <a:solidFill>
          <a:srgbClr val="000000"/>
        </a:solidFill>
        <a:latin typeface="Arial" charset="0"/>
        <a:ea typeface="ＭＳ Ｐゴシック" charset="0"/>
        <a:cs typeface="ＭＳ Ｐゴシック" charset="0"/>
        <a:sym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7F7F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87"/>
    <p:restoredTop sz="93245" autoAdjust="0"/>
  </p:normalViewPr>
  <p:slideViewPr>
    <p:cSldViewPr snapToGrid="0" snapToObjects="1">
      <p:cViewPr varScale="1">
        <p:scale>
          <a:sx n="88" d="100"/>
          <a:sy n="88" d="100"/>
        </p:scale>
        <p:origin x="1240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2725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759747-1481-D94C-B164-3B8F12CA02E4}" type="datetimeFigureOut">
              <a:rPr lang="en-US" smtClean="0"/>
              <a:t>7/1/18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279525"/>
            <a:ext cx="4606925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2725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2D2C1-592B-D741-B571-8624399F6E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244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031341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5664" y="360182"/>
            <a:ext cx="5577527" cy="46022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841" y="1397000"/>
            <a:ext cx="8657167" cy="4804833"/>
          </a:xfrm>
          <a:prstGeom prst="rect">
            <a:avLst/>
          </a:prstGeom>
        </p:spPr>
        <p:txBody>
          <a:bodyPr lIns="91402" tIns="45702" rIns="91402" bIns="45702"/>
          <a:lstStyle>
            <a:lvl1pPr>
              <a:buFont typeface="Wingdings" pitchFamily="2" charset="2"/>
              <a:buChar char="q"/>
              <a:defRPr sz="2400">
                <a:solidFill>
                  <a:schemeClr val="bg2">
                    <a:lumMod val="25000"/>
                  </a:schemeClr>
                </a:solidFill>
              </a:defRPr>
            </a:lvl1pPr>
            <a:lvl2pPr>
              <a:buClr>
                <a:schemeClr val="tx2"/>
              </a:buClr>
              <a:defRPr sz="2000">
                <a:solidFill>
                  <a:schemeClr val="bg2">
                    <a:lumMod val="25000"/>
                  </a:schemeClr>
                </a:solidFill>
              </a:defRPr>
            </a:lvl2pPr>
            <a:lvl3pPr>
              <a:defRPr>
                <a:solidFill>
                  <a:schemeClr val="bg2">
                    <a:lumMod val="25000"/>
                  </a:schemeClr>
                </a:solidFill>
              </a:defRPr>
            </a:lvl3pPr>
            <a:lvl4pPr>
              <a:defRPr>
                <a:solidFill>
                  <a:schemeClr val="bg2">
                    <a:lumMod val="25000"/>
                  </a:schemeClr>
                </a:solidFill>
              </a:defRPr>
            </a:lvl4pPr>
            <a:lvl5pPr>
              <a:defRPr>
                <a:solidFill>
                  <a:schemeClr val="bg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5097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155674"/>
            <a:ext cx="7772400" cy="523220"/>
          </a:xfrm>
        </p:spPr>
        <p:txBody>
          <a:bodyPr anchor="t"/>
          <a:lstStyle>
            <a:lvl1pPr algn="l">
              <a:defRPr sz="2800" b="1" cap="all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655495"/>
            <a:ext cx="7772400" cy="1500187"/>
          </a:xfrm>
          <a:prstGeom prst="rect">
            <a:avLst/>
          </a:prstGeom>
        </p:spPr>
        <p:txBody>
          <a:bodyPr lIns="91402" tIns="45702" rIns="91402" bIns="45702" anchor="b"/>
          <a:lstStyle>
            <a:lvl1pPr marL="0" indent="0">
              <a:buNone/>
              <a:defRPr sz="4000">
                <a:solidFill>
                  <a:srgbClr val="552200"/>
                </a:solidFill>
              </a:defRPr>
            </a:lvl1pPr>
            <a:lvl2pPr marL="457011" indent="0">
              <a:buNone/>
              <a:defRPr sz="1800"/>
            </a:lvl2pPr>
            <a:lvl3pPr marL="914024" indent="0">
              <a:buNone/>
              <a:defRPr sz="1600"/>
            </a:lvl3pPr>
            <a:lvl4pPr marL="1371040" indent="0">
              <a:buNone/>
              <a:defRPr sz="1400"/>
            </a:lvl4pPr>
            <a:lvl5pPr marL="1828052" indent="0">
              <a:buNone/>
              <a:defRPr sz="1400"/>
            </a:lvl5pPr>
            <a:lvl6pPr marL="2285064" indent="0">
              <a:buNone/>
              <a:defRPr sz="1400"/>
            </a:lvl6pPr>
            <a:lvl7pPr marL="2742079" indent="0">
              <a:buNone/>
              <a:defRPr sz="1400"/>
            </a:lvl7pPr>
            <a:lvl8pPr marL="3199088" indent="0">
              <a:buNone/>
              <a:defRPr sz="1400"/>
            </a:lvl8pPr>
            <a:lvl9pPr marL="3656104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614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Whi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veg logo v5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0625" y="606425"/>
            <a:ext cx="5413375" cy="12176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8"/>
          <p:cNvSpPr>
            <a:spLocks noChangeArrowheads="1"/>
          </p:cNvSpPr>
          <p:nvPr userDrawn="1"/>
        </p:nvSpPr>
        <p:spPr bwMode="auto">
          <a:xfrm>
            <a:off x="0" y="5959475"/>
            <a:ext cx="3070225" cy="8985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l">
              <a:buFontTx/>
              <a:buNone/>
            </a:pPr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1" y="2955405"/>
            <a:ext cx="5570525" cy="553998"/>
          </a:xfrm>
        </p:spPr>
        <p:txBody>
          <a:bodyPr/>
          <a:lstStyle>
            <a:lvl1pPr algn="l">
              <a:defRPr sz="3000" b="1">
                <a:solidFill>
                  <a:srgbClr val="5522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1" y="3959353"/>
            <a:ext cx="5570525" cy="1773936"/>
          </a:xfrm>
          <a:prstGeom prst="rect">
            <a:avLst/>
          </a:prstGeom>
        </p:spPr>
        <p:txBody>
          <a:bodyPr lIns="91402" tIns="45702" rIns="91402" bIns="45702">
            <a:normAutofit/>
          </a:bodyPr>
          <a:lstStyle>
            <a:lvl1pPr marL="0" indent="0" algn="l">
              <a:buNone/>
              <a:defRPr sz="1600" b="1">
                <a:solidFill>
                  <a:srgbClr val="7F7F7F"/>
                </a:solidFill>
                <a:latin typeface="Arial" pitchFamily="34" charset="0"/>
                <a:cs typeface="Arial" pitchFamily="34" charset="0"/>
              </a:defRPr>
            </a:lvl1pPr>
            <a:lvl2pPr marL="4570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0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0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0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0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1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4109097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68301" y="1670050"/>
            <a:ext cx="4061196" cy="4425950"/>
          </a:xfrm>
          <a:prstGeom prst="rect">
            <a:avLst/>
          </a:prstGeom>
        </p:spPr>
        <p:txBody>
          <a:bodyPr lIns="91402" tIns="45702" rIns="91402" bIns="45702"/>
          <a:lstStyle>
            <a:lvl1pPr>
              <a:buFont typeface="Wingdings" pitchFamily="2" charset="2"/>
              <a:buChar char="q"/>
              <a:defRPr sz="2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buClr>
                <a:schemeClr val="tx2"/>
              </a:buClr>
              <a:defRPr sz="20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0"/>
          </p:nvPr>
        </p:nvSpPr>
        <p:spPr>
          <a:xfrm>
            <a:off x="4548256" y="1670050"/>
            <a:ext cx="4138551" cy="4425950"/>
          </a:xfrm>
          <a:prstGeom prst="rect">
            <a:avLst/>
          </a:prstGeom>
        </p:spPr>
        <p:txBody>
          <a:bodyPr lIns="91402" tIns="45702" rIns="91402" bIns="45702"/>
          <a:lstStyle>
            <a:lvl1pPr>
              <a:buFont typeface="Wingdings" pitchFamily="2" charset="2"/>
              <a:buChar char="q"/>
              <a:defRPr sz="2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buClr>
                <a:schemeClr val="tx2"/>
              </a:buClr>
              <a:defRPr sz="20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9498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91319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5664" y="360182"/>
            <a:ext cx="5577527" cy="46022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841" y="1397000"/>
            <a:ext cx="8657167" cy="4804833"/>
          </a:xfrm>
          <a:prstGeom prst="rect">
            <a:avLst/>
          </a:prstGeom>
        </p:spPr>
        <p:txBody>
          <a:bodyPr lIns="91402" tIns="45702" rIns="91402" bIns="45702"/>
          <a:lstStyle>
            <a:lvl1pPr>
              <a:buFont typeface="Wingdings" pitchFamily="2" charset="2"/>
              <a:buChar char="q"/>
              <a:defRPr sz="2400">
                <a:solidFill>
                  <a:schemeClr val="bg2">
                    <a:lumMod val="25000"/>
                  </a:schemeClr>
                </a:solidFill>
              </a:defRPr>
            </a:lvl1pPr>
            <a:lvl2pPr>
              <a:buClr>
                <a:schemeClr val="tx2"/>
              </a:buClr>
              <a:defRPr sz="2000">
                <a:solidFill>
                  <a:schemeClr val="bg2">
                    <a:lumMod val="25000"/>
                  </a:schemeClr>
                </a:solidFill>
              </a:defRPr>
            </a:lvl2pPr>
            <a:lvl3pPr>
              <a:defRPr>
                <a:solidFill>
                  <a:schemeClr val="bg2">
                    <a:lumMod val="25000"/>
                  </a:schemeClr>
                </a:solidFill>
              </a:defRPr>
            </a:lvl3pPr>
            <a:lvl4pPr>
              <a:defRPr>
                <a:solidFill>
                  <a:schemeClr val="bg2">
                    <a:lumMod val="25000"/>
                  </a:schemeClr>
                </a:solidFill>
              </a:defRPr>
            </a:lvl4pPr>
            <a:lvl5pPr>
              <a:defRPr>
                <a:solidFill>
                  <a:schemeClr val="bg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5097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525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8" name="Shape 18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525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/>
          <a:lstStyle>
            <a:lvl1pPr marL="342900" lvl="0" indent="-28575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685800" lvl="1" indent="-261938">
              <a:spcBef>
                <a:spcPts val="1575"/>
              </a:spcBef>
              <a:spcAft>
                <a:spcPts val="0"/>
              </a:spcAft>
              <a:buSzPts val="1900"/>
              <a:buChar char="○"/>
              <a:defRPr/>
            </a:lvl2pPr>
            <a:lvl3pPr marL="1028700" lvl="2" indent="-261938">
              <a:spcBef>
                <a:spcPts val="1575"/>
              </a:spcBef>
              <a:spcAft>
                <a:spcPts val="0"/>
              </a:spcAft>
              <a:buSzPts val="1900"/>
              <a:buChar char="■"/>
              <a:defRPr/>
            </a:lvl3pPr>
            <a:lvl4pPr marL="1371600" lvl="3" indent="-261938">
              <a:spcBef>
                <a:spcPts val="1575"/>
              </a:spcBef>
              <a:spcAft>
                <a:spcPts val="0"/>
              </a:spcAft>
              <a:buSzPts val="1900"/>
              <a:buChar char="●"/>
              <a:defRPr/>
            </a:lvl4pPr>
            <a:lvl5pPr marL="1714500" lvl="4" indent="-261938">
              <a:spcBef>
                <a:spcPts val="1575"/>
              </a:spcBef>
              <a:spcAft>
                <a:spcPts val="0"/>
              </a:spcAft>
              <a:buSzPts val="1900"/>
              <a:buChar char="○"/>
              <a:defRPr/>
            </a:lvl5pPr>
            <a:lvl6pPr marL="2057400" lvl="5" indent="-261938">
              <a:spcBef>
                <a:spcPts val="1575"/>
              </a:spcBef>
              <a:spcAft>
                <a:spcPts val="0"/>
              </a:spcAft>
              <a:buSzPts val="1900"/>
              <a:buChar char="■"/>
              <a:defRPr/>
            </a:lvl6pPr>
            <a:lvl7pPr marL="2400300" lvl="6" indent="-261938">
              <a:spcBef>
                <a:spcPts val="1575"/>
              </a:spcBef>
              <a:spcAft>
                <a:spcPts val="0"/>
              </a:spcAft>
              <a:buSzPts val="1900"/>
              <a:buChar char="●"/>
              <a:defRPr/>
            </a:lvl7pPr>
            <a:lvl8pPr marL="2743200" lvl="7" indent="-261938">
              <a:spcBef>
                <a:spcPts val="1575"/>
              </a:spcBef>
              <a:spcAft>
                <a:spcPts val="0"/>
              </a:spcAft>
              <a:buSzPts val="1900"/>
              <a:buChar char="○"/>
              <a:defRPr/>
            </a:lvl8pPr>
            <a:lvl9pPr marL="3086100" lvl="8" indent="-261938">
              <a:spcBef>
                <a:spcPts val="1575"/>
              </a:spcBef>
              <a:spcAft>
                <a:spcPts val="1575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19" name="Shape 1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75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fld id="{00000000-1234-1234-1234-123412341234}" type="slidenum">
              <a:rPr lang="en-US" smtClean="0"/>
              <a:pPr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762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1730375"/>
            <a:ext cx="9144000" cy="215900"/>
          </a:xfrm>
          <a:prstGeom prst="rect">
            <a:avLst/>
          </a:prstGeom>
          <a:gradFill rotWithShape="0">
            <a:gsLst>
              <a:gs pos="0">
                <a:srgbClr val="E8E8E8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02" tIns="45702" rIns="91402" bIns="45702" anchor="ctr">
            <a:spAutoFit/>
          </a:bodyPr>
          <a:lstStyle/>
          <a:p>
            <a:endParaRPr lang="en-US"/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38238" y="349250"/>
            <a:ext cx="715803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02" tIns="45702" rIns="91402" bIns="45702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7"/>
          <p:cNvSpPr>
            <a:spLocks noChangeArrowheads="1"/>
          </p:cNvSpPr>
          <p:nvPr/>
        </p:nvSpPr>
        <p:spPr bwMode="auto">
          <a:xfrm>
            <a:off x="8458200" y="6397625"/>
            <a:ext cx="6858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45702" rIns="0" bIns="45702" anchor="ctr"/>
          <a:lstStyle/>
          <a:p>
            <a:pPr>
              <a:buFontTx/>
              <a:buNone/>
            </a:pPr>
            <a:fld id="{FD8812A5-7706-AF45-9670-B8F2030C16DF}" type="slidenum">
              <a:rPr lang="en-US" sz="2000">
                <a:solidFill>
                  <a:srgbClr val="552200"/>
                </a:solidFill>
              </a:rPr>
              <a:pPr>
                <a:buFontTx/>
                <a:buNone/>
              </a:pPr>
              <a:t>‹#›</a:t>
            </a:fld>
            <a:endParaRPr lang="en-US" sz="2000">
              <a:solidFill>
                <a:srgbClr val="552200"/>
              </a:solidFill>
            </a:endParaRPr>
          </a:p>
        </p:txBody>
      </p:sp>
      <p:sp>
        <p:nvSpPr>
          <p:cNvPr id="1029" name="Content Placeholder 2"/>
          <p:cNvSpPr txBox="1">
            <a:spLocks/>
          </p:cNvSpPr>
          <p:nvPr/>
        </p:nvSpPr>
        <p:spPr bwMode="auto">
          <a:xfrm>
            <a:off x="368300" y="1670050"/>
            <a:ext cx="8318500" cy="4425950"/>
          </a:xfrm>
          <a:prstGeom prst="rect">
            <a:avLst/>
          </a:prstGeom>
          <a:noFill/>
          <a:ln>
            <a:noFill/>
          </a:ln>
          <a:extLst/>
        </p:spPr>
        <p:txBody>
          <a:bodyPr lIns="91402" tIns="45702" rIns="91402" bIns="45702"/>
          <a:lstStyle>
            <a:lvl1pPr marL="342900" indent="-342900" eaLnBrk="0" hangingPunct="0">
              <a:defRPr sz="1600" b="1">
                <a:solidFill>
                  <a:schemeClr val="bg1"/>
                </a:solidFill>
                <a:latin typeface="Arial" pitchFamily="34" charset="0"/>
              </a:defRPr>
            </a:lvl1pPr>
            <a:lvl2pPr marL="742950" indent="-285750" eaLnBrk="0" hangingPunct="0">
              <a:defRPr sz="1600" b="1">
                <a:solidFill>
                  <a:schemeClr val="bg1"/>
                </a:solidFill>
                <a:latin typeface="Arial" pitchFamily="34" charset="0"/>
              </a:defRPr>
            </a:lvl2pPr>
            <a:lvl3pPr marL="1143000" indent="-228600" eaLnBrk="0" hangingPunct="0">
              <a:defRPr sz="1600" b="1">
                <a:solidFill>
                  <a:schemeClr val="bg1"/>
                </a:solidFill>
                <a:latin typeface="Arial" pitchFamily="34" charset="0"/>
              </a:defRPr>
            </a:lvl3pPr>
            <a:lvl4pPr marL="1600200" indent="-228600" eaLnBrk="0" hangingPunct="0">
              <a:defRPr sz="1600" b="1">
                <a:solidFill>
                  <a:schemeClr val="bg1"/>
                </a:solidFill>
                <a:latin typeface="Arial" pitchFamily="34" charset="0"/>
              </a:defRPr>
            </a:lvl4pPr>
            <a:lvl5pPr marL="2057400" indent="-228600" eaLnBrk="0" hangingPunct="0">
              <a:defRPr sz="1600" b="1">
                <a:solidFill>
                  <a:schemeClr val="bg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bg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bg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bg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bg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 typeface="Wingdings" pitchFamily="2" charset="2"/>
              <a:buChar char="q"/>
              <a:defRPr/>
            </a:pPr>
            <a:endParaRPr lang="en-US" sz="1400" b="0" dirty="0">
              <a:solidFill>
                <a:srgbClr val="262626"/>
              </a:solidFill>
              <a:ea typeface="ＭＳ Ｐゴシック" pitchFamily="34" charset="-128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0" y="1033995"/>
            <a:ext cx="9144000" cy="10768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02" tIns="45702" rIns="91402" bIns="45702" anchor="ctr">
            <a:spAutoFit/>
          </a:bodyPr>
          <a:lstStyle/>
          <a:p>
            <a:pPr>
              <a:defRPr/>
            </a:pPr>
            <a:endParaRPr lang="en-US" sz="100" dirty="0">
              <a:solidFill>
                <a:schemeClr val="bg1"/>
              </a:solidFill>
            </a:endParaRPr>
          </a:p>
        </p:txBody>
      </p:sp>
      <p:pic>
        <p:nvPicPr>
          <p:cNvPr id="1033" name="Picture 3" descr="veg logo v5.pn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96025"/>
            <a:ext cx="2449513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46" r:id="rId1"/>
    <p:sldLayoutId id="2147483847" r:id="rId2"/>
    <p:sldLayoutId id="2147483850" r:id="rId3"/>
    <p:sldLayoutId id="2147483848" r:id="rId4"/>
    <p:sldLayoutId id="2147483849" r:id="rId5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552200"/>
          </a:solidFill>
          <a:latin typeface="+mj-lt"/>
          <a:ea typeface="ＭＳ Ｐゴシック" pitchFamily="-106" charset="-128"/>
          <a:cs typeface="ＭＳ Ｐゴシック" pitchFamily="-106" charset="-128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552200"/>
          </a:solidFill>
          <a:latin typeface="Arial" charset="0"/>
          <a:ea typeface="ＭＳ Ｐゴシック" pitchFamily="-106" charset="-128"/>
          <a:cs typeface="ＭＳ Ｐゴシック" pitchFamily="-106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552200"/>
          </a:solidFill>
          <a:latin typeface="Arial" charset="0"/>
          <a:ea typeface="ＭＳ Ｐゴシック" pitchFamily="-106" charset="-128"/>
          <a:cs typeface="ＭＳ Ｐゴシック" pitchFamily="-106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552200"/>
          </a:solidFill>
          <a:latin typeface="Arial" charset="0"/>
          <a:ea typeface="ＭＳ Ｐゴシック" pitchFamily="-106" charset="-128"/>
          <a:cs typeface="ＭＳ Ｐゴシック" pitchFamily="-106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552200"/>
          </a:solidFill>
          <a:latin typeface="Arial" charset="0"/>
          <a:ea typeface="ＭＳ Ｐゴシック" pitchFamily="-106" charset="-128"/>
          <a:cs typeface="ＭＳ Ｐゴシック" pitchFamily="-106" charset="-128"/>
        </a:defRPr>
      </a:lvl5pPr>
      <a:lvl6pPr marL="457011" algn="l" rtl="0" eaLnBrk="1" fontAlgn="base" hangingPunct="1">
        <a:spcBef>
          <a:spcPct val="0"/>
        </a:spcBef>
        <a:spcAft>
          <a:spcPct val="0"/>
        </a:spcAft>
        <a:defRPr sz="2200" b="1">
          <a:solidFill>
            <a:srgbClr val="445562"/>
          </a:solidFill>
          <a:latin typeface="Arial" charset="0"/>
        </a:defRPr>
      </a:lvl6pPr>
      <a:lvl7pPr marL="914024" algn="l" rtl="0" eaLnBrk="1" fontAlgn="base" hangingPunct="1">
        <a:spcBef>
          <a:spcPct val="0"/>
        </a:spcBef>
        <a:spcAft>
          <a:spcPct val="0"/>
        </a:spcAft>
        <a:defRPr sz="2200" b="1">
          <a:solidFill>
            <a:srgbClr val="445562"/>
          </a:solidFill>
          <a:latin typeface="Arial" charset="0"/>
        </a:defRPr>
      </a:lvl7pPr>
      <a:lvl8pPr marL="1371040" algn="l" rtl="0" eaLnBrk="1" fontAlgn="base" hangingPunct="1">
        <a:spcBef>
          <a:spcPct val="0"/>
        </a:spcBef>
        <a:spcAft>
          <a:spcPct val="0"/>
        </a:spcAft>
        <a:defRPr sz="2200" b="1">
          <a:solidFill>
            <a:srgbClr val="445562"/>
          </a:solidFill>
          <a:latin typeface="Arial" charset="0"/>
        </a:defRPr>
      </a:lvl8pPr>
      <a:lvl9pPr marL="1828052" algn="l" rtl="0" eaLnBrk="1" fontAlgn="base" hangingPunct="1">
        <a:spcBef>
          <a:spcPct val="0"/>
        </a:spcBef>
        <a:spcAft>
          <a:spcPct val="0"/>
        </a:spcAft>
        <a:defRPr sz="2200" b="1">
          <a:solidFill>
            <a:srgbClr val="445562"/>
          </a:solidFill>
          <a:latin typeface="Arial" charset="0"/>
        </a:defRPr>
      </a:lvl9pPr>
    </p:titleStyle>
    <p:bodyStyle>
      <a:lvl1pPr marL="339725" indent="-339725" algn="l" rtl="0" eaLnBrk="1" fontAlgn="base" hangingPunct="1">
        <a:spcBef>
          <a:spcPct val="20000"/>
        </a:spcBef>
        <a:spcAft>
          <a:spcPct val="0"/>
        </a:spcAft>
        <a:buFont typeface="Wingdings" charset="0"/>
        <a:buChar char="•"/>
        <a:defRPr sz="1600" b="1">
          <a:solidFill>
            <a:schemeClr val="tx1"/>
          </a:solidFill>
          <a:latin typeface="+mn-lt"/>
          <a:ea typeface="ＭＳ Ｐゴシック" pitchFamily="-106" charset="-128"/>
          <a:cs typeface="ＭＳ Ｐゴシック" pitchFamily="-106" charset="-128"/>
        </a:defRPr>
      </a:lvl1pPr>
      <a:lvl2pPr marL="739775" indent="-280988" algn="l" rtl="0" eaLnBrk="1" fontAlgn="base" hangingPunct="1">
        <a:spcBef>
          <a:spcPct val="20000"/>
        </a:spcBef>
        <a:spcAft>
          <a:spcPct val="0"/>
        </a:spcAft>
        <a:buClr>
          <a:srgbClr val="FD9712"/>
        </a:buClr>
        <a:buFont typeface="Wingdings" charset="0"/>
        <a:buChar char="§"/>
        <a:defRPr sz="1400">
          <a:solidFill>
            <a:schemeClr val="tx1"/>
          </a:solidFill>
          <a:latin typeface="+mn-lt"/>
          <a:ea typeface="ＭＳ Ｐゴシック" pitchFamily="-106" charset="-128"/>
          <a:cs typeface="ＭＳ Ｐゴシック"/>
        </a:defRPr>
      </a:lvl2pPr>
      <a:lvl3pPr marL="1138238" indent="-225425" algn="l" rtl="0" eaLnBrk="1" fontAlgn="base" hangingPunct="1">
        <a:spcBef>
          <a:spcPct val="20000"/>
        </a:spcBef>
        <a:spcAft>
          <a:spcPct val="0"/>
        </a:spcAft>
        <a:buClr>
          <a:srgbClr val="445562"/>
        </a:buClr>
        <a:buFont typeface="Times" charset="0"/>
        <a:buChar char="•"/>
        <a:defRPr sz="1400">
          <a:solidFill>
            <a:schemeClr val="tx1"/>
          </a:solidFill>
          <a:latin typeface="+mn-lt"/>
          <a:ea typeface="ＭＳ Ｐゴシック" pitchFamily="-106" charset="-128"/>
          <a:cs typeface="ＭＳ Ｐゴシック"/>
        </a:defRPr>
      </a:lvl3pPr>
      <a:lvl4pPr marL="1597025" indent="-225425" algn="l" rtl="0" eaLnBrk="1" fontAlgn="base" hangingPunct="1">
        <a:spcBef>
          <a:spcPct val="20000"/>
        </a:spcBef>
        <a:spcAft>
          <a:spcPct val="0"/>
        </a:spcAft>
        <a:buClr>
          <a:srgbClr val="445562"/>
        </a:buClr>
        <a:buFont typeface="Arial" charset="0"/>
        <a:buChar char="»"/>
        <a:defRPr sz="1400">
          <a:solidFill>
            <a:schemeClr val="tx1"/>
          </a:solidFill>
          <a:latin typeface="+mn-lt"/>
          <a:ea typeface="ＭＳ Ｐゴシック" pitchFamily="-106" charset="-128"/>
          <a:cs typeface="ＭＳ Ｐゴシック"/>
        </a:defRPr>
      </a:lvl4pPr>
      <a:lvl5pPr marL="2054225" indent="-225425" algn="l" rtl="0" eaLnBrk="1" fontAlgn="base" hangingPunct="1">
        <a:spcBef>
          <a:spcPct val="20000"/>
        </a:spcBef>
        <a:spcAft>
          <a:spcPct val="0"/>
        </a:spcAft>
        <a:buClr>
          <a:srgbClr val="445562"/>
        </a:buClr>
        <a:buFont typeface="Times" charset="0"/>
        <a:buChar char="•"/>
        <a:defRPr sz="1400">
          <a:solidFill>
            <a:schemeClr val="tx1"/>
          </a:solidFill>
          <a:latin typeface="+mn-lt"/>
          <a:ea typeface="ＭＳ Ｐゴシック" pitchFamily="-106" charset="-128"/>
          <a:cs typeface="ＭＳ Ｐゴシック"/>
        </a:defRPr>
      </a:lvl5pPr>
      <a:lvl6pPr marL="2513573" indent="-228505" algn="l" rtl="0" eaLnBrk="1" fontAlgn="base" hangingPunct="1">
        <a:spcBef>
          <a:spcPct val="20000"/>
        </a:spcBef>
        <a:spcAft>
          <a:spcPct val="0"/>
        </a:spcAft>
        <a:buClr>
          <a:srgbClr val="445562"/>
        </a:buClr>
        <a:buFont typeface="Times" pitchFamily="124" charset="0"/>
        <a:buChar char="•"/>
        <a:defRPr sz="1400">
          <a:solidFill>
            <a:schemeClr val="tx1"/>
          </a:solidFill>
          <a:latin typeface="+mn-lt"/>
        </a:defRPr>
      </a:lvl6pPr>
      <a:lvl7pPr marL="2970584" indent="-228505" algn="l" rtl="0" eaLnBrk="1" fontAlgn="base" hangingPunct="1">
        <a:spcBef>
          <a:spcPct val="20000"/>
        </a:spcBef>
        <a:spcAft>
          <a:spcPct val="0"/>
        </a:spcAft>
        <a:buClr>
          <a:srgbClr val="445562"/>
        </a:buClr>
        <a:buFont typeface="Times" pitchFamily="124" charset="0"/>
        <a:buChar char="•"/>
        <a:defRPr sz="1400">
          <a:solidFill>
            <a:schemeClr val="tx1"/>
          </a:solidFill>
          <a:latin typeface="+mn-lt"/>
        </a:defRPr>
      </a:lvl7pPr>
      <a:lvl8pPr marL="3427598" indent="-228505" algn="l" rtl="0" eaLnBrk="1" fontAlgn="base" hangingPunct="1">
        <a:spcBef>
          <a:spcPct val="20000"/>
        </a:spcBef>
        <a:spcAft>
          <a:spcPct val="0"/>
        </a:spcAft>
        <a:buClr>
          <a:srgbClr val="445562"/>
        </a:buClr>
        <a:buFont typeface="Times" pitchFamily="124" charset="0"/>
        <a:buChar char="•"/>
        <a:defRPr sz="1400">
          <a:solidFill>
            <a:schemeClr val="tx1"/>
          </a:solidFill>
          <a:latin typeface="+mn-lt"/>
        </a:defRPr>
      </a:lvl8pPr>
      <a:lvl9pPr marL="3884609" indent="-228505" algn="l" rtl="0" eaLnBrk="1" fontAlgn="base" hangingPunct="1">
        <a:spcBef>
          <a:spcPct val="20000"/>
        </a:spcBef>
        <a:spcAft>
          <a:spcPct val="0"/>
        </a:spcAft>
        <a:buClr>
          <a:srgbClr val="445562"/>
        </a:buClr>
        <a:buFont typeface="Times" pitchFamily="124" charset="0"/>
        <a:buChar char="•"/>
        <a:defRPr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0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11" algn="l" defTabSz="9140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24" algn="l" defTabSz="9140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040" algn="l" defTabSz="9140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052" algn="l" defTabSz="9140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064" algn="l" defTabSz="9140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079" algn="l" defTabSz="9140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088" algn="l" defTabSz="9140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104" algn="l" defTabSz="9140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52" r:id="rId1"/>
    <p:sldLayoutId id="2147483853" r:id="rId2"/>
    <p:sldLayoutId id="2147483854" r:id="rId3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Rectangle 1200"/>
          <p:cNvSpPr/>
          <p:nvPr/>
        </p:nvSpPr>
        <p:spPr>
          <a:xfrm>
            <a:off x="200638" y="1290356"/>
            <a:ext cx="1136511" cy="186975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1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buNone/>
            </a:pPr>
            <a:r>
              <a:rPr lang="en-US" sz="1000" dirty="0">
                <a:solidFill>
                  <a:schemeClr val="tx1"/>
                </a:solidFill>
              </a:rPr>
              <a:t>Customer </a:t>
            </a:r>
          </a:p>
          <a:p>
            <a:pPr algn="ctr">
              <a:buNone/>
            </a:pPr>
            <a:r>
              <a:rPr lang="en-US" sz="1000" dirty="0">
                <a:solidFill>
                  <a:schemeClr val="tx1"/>
                </a:solidFill>
              </a:rPr>
              <a:t>Perspective</a:t>
            </a:r>
          </a:p>
        </p:txBody>
      </p:sp>
      <p:sp>
        <p:nvSpPr>
          <p:cNvPr id="298" name="Rectangle 297"/>
          <p:cNvSpPr/>
          <p:nvPr/>
        </p:nvSpPr>
        <p:spPr>
          <a:xfrm>
            <a:off x="1454019" y="1284103"/>
            <a:ext cx="1136511" cy="18760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1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en-US" sz="1000" dirty="0">
                <a:solidFill>
                  <a:schemeClr val="tx1"/>
                </a:solidFill>
              </a:rPr>
              <a:t>What Customers </a:t>
            </a:r>
          </a:p>
          <a:p>
            <a:pPr>
              <a:buNone/>
            </a:pPr>
            <a:r>
              <a:rPr lang="en-US" sz="1000" dirty="0">
                <a:solidFill>
                  <a:schemeClr val="tx1"/>
                </a:solidFill>
              </a:rPr>
              <a:t>Want</a:t>
            </a:r>
          </a:p>
        </p:txBody>
      </p:sp>
      <p:sp>
        <p:nvSpPr>
          <p:cNvPr id="299" name="Rectangle 298"/>
          <p:cNvSpPr/>
          <p:nvPr/>
        </p:nvSpPr>
        <p:spPr>
          <a:xfrm>
            <a:off x="2709338" y="1294462"/>
            <a:ext cx="1136511" cy="187601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en-US" sz="1000" dirty="0">
                <a:solidFill>
                  <a:schemeClr val="tx1"/>
                </a:solidFill>
              </a:rPr>
              <a:t>Strategic</a:t>
            </a:r>
          </a:p>
          <a:p>
            <a:pPr>
              <a:buNone/>
            </a:pPr>
            <a:r>
              <a:rPr lang="en-US" sz="1000" dirty="0">
                <a:solidFill>
                  <a:schemeClr val="tx1"/>
                </a:solidFill>
              </a:rPr>
              <a:t>Perspective</a:t>
            </a:r>
          </a:p>
        </p:txBody>
      </p:sp>
      <p:sp>
        <p:nvSpPr>
          <p:cNvPr id="300" name="Rectangle 299"/>
          <p:cNvSpPr/>
          <p:nvPr/>
        </p:nvSpPr>
        <p:spPr>
          <a:xfrm>
            <a:off x="3958685" y="1286437"/>
            <a:ext cx="1136511" cy="188403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1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en-US" sz="1000">
                <a:solidFill>
                  <a:schemeClr val="tx1"/>
                </a:solidFill>
              </a:rPr>
              <a:t>Customer </a:t>
            </a:r>
          </a:p>
          <a:p>
            <a:pPr>
              <a:buNone/>
            </a:pPr>
            <a:r>
              <a:rPr lang="en-US" sz="1000">
                <a:solidFill>
                  <a:schemeClr val="tx1"/>
                </a:solidFill>
              </a:rPr>
              <a:t>Perspective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301" name="Rectangle 300"/>
          <p:cNvSpPr/>
          <p:nvPr/>
        </p:nvSpPr>
        <p:spPr>
          <a:xfrm>
            <a:off x="5208032" y="1291871"/>
            <a:ext cx="1136511" cy="306077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1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en-US" sz="1000" dirty="0">
                <a:solidFill>
                  <a:schemeClr val="tx1"/>
                </a:solidFill>
              </a:rPr>
              <a:t>Stakeholder</a:t>
            </a:r>
          </a:p>
          <a:p>
            <a:pPr>
              <a:buNone/>
            </a:pPr>
            <a:r>
              <a:rPr lang="en-US" sz="1000" dirty="0">
                <a:solidFill>
                  <a:schemeClr val="tx1"/>
                </a:solidFill>
              </a:rPr>
              <a:t>Perspective</a:t>
            </a:r>
          </a:p>
        </p:txBody>
      </p:sp>
      <p:sp>
        <p:nvSpPr>
          <p:cNvPr id="302" name="Rectangle 301"/>
          <p:cNvSpPr/>
          <p:nvPr/>
        </p:nvSpPr>
        <p:spPr>
          <a:xfrm>
            <a:off x="6457379" y="1294462"/>
            <a:ext cx="1136511" cy="305818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1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en-US" sz="1000" dirty="0">
                <a:solidFill>
                  <a:schemeClr val="tx1"/>
                </a:solidFill>
              </a:rPr>
              <a:t>What the Organization has the Ability to do </a:t>
            </a:r>
          </a:p>
        </p:txBody>
      </p:sp>
      <p:sp>
        <p:nvSpPr>
          <p:cNvPr id="303" name="Rectangle 302"/>
          <p:cNvSpPr/>
          <p:nvPr/>
        </p:nvSpPr>
        <p:spPr>
          <a:xfrm>
            <a:off x="7707977" y="1290356"/>
            <a:ext cx="1136511" cy="18760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1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en-US" sz="1000" dirty="0">
                <a:solidFill>
                  <a:schemeClr val="tx1"/>
                </a:solidFill>
              </a:rPr>
              <a:t>Investment &amp; Solution</a:t>
            </a:r>
          </a:p>
          <a:p>
            <a:pPr>
              <a:buNone/>
            </a:pPr>
            <a:r>
              <a:rPr lang="en-US" sz="1000" dirty="0">
                <a:solidFill>
                  <a:schemeClr val="tx1"/>
                </a:solidFill>
              </a:rPr>
              <a:t>Perspective</a:t>
            </a:r>
          </a:p>
        </p:txBody>
      </p:sp>
      <p:sp>
        <p:nvSpPr>
          <p:cNvPr id="1202" name="Rounded Rectangle 1201"/>
          <p:cNvSpPr/>
          <p:nvPr/>
        </p:nvSpPr>
        <p:spPr>
          <a:xfrm>
            <a:off x="314938" y="1793593"/>
            <a:ext cx="919190" cy="326328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000" dirty="0">
                <a:solidFill>
                  <a:schemeClr val="tx1"/>
                </a:solidFill>
              </a:rPr>
              <a:t>Customer Needs</a:t>
            </a:r>
          </a:p>
        </p:txBody>
      </p:sp>
      <p:sp>
        <p:nvSpPr>
          <p:cNvPr id="305" name="Rounded Rectangle 304"/>
          <p:cNvSpPr/>
          <p:nvPr/>
        </p:nvSpPr>
        <p:spPr>
          <a:xfrm>
            <a:off x="314938" y="2187910"/>
            <a:ext cx="919190" cy="326328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000" dirty="0">
                <a:solidFill>
                  <a:schemeClr val="tx1"/>
                </a:solidFill>
              </a:rPr>
              <a:t>Compliance Needs</a:t>
            </a:r>
          </a:p>
        </p:txBody>
      </p:sp>
      <p:sp>
        <p:nvSpPr>
          <p:cNvPr id="306" name="Rounded Rectangle 305"/>
          <p:cNvSpPr/>
          <p:nvPr/>
        </p:nvSpPr>
        <p:spPr>
          <a:xfrm>
            <a:off x="298040" y="2569567"/>
            <a:ext cx="919190" cy="47608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000" dirty="0">
                <a:solidFill>
                  <a:schemeClr val="tx1"/>
                </a:solidFill>
              </a:rPr>
              <a:t>Business Stakeholder Needs</a:t>
            </a:r>
          </a:p>
        </p:txBody>
      </p:sp>
      <p:sp>
        <p:nvSpPr>
          <p:cNvPr id="307" name="Rounded Rectangle 306"/>
          <p:cNvSpPr/>
          <p:nvPr/>
        </p:nvSpPr>
        <p:spPr>
          <a:xfrm>
            <a:off x="1565666" y="2040865"/>
            <a:ext cx="919190" cy="391024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000" dirty="0">
                <a:solidFill>
                  <a:schemeClr val="tx1"/>
                </a:solidFill>
              </a:rPr>
              <a:t>Desired</a:t>
            </a:r>
          </a:p>
          <a:p>
            <a:pPr algn="ctr">
              <a:buNone/>
            </a:pPr>
            <a:r>
              <a:rPr lang="en-US" sz="1000" dirty="0">
                <a:solidFill>
                  <a:schemeClr val="tx1"/>
                </a:solidFill>
              </a:rPr>
              <a:t>Outcomes</a:t>
            </a:r>
          </a:p>
        </p:txBody>
      </p:sp>
      <p:sp>
        <p:nvSpPr>
          <p:cNvPr id="308" name="Rounded Rectangle 307"/>
          <p:cNvSpPr/>
          <p:nvPr/>
        </p:nvSpPr>
        <p:spPr>
          <a:xfrm>
            <a:off x="2821136" y="1793592"/>
            <a:ext cx="919190" cy="39431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000" dirty="0">
                <a:solidFill>
                  <a:schemeClr val="tx1"/>
                </a:solidFill>
              </a:rPr>
              <a:t>Business Strategy</a:t>
            </a:r>
          </a:p>
        </p:txBody>
      </p:sp>
      <p:sp>
        <p:nvSpPr>
          <p:cNvPr id="309" name="Rounded Rectangle 308"/>
          <p:cNvSpPr/>
          <p:nvPr/>
        </p:nvSpPr>
        <p:spPr>
          <a:xfrm>
            <a:off x="2821137" y="2261884"/>
            <a:ext cx="919190" cy="59496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000" dirty="0">
                <a:solidFill>
                  <a:schemeClr val="tx1"/>
                </a:solidFill>
              </a:rPr>
              <a:t>Initiative / Product Roadmaps</a:t>
            </a:r>
          </a:p>
        </p:txBody>
      </p:sp>
      <p:sp>
        <p:nvSpPr>
          <p:cNvPr id="311" name="Rounded Rectangle 310"/>
          <p:cNvSpPr/>
          <p:nvPr/>
        </p:nvSpPr>
        <p:spPr>
          <a:xfrm>
            <a:off x="4041095" y="2069818"/>
            <a:ext cx="919190" cy="326328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000" dirty="0">
                <a:solidFill>
                  <a:schemeClr val="tx1"/>
                </a:solidFill>
              </a:rPr>
              <a:t>Value Stream</a:t>
            </a:r>
          </a:p>
        </p:txBody>
      </p:sp>
      <p:sp>
        <p:nvSpPr>
          <p:cNvPr id="312" name="Rounded Rectangle 311"/>
          <p:cNvSpPr/>
          <p:nvPr/>
        </p:nvSpPr>
        <p:spPr>
          <a:xfrm>
            <a:off x="5316692" y="2456547"/>
            <a:ext cx="919190" cy="326328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000" dirty="0">
                <a:solidFill>
                  <a:schemeClr val="tx1"/>
                </a:solidFill>
              </a:rPr>
              <a:t>Value Stream Stage</a:t>
            </a:r>
          </a:p>
        </p:txBody>
      </p:sp>
      <p:sp>
        <p:nvSpPr>
          <p:cNvPr id="314" name="Rounded Rectangle 313"/>
          <p:cNvSpPr/>
          <p:nvPr/>
        </p:nvSpPr>
        <p:spPr>
          <a:xfrm>
            <a:off x="7825710" y="1987528"/>
            <a:ext cx="919190" cy="326328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000" dirty="0">
                <a:solidFill>
                  <a:schemeClr val="tx1"/>
                </a:solidFill>
              </a:rPr>
              <a:t>Initiative</a:t>
            </a:r>
          </a:p>
        </p:txBody>
      </p:sp>
      <p:sp>
        <p:nvSpPr>
          <p:cNvPr id="1203" name="Pentagon 1202"/>
          <p:cNvSpPr/>
          <p:nvPr/>
        </p:nvSpPr>
        <p:spPr>
          <a:xfrm>
            <a:off x="213640" y="904593"/>
            <a:ext cx="3602972" cy="276225"/>
          </a:xfrm>
          <a:prstGeom prst="homePlate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endParaRPr lang="en-US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06" name="Chevron 1205"/>
          <p:cNvSpPr/>
          <p:nvPr/>
        </p:nvSpPr>
        <p:spPr>
          <a:xfrm>
            <a:off x="3958684" y="904593"/>
            <a:ext cx="4885803" cy="276225"/>
          </a:xfrm>
          <a:prstGeom prst="chevron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endParaRPr lang="en-US" sz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210" name="Straight Arrow Connector 1209"/>
          <p:cNvCxnSpPr>
            <a:stCxn id="1201" idx="3"/>
            <a:endCxn id="307" idx="1"/>
          </p:cNvCxnSpPr>
          <p:nvPr/>
        </p:nvCxnSpPr>
        <p:spPr>
          <a:xfrm>
            <a:off x="1337149" y="2225235"/>
            <a:ext cx="228517" cy="11142"/>
          </a:xfrm>
          <a:prstGeom prst="straightConnector1">
            <a:avLst/>
          </a:prstGeom>
          <a:ln w="38100">
            <a:solidFill>
              <a:schemeClr val="tx1"/>
            </a:solidFill>
            <a:tailEnd type="stealt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Straight Arrow Connector 319"/>
          <p:cNvCxnSpPr>
            <a:stCxn id="307" idx="3"/>
            <a:endCxn id="299" idx="1"/>
          </p:cNvCxnSpPr>
          <p:nvPr/>
        </p:nvCxnSpPr>
        <p:spPr>
          <a:xfrm flipV="1">
            <a:off x="2484856" y="2232467"/>
            <a:ext cx="224482" cy="3910"/>
          </a:xfrm>
          <a:prstGeom prst="straightConnector1">
            <a:avLst/>
          </a:prstGeom>
          <a:ln w="38100">
            <a:solidFill>
              <a:schemeClr val="tx1"/>
            </a:solidFill>
            <a:tailEnd type="stealt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Straight Arrow Connector 322"/>
          <p:cNvCxnSpPr>
            <a:stCxn id="299" idx="3"/>
            <a:endCxn id="311" idx="1"/>
          </p:cNvCxnSpPr>
          <p:nvPr/>
        </p:nvCxnSpPr>
        <p:spPr>
          <a:xfrm>
            <a:off x="3845849" y="2232467"/>
            <a:ext cx="195246" cy="515"/>
          </a:xfrm>
          <a:prstGeom prst="straightConnector1">
            <a:avLst/>
          </a:prstGeom>
          <a:ln w="38100">
            <a:solidFill>
              <a:schemeClr val="tx1"/>
            </a:solidFill>
            <a:tailEnd type="stealt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8" name="Elbow Connector 1067"/>
          <p:cNvCxnSpPr>
            <a:stCxn id="311" idx="2"/>
            <a:endCxn id="312" idx="1"/>
          </p:cNvCxnSpPr>
          <p:nvPr/>
        </p:nvCxnSpPr>
        <p:spPr>
          <a:xfrm rot="16200000" flipH="1">
            <a:off x="4796909" y="2099927"/>
            <a:ext cx="223565" cy="816002"/>
          </a:xfrm>
          <a:prstGeom prst="bentConnector2">
            <a:avLst/>
          </a:prstGeom>
          <a:ln w="38100">
            <a:solidFill>
              <a:schemeClr val="tx1"/>
            </a:solidFill>
            <a:tailEnd type="stealt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4" name="Rounded Rectangle 343"/>
          <p:cNvSpPr/>
          <p:nvPr/>
        </p:nvSpPr>
        <p:spPr>
          <a:xfrm>
            <a:off x="5316693" y="3543026"/>
            <a:ext cx="919190" cy="326328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000" dirty="0">
                <a:solidFill>
                  <a:schemeClr val="tx1"/>
                </a:solidFill>
              </a:rPr>
              <a:t>Stakeholders</a:t>
            </a:r>
          </a:p>
        </p:txBody>
      </p:sp>
      <p:sp>
        <p:nvSpPr>
          <p:cNvPr id="345" name="Rectangle 344"/>
          <p:cNvSpPr/>
          <p:nvPr/>
        </p:nvSpPr>
        <p:spPr>
          <a:xfrm>
            <a:off x="7707977" y="3223684"/>
            <a:ext cx="1136511" cy="112895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31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>
              <a:buNone/>
            </a:pPr>
            <a:r>
              <a:rPr lang="en-US" sz="1000"/>
              <a:t>Value (Capability) Gap Perspective</a:t>
            </a:r>
            <a:endParaRPr lang="en-US" sz="1000" dirty="0"/>
          </a:p>
        </p:txBody>
      </p:sp>
      <p:sp>
        <p:nvSpPr>
          <p:cNvPr id="346" name="Rounded Rectangle 345"/>
          <p:cNvSpPr/>
          <p:nvPr/>
        </p:nvSpPr>
        <p:spPr>
          <a:xfrm>
            <a:off x="7825710" y="3531145"/>
            <a:ext cx="919190" cy="326328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000" dirty="0">
                <a:solidFill>
                  <a:schemeClr val="tx1"/>
                </a:solidFill>
              </a:rPr>
              <a:t>Requirement</a:t>
            </a:r>
          </a:p>
        </p:txBody>
      </p:sp>
      <p:cxnSp>
        <p:nvCxnSpPr>
          <p:cNvPr id="347" name="Straight Arrow Connector 346"/>
          <p:cNvCxnSpPr>
            <a:stCxn id="314" idx="2"/>
            <a:endCxn id="346" idx="0"/>
          </p:cNvCxnSpPr>
          <p:nvPr/>
        </p:nvCxnSpPr>
        <p:spPr>
          <a:xfrm>
            <a:off x="8285305" y="2313856"/>
            <a:ext cx="0" cy="1217289"/>
          </a:xfrm>
          <a:prstGeom prst="straightConnector1">
            <a:avLst/>
          </a:prstGeom>
          <a:ln w="38100">
            <a:solidFill>
              <a:schemeClr val="tx1"/>
            </a:solidFill>
            <a:tailEnd type="stealt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0" name="Straight Arrow Connector 349"/>
          <p:cNvCxnSpPr>
            <a:stCxn id="344" idx="3"/>
            <a:endCxn id="346" idx="1"/>
          </p:cNvCxnSpPr>
          <p:nvPr/>
        </p:nvCxnSpPr>
        <p:spPr>
          <a:xfrm flipV="1">
            <a:off x="6235883" y="3694309"/>
            <a:ext cx="1589827" cy="11881"/>
          </a:xfrm>
          <a:prstGeom prst="straightConnector1">
            <a:avLst/>
          </a:prstGeom>
          <a:ln w="38100">
            <a:solidFill>
              <a:schemeClr val="tx1"/>
            </a:solidFill>
            <a:tailEnd type="stealt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6" name="Elbow Connector 355"/>
          <p:cNvCxnSpPr>
            <a:stCxn id="313" idx="2"/>
            <a:endCxn id="346" idx="1"/>
          </p:cNvCxnSpPr>
          <p:nvPr/>
        </p:nvCxnSpPr>
        <p:spPr>
          <a:xfrm rot="16200000" flipH="1">
            <a:off x="6970269" y="2838867"/>
            <a:ext cx="911433" cy="799450"/>
          </a:xfrm>
          <a:prstGeom prst="bentConnector2">
            <a:avLst/>
          </a:prstGeom>
          <a:ln w="38100">
            <a:solidFill>
              <a:schemeClr val="tx1"/>
            </a:solidFill>
            <a:tailEnd type="stealt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3" name="Rounded Rectangle 312"/>
          <p:cNvSpPr/>
          <p:nvPr/>
        </p:nvSpPr>
        <p:spPr>
          <a:xfrm>
            <a:off x="6566665" y="2456548"/>
            <a:ext cx="919190" cy="326328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000" dirty="0">
                <a:solidFill>
                  <a:schemeClr val="tx1"/>
                </a:solidFill>
              </a:rPr>
              <a:t>Capability</a:t>
            </a:r>
          </a:p>
        </p:txBody>
      </p:sp>
      <p:cxnSp>
        <p:nvCxnSpPr>
          <p:cNvPr id="363" name="Elbow Connector 362"/>
          <p:cNvCxnSpPr>
            <a:stCxn id="313" idx="0"/>
            <a:endCxn id="314" idx="1"/>
          </p:cNvCxnSpPr>
          <p:nvPr/>
        </p:nvCxnSpPr>
        <p:spPr>
          <a:xfrm rot="5400000" flipH="1" flipV="1">
            <a:off x="7273057" y="1903895"/>
            <a:ext cx="305856" cy="799450"/>
          </a:xfrm>
          <a:prstGeom prst="bentConnector2">
            <a:avLst/>
          </a:prstGeom>
          <a:ln w="38100">
            <a:solidFill>
              <a:schemeClr val="tx1"/>
            </a:solidFill>
            <a:tailEnd type="stealt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6" name="Rectangle 365"/>
          <p:cNvSpPr/>
          <p:nvPr/>
        </p:nvSpPr>
        <p:spPr>
          <a:xfrm>
            <a:off x="2708087" y="3231971"/>
            <a:ext cx="1136511" cy="112067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>
              <a:buNone/>
            </a:pPr>
            <a:r>
              <a:rPr lang="en-US" sz="1000" dirty="0">
                <a:solidFill>
                  <a:schemeClr val="tx1"/>
                </a:solidFill>
              </a:rPr>
              <a:t>Business-wide </a:t>
            </a:r>
          </a:p>
          <a:p>
            <a:pPr>
              <a:buNone/>
            </a:pPr>
            <a:r>
              <a:rPr lang="en-US" sz="1000" dirty="0">
                <a:solidFill>
                  <a:schemeClr val="tx1"/>
                </a:solidFill>
              </a:rPr>
              <a:t>Perspective</a:t>
            </a:r>
          </a:p>
        </p:txBody>
      </p:sp>
      <p:sp>
        <p:nvSpPr>
          <p:cNvPr id="367" name="Rounded Rectangle 366"/>
          <p:cNvSpPr/>
          <p:nvPr/>
        </p:nvSpPr>
        <p:spPr>
          <a:xfrm>
            <a:off x="2816747" y="3543026"/>
            <a:ext cx="919190" cy="326328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000" dirty="0">
                <a:solidFill>
                  <a:schemeClr val="tx1"/>
                </a:solidFill>
              </a:rPr>
              <a:t>Business Unit</a:t>
            </a:r>
          </a:p>
        </p:txBody>
      </p:sp>
      <p:cxnSp>
        <p:nvCxnSpPr>
          <p:cNvPr id="368" name="Straight Arrow Connector 367"/>
          <p:cNvCxnSpPr>
            <a:stCxn id="367" idx="3"/>
            <a:endCxn id="344" idx="1"/>
          </p:cNvCxnSpPr>
          <p:nvPr/>
        </p:nvCxnSpPr>
        <p:spPr>
          <a:xfrm>
            <a:off x="3735937" y="3706190"/>
            <a:ext cx="1580756" cy="0"/>
          </a:xfrm>
          <a:prstGeom prst="straightConnector1">
            <a:avLst/>
          </a:prstGeom>
          <a:ln w="38100">
            <a:solidFill>
              <a:schemeClr val="tx1"/>
            </a:solidFill>
            <a:tailEnd type="stealt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1" name="Rectangle 370"/>
          <p:cNvSpPr/>
          <p:nvPr/>
        </p:nvSpPr>
        <p:spPr>
          <a:xfrm>
            <a:off x="213640" y="3231971"/>
            <a:ext cx="2385786" cy="2303145"/>
          </a:xfrm>
          <a:prstGeom prst="rect">
            <a:avLst/>
          </a:prstGeom>
          <a:solidFill>
            <a:srgbClr val="FFFF99"/>
          </a:solidFill>
          <a:ln w="31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>
              <a:buNone/>
            </a:pPr>
            <a:r>
              <a:rPr lang="en-US" sz="1000" dirty="0">
                <a:solidFill>
                  <a:schemeClr val="tx1"/>
                </a:solidFill>
              </a:rPr>
              <a:t>Operations Perspective</a:t>
            </a:r>
          </a:p>
        </p:txBody>
      </p:sp>
      <p:sp>
        <p:nvSpPr>
          <p:cNvPr id="372" name="Rounded Rectangle 371"/>
          <p:cNvSpPr/>
          <p:nvPr/>
        </p:nvSpPr>
        <p:spPr>
          <a:xfrm>
            <a:off x="298040" y="3504071"/>
            <a:ext cx="919190" cy="56628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000" dirty="0">
                <a:solidFill>
                  <a:schemeClr val="tx1"/>
                </a:solidFill>
              </a:rPr>
              <a:t>Product &amp; Service</a:t>
            </a:r>
          </a:p>
          <a:p>
            <a:pPr>
              <a:buNone/>
            </a:pPr>
            <a:r>
              <a:rPr lang="en-US" sz="1000" dirty="0">
                <a:solidFill>
                  <a:schemeClr val="tx1"/>
                </a:solidFill>
              </a:rPr>
              <a:t>Support</a:t>
            </a:r>
          </a:p>
        </p:txBody>
      </p:sp>
      <p:sp>
        <p:nvSpPr>
          <p:cNvPr id="373" name="Rounded Rectangle 372"/>
          <p:cNvSpPr/>
          <p:nvPr/>
        </p:nvSpPr>
        <p:spPr>
          <a:xfrm>
            <a:off x="1451407" y="4691637"/>
            <a:ext cx="919190" cy="56628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1000" dirty="0">
                <a:solidFill>
                  <a:schemeClr val="tx1"/>
                </a:solidFill>
              </a:rPr>
              <a:t>Product &amp; Service</a:t>
            </a:r>
          </a:p>
          <a:p>
            <a:pPr>
              <a:buNone/>
            </a:pPr>
            <a:r>
              <a:rPr lang="en-US" sz="1000" dirty="0">
                <a:solidFill>
                  <a:schemeClr val="tx1"/>
                </a:solidFill>
              </a:rPr>
              <a:t>Delivery</a:t>
            </a:r>
          </a:p>
        </p:txBody>
      </p:sp>
      <p:cxnSp>
        <p:nvCxnSpPr>
          <p:cNvPr id="382" name="Straight Arrow Connector 381"/>
          <p:cNvCxnSpPr>
            <a:stCxn id="372" idx="0"/>
            <a:endCxn id="306" idx="2"/>
          </p:cNvCxnSpPr>
          <p:nvPr/>
        </p:nvCxnSpPr>
        <p:spPr>
          <a:xfrm flipV="1">
            <a:off x="757635" y="3045652"/>
            <a:ext cx="0" cy="458419"/>
          </a:xfrm>
          <a:prstGeom prst="straightConnector1">
            <a:avLst/>
          </a:prstGeom>
          <a:ln w="38100">
            <a:solidFill>
              <a:schemeClr val="tx1"/>
            </a:solidFill>
            <a:tailEnd type="stealt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6" name="Rectangle 385"/>
          <p:cNvSpPr/>
          <p:nvPr/>
        </p:nvSpPr>
        <p:spPr>
          <a:xfrm>
            <a:off x="2709338" y="4414445"/>
            <a:ext cx="6153295" cy="1120671"/>
          </a:xfrm>
          <a:prstGeom prst="rect">
            <a:avLst/>
          </a:prstGeom>
          <a:solidFill>
            <a:srgbClr val="FFFF99"/>
          </a:solidFill>
          <a:ln w="31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>
              <a:buNone/>
            </a:pPr>
            <a:r>
              <a:rPr lang="en-US" sz="1000" dirty="0">
                <a:solidFill>
                  <a:schemeClr val="tx1"/>
                </a:solidFill>
              </a:rPr>
              <a:t>Execution &amp; Delivery Perspective</a:t>
            </a:r>
          </a:p>
        </p:txBody>
      </p:sp>
      <p:cxnSp>
        <p:nvCxnSpPr>
          <p:cNvPr id="390" name="Elbow Connector 389"/>
          <p:cNvCxnSpPr>
            <a:stCxn id="373" idx="1"/>
            <a:endCxn id="372" idx="2"/>
          </p:cNvCxnSpPr>
          <p:nvPr/>
        </p:nvCxnSpPr>
        <p:spPr>
          <a:xfrm rot="10800000">
            <a:off x="757635" y="4070356"/>
            <a:ext cx="693772" cy="904424"/>
          </a:xfrm>
          <a:prstGeom prst="bentConnector2">
            <a:avLst/>
          </a:prstGeom>
          <a:ln w="38100">
            <a:solidFill>
              <a:schemeClr val="tx1"/>
            </a:solidFill>
            <a:tailEnd type="stealt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7" name="Rounded Rectangle 396"/>
          <p:cNvSpPr/>
          <p:nvPr/>
        </p:nvSpPr>
        <p:spPr>
          <a:xfrm>
            <a:off x="7816637" y="4816257"/>
            <a:ext cx="919190" cy="326328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000" dirty="0">
                <a:solidFill>
                  <a:schemeClr val="tx1"/>
                </a:solidFill>
              </a:rPr>
              <a:t>Solution Architecture</a:t>
            </a:r>
          </a:p>
        </p:txBody>
      </p:sp>
      <p:sp>
        <p:nvSpPr>
          <p:cNvPr id="398" name="Rounded Rectangle 397"/>
          <p:cNvSpPr/>
          <p:nvPr/>
        </p:nvSpPr>
        <p:spPr>
          <a:xfrm>
            <a:off x="5326390" y="4816257"/>
            <a:ext cx="919190" cy="326328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000" dirty="0">
                <a:solidFill>
                  <a:schemeClr val="tx1"/>
                </a:solidFill>
              </a:rPr>
              <a:t>Solution Delivery</a:t>
            </a:r>
          </a:p>
        </p:txBody>
      </p:sp>
      <p:sp>
        <p:nvSpPr>
          <p:cNvPr id="399" name="Rounded Rectangle 398"/>
          <p:cNvSpPr/>
          <p:nvPr/>
        </p:nvSpPr>
        <p:spPr>
          <a:xfrm>
            <a:off x="3090978" y="4816257"/>
            <a:ext cx="1129025" cy="326328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000" dirty="0">
                <a:solidFill>
                  <a:schemeClr val="tx1"/>
                </a:solidFill>
              </a:rPr>
              <a:t>Product &amp; Service Portfolio</a:t>
            </a:r>
          </a:p>
        </p:txBody>
      </p:sp>
      <p:cxnSp>
        <p:nvCxnSpPr>
          <p:cNvPr id="400" name="Straight Arrow Connector 399"/>
          <p:cNvCxnSpPr>
            <a:stCxn id="345" idx="2"/>
            <a:endCxn id="397" idx="0"/>
          </p:cNvCxnSpPr>
          <p:nvPr/>
        </p:nvCxnSpPr>
        <p:spPr>
          <a:xfrm flipH="1">
            <a:off x="8276232" y="4352643"/>
            <a:ext cx="1" cy="463614"/>
          </a:xfrm>
          <a:prstGeom prst="straightConnector1">
            <a:avLst/>
          </a:prstGeom>
          <a:ln w="381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3" name="Straight Arrow Connector 402"/>
          <p:cNvCxnSpPr>
            <a:stCxn id="397" idx="1"/>
            <a:endCxn id="398" idx="3"/>
          </p:cNvCxnSpPr>
          <p:nvPr/>
        </p:nvCxnSpPr>
        <p:spPr>
          <a:xfrm flipH="1">
            <a:off x="6245580" y="4979421"/>
            <a:ext cx="1571057" cy="0"/>
          </a:xfrm>
          <a:prstGeom prst="straightConnector1">
            <a:avLst/>
          </a:prstGeom>
          <a:ln w="38100">
            <a:solidFill>
              <a:schemeClr val="tx1"/>
            </a:solidFill>
            <a:tailEnd type="stealt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6" name="Straight Arrow Connector 405"/>
          <p:cNvCxnSpPr>
            <a:stCxn id="398" idx="1"/>
            <a:endCxn id="399" idx="3"/>
          </p:cNvCxnSpPr>
          <p:nvPr/>
        </p:nvCxnSpPr>
        <p:spPr>
          <a:xfrm flipH="1">
            <a:off x="4220003" y="4979421"/>
            <a:ext cx="1106387" cy="0"/>
          </a:xfrm>
          <a:prstGeom prst="straightConnector1">
            <a:avLst/>
          </a:prstGeom>
          <a:ln w="38100">
            <a:solidFill>
              <a:schemeClr val="tx1"/>
            </a:solidFill>
            <a:tailEnd type="stealt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4" name="Straight Arrow Connector 373"/>
          <p:cNvCxnSpPr>
            <a:stCxn id="399" idx="1"/>
            <a:endCxn id="373" idx="3"/>
          </p:cNvCxnSpPr>
          <p:nvPr/>
        </p:nvCxnSpPr>
        <p:spPr>
          <a:xfrm flipH="1" flipV="1">
            <a:off x="2370597" y="4974780"/>
            <a:ext cx="720381" cy="4641"/>
          </a:xfrm>
          <a:prstGeom prst="straightConnector1">
            <a:avLst/>
          </a:prstGeom>
          <a:ln w="38100">
            <a:solidFill>
              <a:schemeClr val="tx1"/>
            </a:solidFill>
            <a:tailEnd type="stealt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8" name="Pentagon 317"/>
          <p:cNvSpPr/>
          <p:nvPr/>
        </p:nvSpPr>
        <p:spPr>
          <a:xfrm rot="10800000">
            <a:off x="213640" y="5630864"/>
            <a:ext cx="8643849" cy="285467"/>
          </a:xfrm>
          <a:prstGeom prst="homePlate">
            <a:avLst/>
          </a:prstGeom>
          <a:solidFill>
            <a:srgbClr val="7F7F7F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 anchorCtr="1"/>
          <a:lstStyle/>
          <a:p>
            <a:pPr algn="ctr">
              <a:buNone/>
            </a:pPr>
            <a:endParaRPr lang="en-US" sz="1200" dirty="0"/>
          </a:p>
        </p:txBody>
      </p:sp>
      <p:cxnSp>
        <p:nvCxnSpPr>
          <p:cNvPr id="56" name="Straight Arrow Connector 55"/>
          <p:cNvCxnSpPr>
            <a:stCxn id="344" idx="0"/>
            <a:endCxn id="312" idx="2"/>
          </p:cNvCxnSpPr>
          <p:nvPr/>
        </p:nvCxnSpPr>
        <p:spPr>
          <a:xfrm flipH="1" flipV="1">
            <a:off x="5776287" y="2782875"/>
            <a:ext cx="1" cy="760151"/>
          </a:xfrm>
          <a:prstGeom prst="straightConnector1">
            <a:avLst/>
          </a:prstGeom>
          <a:ln w="38100">
            <a:solidFill>
              <a:schemeClr val="tx1"/>
            </a:solidFill>
            <a:tailEnd type="stealt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Elbow Connector 58"/>
          <p:cNvCxnSpPr>
            <a:stCxn id="312" idx="0"/>
            <a:endCxn id="314" idx="1"/>
          </p:cNvCxnSpPr>
          <p:nvPr/>
        </p:nvCxnSpPr>
        <p:spPr>
          <a:xfrm rot="5400000" flipH="1" flipV="1">
            <a:off x="6648071" y="1278909"/>
            <a:ext cx="305855" cy="2049423"/>
          </a:xfrm>
          <a:prstGeom prst="bentConnector2">
            <a:avLst/>
          </a:prstGeom>
          <a:ln w="38100">
            <a:solidFill>
              <a:schemeClr val="tx1"/>
            </a:solidFill>
            <a:tailEnd type="stealt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Elbow Connector 74"/>
          <p:cNvCxnSpPr>
            <a:stCxn id="312" idx="3"/>
            <a:endCxn id="313" idx="1"/>
          </p:cNvCxnSpPr>
          <p:nvPr/>
        </p:nvCxnSpPr>
        <p:spPr>
          <a:xfrm>
            <a:off x="6235882" y="2619711"/>
            <a:ext cx="330783" cy="1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stealt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565666" y="892264"/>
            <a:ext cx="9191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1400" dirty="0">
                <a:solidFill>
                  <a:srgbClr val="FFFFFF"/>
                </a:solidFill>
              </a:rPr>
              <a:t>WHY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884948" y="890775"/>
            <a:ext cx="9191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1400" dirty="0">
                <a:solidFill>
                  <a:srgbClr val="FFFFFF"/>
                </a:solidFill>
              </a:rPr>
              <a:t>WHAT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288842" y="5617136"/>
            <a:ext cx="9191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1400" dirty="0">
                <a:solidFill>
                  <a:srgbClr val="FFFFFF"/>
                </a:solidFill>
              </a:rPr>
              <a:t>HOW</a:t>
            </a:r>
          </a:p>
        </p:txBody>
      </p:sp>
    </p:spTree>
    <p:extLst>
      <p:ext uri="{BB962C8B-B14F-4D97-AF65-F5344CB8AC3E}">
        <p14:creationId xmlns:p14="http://schemas.microsoft.com/office/powerpoint/2010/main" val="17376939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6C2B7CF-DF6E-DD45-92A3-940926CDD6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380" y="529816"/>
            <a:ext cx="6870848" cy="5429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2927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/>
          <p:nvPr/>
        </p:nvSpPr>
        <p:spPr>
          <a:xfrm>
            <a:off x="3516029" y="2968313"/>
            <a:ext cx="1069425" cy="935775"/>
          </a:xfrm>
          <a:prstGeom prst="ellipse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/>
              <a:t>ORG Map</a:t>
            </a:r>
            <a:endParaRPr sz="600"/>
          </a:p>
        </p:txBody>
      </p:sp>
      <p:sp>
        <p:nvSpPr>
          <p:cNvPr id="89" name="Shape 89"/>
          <p:cNvSpPr/>
          <p:nvPr/>
        </p:nvSpPr>
        <p:spPr>
          <a:xfrm>
            <a:off x="2114804" y="2024044"/>
            <a:ext cx="1069425" cy="935775"/>
          </a:xfrm>
          <a:prstGeom prst="ellipse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/>
              <a:t>Initiative Map</a:t>
            </a:r>
            <a:endParaRPr sz="600"/>
          </a:p>
        </p:txBody>
      </p:sp>
      <p:sp>
        <p:nvSpPr>
          <p:cNvPr id="90" name="Shape 90"/>
          <p:cNvSpPr/>
          <p:nvPr/>
        </p:nvSpPr>
        <p:spPr>
          <a:xfrm>
            <a:off x="4630669" y="2239341"/>
            <a:ext cx="1206900" cy="935775"/>
          </a:xfrm>
          <a:prstGeom prst="ellipse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/>
              <a:t>Capability</a:t>
            </a:r>
            <a:endParaRPr sz="600"/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/>
              <a:t>Map</a:t>
            </a:r>
            <a:endParaRPr sz="600"/>
          </a:p>
        </p:txBody>
      </p:sp>
      <p:sp>
        <p:nvSpPr>
          <p:cNvPr id="91" name="Shape 91"/>
          <p:cNvSpPr/>
          <p:nvPr/>
        </p:nvSpPr>
        <p:spPr>
          <a:xfrm>
            <a:off x="4402875" y="857250"/>
            <a:ext cx="1206900" cy="935775"/>
          </a:xfrm>
          <a:prstGeom prst="ellipse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/>
              <a:t>Strategy</a:t>
            </a:r>
            <a:endParaRPr sz="600"/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/>
              <a:t>Map</a:t>
            </a:r>
            <a:endParaRPr sz="600"/>
          </a:p>
        </p:txBody>
      </p:sp>
      <p:sp>
        <p:nvSpPr>
          <p:cNvPr id="92" name="Shape 92"/>
          <p:cNvSpPr/>
          <p:nvPr/>
        </p:nvSpPr>
        <p:spPr>
          <a:xfrm>
            <a:off x="1581637" y="3532050"/>
            <a:ext cx="1602675" cy="935775"/>
          </a:xfrm>
          <a:prstGeom prst="ellipse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/>
              <a:t>Requirements</a:t>
            </a:r>
            <a:endParaRPr sz="600"/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/>
              <a:t> Map</a:t>
            </a:r>
            <a:endParaRPr sz="600"/>
          </a:p>
        </p:txBody>
      </p:sp>
      <p:sp>
        <p:nvSpPr>
          <p:cNvPr id="93" name="Shape 93"/>
          <p:cNvSpPr/>
          <p:nvPr/>
        </p:nvSpPr>
        <p:spPr>
          <a:xfrm>
            <a:off x="967350" y="4641975"/>
            <a:ext cx="1069425" cy="935775"/>
          </a:xfrm>
          <a:prstGeom prst="ellipse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/>
              <a:t>Scenario Map</a:t>
            </a:r>
            <a:endParaRPr sz="600"/>
          </a:p>
        </p:txBody>
      </p:sp>
      <p:sp>
        <p:nvSpPr>
          <p:cNvPr id="94" name="Shape 94"/>
          <p:cNvSpPr/>
          <p:nvPr/>
        </p:nvSpPr>
        <p:spPr>
          <a:xfrm>
            <a:off x="2678344" y="4671956"/>
            <a:ext cx="1069425" cy="935775"/>
          </a:xfrm>
          <a:prstGeom prst="ellipse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/>
              <a:t>Story</a:t>
            </a:r>
            <a:endParaRPr sz="600"/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/>
              <a:t>(Agile) Map</a:t>
            </a:r>
            <a:endParaRPr sz="600"/>
          </a:p>
        </p:txBody>
      </p:sp>
      <p:cxnSp>
        <p:nvCxnSpPr>
          <p:cNvPr id="95" name="Shape 95"/>
          <p:cNvCxnSpPr>
            <a:stCxn id="94" idx="2"/>
            <a:endCxn id="93" idx="6"/>
          </p:cNvCxnSpPr>
          <p:nvPr/>
        </p:nvCxnSpPr>
        <p:spPr>
          <a:xfrm rot="10800000">
            <a:off x="2036869" y="5109919"/>
            <a:ext cx="641475" cy="29925"/>
          </a:xfrm>
          <a:prstGeom prst="curvedConnector3">
            <a:avLst>
              <a:gd name="adj1" fmla="val 5000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6" name="Shape 96"/>
          <p:cNvCxnSpPr>
            <a:stCxn id="97" idx="2"/>
            <a:endCxn id="92" idx="6"/>
          </p:cNvCxnSpPr>
          <p:nvPr/>
        </p:nvCxnSpPr>
        <p:spPr>
          <a:xfrm rot="10800000">
            <a:off x="3184237" y="3999863"/>
            <a:ext cx="2129175" cy="72000"/>
          </a:xfrm>
          <a:prstGeom prst="curvedConnector3">
            <a:avLst>
              <a:gd name="adj1" fmla="val 49998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7" name="Shape 97"/>
          <p:cNvSpPr/>
          <p:nvPr/>
        </p:nvSpPr>
        <p:spPr>
          <a:xfrm>
            <a:off x="5313412" y="3603975"/>
            <a:ext cx="1602675" cy="935775"/>
          </a:xfrm>
          <a:prstGeom prst="ellipse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/>
              <a:t>Stakeholder</a:t>
            </a:r>
            <a:endParaRPr sz="600"/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/>
              <a:t> Map</a:t>
            </a:r>
            <a:endParaRPr sz="600"/>
          </a:p>
        </p:txBody>
      </p:sp>
      <p:sp>
        <p:nvSpPr>
          <p:cNvPr id="98" name="Shape 98"/>
          <p:cNvSpPr/>
          <p:nvPr/>
        </p:nvSpPr>
        <p:spPr>
          <a:xfrm>
            <a:off x="710054" y="1440600"/>
            <a:ext cx="1069425" cy="935775"/>
          </a:xfrm>
          <a:prstGeom prst="ellipse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/>
              <a:t>Lifecycle Map</a:t>
            </a:r>
            <a:endParaRPr sz="600"/>
          </a:p>
        </p:txBody>
      </p:sp>
      <p:cxnSp>
        <p:nvCxnSpPr>
          <p:cNvPr id="99" name="Shape 99"/>
          <p:cNvCxnSpPr>
            <a:stCxn id="98" idx="6"/>
            <a:endCxn id="89" idx="1"/>
          </p:cNvCxnSpPr>
          <p:nvPr/>
        </p:nvCxnSpPr>
        <p:spPr>
          <a:xfrm>
            <a:off x="1779479" y="1908488"/>
            <a:ext cx="491850" cy="252675"/>
          </a:xfrm>
          <a:prstGeom prst="curved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0" name="Shape 100"/>
          <p:cNvCxnSpPr>
            <a:stCxn id="91" idx="2"/>
            <a:endCxn id="89" idx="0"/>
          </p:cNvCxnSpPr>
          <p:nvPr/>
        </p:nvCxnSpPr>
        <p:spPr>
          <a:xfrm flipH="1">
            <a:off x="2649450" y="1325138"/>
            <a:ext cx="1753425" cy="698850"/>
          </a:xfrm>
          <a:prstGeom prst="curved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1" name="Shape 101"/>
          <p:cNvCxnSpPr>
            <a:stCxn id="90" idx="0"/>
            <a:endCxn id="91" idx="4"/>
          </p:cNvCxnSpPr>
          <p:nvPr/>
        </p:nvCxnSpPr>
        <p:spPr>
          <a:xfrm rot="5400000" flipH="1">
            <a:off x="4897069" y="1902291"/>
            <a:ext cx="446400" cy="227700"/>
          </a:xfrm>
          <a:prstGeom prst="curvedConnector3">
            <a:avLst>
              <a:gd name="adj1" fmla="val 49991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2" name="Shape 102"/>
          <p:cNvCxnSpPr>
            <a:stCxn id="89" idx="6"/>
            <a:endCxn id="90" idx="2"/>
          </p:cNvCxnSpPr>
          <p:nvPr/>
        </p:nvCxnSpPr>
        <p:spPr>
          <a:xfrm>
            <a:off x="3184229" y="2491931"/>
            <a:ext cx="1446525" cy="215325"/>
          </a:xfrm>
          <a:prstGeom prst="curvedConnector3">
            <a:avLst>
              <a:gd name="adj1" fmla="val 4999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3" name="Shape 103"/>
          <p:cNvCxnSpPr>
            <a:stCxn id="88" idx="1"/>
            <a:endCxn id="89" idx="5"/>
          </p:cNvCxnSpPr>
          <p:nvPr/>
        </p:nvCxnSpPr>
        <p:spPr>
          <a:xfrm rot="5400000" flipH="1">
            <a:off x="3208805" y="2641516"/>
            <a:ext cx="282600" cy="645075"/>
          </a:xfrm>
          <a:prstGeom prst="curvedConnector3">
            <a:avLst>
              <a:gd name="adj1" fmla="val 49996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4" name="Shape 104"/>
          <p:cNvCxnSpPr>
            <a:stCxn id="92" idx="0"/>
            <a:endCxn id="89" idx="4"/>
          </p:cNvCxnSpPr>
          <p:nvPr/>
        </p:nvCxnSpPr>
        <p:spPr>
          <a:xfrm rot="-5400000">
            <a:off x="2230199" y="3112650"/>
            <a:ext cx="572175" cy="266625"/>
          </a:xfrm>
          <a:prstGeom prst="curvedConnector3">
            <a:avLst>
              <a:gd name="adj1" fmla="val 50005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5" name="Shape 105"/>
          <p:cNvCxnSpPr>
            <a:stCxn id="97" idx="5"/>
            <a:endCxn id="93" idx="4"/>
          </p:cNvCxnSpPr>
          <p:nvPr/>
        </p:nvCxnSpPr>
        <p:spPr>
          <a:xfrm rot="5400000">
            <a:off x="3504269" y="2400547"/>
            <a:ext cx="1174950" cy="5179275"/>
          </a:xfrm>
          <a:prstGeom prst="curvedConnector3">
            <a:avLst>
              <a:gd name="adj1" fmla="val 115208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6" name="Shape 106"/>
          <p:cNvCxnSpPr>
            <a:stCxn id="94" idx="0"/>
            <a:endCxn id="92" idx="5"/>
          </p:cNvCxnSpPr>
          <p:nvPr/>
        </p:nvCxnSpPr>
        <p:spPr>
          <a:xfrm rot="5400000" flipH="1">
            <a:off x="2910769" y="4369669"/>
            <a:ext cx="341100" cy="263475"/>
          </a:xfrm>
          <a:prstGeom prst="curvedConnector3">
            <a:avLst>
              <a:gd name="adj1" fmla="val 29922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7" name="Shape 107"/>
          <p:cNvCxnSpPr>
            <a:stCxn id="93" idx="0"/>
            <a:endCxn id="92" idx="3"/>
          </p:cNvCxnSpPr>
          <p:nvPr/>
        </p:nvCxnSpPr>
        <p:spPr>
          <a:xfrm rot="-5400000">
            <a:off x="1503638" y="4329225"/>
            <a:ext cx="311175" cy="314325"/>
          </a:xfrm>
          <a:prstGeom prst="curvedConnector3">
            <a:avLst>
              <a:gd name="adj1" fmla="val 27983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8" name="Shape 108"/>
          <p:cNvCxnSpPr>
            <a:stCxn id="97" idx="4"/>
            <a:endCxn id="94" idx="6"/>
          </p:cNvCxnSpPr>
          <p:nvPr/>
        </p:nvCxnSpPr>
        <p:spPr>
          <a:xfrm rot="5400000">
            <a:off x="4631212" y="3656288"/>
            <a:ext cx="600075" cy="2367000"/>
          </a:xfrm>
          <a:prstGeom prst="curved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9" name="Shape 109"/>
          <p:cNvCxnSpPr>
            <a:stCxn id="97" idx="0"/>
            <a:endCxn id="90" idx="5"/>
          </p:cNvCxnSpPr>
          <p:nvPr/>
        </p:nvCxnSpPr>
        <p:spPr>
          <a:xfrm rot="5400000" flipH="1">
            <a:off x="5604899" y="3094125"/>
            <a:ext cx="565875" cy="453825"/>
          </a:xfrm>
          <a:prstGeom prst="curvedConnector3">
            <a:avLst>
              <a:gd name="adj1" fmla="val 37893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0" name="Shape 110"/>
          <p:cNvSpPr/>
          <p:nvPr/>
        </p:nvSpPr>
        <p:spPr>
          <a:xfrm>
            <a:off x="6916087" y="2354569"/>
            <a:ext cx="1602675" cy="935775"/>
          </a:xfrm>
          <a:prstGeom prst="ellipse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/>
              <a:t>Operations</a:t>
            </a:r>
            <a:endParaRPr sz="600"/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/>
              <a:t> Map</a:t>
            </a:r>
            <a:endParaRPr sz="600"/>
          </a:p>
        </p:txBody>
      </p:sp>
      <p:cxnSp>
        <p:nvCxnSpPr>
          <p:cNvPr id="111" name="Shape 111"/>
          <p:cNvCxnSpPr>
            <a:stCxn id="110" idx="7"/>
            <a:endCxn id="91" idx="7"/>
          </p:cNvCxnSpPr>
          <p:nvPr/>
        </p:nvCxnSpPr>
        <p:spPr>
          <a:xfrm rot="5400000" flipH="1">
            <a:off x="6109881" y="317435"/>
            <a:ext cx="1497375" cy="2850975"/>
          </a:xfrm>
          <a:prstGeom prst="curvedConnector3">
            <a:avLst>
              <a:gd name="adj1" fmla="val 101014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2" name="Shape 112"/>
          <p:cNvSpPr/>
          <p:nvPr/>
        </p:nvSpPr>
        <p:spPr>
          <a:xfrm>
            <a:off x="6024825" y="1277550"/>
            <a:ext cx="1206900" cy="935775"/>
          </a:xfrm>
          <a:prstGeom prst="ellipse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/>
              <a:t>Heat</a:t>
            </a:r>
            <a:endParaRPr sz="600"/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/>
              <a:t>Map</a:t>
            </a:r>
            <a:endParaRPr sz="600"/>
          </a:p>
        </p:txBody>
      </p:sp>
      <p:cxnSp>
        <p:nvCxnSpPr>
          <p:cNvPr id="113" name="Shape 113"/>
          <p:cNvCxnSpPr>
            <a:stCxn id="112" idx="1"/>
            <a:endCxn id="91" idx="6"/>
          </p:cNvCxnSpPr>
          <p:nvPr/>
        </p:nvCxnSpPr>
        <p:spPr>
          <a:xfrm rot="5400000" flipH="1">
            <a:off x="5860922" y="1073941"/>
            <a:ext cx="89550" cy="591750"/>
          </a:xfrm>
          <a:prstGeom prst="curved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4" name="Shape 114"/>
          <p:cNvCxnSpPr>
            <a:stCxn id="110" idx="0"/>
            <a:endCxn id="112" idx="6"/>
          </p:cNvCxnSpPr>
          <p:nvPr/>
        </p:nvCxnSpPr>
        <p:spPr>
          <a:xfrm rot="5400000" flipH="1">
            <a:off x="7169999" y="1807144"/>
            <a:ext cx="609075" cy="485775"/>
          </a:xfrm>
          <a:prstGeom prst="curved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5" name="Shape 115"/>
          <p:cNvCxnSpPr>
            <a:stCxn id="90" idx="7"/>
            <a:endCxn id="112" idx="3"/>
          </p:cNvCxnSpPr>
          <p:nvPr/>
        </p:nvCxnSpPr>
        <p:spPr>
          <a:xfrm rot="-5400000">
            <a:off x="5781085" y="1955969"/>
            <a:ext cx="300150" cy="540675"/>
          </a:xfrm>
          <a:prstGeom prst="curvedConnector3">
            <a:avLst>
              <a:gd name="adj1" fmla="val 49991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6" name="Shape 116"/>
          <p:cNvCxnSpPr>
            <a:stCxn id="90" idx="6"/>
            <a:endCxn id="110" idx="2"/>
          </p:cNvCxnSpPr>
          <p:nvPr/>
        </p:nvCxnSpPr>
        <p:spPr>
          <a:xfrm>
            <a:off x="5837569" y="2707229"/>
            <a:ext cx="1078425" cy="115200"/>
          </a:xfrm>
          <a:prstGeom prst="curvedConnector3">
            <a:avLst>
              <a:gd name="adj1" fmla="val 50004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7" name="Shape 117"/>
          <p:cNvCxnSpPr>
            <a:stCxn id="97" idx="6"/>
            <a:endCxn id="91" idx="7"/>
          </p:cNvCxnSpPr>
          <p:nvPr/>
        </p:nvCxnSpPr>
        <p:spPr>
          <a:xfrm rot="10800000">
            <a:off x="5433112" y="994313"/>
            <a:ext cx="1482975" cy="3077550"/>
          </a:xfrm>
          <a:prstGeom prst="curvedConnector4">
            <a:avLst>
              <a:gd name="adj1" fmla="val -136153"/>
              <a:gd name="adj2" fmla="val 99648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8" name="Shape 118"/>
          <p:cNvSpPr/>
          <p:nvPr/>
        </p:nvSpPr>
        <p:spPr>
          <a:xfrm>
            <a:off x="2114813" y="1200075"/>
            <a:ext cx="1157175" cy="592875"/>
          </a:xfrm>
          <a:prstGeom prst="flowChartAlternateProcess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/>
              <a:t>Value Creation</a:t>
            </a:r>
            <a:endParaRPr sz="600"/>
          </a:p>
        </p:txBody>
      </p:sp>
      <p:sp>
        <p:nvSpPr>
          <p:cNvPr id="119" name="Shape 119"/>
          <p:cNvSpPr/>
          <p:nvPr/>
        </p:nvSpPr>
        <p:spPr>
          <a:xfrm>
            <a:off x="7152844" y="3431588"/>
            <a:ext cx="1157175" cy="592875"/>
          </a:xfrm>
          <a:prstGeom prst="flowChartAlternateProcess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/>
              <a:t>Value Delivery</a:t>
            </a:r>
            <a:endParaRPr sz="600"/>
          </a:p>
        </p:txBody>
      </p:sp>
      <p:sp>
        <p:nvSpPr>
          <p:cNvPr id="120" name="Shape 120"/>
          <p:cNvSpPr/>
          <p:nvPr/>
        </p:nvSpPr>
        <p:spPr>
          <a:xfrm>
            <a:off x="4003519" y="4281825"/>
            <a:ext cx="1157175" cy="592875"/>
          </a:xfrm>
          <a:prstGeom prst="flowChartAlternateProcess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/>
              <a:t>Value Measurement</a:t>
            </a:r>
            <a:endParaRPr sz="600"/>
          </a:p>
        </p:txBody>
      </p:sp>
      <p:cxnSp>
        <p:nvCxnSpPr>
          <p:cNvPr id="121" name="Shape 121"/>
          <p:cNvCxnSpPr>
            <a:stCxn id="97" idx="1"/>
            <a:endCxn id="88" idx="6"/>
          </p:cNvCxnSpPr>
          <p:nvPr/>
        </p:nvCxnSpPr>
        <p:spPr>
          <a:xfrm rot="5400000" flipH="1">
            <a:off x="4914293" y="3107191"/>
            <a:ext cx="304875" cy="962775"/>
          </a:xfrm>
          <a:prstGeom prst="curved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2" name="Shape 122"/>
          <p:cNvSpPr/>
          <p:nvPr/>
        </p:nvSpPr>
        <p:spPr>
          <a:xfrm>
            <a:off x="7361588" y="988500"/>
            <a:ext cx="1157175" cy="592875"/>
          </a:xfrm>
          <a:prstGeom prst="flowChartAlternateProcess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/>
              <a:t>Value Planning</a:t>
            </a:r>
            <a:endParaRPr sz="600"/>
          </a:p>
        </p:txBody>
      </p:sp>
    </p:spTree>
    <p:extLst>
      <p:ext uri="{BB962C8B-B14F-4D97-AF65-F5344CB8AC3E}">
        <p14:creationId xmlns:p14="http://schemas.microsoft.com/office/powerpoint/2010/main" val="2704066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57">
            <a:extLst>
              <a:ext uri="{FF2B5EF4-FFF2-40B4-BE49-F238E27FC236}">
                <a16:creationId xmlns:a16="http://schemas.microsoft.com/office/drawing/2014/main" id="{6087B776-3C3A-D441-908B-FE55BC86D021}"/>
              </a:ext>
            </a:extLst>
          </p:cNvPr>
          <p:cNvSpPr/>
          <p:nvPr/>
        </p:nvSpPr>
        <p:spPr>
          <a:xfrm>
            <a:off x="3992784" y="1320890"/>
            <a:ext cx="3963160" cy="316356"/>
          </a:xfrm>
          <a:prstGeom prst="flowChartAlternateProcess">
            <a:avLst/>
          </a:prstGeom>
          <a:solidFill>
            <a:schemeClr val="accent2">
              <a:lumMod val="25000"/>
              <a:lumOff val="75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dirty="0"/>
              <a:t>Dashboard</a:t>
            </a:r>
            <a:endParaRPr sz="600" dirty="0"/>
          </a:p>
        </p:txBody>
      </p:sp>
      <p:sp>
        <p:nvSpPr>
          <p:cNvPr id="5" name="Shape 157">
            <a:extLst>
              <a:ext uri="{FF2B5EF4-FFF2-40B4-BE49-F238E27FC236}">
                <a16:creationId xmlns:a16="http://schemas.microsoft.com/office/drawing/2014/main" id="{02F046E3-80ED-BC4F-8DFC-A0D2D1B370F3}"/>
              </a:ext>
            </a:extLst>
          </p:cNvPr>
          <p:cNvSpPr/>
          <p:nvPr/>
        </p:nvSpPr>
        <p:spPr>
          <a:xfrm>
            <a:off x="5395777" y="1715581"/>
            <a:ext cx="1157175" cy="592875"/>
          </a:xfrm>
          <a:prstGeom prst="flowChartAlternateProcess">
            <a:avLst/>
          </a:prstGeom>
          <a:solidFill>
            <a:schemeClr val="accent2">
              <a:lumMod val="25000"/>
              <a:lumOff val="75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dirty="0"/>
              <a:t>Balanced Scorecard</a:t>
            </a:r>
            <a:endParaRPr sz="600" dirty="0"/>
          </a:p>
        </p:txBody>
      </p:sp>
      <p:sp>
        <p:nvSpPr>
          <p:cNvPr id="6" name="Shape 157">
            <a:extLst>
              <a:ext uri="{FF2B5EF4-FFF2-40B4-BE49-F238E27FC236}">
                <a16:creationId xmlns:a16="http://schemas.microsoft.com/office/drawing/2014/main" id="{403538AF-6880-3744-9B54-0FFA46112845}"/>
              </a:ext>
            </a:extLst>
          </p:cNvPr>
          <p:cNvSpPr/>
          <p:nvPr/>
        </p:nvSpPr>
        <p:spPr>
          <a:xfrm>
            <a:off x="3992784" y="1715581"/>
            <a:ext cx="1157175" cy="592875"/>
          </a:xfrm>
          <a:prstGeom prst="flowChartAlternateProcess">
            <a:avLst/>
          </a:prstGeom>
          <a:gradFill flip="none" rotWithShape="1">
            <a:gsLst>
              <a:gs pos="0">
                <a:srgbClr val="00B050">
                  <a:tint val="66000"/>
                  <a:satMod val="160000"/>
                </a:srgbClr>
              </a:gs>
              <a:gs pos="50000">
                <a:srgbClr val="00B050">
                  <a:tint val="44500"/>
                  <a:satMod val="160000"/>
                </a:srgbClr>
              </a:gs>
              <a:gs pos="100000">
                <a:srgbClr val="00B050">
                  <a:tint val="23500"/>
                  <a:satMod val="160000"/>
                </a:srgbClr>
              </a:gs>
            </a:gsLst>
            <a:lin ang="2700000" scaled="1"/>
            <a:tileRect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dirty="0"/>
              <a:t>Portfolio Scorecards</a:t>
            </a:r>
            <a:endParaRPr sz="600" dirty="0"/>
          </a:p>
        </p:txBody>
      </p:sp>
      <p:sp>
        <p:nvSpPr>
          <p:cNvPr id="7" name="Shape 157">
            <a:extLst>
              <a:ext uri="{FF2B5EF4-FFF2-40B4-BE49-F238E27FC236}">
                <a16:creationId xmlns:a16="http://schemas.microsoft.com/office/drawing/2014/main" id="{872C0A87-CA21-0F40-BF3C-23161FCA3A8F}"/>
              </a:ext>
            </a:extLst>
          </p:cNvPr>
          <p:cNvSpPr/>
          <p:nvPr/>
        </p:nvSpPr>
        <p:spPr>
          <a:xfrm>
            <a:off x="6798769" y="4623418"/>
            <a:ext cx="1157175" cy="592875"/>
          </a:xfrm>
          <a:prstGeom prst="flowChartAlternateProcess">
            <a:avLst/>
          </a:prstGeom>
          <a:solidFill>
            <a:schemeClr val="accent2">
              <a:lumMod val="25000"/>
              <a:lumOff val="75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dirty="0"/>
              <a:t>Operation (Systems)</a:t>
            </a:r>
            <a:endParaRPr sz="600" dirty="0"/>
          </a:p>
        </p:txBody>
      </p:sp>
      <p:sp>
        <p:nvSpPr>
          <p:cNvPr id="8" name="Shape 157">
            <a:extLst>
              <a:ext uri="{FF2B5EF4-FFF2-40B4-BE49-F238E27FC236}">
                <a16:creationId xmlns:a16="http://schemas.microsoft.com/office/drawing/2014/main" id="{34E689A3-8D95-FF47-9B19-F079607A6B2B}"/>
              </a:ext>
            </a:extLst>
          </p:cNvPr>
          <p:cNvSpPr/>
          <p:nvPr/>
        </p:nvSpPr>
        <p:spPr>
          <a:xfrm>
            <a:off x="5395777" y="4623418"/>
            <a:ext cx="1157175" cy="592875"/>
          </a:xfrm>
          <a:prstGeom prst="flowChartAlternateProcess">
            <a:avLst/>
          </a:prstGeom>
          <a:solidFill>
            <a:schemeClr val="accent2">
              <a:lumMod val="25000"/>
              <a:lumOff val="75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dirty="0"/>
              <a:t>Execution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dirty="0"/>
              <a:t>(Systems)</a:t>
            </a:r>
            <a:endParaRPr sz="600" dirty="0"/>
          </a:p>
        </p:txBody>
      </p:sp>
      <p:sp>
        <p:nvSpPr>
          <p:cNvPr id="9" name="Shape 157">
            <a:extLst>
              <a:ext uri="{FF2B5EF4-FFF2-40B4-BE49-F238E27FC236}">
                <a16:creationId xmlns:a16="http://schemas.microsoft.com/office/drawing/2014/main" id="{57BEE164-FF5A-104C-B11B-3C27DB0C10D4}"/>
              </a:ext>
            </a:extLst>
          </p:cNvPr>
          <p:cNvSpPr/>
          <p:nvPr/>
        </p:nvSpPr>
        <p:spPr>
          <a:xfrm>
            <a:off x="3992784" y="4623418"/>
            <a:ext cx="1157175" cy="592875"/>
          </a:xfrm>
          <a:prstGeom prst="flowChartAlternateProcess">
            <a:avLst/>
          </a:prstGeom>
          <a:solidFill>
            <a:schemeClr val="accent2">
              <a:lumMod val="25000"/>
              <a:lumOff val="75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dirty="0"/>
              <a:t>Strategy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dirty="0"/>
              <a:t>(Artifacts)</a:t>
            </a:r>
            <a:endParaRPr sz="600" dirty="0"/>
          </a:p>
        </p:txBody>
      </p:sp>
      <p:sp>
        <p:nvSpPr>
          <p:cNvPr id="10" name="Shape 157">
            <a:extLst>
              <a:ext uri="{FF2B5EF4-FFF2-40B4-BE49-F238E27FC236}">
                <a16:creationId xmlns:a16="http://schemas.microsoft.com/office/drawing/2014/main" id="{86A2F732-0699-BD4F-9301-47122B8F9785}"/>
              </a:ext>
            </a:extLst>
          </p:cNvPr>
          <p:cNvSpPr/>
          <p:nvPr/>
        </p:nvSpPr>
        <p:spPr>
          <a:xfrm>
            <a:off x="5395777" y="3690877"/>
            <a:ext cx="1157175" cy="592875"/>
          </a:xfrm>
          <a:prstGeom prst="flowChartAlternateProcess">
            <a:avLst/>
          </a:prstGeom>
          <a:gradFill flip="none" rotWithShape="1">
            <a:gsLst>
              <a:gs pos="0">
                <a:srgbClr val="00B050">
                  <a:tint val="66000"/>
                  <a:satMod val="160000"/>
                </a:srgbClr>
              </a:gs>
              <a:gs pos="50000">
                <a:srgbClr val="00B050">
                  <a:tint val="44500"/>
                  <a:satMod val="160000"/>
                </a:srgbClr>
              </a:gs>
              <a:gs pos="100000">
                <a:srgbClr val="00B050">
                  <a:tint val="23500"/>
                  <a:satMod val="160000"/>
                </a:srgbClr>
              </a:gs>
            </a:gsLst>
            <a:lin ang="2700000" scaled="1"/>
            <a:tileRect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dirty="0"/>
              <a:t>Biz Arch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dirty="0"/>
              <a:t>(Repository)</a:t>
            </a:r>
            <a:endParaRPr sz="600" dirty="0"/>
          </a:p>
        </p:txBody>
      </p:sp>
      <p:sp>
        <p:nvSpPr>
          <p:cNvPr id="11" name="Shape 157">
            <a:extLst>
              <a:ext uri="{FF2B5EF4-FFF2-40B4-BE49-F238E27FC236}">
                <a16:creationId xmlns:a16="http://schemas.microsoft.com/office/drawing/2014/main" id="{87EC8006-6077-8148-A04A-6E9C86C6065C}"/>
              </a:ext>
            </a:extLst>
          </p:cNvPr>
          <p:cNvSpPr/>
          <p:nvPr/>
        </p:nvSpPr>
        <p:spPr>
          <a:xfrm>
            <a:off x="3419342" y="3240935"/>
            <a:ext cx="5206284" cy="335952"/>
          </a:xfrm>
          <a:prstGeom prst="flowChartAlternateProcess">
            <a:avLst/>
          </a:prstGeom>
          <a:solidFill>
            <a:schemeClr val="accent2">
              <a:lumMod val="25000"/>
              <a:lumOff val="75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dirty="0"/>
              <a:t>Data Integration Layer (ODBs, RDBs, APIs, Services, RDF, LPG, Content) </a:t>
            </a:r>
            <a:endParaRPr sz="600" dirty="0"/>
          </a:p>
        </p:txBody>
      </p:sp>
      <p:sp>
        <p:nvSpPr>
          <p:cNvPr id="12" name="Shape 157">
            <a:extLst>
              <a:ext uri="{FF2B5EF4-FFF2-40B4-BE49-F238E27FC236}">
                <a16:creationId xmlns:a16="http://schemas.microsoft.com/office/drawing/2014/main" id="{5AEA981C-21E7-C143-8579-CAAE552D0EA1}"/>
              </a:ext>
            </a:extLst>
          </p:cNvPr>
          <p:cNvSpPr/>
          <p:nvPr/>
        </p:nvSpPr>
        <p:spPr>
          <a:xfrm>
            <a:off x="6798769" y="2437002"/>
            <a:ext cx="1157175" cy="454120"/>
          </a:xfrm>
          <a:prstGeom prst="flowChartAlternateProcess">
            <a:avLst/>
          </a:prstGeom>
          <a:gradFill flip="none" rotWithShape="1">
            <a:gsLst>
              <a:gs pos="0">
                <a:srgbClr val="00B050">
                  <a:tint val="66000"/>
                  <a:satMod val="160000"/>
                </a:srgbClr>
              </a:gs>
              <a:gs pos="50000">
                <a:srgbClr val="00B050">
                  <a:tint val="44500"/>
                  <a:satMod val="160000"/>
                </a:srgbClr>
              </a:gs>
              <a:gs pos="100000">
                <a:srgbClr val="00B050">
                  <a:tint val="23500"/>
                  <a:satMod val="160000"/>
                </a:srgbClr>
              </a:gs>
            </a:gsLst>
            <a:lin ang="2700000" scaled="1"/>
            <a:tileRect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dirty="0"/>
              <a:t>Metrics</a:t>
            </a:r>
            <a:endParaRPr sz="600" dirty="0"/>
          </a:p>
        </p:txBody>
      </p:sp>
      <p:sp>
        <p:nvSpPr>
          <p:cNvPr id="13" name="Shape 157">
            <a:extLst>
              <a:ext uri="{FF2B5EF4-FFF2-40B4-BE49-F238E27FC236}">
                <a16:creationId xmlns:a16="http://schemas.microsoft.com/office/drawing/2014/main" id="{2C6FE199-1F67-1540-A38D-62B1BBFB7F2C}"/>
              </a:ext>
            </a:extLst>
          </p:cNvPr>
          <p:cNvSpPr/>
          <p:nvPr/>
        </p:nvSpPr>
        <p:spPr>
          <a:xfrm>
            <a:off x="5403188" y="2437002"/>
            <a:ext cx="1157175" cy="454120"/>
          </a:xfrm>
          <a:prstGeom prst="flowChartAlternateProcess">
            <a:avLst/>
          </a:prstGeom>
          <a:solidFill>
            <a:schemeClr val="accent2">
              <a:lumMod val="25000"/>
              <a:lumOff val="75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dirty="0"/>
              <a:t>Analytics</a:t>
            </a:r>
            <a:endParaRPr sz="600" dirty="0"/>
          </a:p>
        </p:txBody>
      </p:sp>
      <p:sp>
        <p:nvSpPr>
          <p:cNvPr id="14" name="Shape 157">
            <a:extLst>
              <a:ext uri="{FF2B5EF4-FFF2-40B4-BE49-F238E27FC236}">
                <a16:creationId xmlns:a16="http://schemas.microsoft.com/office/drawing/2014/main" id="{0843192A-8DBC-B246-A5C2-2EE4978F71B6}"/>
              </a:ext>
            </a:extLst>
          </p:cNvPr>
          <p:cNvSpPr/>
          <p:nvPr/>
        </p:nvSpPr>
        <p:spPr>
          <a:xfrm>
            <a:off x="3992784" y="2437002"/>
            <a:ext cx="1157175" cy="454120"/>
          </a:xfrm>
          <a:prstGeom prst="flowChartAlternateProcess">
            <a:avLst/>
          </a:prstGeom>
          <a:solidFill>
            <a:schemeClr val="accent2">
              <a:lumMod val="25000"/>
              <a:lumOff val="75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dirty="0"/>
              <a:t>Reports</a:t>
            </a:r>
            <a:endParaRPr sz="600" dirty="0"/>
          </a:p>
        </p:txBody>
      </p:sp>
      <p:sp>
        <p:nvSpPr>
          <p:cNvPr id="15" name="Shape 157">
            <a:extLst>
              <a:ext uri="{FF2B5EF4-FFF2-40B4-BE49-F238E27FC236}">
                <a16:creationId xmlns:a16="http://schemas.microsoft.com/office/drawing/2014/main" id="{848EAB99-09BA-CE41-93E5-0BA7750E61A5}"/>
              </a:ext>
            </a:extLst>
          </p:cNvPr>
          <p:cNvSpPr/>
          <p:nvPr/>
        </p:nvSpPr>
        <p:spPr>
          <a:xfrm>
            <a:off x="6798770" y="1715581"/>
            <a:ext cx="1157175" cy="592875"/>
          </a:xfrm>
          <a:prstGeom prst="flowChartAlternateProcess">
            <a:avLst/>
          </a:prstGeom>
          <a:solidFill>
            <a:schemeClr val="accent2">
              <a:lumMod val="25000"/>
              <a:lumOff val="75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dirty="0"/>
              <a:t>Operational Scorecards</a:t>
            </a:r>
            <a:endParaRPr sz="600" dirty="0"/>
          </a:p>
        </p:txBody>
      </p:sp>
      <p:sp>
        <p:nvSpPr>
          <p:cNvPr id="16" name="Shape 157">
            <a:extLst>
              <a:ext uri="{FF2B5EF4-FFF2-40B4-BE49-F238E27FC236}">
                <a16:creationId xmlns:a16="http://schemas.microsoft.com/office/drawing/2014/main" id="{6AE487FD-BB34-5941-BC48-4BC194421001}"/>
              </a:ext>
            </a:extLst>
          </p:cNvPr>
          <p:cNvSpPr/>
          <p:nvPr/>
        </p:nvSpPr>
        <p:spPr>
          <a:xfrm>
            <a:off x="3419342" y="3005111"/>
            <a:ext cx="5206284" cy="221962"/>
          </a:xfrm>
          <a:prstGeom prst="flowChartAlternateProcess">
            <a:avLst/>
          </a:prstGeom>
          <a:solidFill>
            <a:schemeClr val="accent2">
              <a:lumMod val="25000"/>
              <a:lumOff val="75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lvl="2" algn="ctr"/>
            <a:r>
              <a:rPr lang="en-US" sz="600" dirty="0"/>
              <a:t>Modeling Layer (Biz Objects, Data - Content &amp; Context)</a:t>
            </a:r>
            <a:endParaRPr sz="600" dirty="0"/>
          </a:p>
        </p:txBody>
      </p: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6E0A606B-929D-7348-8C71-BD2E19054E62}"/>
              </a:ext>
            </a:extLst>
          </p:cNvPr>
          <p:cNvCxnSpPr>
            <a:stCxn id="9" idx="0"/>
            <a:endCxn id="10" idx="1"/>
          </p:cNvCxnSpPr>
          <p:nvPr/>
        </p:nvCxnSpPr>
        <p:spPr>
          <a:xfrm rot="5400000" flipH="1" flipV="1">
            <a:off x="4665522" y="3893164"/>
            <a:ext cx="636104" cy="824405"/>
          </a:xfrm>
          <a:prstGeom prst="curvedConnector2">
            <a:avLst/>
          </a:prstGeom>
          <a:ln>
            <a:headEnd w="med" len="med"/>
            <a:tailEnd type="triangle" w="lg" len="med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2" name="Curved Connector 21">
            <a:extLst>
              <a:ext uri="{FF2B5EF4-FFF2-40B4-BE49-F238E27FC236}">
                <a16:creationId xmlns:a16="http://schemas.microsoft.com/office/drawing/2014/main" id="{15089816-B1B7-7B4B-85AA-5759C9DEF41B}"/>
              </a:ext>
            </a:extLst>
          </p:cNvPr>
          <p:cNvCxnSpPr>
            <a:cxnSpLocks/>
            <a:stCxn id="7" idx="0"/>
            <a:endCxn id="10" idx="3"/>
          </p:cNvCxnSpPr>
          <p:nvPr/>
        </p:nvCxnSpPr>
        <p:spPr>
          <a:xfrm rot="16200000" flipV="1">
            <a:off x="6647102" y="3893164"/>
            <a:ext cx="636104" cy="824405"/>
          </a:xfrm>
          <a:prstGeom prst="curvedConnector2">
            <a:avLst/>
          </a:prstGeom>
          <a:ln>
            <a:headEnd w="med" len="med"/>
            <a:tailEnd type="triangle" w="lg" len="med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5" name="Curved Connector 24">
            <a:extLst>
              <a:ext uri="{FF2B5EF4-FFF2-40B4-BE49-F238E27FC236}">
                <a16:creationId xmlns:a16="http://schemas.microsoft.com/office/drawing/2014/main" id="{B1CF3124-8104-F84D-BFA2-38F15DCD1ECD}"/>
              </a:ext>
            </a:extLst>
          </p:cNvPr>
          <p:cNvCxnSpPr>
            <a:cxnSpLocks/>
            <a:stCxn id="8" idx="0"/>
            <a:endCxn id="10" idx="2"/>
          </p:cNvCxnSpPr>
          <p:nvPr/>
        </p:nvCxnSpPr>
        <p:spPr>
          <a:xfrm rot="5400000" flipH="1" flipV="1">
            <a:off x="5804531" y="4453585"/>
            <a:ext cx="339666" cy="9525"/>
          </a:xfrm>
          <a:prstGeom prst="curvedConnector3">
            <a:avLst>
              <a:gd name="adj1" fmla="val 50000"/>
            </a:avLst>
          </a:prstGeom>
          <a:ln>
            <a:headEnd w="med" len="med"/>
            <a:tailEnd type="triangle" w="lg" len="med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BA68F983-2F74-AF4B-A3E3-025B81268BA7}"/>
              </a:ext>
            </a:extLst>
          </p:cNvPr>
          <p:cNvSpPr txBox="1"/>
          <p:nvPr/>
        </p:nvSpPr>
        <p:spPr>
          <a:xfrm>
            <a:off x="299434" y="1320890"/>
            <a:ext cx="2675586" cy="12003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dirty="0"/>
              <a:t>Phase 1 Scope (POV):</a:t>
            </a:r>
          </a:p>
          <a:p>
            <a:endParaRPr lang="en-US" sz="600" dirty="0"/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600" dirty="0"/>
              <a:t>We will focus on one Portfolio Scorecard (Operations &amp; Product Support)</a:t>
            </a:r>
          </a:p>
          <a:p>
            <a:endParaRPr lang="en-US" sz="600" dirty="0"/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600" dirty="0"/>
              <a:t>Metrics will incorporate Biz Arch and traditional portfolio metrics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endParaRPr lang="en-US" sz="600" dirty="0"/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600" dirty="0"/>
              <a:t>Subset of Biz Arch will include (Capability Map, Requirements Map, and Initiative Map)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endParaRPr lang="en-US" sz="600" dirty="0"/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600" dirty="0"/>
              <a:t>Leverage desktop tools to build a scaffold to demonstrate POV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1839B6B-8F51-184D-9CED-3E8FA63BAB02}"/>
              </a:ext>
            </a:extLst>
          </p:cNvPr>
          <p:cNvSpPr txBox="1"/>
          <p:nvPr/>
        </p:nvSpPr>
        <p:spPr>
          <a:xfrm>
            <a:off x="299434" y="4458348"/>
            <a:ext cx="2675586" cy="64633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dirty="0"/>
              <a:t>Key Data Sources include:</a:t>
            </a:r>
          </a:p>
          <a:p>
            <a:endParaRPr lang="en-US" sz="600" dirty="0"/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600" dirty="0"/>
              <a:t>Biz Arch Repository (New)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600" dirty="0"/>
              <a:t>ERP, CRM, FMS, CMDB, EAM, QMS, EHS, HRM, SRM, FM, R&amp;D, PMM, PPM, LMS, EAM, EMM, MES, SFA</a:t>
            </a:r>
          </a:p>
        </p:txBody>
      </p:sp>
    </p:spTree>
    <p:extLst>
      <p:ext uri="{BB962C8B-B14F-4D97-AF65-F5344CB8AC3E}">
        <p14:creationId xmlns:p14="http://schemas.microsoft.com/office/powerpoint/2010/main" val="652424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57">
            <a:extLst>
              <a:ext uri="{FF2B5EF4-FFF2-40B4-BE49-F238E27FC236}">
                <a16:creationId xmlns:a16="http://schemas.microsoft.com/office/drawing/2014/main" id="{6087B776-3C3A-D441-908B-FE55BC86D021}"/>
              </a:ext>
            </a:extLst>
          </p:cNvPr>
          <p:cNvSpPr/>
          <p:nvPr/>
        </p:nvSpPr>
        <p:spPr>
          <a:xfrm>
            <a:off x="3992784" y="1320889"/>
            <a:ext cx="3963160" cy="3680138"/>
          </a:xfrm>
          <a:prstGeom prst="flowChartAlternateProcess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/>
              <a:t>360° Dashboard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dirty="0">
                <a:solidFill>
                  <a:schemeClr val="accent3"/>
                </a:solidFill>
              </a:rPr>
              <a:t>(Future State)</a:t>
            </a:r>
            <a:endParaRPr sz="1350" dirty="0">
              <a:solidFill>
                <a:schemeClr val="accent3"/>
              </a:solidFill>
            </a:endParaRPr>
          </a:p>
        </p:txBody>
      </p:sp>
      <p:sp>
        <p:nvSpPr>
          <p:cNvPr id="14" name="Shape 157">
            <a:extLst>
              <a:ext uri="{FF2B5EF4-FFF2-40B4-BE49-F238E27FC236}">
                <a16:creationId xmlns:a16="http://schemas.microsoft.com/office/drawing/2014/main" id="{0843192A-8DBC-B246-A5C2-2EE4978F71B6}"/>
              </a:ext>
            </a:extLst>
          </p:cNvPr>
          <p:cNvSpPr/>
          <p:nvPr/>
        </p:nvSpPr>
        <p:spPr>
          <a:xfrm>
            <a:off x="4238601" y="2271074"/>
            <a:ext cx="1157175" cy="454120"/>
          </a:xfrm>
          <a:prstGeom prst="round2SameRect">
            <a:avLst/>
          </a:prstGeom>
          <a:solidFill>
            <a:schemeClr val="accent2">
              <a:lumMod val="25000"/>
              <a:lumOff val="75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dirty="0"/>
              <a:t>Impact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dirty="0"/>
              <a:t>Analysis</a:t>
            </a:r>
            <a:endParaRPr sz="6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A68F983-2F74-AF4B-A3E3-025B81268BA7}"/>
              </a:ext>
            </a:extLst>
          </p:cNvPr>
          <p:cNvSpPr txBox="1"/>
          <p:nvPr/>
        </p:nvSpPr>
        <p:spPr>
          <a:xfrm>
            <a:off x="444321" y="1886651"/>
            <a:ext cx="3032975" cy="127214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dirty="0"/>
              <a:t>Dashboard Value Proposition:</a:t>
            </a:r>
          </a:p>
          <a:p>
            <a:endParaRPr lang="en-US" sz="600" dirty="0"/>
          </a:p>
          <a:p>
            <a:pPr marL="214313" indent="-214313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sz="600" dirty="0"/>
              <a:t>Supports Impact Analysis across the business model</a:t>
            </a:r>
          </a:p>
          <a:p>
            <a:pPr marL="214313" indent="-214313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sz="600" dirty="0"/>
              <a:t>Enables scenario planning, which relies upon impact analysis</a:t>
            </a:r>
          </a:p>
          <a:p>
            <a:pPr marL="214313" indent="-214313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sz="600" dirty="0"/>
              <a:t>Improves efficiency for Decisions</a:t>
            </a:r>
          </a:p>
          <a:p>
            <a:pPr marL="214313" indent="-214313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sz="600" dirty="0"/>
              <a:t>Creates an end-2-end understanding for managing change</a:t>
            </a:r>
          </a:p>
          <a:p>
            <a:pPr marL="214313" indent="-214313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sz="600" dirty="0"/>
              <a:t>Leverages Biz Arch and provides insights for leveraging AI, ML, RPA, and building a scalable platform for optimizing and aligning strategy, execution (of change), and operations.</a:t>
            </a:r>
          </a:p>
        </p:txBody>
      </p:sp>
      <p:sp>
        <p:nvSpPr>
          <p:cNvPr id="19" name="Shape 157">
            <a:extLst>
              <a:ext uri="{FF2B5EF4-FFF2-40B4-BE49-F238E27FC236}">
                <a16:creationId xmlns:a16="http://schemas.microsoft.com/office/drawing/2014/main" id="{F0FF6B26-2204-9A4D-823D-8D4A838269E8}"/>
              </a:ext>
            </a:extLst>
          </p:cNvPr>
          <p:cNvSpPr/>
          <p:nvPr/>
        </p:nvSpPr>
        <p:spPr>
          <a:xfrm>
            <a:off x="5395776" y="2271075"/>
            <a:ext cx="1157175" cy="454120"/>
          </a:xfrm>
          <a:prstGeom prst="round2SameRect">
            <a:avLst/>
          </a:prstGeom>
          <a:solidFill>
            <a:schemeClr val="accent2">
              <a:lumMod val="25000"/>
              <a:lumOff val="75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dirty="0"/>
              <a:t>Planning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dirty="0"/>
              <a:t>Analysis</a:t>
            </a:r>
            <a:endParaRPr sz="600" dirty="0"/>
          </a:p>
        </p:txBody>
      </p:sp>
      <p:sp>
        <p:nvSpPr>
          <p:cNvPr id="21" name="Shape 157">
            <a:extLst>
              <a:ext uri="{FF2B5EF4-FFF2-40B4-BE49-F238E27FC236}">
                <a16:creationId xmlns:a16="http://schemas.microsoft.com/office/drawing/2014/main" id="{F4E6B0AF-5FD6-F541-97F4-7416420EC4B3}"/>
              </a:ext>
            </a:extLst>
          </p:cNvPr>
          <p:cNvSpPr/>
          <p:nvPr/>
        </p:nvSpPr>
        <p:spPr>
          <a:xfrm>
            <a:off x="6552951" y="2271074"/>
            <a:ext cx="1157175" cy="454120"/>
          </a:xfrm>
          <a:prstGeom prst="round2SameRect">
            <a:avLst/>
          </a:prstGeom>
          <a:solidFill>
            <a:schemeClr val="accent2">
              <a:lumMod val="25000"/>
              <a:lumOff val="75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dirty="0"/>
              <a:t>Risk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dirty="0"/>
              <a:t>Analysis</a:t>
            </a:r>
            <a:endParaRPr sz="600" dirty="0"/>
          </a:p>
        </p:txBody>
      </p:sp>
      <p:sp>
        <p:nvSpPr>
          <p:cNvPr id="23" name="Shape 157">
            <a:extLst>
              <a:ext uri="{FF2B5EF4-FFF2-40B4-BE49-F238E27FC236}">
                <a16:creationId xmlns:a16="http://schemas.microsoft.com/office/drawing/2014/main" id="{F73376F2-0E36-8D4C-94EE-CA9780BC0D80}"/>
              </a:ext>
            </a:extLst>
          </p:cNvPr>
          <p:cNvSpPr/>
          <p:nvPr/>
        </p:nvSpPr>
        <p:spPr>
          <a:xfrm>
            <a:off x="4238601" y="2725194"/>
            <a:ext cx="1157175" cy="454120"/>
          </a:xfrm>
          <a:prstGeom prst="round2SameRect">
            <a:avLst/>
          </a:prstGeom>
          <a:solidFill>
            <a:schemeClr val="accent2">
              <a:lumMod val="25000"/>
              <a:lumOff val="75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dirty="0"/>
              <a:t>Scenario Planning</a:t>
            </a:r>
            <a:endParaRPr sz="600" dirty="0"/>
          </a:p>
        </p:txBody>
      </p:sp>
      <p:sp>
        <p:nvSpPr>
          <p:cNvPr id="24" name="Shape 157">
            <a:extLst>
              <a:ext uri="{FF2B5EF4-FFF2-40B4-BE49-F238E27FC236}">
                <a16:creationId xmlns:a16="http://schemas.microsoft.com/office/drawing/2014/main" id="{558228B7-98CC-684B-8BF0-1F987F859F69}"/>
              </a:ext>
            </a:extLst>
          </p:cNvPr>
          <p:cNvSpPr/>
          <p:nvPr/>
        </p:nvSpPr>
        <p:spPr>
          <a:xfrm>
            <a:off x="5395776" y="2725194"/>
            <a:ext cx="1157175" cy="454120"/>
          </a:xfrm>
          <a:prstGeom prst="round2Same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spcFirstLastPara="1" wrap="square" lIns="68569" tIns="68569" rIns="68569" bIns="68569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dirty="0"/>
              <a:t>Efficiency</a:t>
            </a:r>
            <a:endParaRPr sz="600" dirty="0"/>
          </a:p>
        </p:txBody>
      </p:sp>
      <p:sp>
        <p:nvSpPr>
          <p:cNvPr id="26" name="Shape 157">
            <a:extLst>
              <a:ext uri="{FF2B5EF4-FFF2-40B4-BE49-F238E27FC236}">
                <a16:creationId xmlns:a16="http://schemas.microsoft.com/office/drawing/2014/main" id="{B797774F-80F0-5A42-8F74-7DB06E7E73DE}"/>
              </a:ext>
            </a:extLst>
          </p:cNvPr>
          <p:cNvSpPr/>
          <p:nvPr/>
        </p:nvSpPr>
        <p:spPr>
          <a:xfrm>
            <a:off x="6552951" y="2725194"/>
            <a:ext cx="1157175" cy="454120"/>
          </a:xfrm>
          <a:prstGeom prst="round2Same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spcFirstLastPara="1" wrap="square" lIns="68569" tIns="68569" rIns="68569" bIns="68569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dirty="0"/>
              <a:t>Value 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dirty="0"/>
              <a:t>Delivery</a:t>
            </a:r>
            <a:endParaRPr sz="600" dirty="0"/>
          </a:p>
        </p:txBody>
      </p:sp>
      <p:sp>
        <p:nvSpPr>
          <p:cNvPr id="27" name="Shape 157">
            <a:extLst>
              <a:ext uri="{FF2B5EF4-FFF2-40B4-BE49-F238E27FC236}">
                <a16:creationId xmlns:a16="http://schemas.microsoft.com/office/drawing/2014/main" id="{86D48B93-E701-2745-AD9D-3BA1A4812BCC}"/>
              </a:ext>
            </a:extLst>
          </p:cNvPr>
          <p:cNvSpPr/>
          <p:nvPr/>
        </p:nvSpPr>
        <p:spPr>
          <a:xfrm>
            <a:off x="4238601" y="3173520"/>
            <a:ext cx="1157175" cy="454120"/>
          </a:xfrm>
          <a:prstGeom prst="round2SameRect">
            <a:avLst/>
          </a:prstGeom>
          <a:solidFill>
            <a:schemeClr val="accent2">
              <a:lumMod val="25000"/>
              <a:lumOff val="75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dirty="0"/>
              <a:t>Value Optimization</a:t>
            </a:r>
            <a:endParaRPr sz="600" dirty="0"/>
          </a:p>
        </p:txBody>
      </p:sp>
      <p:sp>
        <p:nvSpPr>
          <p:cNvPr id="29" name="Shape 157">
            <a:extLst>
              <a:ext uri="{FF2B5EF4-FFF2-40B4-BE49-F238E27FC236}">
                <a16:creationId xmlns:a16="http://schemas.microsoft.com/office/drawing/2014/main" id="{73E619FA-091A-D141-A440-1D512991F9FD}"/>
              </a:ext>
            </a:extLst>
          </p:cNvPr>
          <p:cNvSpPr/>
          <p:nvPr/>
        </p:nvSpPr>
        <p:spPr>
          <a:xfrm>
            <a:off x="5395776" y="3173520"/>
            <a:ext cx="1157175" cy="454120"/>
          </a:xfrm>
          <a:prstGeom prst="round2Same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spcFirstLastPara="1" wrap="square" lIns="68569" tIns="68569" rIns="68569" bIns="68569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dirty="0"/>
              <a:t>Quality</a:t>
            </a:r>
            <a:endParaRPr sz="600" dirty="0"/>
          </a:p>
        </p:txBody>
      </p:sp>
      <p:sp>
        <p:nvSpPr>
          <p:cNvPr id="30" name="Shape 157">
            <a:extLst>
              <a:ext uri="{FF2B5EF4-FFF2-40B4-BE49-F238E27FC236}">
                <a16:creationId xmlns:a16="http://schemas.microsoft.com/office/drawing/2014/main" id="{9B4EC1C1-3DD6-AA40-AAD8-87F42D244E42}"/>
              </a:ext>
            </a:extLst>
          </p:cNvPr>
          <p:cNvSpPr/>
          <p:nvPr/>
        </p:nvSpPr>
        <p:spPr>
          <a:xfrm>
            <a:off x="6552951" y="3173520"/>
            <a:ext cx="1157175" cy="454120"/>
          </a:xfrm>
          <a:prstGeom prst="round2Same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spcFirstLastPara="1" wrap="square" lIns="68569" tIns="68569" rIns="68569" bIns="68569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dirty="0"/>
              <a:t>Agility</a:t>
            </a:r>
            <a:endParaRPr sz="600" dirty="0"/>
          </a:p>
        </p:txBody>
      </p:sp>
      <p:sp>
        <p:nvSpPr>
          <p:cNvPr id="31" name="Shape 157">
            <a:extLst>
              <a:ext uri="{FF2B5EF4-FFF2-40B4-BE49-F238E27FC236}">
                <a16:creationId xmlns:a16="http://schemas.microsoft.com/office/drawing/2014/main" id="{2891D268-E76F-B94D-97DC-ABBE3548D405}"/>
              </a:ext>
            </a:extLst>
          </p:cNvPr>
          <p:cNvSpPr/>
          <p:nvPr/>
        </p:nvSpPr>
        <p:spPr>
          <a:xfrm>
            <a:off x="4238601" y="3633152"/>
            <a:ext cx="1157175" cy="454120"/>
          </a:xfrm>
          <a:prstGeom prst="round2SameRect">
            <a:avLst/>
          </a:prstGeom>
          <a:solidFill>
            <a:schemeClr val="accent2">
              <a:lumMod val="25000"/>
              <a:lumOff val="75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dirty="0"/>
              <a:t>Financial Insights</a:t>
            </a:r>
            <a:endParaRPr sz="600" dirty="0"/>
          </a:p>
        </p:txBody>
      </p:sp>
      <p:sp>
        <p:nvSpPr>
          <p:cNvPr id="32" name="Shape 157">
            <a:extLst>
              <a:ext uri="{FF2B5EF4-FFF2-40B4-BE49-F238E27FC236}">
                <a16:creationId xmlns:a16="http://schemas.microsoft.com/office/drawing/2014/main" id="{D6D2D1E3-EB65-5945-9DB0-7EE2DE2D939B}"/>
              </a:ext>
            </a:extLst>
          </p:cNvPr>
          <p:cNvSpPr/>
          <p:nvPr/>
        </p:nvSpPr>
        <p:spPr>
          <a:xfrm>
            <a:off x="5395776" y="3633153"/>
            <a:ext cx="1157175" cy="454120"/>
          </a:xfrm>
          <a:prstGeom prst="round2SameRect">
            <a:avLst/>
          </a:prstGeom>
          <a:solidFill>
            <a:schemeClr val="accent2">
              <a:lumMod val="25000"/>
              <a:lumOff val="75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dirty="0"/>
              <a:t>Investment Analysis</a:t>
            </a:r>
            <a:endParaRPr sz="600" dirty="0"/>
          </a:p>
        </p:txBody>
      </p:sp>
      <p:sp>
        <p:nvSpPr>
          <p:cNvPr id="33" name="Shape 157">
            <a:extLst>
              <a:ext uri="{FF2B5EF4-FFF2-40B4-BE49-F238E27FC236}">
                <a16:creationId xmlns:a16="http://schemas.microsoft.com/office/drawing/2014/main" id="{D17F3B74-AA0F-2F4F-A1A1-34E91A696CC2}"/>
              </a:ext>
            </a:extLst>
          </p:cNvPr>
          <p:cNvSpPr/>
          <p:nvPr/>
        </p:nvSpPr>
        <p:spPr>
          <a:xfrm>
            <a:off x="6552951" y="3633152"/>
            <a:ext cx="1157175" cy="454120"/>
          </a:xfrm>
          <a:prstGeom prst="round2SameRect">
            <a:avLst/>
          </a:prstGeom>
          <a:solidFill>
            <a:schemeClr val="accent2">
              <a:lumMod val="25000"/>
              <a:lumOff val="75000"/>
            </a:scheme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dirty="0"/>
              <a:t>Driving Innovation</a:t>
            </a:r>
            <a:endParaRPr sz="600" dirty="0"/>
          </a:p>
        </p:txBody>
      </p:sp>
    </p:spTree>
    <p:extLst>
      <p:ext uri="{BB962C8B-B14F-4D97-AF65-F5344CB8AC3E}">
        <p14:creationId xmlns:p14="http://schemas.microsoft.com/office/powerpoint/2010/main" val="1151484343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NVISIA-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NVISIA-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VISIA-Templ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VISIA-Templ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VISIA-Templ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VISIA-Templ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VISIA-Templ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VISIA-Templ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VISIA-Templ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VISIA-Templ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VISIA-Templ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VISIA-Templ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VISIA-Templ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Diagram Mast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Theme.thmx</Template>
  <TotalTime>128</TotalTime>
  <Words>370</Words>
  <Application>Microsoft Macintosh PowerPoint</Application>
  <PresentationFormat>Letter Paper (8.5x11 in)</PresentationFormat>
  <Paragraphs>118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ＭＳ Ｐゴシック</vt:lpstr>
      <vt:lpstr>Arial</vt:lpstr>
      <vt:lpstr>Calibri</vt:lpstr>
      <vt:lpstr>Times</vt:lpstr>
      <vt:lpstr>Wingdings</vt:lpstr>
      <vt:lpstr>Default Theme</vt:lpstr>
      <vt:lpstr>Diagram Master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The Value Enablement Group, LLC.</Company>
  <LinksUpToDate>false</LinksUpToDate>
  <SharedDoc>false</SharedDoc>
  <HyperlinksChanged>false</HyperlinksChanged>
  <AppVersion>16.0014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Architecture Aligns POV across an organization and between organizations (verticals &amp; horizontals)</dc:title>
  <dc:creator>jeffrey wallk;espellman@magichatconsulting.com;wmmulrich@baymoon.com;Randell.Alex@principal.com</dc:creator>
  <cp:lastModifiedBy>Jeffrey Wallk</cp:lastModifiedBy>
  <cp:revision>22</cp:revision>
  <dcterms:created xsi:type="dcterms:W3CDTF">2014-03-14T21:54:49Z</dcterms:created>
  <dcterms:modified xsi:type="dcterms:W3CDTF">2018-07-01T11:13:58Z</dcterms:modified>
</cp:coreProperties>
</file>
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12"/>
  </p:notesMasterIdLst>
  <p:handoutMasterIdLst>
    <p:handoutMasterId r:id="rId13"/>
  </p:handoutMasterIdLst>
  <p:sldIdLst>
    <p:sldId id="259" r:id="rId2"/>
    <p:sldId id="258" r:id="rId3"/>
    <p:sldId id="298" r:id="rId4"/>
    <p:sldId id="296" r:id="rId5"/>
    <p:sldId id="299" r:id="rId6"/>
    <p:sldId id="300" r:id="rId7"/>
    <p:sldId id="302" r:id="rId8"/>
    <p:sldId id="301" r:id="rId9"/>
    <p:sldId id="297" r:id="rId10"/>
    <p:sldId id="286"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413"/>
    <a:srgbClr val="00C49E"/>
    <a:srgbClr val="252E33"/>
    <a:srgbClr val="3F4E56"/>
    <a:srgbClr val="000000"/>
    <a:srgbClr val="FFFF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9826" autoAdjust="0"/>
  </p:normalViewPr>
  <p:slideViewPr>
    <p:cSldViewPr snapToGrid="0">
      <p:cViewPr varScale="1">
        <p:scale>
          <a:sx n="91" d="100"/>
          <a:sy n="91" d="100"/>
        </p:scale>
        <p:origin x="-648" y="-112"/>
      </p:cViewPr>
      <p:guideLst>
        <p:guide orient="horz" pos="1774"/>
        <p:guide/>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smtClean="0"/>
              <a:t>Business Architecture Guild</a:t>
            </a: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02DA1F-A37C-41D2-82C0-7922EAA70BF9}" type="datetimeFigureOut">
              <a:rPr lang="en-US" smtClean="0"/>
              <a:pPr/>
              <a:t>1/29/15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Copyright 2012 @ Business Architecture Guild</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3447DD-8410-4B48-BF9F-010B3E13D3FA}" type="slidenum">
              <a:rPr lang="en-US" smtClean="0"/>
              <a:pPr/>
              <a:t>‹#›</a:t>
            </a:fld>
            <a:endParaRPr lang="en-US"/>
          </a:p>
        </p:txBody>
      </p:sp>
    </p:spTree>
    <p:extLst>
      <p:ext uri="{BB962C8B-B14F-4D97-AF65-F5344CB8AC3E}">
        <p14:creationId xmlns:p14="http://schemas.microsoft.com/office/powerpoint/2010/main" val="203006644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smtClean="0"/>
              <a:t>Business Architecture Guild</a:t>
            </a: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978605-75FF-4090-82E1-8992D952D785}" type="datetimeFigureOut">
              <a:rPr lang="en-US" smtClean="0"/>
              <a:pPr/>
              <a:t>1/29/15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Copyright 2012 @ Business Architecture Guild</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7F5204-EB12-4271-A49D-308523C9B92E}" type="slidenum">
              <a:rPr lang="en-US" smtClean="0"/>
              <a:pPr/>
              <a:t>‹#›</a:t>
            </a:fld>
            <a:endParaRPr lang="en-US"/>
          </a:p>
        </p:txBody>
      </p:sp>
    </p:spTree>
    <p:extLst>
      <p:ext uri="{BB962C8B-B14F-4D97-AF65-F5344CB8AC3E}">
        <p14:creationId xmlns:p14="http://schemas.microsoft.com/office/powerpoint/2010/main" val="169309127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9144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1190" y="3523787"/>
            <a:ext cx="9146380"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0" y="3523129"/>
            <a:ext cx="146304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p:cNvSpPr>
            <a:spLocks noGrp="1"/>
          </p:cNvSpPr>
          <p:nvPr>
            <p:ph type="ctrTitle"/>
          </p:nvPr>
        </p:nvSpPr>
        <p:spPr>
          <a:xfrm>
            <a:off x="457200" y="2798081"/>
            <a:ext cx="8229600" cy="615553"/>
          </a:xfrm>
          <a:noFill/>
        </p:spPr>
        <p:txBody>
          <a:bodyPr wrap="none" lIns="91440" tIns="0" rIns="91440" bIns="0" anchor="b">
            <a:spAutoFit/>
          </a:bodyPr>
          <a:lstStyle>
            <a:lvl1pPr algn="ctr">
              <a:defRPr sz="4000" b="1">
                <a:solidFill>
                  <a:schemeClr val="bg1"/>
                </a:solidFill>
              </a:defRPr>
            </a:lvl1pPr>
          </a:lstStyle>
          <a:p>
            <a:r>
              <a:rPr lang="en-US" dirty="0" smtClean="0"/>
              <a:t>Click to edit Master title style</a:t>
            </a:r>
            <a:endParaRPr lang="en-US" dirty="0"/>
          </a:p>
        </p:txBody>
      </p:sp>
      <p:sp>
        <p:nvSpPr>
          <p:cNvPr id="39" name="Text Placeholder 38"/>
          <p:cNvSpPr>
            <a:spLocks noGrp="1"/>
          </p:cNvSpPr>
          <p:nvPr>
            <p:ph type="body" sz="quarter" idx="11" hasCustomPrompt="1"/>
          </p:nvPr>
        </p:nvSpPr>
        <p:spPr>
          <a:xfrm>
            <a:off x="1463040" y="3515231"/>
            <a:ext cx="621792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52" name="Date Placeholder 51"/>
          <p:cNvSpPr>
            <a:spLocks noGrp="1"/>
          </p:cNvSpPr>
          <p:nvPr>
            <p:ph type="dt" sz="half" idx="12"/>
          </p:nvPr>
        </p:nvSpPr>
        <p:spPr/>
        <p:txBody>
          <a:bodyPr/>
          <a:lstStyle/>
          <a:p>
            <a:fld id="{5913EAD0-FE42-479E-BFD1-82A4FA54F9B8}" type="datetime1">
              <a:rPr lang="en-US" smtClean="0"/>
              <a:pPr/>
              <a:t>1/29/15</a:t>
            </a:fld>
            <a:endParaRPr lang="en-US" dirty="0"/>
          </a:p>
        </p:txBody>
      </p:sp>
      <p:sp>
        <p:nvSpPr>
          <p:cNvPr id="53" name="Footer Placeholder 52"/>
          <p:cNvSpPr>
            <a:spLocks noGrp="1"/>
          </p:cNvSpPr>
          <p:nvPr>
            <p:ph type="ftr" sz="quarter" idx="13"/>
          </p:nvPr>
        </p:nvSpPr>
        <p:spPr/>
        <p:txBody>
          <a:bodyPr/>
          <a:lstStyle/>
          <a:p>
            <a:r>
              <a:rPr lang="en-US" smtClean="0"/>
              <a:t>Copyright 2014</a:t>
            </a:r>
            <a:endParaRPr lang="en-US" dirty="0"/>
          </a:p>
        </p:txBody>
      </p:sp>
      <p:sp>
        <p:nvSpPr>
          <p:cNvPr id="56" name="Slide Number Placeholder 55"/>
          <p:cNvSpPr>
            <a:spLocks noGrp="1"/>
          </p:cNvSpPr>
          <p:nvPr>
            <p:ph type="sldNum" sz="quarter" idx="14"/>
          </p:nvPr>
        </p:nvSpPr>
        <p:spPr/>
        <p:txBody>
          <a:bodyPr/>
          <a:lstStyle/>
          <a:p>
            <a:fld id="{8D059518-4F10-4CC2-99CC-9CA73E170347}" type="slidenum">
              <a:rPr lang="en-US" smtClean="0"/>
              <a:pPr/>
              <a:t>‹#›</a:t>
            </a:fld>
            <a:endParaRPr lang="en-US" dirty="0"/>
          </a:p>
        </p:txBody>
      </p:sp>
      <p:sp>
        <p:nvSpPr>
          <p:cNvPr id="59" name="Rectangle 58"/>
          <p:cNvSpPr/>
          <p:nvPr userDrawn="1"/>
        </p:nvSpPr>
        <p:spPr>
          <a:xfrm>
            <a:off x="0" y="0"/>
            <a:ext cx="9144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userDrawn="1"/>
        </p:nvSpPr>
        <p:spPr>
          <a:xfrm>
            <a:off x="4723130" y="534126"/>
            <a:ext cx="420624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4723130" y="170063"/>
            <a:ext cx="420624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912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00628"/>
            <a:ext cx="8229600" cy="3579849"/>
          </a:xfrm>
        </p:spPr>
        <p:txBody>
          <a:bodyPr>
            <a:normAutofit/>
          </a:bodyPr>
          <a:lstStyle>
            <a:lvl1pPr>
              <a:defRPr sz="2000"/>
            </a:lvl1pPr>
            <a:lvl2pPr>
              <a:defRPr sz="2000"/>
            </a:lvl2pPr>
            <a:lvl3pPr>
              <a:defRPr sz="20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1A099F0-A5F1-4ED5-9377-F6752109C662}" type="datetime1">
              <a:rPr lang="en-US" smtClean="0"/>
              <a:pPr/>
              <a:t>1/29/15</a:t>
            </a:fld>
            <a:endParaRPr lang="en-US"/>
          </a:p>
        </p:txBody>
      </p:sp>
      <p:sp>
        <p:nvSpPr>
          <p:cNvPr id="6" name="Slide Number Placeholder 5"/>
          <p:cNvSpPr>
            <a:spLocks noGrp="1"/>
          </p:cNvSpPr>
          <p:nvPr>
            <p:ph type="sldNum" sz="quarter" idx="12"/>
          </p:nvPr>
        </p:nvSpPr>
        <p:spPr/>
        <p:txBody>
          <a:bodyPr/>
          <a:lstStyle/>
          <a:p>
            <a:fld id="{8D059518-4F10-4CC2-99CC-9CA73E170347}" type="slidenum">
              <a:rPr lang="en-US" smtClean="0"/>
              <a:pPr/>
              <a:t>‹#›</a:t>
            </a:fld>
            <a:endParaRPr lang="en-US"/>
          </a:p>
        </p:txBody>
      </p:sp>
      <p:sp>
        <p:nvSpPr>
          <p:cNvPr id="8" name="Footer Placeholder 7"/>
          <p:cNvSpPr>
            <a:spLocks noGrp="1"/>
          </p:cNvSpPr>
          <p:nvPr>
            <p:ph type="ftr" sz="quarter" idx="13"/>
          </p:nvPr>
        </p:nvSpPr>
        <p:spPr/>
        <p:txBody>
          <a:bodyPr/>
          <a:lstStyle/>
          <a:p>
            <a:r>
              <a:rPr lang="en-US" smtClean="0"/>
              <a:t>Copyright 2014</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6424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9144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userDrawn="1"/>
        </p:nvSpPr>
        <p:spPr>
          <a:xfrm>
            <a:off x="0" y="6400800"/>
            <a:ext cx="9144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p:cNvSpPr>
            <a:spLocks noGrp="1"/>
          </p:cNvSpPr>
          <p:nvPr>
            <p:ph type="dt" sz="half" idx="10"/>
          </p:nvPr>
        </p:nvSpPr>
        <p:spPr/>
        <p:txBody>
          <a:bodyPr/>
          <a:lstStyle/>
          <a:p>
            <a:fld id="{07D23D1F-8B6B-46FD-90B9-289ACA433332}" type="datetime1">
              <a:rPr lang="en-US" smtClean="0"/>
              <a:pPr/>
              <a:t>1/29/15</a:t>
            </a:fld>
            <a:endParaRPr lang="en-US" dirty="0"/>
          </a:p>
        </p:txBody>
      </p:sp>
      <p:sp>
        <p:nvSpPr>
          <p:cNvPr id="11" name="Footer Placeholder 10"/>
          <p:cNvSpPr>
            <a:spLocks noGrp="1"/>
          </p:cNvSpPr>
          <p:nvPr>
            <p:ph type="ftr" sz="quarter" idx="11"/>
          </p:nvPr>
        </p:nvSpPr>
        <p:spPr/>
        <p:txBody>
          <a:bodyPr/>
          <a:lstStyle/>
          <a:p>
            <a:r>
              <a:rPr lang="en-US" smtClean="0"/>
              <a:t>Copyright 2014</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
        <p:nvSpPr>
          <p:cNvPr id="35" name="Text Placeholder 38"/>
          <p:cNvSpPr>
            <a:spLocks noGrp="1"/>
          </p:cNvSpPr>
          <p:nvPr>
            <p:ph type="body" sz="quarter" idx="13" hasCustomPrompt="1"/>
          </p:nvPr>
        </p:nvSpPr>
        <p:spPr>
          <a:xfrm>
            <a:off x="1463040" y="3515226"/>
            <a:ext cx="621792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36" name="Title 35"/>
          <p:cNvSpPr>
            <a:spLocks noGrp="1"/>
          </p:cNvSpPr>
          <p:nvPr>
            <p:ph type="title"/>
          </p:nvPr>
        </p:nvSpPr>
        <p:spPr>
          <a:xfrm>
            <a:off x="520314" y="2798076"/>
            <a:ext cx="8103373"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smtClean="0"/>
              <a:t>Click to edit Master title style</a:t>
            </a:r>
            <a:endParaRPr lang="en-US" dirty="0"/>
          </a:p>
        </p:txBody>
      </p:sp>
      <p:sp>
        <p:nvSpPr>
          <p:cNvPr id="38" name="Rectangle 37"/>
          <p:cNvSpPr/>
          <p:nvPr userDrawn="1"/>
        </p:nvSpPr>
        <p:spPr>
          <a:xfrm>
            <a:off x="0" y="0"/>
            <a:ext cx="9144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userDrawn="1"/>
        </p:nvSpPr>
        <p:spPr>
          <a:xfrm>
            <a:off x="0" y="548102"/>
            <a:ext cx="9144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userDrawn="1"/>
        </p:nvSpPr>
        <p:spPr>
          <a:xfrm>
            <a:off x="4723130" y="534126"/>
            <a:ext cx="420624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4723130" y="170063"/>
            <a:ext cx="420624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290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992FE3BD-E6E5-415F-8D6E-D2B3F7C63698}" type="datetime1">
              <a:rPr lang="en-US" smtClean="0"/>
              <a:pPr/>
              <a:t>1/29/15</a:t>
            </a:fld>
            <a:endParaRPr lang="en-US" dirty="0"/>
          </a:p>
        </p:txBody>
      </p:sp>
      <p:sp>
        <p:nvSpPr>
          <p:cNvPr id="9" name="Footer Placeholder 8"/>
          <p:cNvSpPr>
            <a:spLocks noGrp="1"/>
          </p:cNvSpPr>
          <p:nvPr>
            <p:ph type="ftr" sz="quarter" idx="11"/>
          </p:nvPr>
        </p:nvSpPr>
        <p:spPr/>
        <p:txBody>
          <a:bodyPr/>
          <a:lstStyle/>
          <a:p>
            <a:r>
              <a:rPr lang="en-US" smtClean="0"/>
              <a:t>Copyright 2014</a:t>
            </a:r>
            <a:endParaRPr lang="en-US" dirty="0"/>
          </a:p>
        </p:txBody>
      </p:sp>
      <p:sp>
        <p:nvSpPr>
          <p:cNvPr id="10" name="Slide Number Placeholder 9"/>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257081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0"/>
          </p:nvPr>
        </p:nvSpPr>
        <p:spPr/>
        <p:txBody>
          <a:bodyPr/>
          <a:lstStyle/>
          <a:p>
            <a:fld id="{992FE3BD-E6E5-415F-8D6E-D2B3F7C63698}" type="datetime1">
              <a:rPr lang="en-US" smtClean="0"/>
              <a:pPr/>
              <a:t>1/29/15</a:t>
            </a:fld>
            <a:endParaRPr lang="en-US" dirty="0"/>
          </a:p>
        </p:txBody>
      </p:sp>
      <p:sp>
        <p:nvSpPr>
          <p:cNvPr id="11" name="Footer Placeholder 10"/>
          <p:cNvSpPr>
            <a:spLocks noGrp="1"/>
          </p:cNvSpPr>
          <p:nvPr>
            <p:ph type="ftr" sz="quarter" idx="11"/>
          </p:nvPr>
        </p:nvSpPr>
        <p:spPr/>
        <p:txBody>
          <a:bodyPr/>
          <a:lstStyle/>
          <a:p>
            <a:r>
              <a:rPr lang="en-US" smtClean="0"/>
              <a:t>Copyright 2014</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1848723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2FE3BD-E6E5-415F-8D6E-D2B3F7C63698}" type="datetime1">
              <a:rPr lang="en-US" smtClean="0"/>
              <a:pPr/>
              <a:t>1/29/15</a:t>
            </a:fld>
            <a:endParaRPr lang="en-US" dirty="0"/>
          </a:p>
        </p:txBody>
      </p:sp>
      <p:sp>
        <p:nvSpPr>
          <p:cNvPr id="4" name="Footer Placeholder 3"/>
          <p:cNvSpPr>
            <a:spLocks noGrp="1"/>
          </p:cNvSpPr>
          <p:nvPr>
            <p:ph type="ftr" sz="quarter" idx="11"/>
          </p:nvPr>
        </p:nvSpPr>
        <p:spPr/>
        <p:txBody>
          <a:bodyPr/>
          <a:lstStyle/>
          <a:p>
            <a:r>
              <a:rPr lang="en-US" smtClean="0"/>
              <a:t>Copyright 2014</a:t>
            </a:r>
            <a:endParaRPr lang="en-US" dirty="0"/>
          </a:p>
        </p:txBody>
      </p:sp>
      <p:sp>
        <p:nvSpPr>
          <p:cNvPr id="5" name="Slide Number Placeholder 4"/>
          <p:cNvSpPr>
            <a:spLocks noGrp="1"/>
          </p:cNvSpPr>
          <p:nvPr>
            <p:ph type="sldNum" sz="quarter" idx="12"/>
          </p:nvPr>
        </p:nvSpPr>
        <p:spPr/>
        <p:txBody>
          <a:bodyPr/>
          <a:lstStyle/>
          <a:p>
            <a:fld id="{8D059518-4F10-4CC2-99CC-9CA73E170347}" type="slidenum">
              <a:rPr lang="en-US" smtClean="0"/>
              <a:pPr/>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3752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992FE3BD-E6E5-415F-8D6E-D2B3F7C63698}" type="datetime1">
              <a:rPr lang="en-US" smtClean="0"/>
              <a:pPr/>
              <a:t>1/29/15</a:t>
            </a:fld>
            <a:endParaRPr lang="en-US" dirty="0"/>
          </a:p>
        </p:txBody>
      </p:sp>
      <p:sp>
        <p:nvSpPr>
          <p:cNvPr id="7" name="Footer Placeholder 6"/>
          <p:cNvSpPr>
            <a:spLocks noGrp="1"/>
          </p:cNvSpPr>
          <p:nvPr>
            <p:ph type="ftr" sz="quarter" idx="11"/>
          </p:nvPr>
        </p:nvSpPr>
        <p:spPr/>
        <p:txBody>
          <a:bodyPr/>
          <a:lstStyle/>
          <a:p>
            <a:r>
              <a:rPr lang="en-US" smtClean="0"/>
              <a:t>Copyright 2014</a:t>
            </a:r>
            <a:endParaRPr lang="en-US" dirty="0"/>
          </a:p>
        </p:txBody>
      </p:sp>
      <p:sp>
        <p:nvSpPr>
          <p:cNvPr id="8" name="Slide Number Placeholder 7"/>
          <p:cNvSpPr>
            <a:spLocks noGrp="1"/>
          </p:cNvSpPr>
          <p:nvPr>
            <p:ph type="sldNum" sz="quarter" idx="12"/>
          </p:nvPr>
        </p:nvSpPr>
        <p:spPr/>
        <p:txBody>
          <a:bodyPr/>
          <a:lstStyle/>
          <a:p>
            <a:fld id="{8D059518-4F10-4CC2-99CC-9CA73E170347}" type="slidenum">
              <a:rPr lang="en-US" smtClean="0"/>
              <a:pPr/>
              <a:t>‹#›</a:t>
            </a:fld>
            <a:endParaRPr lang="en-US" dirty="0"/>
          </a:p>
        </p:txBody>
      </p:sp>
      <p:sp>
        <p:nvSpPr>
          <p:cNvPr id="9" name="Rectangle 8"/>
          <p:cNvSpPr/>
          <p:nvPr userDrawn="1"/>
        </p:nvSpPr>
        <p:spPr>
          <a:xfrm>
            <a:off x="203200" y="927100"/>
            <a:ext cx="80772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629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_3">
    <p:spTree>
      <p:nvGrpSpPr>
        <p:cNvPr id="1" name=""/>
        <p:cNvGrpSpPr/>
        <p:nvPr/>
      </p:nvGrpSpPr>
      <p:grpSpPr>
        <a:xfrm>
          <a:off x="0" y="0"/>
          <a:ext cx="0" cy="0"/>
          <a:chOff x="0" y="0"/>
          <a:chExt cx="0" cy="0"/>
        </a:xfrm>
      </p:grpSpPr>
      <p:sp>
        <p:nvSpPr>
          <p:cNvPr id="2" name="TextBox 1"/>
          <p:cNvSpPr txBox="1"/>
          <p:nvPr userDrawn="1"/>
        </p:nvSpPr>
        <p:spPr>
          <a:xfrm>
            <a:off x="6469007" y="-889000"/>
            <a:ext cx="184666" cy="369332"/>
          </a:xfrm>
          <a:prstGeom prst="rect">
            <a:avLst/>
          </a:prstGeom>
          <a:noFill/>
        </p:spPr>
        <p:txBody>
          <a:bodyPr wrap="none" rtlCol="0">
            <a:spAutoFit/>
          </a:bodyPr>
          <a:lstStyle/>
          <a:p>
            <a:endParaRPr lang="en-US" dirty="0"/>
          </a:p>
        </p:txBody>
      </p:sp>
      <p:sp>
        <p:nvSpPr>
          <p:cNvPr id="9" name="Title Placeholder 1"/>
          <p:cNvSpPr>
            <a:spLocks noGrp="1"/>
          </p:cNvSpPr>
          <p:nvPr>
            <p:ph type="title"/>
          </p:nvPr>
        </p:nvSpPr>
        <p:spPr>
          <a:xfrm>
            <a:off x="562708" y="589916"/>
            <a:ext cx="8581291" cy="1167764"/>
          </a:xfrm>
          <a:prstGeom prst="rect">
            <a:avLst/>
          </a:prstGeom>
        </p:spPr>
        <p:txBody>
          <a:bodyPr vert="horz" lIns="91440" tIns="45720" rIns="91440" bIns="45720" rtlCol="0" anchor="t">
            <a:normAutofit/>
          </a:bodyPr>
          <a:lstStyle/>
          <a:p>
            <a:r>
              <a:rPr lang="en-US" dirty="0" smtClean="0"/>
              <a:t>Click to edit Master title style</a:t>
            </a:r>
            <a:endParaRPr lang="en-US" dirty="0"/>
          </a:p>
        </p:txBody>
      </p:sp>
      <p:sp>
        <p:nvSpPr>
          <p:cNvPr id="5" name="Slide Number Placeholder 1"/>
          <p:cNvSpPr txBox="1">
            <a:spLocks/>
          </p:cNvSpPr>
          <p:nvPr userDrawn="1"/>
        </p:nvSpPr>
        <p:spPr>
          <a:xfrm>
            <a:off x="7080562" y="6533067"/>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bg1">
                    <a:lumMod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7A8E4E7-8DE3-4294-AFD4-D073C897794C}" type="slidenum">
              <a:rPr lang="en-US" smtClean="0"/>
              <a:pPr/>
              <a:t>‹#›</a:t>
            </a:fld>
            <a:endParaRPr lang="en-US" dirty="0"/>
          </a:p>
        </p:txBody>
      </p:sp>
    </p:spTree>
    <p:extLst>
      <p:ext uri="{BB962C8B-B14F-4D97-AF65-F5344CB8AC3E}">
        <p14:creationId xmlns:p14="http://schemas.microsoft.com/office/powerpoint/2010/main" val="805953787"/>
      </p:ext>
    </p:extLst>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3.png"/><Relationship Id="rId11"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9144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65759"/>
            <a:ext cx="6858000" cy="54864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14300" y="6440697"/>
            <a:ext cx="681277"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992FE3BD-E6E5-415F-8D6E-D2B3F7C63698}" type="datetime1">
              <a:rPr lang="en-US" smtClean="0"/>
              <a:pPr/>
              <a:t>1/29/15</a:t>
            </a:fld>
            <a:endParaRPr lang="en-US" dirty="0"/>
          </a:p>
        </p:txBody>
      </p:sp>
      <p:sp>
        <p:nvSpPr>
          <p:cNvPr id="6" name="Slide Number Placeholder 5"/>
          <p:cNvSpPr>
            <a:spLocks noGrp="1"/>
          </p:cNvSpPr>
          <p:nvPr>
            <p:ph type="sldNum" sz="quarter" idx="4"/>
          </p:nvPr>
        </p:nvSpPr>
        <p:spPr>
          <a:xfrm>
            <a:off x="8794182" y="6440697"/>
            <a:ext cx="187552"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pPr/>
              <a:t>‹#›</a:t>
            </a:fld>
            <a:endParaRPr lang="en-US" dirty="0"/>
          </a:p>
        </p:txBody>
      </p:sp>
      <p:pic>
        <p:nvPicPr>
          <p:cNvPr id="1027" name="Picture 3" descr="C:\Users\rou6\Documents\1_ILLUSTRATION\STA ppt\guild\BAGuild_Logo_LightBG.png"/>
          <p:cNvPicPr>
            <a:picLocks noChangeAspect="1" noChangeArrowheads="1"/>
          </p:cNvPicPr>
          <p:nvPr userDrawn="1"/>
        </p:nvPicPr>
        <p:blipFill rotWithShape="1">
          <a:blip r:embed="rId10" cstate="print">
            <a:extLst>
              <a:ext uri="{28A0092B-C50C-407E-A947-70E740481C1C}">
                <a14:useLocalDpi xmlns:a14="http://schemas.microsoft.com/office/drawing/2010/main" val="0"/>
              </a:ext>
            </a:extLst>
          </a:blip>
          <a:srcRect t="-1" b="-2867"/>
          <a:stretch/>
        </p:blipFill>
        <p:spPr bwMode="auto">
          <a:xfrm>
            <a:off x="2971800" y="5969851"/>
            <a:ext cx="3200400" cy="43094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8275320" y="304053"/>
            <a:ext cx="640080" cy="686872"/>
          </a:xfrm>
          <a:prstGeom prst="rect">
            <a:avLst/>
          </a:prstGeom>
          <a:noFill/>
          <a:extLst>
            <a:ext uri="{909E8E84-426E-40dd-AFC4-6F175D3DCCD1}">
              <a14:hiddenFill xmlns:a14="http://schemas.microsoft.com/office/drawing/2010/main">
                <a:solidFill>
                  <a:srgbClr val="FFFFFF"/>
                </a:solidFill>
              </a14:hiddenFill>
            </a:ext>
          </a:extLst>
        </p:spPr>
      </p:pic>
      <p:sp>
        <p:nvSpPr>
          <p:cNvPr id="16" name="Footer Placeholder 4"/>
          <p:cNvSpPr>
            <a:spLocks noGrp="1"/>
          </p:cNvSpPr>
          <p:nvPr>
            <p:ph type="ftr" sz="quarter" idx="3"/>
          </p:nvPr>
        </p:nvSpPr>
        <p:spPr>
          <a:xfrm>
            <a:off x="2209800" y="6395870"/>
            <a:ext cx="4724400" cy="274320"/>
          </a:xfrm>
          <a:prstGeom prst="rect">
            <a:avLst/>
          </a:prstGeom>
        </p:spPr>
        <p:txBody>
          <a:bodyPr/>
          <a:lstStyle>
            <a:lvl1pPr algn="ctr">
              <a:defRPr sz="1100">
                <a:solidFill>
                  <a:schemeClr val="bg1">
                    <a:lumMod val="85000"/>
                  </a:schemeClr>
                </a:solidFill>
              </a:defRPr>
            </a:lvl1pPr>
          </a:lstStyle>
          <a:p>
            <a:r>
              <a:rPr lang="en-US" smtClean="0"/>
              <a:t>Copyright 2014</a:t>
            </a:r>
            <a:endParaRPr lang="en-US" dirty="0"/>
          </a:p>
        </p:txBody>
      </p:sp>
      <p:sp>
        <p:nvSpPr>
          <p:cNvPr id="12" name="Rectangle 11"/>
          <p:cNvSpPr/>
          <p:nvPr userDrawn="1"/>
        </p:nvSpPr>
        <p:spPr>
          <a:xfrm>
            <a:off x="228600" y="958850"/>
            <a:ext cx="86868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167721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Lst>
  <p:timing>
    <p:tnLst>
      <p:par>
        <p:cTn xmlns:p14="http://schemas.microsoft.com/office/powerpoint/2010/main" id="1" dur="indefinite" restart="never" nodeType="tmRoot"/>
      </p:par>
    </p:tnLst>
  </p:timing>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652517" y="2305638"/>
            <a:ext cx="3855901" cy="1107996"/>
          </a:xfrm>
        </p:spPr>
        <p:txBody>
          <a:bodyPr/>
          <a:lstStyle/>
          <a:p>
            <a:r>
              <a:rPr lang="en-US" cap="small" dirty="0" smtClean="0">
                <a:latin typeface="Souce Sans Pro"/>
                <a:ea typeface="Souce Sans Pro"/>
                <a:cs typeface="Souce Sans Pro"/>
                <a:sym typeface="Souce Sans Pro"/>
              </a:rPr>
              <a:t>BA Team</a:t>
            </a:r>
            <a:r>
              <a:rPr lang="en-US" cap="small" dirty="0">
                <a:latin typeface="Souce Sans Pro"/>
                <a:ea typeface="Souce Sans Pro"/>
                <a:cs typeface="Souce Sans Pro"/>
                <a:sym typeface="Souce Sans Pro"/>
              </a:rPr>
              <a:t/>
            </a:r>
            <a:br>
              <a:rPr lang="en-US" cap="small" dirty="0">
                <a:latin typeface="Souce Sans Pro"/>
                <a:ea typeface="Souce Sans Pro"/>
                <a:cs typeface="Souce Sans Pro"/>
                <a:sym typeface="Souce Sans Pro"/>
              </a:rPr>
            </a:br>
            <a:r>
              <a:rPr lang="en-US" sz="3200" cap="small" dirty="0" smtClean="0">
                <a:latin typeface="Souce Sans Pro"/>
                <a:ea typeface="Souce Sans Pro"/>
                <a:cs typeface="Souce Sans Pro"/>
                <a:sym typeface="Souce Sans Pro"/>
              </a:rPr>
              <a:t>Process Proposal</a:t>
            </a:r>
            <a:endParaRPr lang="en-US" dirty="0"/>
          </a:p>
        </p:txBody>
      </p:sp>
      <p:sp>
        <p:nvSpPr>
          <p:cNvPr id="5" name="Text Placeholder 4"/>
          <p:cNvSpPr>
            <a:spLocks noGrp="1"/>
          </p:cNvSpPr>
          <p:nvPr>
            <p:ph type="body" sz="quarter" idx="11"/>
          </p:nvPr>
        </p:nvSpPr>
        <p:spPr>
          <a:xfrm>
            <a:off x="3670470" y="3515231"/>
            <a:ext cx="1803085" cy="369332"/>
          </a:xfrm>
        </p:spPr>
        <p:txBody>
          <a:bodyPr/>
          <a:lstStyle/>
          <a:p>
            <a:r>
              <a:rPr lang="en-US" dirty="0" smtClean="0"/>
              <a:t>11/28/2014</a:t>
            </a:r>
            <a:endParaRPr lang="en-US" dirty="0"/>
          </a:p>
        </p:txBody>
      </p:sp>
    </p:spTree>
    <p:extLst>
      <p:ext uri="{BB962C8B-B14F-4D97-AF65-F5344CB8AC3E}">
        <p14:creationId xmlns:p14="http://schemas.microsoft.com/office/powerpoint/2010/main" val="1756015511"/>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idx="1"/>
          </p:nvPr>
        </p:nvSpPr>
        <p:spPr>
          <a:xfrm>
            <a:off x="457199" y="1320761"/>
            <a:ext cx="8293541" cy="4260011"/>
          </a:xfrm>
        </p:spPr>
        <p:txBody>
          <a:bodyPr>
            <a:normAutofit fontScale="92500" lnSpcReduction="20000"/>
          </a:bodyPr>
          <a:lstStyle/>
          <a:p>
            <a:pPr>
              <a:buFont typeface="Wingdings" charset="2"/>
              <a:buChar char="q"/>
            </a:pPr>
            <a:r>
              <a:rPr lang="en-US" sz="2400" b="0" dirty="0" smtClean="0">
                <a:solidFill>
                  <a:schemeClr val="tx1">
                    <a:lumMod val="75000"/>
                    <a:lumOff val="25000"/>
                  </a:schemeClr>
                </a:solidFill>
                <a:latin typeface="PT Sans"/>
                <a:cs typeface="PT Sans"/>
              </a:rPr>
              <a:t>A new team will be formed (Business Analysis Team), which will be lead by Janice Lewis and staffed by existing members and some new ones who have assisted her with prior work on the Meta Model Team.  </a:t>
            </a:r>
          </a:p>
          <a:p>
            <a:pPr>
              <a:buFont typeface="Wingdings" charset="2"/>
              <a:buChar char="q"/>
            </a:pPr>
            <a:r>
              <a:rPr lang="en-US" sz="2400" b="0" dirty="0" smtClean="0">
                <a:solidFill>
                  <a:schemeClr val="tx1">
                    <a:lumMod val="75000"/>
                    <a:lumOff val="25000"/>
                  </a:schemeClr>
                </a:solidFill>
                <a:latin typeface="PT Sans"/>
                <a:cs typeface="PT Sans"/>
              </a:rPr>
              <a:t>The new team will be part of the Collaboration Team and will consolidate existing and coordinate future information on scenarios throughout the BIZBOK.  </a:t>
            </a:r>
          </a:p>
          <a:p>
            <a:pPr>
              <a:buFont typeface="Wingdings" charset="2"/>
              <a:buChar char="q"/>
            </a:pPr>
            <a:r>
              <a:rPr lang="en-US" sz="2400" b="0" dirty="0" smtClean="0">
                <a:solidFill>
                  <a:schemeClr val="tx1">
                    <a:lumMod val="75000"/>
                    <a:lumOff val="25000"/>
                  </a:schemeClr>
                </a:solidFill>
                <a:latin typeface="PT Sans"/>
                <a:cs typeface="PT Sans"/>
              </a:rPr>
              <a:t>The BA Team will also continue working closely with the Meta Model Team to ensure the Meta Model supports the scenarios at both the core and future planned extensions.</a:t>
            </a:r>
          </a:p>
          <a:p>
            <a:pPr>
              <a:buFont typeface="Wingdings" charset="2"/>
              <a:buChar char="q"/>
            </a:pPr>
            <a:r>
              <a:rPr lang="en-US" sz="2400" b="0" dirty="0" smtClean="0">
                <a:solidFill>
                  <a:schemeClr val="tx1">
                    <a:lumMod val="75000"/>
                    <a:lumOff val="25000"/>
                  </a:schemeClr>
                </a:solidFill>
                <a:latin typeface="PT Sans"/>
                <a:cs typeface="PT Sans"/>
              </a:rPr>
              <a:t>The following slides provide a proposed process to align with this new function within the BIZBOK release cycle and ensure tight coordination with the other BIZBOK teams and the BA Guild leadership.</a:t>
            </a:r>
          </a:p>
        </p:txBody>
      </p:sp>
      <p:sp>
        <p:nvSpPr>
          <p:cNvPr id="5" name="Date Placeholder 4"/>
          <p:cNvSpPr>
            <a:spLocks noGrp="1"/>
          </p:cNvSpPr>
          <p:nvPr>
            <p:ph type="dt" sz="half" idx="10"/>
          </p:nvPr>
        </p:nvSpPr>
        <p:spPr/>
        <p:txBody>
          <a:bodyPr/>
          <a:lstStyle/>
          <a:p>
            <a:fld id="{12CAECBC-A02B-4AAF-96EF-C1FB7CCADF94}" type="datetime1">
              <a:rPr lang="en-US" smtClean="0"/>
              <a:pPr/>
              <a:t>1/29/15</a:t>
            </a:fld>
            <a:endParaRPr lang="en-US"/>
          </a:p>
        </p:txBody>
      </p:sp>
      <p:sp>
        <p:nvSpPr>
          <p:cNvPr id="4" name="Slide Number Placeholder 3"/>
          <p:cNvSpPr>
            <a:spLocks noGrp="1"/>
          </p:cNvSpPr>
          <p:nvPr>
            <p:ph type="sldNum" sz="quarter" idx="12"/>
          </p:nvPr>
        </p:nvSpPr>
        <p:spPr/>
        <p:txBody>
          <a:bodyPr/>
          <a:lstStyle/>
          <a:p>
            <a:fld id="{8D059518-4F10-4CC2-99CC-9CA73E170347}" type="slidenum">
              <a:rPr lang="en-US" smtClean="0"/>
              <a:pPr/>
              <a:t>2</a:t>
            </a:fld>
            <a:endParaRPr lang="en-US"/>
          </a:p>
        </p:txBody>
      </p:sp>
      <p:sp>
        <p:nvSpPr>
          <p:cNvPr id="17" name="Footer Placeholder 16"/>
          <p:cNvSpPr>
            <a:spLocks noGrp="1"/>
          </p:cNvSpPr>
          <p:nvPr>
            <p:ph type="ftr" sz="quarter" idx="13"/>
          </p:nvPr>
        </p:nvSpPr>
        <p:spPr/>
        <p:txBody>
          <a:bodyPr/>
          <a:lstStyle/>
          <a:p>
            <a:r>
              <a:rPr lang="en-US" smtClean="0"/>
              <a:t>Copyright 2014</a:t>
            </a:r>
            <a:endParaRPr lang="en-US" dirty="0"/>
          </a:p>
        </p:txBody>
      </p:sp>
      <p:sp>
        <p:nvSpPr>
          <p:cNvPr id="12" name="Title 11"/>
          <p:cNvSpPr>
            <a:spLocks noGrp="1"/>
          </p:cNvSpPr>
          <p:nvPr>
            <p:ph type="title"/>
          </p:nvPr>
        </p:nvSpPr>
        <p:spPr/>
        <p:txBody>
          <a:bodyPr/>
          <a:lstStyle/>
          <a:p>
            <a:r>
              <a:rPr lang="en-US" dirty="0" smtClean="0"/>
              <a:t>Overview</a:t>
            </a:r>
            <a:endParaRPr lang="en-US" dirty="0"/>
          </a:p>
        </p:txBody>
      </p:sp>
    </p:spTree>
    <p:extLst>
      <p:ext uri="{BB962C8B-B14F-4D97-AF65-F5344CB8AC3E}">
        <p14:creationId xmlns:p14="http://schemas.microsoft.com/office/powerpoint/2010/main" val="148046827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1963045" y="2056411"/>
            <a:ext cx="1532007" cy="409573"/>
            <a:chOff x="1665882" y="883508"/>
            <a:chExt cx="1845468" cy="738187"/>
          </a:xfrm>
          <a:solidFill>
            <a:srgbClr val="252E33"/>
          </a:solidFill>
        </p:grpSpPr>
        <p:sp>
          <p:nvSpPr>
            <p:cNvPr id="48" name="Chevron 47"/>
            <p:cNvSpPr/>
            <p:nvPr/>
          </p:nvSpPr>
          <p:spPr>
            <a:xfrm>
              <a:off x="1665882"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49" name="Chevron 6"/>
            <p:cNvSpPr/>
            <p:nvPr/>
          </p:nvSpPr>
          <p:spPr>
            <a:xfrm>
              <a:off x="2034976" y="883508"/>
              <a:ext cx="1294149"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RESEARCH</a:t>
              </a:r>
              <a:endParaRPr lang="en-US" sz="1500" b="1" kern="1200" dirty="0">
                <a:latin typeface="+mj-lt"/>
              </a:endParaRPr>
            </a:p>
          </p:txBody>
        </p:sp>
      </p:grpSp>
      <p:grpSp>
        <p:nvGrpSpPr>
          <p:cNvPr id="50" name="Group 49"/>
          <p:cNvGrpSpPr/>
          <p:nvPr/>
        </p:nvGrpSpPr>
        <p:grpSpPr>
          <a:xfrm>
            <a:off x="3770764" y="2051359"/>
            <a:ext cx="1532007" cy="409573"/>
            <a:chOff x="3430601" y="882084"/>
            <a:chExt cx="1845468" cy="738187"/>
          </a:xfrm>
          <a:solidFill>
            <a:srgbClr val="252E33"/>
          </a:solidFill>
        </p:grpSpPr>
        <p:sp>
          <p:nvSpPr>
            <p:cNvPr id="51" name="Chevron 50"/>
            <p:cNvSpPr/>
            <p:nvPr/>
          </p:nvSpPr>
          <p:spPr>
            <a:xfrm>
              <a:off x="3430601" y="882084"/>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2" name="Chevron 8"/>
            <p:cNvSpPr/>
            <p:nvPr/>
          </p:nvSpPr>
          <p:spPr>
            <a:xfrm>
              <a:off x="3799695" y="882084"/>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 DESIGN</a:t>
              </a:r>
              <a:endParaRPr lang="en-US" sz="1500" b="1" kern="1200" dirty="0">
                <a:latin typeface="+mj-lt"/>
              </a:endParaRPr>
            </a:p>
          </p:txBody>
        </p:sp>
      </p:grpSp>
      <p:grpSp>
        <p:nvGrpSpPr>
          <p:cNvPr id="53" name="Group 52"/>
          <p:cNvGrpSpPr/>
          <p:nvPr/>
        </p:nvGrpSpPr>
        <p:grpSpPr>
          <a:xfrm>
            <a:off x="5263879" y="2052783"/>
            <a:ext cx="1532007" cy="409573"/>
            <a:chOff x="4987726" y="883508"/>
            <a:chExt cx="1845468" cy="738187"/>
          </a:xfrm>
          <a:solidFill>
            <a:srgbClr val="252E33"/>
          </a:solidFill>
        </p:grpSpPr>
        <p:sp>
          <p:nvSpPr>
            <p:cNvPr id="54" name="Chevron 53"/>
            <p:cNvSpPr/>
            <p:nvPr/>
          </p:nvSpPr>
          <p:spPr>
            <a:xfrm>
              <a:off x="4987726"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5" name="Chevron 10"/>
            <p:cNvSpPr/>
            <p:nvPr/>
          </p:nvSpPr>
          <p:spPr>
            <a:xfrm>
              <a:off x="5356820" y="883508"/>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BUILD</a:t>
              </a:r>
              <a:endParaRPr lang="en-US" sz="1500" b="1" kern="1200" dirty="0">
                <a:latin typeface="+mj-lt"/>
              </a:endParaRPr>
            </a:p>
          </p:txBody>
        </p:sp>
      </p:grpSp>
      <p:grpSp>
        <p:nvGrpSpPr>
          <p:cNvPr id="63" name="Group 62"/>
          <p:cNvGrpSpPr/>
          <p:nvPr/>
        </p:nvGrpSpPr>
        <p:grpSpPr>
          <a:xfrm>
            <a:off x="411670" y="2051422"/>
            <a:ext cx="1532007" cy="409573"/>
            <a:chOff x="30891" y="903919"/>
            <a:chExt cx="1845468" cy="738187"/>
          </a:xfrm>
          <a:solidFill>
            <a:srgbClr val="252E33"/>
          </a:solidFill>
        </p:grpSpPr>
        <p:sp>
          <p:nvSpPr>
            <p:cNvPr id="64" name="Chevron 63"/>
            <p:cNvSpPr/>
            <p:nvPr/>
          </p:nvSpPr>
          <p:spPr>
            <a:xfrm>
              <a:off x="30891" y="903919"/>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65" name="Chevron 4"/>
            <p:cNvSpPr/>
            <p:nvPr/>
          </p:nvSpPr>
          <p:spPr>
            <a:xfrm>
              <a:off x="399985" y="903919"/>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PROPOSE</a:t>
              </a:r>
              <a:endParaRPr lang="en-US" sz="1500" b="1" kern="1200" dirty="0">
                <a:latin typeface="+mj-lt"/>
              </a:endParaRPr>
            </a:p>
          </p:txBody>
        </p:sp>
      </p:grpSp>
      <p:grpSp>
        <p:nvGrpSpPr>
          <p:cNvPr id="30" name="Group 29"/>
          <p:cNvGrpSpPr/>
          <p:nvPr/>
        </p:nvGrpSpPr>
        <p:grpSpPr>
          <a:xfrm>
            <a:off x="7106552" y="2052783"/>
            <a:ext cx="1532007" cy="409573"/>
            <a:chOff x="6648648" y="883508"/>
            <a:chExt cx="1845468" cy="738187"/>
          </a:xfrm>
          <a:solidFill>
            <a:srgbClr val="252E33"/>
          </a:solidFill>
        </p:grpSpPr>
        <p:sp>
          <p:nvSpPr>
            <p:cNvPr id="31" name="Chevron 30"/>
            <p:cNvSpPr/>
            <p:nvPr/>
          </p:nvSpPr>
          <p:spPr>
            <a:xfrm>
              <a:off x="6648648"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32" name="Chevron 12"/>
            <p:cNvSpPr/>
            <p:nvPr/>
          </p:nvSpPr>
          <p:spPr>
            <a:xfrm>
              <a:off x="6903745" y="883508"/>
              <a:ext cx="1365622"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PUBLISH</a:t>
              </a:r>
              <a:endParaRPr lang="en-US" sz="1500" b="1" kern="1200" dirty="0">
                <a:latin typeface="+mj-lt"/>
              </a:endParaRPr>
            </a:p>
          </p:txBody>
        </p:sp>
      </p:grpSp>
      <p:sp>
        <p:nvSpPr>
          <p:cNvPr id="3" name="Title 2"/>
          <p:cNvSpPr>
            <a:spLocks noGrp="1"/>
          </p:cNvSpPr>
          <p:nvPr>
            <p:ph type="title"/>
          </p:nvPr>
        </p:nvSpPr>
        <p:spPr>
          <a:xfrm>
            <a:off x="562708" y="462938"/>
            <a:ext cx="8581291" cy="474808"/>
          </a:xfrm>
        </p:spPr>
        <p:txBody>
          <a:bodyPr>
            <a:normAutofit fontScale="90000"/>
          </a:bodyPr>
          <a:lstStyle/>
          <a:p>
            <a:r>
              <a:rPr lang="en-US" dirty="0" smtClean="0"/>
              <a:t>BIZBOK Publishing cycle</a:t>
            </a:r>
            <a:endParaRPr lang="en-US" dirty="0"/>
          </a:p>
        </p:txBody>
      </p:sp>
      <p:sp>
        <p:nvSpPr>
          <p:cNvPr id="19" name="Rectangle 18"/>
          <p:cNvSpPr/>
          <p:nvPr/>
        </p:nvSpPr>
        <p:spPr>
          <a:xfrm>
            <a:off x="432010" y="2768039"/>
            <a:ext cx="1432329"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r>
              <a:rPr lang="en-US" sz="1500" dirty="0" smtClean="0">
                <a:solidFill>
                  <a:srgbClr val="0F3A4D"/>
                </a:solidFill>
              </a:rPr>
              <a:t>What do we want to accomplish &amp; WHY ?</a:t>
            </a:r>
            <a:endParaRPr lang="en-US" sz="1500" dirty="0">
              <a:solidFill>
                <a:srgbClr val="0F3A4D"/>
              </a:solidFill>
            </a:endParaRPr>
          </a:p>
        </p:txBody>
      </p:sp>
      <p:sp>
        <p:nvSpPr>
          <p:cNvPr id="20" name="Rectangle 19"/>
          <p:cNvSpPr/>
          <p:nvPr/>
        </p:nvSpPr>
        <p:spPr>
          <a:xfrm>
            <a:off x="311781" y="1061704"/>
            <a:ext cx="3265419" cy="2991865"/>
          </a:xfrm>
          <a:prstGeom prst="rect">
            <a:avLst/>
          </a:prstGeom>
          <a:noFill/>
          <a:ln w="9525">
            <a:solidFill>
              <a:srgbClr val="F25413"/>
            </a:solidFill>
            <a:prstDash val="sysDash"/>
          </a:ln>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tIns="45720" anchor="t"/>
          <a:lstStyle/>
          <a:p>
            <a:pPr algn="ctr"/>
            <a:endParaRPr lang="en-US" sz="1000" dirty="0">
              <a:solidFill>
                <a:schemeClr val="bg1">
                  <a:lumMod val="50000"/>
                </a:schemeClr>
              </a:solidFill>
            </a:endParaRPr>
          </a:p>
        </p:txBody>
      </p:sp>
      <p:sp>
        <p:nvSpPr>
          <p:cNvPr id="21" name="Rectangle 20"/>
          <p:cNvSpPr/>
          <p:nvPr/>
        </p:nvSpPr>
        <p:spPr>
          <a:xfrm>
            <a:off x="2027469" y="2768978"/>
            <a:ext cx="1445785"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r>
              <a:rPr lang="en-US" sz="1500" dirty="0" smtClean="0">
                <a:solidFill>
                  <a:srgbClr val="0F3A4D"/>
                </a:solidFill>
              </a:rPr>
              <a:t>Where do we need to look for information ?</a:t>
            </a:r>
            <a:endParaRPr lang="en-US" sz="1500" dirty="0">
              <a:solidFill>
                <a:srgbClr val="0F3A4D"/>
              </a:solidFill>
            </a:endParaRPr>
          </a:p>
        </p:txBody>
      </p:sp>
      <p:sp>
        <p:nvSpPr>
          <p:cNvPr id="22" name="Rectangle 21"/>
          <p:cNvSpPr/>
          <p:nvPr/>
        </p:nvSpPr>
        <p:spPr>
          <a:xfrm>
            <a:off x="3695527" y="2734025"/>
            <a:ext cx="1409024"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r>
              <a:rPr lang="en-US" sz="1500" dirty="0" smtClean="0">
                <a:solidFill>
                  <a:srgbClr val="0F3A4D"/>
                </a:solidFill>
              </a:rPr>
              <a:t>What are the needs for each of the teams ?</a:t>
            </a:r>
            <a:endParaRPr lang="en-US" sz="1500" dirty="0">
              <a:solidFill>
                <a:srgbClr val="0F3A4D"/>
              </a:solidFill>
            </a:endParaRPr>
          </a:p>
        </p:txBody>
      </p:sp>
      <p:sp>
        <p:nvSpPr>
          <p:cNvPr id="23" name="Rectangle 22"/>
          <p:cNvSpPr/>
          <p:nvPr/>
        </p:nvSpPr>
        <p:spPr>
          <a:xfrm>
            <a:off x="5304442" y="2734963"/>
            <a:ext cx="1409024"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r>
              <a:rPr lang="en-US" sz="1500" dirty="0" smtClean="0">
                <a:solidFill>
                  <a:srgbClr val="0F3A4D"/>
                </a:solidFill>
              </a:rPr>
              <a:t>What changes do we need to make to the next version of the BIZBOK ?</a:t>
            </a:r>
            <a:endParaRPr lang="en-US" sz="1500" dirty="0">
              <a:solidFill>
                <a:srgbClr val="0F3A4D"/>
              </a:solidFill>
            </a:endParaRPr>
          </a:p>
        </p:txBody>
      </p:sp>
      <p:sp>
        <p:nvSpPr>
          <p:cNvPr id="24" name="Rectangle 23"/>
          <p:cNvSpPr/>
          <p:nvPr/>
        </p:nvSpPr>
        <p:spPr>
          <a:xfrm>
            <a:off x="7052259" y="2746614"/>
            <a:ext cx="1616916"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r>
              <a:rPr lang="en-US" sz="1500" dirty="0" smtClean="0">
                <a:solidFill>
                  <a:srgbClr val="0F3A4D"/>
                </a:solidFill>
              </a:rPr>
              <a:t>How do we need to present the changes in the next version ?</a:t>
            </a:r>
            <a:endParaRPr lang="en-US" sz="1500" dirty="0">
              <a:solidFill>
                <a:srgbClr val="0F3A4D"/>
              </a:solidFill>
            </a:endParaRPr>
          </a:p>
        </p:txBody>
      </p:sp>
      <p:sp>
        <p:nvSpPr>
          <p:cNvPr id="25" name="Rectangle 24"/>
          <p:cNvSpPr/>
          <p:nvPr/>
        </p:nvSpPr>
        <p:spPr>
          <a:xfrm>
            <a:off x="3668513" y="1062642"/>
            <a:ext cx="3171281" cy="2991865"/>
          </a:xfrm>
          <a:prstGeom prst="rect">
            <a:avLst/>
          </a:prstGeom>
          <a:noFill/>
          <a:ln w="9525">
            <a:solidFill>
              <a:srgbClr val="F25413"/>
            </a:solidFill>
            <a:prstDash val="sysDash"/>
          </a:ln>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tIns="45720" anchor="t"/>
          <a:lstStyle/>
          <a:p>
            <a:pPr algn="ctr"/>
            <a:endParaRPr lang="en-US" sz="1000" dirty="0">
              <a:solidFill>
                <a:schemeClr val="bg1">
                  <a:lumMod val="50000"/>
                </a:schemeClr>
              </a:solidFill>
            </a:endParaRPr>
          </a:p>
        </p:txBody>
      </p:sp>
      <p:sp>
        <p:nvSpPr>
          <p:cNvPr id="26" name="Rectangle 25"/>
          <p:cNvSpPr/>
          <p:nvPr/>
        </p:nvSpPr>
        <p:spPr>
          <a:xfrm>
            <a:off x="6898054" y="1063580"/>
            <a:ext cx="2016739" cy="2991865"/>
          </a:xfrm>
          <a:prstGeom prst="rect">
            <a:avLst/>
          </a:prstGeom>
          <a:noFill/>
          <a:ln w="9525">
            <a:solidFill>
              <a:srgbClr val="F25413"/>
            </a:solidFill>
            <a:prstDash val="sysDash"/>
          </a:ln>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tIns="45720" anchor="t"/>
          <a:lstStyle/>
          <a:p>
            <a:pPr algn="ctr"/>
            <a:endParaRPr lang="en-US" sz="1000" dirty="0">
              <a:solidFill>
                <a:schemeClr val="bg1">
                  <a:lumMod val="50000"/>
                </a:schemeClr>
              </a:solidFill>
            </a:endParaRPr>
          </a:p>
        </p:txBody>
      </p:sp>
      <p:sp>
        <p:nvSpPr>
          <p:cNvPr id="34" name="Chevron 33"/>
          <p:cNvSpPr/>
          <p:nvPr/>
        </p:nvSpPr>
        <p:spPr>
          <a:xfrm>
            <a:off x="342679" y="1213497"/>
            <a:ext cx="3199565" cy="409573"/>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txBody>
          <a:bodyPr/>
          <a:lstStyle/>
          <a:p>
            <a:pPr algn="ctr"/>
            <a:r>
              <a:rPr lang="en-US" dirty="0" smtClean="0"/>
              <a:t>Plan</a:t>
            </a:r>
            <a:endParaRPr lang="en-US" dirty="0"/>
          </a:p>
        </p:txBody>
      </p:sp>
      <p:sp>
        <p:nvSpPr>
          <p:cNvPr id="35" name="Chevron 34"/>
          <p:cNvSpPr/>
          <p:nvPr/>
        </p:nvSpPr>
        <p:spPr>
          <a:xfrm>
            <a:off x="3728678" y="1214435"/>
            <a:ext cx="3064507" cy="409573"/>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txBody>
          <a:bodyPr/>
          <a:lstStyle/>
          <a:p>
            <a:pPr algn="ctr"/>
            <a:r>
              <a:rPr lang="en-US" dirty="0" smtClean="0"/>
              <a:t>Build</a:t>
            </a:r>
            <a:endParaRPr lang="en-US" dirty="0"/>
          </a:p>
        </p:txBody>
      </p:sp>
      <p:sp>
        <p:nvSpPr>
          <p:cNvPr id="36" name="Chevron 35"/>
          <p:cNvSpPr/>
          <p:nvPr/>
        </p:nvSpPr>
        <p:spPr>
          <a:xfrm>
            <a:off x="6979619" y="1215373"/>
            <a:ext cx="1887644" cy="409573"/>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txBody>
          <a:bodyPr/>
          <a:lstStyle/>
          <a:p>
            <a:pPr algn="ctr"/>
            <a:r>
              <a:rPr lang="en-US" dirty="0" smtClean="0"/>
              <a:t>Deliver</a:t>
            </a:r>
            <a:endParaRPr lang="en-US" dirty="0"/>
          </a:p>
        </p:txBody>
      </p:sp>
      <p:cxnSp>
        <p:nvCxnSpPr>
          <p:cNvPr id="5" name="Straight Connector 4"/>
          <p:cNvCxnSpPr/>
          <p:nvPr/>
        </p:nvCxnSpPr>
        <p:spPr>
          <a:xfrm flipV="1">
            <a:off x="302955" y="1794236"/>
            <a:ext cx="8575959" cy="23302"/>
          </a:xfrm>
          <a:prstGeom prst="line">
            <a:avLst/>
          </a:prstGeom>
          <a:ln w="28575" cmpd="sng"/>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327183" y="2657340"/>
            <a:ext cx="8575959" cy="23302"/>
          </a:xfrm>
          <a:prstGeom prst="line">
            <a:avLst/>
          </a:prstGeom>
          <a:ln w="6350" cmpd="sng"/>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1051" y="4147713"/>
            <a:ext cx="8612820" cy="1747633"/>
          </a:xfrm>
          <a:prstGeom prst="rect">
            <a:avLst/>
          </a:prstGeom>
          <a:noFill/>
          <a:ln w="9525">
            <a:solidFill>
              <a:srgbClr val="F25413"/>
            </a:solidFill>
            <a:prstDash val="sysDash"/>
          </a:ln>
          <a:effectLst/>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tIns="45720" anchor="t"/>
          <a:lstStyle/>
          <a:p>
            <a:pPr algn="ctr"/>
            <a:endParaRPr lang="en-US" sz="1000" dirty="0">
              <a:solidFill>
                <a:schemeClr val="bg1">
                  <a:lumMod val="50000"/>
                </a:schemeClr>
              </a:solidFill>
            </a:endParaRPr>
          </a:p>
        </p:txBody>
      </p:sp>
      <p:sp>
        <p:nvSpPr>
          <p:cNvPr id="39" name="Rectangle 38"/>
          <p:cNvSpPr/>
          <p:nvPr/>
        </p:nvSpPr>
        <p:spPr>
          <a:xfrm>
            <a:off x="432933" y="4306894"/>
            <a:ext cx="1409024"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pPr marL="100584" indent="-100584">
              <a:buFont typeface="Arial"/>
              <a:buChar char="•"/>
            </a:pPr>
            <a:r>
              <a:rPr lang="en-US" sz="1200" dirty="0" smtClean="0">
                <a:solidFill>
                  <a:srgbClr val="00C49E"/>
                </a:solidFill>
              </a:rPr>
              <a:t>Remove some scenarios from existing BIZBOK sections</a:t>
            </a:r>
          </a:p>
          <a:p>
            <a:pPr marL="100584" indent="-100584">
              <a:buFont typeface="Arial"/>
              <a:buChar char="•"/>
            </a:pPr>
            <a:r>
              <a:rPr lang="en-US" sz="1200" dirty="0" smtClean="0">
                <a:solidFill>
                  <a:srgbClr val="00C49E"/>
                </a:solidFill>
              </a:rPr>
              <a:t>Identify new scenarios</a:t>
            </a:r>
            <a:endParaRPr lang="en-US" sz="1200" dirty="0">
              <a:solidFill>
                <a:srgbClr val="00C49E"/>
              </a:solidFill>
            </a:endParaRPr>
          </a:p>
        </p:txBody>
      </p:sp>
      <p:sp>
        <p:nvSpPr>
          <p:cNvPr id="40" name="Rectangle 39"/>
          <p:cNvSpPr/>
          <p:nvPr/>
        </p:nvSpPr>
        <p:spPr>
          <a:xfrm>
            <a:off x="2028391" y="4307833"/>
            <a:ext cx="1445785"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pPr marL="100584" indent="-100584">
              <a:buFont typeface="Arial"/>
              <a:buChar char="•"/>
            </a:pPr>
            <a:r>
              <a:rPr lang="en-US" sz="1200" dirty="0" smtClean="0">
                <a:solidFill>
                  <a:srgbClr val="00C49E"/>
                </a:solidFill>
              </a:rPr>
              <a:t>BIZBOK Sections 2.1 thru 2.5</a:t>
            </a:r>
          </a:p>
          <a:p>
            <a:pPr marL="100584" indent="-100584">
              <a:buFont typeface="Arial"/>
              <a:buChar char="•"/>
            </a:pPr>
            <a:r>
              <a:rPr lang="en-US" sz="1200" dirty="0" smtClean="0">
                <a:solidFill>
                  <a:srgbClr val="00C49E"/>
                </a:solidFill>
              </a:rPr>
              <a:t>BIZBOK Sections 3.5 thru 3.7</a:t>
            </a:r>
          </a:p>
          <a:p>
            <a:pPr marL="100584" indent="-100584">
              <a:buFont typeface="Arial"/>
              <a:buChar char="•"/>
            </a:pPr>
            <a:r>
              <a:rPr lang="en-US" sz="1200" dirty="0" smtClean="0">
                <a:solidFill>
                  <a:srgbClr val="00C49E"/>
                </a:solidFill>
              </a:rPr>
              <a:t>MM Team Use Cases</a:t>
            </a:r>
            <a:endParaRPr lang="en-US" sz="1200" dirty="0">
              <a:solidFill>
                <a:srgbClr val="00C49E"/>
              </a:solidFill>
            </a:endParaRPr>
          </a:p>
        </p:txBody>
      </p:sp>
      <p:sp>
        <p:nvSpPr>
          <p:cNvPr id="41" name="Rectangle 40"/>
          <p:cNvSpPr/>
          <p:nvPr/>
        </p:nvSpPr>
        <p:spPr>
          <a:xfrm>
            <a:off x="3696449" y="4272880"/>
            <a:ext cx="1409024" cy="1540910"/>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pPr marL="100584" indent="-100584">
              <a:buFont typeface="Arial"/>
              <a:buChar char="•"/>
            </a:pPr>
            <a:r>
              <a:rPr lang="en-US" sz="1200" dirty="0" smtClean="0">
                <a:solidFill>
                  <a:srgbClr val="00C49E"/>
                </a:solidFill>
              </a:rPr>
              <a:t>Strategy Team needs to validate initial list of scenarios</a:t>
            </a:r>
          </a:p>
          <a:p>
            <a:pPr marL="100584" indent="-100584">
              <a:buFont typeface="Arial"/>
              <a:buChar char="•"/>
            </a:pPr>
            <a:r>
              <a:rPr lang="en-US" sz="1200" dirty="0" smtClean="0">
                <a:solidFill>
                  <a:srgbClr val="00C49E"/>
                </a:solidFill>
              </a:rPr>
              <a:t>MM Team needs to ensure model supports existing scenarios</a:t>
            </a:r>
            <a:endParaRPr lang="en-US" sz="1200" dirty="0">
              <a:solidFill>
                <a:srgbClr val="00C49E"/>
              </a:solidFill>
            </a:endParaRPr>
          </a:p>
        </p:txBody>
      </p:sp>
      <p:sp>
        <p:nvSpPr>
          <p:cNvPr id="42" name="Rectangle 41"/>
          <p:cNvSpPr/>
          <p:nvPr/>
        </p:nvSpPr>
        <p:spPr>
          <a:xfrm>
            <a:off x="5243453" y="4273818"/>
            <a:ext cx="1470935" cy="14584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pPr marL="100584" indent="-100584">
              <a:buFont typeface="Arial"/>
              <a:buChar char="•"/>
            </a:pPr>
            <a:r>
              <a:rPr lang="en-US" sz="1200" dirty="0" smtClean="0">
                <a:solidFill>
                  <a:srgbClr val="00C49E"/>
                </a:solidFill>
              </a:rPr>
              <a:t>Streamline some of the sections (per Define) – remove scenarios place in Part 4,</a:t>
            </a:r>
          </a:p>
          <a:p>
            <a:pPr marL="100584" indent="-100584">
              <a:buFont typeface="Arial"/>
              <a:buChar char="•"/>
            </a:pPr>
            <a:r>
              <a:rPr lang="en-US" sz="1200" dirty="0" smtClean="0">
                <a:solidFill>
                  <a:srgbClr val="00C49E"/>
                </a:solidFill>
              </a:rPr>
              <a:t>Create back ref in sections to Part 4 </a:t>
            </a:r>
            <a:endParaRPr lang="en-US" sz="1200" dirty="0">
              <a:solidFill>
                <a:srgbClr val="00C49E"/>
              </a:solidFill>
            </a:endParaRPr>
          </a:p>
        </p:txBody>
      </p:sp>
      <p:sp>
        <p:nvSpPr>
          <p:cNvPr id="43" name="Rectangle 42"/>
          <p:cNvSpPr/>
          <p:nvPr/>
        </p:nvSpPr>
        <p:spPr>
          <a:xfrm>
            <a:off x="6959965" y="4285469"/>
            <a:ext cx="1767472" cy="1158316"/>
          </a:xfrm>
          <a:prstGeom prst="rect">
            <a:avLst/>
          </a:prstGeom>
          <a:noFill/>
          <a:ln>
            <a:noFill/>
          </a:ln>
          <a:effectLst/>
        </p:spPr>
        <p:style>
          <a:lnRef idx="1">
            <a:schemeClr val="accent3"/>
          </a:lnRef>
          <a:fillRef idx="2">
            <a:schemeClr val="accent3"/>
          </a:fillRef>
          <a:effectRef idx="1">
            <a:schemeClr val="accent3"/>
          </a:effectRef>
          <a:fontRef idx="minor">
            <a:schemeClr val="dk1"/>
          </a:fontRef>
        </p:style>
        <p:txBody>
          <a:bodyPr rtlCol="0" anchor="t"/>
          <a:lstStyle/>
          <a:p>
            <a:pPr marL="100584" indent="-100584">
              <a:buFont typeface="Arial"/>
              <a:buChar char="•"/>
            </a:pPr>
            <a:r>
              <a:rPr lang="en-US" sz="1200" dirty="0" smtClean="0">
                <a:solidFill>
                  <a:srgbClr val="00C49E"/>
                </a:solidFill>
              </a:rPr>
              <a:t>Review changes with Editorial Board</a:t>
            </a:r>
          </a:p>
          <a:p>
            <a:pPr marL="100584" indent="-100584">
              <a:buFont typeface="Arial"/>
              <a:buChar char="•"/>
            </a:pPr>
            <a:r>
              <a:rPr lang="en-US" sz="1200" dirty="0" smtClean="0">
                <a:solidFill>
                  <a:srgbClr val="00C49E"/>
                </a:solidFill>
              </a:rPr>
              <a:t>Review changes with PMO (timing, feasible)</a:t>
            </a:r>
          </a:p>
          <a:p>
            <a:pPr marL="100584" indent="-100584">
              <a:buFont typeface="Arial"/>
              <a:buChar char="•"/>
            </a:pPr>
            <a:r>
              <a:rPr lang="en-US" sz="1200" dirty="0" smtClean="0">
                <a:solidFill>
                  <a:srgbClr val="00C49E"/>
                </a:solidFill>
              </a:rPr>
              <a:t>Advise Team Leads via Collaboration Team</a:t>
            </a:r>
            <a:endParaRPr lang="en-US" sz="1200" dirty="0">
              <a:solidFill>
                <a:srgbClr val="00C49E"/>
              </a:solidFill>
            </a:endParaRPr>
          </a:p>
        </p:txBody>
      </p:sp>
    </p:spTree>
    <p:custDataLst>
      <p:tags r:id="rId1"/>
    </p:custDataLst>
    <p:extLst>
      <p:ext uri="{BB962C8B-B14F-4D97-AF65-F5344CB8AC3E}">
        <p14:creationId xmlns:p14="http://schemas.microsoft.com/office/powerpoint/2010/main" val="328759468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2032957" y="1240841"/>
            <a:ext cx="1532007" cy="409573"/>
            <a:chOff x="1665882" y="883508"/>
            <a:chExt cx="1845468" cy="738187"/>
          </a:xfrm>
          <a:solidFill>
            <a:srgbClr val="252E33"/>
          </a:solidFill>
        </p:grpSpPr>
        <p:sp>
          <p:nvSpPr>
            <p:cNvPr id="48" name="Chevron 47"/>
            <p:cNvSpPr/>
            <p:nvPr/>
          </p:nvSpPr>
          <p:spPr>
            <a:xfrm>
              <a:off x="1665882"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49" name="Chevron 6"/>
            <p:cNvSpPr/>
            <p:nvPr/>
          </p:nvSpPr>
          <p:spPr>
            <a:xfrm>
              <a:off x="2034976" y="883508"/>
              <a:ext cx="1294149"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RESEARCH</a:t>
              </a:r>
              <a:endParaRPr lang="en-US" sz="1500" b="1" kern="1200" dirty="0">
                <a:latin typeface="+mj-lt"/>
              </a:endParaRPr>
            </a:p>
          </p:txBody>
        </p:sp>
      </p:grpSp>
      <p:grpSp>
        <p:nvGrpSpPr>
          <p:cNvPr id="50" name="Group 49"/>
          <p:cNvGrpSpPr/>
          <p:nvPr/>
        </p:nvGrpSpPr>
        <p:grpSpPr>
          <a:xfrm>
            <a:off x="3665896" y="1235789"/>
            <a:ext cx="1532007" cy="409573"/>
            <a:chOff x="3430601" y="882084"/>
            <a:chExt cx="1845468" cy="738187"/>
          </a:xfrm>
          <a:solidFill>
            <a:srgbClr val="252E33"/>
          </a:solidFill>
        </p:grpSpPr>
        <p:sp>
          <p:nvSpPr>
            <p:cNvPr id="51" name="Chevron 50"/>
            <p:cNvSpPr/>
            <p:nvPr/>
          </p:nvSpPr>
          <p:spPr>
            <a:xfrm>
              <a:off x="3430601" y="882084"/>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2" name="Chevron 8"/>
            <p:cNvSpPr/>
            <p:nvPr/>
          </p:nvSpPr>
          <p:spPr>
            <a:xfrm>
              <a:off x="3799695" y="882084"/>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 </a:t>
              </a:r>
              <a:r>
                <a:rPr lang="en-US" sz="1500" b="1" dirty="0" smtClean="0">
                  <a:latin typeface="+mj-lt"/>
                </a:rPr>
                <a:t>DESIGN</a:t>
              </a:r>
              <a:endParaRPr lang="en-US" sz="1500" b="1" kern="1200" dirty="0">
                <a:latin typeface="+mj-lt"/>
              </a:endParaRPr>
            </a:p>
          </p:txBody>
        </p:sp>
      </p:grpSp>
      <p:grpSp>
        <p:nvGrpSpPr>
          <p:cNvPr id="53" name="Group 52"/>
          <p:cNvGrpSpPr/>
          <p:nvPr/>
        </p:nvGrpSpPr>
        <p:grpSpPr>
          <a:xfrm>
            <a:off x="5298835" y="1237213"/>
            <a:ext cx="1532007" cy="409573"/>
            <a:chOff x="4987726" y="883508"/>
            <a:chExt cx="1845468" cy="738187"/>
          </a:xfrm>
          <a:solidFill>
            <a:srgbClr val="252E33"/>
          </a:solidFill>
        </p:grpSpPr>
        <p:sp>
          <p:nvSpPr>
            <p:cNvPr id="54" name="Chevron 53"/>
            <p:cNvSpPr/>
            <p:nvPr/>
          </p:nvSpPr>
          <p:spPr>
            <a:xfrm>
              <a:off x="4987726"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5" name="Chevron 10"/>
            <p:cNvSpPr/>
            <p:nvPr/>
          </p:nvSpPr>
          <p:spPr>
            <a:xfrm>
              <a:off x="5356820" y="883508"/>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BUILD</a:t>
              </a:r>
              <a:endParaRPr lang="en-US" sz="1500" b="1" kern="1200" dirty="0">
                <a:latin typeface="+mj-lt"/>
              </a:endParaRPr>
            </a:p>
          </p:txBody>
        </p:sp>
      </p:grpSp>
      <p:grpSp>
        <p:nvGrpSpPr>
          <p:cNvPr id="63" name="Group 62"/>
          <p:cNvGrpSpPr/>
          <p:nvPr/>
        </p:nvGrpSpPr>
        <p:grpSpPr>
          <a:xfrm>
            <a:off x="400018" y="1235852"/>
            <a:ext cx="1532007" cy="409573"/>
            <a:chOff x="30891" y="903919"/>
            <a:chExt cx="1845468" cy="738187"/>
          </a:xfrm>
          <a:solidFill>
            <a:srgbClr val="252E33"/>
          </a:solidFill>
        </p:grpSpPr>
        <p:sp>
          <p:nvSpPr>
            <p:cNvPr id="64" name="Chevron 63"/>
            <p:cNvSpPr/>
            <p:nvPr/>
          </p:nvSpPr>
          <p:spPr>
            <a:xfrm>
              <a:off x="30891" y="903919"/>
              <a:ext cx="1845468" cy="738187"/>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sp>
        <p:sp>
          <p:nvSpPr>
            <p:cNvPr id="65" name="Chevron 4"/>
            <p:cNvSpPr/>
            <p:nvPr/>
          </p:nvSpPr>
          <p:spPr>
            <a:xfrm>
              <a:off x="399985" y="903919"/>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PROPOSE</a:t>
              </a:r>
              <a:endParaRPr lang="en-US" sz="1500" b="1" kern="1200" dirty="0">
                <a:latin typeface="+mj-lt"/>
              </a:endParaRPr>
            </a:p>
          </p:txBody>
        </p:sp>
      </p:grpSp>
      <p:grpSp>
        <p:nvGrpSpPr>
          <p:cNvPr id="30" name="Group 29"/>
          <p:cNvGrpSpPr/>
          <p:nvPr/>
        </p:nvGrpSpPr>
        <p:grpSpPr>
          <a:xfrm>
            <a:off x="6931772" y="1237213"/>
            <a:ext cx="1532007" cy="409573"/>
            <a:chOff x="6648648" y="883508"/>
            <a:chExt cx="1845468" cy="738187"/>
          </a:xfrm>
          <a:solidFill>
            <a:srgbClr val="252E33"/>
          </a:solidFill>
        </p:grpSpPr>
        <p:sp>
          <p:nvSpPr>
            <p:cNvPr id="31" name="Chevron 30"/>
            <p:cNvSpPr/>
            <p:nvPr/>
          </p:nvSpPr>
          <p:spPr>
            <a:xfrm>
              <a:off x="6648648"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32" name="Chevron 12"/>
            <p:cNvSpPr/>
            <p:nvPr/>
          </p:nvSpPr>
          <p:spPr>
            <a:xfrm>
              <a:off x="6903745" y="883508"/>
              <a:ext cx="1365622"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PUBLISH</a:t>
              </a:r>
              <a:endParaRPr lang="en-US" sz="1500" b="1" kern="1200" dirty="0">
                <a:latin typeface="+mj-lt"/>
              </a:endParaRPr>
            </a:p>
          </p:txBody>
        </p:sp>
      </p:grpSp>
      <p:sp>
        <p:nvSpPr>
          <p:cNvPr id="3" name="Title 2"/>
          <p:cNvSpPr>
            <a:spLocks noGrp="1"/>
          </p:cNvSpPr>
          <p:nvPr>
            <p:ph type="title"/>
          </p:nvPr>
        </p:nvSpPr>
        <p:spPr>
          <a:xfrm>
            <a:off x="562708" y="462938"/>
            <a:ext cx="8581291" cy="474808"/>
          </a:xfrm>
        </p:spPr>
        <p:txBody>
          <a:bodyPr>
            <a:normAutofit fontScale="90000"/>
          </a:bodyPr>
          <a:lstStyle/>
          <a:p>
            <a:r>
              <a:rPr lang="en-US" dirty="0" smtClean="0"/>
              <a:t>BIZBOK BA &amp; MM TEAM ALIGNMENT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06862888"/>
              </p:ext>
            </p:extLst>
          </p:nvPr>
        </p:nvGraphicFramePr>
        <p:xfrm>
          <a:off x="393743" y="1886337"/>
          <a:ext cx="8054042" cy="3915804"/>
        </p:xfrm>
        <a:graphic>
          <a:graphicData uri="http://schemas.openxmlformats.org/drawingml/2006/table">
            <a:tbl>
              <a:tblPr firstRow="1" bandRow="1">
                <a:tableStyleId>{5C22544A-7EE6-4342-B048-85BDC9FD1C3A}</a:tableStyleId>
              </a:tblPr>
              <a:tblGrid>
                <a:gridCol w="1039468"/>
                <a:gridCol w="7014574"/>
              </a:tblGrid>
              <a:tr h="978951">
                <a:tc>
                  <a:txBody>
                    <a:bodyPr/>
                    <a:lstStyle/>
                    <a:p>
                      <a:pPr algn="ctr"/>
                      <a:r>
                        <a:rPr lang="en-US" sz="1200" b="1" dirty="0" smtClean="0">
                          <a:solidFill>
                            <a:schemeClr val="tx1">
                              <a:lumMod val="85000"/>
                              <a:lumOff val="15000"/>
                            </a:schemeClr>
                          </a:solidFill>
                        </a:rPr>
                        <a:t>Collaboration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solidFill>
                      <a:schemeClr val="bg1">
                        <a:lumMod val="75000"/>
                      </a:schemeClr>
                    </a:solidFill>
                  </a:tcPr>
                </a:tc>
                <a:tc>
                  <a:txBody>
                    <a:bodyPr/>
                    <a:lstStyle/>
                    <a:p>
                      <a:pPr marL="171450" indent="-171450">
                        <a:buFont typeface="Arial"/>
                        <a:buChar char="•"/>
                      </a:pPr>
                      <a:r>
                        <a:rPr lang="en-US" sz="1200" dirty="0" smtClean="0">
                          <a:solidFill>
                            <a:schemeClr val="accent6">
                              <a:lumMod val="75000"/>
                            </a:schemeClr>
                          </a:solidFill>
                        </a:rPr>
                        <a:t>Introduce </a:t>
                      </a:r>
                      <a:r>
                        <a:rPr lang="en-US" sz="1200" baseline="0" dirty="0" smtClean="0">
                          <a:solidFill>
                            <a:schemeClr val="accent6">
                              <a:lumMod val="75000"/>
                            </a:schemeClr>
                          </a:solidFill>
                        </a:rPr>
                        <a:t>Business Analysis Team in the Collaboration Team, Lead is Janice Lewis</a:t>
                      </a:r>
                    </a:p>
                    <a:p>
                      <a:pPr marL="171450" indent="-171450">
                        <a:buFont typeface="Arial"/>
                        <a:buChar char="•"/>
                      </a:pPr>
                      <a:r>
                        <a:rPr lang="en-US" sz="1200" baseline="0" dirty="0" smtClean="0">
                          <a:solidFill>
                            <a:schemeClr val="accent6">
                              <a:lumMod val="75000"/>
                            </a:schemeClr>
                          </a:solidFill>
                        </a:rPr>
                        <a:t>Socialize new process amongst Team leads (concepts in this deck)</a:t>
                      </a:r>
                    </a:p>
                    <a:p>
                      <a:pPr marL="171450" indent="-171450">
                        <a:buFont typeface="Arial"/>
                        <a:buChar char="•"/>
                      </a:pPr>
                      <a:r>
                        <a:rPr lang="en-US" sz="1200" baseline="0" dirty="0" smtClean="0">
                          <a:solidFill>
                            <a:schemeClr val="accent6">
                              <a:lumMod val="75000"/>
                            </a:schemeClr>
                          </a:solidFill>
                        </a:rPr>
                        <a:t>Discuss timing for this “shared service” team within BIZBOK release management</a:t>
                      </a:r>
                    </a:p>
                    <a:p>
                      <a:pPr marL="171450" indent="-171450">
                        <a:buFont typeface="Arial"/>
                        <a:buChar char="•"/>
                      </a:pPr>
                      <a:r>
                        <a:rPr lang="en-US" sz="1200" baseline="0" dirty="0" smtClean="0">
                          <a:solidFill>
                            <a:schemeClr val="accent6">
                              <a:lumMod val="75000"/>
                            </a:schemeClr>
                          </a:solidFill>
                        </a:rPr>
                        <a:t>Discuss approval process for proposed changes to BIZBOK</a:t>
                      </a:r>
                      <a:endParaRPr lang="en-US" sz="1200" dirty="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95000"/>
                      </a:schemeClr>
                    </a:solidFill>
                  </a:tcPr>
                </a:tc>
              </a:tr>
              <a:tr h="978951">
                <a:tc>
                  <a:txBody>
                    <a:bodyPr/>
                    <a:lstStyle/>
                    <a:p>
                      <a:pPr algn="ctr"/>
                      <a:r>
                        <a:rPr lang="en-US" sz="1200" b="1" dirty="0" smtClean="0">
                          <a:solidFill>
                            <a:schemeClr val="tx1">
                              <a:lumMod val="85000"/>
                              <a:lumOff val="15000"/>
                            </a:schemeClr>
                          </a:solidFill>
                        </a:rPr>
                        <a:t>Business</a:t>
                      </a:r>
                      <a:r>
                        <a:rPr lang="en-US" sz="1200" b="1" baseline="0" dirty="0" smtClean="0">
                          <a:solidFill>
                            <a:schemeClr val="tx1">
                              <a:lumMod val="85000"/>
                              <a:lumOff val="15000"/>
                            </a:schemeClr>
                          </a:solidFill>
                        </a:rPr>
                        <a:t> Analyst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solidFill>
                      <a:schemeClr val="bg1">
                        <a:lumMod val="75000"/>
                      </a:schemeClr>
                    </a:solidFill>
                  </a:tcPr>
                </a:tc>
                <a:tc>
                  <a:txBody>
                    <a:bodyPr/>
                    <a:lstStyle/>
                    <a:p>
                      <a:pPr marL="171450" indent="-171450">
                        <a:buFont typeface="Arial"/>
                        <a:buChar char="•"/>
                      </a:pPr>
                      <a:r>
                        <a:rPr lang="en-US" sz="1200" dirty="0" smtClean="0">
                          <a:solidFill>
                            <a:schemeClr val="accent6">
                              <a:lumMod val="75000"/>
                            </a:schemeClr>
                          </a:solidFill>
                        </a:rPr>
                        <a:t>Review</a:t>
                      </a:r>
                      <a:r>
                        <a:rPr lang="en-US" sz="1200" baseline="0" dirty="0" smtClean="0">
                          <a:solidFill>
                            <a:schemeClr val="accent6">
                              <a:lumMod val="75000"/>
                            </a:schemeClr>
                          </a:solidFill>
                        </a:rPr>
                        <a:t> backlog of scenarios </a:t>
                      </a:r>
                    </a:p>
                    <a:p>
                      <a:pPr marL="171450" indent="-171450">
                        <a:buFont typeface="Arial"/>
                        <a:buChar char="•"/>
                      </a:pPr>
                      <a:r>
                        <a:rPr lang="en-US" sz="1200" baseline="0" dirty="0" smtClean="0">
                          <a:solidFill>
                            <a:schemeClr val="accent6">
                              <a:lumMod val="75000"/>
                            </a:schemeClr>
                          </a:solidFill>
                        </a:rPr>
                        <a:t>Identify existing scenarios currently included in BIZBOK sections (to add to the backlog)</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95000"/>
                      </a:schemeClr>
                    </a:solidFill>
                  </a:tcPr>
                </a:tc>
              </a:tr>
              <a:tr h="978951">
                <a:tc>
                  <a:txBody>
                    <a:bodyPr/>
                    <a:lstStyle/>
                    <a:p>
                      <a:pPr algn="ctr"/>
                      <a:r>
                        <a:rPr lang="en-US" sz="1200" b="1" dirty="0" smtClean="0">
                          <a:solidFill>
                            <a:schemeClr val="tx1">
                              <a:lumMod val="85000"/>
                              <a:lumOff val="15000"/>
                            </a:schemeClr>
                          </a:solidFill>
                        </a:rPr>
                        <a:t>BIZBOK Teams</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solidFill>
                      <a:schemeClr val="bg1">
                        <a:lumMod val="75000"/>
                      </a:schemeClr>
                    </a:solidFill>
                  </a:tcPr>
                </a:tc>
                <a:tc>
                  <a:txBody>
                    <a:bodyPr/>
                    <a:lstStyle/>
                    <a:p>
                      <a:endParaRPr lang="en-US"/>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95000"/>
                      </a:schemeClr>
                    </a:solidFill>
                  </a:tcPr>
                </a:tc>
              </a:tr>
              <a:tr h="978951">
                <a:tc>
                  <a:txBody>
                    <a:bodyPr/>
                    <a:lstStyle/>
                    <a:p>
                      <a:pPr algn="ctr"/>
                      <a:r>
                        <a:rPr lang="en-US" sz="1200" b="1" dirty="0" smtClean="0">
                          <a:solidFill>
                            <a:schemeClr val="tx1">
                              <a:lumMod val="85000"/>
                              <a:lumOff val="15000"/>
                            </a:schemeClr>
                          </a:solidFill>
                        </a:rPr>
                        <a:t>Meta Model</a:t>
                      </a:r>
                      <a:r>
                        <a:rPr lang="en-US" sz="1200" b="1" baseline="0" dirty="0" smtClean="0">
                          <a:solidFill>
                            <a:schemeClr val="tx1">
                              <a:lumMod val="85000"/>
                              <a:lumOff val="15000"/>
                            </a:schemeClr>
                          </a:solidFill>
                        </a:rPr>
                        <a:t> </a:t>
                      </a:r>
                      <a:r>
                        <a:rPr lang="en-US" sz="1200" b="1" dirty="0" smtClean="0">
                          <a:solidFill>
                            <a:schemeClr val="tx1">
                              <a:lumMod val="85000"/>
                              <a:lumOff val="15000"/>
                            </a:schemeClr>
                          </a:solidFill>
                        </a:rPr>
                        <a:t>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solidFill>
                      <a:schemeClr val="bg1">
                        <a:lumMod val="75000"/>
                      </a:schemeClr>
                    </a:solidFill>
                  </a:tcPr>
                </a:tc>
                <a:tc>
                  <a:txBody>
                    <a:bodyPr/>
                    <a:lstStyle/>
                    <a:p>
                      <a:endParaRPr lang="en-US" dirty="0"/>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95000"/>
                      </a:schemeClr>
                    </a:solidFill>
                  </a:tcPr>
                </a:tc>
              </a:tr>
            </a:tbl>
          </a:graphicData>
        </a:graphic>
      </p:graphicFrame>
    </p:spTree>
    <p:custDataLst>
      <p:tags r:id="rId1"/>
    </p:custDataLst>
    <p:extLst>
      <p:ext uri="{BB962C8B-B14F-4D97-AF65-F5344CB8AC3E}">
        <p14:creationId xmlns:p14="http://schemas.microsoft.com/office/powerpoint/2010/main" val="212963937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2032957" y="1240841"/>
            <a:ext cx="1532007" cy="409573"/>
            <a:chOff x="1665882" y="883508"/>
            <a:chExt cx="1845468" cy="738187"/>
          </a:xfrm>
          <a:solidFill>
            <a:srgbClr val="252E33"/>
          </a:solidFill>
        </p:grpSpPr>
        <p:sp>
          <p:nvSpPr>
            <p:cNvPr id="48" name="Chevron 47"/>
            <p:cNvSpPr/>
            <p:nvPr/>
          </p:nvSpPr>
          <p:spPr>
            <a:xfrm>
              <a:off x="1665882" y="883508"/>
              <a:ext cx="1845468" cy="738187"/>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sp>
        <p:sp>
          <p:nvSpPr>
            <p:cNvPr id="49" name="Chevron 6"/>
            <p:cNvSpPr/>
            <p:nvPr/>
          </p:nvSpPr>
          <p:spPr>
            <a:xfrm>
              <a:off x="2034976" y="883508"/>
              <a:ext cx="1294149"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RESEARCH</a:t>
              </a:r>
              <a:endParaRPr lang="en-US" sz="1500" b="1" kern="1200" dirty="0">
                <a:latin typeface="+mj-lt"/>
              </a:endParaRPr>
            </a:p>
          </p:txBody>
        </p:sp>
      </p:grpSp>
      <p:grpSp>
        <p:nvGrpSpPr>
          <p:cNvPr id="50" name="Group 49"/>
          <p:cNvGrpSpPr/>
          <p:nvPr/>
        </p:nvGrpSpPr>
        <p:grpSpPr>
          <a:xfrm>
            <a:off x="3665896" y="1235789"/>
            <a:ext cx="1532007" cy="409573"/>
            <a:chOff x="3430601" y="882084"/>
            <a:chExt cx="1845468" cy="738187"/>
          </a:xfrm>
          <a:solidFill>
            <a:srgbClr val="252E33"/>
          </a:solidFill>
        </p:grpSpPr>
        <p:sp>
          <p:nvSpPr>
            <p:cNvPr id="51" name="Chevron 50"/>
            <p:cNvSpPr/>
            <p:nvPr/>
          </p:nvSpPr>
          <p:spPr>
            <a:xfrm>
              <a:off x="3430601" y="882084"/>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2" name="Chevron 8"/>
            <p:cNvSpPr/>
            <p:nvPr/>
          </p:nvSpPr>
          <p:spPr>
            <a:xfrm>
              <a:off x="3799695" y="882084"/>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 DESIGN</a:t>
              </a:r>
              <a:endParaRPr lang="en-US" sz="1500" b="1" kern="1200" dirty="0">
                <a:latin typeface="+mj-lt"/>
              </a:endParaRPr>
            </a:p>
          </p:txBody>
        </p:sp>
      </p:grpSp>
      <p:grpSp>
        <p:nvGrpSpPr>
          <p:cNvPr id="53" name="Group 52"/>
          <p:cNvGrpSpPr/>
          <p:nvPr/>
        </p:nvGrpSpPr>
        <p:grpSpPr>
          <a:xfrm>
            <a:off x="5298835" y="1237213"/>
            <a:ext cx="1532007" cy="409573"/>
            <a:chOff x="4987726" y="883508"/>
            <a:chExt cx="1845468" cy="738187"/>
          </a:xfrm>
          <a:solidFill>
            <a:srgbClr val="252E33"/>
          </a:solidFill>
        </p:grpSpPr>
        <p:sp>
          <p:nvSpPr>
            <p:cNvPr id="54" name="Chevron 53"/>
            <p:cNvSpPr/>
            <p:nvPr/>
          </p:nvSpPr>
          <p:spPr>
            <a:xfrm>
              <a:off x="4987726"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5" name="Chevron 10"/>
            <p:cNvSpPr/>
            <p:nvPr/>
          </p:nvSpPr>
          <p:spPr>
            <a:xfrm>
              <a:off x="5356820" y="883508"/>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BUILD</a:t>
              </a:r>
              <a:endParaRPr lang="en-US" sz="1500" b="1" kern="1200" dirty="0">
                <a:latin typeface="+mj-lt"/>
              </a:endParaRPr>
            </a:p>
          </p:txBody>
        </p:sp>
      </p:grpSp>
      <p:grpSp>
        <p:nvGrpSpPr>
          <p:cNvPr id="63" name="Group 62"/>
          <p:cNvGrpSpPr/>
          <p:nvPr/>
        </p:nvGrpSpPr>
        <p:grpSpPr>
          <a:xfrm>
            <a:off x="400018" y="1235852"/>
            <a:ext cx="1532007" cy="409573"/>
            <a:chOff x="30891" y="903919"/>
            <a:chExt cx="1845468" cy="738187"/>
          </a:xfrm>
          <a:solidFill>
            <a:srgbClr val="252E33"/>
          </a:solidFill>
        </p:grpSpPr>
        <p:sp>
          <p:nvSpPr>
            <p:cNvPr id="64" name="Chevron 63"/>
            <p:cNvSpPr/>
            <p:nvPr/>
          </p:nvSpPr>
          <p:spPr>
            <a:xfrm>
              <a:off x="30891" y="903919"/>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65" name="Chevron 4"/>
            <p:cNvSpPr/>
            <p:nvPr/>
          </p:nvSpPr>
          <p:spPr>
            <a:xfrm>
              <a:off x="399985" y="903919"/>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PROPOSE</a:t>
              </a:r>
              <a:endParaRPr lang="en-US" sz="1500" b="1" kern="1200" dirty="0">
                <a:latin typeface="+mj-lt"/>
              </a:endParaRPr>
            </a:p>
          </p:txBody>
        </p:sp>
      </p:grpSp>
      <p:grpSp>
        <p:nvGrpSpPr>
          <p:cNvPr id="30" name="Group 29"/>
          <p:cNvGrpSpPr/>
          <p:nvPr/>
        </p:nvGrpSpPr>
        <p:grpSpPr>
          <a:xfrm>
            <a:off x="6931772" y="1237213"/>
            <a:ext cx="1532007" cy="409573"/>
            <a:chOff x="6648648" y="883508"/>
            <a:chExt cx="1845468" cy="738187"/>
          </a:xfrm>
          <a:solidFill>
            <a:srgbClr val="252E33"/>
          </a:solidFill>
        </p:grpSpPr>
        <p:sp>
          <p:nvSpPr>
            <p:cNvPr id="31" name="Chevron 30"/>
            <p:cNvSpPr/>
            <p:nvPr/>
          </p:nvSpPr>
          <p:spPr>
            <a:xfrm>
              <a:off x="6648648"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32" name="Chevron 12"/>
            <p:cNvSpPr/>
            <p:nvPr/>
          </p:nvSpPr>
          <p:spPr>
            <a:xfrm>
              <a:off x="6903745" y="883508"/>
              <a:ext cx="1365622"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PUBLISH</a:t>
              </a:r>
              <a:endParaRPr lang="en-US" sz="1500" b="1" kern="1200" dirty="0">
                <a:latin typeface="+mj-lt"/>
              </a:endParaRPr>
            </a:p>
          </p:txBody>
        </p:sp>
      </p:grpSp>
      <p:sp>
        <p:nvSpPr>
          <p:cNvPr id="3" name="Title 2"/>
          <p:cNvSpPr>
            <a:spLocks noGrp="1"/>
          </p:cNvSpPr>
          <p:nvPr>
            <p:ph type="title"/>
          </p:nvPr>
        </p:nvSpPr>
        <p:spPr>
          <a:xfrm>
            <a:off x="562708" y="462938"/>
            <a:ext cx="8581291" cy="474808"/>
          </a:xfrm>
        </p:spPr>
        <p:txBody>
          <a:bodyPr>
            <a:normAutofit fontScale="90000"/>
          </a:bodyPr>
          <a:lstStyle/>
          <a:p>
            <a:r>
              <a:rPr lang="en-US" dirty="0"/>
              <a:t>BIZBOK BA &amp; MM TEAM ALIGNMENT</a:t>
            </a:r>
          </a:p>
        </p:txBody>
      </p:sp>
      <p:graphicFrame>
        <p:nvGraphicFramePr>
          <p:cNvPr id="4" name="Table 3"/>
          <p:cNvGraphicFramePr>
            <a:graphicFrameLocks noGrp="1"/>
          </p:cNvGraphicFramePr>
          <p:nvPr>
            <p:extLst>
              <p:ext uri="{D42A27DB-BD31-4B8C-83A1-F6EECF244321}">
                <p14:modId xmlns:p14="http://schemas.microsoft.com/office/powerpoint/2010/main" val="2098934188"/>
              </p:ext>
            </p:extLst>
          </p:nvPr>
        </p:nvGraphicFramePr>
        <p:xfrm>
          <a:off x="393743" y="1886337"/>
          <a:ext cx="8054042" cy="3915804"/>
        </p:xfrm>
        <a:graphic>
          <a:graphicData uri="http://schemas.openxmlformats.org/drawingml/2006/table">
            <a:tbl>
              <a:tblPr firstRow="1" bandRow="1">
                <a:tableStyleId>{5C22544A-7EE6-4342-B048-85BDC9FD1C3A}</a:tableStyleId>
              </a:tblPr>
              <a:tblGrid>
                <a:gridCol w="1039468"/>
                <a:gridCol w="7014574"/>
              </a:tblGrid>
              <a:tr h="978951">
                <a:tc>
                  <a:txBody>
                    <a:bodyPr/>
                    <a:lstStyle/>
                    <a:p>
                      <a:pPr algn="ctr"/>
                      <a:r>
                        <a:rPr lang="en-US" sz="1200" b="1" dirty="0" smtClean="0">
                          <a:solidFill>
                            <a:schemeClr val="tx1">
                              <a:lumMod val="85000"/>
                              <a:lumOff val="15000"/>
                            </a:schemeClr>
                          </a:solidFill>
                        </a:rPr>
                        <a:t>Collaboration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aseline="0" dirty="0" smtClean="0">
                          <a:solidFill>
                            <a:schemeClr val="accent6">
                              <a:lumMod val="75000"/>
                            </a:schemeClr>
                          </a:solidFill>
                        </a:rPr>
                        <a:t>Get approval for scope and impact on the next BIZBOK release</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aseline="0" dirty="0" smtClean="0">
                          <a:solidFill>
                            <a:schemeClr val="accent6">
                              <a:lumMod val="75000"/>
                            </a:schemeClr>
                          </a:solidFill>
                        </a:rPr>
                        <a:t>(From all Teams including BIZBOK Editorial Board)</a:t>
                      </a:r>
                      <a:endParaRPr lang="en-US" sz="1200" baseline="0" dirty="0" smtClean="0">
                        <a:solidFill>
                          <a:srgbClr val="00C49E"/>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Business</a:t>
                      </a:r>
                      <a:r>
                        <a:rPr lang="en-US" sz="1200" b="1" baseline="0" dirty="0" smtClean="0">
                          <a:solidFill>
                            <a:schemeClr val="tx1">
                              <a:lumMod val="85000"/>
                              <a:lumOff val="15000"/>
                            </a:schemeClr>
                          </a:solidFill>
                        </a:rPr>
                        <a:t> Analyst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baseline="0" dirty="0" smtClean="0">
                          <a:solidFill>
                            <a:schemeClr val="accent6">
                              <a:lumMod val="75000"/>
                            </a:schemeClr>
                          </a:solidFill>
                        </a:rPr>
                        <a:t>Discuss priorities with Collaboration Team and BIZBOK Editorial Board</a:t>
                      </a:r>
                    </a:p>
                    <a:p>
                      <a:pPr marL="171450" indent="-171450">
                        <a:buFont typeface="Arial"/>
                        <a:buChar char="•"/>
                      </a:pPr>
                      <a:r>
                        <a:rPr lang="en-US" sz="1200" baseline="0" dirty="0" smtClean="0">
                          <a:solidFill>
                            <a:schemeClr val="accent6">
                              <a:lumMod val="75000"/>
                            </a:schemeClr>
                          </a:solidFill>
                        </a:rPr>
                        <a:t>Update and clarify the scope for the next BIZBOK release (scenario updates)</a:t>
                      </a:r>
                      <a:endParaRPr lang="en-US" sz="1200" dirty="0" smtClean="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Teams</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Identify explicit and/or implicit references</a:t>
                      </a:r>
                      <a:r>
                        <a:rPr lang="en-US" sz="1200" baseline="0" dirty="0" smtClean="0">
                          <a:solidFill>
                            <a:schemeClr val="accent6">
                              <a:lumMod val="75000"/>
                            </a:schemeClr>
                          </a:solidFill>
                        </a:rPr>
                        <a:t> about scenarios in their existing BIZBOK sections</a:t>
                      </a:r>
                    </a:p>
                    <a:p>
                      <a:pPr marL="171450" indent="-171450">
                        <a:buFont typeface="Arial"/>
                        <a:buChar char="•"/>
                      </a:pPr>
                      <a:r>
                        <a:rPr lang="en-US" sz="1200" baseline="0" dirty="0" smtClean="0">
                          <a:solidFill>
                            <a:schemeClr val="accent6">
                              <a:lumMod val="75000"/>
                            </a:schemeClr>
                          </a:solidFill>
                        </a:rPr>
                        <a:t>Identify existing scenarios they would like to reference in their sections </a:t>
                      </a:r>
                    </a:p>
                    <a:p>
                      <a:pPr marL="171450" indent="-171450">
                        <a:buFont typeface="Arial"/>
                        <a:buChar char="•"/>
                      </a:pPr>
                      <a:r>
                        <a:rPr lang="en-US" sz="1200" baseline="0" dirty="0" smtClean="0">
                          <a:solidFill>
                            <a:schemeClr val="accent6">
                              <a:lumMod val="75000"/>
                            </a:schemeClr>
                          </a:solidFill>
                        </a:rPr>
                        <a:t>Identify new scenarios to include in the next release of the BIZBOK</a:t>
                      </a:r>
                      <a:endParaRPr lang="en-US" sz="1200" dirty="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MM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Identify gaps in the Meta Model alignment with existing scenarios (published by the BA Team only)</a:t>
                      </a:r>
                    </a:p>
                    <a:p>
                      <a:pPr marL="171450" indent="-171450">
                        <a:buFont typeface="Arial"/>
                        <a:buChar char="•"/>
                      </a:pPr>
                      <a:r>
                        <a:rPr lang="en-US" sz="1200" dirty="0" smtClean="0">
                          <a:solidFill>
                            <a:schemeClr val="accent6">
                              <a:lumMod val="75000"/>
                            </a:schemeClr>
                          </a:solidFill>
                        </a:rPr>
                        <a:t>Identify scenarios for</a:t>
                      </a:r>
                      <a:r>
                        <a:rPr lang="en-US" sz="1200" baseline="0" dirty="0" smtClean="0">
                          <a:solidFill>
                            <a:schemeClr val="accent6">
                              <a:lumMod val="75000"/>
                            </a:schemeClr>
                          </a:solidFill>
                        </a:rPr>
                        <a:t> the BA Team to address (based on priorities for MM Roadmap of extensions)</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bl>
          </a:graphicData>
        </a:graphic>
      </p:graphicFrame>
    </p:spTree>
    <p:custDataLst>
      <p:tags r:id="rId1"/>
    </p:custDataLst>
    <p:extLst>
      <p:ext uri="{BB962C8B-B14F-4D97-AF65-F5344CB8AC3E}">
        <p14:creationId xmlns:p14="http://schemas.microsoft.com/office/powerpoint/2010/main" val="179644509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2032957" y="1240841"/>
            <a:ext cx="1532007" cy="409573"/>
            <a:chOff x="1665882" y="883508"/>
            <a:chExt cx="1845468" cy="738187"/>
          </a:xfrm>
          <a:solidFill>
            <a:srgbClr val="252E33"/>
          </a:solidFill>
        </p:grpSpPr>
        <p:sp>
          <p:nvSpPr>
            <p:cNvPr id="48" name="Chevron 47"/>
            <p:cNvSpPr/>
            <p:nvPr/>
          </p:nvSpPr>
          <p:spPr>
            <a:xfrm>
              <a:off x="1665882"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49" name="Chevron 6"/>
            <p:cNvSpPr/>
            <p:nvPr/>
          </p:nvSpPr>
          <p:spPr>
            <a:xfrm>
              <a:off x="2034976" y="883508"/>
              <a:ext cx="1294149"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RESEARCH</a:t>
              </a:r>
              <a:endParaRPr lang="en-US" sz="1500" b="1" kern="1200" dirty="0">
                <a:latin typeface="+mj-lt"/>
              </a:endParaRPr>
            </a:p>
          </p:txBody>
        </p:sp>
      </p:grpSp>
      <p:grpSp>
        <p:nvGrpSpPr>
          <p:cNvPr id="50" name="Group 49"/>
          <p:cNvGrpSpPr/>
          <p:nvPr/>
        </p:nvGrpSpPr>
        <p:grpSpPr>
          <a:xfrm>
            <a:off x="3665896" y="1235789"/>
            <a:ext cx="1532007" cy="409573"/>
            <a:chOff x="3430601" y="882084"/>
            <a:chExt cx="1845468" cy="738187"/>
          </a:xfrm>
          <a:solidFill>
            <a:srgbClr val="252E33"/>
          </a:solidFill>
        </p:grpSpPr>
        <p:sp>
          <p:nvSpPr>
            <p:cNvPr id="51" name="Chevron 50"/>
            <p:cNvSpPr/>
            <p:nvPr/>
          </p:nvSpPr>
          <p:spPr>
            <a:xfrm>
              <a:off x="3430601" y="882084"/>
              <a:ext cx="1845468" cy="738187"/>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sp>
        <p:sp>
          <p:nvSpPr>
            <p:cNvPr id="52" name="Chevron 8"/>
            <p:cNvSpPr/>
            <p:nvPr/>
          </p:nvSpPr>
          <p:spPr>
            <a:xfrm>
              <a:off x="3799695" y="882084"/>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DESIGN</a:t>
              </a:r>
              <a:endParaRPr lang="en-US" sz="1500" b="1" kern="1200" dirty="0">
                <a:latin typeface="+mj-lt"/>
              </a:endParaRPr>
            </a:p>
          </p:txBody>
        </p:sp>
      </p:grpSp>
      <p:grpSp>
        <p:nvGrpSpPr>
          <p:cNvPr id="53" name="Group 52"/>
          <p:cNvGrpSpPr/>
          <p:nvPr/>
        </p:nvGrpSpPr>
        <p:grpSpPr>
          <a:xfrm>
            <a:off x="5298835" y="1237213"/>
            <a:ext cx="1532007" cy="409573"/>
            <a:chOff x="4987726" y="883508"/>
            <a:chExt cx="1845468" cy="738187"/>
          </a:xfrm>
          <a:solidFill>
            <a:srgbClr val="252E33"/>
          </a:solidFill>
        </p:grpSpPr>
        <p:sp>
          <p:nvSpPr>
            <p:cNvPr id="54" name="Chevron 53"/>
            <p:cNvSpPr/>
            <p:nvPr/>
          </p:nvSpPr>
          <p:spPr>
            <a:xfrm>
              <a:off x="4987726"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5" name="Chevron 10"/>
            <p:cNvSpPr/>
            <p:nvPr/>
          </p:nvSpPr>
          <p:spPr>
            <a:xfrm>
              <a:off x="5356820" y="883508"/>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BUILD</a:t>
              </a:r>
              <a:endParaRPr lang="en-US" sz="1500" b="1" kern="1200" dirty="0">
                <a:latin typeface="+mj-lt"/>
              </a:endParaRPr>
            </a:p>
          </p:txBody>
        </p:sp>
      </p:grpSp>
      <p:grpSp>
        <p:nvGrpSpPr>
          <p:cNvPr id="63" name="Group 62"/>
          <p:cNvGrpSpPr/>
          <p:nvPr/>
        </p:nvGrpSpPr>
        <p:grpSpPr>
          <a:xfrm>
            <a:off x="400018" y="1235852"/>
            <a:ext cx="1532007" cy="409573"/>
            <a:chOff x="30891" y="903919"/>
            <a:chExt cx="1845468" cy="738187"/>
          </a:xfrm>
          <a:solidFill>
            <a:srgbClr val="252E33"/>
          </a:solidFill>
        </p:grpSpPr>
        <p:sp>
          <p:nvSpPr>
            <p:cNvPr id="64" name="Chevron 63"/>
            <p:cNvSpPr/>
            <p:nvPr/>
          </p:nvSpPr>
          <p:spPr>
            <a:xfrm>
              <a:off x="30891" y="903919"/>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65" name="Chevron 4"/>
            <p:cNvSpPr/>
            <p:nvPr/>
          </p:nvSpPr>
          <p:spPr>
            <a:xfrm>
              <a:off x="399985" y="903919"/>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PROPOSE</a:t>
              </a:r>
              <a:endParaRPr lang="en-US" sz="1500" b="1" kern="1200" dirty="0">
                <a:latin typeface="+mj-lt"/>
              </a:endParaRPr>
            </a:p>
          </p:txBody>
        </p:sp>
      </p:grpSp>
      <p:grpSp>
        <p:nvGrpSpPr>
          <p:cNvPr id="30" name="Group 29"/>
          <p:cNvGrpSpPr/>
          <p:nvPr/>
        </p:nvGrpSpPr>
        <p:grpSpPr>
          <a:xfrm>
            <a:off x="6931772" y="1237213"/>
            <a:ext cx="1532007" cy="409573"/>
            <a:chOff x="6648648" y="883508"/>
            <a:chExt cx="1845468" cy="738187"/>
          </a:xfrm>
          <a:solidFill>
            <a:srgbClr val="252E33"/>
          </a:solidFill>
        </p:grpSpPr>
        <p:sp>
          <p:nvSpPr>
            <p:cNvPr id="31" name="Chevron 30"/>
            <p:cNvSpPr/>
            <p:nvPr/>
          </p:nvSpPr>
          <p:spPr>
            <a:xfrm>
              <a:off x="6648648"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32" name="Chevron 12"/>
            <p:cNvSpPr/>
            <p:nvPr/>
          </p:nvSpPr>
          <p:spPr>
            <a:xfrm>
              <a:off x="6903745" y="883508"/>
              <a:ext cx="1365622"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PUBLISH</a:t>
              </a:r>
              <a:endParaRPr lang="en-US" sz="1500" b="1" kern="1200" dirty="0">
                <a:latin typeface="+mj-lt"/>
              </a:endParaRPr>
            </a:p>
          </p:txBody>
        </p:sp>
      </p:grpSp>
      <p:sp>
        <p:nvSpPr>
          <p:cNvPr id="3" name="Title 2"/>
          <p:cNvSpPr>
            <a:spLocks noGrp="1"/>
          </p:cNvSpPr>
          <p:nvPr>
            <p:ph type="title"/>
          </p:nvPr>
        </p:nvSpPr>
        <p:spPr>
          <a:xfrm>
            <a:off x="562708" y="462938"/>
            <a:ext cx="8581291" cy="474808"/>
          </a:xfrm>
        </p:spPr>
        <p:txBody>
          <a:bodyPr>
            <a:normAutofit fontScale="90000"/>
          </a:bodyPr>
          <a:lstStyle/>
          <a:p>
            <a:r>
              <a:rPr lang="en-US" dirty="0"/>
              <a:t>BIZBOK BA &amp; MM TEAM ALIGNMENT</a:t>
            </a:r>
          </a:p>
        </p:txBody>
      </p:sp>
      <p:graphicFrame>
        <p:nvGraphicFramePr>
          <p:cNvPr id="4" name="Table 3"/>
          <p:cNvGraphicFramePr>
            <a:graphicFrameLocks noGrp="1"/>
          </p:cNvGraphicFramePr>
          <p:nvPr>
            <p:extLst>
              <p:ext uri="{D42A27DB-BD31-4B8C-83A1-F6EECF244321}">
                <p14:modId xmlns:p14="http://schemas.microsoft.com/office/powerpoint/2010/main" val="1002446967"/>
              </p:ext>
            </p:extLst>
          </p:nvPr>
        </p:nvGraphicFramePr>
        <p:xfrm>
          <a:off x="393743" y="1886337"/>
          <a:ext cx="8054042" cy="3915804"/>
        </p:xfrm>
        <a:graphic>
          <a:graphicData uri="http://schemas.openxmlformats.org/drawingml/2006/table">
            <a:tbl>
              <a:tblPr firstRow="1" bandRow="1">
                <a:tableStyleId>{5C22544A-7EE6-4342-B048-85BDC9FD1C3A}</a:tableStyleId>
              </a:tblPr>
              <a:tblGrid>
                <a:gridCol w="1039468"/>
                <a:gridCol w="7014574"/>
              </a:tblGrid>
              <a:tr h="978951">
                <a:tc>
                  <a:txBody>
                    <a:bodyPr/>
                    <a:lstStyle/>
                    <a:p>
                      <a:pPr algn="ctr"/>
                      <a:r>
                        <a:rPr lang="en-US" sz="1200" b="1" dirty="0" smtClean="0">
                          <a:solidFill>
                            <a:schemeClr val="tx1">
                              <a:lumMod val="85000"/>
                              <a:lumOff val="15000"/>
                            </a:schemeClr>
                          </a:solidFill>
                        </a:rPr>
                        <a:t>Collaboration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aseline="0" dirty="0" smtClean="0">
                          <a:solidFill>
                            <a:schemeClr val="accent6">
                              <a:lumMod val="75000"/>
                            </a:schemeClr>
                          </a:solidFill>
                        </a:rPr>
                        <a:t>Get approval from the Team Leads about design changes per the BA Team scope</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aseline="0" dirty="0" smtClean="0">
                          <a:solidFill>
                            <a:schemeClr val="accent6">
                              <a:lumMod val="75000"/>
                            </a:schemeClr>
                          </a:solidFill>
                        </a:rPr>
                        <a:t>Update the PMO with milestones and ensure BIZBOK release is on course</a:t>
                      </a:r>
                      <a:endParaRPr lang="en-US" sz="1200" baseline="0" dirty="0" smtClean="0">
                        <a:solidFill>
                          <a:srgbClr val="00C49E"/>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Business</a:t>
                      </a:r>
                      <a:r>
                        <a:rPr lang="en-US" sz="1200" b="1" baseline="0" dirty="0" smtClean="0">
                          <a:solidFill>
                            <a:schemeClr val="tx1">
                              <a:lumMod val="85000"/>
                              <a:lumOff val="15000"/>
                            </a:schemeClr>
                          </a:solidFill>
                        </a:rPr>
                        <a:t> Analyst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baseline="0" dirty="0" smtClean="0">
                          <a:solidFill>
                            <a:schemeClr val="accent6">
                              <a:lumMod val="75000"/>
                            </a:schemeClr>
                          </a:solidFill>
                        </a:rPr>
                        <a:t>Coordinate changes to each section (team by team) for the next BIZBOK release</a:t>
                      </a:r>
                    </a:p>
                    <a:p>
                      <a:pPr marL="171450" indent="-171450">
                        <a:buFont typeface="Arial"/>
                        <a:buChar char="•"/>
                      </a:pPr>
                      <a:r>
                        <a:rPr lang="en-US" sz="1200" baseline="0" dirty="0" smtClean="0">
                          <a:solidFill>
                            <a:schemeClr val="accent6">
                              <a:lumMod val="75000"/>
                            </a:schemeClr>
                          </a:solidFill>
                        </a:rPr>
                        <a:t>Design the updates for BIZBOK Part 4 (where all the scenarios are warehoused)</a:t>
                      </a:r>
                    </a:p>
                    <a:p>
                      <a:pPr marL="171450" indent="-171450">
                        <a:buFont typeface="Arial"/>
                        <a:buChar char="•"/>
                      </a:pPr>
                      <a:r>
                        <a:rPr lang="en-US" sz="1200" baseline="0" dirty="0" smtClean="0">
                          <a:solidFill>
                            <a:schemeClr val="accent6">
                              <a:lumMod val="75000"/>
                            </a:schemeClr>
                          </a:solidFill>
                        </a:rPr>
                        <a:t>Coordinate alignment with the Meta Model team (subset of scenarios being considered)</a:t>
                      </a:r>
                    </a:p>
                    <a:p>
                      <a:pPr marL="171450" indent="-171450">
                        <a:buFont typeface="Arial"/>
                        <a:buChar char="•"/>
                      </a:pPr>
                      <a:r>
                        <a:rPr lang="en-US" sz="1200" baseline="0" dirty="0" smtClean="0">
                          <a:solidFill>
                            <a:schemeClr val="accent6">
                              <a:lumMod val="75000"/>
                            </a:schemeClr>
                          </a:solidFill>
                        </a:rPr>
                        <a:t>Track backlog of scenarios not fully addressed by the Meta Model (including extensions)</a:t>
                      </a:r>
                      <a:endParaRPr lang="en-US" sz="1200" dirty="0" smtClean="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Teams</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Clarify the changes required to their respective</a:t>
                      </a:r>
                      <a:r>
                        <a:rPr lang="en-US" sz="1200" baseline="0" dirty="0" smtClean="0">
                          <a:solidFill>
                            <a:schemeClr val="accent6">
                              <a:lumMod val="75000"/>
                            </a:schemeClr>
                          </a:solidFill>
                        </a:rPr>
                        <a:t> BIZBOK sections to address BA Team scope</a:t>
                      </a:r>
                    </a:p>
                    <a:p>
                      <a:pPr marL="171450" indent="-171450">
                        <a:buFont typeface="Arial"/>
                        <a:buChar char="•"/>
                      </a:pPr>
                      <a:r>
                        <a:rPr lang="en-US" sz="1200" baseline="0" dirty="0" smtClean="0">
                          <a:solidFill>
                            <a:schemeClr val="accent6">
                              <a:lumMod val="75000"/>
                            </a:schemeClr>
                          </a:solidFill>
                        </a:rPr>
                        <a:t>Update milestones for next BIZBOK release</a:t>
                      </a:r>
                      <a:endParaRPr lang="en-US" sz="1200" dirty="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MM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Clarify</a:t>
                      </a:r>
                      <a:r>
                        <a:rPr lang="en-US" sz="1200" baseline="0" dirty="0" smtClean="0">
                          <a:solidFill>
                            <a:schemeClr val="accent6">
                              <a:lumMod val="75000"/>
                            </a:schemeClr>
                          </a:solidFill>
                        </a:rPr>
                        <a:t> design changes to the Meta Model Core and changes to existing or new Extensions</a:t>
                      </a:r>
                      <a:endParaRPr lang="en-US" sz="1200" dirty="0" smtClean="0">
                        <a:solidFill>
                          <a:schemeClr val="accent6">
                            <a:lumMod val="75000"/>
                          </a:schemeClr>
                        </a:solidFill>
                      </a:endParaRPr>
                    </a:p>
                    <a:p>
                      <a:pPr marL="171450" indent="-171450">
                        <a:buFont typeface="Arial"/>
                        <a:buChar char="•"/>
                      </a:pPr>
                      <a:r>
                        <a:rPr lang="en-US" sz="1200" dirty="0" smtClean="0">
                          <a:solidFill>
                            <a:schemeClr val="accent6">
                              <a:lumMod val="75000"/>
                            </a:schemeClr>
                          </a:solidFill>
                        </a:rPr>
                        <a:t>Determine which scenarios</a:t>
                      </a:r>
                      <a:r>
                        <a:rPr lang="en-US" sz="1200" baseline="0" dirty="0" smtClean="0">
                          <a:solidFill>
                            <a:schemeClr val="accent6">
                              <a:lumMod val="75000"/>
                            </a:schemeClr>
                          </a:solidFill>
                        </a:rPr>
                        <a:t> to pursue in the timeframe allotted for the BIZBOK release</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bl>
          </a:graphicData>
        </a:graphic>
      </p:graphicFrame>
    </p:spTree>
    <p:custDataLst>
      <p:tags r:id="rId1"/>
    </p:custDataLst>
    <p:extLst>
      <p:ext uri="{BB962C8B-B14F-4D97-AF65-F5344CB8AC3E}">
        <p14:creationId xmlns:p14="http://schemas.microsoft.com/office/powerpoint/2010/main" val="179644509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2032957" y="1240841"/>
            <a:ext cx="1532007" cy="409573"/>
            <a:chOff x="1665882" y="883508"/>
            <a:chExt cx="1845468" cy="738187"/>
          </a:xfrm>
          <a:solidFill>
            <a:srgbClr val="252E33"/>
          </a:solidFill>
        </p:grpSpPr>
        <p:sp>
          <p:nvSpPr>
            <p:cNvPr id="48" name="Chevron 47"/>
            <p:cNvSpPr/>
            <p:nvPr/>
          </p:nvSpPr>
          <p:spPr>
            <a:xfrm>
              <a:off x="1665882"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49" name="Chevron 6"/>
            <p:cNvSpPr/>
            <p:nvPr/>
          </p:nvSpPr>
          <p:spPr>
            <a:xfrm>
              <a:off x="2034976" y="883508"/>
              <a:ext cx="1294149"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RESEARCH</a:t>
              </a:r>
              <a:endParaRPr lang="en-US" sz="1500" b="1" kern="1200" dirty="0">
                <a:latin typeface="+mj-lt"/>
              </a:endParaRPr>
            </a:p>
          </p:txBody>
        </p:sp>
      </p:grpSp>
      <p:grpSp>
        <p:nvGrpSpPr>
          <p:cNvPr id="50" name="Group 49"/>
          <p:cNvGrpSpPr/>
          <p:nvPr/>
        </p:nvGrpSpPr>
        <p:grpSpPr>
          <a:xfrm>
            <a:off x="3665896" y="1235789"/>
            <a:ext cx="1532007" cy="409573"/>
            <a:chOff x="3430601" y="882084"/>
            <a:chExt cx="1845468" cy="738187"/>
          </a:xfrm>
          <a:solidFill>
            <a:srgbClr val="252E33"/>
          </a:solidFill>
        </p:grpSpPr>
        <p:sp>
          <p:nvSpPr>
            <p:cNvPr id="51" name="Chevron 50"/>
            <p:cNvSpPr/>
            <p:nvPr/>
          </p:nvSpPr>
          <p:spPr>
            <a:xfrm>
              <a:off x="3430601" y="882084"/>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2" name="Chevron 8"/>
            <p:cNvSpPr/>
            <p:nvPr/>
          </p:nvSpPr>
          <p:spPr>
            <a:xfrm>
              <a:off x="3799695" y="882084"/>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DESIGN</a:t>
              </a:r>
              <a:endParaRPr lang="en-US" sz="1500" b="1" kern="1200" dirty="0">
                <a:latin typeface="+mj-lt"/>
              </a:endParaRPr>
            </a:p>
          </p:txBody>
        </p:sp>
      </p:grpSp>
      <p:grpSp>
        <p:nvGrpSpPr>
          <p:cNvPr id="53" name="Group 52"/>
          <p:cNvGrpSpPr/>
          <p:nvPr/>
        </p:nvGrpSpPr>
        <p:grpSpPr>
          <a:xfrm>
            <a:off x="5298835" y="1237213"/>
            <a:ext cx="1532007" cy="409573"/>
            <a:chOff x="4987726" y="883508"/>
            <a:chExt cx="1845468" cy="738187"/>
          </a:xfrm>
          <a:solidFill>
            <a:srgbClr val="252E33"/>
          </a:solidFill>
        </p:grpSpPr>
        <p:sp>
          <p:nvSpPr>
            <p:cNvPr id="54" name="Chevron 53"/>
            <p:cNvSpPr/>
            <p:nvPr/>
          </p:nvSpPr>
          <p:spPr>
            <a:xfrm>
              <a:off x="4987726" y="883508"/>
              <a:ext cx="1845468" cy="738187"/>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sp>
        <p:sp>
          <p:nvSpPr>
            <p:cNvPr id="55" name="Chevron 10"/>
            <p:cNvSpPr/>
            <p:nvPr/>
          </p:nvSpPr>
          <p:spPr>
            <a:xfrm>
              <a:off x="5356820" y="883508"/>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BUILD</a:t>
              </a:r>
              <a:endParaRPr lang="en-US" sz="1500" b="1" kern="1200" dirty="0">
                <a:latin typeface="+mj-lt"/>
              </a:endParaRPr>
            </a:p>
          </p:txBody>
        </p:sp>
      </p:grpSp>
      <p:grpSp>
        <p:nvGrpSpPr>
          <p:cNvPr id="63" name="Group 62"/>
          <p:cNvGrpSpPr/>
          <p:nvPr/>
        </p:nvGrpSpPr>
        <p:grpSpPr>
          <a:xfrm>
            <a:off x="400018" y="1235852"/>
            <a:ext cx="1532007" cy="409573"/>
            <a:chOff x="30891" y="903919"/>
            <a:chExt cx="1845468" cy="738187"/>
          </a:xfrm>
          <a:solidFill>
            <a:srgbClr val="252E33"/>
          </a:solidFill>
        </p:grpSpPr>
        <p:sp>
          <p:nvSpPr>
            <p:cNvPr id="64" name="Chevron 63"/>
            <p:cNvSpPr/>
            <p:nvPr/>
          </p:nvSpPr>
          <p:spPr>
            <a:xfrm>
              <a:off x="30891" y="903919"/>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65" name="Chevron 4"/>
            <p:cNvSpPr/>
            <p:nvPr/>
          </p:nvSpPr>
          <p:spPr>
            <a:xfrm>
              <a:off x="399985" y="903919"/>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PROPOSE</a:t>
              </a:r>
              <a:endParaRPr lang="en-US" sz="1500" b="1" kern="1200" dirty="0">
                <a:latin typeface="+mj-lt"/>
              </a:endParaRPr>
            </a:p>
          </p:txBody>
        </p:sp>
      </p:grpSp>
      <p:grpSp>
        <p:nvGrpSpPr>
          <p:cNvPr id="30" name="Group 29"/>
          <p:cNvGrpSpPr/>
          <p:nvPr/>
        </p:nvGrpSpPr>
        <p:grpSpPr>
          <a:xfrm>
            <a:off x="6931772" y="1237213"/>
            <a:ext cx="1532007" cy="409573"/>
            <a:chOff x="6648648" y="883508"/>
            <a:chExt cx="1845468" cy="738187"/>
          </a:xfrm>
          <a:solidFill>
            <a:srgbClr val="252E33"/>
          </a:solidFill>
        </p:grpSpPr>
        <p:sp>
          <p:nvSpPr>
            <p:cNvPr id="31" name="Chevron 30"/>
            <p:cNvSpPr/>
            <p:nvPr/>
          </p:nvSpPr>
          <p:spPr>
            <a:xfrm>
              <a:off x="6648648"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32" name="Chevron 12"/>
            <p:cNvSpPr/>
            <p:nvPr/>
          </p:nvSpPr>
          <p:spPr>
            <a:xfrm>
              <a:off x="6903745" y="883508"/>
              <a:ext cx="1365622"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PUBLISH</a:t>
              </a:r>
              <a:endParaRPr lang="en-US" sz="1500" b="1" kern="1200" dirty="0">
                <a:latin typeface="+mj-lt"/>
              </a:endParaRPr>
            </a:p>
          </p:txBody>
        </p:sp>
      </p:grpSp>
      <p:sp>
        <p:nvSpPr>
          <p:cNvPr id="3" name="Title 2"/>
          <p:cNvSpPr>
            <a:spLocks noGrp="1"/>
          </p:cNvSpPr>
          <p:nvPr>
            <p:ph type="title"/>
          </p:nvPr>
        </p:nvSpPr>
        <p:spPr>
          <a:xfrm>
            <a:off x="562708" y="462938"/>
            <a:ext cx="8581291" cy="474808"/>
          </a:xfrm>
        </p:spPr>
        <p:txBody>
          <a:bodyPr>
            <a:normAutofit fontScale="90000"/>
          </a:bodyPr>
          <a:lstStyle/>
          <a:p>
            <a:r>
              <a:rPr lang="en-US" dirty="0"/>
              <a:t>BIZBOK BA &amp; MM TEAM ALIGNMENT</a:t>
            </a:r>
          </a:p>
        </p:txBody>
      </p:sp>
      <p:graphicFrame>
        <p:nvGraphicFramePr>
          <p:cNvPr id="4" name="Table 3"/>
          <p:cNvGraphicFramePr>
            <a:graphicFrameLocks noGrp="1"/>
          </p:cNvGraphicFramePr>
          <p:nvPr>
            <p:extLst>
              <p:ext uri="{D42A27DB-BD31-4B8C-83A1-F6EECF244321}">
                <p14:modId xmlns:p14="http://schemas.microsoft.com/office/powerpoint/2010/main" val="2226748161"/>
              </p:ext>
            </p:extLst>
          </p:nvPr>
        </p:nvGraphicFramePr>
        <p:xfrm>
          <a:off x="393743" y="1886337"/>
          <a:ext cx="8054042" cy="3915804"/>
        </p:xfrm>
        <a:graphic>
          <a:graphicData uri="http://schemas.openxmlformats.org/drawingml/2006/table">
            <a:tbl>
              <a:tblPr firstRow="1" bandRow="1">
                <a:tableStyleId>{5C22544A-7EE6-4342-B048-85BDC9FD1C3A}</a:tableStyleId>
              </a:tblPr>
              <a:tblGrid>
                <a:gridCol w="1039468"/>
                <a:gridCol w="7014574"/>
              </a:tblGrid>
              <a:tr h="978951">
                <a:tc>
                  <a:txBody>
                    <a:bodyPr/>
                    <a:lstStyle/>
                    <a:p>
                      <a:pPr algn="ctr"/>
                      <a:r>
                        <a:rPr lang="en-US" sz="1200" b="1" dirty="0" smtClean="0">
                          <a:solidFill>
                            <a:schemeClr val="tx1">
                              <a:lumMod val="85000"/>
                              <a:lumOff val="15000"/>
                            </a:schemeClr>
                          </a:solidFill>
                        </a:rPr>
                        <a:t>Collaboration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aseline="0" dirty="0" smtClean="0">
                          <a:solidFill>
                            <a:schemeClr val="accent6">
                              <a:lumMod val="75000"/>
                            </a:schemeClr>
                          </a:solidFill>
                        </a:rPr>
                        <a:t>Track progress of milestones with the PMO to ensure BIZBOK release is on course</a:t>
                      </a:r>
                      <a:endParaRPr lang="en-US" sz="1200" baseline="0" dirty="0" smtClean="0">
                        <a:solidFill>
                          <a:srgbClr val="00C49E"/>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Business</a:t>
                      </a:r>
                      <a:r>
                        <a:rPr lang="en-US" sz="1200" b="1" baseline="0" dirty="0" smtClean="0">
                          <a:solidFill>
                            <a:schemeClr val="tx1">
                              <a:lumMod val="85000"/>
                              <a:lumOff val="15000"/>
                            </a:schemeClr>
                          </a:solidFill>
                        </a:rPr>
                        <a:t> Analyst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baseline="0" dirty="0" smtClean="0">
                          <a:solidFill>
                            <a:schemeClr val="accent6">
                              <a:lumMod val="75000"/>
                            </a:schemeClr>
                          </a:solidFill>
                        </a:rPr>
                        <a:t>Review draft changes to each section (team by team) for the next BIZBOK release</a:t>
                      </a:r>
                    </a:p>
                    <a:p>
                      <a:pPr marL="171450" indent="-171450">
                        <a:buFont typeface="Arial"/>
                        <a:buChar char="•"/>
                      </a:pPr>
                      <a:r>
                        <a:rPr lang="en-US" sz="1200" baseline="0" dirty="0" smtClean="0">
                          <a:solidFill>
                            <a:schemeClr val="accent6">
                              <a:lumMod val="75000"/>
                            </a:schemeClr>
                          </a:solidFill>
                        </a:rPr>
                        <a:t>Draft updates for BIZBOK Part 4 (where all the scenarios are warehoused)</a:t>
                      </a:r>
                    </a:p>
                    <a:p>
                      <a:pPr marL="171450" indent="-171450">
                        <a:buFont typeface="Arial"/>
                        <a:buChar char="•"/>
                      </a:pPr>
                      <a:r>
                        <a:rPr lang="en-US" sz="1200" baseline="0" dirty="0" smtClean="0">
                          <a:solidFill>
                            <a:schemeClr val="accent6">
                              <a:lumMod val="75000"/>
                            </a:schemeClr>
                          </a:solidFill>
                        </a:rPr>
                        <a:t>Review draft changes to the Meta Model team (subset of scenarios being considered)</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Teams</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Draft</a:t>
                      </a:r>
                      <a:r>
                        <a:rPr lang="en-US" sz="1200" baseline="0" dirty="0" smtClean="0">
                          <a:solidFill>
                            <a:schemeClr val="accent6">
                              <a:lumMod val="75000"/>
                            </a:schemeClr>
                          </a:solidFill>
                        </a:rPr>
                        <a:t> </a:t>
                      </a:r>
                      <a:r>
                        <a:rPr lang="en-US" sz="1200" dirty="0" smtClean="0">
                          <a:solidFill>
                            <a:schemeClr val="accent6">
                              <a:lumMod val="75000"/>
                            </a:schemeClr>
                          </a:solidFill>
                        </a:rPr>
                        <a:t>changes required to their respective</a:t>
                      </a:r>
                      <a:r>
                        <a:rPr lang="en-US" sz="1200" baseline="0" dirty="0" smtClean="0">
                          <a:solidFill>
                            <a:schemeClr val="accent6">
                              <a:lumMod val="75000"/>
                            </a:schemeClr>
                          </a:solidFill>
                        </a:rPr>
                        <a:t> BIZBOK sections to address BA Team scope</a:t>
                      </a:r>
                    </a:p>
                    <a:p>
                      <a:pPr marL="171450" indent="-171450">
                        <a:buFont typeface="Arial"/>
                        <a:buChar char="•"/>
                      </a:pPr>
                      <a:r>
                        <a:rPr lang="en-US" sz="1200" baseline="0" dirty="0" smtClean="0">
                          <a:solidFill>
                            <a:schemeClr val="accent6">
                              <a:lumMod val="75000"/>
                            </a:schemeClr>
                          </a:solidFill>
                        </a:rPr>
                        <a:t>Review / Update milestones for next BIZBOK release</a:t>
                      </a:r>
                      <a:endParaRPr lang="en-US" sz="1200" dirty="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MM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Update</a:t>
                      </a:r>
                      <a:r>
                        <a:rPr lang="en-US" sz="1200" baseline="0" dirty="0" smtClean="0">
                          <a:solidFill>
                            <a:schemeClr val="accent6">
                              <a:lumMod val="75000"/>
                            </a:schemeClr>
                          </a:solidFill>
                        </a:rPr>
                        <a:t> Meta Model Core and changes to existing or new Extensions per BA Team scope</a:t>
                      </a:r>
                      <a:endParaRPr lang="en-US" sz="1200" dirty="0" smtClean="0">
                        <a:solidFill>
                          <a:schemeClr val="accent6">
                            <a:lumMod val="75000"/>
                          </a:schemeClr>
                        </a:solidFill>
                      </a:endParaRPr>
                    </a:p>
                    <a:p>
                      <a:pPr marL="171450" indent="-171450">
                        <a:buFont typeface="Arial"/>
                        <a:buChar char="•"/>
                      </a:pPr>
                      <a:r>
                        <a:rPr lang="en-US" sz="1200" dirty="0" smtClean="0">
                          <a:solidFill>
                            <a:schemeClr val="accent6">
                              <a:lumMod val="75000"/>
                            </a:schemeClr>
                          </a:solidFill>
                        </a:rPr>
                        <a:t>Review /</a:t>
                      </a:r>
                      <a:r>
                        <a:rPr lang="en-US" sz="1200" baseline="0" dirty="0" smtClean="0">
                          <a:solidFill>
                            <a:schemeClr val="accent6">
                              <a:lumMod val="75000"/>
                            </a:schemeClr>
                          </a:solidFill>
                        </a:rPr>
                        <a:t> Update milestones for the BIZBOK release</a:t>
                      </a:r>
                    </a:p>
                    <a:p>
                      <a:pPr marL="171450" indent="-171450">
                        <a:buFont typeface="Arial"/>
                        <a:buChar char="•"/>
                      </a:pPr>
                      <a:r>
                        <a:rPr lang="en-US" sz="1200" baseline="0" dirty="0" smtClean="0">
                          <a:solidFill>
                            <a:schemeClr val="accent6">
                              <a:lumMod val="75000"/>
                            </a:schemeClr>
                          </a:solidFill>
                        </a:rPr>
                        <a:t>Notify Vendor community (sub-team on MM Team) about planned extensions</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bl>
          </a:graphicData>
        </a:graphic>
      </p:graphicFrame>
    </p:spTree>
    <p:custDataLst>
      <p:tags r:id="rId1"/>
    </p:custDataLst>
    <p:extLst>
      <p:ext uri="{BB962C8B-B14F-4D97-AF65-F5344CB8AC3E}">
        <p14:creationId xmlns:p14="http://schemas.microsoft.com/office/powerpoint/2010/main" val="179644509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p:cNvGrpSpPr/>
          <p:nvPr/>
        </p:nvGrpSpPr>
        <p:grpSpPr>
          <a:xfrm>
            <a:off x="2032957" y="1240841"/>
            <a:ext cx="1532007" cy="409573"/>
            <a:chOff x="1665882" y="883508"/>
            <a:chExt cx="1845468" cy="738187"/>
          </a:xfrm>
          <a:solidFill>
            <a:srgbClr val="252E33"/>
          </a:solidFill>
        </p:grpSpPr>
        <p:sp>
          <p:nvSpPr>
            <p:cNvPr id="48" name="Chevron 47"/>
            <p:cNvSpPr/>
            <p:nvPr/>
          </p:nvSpPr>
          <p:spPr>
            <a:xfrm>
              <a:off x="1665882"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49" name="Chevron 6"/>
            <p:cNvSpPr/>
            <p:nvPr/>
          </p:nvSpPr>
          <p:spPr>
            <a:xfrm>
              <a:off x="2034976" y="883508"/>
              <a:ext cx="1294149"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RESEARCH</a:t>
              </a:r>
              <a:endParaRPr lang="en-US" sz="1500" b="1" kern="1200" dirty="0">
                <a:latin typeface="+mj-lt"/>
              </a:endParaRPr>
            </a:p>
          </p:txBody>
        </p:sp>
      </p:grpSp>
      <p:grpSp>
        <p:nvGrpSpPr>
          <p:cNvPr id="50" name="Group 49"/>
          <p:cNvGrpSpPr/>
          <p:nvPr/>
        </p:nvGrpSpPr>
        <p:grpSpPr>
          <a:xfrm>
            <a:off x="3665896" y="1235789"/>
            <a:ext cx="1532007" cy="409573"/>
            <a:chOff x="3430601" y="882084"/>
            <a:chExt cx="1845468" cy="738187"/>
          </a:xfrm>
          <a:solidFill>
            <a:srgbClr val="252E33"/>
          </a:solidFill>
        </p:grpSpPr>
        <p:sp>
          <p:nvSpPr>
            <p:cNvPr id="51" name="Chevron 50"/>
            <p:cNvSpPr/>
            <p:nvPr/>
          </p:nvSpPr>
          <p:spPr>
            <a:xfrm>
              <a:off x="3430601" y="882084"/>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2" name="Chevron 8"/>
            <p:cNvSpPr/>
            <p:nvPr/>
          </p:nvSpPr>
          <p:spPr>
            <a:xfrm>
              <a:off x="3799695" y="882084"/>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 DESIGN</a:t>
              </a:r>
              <a:endParaRPr lang="en-US" sz="1500" b="1" kern="1200" dirty="0">
                <a:latin typeface="+mj-lt"/>
              </a:endParaRPr>
            </a:p>
          </p:txBody>
        </p:sp>
      </p:grpSp>
      <p:grpSp>
        <p:nvGrpSpPr>
          <p:cNvPr id="53" name="Group 52"/>
          <p:cNvGrpSpPr/>
          <p:nvPr/>
        </p:nvGrpSpPr>
        <p:grpSpPr>
          <a:xfrm>
            <a:off x="5298835" y="1237213"/>
            <a:ext cx="1532007" cy="409573"/>
            <a:chOff x="4987726" y="883508"/>
            <a:chExt cx="1845468" cy="738187"/>
          </a:xfrm>
          <a:solidFill>
            <a:srgbClr val="252E33"/>
          </a:solidFill>
        </p:grpSpPr>
        <p:sp>
          <p:nvSpPr>
            <p:cNvPr id="54" name="Chevron 53"/>
            <p:cNvSpPr/>
            <p:nvPr/>
          </p:nvSpPr>
          <p:spPr>
            <a:xfrm>
              <a:off x="4987726" y="883508"/>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55" name="Chevron 10"/>
            <p:cNvSpPr/>
            <p:nvPr/>
          </p:nvSpPr>
          <p:spPr>
            <a:xfrm>
              <a:off x="5356820" y="883508"/>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kern="1200" dirty="0" smtClean="0">
                  <a:latin typeface="+mj-lt"/>
                </a:rPr>
                <a:t>BUILD</a:t>
              </a:r>
              <a:endParaRPr lang="en-US" sz="1500" b="1" kern="1200" dirty="0">
                <a:latin typeface="+mj-lt"/>
              </a:endParaRPr>
            </a:p>
          </p:txBody>
        </p:sp>
      </p:grpSp>
      <p:grpSp>
        <p:nvGrpSpPr>
          <p:cNvPr id="63" name="Group 62"/>
          <p:cNvGrpSpPr/>
          <p:nvPr/>
        </p:nvGrpSpPr>
        <p:grpSpPr>
          <a:xfrm>
            <a:off x="400018" y="1235852"/>
            <a:ext cx="1532007" cy="409573"/>
            <a:chOff x="30891" y="903919"/>
            <a:chExt cx="1845468" cy="738187"/>
          </a:xfrm>
          <a:solidFill>
            <a:srgbClr val="252E33"/>
          </a:solidFill>
        </p:grpSpPr>
        <p:sp>
          <p:nvSpPr>
            <p:cNvPr id="64" name="Chevron 63"/>
            <p:cNvSpPr/>
            <p:nvPr/>
          </p:nvSpPr>
          <p:spPr>
            <a:xfrm>
              <a:off x="30891" y="903919"/>
              <a:ext cx="1845468" cy="738187"/>
            </a:xfrm>
            <a:prstGeom prst="chevron">
              <a:avLst/>
            </a:prstGeom>
            <a:grpFill/>
            <a:ln>
              <a:noFill/>
            </a:ln>
          </p:spPr>
          <p:style>
            <a:lnRef idx="1">
              <a:schemeClr val="accent4"/>
            </a:lnRef>
            <a:fillRef idx="3">
              <a:schemeClr val="accent4"/>
            </a:fillRef>
            <a:effectRef idx="2">
              <a:schemeClr val="accent4"/>
            </a:effectRef>
            <a:fontRef idx="minor">
              <a:schemeClr val="lt1"/>
            </a:fontRef>
          </p:style>
        </p:sp>
        <p:sp>
          <p:nvSpPr>
            <p:cNvPr id="65" name="Chevron 4"/>
            <p:cNvSpPr/>
            <p:nvPr/>
          </p:nvSpPr>
          <p:spPr>
            <a:xfrm>
              <a:off x="399985" y="903919"/>
              <a:ext cx="1107281"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PROPOSE</a:t>
              </a:r>
              <a:endParaRPr lang="en-US" sz="1500" b="1" kern="1200" dirty="0">
                <a:latin typeface="+mj-lt"/>
              </a:endParaRPr>
            </a:p>
          </p:txBody>
        </p:sp>
      </p:grpSp>
      <p:grpSp>
        <p:nvGrpSpPr>
          <p:cNvPr id="30" name="Group 29"/>
          <p:cNvGrpSpPr/>
          <p:nvPr/>
        </p:nvGrpSpPr>
        <p:grpSpPr>
          <a:xfrm>
            <a:off x="6931772" y="1237213"/>
            <a:ext cx="1532007" cy="409573"/>
            <a:chOff x="6648648" y="883508"/>
            <a:chExt cx="1845468" cy="738187"/>
          </a:xfrm>
          <a:solidFill>
            <a:srgbClr val="252E33"/>
          </a:solidFill>
        </p:grpSpPr>
        <p:sp>
          <p:nvSpPr>
            <p:cNvPr id="31" name="Chevron 30"/>
            <p:cNvSpPr/>
            <p:nvPr/>
          </p:nvSpPr>
          <p:spPr>
            <a:xfrm>
              <a:off x="6648648" y="883508"/>
              <a:ext cx="1845468" cy="738187"/>
            </a:xfrm>
            <a:prstGeom prst="chevron">
              <a:avLst/>
            </a:prstGeom>
            <a:solidFill>
              <a:srgbClr val="00C49E"/>
            </a:solidFill>
            <a:ln>
              <a:noFill/>
            </a:ln>
          </p:spPr>
          <p:style>
            <a:lnRef idx="1">
              <a:schemeClr val="accent4"/>
            </a:lnRef>
            <a:fillRef idx="3">
              <a:schemeClr val="accent4"/>
            </a:fillRef>
            <a:effectRef idx="2">
              <a:schemeClr val="accent4"/>
            </a:effectRef>
            <a:fontRef idx="minor">
              <a:schemeClr val="lt1"/>
            </a:fontRef>
          </p:style>
        </p:sp>
        <p:sp>
          <p:nvSpPr>
            <p:cNvPr id="32" name="Chevron 12"/>
            <p:cNvSpPr/>
            <p:nvPr/>
          </p:nvSpPr>
          <p:spPr>
            <a:xfrm>
              <a:off x="6903745" y="883508"/>
              <a:ext cx="1365622" cy="738187"/>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sz="1500" b="1" dirty="0" smtClean="0">
                  <a:latin typeface="+mj-lt"/>
                </a:rPr>
                <a:t>PUBLISH</a:t>
              </a:r>
              <a:endParaRPr lang="en-US" sz="1500" b="1" kern="1200" dirty="0">
                <a:latin typeface="+mj-lt"/>
              </a:endParaRPr>
            </a:p>
          </p:txBody>
        </p:sp>
      </p:grpSp>
      <p:sp>
        <p:nvSpPr>
          <p:cNvPr id="3" name="Title 2"/>
          <p:cNvSpPr>
            <a:spLocks noGrp="1"/>
          </p:cNvSpPr>
          <p:nvPr>
            <p:ph type="title"/>
          </p:nvPr>
        </p:nvSpPr>
        <p:spPr>
          <a:xfrm>
            <a:off x="562708" y="462938"/>
            <a:ext cx="8581291" cy="474808"/>
          </a:xfrm>
        </p:spPr>
        <p:txBody>
          <a:bodyPr>
            <a:normAutofit fontScale="90000"/>
          </a:bodyPr>
          <a:lstStyle/>
          <a:p>
            <a:r>
              <a:rPr lang="en-US" dirty="0"/>
              <a:t>BIZBOK BA &amp; MM TEAM ALIGNMENT</a:t>
            </a:r>
          </a:p>
        </p:txBody>
      </p:sp>
      <p:graphicFrame>
        <p:nvGraphicFramePr>
          <p:cNvPr id="4" name="Table 3"/>
          <p:cNvGraphicFramePr>
            <a:graphicFrameLocks noGrp="1"/>
          </p:cNvGraphicFramePr>
          <p:nvPr>
            <p:extLst>
              <p:ext uri="{D42A27DB-BD31-4B8C-83A1-F6EECF244321}">
                <p14:modId xmlns:p14="http://schemas.microsoft.com/office/powerpoint/2010/main" val="4182382904"/>
              </p:ext>
            </p:extLst>
          </p:nvPr>
        </p:nvGraphicFramePr>
        <p:xfrm>
          <a:off x="393743" y="1886337"/>
          <a:ext cx="8054042" cy="3915804"/>
        </p:xfrm>
        <a:graphic>
          <a:graphicData uri="http://schemas.openxmlformats.org/drawingml/2006/table">
            <a:tbl>
              <a:tblPr firstRow="1" bandRow="1">
                <a:tableStyleId>{5C22544A-7EE6-4342-B048-85BDC9FD1C3A}</a:tableStyleId>
              </a:tblPr>
              <a:tblGrid>
                <a:gridCol w="1039468"/>
                <a:gridCol w="7014574"/>
              </a:tblGrid>
              <a:tr h="978951">
                <a:tc>
                  <a:txBody>
                    <a:bodyPr/>
                    <a:lstStyle/>
                    <a:p>
                      <a:pPr algn="ctr"/>
                      <a:r>
                        <a:rPr lang="en-US" sz="1200" b="1" dirty="0" smtClean="0">
                          <a:solidFill>
                            <a:schemeClr val="tx1">
                              <a:lumMod val="85000"/>
                              <a:lumOff val="15000"/>
                            </a:schemeClr>
                          </a:solidFill>
                        </a:rPr>
                        <a:t>Collaboration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aseline="0" dirty="0" smtClean="0">
                          <a:solidFill>
                            <a:schemeClr val="accent6">
                              <a:lumMod val="75000"/>
                            </a:schemeClr>
                          </a:solidFill>
                        </a:rPr>
                        <a:t>Provide a unified communication plan to the board, BIZBOK editorial board, and stakeholders</a:t>
                      </a:r>
                      <a:endParaRPr lang="en-US" sz="1200" baseline="0" dirty="0" smtClean="0">
                        <a:solidFill>
                          <a:srgbClr val="00C49E"/>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Business</a:t>
                      </a:r>
                      <a:r>
                        <a:rPr lang="en-US" sz="1200" b="1" baseline="0" dirty="0" smtClean="0">
                          <a:solidFill>
                            <a:schemeClr val="tx1">
                              <a:lumMod val="85000"/>
                              <a:lumOff val="15000"/>
                            </a:schemeClr>
                          </a:solidFill>
                        </a:rPr>
                        <a:t> Analyst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baseline="0" dirty="0" smtClean="0">
                          <a:solidFill>
                            <a:schemeClr val="accent6">
                              <a:lumMod val="75000"/>
                            </a:schemeClr>
                          </a:solidFill>
                        </a:rPr>
                        <a:t>Signoff on scenario references in BIZBOK Team sections (changes for release) </a:t>
                      </a:r>
                    </a:p>
                    <a:p>
                      <a:pPr marL="171450" indent="-171450">
                        <a:buFont typeface="Arial"/>
                        <a:buChar char="•"/>
                      </a:pPr>
                      <a:r>
                        <a:rPr lang="en-US" sz="1200" baseline="0" dirty="0" smtClean="0">
                          <a:solidFill>
                            <a:schemeClr val="accent6">
                              <a:lumMod val="75000"/>
                            </a:schemeClr>
                          </a:solidFill>
                        </a:rPr>
                        <a:t>Publish updates for BIZBOK Part 4 for BIZBOK Editorial Board</a:t>
                      </a:r>
                    </a:p>
                    <a:p>
                      <a:pPr marL="171450" indent="-171450">
                        <a:buFont typeface="Arial"/>
                        <a:buChar char="•"/>
                      </a:pPr>
                      <a:r>
                        <a:rPr lang="en-US" sz="1200" baseline="0" dirty="0" smtClean="0">
                          <a:solidFill>
                            <a:schemeClr val="accent6">
                              <a:lumMod val="75000"/>
                            </a:schemeClr>
                          </a:solidFill>
                        </a:rPr>
                        <a:t>Signoff on changes to the Meta Model team (subset of scenarios being considered)</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Teams</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Publish</a:t>
                      </a:r>
                      <a:r>
                        <a:rPr lang="en-US" sz="1200" baseline="0" dirty="0" smtClean="0">
                          <a:solidFill>
                            <a:schemeClr val="accent6">
                              <a:lumMod val="75000"/>
                            </a:schemeClr>
                          </a:solidFill>
                        </a:rPr>
                        <a:t> </a:t>
                      </a:r>
                      <a:r>
                        <a:rPr lang="en-US" sz="1200" dirty="0" smtClean="0">
                          <a:solidFill>
                            <a:schemeClr val="accent6">
                              <a:lumMod val="75000"/>
                            </a:schemeClr>
                          </a:solidFill>
                        </a:rPr>
                        <a:t>changes required to their respective</a:t>
                      </a:r>
                      <a:r>
                        <a:rPr lang="en-US" sz="1200" baseline="0" dirty="0" smtClean="0">
                          <a:solidFill>
                            <a:schemeClr val="accent6">
                              <a:lumMod val="75000"/>
                            </a:schemeClr>
                          </a:solidFill>
                        </a:rPr>
                        <a:t> BIZBOK sections to address BA Team scope</a:t>
                      </a:r>
                    </a:p>
                    <a:p>
                      <a:pPr marL="171450" indent="-171450">
                        <a:buFont typeface="Arial"/>
                        <a:buChar char="•"/>
                      </a:pPr>
                      <a:r>
                        <a:rPr lang="en-US" sz="1200" baseline="0" dirty="0" smtClean="0">
                          <a:solidFill>
                            <a:schemeClr val="accent6">
                              <a:lumMod val="75000"/>
                            </a:schemeClr>
                          </a:solidFill>
                        </a:rPr>
                        <a:t>Obtain signoff on scenario references from BA Team</a:t>
                      </a:r>
                      <a:endParaRPr lang="en-US" sz="1200" dirty="0">
                        <a:solidFill>
                          <a:schemeClr val="accent6">
                            <a:lumMod val="75000"/>
                          </a:schemeClr>
                        </a:solidFill>
                      </a:endParaRP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r h="978951">
                <a:tc>
                  <a:txBody>
                    <a:bodyPr/>
                    <a:lstStyle/>
                    <a:p>
                      <a:pPr algn="ctr"/>
                      <a:r>
                        <a:rPr lang="en-US" sz="1200" b="1" dirty="0" smtClean="0">
                          <a:solidFill>
                            <a:schemeClr val="tx1">
                              <a:lumMod val="85000"/>
                              <a:lumOff val="15000"/>
                            </a:schemeClr>
                          </a:solidFill>
                        </a:rPr>
                        <a:t>BIZBOK MM Team</a:t>
                      </a:r>
                      <a:endParaRPr lang="en-US" sz="1200" b="1" dirty="0">
                        <a:solidFill>
                          <a:schemeClr val="tx1">
                            <a:lumMod val="85000"/>
                            <a:lumOff val="15000"/>
                          </a:schemeClr>
                        </a:solidFill>
                      </a:endParaRPr>
                    </a:p>
                  </a:txBody>
                  <a:tcPr anchor="ctr">
                    <a:lnL w="28575" cap="flat" cmpd="sng" algn="ctr">
                      <a:solidFill>
                        <a:srgbClr val="F96A1B"/>
                      </a:solidFill>
                      <a:prstDash val="sysDash"/>
                      <a:round/>
                      <a:headEnd type="none" w="med" len="med"/>
                      <a:tailEnd type="none" w="med" len="med"/>
                    </a:lnL>
                    <a:lnR w="28575" cap="flat" cmpd="sng" algn="ctr">
                      <a:solidFill>
                        <a:srgbClr val="F96A1B"/>
                      </a:solidFill>
                      <a:prstDash val="sysDash"/>
                      <a:round/>
                      <a:headEnd type="none" w="med" len="med"/>
                      <a:tailEnd type="none" w="med" len="med"/>
                    </a:lnR>
                    <a:lnT w="28575" cap="flat" cmpd="sng" algn="ctr">
                      <a:solidFill>
                        <a:srgbClr val="F96A1B"/>
                      </a:solidFill>
                      <a:prstDash val="sysDash"/>
                      <a:round/>
                      <a:headEnd type="none" w="med" len="med"/>
                      <a:tailEnd type="none" w="med" len="med"/>
                    </a:lnT>
                    <a:lnB w="28575" cap="flat" cmpd="sng" algn="ctr">
                      <a:solidFill>
                        <a:srgbClr val="F96A1B"/>
                      </a:solidFill>
                      <a:prstDash val="sysDash"/>
                      <a:round/>
                      <a:headEnd type="none" w="med" len="med"/>
                      <a:tailEnd type="none" w="med" len="med"/>
                    </a:lnB>
                    <a:noFill/>
                  </a:tcPr>
                </a:tc>
                <a:tc>
                  <a:txBody>
                    <a:bodyPr/>
                    <a:lstStyle/>
                    <a:p>
                      <a:pPr marL="171450" indent="-171450">
                        <a:buFont typeface="Arial"/>
                        <a:buChar char="•"/>
                      </a:pPr>
                      <a:r>
                        <a:rPr lang="en-US" sz="1200" dirty="0" smtClean="0">
                          <a:solidFill>
                            <a:schemeClr val="accent6">
                              <a:lumMod val="75000"/>
                            </a:schemeClr>
                          </a:solidFill>
                        </a:rPr>
                        <a:t>Publish changes to</a:t>
                      </a:r>
                      <a:r>
                        <a:rPr lang="en-US" sz="1200" baseline="0" dirty="0" smtClean="0">
                          <a:solidFill>
                            <a:schemeClr val="accent6">
                              <a:lumMod val="75000"/>
                            </a:schemeClr>
                          </a:solidFill>
                        </a:rPr>
                        <a:t> Meta Model Core and to existing or new Extensions per BA Team scope</a:t>
                      </a:r>
                      <a:endParaRPr lang="en-US" sz="1200" dirty="0" smtClean="0">
                        <a:solidFill>
                          <a:schemeClr val="accent6">
                            <a:lumMod val="75000"/>
                          </a:schemeClr>
                        </a:solidFill>
                      </a:endParaRPr>
                    </a:p>
                    <a:p>
                      <a:pPr marL="171450" indent="-171450">
                        <a:buFont typeface="Arial"/>
                        <a:buChar char="•"/>
                      </a:pPr>
                      <a:r>
                        <a:rPr lang="en-US" sz="1200" baseline="0" dirty="0" smtClean="0">
                          <a:solidFill>
                            <a:schemeClr val="accent6">
                              <a:lumMod val="75000"/>
                            </a:schemeClr>
                          </a:solidFill>
                        </a:rPr>
                        <a:t>Obtain signoff on scenario references from BA Team</a:t>
                      </a:r>
                      <a:endParaRPr lang="en-US" sz="1200" dirty="0" smtClean="0">
                        <a:solidFill>
                          <a:schemeClr val="accent6">
                            <a:lumMod val="75000"/>
                          </a:schemeClr>
                        </a:solidFill>
                      </a:endParaRPr>
                    </a:p>
                    <a:p>
                      <a:pPr marL="171450" indent="-171450">
                        <a:buFont typeface="Arial"/>
                        <a:buChar char="•"/>
                      </a:pPr>
                      <a:r>
                        <a:rPr lang="en-US" sz="1200" baseline="0" dirty="0" smtClean="0">
                          <a:solidFill>
                            <a:schemeClr val="accent6">
                              <a:lumMod val="75000"/>
                            </a:schemeClr>
                          </a:solidFill>
                        </a:rPr>
                        <a:t>Socialize proposed changes to to Standards organizations (if any changes to core – very rare)</a:t>
                      </a:r>
                    </a:p>
                    <a:p>
                      <a:pPr marL="171450" indent="-171450">
                        <a:buFont typeface="Arial"/>
                        <a:buChar char="•"/>
                      </a:pPr>
                      <a:r>
                        <a:rPr lang="en-US" sz="1200" baseline="0" dirty="0" smtClean="0">
                          <a:solidFill>
                            <a:schemeClr val="accent6">
                              <a:lumMod val="75000"/>
                            </a:schemeClr>
                          </a:solidFill>
                        </a:rPr>
                        <a:t>Provide communication to vendor community (sub-team on MM Team) about new/updated extensions</a:t>
                      </a:r>
                    </a:p>
                  </a:txBody>
                  <a:tcPr anchor="b">
                    <a:lnL w="28575" cap="flat" cmpd="sng" algn="ctr">
                      <a:solidFill>
                        <a:srgbClr val="F96A1B"/>
                      </a:solidFill>
                      <a:prstDash val="sysDash"/>
                      <a:round/>
                      <a:headEnd type="none" w="med" len="med"/>
                      <a:tailEnd type="none" w="med" len="med"/>
                    </a:lnL>
                    <a:lnR w="28575" cap="flat" cmpd="sng" algn="ctr">
                      <a:solidFill>
                        <a:srgbClr val="000000">
                          <a:lumMod val="65000"/>
                          <a:lumOff val="35000"/>
                        </a:srgbClr>
                      </a:solidFill>
                      <a:prstDash val="solid"/>
                      <a:round/>
                      <a:headEnd type="none" w="med" len="med"/>
                      <a:tailEnd type="none" w="med" len="med"/>
                    </a:lnR>
                    <a:lnT w="28575" cap="flat" cmpd="sng" algn="ctr">
                      <a:solidFill>
                        <a:srgbClr val="000000">
                          <a:lumMod val="65000"/>
                          <a:lumOff val="35000"/>
                        </a:srgbClr>
                      </a:solidFill>
                      <a:prstDash val="solid"/>
                      <a:round/>
                      <a:headEnd type="none" w="med" len="med"/>
                      <a:tailEnd type="none" w="med" len="med"/>
                    </a:lnT>
                    <a:lnB w="28575" cap="flat" cmpd="sng" algn="ctr">
                      <a:solidFill>
                        <a:srgbClr val="000000">
                          <a:lumMod val="65000"/>
                          <a:lumOff val="35000"/>
                        </a:srgbClr>
                      </a:solidFill>
                      <a:prstDash val="solid"/>
                      <a:round/>
                      <a:headEnd type="none" w="med" len="med"/>
                      <a:tailEnd type="none" w="med" len="med"/>
                    </a:lnB>
                    <a:solidFill>
                      <a:schemeClr val="bg1">
                        <a:lumMod val="85000"/>
                      </a:schemeClr>
                    </a:solidFill>
                  </a:tcPr>
                </a:tc>
              </a:tr>
            </a:tbl>
          </a:graphicData>
        </a:graphic>
      </p:graphicFrame>
    </p:spTree>
    <p:custDataLst>
      <p:tags r:id="rId1"/>
    </p:custDataLst>
    <p:extLst>
      <p:ext uri="{BB962C8B-B14F-4D97-AF65-F5344CB8AC3E}">
        <p14:creationId xmlns:p14="http://schemas.microsoft.com/office/powerpoint/2010/main" val="179644509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idx="1"/>
          </p:nvPr>
        </p:nvSpPr>
        <p:spPr>
          <a:xfrm>
            <a:off x="457200" y="1320762"/>
            <a:ext cx="8229600" cy="3579849"/>
          </a:xfrm>
        </p:spPr>
        <p:txBody>
          <a:bodyPr>
            <a:normAutofit/>
          </a:bodyPr>
          <a:lstStyle/>
          <a:p>
            <a:pPr>
              <a:buFont typeface="Wingdings" charset="2"/>
              <a:buChar char="q"/>
            </a:pPr>
            <a:r>
              <a:rPr lang="en-US" sz="2400" b="0" dirty="0" smtClean="0">
                <a:latin typeface="PT Sans"/>
                <a:cs typeface="PT Sans"/>
              </a:rPr>
              <a:t>Review with Alex </a:t>
            </a:r>
            <a:r>
              <a:rPr lang="en-US" sz="2400" b="0" dirty="0" err="1" smtClean="0">
                <a:latin typeface="PT Sans"/>
                <a:cs typeface="PT Sans"/>
              </a:rPr>
              <a:t>Randell</a:t>
            </a:r>
            <a:r>
              <a:rPr lang="en-US" sz="2400" b="0" dirty="0" smtClean="0">
                <a:latin typeface="PT Sans"/>
                <a:cs typeface="PT Sans"/>
              </a:rPr>
              <a:t> &amp; Janice Lewis</a:t>
            </a:r>
          </a:p>
          <a:p>
            <a:pPr>
              <a:buFont typeface="Wingdings" charset="2"/>
              <a:buChar char="q"/>
            </a:pPr>
            <a:r>
              <a:rPr lang="en-US" sz="2400" b="0" dirty="0" smtClean="0">
                <a:latin typeface="PT Sans"/>
                <a:cs typeface="PT Sans"/>
              </a:rPr>
              <a:t>Present to the Collaboration Team (incl. PMO Team)</a:t>
            </a:r>
          </a:p>
          <a:p>
            <a:pPr>
              <a:buFont typeface="Wingdings" charset="2"/>
              <a:buChar char="q"/>
            </a:pPr>
            <a:r>
              <a:rPr lang="en-US" sz="2400" b="0" dirty="0" smtClean="0">
                <a:latin typeface="PT Sans"/>
                <a:cs typeface="PT Sans"/>
              </a:rPr>
              <a:t>Present to the BIZBOK Editorial Board</a:t>
            </a:r>
          </a:p>
          <a:p>
            <a:pPr>
              <a:buFont typeface="Wingdings" charset="2"/>
              <a:buChar char="q"/>
            </a:pPr>
            <a:r>
              <a:rPr lang="en-US" sz="2400" b="0" dirty="0" smtClean="0">
                <a:latin typeface="PT Sans"/>
                <a:cs typeface="PT Sans"/>
              </a:rPr>
              <a:t>Implement for the next BIZBOK release (Q2 2015)</a:t>
            </a:r>
          </a:p>
          <a:p>
            <a:pPr>
              <a:buFont typeface="Wingdings" charset="2"/>
              <a:buChar char="q"/>
            </a:pPr>
            <a:r>
              <a:rPr lang="en-US" sz="2400" b="0" dirty="0" smtClean="0">
                <a:latin typeface="PT Sans"/>
                <a:cs typeface="PT Sans"/>
              </a:rPr>
              <a:t>Begin building the pipeline &amp; catalogue of scenarios</a:t>
            </a:r>
          </a:p>
          <a:p>
            <a:pPr>
              <a:buFont typeface="Wingdings" charset="2"/>
              <a:buChar char="q"/>
            </a:pPr>
            <a:r>
              <a:rPr lang="en-US" sz="2400" b="0" dirty="0">
                <a:latin typeface="PT Sans"/>
                <a:cs typeface="PT Sans"/>
              </a:rPr>
              <a:t>Continue to refine the process with all </a:t>
            </a:r>
            <a:r>
              <a:rPr lang="en-US" sz="2400" b="0" dirty="0" smtClean="0">
                <a:latin typeface="PT Sans"/>
                <a:cs typeface="PT Sans"/>
              </a:rPr>
              <a:t>teams</a:t>
            </a:r>
            <a:endParaRPr lang="en-US" sz="2400" b="0" dirty="0">
              <a:latin typeface="PT Sans"/>
              <a:cs typeface="PT Sans"/>
            </a:endParaRPr>
          </a:p>
        </p:txBody>
      </p:sp>
      <p:sp>
        <p:nvSpPr>
          <p:cNvPr id="5" name="Date Placeholder 4"/>
          <p:cNvSpPr>
            <a:spLocks noGrp="1"/>
          </p:cNvSpPr>
          <p:nvPr>
            <p:ph type="dt" sz="half" idx="10"/>
          </p:nvPr>
        </p:nvSpPr>
        <p:spPr/>
        <p:txBody>
          <a:bodyPr/>
          <a:lstStyle/>
          <a:p>
            <a:fld id="{12CAECBC-A02B-4AAF-96EF-C1FB7CCADF94}" type="datetime1">
              <a:rPr lang="en-US" smtClean="0"/>
              <a:pPr/>
              <a:t>1/29/15</a:t>
            </a:fld>
            <a:endParaRPr lang="en-US"/>
          </a:p>
        </p:txBody>
      </p:sp>
      <p:sp>
        <p:nvSpPr>
          <p:cNvPr id="4" name="Slide Number Placeholder 3"/>
          <p:cNvSpPr>
            <a:spLocks noGrp="1"/>
          </p:cNvSpPr>
          <p:nvPr>
            <p:ph type="sldNum" sz="quarter" idx="12"/>
          </p:nvPr>
        </p:nvSpPr>
        <p:spPr/>
        <p:txBody>
          <a:bodyPr/>
          <a:lstStyle/>
          <a:p>
            <a:fld id="{8D059518-4F10-4CC2-99CC-9CA73E170347}" type="slidenum">
              <a:rPr lang="en-US" smtClean="0"/>
              <a:pPr/>
              <a:t>9</a:t>
            </a:fld>
            <a:endParaRPr lang="en-US"/>
          </a:p>
        </p:txBody>
      </p:sp>
      <p:sp>
        <p:nvSpPr>
          <p:cNvPr id="17" name="Footer Placeholder 16"/>
          <p:cNvSpPr>
            <a:spLocks noGrp="1"/>
          </p:cNvSpPr>
          <p:nvPr>
            <p:ph type="ftr" sz="quarter" idx="13"/>
          </p:nvPr>
        </p:nvSpPr>
        <p:spPr/>
        <p:txBody>
          <a:bodyPr/>
          <a:lstStyle/>
          <a:p>
            <a:r>
              <a:rPr lang="en-US" smtClean="0"/>
              <a:t>Copyright 2014</a:t>
            </a:r>
            <a:endParaRPr lang="en-US" dirty="0"/>
          </a:p>
        </p:txBody>
      </p:sp>
      <p:sp>
        <p:nvSpPr>
          <p:cNvPr id="12" name="Title 11"/>
          <p:cNvSpPr>
            <a:spLocks noGrp="1"/>
          </p:cNvSpPr>
          <p:nvPr>
            <p:ph type="title"/>
          </p:nvPr>
        </p:nvSpPr>
        <p:spPr/>
        <p:txBody>
          <a:bodyPr/>
          <a:lstStyle/>
          <a:p>
            <a:r>
              <a:rPr lang="en-US" dirty="0" smtClean="0"/>
              <a:t>Next steps</a:t>
            </a:r>
            <a:endParaRPr lang="en-US" dirty="0"/>
          </a:p>
        </p:txBody>
      </p:sp>
    </p:spTree>
    <p:extLst>
      <p:ext uri="{BB962C8B-B14F-4D97-AF65-F5344CB8AC3E}">
        <p14:creationId xmlns:p14="http://schemas.microsoft.com/office/powerpoint/2010/main" val="3976686044"/>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D23D1F-8B6B-46FD-90B9-289ACA433332}" type="datetime1">
              <a:rPr lang="en-US" smtClean="0"/>
              <a:pPr/>
              <a:t>1/29/15</a:t>
            </a:fld>
            <a:endParaRPr lang="en-US" dirty="0"/>
          </a:p>
        </p:txBody>
      </p:sp>
      <p:sp>
        <p:nvSpPr>
          <p:cNvPr id="3" name="Footer Placeholder 2"/>
          <p:cNvSpPr>
            <a:spLocks noGrp="1"/>
          </p:cNvSpPr>
          <p:nvPr>
            <p:ph type="ftr" sz="quarter" idx="11"/>
          </p:nvPr>
        </p:nvSpPr>
        <p:spPr/>
        <p:txBody>
          <a:bodyPr/>
          <a:lstStyle/>
          <a:p>
            <a:r>
              <a:rPr lang="en-US" smtClean="0"/>
              <a:t>Copyright 2014</a:t>
            </a:r>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10</a:t>
            </a:fld>
            <a:endParaRPr lang="en-US" dirty="0"/>
          </a:p>
        </p:txBody>
      </p:sp>
      <p:sp>
        <p:nvSpPr>
          <p:cNvPr id="6" name="Title 5"/>
          <p:cNvSpPr>
            <a:spLocks noGrp="1"/>
          </p:cNvSpPr>
          <p:nvPr>
            <p:ph type="title"/>
          </p:nvPr>
        </p:nvSpPr>
        <p:spPr>
          <a:xfrm>
            <a:off x="1756949" y="2990425"/>
            <a:ext cx="5604569" cy="615553"/>
          </a:xfrm>
        </p:spPr>
        <p:txBody>
          <a:bodyPr/>
          <a:lstStyle/>
          <a:p>
            <a:r>
              <a:rPr lang="en-US" dirty="0" smtClean="0"/>
              <a:t>Thanks for your time</a:t>
            </a:r>
            <a:endParaRPr lang="en-US" sz="2400" dirty="0"/>
          </a:p>
        </p:txBody>
      </p:sp>
    </p:spTree>
    <p:extLst>
      <p:ext uri="{BB962C8B-B14F-4D97-AF65-F5344CB8AC3E}">
        <p14:creationId xmlns:p14="http://schemas.microsoft.com/office/powerpoint/2010/main" val="40087580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SYNC_SLIDE_GUID" val="cdb0918e-0d61-420f-9be0-fdfb039ebb81"/>
</p:tagLst>
</file>

<file path=ppt/tags/tag2.xml><?xml version="1.0" encoding="utf-8"?>
<p:tagLst xmlns:a="http://schemas.openxmlformats.org/drawingml/2006/main" xmlns:r="http://schemas.openxmlformats.org/officeDocument/2006/relationships" xmlns:p="http://schemas.openxmlformats.org/presentationml/2006/main">
  <p:tag name="OFFISYNC_SLIDE_GUID" val="cdb0918e-0d61-420f-9be0-fdfb039ebb81"/>
</p:tagLst>
</file>

<file path=ppt/tags/tag3.xml><?xml version="1.0" encoding="utf-8"?>
<p:tagLst xmlns:a="http://schemas.openxmlformats.org/drawingml/2006/main" xmlns:r="http://schemas.openxmlformats.org/officeDocument/2006/relationships" xmlns:p="http://schemas.openxmlformats.org/presentationml/2006/main">
  <p:tag name="OFFISYNC_SLIDE_GUID" val="cdb0918e-0d61-420f-9be0-fdfb039ebb81"/>
</p:tagLst>
</file>

<file path=ppt/tags/tag4.xml><?xml version="1.0" encoding="utf-8"?>
<p:tagLst xmlns:a="http://schemas.openxmlformats.org/drawingml/2006/main" xmlns:r="http://schemas.openxmlformats.org/officeDocument/2006/relationships" xmlns:p="http://schemas.openxmlformats.org/presentationml/2006/main">
  <p:tag name="OFFISYNC_SLIDE_GUID" val="cdb0918e-0d61-420f-9be0-fdfb039ebb81"/>
</p:tagLst>
</file>

<file path=ppt/tags/tag5.xml><?xml version="1.0" encoding="utf-8"?>
<p:tagLst xmlns:a="http://schemas.openxmlformats.org/drawingml/2006/main" xmlns:r="http://schemas.openxmlformats.org/officeDocument/2006/relationships" xmlns:p="http://schemas.openxmlformats.org/presentationml/2006/main">
  <p:tag name="OFFISYNC_SLIDE_GUID" val="cdb0918e-0d61-420f-9be0-fdfb039ebb81"/>
</p:tagLst>
</file>

<file path=ppt/tags/tag6.xml><?xml version="1.0" encoding="utf-8"?>
<p:tagLst xmlns:a="http://schemas.openxmlformats.org/drawingml/2006/main" xmlns:r="http://schemas.openxmlformats.org/officeDocument/2006/relationships" xmlns:p="http://schemas.openxmlformats.org/presentationml/2006/main">
  <p:tag name="OFFISYNC_SLIDE_GUID" val="cdb0918e-0d61-420f-9be0-fdfb039ebb8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1416</TotalTime>
  <Words>1031</Words>
  <Application>Microsoft Macintosh PowerPoint</Application>
  <PresentationFormat>On-screen Show (4:3)</PresentationFormat>
  <Paragraphs>144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1_Angles</vt:lpstr>
      <vt:lpstr>BA Team Process Proposal</vt:lpstr>
      <vt:lpstr>Overview</vt:lpstr>
      <vt:lpstr>BIZBOK Publishing cycle</vt:lpstr>
      <vt:lpstr>BIZBOK BA &amp; MM TEAM ALIGNMENT</vt:lpstr>
      <vt:lpstr>BIZBOK BA &amp; MM TEAM ALIGNMENT</vt:lpstr>
      <vt:lpstr>BIZBOK BA &amp; MM TEAM ALIGNMENT</vt:lpstr>
      <vt:lpstr>BIZBOK BA &amp; MM TEAM ALIGNMENT</vt:lpstr>
      <vt:lpstr>BIZBOK BA &amp; MM TEAM ALIGNMENT</vt:lpstr>
      <vt:lpstr>Next steps</vt:lpstr>
      <vt:lpstr>Thanks for your time</vt:lpstr>
    </vt:vector>
  </TitlesOfParts>
  <Company>Business Architecture Guild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Architecture meets Strategic Planning</dc:title>
  <dc:creator>kathy</dc:creator>
  <cp:lastModifiedBy>jeffrey wallk</cp:lastModifiedBy>
  <cp:revision>69</cp:revision>
  <dcterms:created xsi:type="dcterms:W3CDTF">2012-10-06T17:50:46Z</dcterms:created>
  <dcterms:modified xsi:type="dcterms:W3CDTF">2015-01-29T23:48:17Z</dcterms:modified>
  <cp:contentStatus>DRAFT</cp:contentStatus>
</cp:coreProperties>
</file>
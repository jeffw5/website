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1"/>
  </p:notesMasterIdLst>
  <p:handoutMasterIdLst>
    <p:handoutMasterId r:id="rId12"/>
  </p:handoutMasterIdLst>
  <p:sldIdLst>
    <p:sldId id="259" r:id="rId2"/>
    <p:sldId id="258" r:id="rId3"/>
    <p:sldId id="261" r:id="rId4"/>
    <p:sldId id="265" r:id="rId5"/>
    <p:sldId id="262" r:id="rId6"/>
    <p:sldId id="263" r:id="rId7"/>
    <p:sldId id="264" r:id="rId8"/>
    <p:sldId id="266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4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5413"/>
    <a:srgbClr val="00C49E"/>
    <a:srgbClr val="252E33"/>
    <a:srgbClr val="3F4E56"/>
    <a:srgbClr val="0000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26" y="78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Business Architecture Guild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t>3/28/2018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Copyright 2012 @ Business Architecture Guild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Business Architecture Guild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t>3/28/2018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Copyright 2012 @ Business Architecture Guild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190" y="3523787"/>
            <a:ext cx="9146380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46304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457200" y="2798081"/>
            <a:ext cx="8229600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3515231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t>3/28/2018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3/28/2018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t>3/28/2018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515226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20314" y="2798076"/>
            <a:ext cx="8103373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9144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3/28/2018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3/28/2018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3/28/2018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3/28/2018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03200" y="927100"/>
            <a:ext cx="80772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6440697"/>
            <a:ext cx="6812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t>3/28/2018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4182" y="6440697"/>
            <a:ext cx="187552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2971800" y="5969851"/>
            <a:ext cx="3200400" cy="43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20" y="304053"/>
            <a:ext cx="640080" cy="68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95870"/>
            <a:ext cx="47244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Copyright © 2018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228600" y="958850"/>
            <a:ext cx="86868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revised top-level metamodel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487828" y="3515231"/>
            <a:ext cx="6168355" cy="369332"/>
          </a:xfrm>
        </p:spPr>
        <p:txBody>
          <a:bodyPr/>
          <a:lstStyle/>
          <a:p>
            <a:r>
              <a:rPr lang="en-US" dirty="0"/>
              <a:t>Replacing figures 5.1.1 and 5.1.2, and B.4.1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FCACF6B-AF28-4CA1-BE38-028EC52FCB54}"/>
              </a:ext>
            </a:extLst>
          </p:cNvPr>
          <p:cNvSpPr txBox="1">
            <a:spLocks/>
          </p:cNvSpPr>
          <p:nvPr/>
        </p:nvSpPr>
        <p:spPr>
          <a:xfrm>
            <a:off x="603957" y="4343058"/>
            <a:ext cx="7885287" cy="430887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cap="none" dirty="0"/>
              <a:t>Bert Hooyman, Mphasis, March 28, 2018</a:t>
            </a:r>
          </a:p>
        </p:txBody>
      </p:sp>
    </p:spTree>
    <p:extLst>
      <p:ext uri="{BB962C8B-B14F-4D97-AF65-F5344CB8AC3E}">
        <p14:creationId xmlns:p14="http://schemas.microsoft.com/office/powerpoint/2010/main" val="175601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ECBC-A02B-4AAF-96EF-C1FB7CCADF94}" type="datetime1">
              <a:rPr lang="en-US" smtClean="0"/>
              <a:pPr/>
              <a:t>3/28/2018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5.1.2 needs a refresh…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F8308C-756A-4864-95D5-7B88DFDA3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3979"/>
            <a:ext cx="8229600" cy="324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6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77240-44F8-4683-8E72-7137FADA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3/28/2018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C4449-6E2D-421F-9506-6884469C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6022C-5878-4533-ACF5-E5EB7556FE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AB12C2-600B-41D1-96AF-6241E752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Conceptual view of Business Architecture Concepts and Relationships</a:t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FA03BC-8337-4F37-A7C6-0DC5B0DEF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38" y="1100628"/>
            <a:ext cx="8231862" cy="481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FBF37-D49F-42A3-A0C6-BE2FEBF3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3/28/2018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9BE1C-E6CD-461E-8BBB-4786EF7A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FB726-B8A2-40D8-B2D7-1B58A5B7535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D2AF51-3D14-4AD7-8131-0AED8AA6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remains as is?</a:t>
            </a:r>
          </a:p>
        </p:txBody>
      </p: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312870CD-4D92-4C52-A187-5A4CC0E4F3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7640363"/>
              </p:ext>
            </p:extLst>
          </p:nvPr>
        </p:nvGraphicFramePr>
        <p:xfrm>
          <a:off x="454939" y="1100628"/>
          <a:ext cx="8231861" cy="38326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75980">
                  <a:extLst>
                    <a:ext uri="{9D8B030D-6E8A-4147-A177-3AD203B41FA5}">
                      <a16:colId xmlns:a16="http://schemas.microsoft.com/office/drawing/2014/main" val="3939504551"/>
                    </a:ext>
                  </a:extLst>
                </a:gridCol>
                <a:gridCol w="1175980">
                  <a:extLst>
                    <a:ext uri="{9D8B030D-6E8A-4147-A177-3AD203B41FA5}">
                      <a16:colId xmlns:a16="http://schemas.microsoft.com/office/drawing/2014/main" val="2688170255"/>
                    </a:ext>
                  </a:extLst>
                </a:gridCol>
                <a:gridCol w="1573190">
                  <a:extLst>
                    <a:ext uri="{9D8B030D-6E8A-4147-A177-3AD203B41FA5}">
                      <a16:colId xmlns:a16="http://schemas.microsoft.com/office/drawing/2014/main" val="1024892589"/>
                    </a:ext>
                  </a:extLst>
                </a:gridCol>
                <a:gridCol w="327378">
                  <a:extLst>
                    <a:ext uri="{9D8B030D-6E8A-4147-A177-3AD203B41FA5}">
                      <a16:colId xmlns:a16="http://schemas.microsoft.com/office/drawing/2014/main" val="2019679662"/>
                    </a:ext>
                  </a:extLst>
                </a:gridCol>
                <a:gridCol w="1104145">
                  <a:extLst>
                    <a:ext uri="{9D8B030D-6E8A-4147-A177-3AD203B41FA5}">
                      <a16:colId xmlns:a16="http://schemas.microsoft.com/office/drawing/2014/main" val="3192845832"/>
                    </a:ext>
                  </a:extLst>
                </a:gridCol>
                <a:gridCol w="1356832">
                  <a:extLst>
                    <a:ext uri="{9D8B030D-6E8A-4147-A177-3AD203B41FA5}">
                      <a16:colId xmlns:a16="http://schemas.microsoft.com/office/drawing/2014/main" val="415009469"/>
                    </a:ext>
                  </a:extLst>
                </a:gridCol>
                <a:gridCol w="1518356">
                  <a:extLst>
                    <a:ext uri="{9D8B030D-6E8A-4147-A177-3AD203B41FA5}">
                      <a16:colId xmlns:a16="http://schemas.microsoft.com/office/drawing/2014/main" val="389666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Object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predicate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Subject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Object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predicate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Subject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48119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Objective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motivates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Initiative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Value Stream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guides the direction for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Product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742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Objective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guides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Organization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Value Item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is experienced through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Value Stream Stage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70699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Strategy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is aligned with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Value Stream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Information Concept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supports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Capability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2774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Initiative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realizes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Objective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Capability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informs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Information Concept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98776599"/>
                  </a:ext>
                </a:extLst>
              </a:tr>
              <a:tr h="25347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Initiative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impacts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Product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Capability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enables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Product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98385079"/>
                  </a:ext>
                </a:extLst>
              </a:tr>
              <a:tr h="21448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Initiative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impacts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Capability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Capability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enables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Value Stream Stage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18789814"/>
                  </a:ext>
                </a:extLst>
              </a:tr>
              <a:tr h="23706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Stakeholder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owns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Strategy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Business Unit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owns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Product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36457451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Stakeholder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owns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Initiative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Business Unit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delivers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Capability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98613670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Stakeholder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triggers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Value Stream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Business Unit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belongs to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Organization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12961663"/>
                  </a:ext>
                </a:extLst>
              </a:tr>
              <a:tr h="24835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Stakeholder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participates 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Value Stream Stage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Strategy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impacts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Product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67952786"/>
                  </a:ext>
                </a:extLst>
              </a:tr>
              <a:tr h="248356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Value Stream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contains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Value Stream Stage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0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05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2512F4-EEF9-4887-960D-8FA122882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US" dirty="0"/>
              <a:t>object</a:t>
            </a:r>
            <a:endParaRPr lang="en-US" b="0" dirty="0"/>
          </a:p>
          <a:p>
            <a:pPr fontAlgn="t"/>
            <a:r>
              <a:rPr lang="en-US" dirty="0"/>
              <a:t>predicate</a:t>
            </a:r>
            <a:endParaRPr lang="en-US" b="0" dirty="0"/>
          </a:p>
          <a:p>
            <a:pPr fontAlgn="t"/>
            <a:r>
              <a:rPr lang="en-US" dirty="0"/>
              <a:t>subject</a:t>
            </a:r>
            <a:endParaRPr lang="en-US" b="0" dirty="0"/>
          </a:p>
          <a:p>
            <a:pPr fontAlgn="t"/>
            <a:r>
              <a:rPr lang="en-US" dirty="0"/>
              <a:t>new?</a:t>
            </a:r>
            <a:endParaRPr lang="en-US" b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BF6D4-2711-4351-BC27-FE60930D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3/28/2018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2A896-0B9A-4DCD-8095-46BE4705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E961B-CB5D-45F3-8FE3-23C6735803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669B37-4753-4018-B9D5-E5C5BF3F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new?</a:t>
            </a:r>
          </a:p>
        </p:txBody>
      </p: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0C51F85B-3A80-48A5-9E8E-20CFEB810F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6091572"/>
              </p:ext>
            </p:extLst>
          </p:nvPr>
        </p:nvGraphicFramePr>
        <p:xfrm>
          <a:off x="454938" y="1100628"/>
          <a:ext cx="8231864" cy="43631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57966">
                  <a:extLst>
                    <a:ext uri="{9D8B030D-6E8A-4147-A177-3AD203B41FA5}">
                      <a16:colId xmlns:a16="http://schemas.microsoft.com/office/drawing/2014/main" val="3779189719"/>
                    </a:ext>
                  </a:extLst>
                </a:gridCol>
                <a:gridCol w="2057966">
                  <a:extLst>
                    <a:ext uri="{9D8B030D-6E8A-4147-A177-3AD203B41FA5}">
                      <a16:colId xmlns:a16="http://schemas.microsoft.com/office/drawing/2014/main" val="2596996601"/>
                    </a:ext>
                  </a:extLst>
                </a:gridCol>
                <a:gridCol w="2057966">
                  <a:extLst>
                    <a:ext uri="{9D8B030D-6E8A-4147-A177-3AD203B41FA5}">
                      <a16:colId xmlns:a16="http://schemas.microsoft.com/office/drawing/2014/main" val="155398683"/>
                    </a:ext>
                  </a:extLst>
                </a:gridCol>
                <a:gridCol w="2057966">
                  <a:extLst>
                    <a:ext uri="{9D8B030D-6E8A-4147-A177-3AD203B41FA5}">
                      <a16:colId xmlns:a16="http://schemas.microsoft.com/office/drawing/2014/main" val="274352381"/>
                    </a:ext>
                  </a:extLst>
                </a:gridCol>
              </a:tblGrid>
              <a:tr h="389319">
                <a:tc>
                  <a:txBody>
                    <a:bodyPr/>
                    <a:lstStyle/>
                    <a:p>
                      <a:r>
                        <a:rPr lang="en-US" sz="1800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predicate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new?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481904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Strategy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realizes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Objective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new association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12077870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Strategy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impacts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Stakeholder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new association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46055032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Policy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influences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Strategy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new object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27739405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Policy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guides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Objective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new object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23137057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Policy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sets direction in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Organization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new object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21573107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Value Stream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fulfills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Objective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new association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58669351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Value Stream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delivers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Value Proposition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new subject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59598187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Value Item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accrues into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Value Proposition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new object &amp; subject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54814251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Value Proposition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conveys value 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Stakeholder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new object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73032148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Outcome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assigned 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Value Item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new subject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84401117"/>
                  </a:ext>
                </a:extLst>
              </a:tr>
              <a:tr h="36126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Business Unit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drives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Initiative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new association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83792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82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2017E-FA3A-4163-94CB-E49078F7B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3/28/2018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585E0-C406-4376-B579-858F021B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2BE37-904F-4451-9B43-FA22D6C46A0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7A9766-4D74-495C-8E81-1F194E49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has changed?</a:t>
            </a:r>
          </a:p>
        </p:txBody>
      </p: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00850C67-2915-4F88-9699-A67390BEA1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7296673"/>
              </p:ext>
            </p:extLst>
          </p:nvPr>
        </p:nvGraphicFramePr>
        <p:xfrm>
          <a:off x="454936" y="1100627"/>
          <a:ext cx="8231864" cy="22634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39997">
                  <a:extLst>
                    <a:ext uri="{9D8B030D-6E8A-4147-A177-3AD203B41FA5}">
                      <a16:colId xmlns:a16="http://schemas.microsoft.com/office/drawing/2014/main" val="1552478276"/>
                    </a:ext>
                  </a:extLst>
                </a:gridCol>
                <a:gridCol w="1591734">
                  <a:extLst>
                    <a:ext uri="{9D8B030D-6E8A-4147-A177-3AD203B41FA5}">
                      <a16:colId xmlns:a16="http://schemas.microsoft.com/office/drawing/2014/main" val="3558511876"/>
                    </a:ext>
                  </a:extLst>
                </a:gridCol>
                <a:gridCol w="1873955">
                  <a:extLst>
                    <a:ext uri="{9D8B030D-6E8A-4147-A177-3AD203B41FA5}">
                      <a16:colId xmlns:a16="http://schemas.microsoft.com/office/drawing/2014/main" val="3138580107"/>
                    </a:ext>
                  </a:extLst>
                </a:gridCol>
                <a:gridCol w="3426178">
                  <a:extLst>
                    <a:ext uri="{9D8B030D-6E8A-4147-A177-3AD203B41FA5}">
                      <a16:colId xmlns:a16="http://schemas.microsoft.com/office/drawing/2014/main" val="4268129374"/>
                    </a:ext>
                  </a:extLst>
                </a:gridCol>
              </a:tblGrid>
              <a:tr h="45269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object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predicate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Subject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changed?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85601685"/>
                  </a:ext>
                </a:extLst>
              </a:tr>
              <a:tr h="45269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Organization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delivers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Product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renamed from 'provides'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02809258"/>
                  </a:ext>
                </a:extLst>
              </a:tr>
              <a:tr h="45269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Stakeholder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defines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Information Concept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reversed direction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36044576"/>
                  </a:ext>
                </a:extLst>
              </a:tr>
              <a:tr h="45269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Capability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achieves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Outcome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renamed from 'produces'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92979237"/>
                  </a:ext>
                </a:extLst>
              </a:tr>
              <a:tr h="452692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Value Item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conveys value to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Stakeholder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now via Value Proposition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2265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19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6CB4B5-00F1-427B-AE27-57B45FB4A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6CE67-6136-403F-AC30-8D2812E5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3/28/2018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E06D6-037B-4683-8C04-154E372C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811A0-5F41-45AF-9182-77D9072E5B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572D67-8510-4C3F-8500-AAD536DF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has been left out?</a:t>
            </a:r>
          </a:p>
        </p:txBody>
      </p: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1F7401B1-F740-499E-8120-AA54609B09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3689218"/>
              </p:ext>
            </p:extLst>
          </p:nvPr>
        </p:nvGraphicFramePr>
        <p:xfrm>
          <a:off x="454938" y="1100627"/>
          <a:ext cx="8231864" cy="357984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57966">
                  <a:extLst>
                    <a:ext uri="{9D8B030D-6E8A-4147-A177-3AD203B41FA5}">
                      <a16:colId xmlns:a16="http://schemas.microsoft.com/office/drawing/2014/main" val="455874247"/>
                    </a:ext>
                  </a:extLst>
                </a:gridCol>
                <a:gridCol w="2057966">
                  <a:extLst>
                    <a:ext uri="{9D8B030D-6E8A-4147-A177-3AD203B41FA5}">
                      <a16:colId xmlns:a16="http://schemas.microsoft.com/office/drawing/2014/main" val="2064260041"/>
                    </a:ext>
                  </a:extLst>
                </a:gridCol>
                <a:gridCol w="2057966">
                  <a:extLst>
                    <a:ext uri="{9D8B030D-6E8A-4147-A177-3AD203B41FA5}">
                      <a16:colId xmlns:a16="http://schemas.microsoft.com/office/drawing/2014/main" val="2859405541"/>
                    </a:ext>
                  </a:extLst>
                </a:gridCol>
                <a:gridCol w="2057966">
                  <a:extLst>
                    <a:ext uri="{9D8B030D-6E8A-4147-A177-3AD203B41FA5}">
                      <a16:colId xmlns:a16="http://schemas.microsoft.com/office/drawing/2014/main" val="3554029913"/>
                    </a:ext>
                  </a:extLst>
                </a:gridCol>
              </a:tblGrid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Object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predicate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Subject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Bert's remarks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008218311"/>
                  </a:ext>
                </a:extLst>
              </a:tr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Business Unit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decomposes into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Business Unit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suppressed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87945268"/>
                  </a:ext>
                </a:extLst>
              </a:tr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Capability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decomposes into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Capability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suppressed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880081015"/>
                  </a:ext>
                </a:extLst>
              </a:tr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Outcome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is categorized with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Outcome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suppressed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63775053"/>
                  </a:ext>
                </a:extLst>
              </a:tr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Information Concept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informs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Objective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suppressed, reversed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166040421"/>
                  </a:ext>
                </a:extLst>
              </a:tr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Organization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organizes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Organization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suppressed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760863546"/>
                  </a:ext>
                </a:extLst>
              </a:tr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Organization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integrates through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Strategy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challenged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75884404"/>
                  </a:ext>
                </a:extLst>
              </a:tr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Stakeholder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may be 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Organization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suppressed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07252060"/>
                  </a:ext>
                </a:extLst>
              </a:tr>
              <a:tr h="39776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Stakeholder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experiences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Value Stream Stage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suppressed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785856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681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63EA6D-B2E8-4CB2-B183-2A7A24C1C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23D96-514C-4E48-8452-F72921C8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3/28/2018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5751A-860E-4A24-A392-8C7BC281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8A684-F9F4-452A-B75A-ECA8F6A275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69BBA5-FA13-4A9A-BA88-73AE5E33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definitions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FE11FB5-FDFE-46D2-A79E-616C3DAC63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884881"/>
              </p:ext>
            </p:extLst>
          </p:nvPr>
        </p:nvGraphicFramePr>
        <p:xfrm>
          <a:off x="454938" y="1100628"/>
          <a:ext cx="8231862" cy="51242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61791">
                  <a:extLst>
                    <a:ext uri="{9D8B030D-6E8A-4147-A177-3AD203B41FA5}">
                      <a16:colId xmlns:a16="http://schemas.microsoft.com/office/drawing/2014/main" val="944440203"/>
                    </a:ext>
                  </a:extLst>
                </a:gridCol>
                <a:gridCol w="7170071">
                  <a:extLst>
                    <a:ext uri="{9D8B030D-6E8A-4147-A177-3AD203B41FA5}">
                      <a16:colId xmlns:a16="http://schemas.microsoft.com/office/drawing/2014/main" val="3417049488"/>
                    </a:ext>
                  </a:extLst>
                </a:gridCol>
              </a:tblGrid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Concept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Definition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4597423"/>
                  </a:ext>
                </a:extLst>
              </a:tr>
              <a:tr h="325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Objective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Measurable goals for guiding strategy and aligning initiatives with execution. Objectives can be applied at individual, operational, business unit, and organizational levels. Also: A quantitative, measurable result that defines strategy.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03073657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Strategy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The pattern or plan that integrates an organization’s major goals, policies, and action sequences into a cohesive whole.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00030776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Initiative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 course of action that is being executed or has been selected for execution.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092476255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Organization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An organization is a social unit of people, systematically structured and managed to meet a need or to pursue collective goals on a continuing basis.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277844850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Policy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 course or principle of action adopted or proposed by a government, party, business or individual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921258295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Stakeholder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An internal or external individual or organization with a vested interest in achieving value through a particular outcome.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517705771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Value Stream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An end-to-end collection of activities that create a result for a customer, who may be the ultimate customer or an internal end-user of the value stream.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80007331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Value Stream Stage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 distinct, identifiable phase or step within a value stream that has a unique name, entrance criteria, exit criteria, and identifiable participating stakeholder(s).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428465593"/>
                  </a:ext>
                </a:extLst>
              </a:tr>
              <a:tr h="325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Value Item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The judgment of worth, made by an individual or organization, attached to something tangible or intangible and attained in the course of a particular interaction with one or more other parties.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33640138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Value Proposition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An innovation, service, or feature intended to make a company, product, or service attractive to customers or related stakeholders.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722377762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The overall experience provided by the combination of goods and services to satisfy the customer’s needs.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674240859"/>
                  </a:ext>
                </a:extLst>
              </a:tr>
              <a:tr h="325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Information Concept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Information concepts represent the business vocabulary (as per BIZBOK section 2.5, under "Identifying Information Concepts"). Also: The way in which to represent business terms and semantics within the context of business architecture.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655870619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Outcome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An end result or final product that is a consequence of an event, action, or a series of events/actions.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464052881"/>
                  </a:ext>
                </a:extLst>
              </a:tr>
              <a:tr h="253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Capability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 particular ability or capacity that a business may possess or exchange to achieve a specific purpose or outcome.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81208307"/>
                  </a:ext>
                </a:extLst>
              </a:tr>
              <a:tr h="32587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Business Unit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 logical element or segment of a company (such as accounting, production, marketing) representing a specific business function, and a definite place on the organizational chart, under the domain of a manager. Also called department, division, or functional area.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68604420"/>
                  </a:ext>
                </a:extLst>
              </a:tr>
            </a:tbl>
          </a:graphicData>
        </a:graphic>
      </p:graphicFrame>
      <p:pic>
        <p:nvPicPr>
          <p:cNvPr id="8" name="Graphic 7" descr="Right Pointing Backhand Index ">
            <a:extLst>
              <a:ext uri="{FF2B5EF4-FFF2-40B4-BE49-F238E27FC236}">
                <a16:creationId xmlns:a16="http://schemas.microsoft.com/office/drawing/2014/main" id="{25D0E50F-C687-49BD-A1D6-47B23D6EA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372" y="2370832"/>
            <a:ext cx="642769" cy="642769"/>
          </a:xfrm>
          <a:prstGeom prst="rect">
            <a:avLst/>
          </a:prstGeom>
        </p:spPr>
      </p:pic>
      <p:pic>
        <p:nvPicPr>
          <p:cNvPr id="9" name="Graphic 8" descr="Right Pointing Backhand Index ">
            <a:extLst>
              <a:ext uri="{FF2B5EF4-FFF2-40B4-BE49-F238E27FC236}">
                <a16:creationId xmlns:a16="http://schemas.microsoft.com/office/drawing/2014/main" id="{CBF93692-8ABE-409B-B095-18AFA490E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372" y="3566738"/>
            <a:ext cx="642769" cy="642769"/>
          </a:xfrm>
          <a:prstGeom prst="rect">
            <a:avLst/>
          </a:prstGeom>
        </p:spPr>
      </p:pic>
      <p:pic>
        <p:nvPicPr>
          <p:cNvPr id="10" name="Graphic 9" descr="Right Pointing Backhand Index ">
            <a:extLst>
              <a:ext uri="{FF2B5EF4-FFF2-40B4-BE49-F238E27FC236}">
                <a16:creationId xmlns:a16="http://schemas.microsoft.com/office/drawing/2014/main" id="{3E644615-0FDB-4B17-9C7F-FB43229C7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372" y="3926928"/>
            <a:ext cx="642769" cy="642769"/>
          </a:xfrm>
          <a:prstGeom prst="rect">
            <a:avLst/>
          </a:prstGeom>
        </p:spPr>
      </p:pic>
      <p:pic>
        <p:nvPicPr>
          <p:cNvPr id="11" name="Graphic 10" descr="Right Pointing Backhand Index ">
            <a:extLst>
              <a:ext uri="{FF2B5EF4-FFF2-40B4-BE49-F238E27FC236}">
                <a16:creationId xmlns:a16="http://schemas.microsoft.com/office/drawing/2014/main" id="{899816A5-5FB4-496C-91F2-1FF65E535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372" y="5058080"/>
            <a:ext cx="642769" cy="64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6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7B1AF-C811-49A0-AC28-BC2743A8A5B8}" type="datetime1">
              <a:rPr lang="en-US" smtClean="0"/>
              <a:t>3/28/2018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0DE9F17-DF64-4634-BBE1-752729B71999}"/>
              </a:ext>
            </a:extLst>
          </p:cNvPr>
          <p:cNvSpPr txBox="1">
            <a:spLocks/>
          </p:cNvSpPr>
          <p:nvPr/>
        </p:nvSpPr>
        <p:spPr>
          <a:xfrm>
            <a:off x="468489" y="4343058"/>
            <a:ext cx="7885287" cy="430887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cap="none" dirty="0">
                <a:solidFill>
                  <a:sysClr val="windowText" lastClr="000000"/>
                </a:solidFill>
              </a:rPr>
              <a:t>Thank you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6DF5D83D-0AB9-4A67-9699-34FEA3D1747D}"/>
              </a:ext>
            </a:extLst>
          </p:cNvPr>
          <p:cNvSpPr txBox="1">
            <a:spLocks/>
          </p:cNvSpPr>
          <p:nvPr/>
        </p:nvSpPr>
        <p:spPr>
          <a:xfrm>
            <a:off x="457200" y="2798081"/>
            <a:ext cx="8229600" cy="6155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A revised top-level metamodel</a:t>
            </a:r>
          </a:p>
        </p:txBody>
      </p:sp>
    </p:spTree>
    <p:extLst>
      <p:ext uri="{BB962C8B-B14F-4D97-AF65-F5344CB8AC3E}">
        <p14:creationId xmlns:p14="http://schemas.microsoft.com/office/powerpoint/2010/main" val="4155821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141</TotalTime>
  <Words>785</Words>
  <Application>Microsoft Office PowerPoint</Application>
  <PresentationFormat>On-screen Show (4:3)</PresentationFormat>
  <Paragraphs>245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Franklin Gothic Book</vt:lpstr>
      <vt:lpstr>Franklin Gothic Medium</vt:lpstr>
      <vt:lpstr>Tunga</vt:lpstr>
      <vt:lpstr>Wingdings</vt:lpstr>
      <vt:lpstr>1_Angles</vt:lpstr>
      <vt:lpstr>A revised top-level metamodel</vt:lpstr>
      <vt:lpstr>Figure 5.1.2 needs a refresh…</vt:lpstr>
      <vt:lpstr>Conceptual view of Business Architecture Concepts and Relationships </vt:lpstr>
      <vt:lpstr>what remains as is?</vt:lpstr>
      <vt:lpstr>what is new?</vt:lpstr>
      <vt:lpstr>what has changed?</vt:lpstr>
      <vt:lpstr>What has been left out?</vt:lpstr>
      <vt:lpstr>concept definitions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Albertus Hooyman</cp:lastModifiedBy>
  <cp:revision>18</cp:revision>
  <dcterms:created xsi:type="dcterms:W3CDTF">2012-10-06T17:50:46Z</dcterms:created>
  <dcterms:modified xsi:type="dcterms:W3CDTF">2018-03-28T19:12:06Z</dcterms:modified>
</cp:coreProperties>
</file>
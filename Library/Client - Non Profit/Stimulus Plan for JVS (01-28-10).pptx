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9"/>
  </p:notesMasterIdLst>
  <p:handoutMasterIdLst>
    <p:handoutMasterId r:id="rId20"/>
  </p:handoutMasterIdLst>
  <p:sldIdLst>
    <p:sldId id="311" r:id="rId2"/>
    <p:sldId id="289" r:id="rId3"/>
    <p:sldId id="300" r:id="rId4"/>
    <p:sldId id="309" r:id="rId5"/>
    <p:sldId id="318" r:id="rId6"/>
    <p:sldId id="316" r:id="rId7"/>
    <p:sldId id="319" r:id="rId8"/>
    <p:sldId id="320" r:id="rId9"/>
    <p:sldId id="310" r:id="rId10"/>
    <p:sldId id="317" r:id="rId11"/>
    <p:sldId id="261" r:id="rId12"/>
    <p:sldId id="299" r:id="rId13"/>
    <p:sldId id="301" r:id="rId14"/>
    <p:sldId id="302" r:id="rId15"/>
    <p:sldId id="308" r:id="rId16"/>
    <p:sldId id="294" r:id="rId17"/>
    <p:sldId id="295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06" autoAdjust="0"/>
    <p:restoredTop sz="94660"/>
  </p:normalViewPr>
  <p:slideViewPr>
    <p:cSldViewPr>
      <p:cViewPr varScale="1">
        <p:scale>
          <a:sx n="71" d="100"/>
          <a:sy n="71" d="100"/>
        </p:scale>
        <p:origin x="-14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4401D-06BE-4BE4-91AD-E719A3A5456B}" type="doc">
      <dgm:prSet loTypeId="urn:microsoft.com/office/officeart/2005/8/layout/hList3" loCatId="list" qsTypeId="urn:microsoft.com/office/officeart/2005/8/quickstyle/3d1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8A69C40F-8468-4950-83A1-4E5BA9E9D731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-190500">
          <a:bevelT w="190500" h="38100"/>
        </a:sp3d>
      </dgm:spPr>
      <dgm:t>
        <a:bodyPr/>
        <a:lstStyle/>
        <a:p>
          <a:r>
            <a:rPr lang="en-US" sz="3200" b="1" dirty="0" smtClean="0">
              <a:solidFill>
                <a:schemeClr val="bg1"/>
              </a:solidFill>
            </a:rPr>
            <a:t>JVS Consulting Services</a:t>
          </a:r>
          <a:endParaRPr lang="en-US" sz="3200" b="1" dirty="0">
            <a:solidFill>
              <a:schemeClr val="bg1"/>
            </a:solidFill>
          </a:endParaRPr>
        </a:p>
      </dgm:t>
    </dgm:pt>
    <dgm:pt modelId="{B42F08A8-3A27-4767-B57F-455C8FB7FE71}" type="parTrans" cxnId="{0131D5C4-F14D-42C2-ACA5-37495E954E38}">
      <dgm:prSet/>
      <dgm:spPr/>
      <dgm:t>
        <a:bodyPr/>
        <a:lstStyle/>
        <a:p>
          <a:endParaRPr lang="en-US"/>
        </a:p>
      </dgm:t>
    </dgm:pt>
    <dgm:pt modelId="{59B5318D-6C4B-4037-97B3-2BB7152DBB3B}" type="sibTrans" cxnId="{0131D5C4-F14D-42C2-ACA5-37495E954E38}">
      <dgm:prSet/>
      <dgm:spPr/>
      <dgm:t>
        <a:bodyPr/>
        <a:lstStyle/>
        <a:p>
          <a:endParaRPr lang="en-US"/>
        </a:p>
      </dgm:t>
    </dgm:pt>
    <dgm:pt modelId="{65FBE9E7-4D26-4D5F-9483-792F95359BAD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b="0" dirty="0" smtClean="0"/>
            <a:t>Executive Services</a:t>
          </a:r>
          <a:endParaRPr lang="en-US" b="0" dirty="0"/>
        </a:p>
      </dgm:t>
    </dgm:pt>
    <dgm:pt modelId="{C060F644-6E71-4953-8629-F59030D5D71A}" type="parTrans" cxnId="{6D553B47-3DDA-4109-BAE5-756F2D194214}">
      <dgm:prSet/>
      <dgm:spPr/>
      <dgm:t>
        <a:bodyPr/>
        <a:lstStyle/>
        <a:p>
          <a:endParaRPr lang="en-US"/>
        </a:p>
      </dgm:t>
    </dgm:pt>
    <dgm:pt modelId="{F02A2F21-4425-4825-AC11-140CC1C71E6F}" type="sibTrans" cxnId="{6D553B47-3DDA-4109-BAE5-756F2D194214}">
      <dgm:prSet/>
      <dgm:spPr/>
      <dgm:t>
        <a:bodyPr/>
        <a:lstStyle/>
        <a:p>
          <a:endParaRPr lang="en-US"/>
        </a:p>
      </dgm:t>
    </dgm:pt>
    <dgm:pt modelId="{B24DD359-EC0B-4104-9674-449C277200DE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b="0" dirty="0" smtClean="0"/>
            <a:t>Operational Services</a:t>
          </a:r>
          <a:endParaRPr lang="en-US" b="0" dirty="0"/>
        </a:p>
      </dgm:t>
    </dgm:pt>
    <dgm:pt modelId="{486B6947-E1C4-4656-91BC-F5D189ED34CB}" type="parTrans" cxnId="{AC76EC10-2FCB-4796-B37A-E5D0929BDBED}">
      <dgm:prSet/>
      <dgm:spPr/>
      <dgm:t>
        <a:bodyPr/>
        <a:lstStyle/>
        <a:p>
          <a:endParaRPr lang="en-US"/>
        </a:p>
      </dgm:t>
    </dgm:pt>
    <dgm:pt modelId="{C73BB6E3-0495-45A1-A4AB-7B37F5FA26EB}" type="sibTrans" cxnId="{AC76EC10-2FCB-4796-B37A-E5D0929BDBED}">
      <dgm:prSet/>
      <dgm:spPr/>
      <dgm:t>
        <a:bodyPr/>
        <a:lstStyle/>
        <a:p>
          <a:endParaRPr lang="en-US"/>
        </a:p>
      </dgm:t>
    </dgm:pt>
    <dgm:pt modelId="{DDEA4E82-B6AB-44EB-8D79-0C69AC281FE1}">
      <dgm:prSet phldrT="[Text]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b="0" dirty="0" smtClean="0"/>
            <a:t>Technical Services</a:t>
          </a:r>
          <a:endParaRPr lang="en-US" b="0" dirty="0"/>
        </a:p>
      </dgm:t>
    </dgm:pt>
    <dgm:pt modelId="{D971B7CC-039D-4BFB-BED3-941D7BAD6623}" type="parTrans" cxnId="{0FF108DB-1C19-400E-976D-13D808074865}">
      <dgm:prSet/>
      <dgm:spPr/>
      <dgm:t>
        <a:bodyPr/>
        <a:lstStyle/>
        <a:p>
          <a:endParaRPr lang="en-US"/>
        </a:p>
      </dgm:t>
    </dgm:pt>
    <dgm:pt modelId="{BC3B2CE9-220C-43AE-A93B-2906F493ACA9}" type="sibTrans" cxnId="{0FF108DB-1C19-400E-976D-13D808074865}">
      <dgm:prSet/>
      <dgm:spPr/>
      <dgm:t>
        <a:bodyPr/>
        <a:lstStyle/>
        <a:p>
          <a:endParaRPr lang="en-US"/>
        </a:p>
      </dgm:t>
    </dgm:pt>
    <dgm:pt modelId="{59509D95-06B1-40FD-9A54-029A0D48FF3F}" type="pres">
      <dgm:prSet presAssocID="{87A4401D-06BE-4BE4-91AD-E719A3A5456B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F25273-F32A-466D-A5D3-5A78D082F106}" type="pres">
      <dgm:prSet presAssocID="{8A69C40F-8468-4950-83A1-4E5BA9E9D731}" presName="roof" presStyleLbl="dkBgShp" presStyleIdx="0" presStyleCnt="2"/>
      <dgm:spPr/>
      <dgm:t>
        <a:bodyPr/>
        <a:lstStyle/>
        <a:p>
          <a:endParaRPr lang="en-US"/>
        </a:p>
      </dgm:t>
    </dgm:pt>
    <dgm:pt modelId="{9B4B7475-B7AD-47C4-9036-160A52066A54}" type="pres">
      <dgm:prSet presAssocID="{8A69C40F-8468-4950-83A1-4E5BA9E9D731}" presName="pillars" presStyleCnt="0"/>
      <dgm:spPr/>
    </dgm:pt>
    <dgm:pt modelId="{A3BF671F-4F65-4441-8C5B-200AD7D15DA5}" type="pres">
      <dgm:prSet presAssocID="{8A69C40F-8468-4950-83A1-4E5BA9E9D731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B7D394-02E1-4853-B6D4-A24DCA557F6F}" type="pres">
      <dgm:prSet presAssocID="{B24DD359-EC0B-4104-9674-449C277200DE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3935F4-5187-474E-9678-A731BEBB0476}" type="pres">
      <dgm:prSet presAssocID="{DDEA4E82-B6AB-44EB-8D79-0C69AC281FE1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83552B-5061-4619-90E8-7A2761CA1FD4}" type="pres">
      <dgm:prSet presAssocID="{8A69C40F-8468-4950-83A1-4E5BA9E9D731}" presName="base" presStyleLbl="dkBgShp" presStyleIdx="1" presStyleCnt="2"/>
      <dgm:spPr/>
    </dgm:pt>
  </dgm:ptLst>
  <dgm:cxnLst>
    <dgm:cxn modelId="{6D553B47-3DDA-4109-BAE5-756F2D194214}" srcId="{8A69C40F-8468-4950-83A1-4E5BA9E9D731}" destId="{65FBE9E7-4D26-4D5F-9483-792F95359BAD}" srcOrd="0" destOrd="0" parTransId="{C060F644-6E71-4953-8629-F59030D5D71A}" sibTransId="{F02A2F21-4425-4825-AC11-140CC1C71E6F}"/>
    <dgm:cxn modelId="{6D68824F-C8F9-42F8-B684-A6D1AD37D9B9}" type="presOf" srcId="{87A4401D-06BE-4BE4-91AD-E719A3A5456B}" destId="{59509D95-06B1-40FD-9A54-029A0D48FF3F}" srcOrd="0" destOrd="0" presId="urn:microsoft.com/office/officeart/2005/8/layout/hList3"/>
    <dgm:cxn modelId="{2204CB63-E233-444E-BED3-125D1F341ABC}" type="presOf" srcId="{8A69C40F-8468-4950-83A1-4E5BA9E9D731}" destId="{92F25273-F32A-466D-A5D3-5A78D082F106}" srcOrd="0" destOrd="0" presId="urn:microsoft.com/office/officeart/2005/8/layout/hList3"/>
    <dgm:cxn modelId="{335E52D0-ADB4-4131-A70F-EB0D23071783}" type="presOf" srcId="{DDEA4E82-B6AB-44EB-8D79-0C69AC281FE1}" destId="{6C3935F4-5187-474E-9678-A731BEBB0476}" srcOrd="0" destOrd="0" presId="urn:microsoft.com/office/officeart/2005/8/layout/hList3"/>
    <dgm:cxn modelId="{0FF108DB-1C19-400E-976D-13D808074865}" srcId="{8A69C40F-8468-4950-83A1-4E5BA9E9D731}" destId="{DDEA4E82-B6AB-44EB-8D79-0C69AC281FE1}" srcOrd="2" destOrd="0" parTransId="{D971B7CC-039D-4BFB-BED3-941D7BAD6623}" sibTransId="{BC3B2CE9-220C-43AE-A93B-2906F493ACA9}"/>
    <dgm:cxn modelId="{AC76EC10-2FCB-4796-B37A-E5D0929BDBED}" srcId="{8A69C40F-8468-4950-83A1-4E5BA9E9D731}" destId="{B24DD359-EC0B-4104-9674-449C277200DE}" srcOrd="1" destOrd="0" parTransId="{486B6947-E1C4-4656-91BC-F5D189ED34CB}" sibTransId="{C73BB6E3-0495-45A1-A4AB-7B37F5FA26EB}"/>
    <dgm:cxn modelId="{0131D5C4-F14D-42C2-ACA5-37495E954E38}" srcId="{87A4401D-06BE-4BE4-91AD-E719A3A5456B}" destId="{8A69C40F-8468-4950-83A1-4E5BA9E9D731}" srcOrd="0" destOrd="0" parTransId="{B42F08A8-3A27-4767-B57F-455C8FB7FE71}" sibTransId="{59B5318D-6C4B-4037-97B3-2BB7152DBB3B}"/>
    <dgm:cxn modelId="{A6EF834A-1893-4C09-AA49-7737851070E5}" type="presOf" srcId="{65FBE9E7-4D26-4D5F-9483-792F95359BAD}" destId="{A3BF671F-4F65-4441-8C5B-200AD7D15DA5}" srcOrd="0" destOrd="0" presId="urn:microsoft.com/office/officeart/2005/8/layout/hList3"/>
    <dgm:cxn modelId="{DFFCDDDA-4D57-41BB-B056-01C822A59225}" type="presOf" srcId="{B24DD359-EC0B-4104-9674-449C277200DE}" destId="{06B7D394-02E1-4853-B6D4-A24DCA557F6F}" srcOrd="0" destOrd="0" presId="urn:microsoft.com/office/officeart/2005/8/layout/hList3"/>
    <dgm:cxn modelId="{C87C4F7B-5B24-4D7B-ACA0-20C525CE18DC}" type="presParOf" srcId="{59509D95-06B1-40FD-9A54-029A0D48FF3F}" destId="{92F25273-F32A-466D-A5D3-5A78D082F106}" srcOrd="0" destOrd="0" presId="urn:microsoft.com/office/officeart/2005/8/layout/hList3"/>
    <dgm:cxn modelId="{534AB1EF-F3FA-46BB-AF2A-03CA8C50B534}" type="presParOf" srcId="{59509D95-06B1-40FD-9A54-029A0D48FF3F}" destId="{9B4B7475-B7AD-47C4-9036-160A52066A54}" srcOrd="1" destOrd="0" presId="urn:microsoft.com/office/officeart/2005/8/layout/hList3"/>
    <dgm:cxn modelId="{129440E1-B803-4BB4-A329-F8FC1B122741}" type="presParOf" srcId="{9B4B7475-B7AD-47C4-9036-160A52066A54}" destId="{A3BF671F-4F65-4441-8C5B-200AD7D15DA5}" srcOrd="0" destOrd="0" presId="urn:microsoft.com/office/officeart/2005/8/layout/hList3"/>
    <dgm:cxn modelId="{F765636A-4096-4514-AB32-F16A044AF244}" type="presParOf" srcId="{9B4B7475-B7AD-47C4-9036-160A52066A54}" destId="{06B7D394-02E1-4853-B6D4-A24DCA557F6F}" srcOrd="1" destOrd="0" presId="urn:microsoft.com/office/officeart/2005/8/layout/hList3"/>
    <dgm:cxn modelId="{0E13F662-46E8-43C6-AB23-28394F5B7839}" type="presParOf" srcId="{9B4B7475-B7AD-47C4-9036-160A52066A54}" destId="{6C3935F4-5187-474E-9678-A731BEBB0476}" srcOrd="2" destOrd="0" presId="urn:microsoft.com/office/officeart/2005/8/layout/hList3"/>
    <dgm:cxn modelId="{88FD4CEE-3F38-4A13-A557-D0CDDDA635A1}" type="presParOf" srcId="{59509D95-06B1-40FD-9A54-029A0D48FF3F}" destId="{2983552B-5061-4619-90E8-7A2761CA1FD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968FD0-B93C-4AE8-B9DE-9571118E1FDC}" type="doc">
      <dgm:prSet loTypeId="urn:microsoft.com/office/officeart/2005/8/layout/pyramid2" loCatId="pyramid" qsTypeId="urn:microsoft.com/office/officeart/2005/8/quickstyle/3d2" qsCatId="3D" csTypeId="urn:microsoft.com/office/officeart/2005/8/colors/accent1_2" csCatId="accent1" phldr="1"/>
      <dgm:spPr/>
    </dgm:pt>
    <dgm:pt modelId="{D39390AF-FE67-486D-A72F-A71476B87995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 smtClean="0"/>
            <a:t>Transforming Lives through Counseling, Training, &amp; Work</a:t>
          </a:r>
          <a:endParaRPr lang="en-US" sz="1800" b="1" dirty="0"/>
        </a:p>
      </dgm:t>
    </dgm:pt>
    <dgm:pt modelId="{180B49E0-0446-4EB6-A54E-6D6D56F5F54E}" type="parTrans" cxnId="{E6264C08-2E79-4E02-A5B7-549154E67D3D}">
      <dgm:prSet/>
      <dgm:spPr/>
      <dgm:t>
        <a:bodyPr/>
        <a:lstStyle/>
        <a:p>
          <a:endParaRPr lang="en-US"/>
        </a:p>
      </dgm:t>
    </dgm:pt>
    <dgm:pt modelId="{C73B8334-BEA8-4B6A-87E9-315B3531E223}" type="sibTrans" cxnId="{E6264C08-2E79-4E02-A5B7-549154E67D3D}">
      <dgm:prSet/>
      <dgm:spPr/>
      <dgm:t>
        <a:bodyPr/>
        <a:lstStyle/>
        <a:p>
          <a:endParaRPr lang="en-US"/>
        </a:p>
      </dgm:t>
    </dgm:pt>
    <dgm:pt modelId="{3A31C871-5AE7-40E8-9C06-F52659EBC565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 smtClean="0"/>
            <a:t>Transforming Thinking through Business Advisory Council </a:t>
          </a:r>
          <a:endParaRPr lang="en-US" sz="1800" b="1" dirty="0"/>
        </a:p>
      </dgm:t>
    </dgm:pt>
    <dgm:pt modelId="{7E38952D-7F69-4BFA-9B47-5FED8AED1776}" type="parTrans" cxnId="{5F329716-AB7E-434C-9875-1D154E5AD0CF}">
      <dgm:prSet/>
      <dgm:spPr/>
      <dgm:t>
        <a:bodyPr/>
        <a:lstStyle/>
        <a:p>
          <a:endParaRPr lang="en-US"/>
        </a:p>
      </dgm:t>
    </dgm:pt>
    <dgm:pt modelId="{D8790244-8BD5-4CD6-834B-99963D18B059}" type="sibTrans" cxnId="{5F329716-AB7E-434C-9875-1D154E5AD0CF}">
      <dgm:prSet/>
      <dgm:spPr/>
      <dgm:t>
        <a:bodyPr/>
        <a:lstStyle/>
        <a:p>
          <a:endParaRPr lang="en-US"/>
        </a:p>
      </dgm:t>
    </dgm:pt>
    <dgm:pt modelId="{A10A98E2-BD47-409B-AA2E-CDFA98E23A08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 smtClean="0"/>
            <a:t>Transforming Businesses through Service Delivery</a:t>
          </a:r>
          <a:endParaRPr lang="en-US" sz="1800" b="1" dirty="0"/>
        </a:p>
      </dgm:t>
    </dgm:pt>
    <dgm:pt modelId="{C9D814B7-4CDD-43FE-8F55-B511A6B4E24F}" type="parTrans" cxnId="{01B03AF3-813D-4D03-B9F1-821FC57DA9AD}">
      <dgm:prSet/>
      <dgm:spPr/>
      <dgm:t>
        <a:bodyPr/>
        <a:lstStyle/>
        <a:p>
          <a:endParaRPr lang="en-US"/>
        </a:p>
      </dgm:t>
    </dgm:pt>
    <dgm:pt modelId="{A48E3536-3A78-4C5A-B928-DDE0350898F2}" type="sibTrans" cxnId="{01B03AF3-813D-4D03-B9F1-821FC57DA9AD}">
      <dgm:prSet/>
      <dgm:spPr/>
      <dgm:t>
        <a:bodyPr/>
        <a:lstStyle/>
        <a:p>
          <a:endParaRPr lang="en-US"/>
        </a:p>
      </dgm:t>
    </dgm:pt>
    <dgm:pt modelId="{9D8F33F7-34C6-41EF-A829-3F4B2FA19AE9}" type="pres">
      <dgm:prSet presAssocID="{63968FD0-B93C-4AE8-B9DE-9571118E1FDC}" presName="compositeShape" presStyleCnt="0">
        <dgm:presLayoutVars>
          <dgm:dir/>
          <dgm:resizeHandles/>
        </dgm:presLayoutVars>
      </dgm:prSet>
      <dgm:spPr/>
    </dgm:pt>
    <dgm:pt modelId="{A01F8683-ABD3-4DC3-A9C9-83EE87876034}" type="pres">
      <dgm:prSet presAssocID="{63968FD0-B93C-4AE8-B9DE-9571118E1FDC}" presName="pyramid" presStyleLbl="node1" presStyleIdx="0" presStyleCnt="1"/>
      <dgm:spPr/>
    </dgm:pt>
    <dgm:pt modelId="{77282856-7A39-479C-8FB1-DDDF8ED1CC75}" type="pres">
      <dgm:prSet presAssocID="{63968FD0-B93C-4AE8-B9DE-9571118E1FDC}" presName="theList" presStyleCnt="0"/>
      <dgm:spPr/>
    </dgm:pt>
    <dgm:pt modelId="{06813B80-08C0-4275-902E-8EE777334287}" type="pres">
      <dgm:prSet presAssocID="{D39390AF-FE67-486D-A72F-A71476B87995}" presName="aNode" presStyleLbl="fgAcc1" presStyleIdx="0" presStyleCnt="3" custScaleY="33292" custLinFactNeighborX="-357" custLinFactNeighborY="524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18A917-A14D-47DA-B1CE-61CE0E34489C}" type="pres">
      <dgm:prSet presAssocID="{D39390AF-FE67-486D-A72F-A71476B87995}" presName="aSpace" presStyleCnt="0"/>
      <dgm:spPr/>
    </dgm:pt>
    <dgm:pt modelId="{D8B0D5FA-C406-443D-8ADE-7DC6F986BC6A}" type="pres">
      <dgm:prSet presAssocID="{3A31C871-5AE7-40E8-9C06-F52659EBC565}" presName="aNode" presStyleLbl="fgAcc1" presStyleIdx="1" presStyleCnt="3" custScaleY="33292" custLinFactNeighborX="11102" custLinFactNeighborY="89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2276AD-978F-493E-B21B-F04F3335AA69}" type="pres">
      <dgm:prSet presAssocID="{3A31C871-5AE7-40E8-9C06-F52659EBC565}" presName="aSpace" presStyleCnt="0"/>
      <dgm:spPr/>
    </dgm:pt>
    <dgm:pt modelId="{94BF59C9-C167-4D86-8E4B-797F773BA57D}" type="pres">
      <dgm:prSet presAssocID="{A10A98E2-BD47-409B-AA2E-CDFA98E23A08}" presName="aNode" presStyleLbl="fgAcc1" presStyleIdx="2" presStyleCnt="3" custScaleY="33292" custLinFactNeighborX="22244" custLinFactNeighborY="-385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437CA3-0C2B-44F1-8B6B-0CFB4188B510}" type="pres">
      <dgm:prSet presAssocID="{A10A98E2-BD47-409B-AA2E-CDFA98E23A08}" presName="aSpace" presStyleCnt="0"/>
      <dgm:spPr/>
    </dgm:pt>
  </dgm:ptLst>
  <dgm:cxnLst>
    <dgm:cxn modelId="{E6264C08-2E79-4E02-A5B7-549154E67D3D}" srcId="{63968FD0-B93C-4AE8-B9DE-9571118E1FDC}" destId="{D39390AF-FE67-486D-A72F-A71476B87995}" srcOrd="0" destOrd="0" parTransId="{180B49E0-0446-4EB6-A54E-6D6D56F5F54E}" sibTransId="{C73B8334-BEA8-4B6A-87E9-315B3531E223}"/>
    <dgm:cxn modelId="{01B03AF3-813D-4D03-B9F1-821FC57DA9AD}" srcId="{63968FD0-B93C-4AE8-B9DE-9571118E1FDC}" destId="{A10A98E2-BD47-409B-AA2E-CDFA98E23A08}" srcOrd="2" destOrd="0" parTransId="{C9D814B7-4CDD-43FE-8F55-B511A6B4E24F}" sibTransId="{A48E3536-3A78-4C5A-B928-DDE0350898F2}"/>
    <dgm:cxn modelId="{9F4DFAE4-5A4C-4238-BC74-FD188E38EF3A}" type="presOf" srcId="{D39390AF-FE67-486D-A72F-A71476B87995}" destId="{06813B80-08C0-4275-902E-8EE777334287}" srcOrd="0" destOrd="0" presId="urn:microsoft.com/office/officeart/2005/8/layout/pyramid2"/>
    <dgm:cxn modelId="{A6D3690C-C6C8-4423-9A31-60C64FF17FE8}" type="presOf" srcId="{3A31C871-5AE7-40E8-9C06-F52659EBC565}" destId="{D8B0D5FA-C406-443D-8ADE-7DC6F986BC6A}" srcOrd="0" destOrd="0" presId="urn:microsoft.com/office/officeart/2005/8/layout/pyramid2"/>
    <dgm:cxn modelId="{5F329716-AB7E-434C-9875-1D154E5AD0CF}" srcId="{63968FD0-B93C-4AE8-B9DE-9571118E1FDC}" destId="{3A31C871-5AE7-40E8-9C06-F52659EBC565}" srcOrd="1" destOrd="0" parTransId="{7E38952D-7F69-4BFA-9B47-5FED8AED1776}" sibTransId="{D8790244-8BD5-4CD6-834B-99963D18B059}"/>
    <dgm:cxn modelId="{B6A3EF04-F28A-4C09-B9E6-394486DAD414}" type="presOf" srcId="{63968FD0-B93C-4AE8-B9DE-9571118E1FDC}" destId="{9D8F33F7-34C6-41EF-A829-3F4B2FA19AE9}" srcOrd="0" destOrd="0" presId="urn:microsoft.com/office/officeart/2005/8/layout/pyramid2"/>
    <dgm:cxn modelId="{D17B5DD6-25A2-47F0-A1EE-33900C50E574}" type="presOf" srcId="{A10A98E2-BD47-409B-AA2E-CDFA98E23A08}" destId="{94BF59C9-C167-4D86-8E4B-797F773BA57D}" srcOrd="0" destOrd="0" presId="urn:microsoft.com/office/officeart/2005/8/layout/pyramid2"/>
    <dgm:cxn modelId="{5380D058-0901-4410-8F9E-42F3D9D4E684}" type="presParOf" srcId="{9D8F33F7-34C6-41EF-A829-3F4B2FA19AE9}" destId="{A01F8683-ABD3-4DC3-A9C9-83EE87876034}" srcOrd="0" destOrd="0" presId="urn:microsoft.com/office/officeart/2005/8/layout/pyramid2"/>
    <dgm:cxn modelId="{7217F1C3-D502-4439-966B-7AC19C92ABD0}" type="presParOf" srcId="{9D8F33F7-34C6-41EF-A829-3F4B2FA19AE9}" destId="{77282856-7A39-479C-8FB1-DDDF8ED1CC75}" srcOrd="1" destOrd="0" presId="urn:microsoft.com/office/officeart/2005/8/layout/pyramid2"/>
    <dgm:cxn modelId="{BFA711D5-99E7-4F23-B38E-50535629ED0B}" type="presParOf" srcId="{77282856-7A39-479C-8FB1-DDDF8ED1CC75}" destId="{06813B80-08C0-4275-902E-8EE777334287}" srcOrd="0" destOrd="0" presId="urn:microsoft.com/office/officeart/2005/8/layout/pyramid2"/>
    <dgm:cxn modelId="{4940F87A-1643-4487-BF36-17F932977061}" type="presParOf" srcId="{77282856-7A39-479C-8FB1-DDDF8ED1CC75}" destId="{C618A917-A14D-47DA-B1CE-61CE0E34489C}" srcOrd="1" destOrd="0" presId="urn:microsoft.com/office/officeart/2005/8/layout/pyramid2"/>
    <dgm:cxn modelId="{56A7FB6B-1F84-4BEF-896E-66E67C8A3C7D}" type="presParOf" srcId="{77282856-7A39-479C-8FB1-DDDF8ED1CC75}" destId="{D8B0D5FA-C406-443D-8ADE-7DC6F986BC6A}" srcOrd="2" destOrd="0" presId="urn:microsoft.com/office/officeart/2005/8/layout/pyramid2"/>
    <dgm:cxn modelId="{A9313F46-F9A9-413F-8948-04410A5EFA9C}" type="presParOf" srcId="{77282856-7A39-479C-8FB1-DDDF8ED1CC75}" destId="{B32276AD-978F-493E-B21B-F04F3335AA69}" srcOrd="3" destOrd="0" presId="urn:microsoft.com/office/officeart/2005/8/layout/pyramid2"/>
    <dgm:cxn modelId="{14A14818-6057-4D1D-A1BB-92F9A1EEBC2F}" type="presParOf" srcId="{77282856-7A39-479C-8FB1-DDDF8ED1CC75}" destId="{94BF59C9-C167-4D86-8E4B-797F773BA57D}" srcOrd="4" destOrd="0" presId="urn:microsoft.com/office/officeart/2005/8/layout/pyramid2"/>
    <dgm:cxn modelId="{E8A3EC98-F7D5-49DD-90EA-E2ADA37B576C}" type="presParOf" srcId="{77282856-7A39-479C-8FB1-DDDF8ED1CC75}" destId="{CC437CA3-0C2B-44F1-8B6B-0CFB4188B51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EE7B96-B445-4CA4-9494-35D8F79C276E}" type="doc">
      <dgm:prSet loTypeId="urn:microsoft.com/office/officeart/2005/8/layout/vList5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6D8A90C-A5E1-4639-9D74-A9B1C8D78571}">
      <dgm:prSet phldrT="[Text]" custT="1"/>
      <dgm:spPr/>
      <dgm:t>
        <a:bodyPr/>
        <a:lstStyle/>
        <a:p>
          <a:r>
            <a:rPr lang="en-US" sz="1800" b="1" dirty="0" smtClean="0">
              <a:latin typeface="Calibri" pitchFamily="34" charset="0"/>
            </a:rPr>
            <a:t>Establishing Framework</a:t>
          </a:r>
        </a:p>
      </dgm:t>
    </dgm:pt>
    <dgm:pt modelId="{EA7B5A88-CFE9-4F60-B634-4073D766B3B1}" type="parTrans" cxnId="{4EA5F901-EC6E-43DB-AB99-0B7A1475CC47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CCE6E5A3-A34E-49FB-AD99-CF6BCA7D25B5}" type="sibTrans" cxnId="{4EA5F901-EC6E-43DB-AB99-0B7A1475CC47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780267AE-D774-4A99-AC28-BA7D6CEF0411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Establish a Board of Directors </a:t>
          </a:r>
          <a:endParaRPr lang="en-US" sz="1400" dirty="0">
            <a:latin typeface="Calibri" pitchFamily="34" charset="0"/>
          </a:endParaRPr>
        </a:p>
      </dgm:t>
    </dgm:pt>
    <dgm:pt modelId="{6C1C5F65-7126-4A98-AA3A-C9EE25EFBDCB}" type="parTrans" cxnId="{880F701B-681F-4A5D-B294-8FCECA2D89B3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FEA35F3F-9FB8-4F77-B1D9-44C46D5F174B}" type="sibTrans" cxnId="{880F701B-681F-4A5D-B294-8FCECA2D89B3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F1BFFD6F-DAF5-4917-9ABE-EB40FFA70D9B}">
      <dgm:prSet phldrT="[Text]" custT="1"/>
      <dgm:spPr/>
      <dgm:t>
        <a:bodyPr/>
        <a:lstStyle/>
        <a:p>
          <a:r>
            <a:rPr lang="en-US" sz="1800" b="1" dirty="0" smtClean="0">
              <a:latin typeface="Calibri" pitchFamily="34" charset="0"/>
            </a:rPr>
            <a:t>Building the Portfolio</a:t>
          </a:r>
        </a:p>
      </dgm:t>
    </dgm:pt>
    <dgm:pt modelId="{31E2ABE0-96D8-4944-AC1C-CEBFDD112F37}" type="parTrans" cxnId="{572ABCDF-12D5-49ED-A21D-0DD7908D4A30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EF7FE965-A4F9-4F25-BF32-655CDB0CC2A8}" type="sibTrans" cxnId="{572ABCDF-12D5-49ED-A21D-0DD7908D4A30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E4B803B3-CCCB-4393-8565-308117C1217A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Secure investors &amp; funding to support resources during ramp up</a:t>
          </a:r>
          <a:endParaRPr lang="en-US" sz="1400" dirty="0">
            <a:latin typeface="Calibri" pitchFamily="34" charset="0"/>
          </a:endParaRPr>
        </a:p>
      </dgm:t>
    </dgm:pt>
    <dgm:pt modelId="{068CAF8C-6928-4F2F-B35F-C950E89420BE}" type="parTrans" cxnId="{2D3A045A-A880-464B-9836-A765AD118BD7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E963F02E-5ED5-4C15-9336-0DC73C739CE3}" type="sibTrans" cxnId="{2D3A045A-A880-464B-9836-A765AD118BD7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6AF4F1A6-B1A0-408A-9CCD-B8666663E5B4}">
      <dgm:prSet phldrT="[Text]" custT="1"/>
      <dgm:spPr/>
      <dgm:t>
        <a:bodyPr/>
        <a:lstStyle/>
        <a:p>
          <a:r>
            <a:rPr lang="en-US" sz="1800" b="1" dirty="0" smtClean="0">
              <a:latin typeface="Calibri" pitchFamily="34" charset="0"/>
            </a:rPr>
            <a:t>Filling the Pipeline</a:t>
          </a:r>
          <a:endParaRPr lang="en-US" sz="1800" dirty="0">
            <a:latin typeface="Calibri" pitchFamily="34" charset="0"/>
          </a:endParaRPr>
        </a:p>
      </dgm:t>
    </dgm:pt>
    <dgm:pt modelId="{AD1E2542-BC2A-431A-9036-C8B2C0B2001E}" type="parTrans" cxnId="{1583B060-4FB3-4F5A-B3EC-CE0A606C803D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0618857C-F949-41C2-95D3-75CE55C81D39}" type="sibTrans" cxnId="{1583B060-4FB3-4F5A-B3EC-CE0A606C803D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F35DB504-A6A6-42DD-AD0E-DF83061E8A45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Ramp up the number of resources (leveraging JVS JEN)</a:t>
          </a:r>
          <a:endParaRPr lang="en-US" sz="1400" dirty="0">
            <a:latin typeface="Calibri" pitchFamily="34" charset="0"/>
          </a:endParaRPr>
        </a:p>
      </dgm:t>
    </dgm:pt>
    <dgm:pt modelId="{BB2A6D52-8C1D-4B44-AA8F-69C139EFC4AA}" type="parTrans" cxnId="{B370C24B-466C-4E1F-B0C7-06A3EFC46C9F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4E85851E-4CC6-4725-8AE5-43A1C23CA560}" type="sibTrans" cxnId="{B370C24B-466C-4E1F-B0C7-06A3EFC46C9F}">
      <dgm:prSet/>
      <dgm:spPr/>
      <dgm:t>
        <a:bodyPr/>
        <a:lstStyle/>
        <a:p>
          <a:endParaRPr lang="en-US" sz="1200">
            <a:latin typeface="Calibri" pitchFamily="34" charset="0"/>
          </a:endParaRPr>
        </a:p>
      </dgm:t>
    </dgm:pt>
    <dgm:pt modelId="{D55998DE-5CF0-4963-822D-DFE6B8F466CE}">
      <dgm:prSet phldrT="[Text]" custT="1"/>
      <dgm:spPr/>
      <dgm:t>
        <a:bodyPr/>
        <a:lstStyle/>
        <a:p>
          <a:r>
            <a:rPr lang="en-US" sz="1800" b="1" dirty="0" smtClean="0">
              <a:latin typeface="Calibri" pitchFamily="34" charset="0"/>
            </a:rPr>
            <a:t>Delivering Value</a:t>
          </a:r>
          <a:endParaRPr lang="en-US" sz="1800" dirty="0">
            <a:latin typeface="Calibri" pitchFamily="34" charset="0"/>
          </a:endParaRPr>
        </a:p>
      </dgm:t>
    </dgm:pt>
    <dgm:pt modelId="{421732AF-0A09-41CC-AD94-ABF76CEA74E2}" type="parTrans" cxnId="{C61F1877-9942-4334-8A42-CFD12A76A4A1}">
      <dgm:prSet/>
      <dgm:spPr/>
      <dgm:t>
        <a:bodyPr/>
        <a:lstStyle/>
        <a:p>
          <a:endParaRPr lang="en-US" sz="2000">
            <a:latin typeface="Calibri" pitchFamily="34" charset="0"/>
          </a:endParaRPr>
        </a:p>
      </dgm:t>
    </dgm:pt>
    <dgm:pt modelId="{07497714-A361-4CC9-A47F-B76F982B2B77}" type="sibTrans" cxnId="{C61F1877-9942-4334-8A42-CFD12A76A4A1}">
      <dgm:prSet/>
      <dgm:spPr/>
      <dgm:t>
        <a:bodyPr/>
        <a:lstStyle/>
        <a:p>
          <a:endParaRPr lang="en-US" sz="2000">
            <a:latin typeface="Calibri" pitchFamily="34" charset="0"/>
          </a:endParaRPr>
        </a:p>
      </dgm:t>
    </dgm:pt>
    <dgm:pt modelId="{8E4CADB4-4C98-48C5-A66E-F286BF6047C7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Begin measurement and reporting to drive improvement</a:t>
          </a:r>
          <a:endParaRPr lang="en-US" sz="1400" b="1" dirty="0">
            <a:latin typeface="Calibri" pitchFamily="34" charset="0"/>
          </a:endParaRPr>
        </a:p>
      </dgm:t>
    </dgm:pt>
    <dgm:pt modelId="{8261C806-4409-48B3-9AF9-D4535555B79A}" type="parTrans" cxnId="{AF7663DE-3A47-4CA1-AADB-0B60B404886C}">
      <dgm:prSet/>
      <dgm:spPr/>
      <dgm:t>
        <a:bodyPr/>
        <a:lstStyle/>
        <a:p>
          <a:endParaRPr lang="en-US" sz="2000">
            <a:latin typeface="Calibri" pitchFamily="34" charset="0"/>
          </a:endParaRPr>
        </a:p>
      </dgm:t>
    </dgm:pt>
    <dgm:pt modelId="{C400CD33-D331-4EDD-9E2E-712C46ACA5F0}" type="sibTrans" cxnId="{AF7663DE-3A47-4CA1-AADB-0B60B404886C}">
      <dgm:prSet/>
      <dgm:spPr/>
      <dgm:t>
        <a:bodyPr/>
        <a:lstStyle/>
        <a:p>
          <a:endParaRPr lang="en-US" sz="2000">
            <a:latin typeface="Calibri" pitchFamily="34" charset="0"/>
          </a:endParaRPr>
        </a:p>
      </dgm:t>
    </dgm:pt>
    <dgm:pt modelId="{1D1D43FF-578C-4E20-8D18-98EB13F73725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Establish Management Team &amp; staff up the lead positions</a:t>
          </a:r>
          <a:endParaRPr lang="en-US" sz="1400" b="1" dirty="0">
            <a:latin typeface="Calibri" pitchFamily="34" charset="0"/>
          </a:endParaRPr>
        </a:p>
      </dgm:t>
    </dgm:pt>
    <dgm:pt modelId="{6B7D910B-526D-492D-B8F0-6B10A4D0CAB6}" type="parTrans" cxnId="{B1C72AC6-D9D8-4147-9F33-303ABA3E8E9D}">
      <dgm:prSet/>
      <dgm:spPr/>
      <dgm:t>
        <a:bodyPr/>
        <a:lstStyle/>
        <a:p>
          <a:endParaRPr lang="en-US" sz="2000"/>
        </a:p>
      </dgm:t>
    </dgm:pt>
    <dgm:pt modelId="{1A799C51-6E55-4476-9242-C41974518292}" type="sibTrans" cxnId="{B1C72AC6-D9D8-4147-9F33-303ABA3E8E9D}">
      <dgm:prSet/>
      <dgm:spPr/>
      <dgm:t>
        <a:bodyPr/>
        <a:lstStyle/>
        <a:p>
          <a:endParaRPr lang="en-US" sz="2000"/>
        </a:p>
      </dgm:t>
    </dgm:pt>
    <dgm:pt modelId="{7D08E122-783A-4375-A2D8-522B4F061F0C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Build out the business model &amp; draft plans for each area</a:t>
          </a:r>
          <a:endParaRPr lang="en-US" sz="1400" b="1" dirty="0">
            <a:latin typeface="Calibri" pitchFamily="34" charset="0"/>
          </a:endParaRPr>
        </a:p>
      </dgm:t>
    </dgm:pt>
    <dgm:pt modelId="{F6334F10-9AE4-41D8-88DC-A60CD35E04E5}" type="parTrans" cxnId="{875DB01A-ADD0-4E1E-89A9-F69509E0E557}">
      <dgm:prSet/>
      <dgm:spPr/>
      <dgm:t>
        <a:bodyPr/>
        <a:lstStyle/>
        <a:p>
          <a:endParaRPr lang="en-US" sz="2000"/>
        </a:p>
      </dgm:t>
    </dgm:pt>
    <dgm:pt modelId="{23537BFB-A81D-444B-A387-9EEDC20F5F53}" type="sibTrans" cxnId="{875DB01A-ADD0-4E1E-89A9-F69509E0E557}">
      <dgm:prSet/>
      <dgm:spPr/>
      <dgm:t>
        <a:bodyPr/>
        <a:lstStyle/>
        <a:p>
          <a:endParaRPr lang="en-US" sz="2000"/>
        </a:p>
      </dgm:t>
    </dgm:pt>
    <dgm:pt modelId="{FADCAADC-33DF-42FE-9902-FC6CAA4C4F60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Begin work on the marketing plans &amp; network with partners</a:t>
          </a:r>
          <a:endParaRPr lang="en-US" sz="1400" b="1" dirty="0">
            <a:latin typeface="Calibri" pitchFamily="34" charset="0"/>
          </a:endParaRPr>
        </a:p>
      </dgm:t>
    </dgm:pt>
    <dgm:pt modelId="{2DB99926-BE05-480A-962D-F7C08A1BD2D7}" type="parTrans" cxnId="{E00F1F3B-7B41-431F-8711-3771A6ECC1C6}">
      <dgm:prSet/>
      <dgm:spPr/>
      <dgm:t>
        <a:bodyPr/>
        <a:lstStyle/>
        <a:p>
          <a:endParaRPr lang="en-US" sz="2000"/>
        </a:p>
      </dgm:t>
    </dgm:pt>
    <dgm:pt modelId="{E3130A49-F3DA-485F-B6D3-7A76275AC7C6}" type="sibTrans" cxnId="{E00F1F3B-7B41-431F-8711-3771A6ECC1C6}">
      <dgm:prSet/>
      <dgm:spPr/>
      <dgm:t>
        <a:bodyPr/>
        <a:lstStyle/>
        <a:p>
          <a:endParaRPr lang="en-US" sz="2000"/>
        </a:p>
      </dgm:t>
    </dgm:pt>
    <dgm:pt modelId="{E6F61A93-F27D-4B40-B6DA-8D06A5950148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Establish the pipeline of companies using JVS’s relationships</a:t>
          </a:r>
          <a:endParaRPr lang="en-US" sz="1400" b="1" dirty="0">
            <a:latin typeface="Calibri" pitchFamily="34" charset="0"/>
          </a:endParaRPr>
        </a:p>
      </dgm:t>
    </dgm:pt>
    <dgm:pt modelId="{0FC3A8DC-AA8F-4CE3-987D-E8FE15B443FC}" type="parTrans" cxnId="{7FDE1E35-C893-439F-BBAC-9F057299D07E}">
      <dgm:prSet/>
      <dgm:spPr/>
      <dgm:t>
        <a:bodyPr/>
        <a:lstStyle/>
        <a:p>
          <a:endParaRPr lang="en-US" sz="2000"/>
        </a:p>
      </dgm:t>
    </dgm:pt>
    <dgm:pt modelId="{2BA0E2B4-0B3F-45B0-ADAB-E9102181BD9B}" type="sibTrans" cxnId="{7FDE1E35-C893-439F-BBAC-9F057299D07E}">
      <dgm:prSet/>
      <dgm:spPr/>
      <dgm:t>
        <a:bodyPr/>
        <a:lstStyle/>
        <a:p>
          <a:endParaRPr lang="en-US" sz="2000"/>
        </a:p>
      </dgm:t>
    </dgm:pt>
    <dgm:pt modelId="{AB7F39A4-0129-4AE0-BB2F-052BE7494B3D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Launch a few small engagements and establish credibility</a:t>
          </a:r>
          <a:endParaRPr lang="en-US" sz="1400" b="1" dirty="0">
            <a:latin typeface="Calibri" pitchFamily="34" charset="0"/>
          </a:endParaRPr>
        </a:p>
      </dgm:t>
    </dgm:pt>
    <dgm:pt modelId="{D2470C46-4203-4300-B2A0-497869059EF4}" type="parTrans" cxnId="{D419AF4B-0AA8-4BC9-9ED9-052FD5A9333A}">
      <dgm:prSet/>
      <dgm:spPr/>
      <dgm:t>
        <a:bodyPr/>
        <a:lstStyle/>
        <a:p>
          <a:endParaRPr lang="en-US" sz="2000"/>
        </a:p>
      </dgm:t>
    </dgm:pt>
    <dgm:pt modelId="{87094444-148E-43CE-BBA0-18AD9A353A0D}" type="sibTrans" cxnId="{D419AF4B-0AA8-4BC9-9ED9-052FD5A9333A}">
      <dgm:prSet/>
      <dgm:spPr/>
      <dgm:t>
        <a:bodyPr/>
        <a:lstStyle/>
        <a:p>
          <a:endParaRPr lang="en-US" sz="2000"/>
        </a:p>
      </dgm:t>
    </dgm:pt>
    <dgm:pt modelId="{7D4622D7-4BEC-49CF-AA84-B1C1833F9141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Continue growing the portfolio &amp; improving the delivery model</a:t>
          </a:r>
          <a:endParaRPr lang="en-US" sz="1400" b="1" dirty="0">
            <a:latin typeface="Calibri" pitchFamily="34" charset="0"/>
          </a:endParaRPr>
        </a:p>
      </dgm:t>
    </dgm:pt>
    <dgm:pt modelId="{C8C29D87-9745-4BB4-96A5-83B2A2DABA44}" type="parTrans" cxnId="{CB836719-408F-4F22-A7A7-3302F92AF60F}">
      <dgm:prSet/>
      <dgm:spPr/>
      <dgm:t>
        <a:bodyPr/>
        <a:lstStyle/>
        <a:p>
          <a:endParaRPr lang="en-US" sz="2000"/>
        </a:p>
      </dgm:t>
    </dgm:pt>
    <dgm:pt modelId="{2265220D-D04D-4E22-93E0-53967AFBADF6}" type="sibTrans" cxnId="{CB836719-408F-4F22-A7A7-3302F92AF60F}">
      <dgm:prSet/>
      <dgm:spPr/>
      <dgm:t>
        <a:bodyPr/>
        <a:lstStyle/>
        <a:p>
          <a:endParaRPr lang="en-US" sz="2000"/>
        </a:p>
      </dgm:t>
    </dgm:pt>
    <dgm:pt modelId="{1B7A90A0-AF7F-4823-8CF3-78C6671A55A4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Incorporate best practices models for all 3 delivery models</a:t>
          </a:r>
          <a:endParaRPr lang="en-US" sz="1400" b="1" dirty="0">
            <a:latin typeface="Calibri" pitchFamily="34" charset="0"/>
          </a:endParaRPr>
        </a:p>
      </dgm:t>
    </dgm:pt>
    <dgm:pt modelId="{9BC59B53-4CA9-4894-BF7D-34A1E6AE3EE8}" type="parTrans" cxnId="{BC820DF5-7E5B-4D99-9C6B-6EF7C603447A}">
      <dgm:prSet/>
      <dgm:spPr/>
      <dgm:t>
        <a:bodyPr/>
        <a:lstStyle/>
        <a:p>
          <a:endParaRPr lang="en-US" sz="2000"/>
        </a:p>
      </dgm:t>
    </dgm:pt>
    <dgm:pt modelId="{D4302D0C-9F80-4BD7-B6C6-41A90C703129}" type="sibTrans" cxnId="{BC820DF5-7E5B-4D99-9C6B-6EF7C603447A}">
      <dgm:prSet/>
      <dgm:spPr/>
      <dgm:t>
        <a:bodyPr/>
        <a:lstStyle/>
        <a:p>
          <a:endParaRPr lang="en-US" sz="2000"/>
        </a:p>
      </dgm:t>
    </dgm:pt>
    <dgm:pt modelId="{9A062E9C-B27D-4E1D-BB28-1154BE740047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Formalize the marketing &amp; sales </a:t>
          </a:r>
          <a:endParaRPr lang="en-US" sz="1400" b="1" dirty="0">
            <a:latin typeface="Calibri" pitchFamily="34" charset="0"/>
          </a:endParaRPr>
        </a:p>
      </dgm:t>
    </dgm:pt>
    <dgm:pt modelId="{2B82EADE-0EC4-4586-9B2C-2A8F8D35C883}" type="parTrans" cxnId="{D44AC500-BF0B-4FDB-8508-C03BD7370C70}">
      <dgm:prSet/>
      <dgm:spPr/>
      <dgm:t>
        <a:bodyPr/>
        <a:lstStyle/>
        <a:p>
          <a:endParaRPr lang="en-US" sz="2000"/>
        </a:p>
      </dgm:t>
    </dgm:pt>
    <dgm:pt modelId="{586A6521-CB73-4434-BEC0-E00DD1215BA7}" type="sibTrans" cxnId="{D44AC500-BF0B-4FDB-8508-C03BD7370C70}">
      <dgm:prSet/>
      <dgm:spPr/>
      <dgm:t>
        <a:bodyPr/>
        <a:lstStyle/>
        <a:p>
          <a:endParaRPr lang="en-US" sz="2000"/>
        </a:p>
      </dgm:t>
    </dgm:pt>
    <dgm:pt modelId="{DBBBA12B-6D69-4B04-B056-7388F52DBB00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Mature the delivery models for Executive, Operational, &amp; Tech</a:t>
          </a:r>
          <a:endParaRPr lang="en-US" sz="1400" b="1" dirty="0">
            <a:latin typeface="Calibri" pitchFamily="34" charset="0"/>
          </a:endParaRPr>
        </a:p>
      </dgm:t>
    </dgm:pt>
    <dgm:pt modelId="{FACDF133-2535-43E5-AFD0-460D918B0F62}" type="parTrans" cxnId="{4B2241F0-35EB-4FAD-910C-43A853E33781}">
      <dgm:prSet/>
      <dgm:spPr/>
      <dgm:t>
        <a:bodyPr/>
        <a:lstStyle/>
        <a:p>
          <a:endParaRPr lang="en-US" sz="2000"/>
        </a:p>
      </dgm:t>
    </dgm:pt>
    <dgm:pt modelId="{B728CB9E-CBE5-466C-97BF-07BB93EF7409}" type="sibTrans" cxnId="{4B2241F0-35EB-4FAD-910C-43A853E33781}">
      <dgm:prSet/>
      <dgm:spPr/>
      <dgm:t>
        <a:bodyPr/>
        <a:lstStyle/>
        <a:p>
          <a:endParaRPr lang="en-US" sz="2000"/>
        </a:p>
      </dgm:t>
    </dgm:pt>
    <dgm:pt modelId="{34BE6C02-AE2F-4DA7-9CD5-F0BE41342EEE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Capture case studies and references from clients</a:t>
          </a:r>
          <a:endParaRPr lang="en-US" sz="1400" b="1" dirty="0">
            <a:latin typeface="Calibri" pitchFamily="34" charset="0"/>
          </a:endParaRPr>
        </a:p>
      </dgm:t>
    </dgm:pt>
    <dgm:pt modelId="{7968CCA9-0D0E-46D6-B46C-784DD34F25FA}" type="parTrans" cxnId="{D9D96762-60AB-41F5-A48B-603180D5798E}">
      <dgm:prSet/>
      <dgm:spPr/>
      <dgm:t>
        <a:bodyPr/>
        <a:lstStyle/>
        <a:p>
          <a:endParaRPr lang="en-US" sz="2000"/>
        </a:p>
      </dgm:t>
    </dgm:pt>
    <dgm:pt modelId="{D98ACFC0-2875-497A-BDA2-A1512789619F}" type="sibTrans" cxnId="{D9D96762-60AB-41F5-A48B-603180D5798E}">
      <dgm:prSet/>
      <dgm:spPr/>
      <dgm:t>
        <a:bodyPr/>
        <a:lstStyle/>
        <a:p>
          <a:endParaRPr lang="en-US" sz="2000"/>
        </a:p>
      </dgm:t>
    </dgm:pt>
    <dgm:pt modelId="{CA1E83C0-210B-448E-94FA-317DF9BF1586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Continue expanding the opportunity pipeline</a:t>
          </a:r>
          <a:endParaRPr lang="en-US" sz="1400" b="1" dirty="0">
            <a:latin typeface="Calibri" pitchFamily="34" charset="0"/>
          </a:endParaRPr>
        </a:p>
      </dgm:t>
    </dgm:pt>
    <dgm:pt modelId="{024BB170-F2F8-4FBB-BA47-4ABB923B45FC}" type="parTrans" cxnId="{73F641CF-C787-4C6E-B986-E9460C6B6EC4}">
      <dgm:prSet/>
      <dgm:spPr/>
      <dgm:t>
        <a:bodyPr/>
        <a:lstStyle/>
        <a:p>
          <a:endParaRPr lang="en-US"/>
        </a:p>
      </dgm:t>
    </dgm:pt>
    <dgm:pt modelId="{15910608-A0FF-4FAF-9772-E4CA65520AB8}" type="sibTrans" cxnId="{73F641CF-C787-4C6E-B986-E9460C6B6EC4}">
      <dgm:prSet/>
      <dgm:spPr/>
      <dgm:t>
        <a:bodyPr/>
        <a:lstStyle/>
        <a:p>
          <a:endParaRPr lang="en-US"/>
        </a:p>
      </dgm:t>
    </dgm:pt>
    <dgm:pt modelId="{2BBDEC9F-A12C-4A48-A704-161AB9F4A89A}">
      <dgm:prSet phldrT="[Text]" custT="1"/>
      <dgm:spPr/>
      <dgm:t>
        <a:bodyPr/>
        <a:lstStyle/>
        <a:p>
          <a:r>
            <a:rPr lang="en-US" sz="1400" b="1" dirty="0" smtClean="0">
              <a:latin typeface="Calibri" pitchFamily="34" charset="0"/>
            </a:rPr>
            <a:t>Begin work on branding and establish a website</a:t>
          </a:r>
          <a:endParaRPr lang="en-US" sz="1400" b="1" dirty="0">
            <a:latin typeface="Calibri" pitchFamily="34" charset="0"/>
          </a:endParaRPr>
        </a:p>
      </dgm:t>
    </dgm:pt>
    <dgm:pt modelId="{4A6745D1-98E0-4F68-9BD3-8C9462787E1B}" type="parTrans" cxnId="{3754940A-0084-46F6-9B93-790D66D5FBD2}">
      <dgm:prSet/>
      <dgm:spPr/>
      <dgm:t>
        <a:bodyPr/>
        <a:lstStyle/>
        <a:p>
          <a:endParaRPr lang="en-US"/>
        </a:p>
      </dgm:t>
    </dgm:pt>
    <dgm:pt modelId="{A495DE55-5095-4B2B-ACA8-88E5448C214C}" type="sibTrans" cxnId="{3754940A-0084-46F6-9B93-790D66D5FBD2}">
      <dgm:prSet/>
      <dgm:spPr/>
      <dgm:t>
        <a:bodyPr/>
        <a:lstStyle/>
        <a:p>
          <a:endParaRPr lang="en-US"/>
        </a:p>
      </dgm:t>
    </dgm:pt>
    <dgm:pt modelId="{30ED7590-826C-4346-BDD2-5DF9E60908BA}" type="pres">
      <dgm:prSet presAssocID="{5AEE7B96-B445-4CA4-9494-35D8F79C276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5AC3FE3-E730-44CE-A422-C07B03E2376D}" type="pres">
      <dgm:prSet presAssocID="{96D8A90C-A5E1-4639-9D74-A9B1C8D78571}" presName="linNode" presStyleCnt="0"/>
      <dgm:spPr/>
      <dgm:t>
        <a:bodyPr/>
        <a:lstStyle/>
        <a:p>
          <a:endParaRPr lang="en-US"/>
        </a:p>
      </dgm:t>
    </dgm:pt>
    <dgm:pt modelId="{848D56A8-618E-4EE0-9BD0-5EF28A89B29D}" type="pres">
      <dgm:prSet presAssocID="{96D8A90C-A5E1-4639-9D74-A9B1C8D78571}" presName="parentText" presStyleLbl="node1" presStyleIdx="0" presStyleCnt="4" custScaleX="8683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0AD4E6-F3E0-41B1-B759-ADE27C774755}" type="pres">
      <dgm:prSet presAssocID="{96D8A90C-A5E1-4639-9D74-A9B1C8D78571}" presName="descendantText" presStyleLbl="alignAccFollowNode1" presStyleIdx="0" presStyleCnt="4" custScaleY="1210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4C9363-F602-47F7-90C0-724DF66395FC}" type="pres">
      <dgm:prSet presAssocID="{CCE6E5A3-A34E-49FB-AD99-CF6BCA7D25B5}" presName="sp" presStyleCnt="0"/>
      <dgm:spPr/>
      <dgm:t>
        <a:bodyPr/>
        <a:lstStyle/>
        <a:p>
          <a:endParaRPr lang="en-US"/>
        </a:p>
      </dgm:t>
    </dgm:pt>
    <dgm:pt modelId="{17258F9C-8B8E-47E5-BFF6-BFB575454707}" type="pres">
      <dgm:prSet presAssocID="{F1BFFD6F-DAF5-4917-9ABE-EB40FFA70D9B}" presName="linNode" presStyleCnt="0"/>
      <dgm:spPr/>
      <dgm:t>
        <a:bodyPr/>
        <a:lstStyle/>
        <a:p>
          <a:endParaRPr lang="en-US"/>
        </a:p>
      </dgm:t>
    </dgm:pt>
    <dgm:pt modelId="{2DCCA187-F438-43A0-9428-42FFF681F62D}" type="pres">
      <dgm:prSet presAssocID="{F1BFFD6F-DAF5-4917-9ABE-EB40FFA70D9B}" presName="parentText" presStyleLbl="node1" presStyleIdx="1" presStyleCnt="4" custScaleX="8683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F51911-3FC3-4004-8DE1-2317351FEA93}" type="pres">
      <dgm:prSet presAssocID="{F1BFFD6F-DAF5-4917-9ABE-EB40FFA70D9B}" presName="descendantText" presStyleLbl="alignAccFollowNode1" presStyleIdx="1" presStyleCnt="4" custScaleY="1262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991503-452E-45AC-8099-60B4554FBE1F}" type="pres">
      <dgm:prSet presAssocID="{EF7FE965-A4F9-4F25-BF32-655CDB0CC2A8}" presName="sp" presStyleCnt="0"/>
      <dgm:spPr/>
      <dgm:t>
        <a:bodyPr/>
        <a:lstStyle/>
        <a:p>
          <a:endParaRPr lang="en-US"/>
        </a:p>
      </dgm:t>
    </dgm:pt>
    <dgm:pt modelId="{A6592293-96CB-468C-859A-FF6DB5B51E70}" type="pres">
      <dgm:prSet presAssocID="{6AF4F1A6-B1A0-408A-9CCD-B8666663E5B4}" presName="linNode" presStyleCnt="0"/>
      <dgm:spPr/>
      <dgm:t>
        <a:bodyPr/>
        <a:lstStyle/>
        <a:p>
          <a:endParaRPr lang="en-US"/>
        </a:p>
      </dgm:t>
    </dgm:pt>
    <dgm:pt modelId="{E8ED1B5E-60EB-4A55-BF24-5BD4BFFFF0AB}" type="pres">
      <dgm:prSet presAssocID="{6AF4F1A6-B1A0-408A-9CCD-B8666663E5B4}" presName="parentText" presStyleLbl="node1" presStyleIdx="2" presStyleCnt="4" custScaleX="8683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259A6D-7C49-4854-B55B-3A514803020A}" type="pres">
      <dgm:prSet presAssocID="{6AF4F1A6-B1A0-408A-9CCD-B8666663E5B4}" presName="descendantText" presStyleLbl="alignAccFollowNode1" presStyleIdx="2" presStyleCnt="4" custScaleY="1152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7EF1C6-BC6F-4EA0-BDCF-30A102FC7304}" type="pres">
      <dgm:prSet presAssocID="{0618857C-F949-41C2-95D3-75CE55C81D39}" presName="sp" presStyleCnt="0"/>
      <dgm:spPr/>
      <dgm:t>
        <a:bodyPr/>
        <a:lstStyle/>
        <a:p>
          <a:endParaRPr lang="en-US"/>
        </a:p>
      </dgm:t>
    </dgm:pt>
    <dgm:pt modelId="{51FA1DC2-2315-4378-85A5-BE280F0811E2}" type="pres">
      <dgm:prSet presAssocID="{D55998DE-5CF0-4963-822D-DFE6B8F466CE}" presName="linNode" presStyleCnt="0"/>
      <dgm:spPr/>
      <dgm:t>
        <a:bodyPr/>
        <a:lstStyle/>
        <a:p>
          <a:endParaRPr lang="en-US"/>
        </a:p>
      </dgm:t>
    </dgm:pt>
    <dgm:pt modelId="{697A3FB5-C77C-4A5C-9BD7-B6AF794B8ADF}" type="pres">
      <dgm:prSet presAssocID="{D55998DE-5CF0-4963-822D-DFE6B8F466CE}" presName="parentText" presStyleLbl="node1" presStyleIdx="3" presStyleCnt="4" custScaleX="8683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05FE9E-00CC-4561-AC5F-CDFA0A76FDD1}" type="pres">
      <dgm:prSet presAssocID="{D55998DE-5CF0-4963-822D-DFE6B8F466CE}" presName="descendantText" presStyleLbl="alignAccFollowNode1" presStyleIdx="3" presStyleCnt="4" custScaleY="1346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D354FF-4ACB-4798-9157-ECAB3889F8EF}" type="presOf" srcId="{CA1E83C0-210B-448E-94FA-317DF9BF1586}" destId="{0505FE9E-00CC-4561-AC5F-CDFA0A76FDD1}" srcOrd="0" destOrd="1" presId="urn:microsoft.com/office/officeart/2005/8/layout/vList5"/>
    <dgm:cxn modelId="{D409F6AA-008F-40B2-9E83-DF48C5C28671}" type="presOf" srcId="{F1BFFD6F-DAF5-4917-9ABE-EB40FFA70D9B}" destId="{2DCCA187-F438-43A0-9428-42FFF681F62D}" srcOrd="0" destOrd="0" presId="urn:microsoft.com/office/officeart/2005/8/layout/vList5"/>
    <dgm:cxn modelId="{E00F1F3B-7B41-431F-8711-3771A6ECC1C6}" srcId="{96D8A90C-A5E1-4639-9D74-A9B1C8D78571}" destId="{FADCAADC-33DF-42FE-9902-FC6CAA4C4F60}" srcOrd="3" destOrd="0" parTransId="{2DB99926-BE05-480A-962D-F7C08A1BD2D7}" sibTransId="{E3130A49-F3DA-485F-B6D3-7A76275AC7C6}"/>
    <dgm:cxn modelId="{6680326C-4D76-4F48-B848-ACE519611771}" type="presOf" srcId="{1B7A90A0-AF7F-4823-8CF3-78C6671A55A4}" destId="{6F259A6D-7C49-4854-B55B-3A514803020A}" srcOrd="0" destOrd="1" presId="urn:microsoft.com/office/officeart/2005/8/layout/vList5"/>
    <dgm:cxn modelId="{27FDF825-B7E0-4BB0-B482-337665452A35}" type="presOf" srcId="{96D8A90C-A5E1-4639-9D74-A9B1C8D78571}" destId="{848D56A8-618E-4EE0-9BD0-5EF28A89B29D}" srcOrd="0" destOrd="0" presId="urn:microsoft.com/office/officeart/2005/8/layout/vList5"/>
    <dgm:cxn modelId="{4B2241F0-35EB-4FAD-910C-43A853E33781}" srcId="{D55998DE-5CF0-4963-822D-DFE6B8F466CE}" destId="{DBBBA12B-6D69-4B04-B056-7388F52DBB00}" srcOrd="2" destOrd="0" parTransId="{FACDF133-2535-43E5-AFD0-460D918B0F62}" sibTransId="{B728CB9E-CBE5-466C-97BF-07BB93EF7409}"/>
    <dgm:cxn modelId="{6F4989AB-846D-428E-A0EF-7D5D806C3A5E}" type="presOf" srcId="{2BBDEC9F-A12C-4A48-A704-161AB9F4A89A}" destId="{6F259A6D-7C49-4854-B55B-3A514803020A}" srcOrd="0" destOrd="3" presId="urn:microsoft.com/office/officeart/2005/8/layout/vList5"/>
    <dgm:cxn modelId="{B9F693DD-473C-475C-BA4B-A24AE86FA3E8}" type="presOf" srcId="{FADCAADC-33DF-42FE-9902-FC6CAA4C4F60}" destId="{580AD4E6-F3E0-41B1-B759-ADE27C774755}" srcOrd="0" destOrd="3" presId="urn:microsoft.com/office/officeart/2005/8/layout/vList5"/>
    <dgm:cxn modelId="{AF7663DE-3A47-4CA1-AADB-0B60B404886C}" srcId="{D55998DE-5CF0-4963-822D-DFE6B8F466CE}" destId="{8E4CADB4-4C98-48C5-A66E-F286BF6047C7}" srcOrd="0" destOrd="0" parTransId="{8261C806-4409-48B3-9AF9-D4535555B79A}" sibTransId="{C400CD33-D331-4EDD-9E2E-712C46ACA5F0}"/>
    <dgm:cxn modelId="{E959ADAD-B722-4E60-ADB8-E180290F7BA1}" type="presOf" srcId="{34BE6C02-AE2F-4DA7-9CD5-F0BE41342EEE}" destId="{0505FE9E-00CC-4561-AC5F-CDFA0A76FDD1}" srcOrd="0" destOrd="3" presId="urn:microsoft.com/office/officeart/2005/8/layout/vList5"/>
    <dgm:cxn modelId="{D44AC500-BF0B-4FDB-8508-C03BD7370C70}" srcId="{6AF4F1A6-B1A0-408A-9CCD-B8666663E5B4}" destId="{9A062E9C-B27D-4E1D-BB28-1154BE740047}" srcOrd="2" destOrd="0" parTransId="{2B82EADE-0EC4-4586-9B2C-2A8F8D35C883}" sibTransId="{586A6521-CB73-4434-BEC0-E00DD1215BA7}"/>
    <dgm:cxn modelId="{96B8C83B-DBDB-4415-A356-2A947609AA95}" type="presOf" srcId="{E4B803B3-CCCB-4393-8565-308117C1217A}" destId="{CCF51911-3FC3-4004-8DE1-2317351FEA93}" srcOrd="0" destOrd="0" presId="urn:microsoft.com/office/officeart/2005/8/layout/vList5"/>
    <dgm:cxn modelId="{1B159EFD-45A4-4BFF-A99E-CC21DF146487}" type="presOf" srcId="{5AEE7B96-B445-4CA4-9494-35D8F79C276E}" destId="{30ED7590-826C-4346-BDD2-5DF9E60908BA}" srcOrd="0" destOrd="0" presId="urn:microsoft.com/office/officeart/2005/8/layout/vList5"/>
    <dgm:cxn modelId="{776FB705-FA56-4EFD-8E12-712AA4D7CB42}" type="presOf" srcId="{780267AE-D774-4A99-AC28-BA7D6CEF0411}" destId="{580AD4E6-F3E0-41B1-B759-ADE27C774755}" srcOrd="0" destOrd="0" presId="urn:microsoft.com/office/officeart/2005/8/layout/vList5"/>
    <dgm:cxn modelId="{B6D44400-2C50-4A27-BA62-2B763E30423C}" type="presOf" srcId="{DBBBA12B-6D69-4B04-B056-7388F52DBB00}" destId="{0505FE9E-00CC-4561-AC5F-CDFA0A76FDD1}" srcOrd="0" destOrd="2" presId="urn:microsoft.com/office/officeart/2005/8/layout/vList5"/>
    <dgm:cxn modelId="{4EA5F901-EC6E-43DB-AB99-0B7A1475CC47}" srcId="{5AEE7B96-B445-4CA4-9494-35D8F79C276E}" destId="{96D8A90C-A5E1-4639-9D74-A9B1C8D78571}" srcOrd="0" destOrd="0" parTransId="{EA7B5A88-CFE9-4F60-B634-4073D766B3B1}" sibTransId="{CCE6E5A3-A34E-49FB-AD99-CF6BCA7D25B5}"/>
    <dgm:cxn modelId="{5E23AC03-3646-4ADF-8363-5CEE9F247F8C}" type="presOf" srcId="{6AF4F1A6-B1A0-408A-9CCD-B8666663E5B4}" destId="{E8ED1B5E-60EB-4A55-BF24-5BD4BFFFF0AB}" srcOrd="0" destOrd="0" presId="urn:microsoft.com/office/officeart/2005/8/layout/vList5"/>
    <dgm:cxn modelId="{BC820DF5-7E5B-4D99-9C6B-6EF7C603447A}" srcId="{6AF4F1A6-B1A0-408A-9CCD-B8666663E5B4}" destId="{1B7A90A0-AF7F-4823-8CF3-78C6671A55A4}" srcOrd="1" destOrd="0" parTransId="{9BC59B53-4CA9-4894-BF7D-34A1E6AE3EE8}" sibTransId="{D4302D0C-9F80-4BD7-B6C6-41A90C703129}"/>
    <dgm:cxn modelId="{3754940A-0084-46F6-9B93-790D66D5FBD2}" srcId="{6AF4F1A6-B1A0-408A-9CCD-B8666663E5B4}" destId="{2BBDEC9F-A12C-4A48-A704-161AB9F4A89A}" srcOrd="3" destOrd="0" parTransId="{4A6745D1-98E0-4F68-9BD3-8C9462787E1B}" sibTransId="{A495DE55-5095-4B2B-ACA8-88E5448C214C}"/>
    <dgm:cxn modelId="{D9D96762-60AB-41F5-A48B-603180D5798E}" srcId="{D55998DE-5CF0-4963-822D-DFE6B8F466CE}" destId="{34BE6C02-AE2F-4DA7-9CD5-F0BE41342EEE}" srcOrd="3" destOrd="0" parTransId="{7968CCA9-0D0E-46D6-B46C-784DD34F25FA}" sibTransId="{D98ACFC0-2875-497A-BDA2-A1512789619F}"/>
    <dgm:cxn modelId="{A974F440-49DE-4E41-BD97-E2B106EFC58F}" type="presOf" srcId="{1D1D43FF-578C-4E20-8D18-98EB13F73725}" destId="{580AD4E6-F3E0-41B1-B759-ADE27C774755}" srcOrd="0" destOrd="1" presId="urn:microsoft.com/office/officeart/2005/8/layout/vList5"/>
    <dgm:cxn modelId="{7FDE1E35-C893-439F-BBAC-9F057299D07E}" srcId="{F1BFFD6F-DAF5-4917-9ABE-EB40FFA70D9B}" destId="{E6F61A93-F27D-4B40-B6DA-8D06A5950148}" srcOrd="1" destOrd="0" parTransId="{0FC3A8DC-AA8F-4CE3-987D-E8FE15B443FC}" sibTransId="{2BA0E2B4-0B3F-45B0-ADAB-E9102181BD9B}"/>
    <dgm:cxn modelId="{BD7B2B36-5447-43DC-AEC0-C14ED88C01C3}" type="presOf" srcId="{7D4622D7-4BEC-49CF-AA84-B1C1833F9141}" destId="{CCF51911-3FC3-4004-8DE1-2317351FEA93}" srcOrd="0" destOrd="3" presId="urn:microsoft.com/office/officeart/2005/8/layout/vList5"/>
    <dgm:cxn modelId="{B370C24B-466C-4E1F-B0C7-06A3EFC46C9F}" srcId="{6AF4F1A6-B1A0-408A-9CCD-B8666663E5B4}" destId="{F35DB504-A6A6-42DD-AD0E-DF83061E8A45}" srcOrd="0" destOrd="0" parTransId="{BB2A6D52-8C1D-4B44-AA8F-69C139EFC4AA}" sibTransId="{4E85851E-4CC6-4725-8AE5-43A1C23CA560}"/>
    <dgm:cxn modelId="{0A25EC68-316C-4B12-AAE1-D1E692829C87}" type="presOf" srcId="{7D08E122-783A-4375-A2D8-522B4F061F0C}" destId="{580AD4E6-F3E0-41B1-B759-ADE27C774755}" srcOrd="0" destOrd="2" presId="urn:microsoft.com/office/officeart/2005/8/layout/vList5"/>
    <dgm:cxn modelId="{05B57A42-D3F3-4A39-8DC0-2C0CBC78CB8C}" type="presOf" srcId="{D55998DE-5CF0-4963-822D-DFE6B8F466CE}" destId="{697A3FB5-C77C-4A5C-9BD7-B6AF794B8ADF}" srcOrd="0" destOrd="0" presId="urn:microsoft.com/office/officeart/2005/8/layout/vList5"/>
    <dgm:cxn modelId="{73F641CF-C787-4C6E-B986-E9460C6B6EC4}" srcId="{D55998DE-5CF0-4963-822D-DFE6B8F466CE}" destId="{CA1E83C0-210B-448E-94FA-317DF9BF1586}" srcOrd="1" destOrd="0" parTransId="{024BB170-F2F8-4FBB-BA47-4ABB923B45FC}" sibTransId="{15910608-A0FF-4FAF-9772-E4CA65520AB8}"/>
    <dgm:cxn modelId="{875DB01A-ADD0-4E1E-89A9-F69509E0E557}" srcId="{96D8A90C-A5E1-4639-9D74-A9B1C8D78571}" destId="{7D08E122-783A-4375-A2D8-522B4F061F0C}" srcOrd="2" destOrd="0" parTransId="{F6334F10-9AE4-41D8-88DC-A60CD35E04E5}" sibTransId="{23537BFB-A81D-444B-A387-9EEDC20F5F53}"/>
    <dgm:cxn modelId="{B1C72AC6-D9D8-4147-9F33-303ABA3E8E9D}" srcId="{96D8A90C-A5E1-4639-9D74-A9B1C8D78571}" destId="{1D1D43FF-578C-4E20-8D18-98EB13F73725}" srcOrd="1" destOrd="0" parTransId="{6B7D910B-526D-492D-B8F0-6B10A4D0CAB6}" sibTransId="{1A799C51-6E55-4476-9242-C41974518292}"/>
    <dgm:cxn modelId="{2121B369-0850-4366-B302-EBA4EB6BFA37}" type="presOf" srcId="{F35DB504-A6A6-42DD-AD0E-DF83061E8A45}" destId="{6F259A6D-7C49-4854-B55B-3A514803020A}" srcOrd="0" destOrd="0" presId="urn:microsoft.com/office/officeart/2005/8/layout/vList5"/>
    <dgm:cxn modelId="{C61F1877-9942-4334-8A42-CFD12A76A4A1}" srcId="{5AEE7B96-B445-4CA4-9494-35D8F79C276E}" destId="{D55998DE-5CF0-4963-822D-DFE6B8F466CE}" srcOrd="3" destOrd="0" parTransId="{421732AF-0A09-41CC-AD94-ABF76CEA74E2}" sibTransId="{07497714-A361-4CC9-A47F-B76F982B2B77}"/>
    <dgm:cxn modelId="{2D3A045A-A880-464B-9836-A765AD118BD7}" srcId="{F1BFFD6F-DAF5-4917-9ABE-EB40FFA70D9B}" destId="{E4B803B3-CCCB-4393-8565-308117C1217A}" srcOrd="0" destOrd="0" parTransId="{068CAF8C-6928-4F2F-B35F-C950E89420BE}" sibTransId="{E963F02E-5ED5-4C15-9336-0DC73C739CE3}"/>
    <dgm:cxn modelId="{880F701B-681F-4A5D-B294-8FCECA2D89B3}" srcId="{96D8A90C-A5E1-4639-9D74-A9B1C8D78571}" destId="{780267AE-D774-4A99-AC28-BA7D6CEF0411}" srcOrd="0" destOrd="0" parTransId="{6C1C5F65-7126-4A98-AA3A-C9EE25EFBDCB}" sibTransId="{FEA35F3F-9FB8-4F77-B1D9-44C46D5F174B}"/>
    <dgm:cxn modelId="{D419AF4B-0AA8-4BC9-9ED9-052FD5A9333A}" srcId="{F1BFFD6F-DAF5-4917-9ABE-EB40FFA70D9B}" destId="{AB7F39A4-0129-4AE0-BB2F-052BE7494B3D}" srcOrd="2" destOrd="0" parTransId="{D2470C46-4203-4300-B2A0-497869059EF4}" sibTransId="{87094444-148E-43CE-BBA0-18AD9A353A0D}"/>
    <dgm:cxn modelId="{D3AED0CF-88AB-436A-998F-8FF381ABA331}" type="presOf" srcId="{E6F61A93-F27D-4B40-B6DA-8D06A5950148}" destId="{CCF51911-3FC3-4004-8DE1-2317351FEA93}" srcOrd="0" destOrd="1" presId="urn:microsoft.com/office/officeart/2005/8/layout/vList5"/>
    <dgm:cxn modelId="{21AF852D-ABC5-485F-9E7F-6D19F54DA123}" type="presOf" srcId="{9A062E9C-B27D-4E1D-BB28-1154BE740047}" destId="{6F259A6D-7C49-4854-B55B-3A514803020A}" srcOrd="0" destOrd="2" presId="urn:microsoft.com/office/officeart/2005/8/layout/vList5"/>
    <dgm:cxn modelId="{572ABCDF-12D5-49ED-A21D-0DD7908D4A30}" srcId="{5AEE7B96-B445-4CA4-9494-35D8F79C276E}" destId="{F1BFFD6F-DAF5-4917-9ABE-EB40FFA70D9B}" srcOrd="1" destOrd="0" parTransId="{31E2ABE0-96D8-4944-AC1C-CEBFDD112F37}" sibTransId="{EF7FE965-A4F9-4F25-BF32-655CDB0CC2A8}"/>
    <dgm:cxn modelId="{1583B060-4FB3-4F5A-B3EC-CE0A606C803D}" srcId="{5AEE7B96-B445-4CA4-9494-35D8F79C276E}" destId="{6AF4F1A6-B1A0-408A-9CCD-B8666663E5B4}" srcOrd="2" destOrd="0" parTransId="{AD1E2542-BC2A-431A-9036-C8B2C0B2001E}" sibTransId="{0618857C-F949-41C2-95D3-75CE55C81D39}"/>
    <dgm:cxn modelId="{CB836719-408F-4F22-A7A7-3302F92AF60F}" srcId="{F1BFFD6F-DAF5-4917-9ABE-EB40FFA70D9B}" destId="{7D4622D7-4BEC-49CF-AA84-B1C1833F9141}" srcOrd="3" destOrd="0" parTransId="{C8C29D87-9745-4BB4-96A5-83B2A2DABA44}" sibTransId="{2265220D-D04D-4E22-93E0-53967AFBADF6}"/>
    <dgm:cxn modelId="{A81A2F3D-794C-4B78-A486-3A0CA8BE399D}" type="presOf" srcId="{AB7F39A4-0129-4AE0-BB2F-052BE7494B3D}" destId="{CCF51911-3FC3-4004-8DE1-2317351FEA93}" srcOrd="0" destOrd="2" presId="urn:microsoft.com/office/officeart/2005/8/layout/vList5"/>
    <dgm:cxn modelId="{83D8C3DD-B963-4EAD-B931-7A3CD71AE540}" type="presOf" srcId="{8E4CADB4-4C98-48C5-A66E-F286BF6047C7}" destId="{0505FE9E-00CC-4561-AC5F-CDFA0A76FDD1}" srcOrd="0" destOrd="0" presId="urn:microsoft.com/office/officeart/2005/8/layout/vList5"/>
    <dgm:cxn modelId="{7B695A1D-95A8-4BCB-9BA9-D82DE017D39F}" type="presParOf" srcId="{30ED7590-826C-4346-BDD2-5DF9E60908BA}" destId="{15AC3FE3-E730-44CE-A422-C07B03E2376D}" srcOrd="0" destOrd="0" presId="urn:microsoft.com/office/officeart/2005/8/layout/vList5"/>
    <dgm:cxn modelId="{067F6ACB-1432-467D-989D-BF645C5FB253}" type="presParOf" srcId="{15AC3FE3-E730-44CE-A422-C07B03E2376D}" destId="{848D56A8-618E-4EE0-9BD0-5EF28A89B29D}" srcOrd="0" destOrd="0" presId="urn:microsoft.com/office/officeart/2005/8/layout/vList5"/>
    <dgm:cxn modelId="{B91CCBEF-ED6A-4D44-9CC0-2C01D22309D9}" type="presParOf" srcId="{15AC3FE3-E730-44CE-A422-C07B03E2376D}" destId="{580AD4E6-F3E0-41B1-B759-ADE27C774755}" srcOrd="1" destOrd="0" presId="urn:microsoft.com/office/officeart/2005/8/layout/vList5"/>
    <dgm:cxn modelId="{31CDB47D-5933-4599-BFC7-811614A2D91F}" type="presParOf" srcId="{30ED7590-826C-4346-BDD2-5DF9E60908BA}" destId="{804C9363-F602-47F7-90C0-724DF66395FC}" srcOrd="1" destOrd="0" presId="urn:microsoft.com/office/officeart/2005/8/layout/vList5"/>
    <dgm:cxn modelId="{33AA144F-DAF9-436F-AF4C-A3729EE8D4AC}" type="presParOf" srcId="{30ED7590-826C-4346-BDD2-5DF9E60908BA}" destId="{17258F9C-8B8E-47E5-BFF6-BFB575454707}" srcOrd="2" destOrd="0" presId="urn:microsoft.com/office/officeart/2005/8/layout/vList5"/>
    <dgm:cxn modelId="{C00140E1-A43C-4E9E-A501-F1FBB5AA3266}" type="presParOf" srcId="{17258F9C-8B8E-47E5-BFF6-BFB575454707}" destId="{2DCCA187-F438-43A0-9428-42FFF681F62D}" srcOrd="0" destOrd="0" presId="urn:microsoft.com/office/officeart/2005/8/layout/vList5"/>
    <dgm:cxn modelId="{31259849-C722-4802-AB5E-3DD1764D58A4}" type="presParOf" srcId="{17258F9C-8B8E-47E5-BFF6-BFB575454707}" destId="{CCF51911-3FC3-4004-8DE1-2317351FEA93}" srcOrd="1" destOrd="0" presId="urn:microsoft.com/office/officeart/2005/8/layout/vList5"/>
    <dgm:cxn modelId="{946119F1-BEC6-449E-8030-ECD576B5DF18}" type="presParOf" srcId="{30ED7590-826C-4346-BDD2-5DF9E60908BA}" destId="{60991503-452E-45AC-8099-60B4554FBE1F}" srcOrd="3" destOrd="0" presId="urn:microsoft.com/office/officeart/2005/8/layout/vList5"/>
    <dgm:cxn modelId="{ED3E4FC6-3EC4-4D83-B943-555569DC9EE6}" type="presParOf" srcId="{30ED7590-826C-4346-BDD2-5DF9E60908BA}" destId="{A6592293-96CB-468C-859A-FF6DB5B51E70}" srcOrd="4" destOrd="0" presId="urn:microsoft.com/office/officeart/2005/8/layout/vList5"/>
    <dgm:cxn modelId="{0C12A853-A546-4324-BCA0-E543C46195D3}" type="presParOf" srcId="{A6592293-96CB-468C-859A-FF6DB5B51E70}" destId="{E8ED1B5E-60EB-4A55-BF24-5BD4BFFFF0AB}" srcOrd="0" destOrd="0" presId="urn:microsoft.com/office/officeart/2005/8/layout/vList5"/>
    <dgm:cxn modelId="{5F00FF88-7F26-4208-BF04-633628506F8F}" type="presParOf" srcId="{A6592293-96CB-468C-859A-FF6DB5B51E70}" destId="{6F259A6D-7C49-4854-B55B-3A514803020A}" srcOrd="1" destOrd="0" presId="urn:microsoft.com/office/officeart/2005/8/layout/vList5"/>
    <dgm:cxn modelId="{E2F42029-7E32-4751-8B00-3737DF31534E}" type="presParOf" srcId="{30ED7590-826C-4346-BDD2-5DF9E60908BA}" destId="{707EF1C6-BC6F-4EA0-BDCF-30A102FC7304}" srcOrd="5" destOrd="0" presId="urn:microsoft.com/office/officeart/2005/8/layout/vList5"/>
    <dgm:cxn modelId="{22B4F327-B9C8-4B0A-B805-5B597311E02D}" type="presParOf" srcId="{30ED7590-826C-4346-BDD2-5DF9E60908BA}" destId="{51FA1DC2-2315-4378-85A5-BE280F0811E2}" srcOrd="6" destOrd="0" presId="urn:microsoft.com/office/officeart/2005/8/layout/vList5"/>
    <dgm:cxn modelId="{BBE9B094-A399-4EC5-9D6A-B7DB7EB0A536}" type="presParOf" srcId="{51FA1DC2-2315-4378-85A5-BE280F0811E2}" destId="{697A3FB5-C77C-4A5C-9BD7-B6AF794B8ADF}" srcOrd="0" destOrd="0" presId="urn:microsoft.com/office/officeart/2005/8/layout/vList5"/>
    <dgm:cxn modelId="{7E513DDE-0731-4157-B9A1-2FFADEC2DED8}" type="presParOf" srcId="{51FA1DC2-2315-4378-85A5-BE280F0811E2}" destId="{0505FE9E-00CC-4561-AC5F-CDFA0A76FDD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2F25273-F32A-466D-A5D3-5A78D082F106}">
      <dsp:nvSpPr>
        <dsp:cNvPr id="0" name=""/>
        <dsp:cNvSpPr/>
      </dsp:nvSpPr>
      <dsp:spPr>
        <a:xfrm>
          <a:off x="0" y="0"/>
          <a:ext cx="6096000" cy="1219200"/>
        </a:xfrm>
        <a:prstGeom prst="rect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 z="-190500">
          <a:bevelT w="190500" h="3810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bg1"/>
              </a:solidFill>
            </a:rPr>
            <a:t>JVS Consulting Services</a:t>
          </a:r>
          <a:endParaRPr lang="en-US" sz="3200" b="1" kern="1200" dirty="0">
            <a:solidFill>
              <a:schemeClr val="bg1"/>
            </a:solidFill>
          </a:endParaRPr>
        </a:p>
      </dsp:txBody>
      <dsp:txXfrm>
        <a:off x="0" y="0"/>
        <a:ext cx="6096000" cy="1219200"/>
      </dsp:txXfrm>
    </dsp:sp>
    <dsp:sp modelId="{A3BF671F-4F65-4441-8C5B-200AD7D15DA5}">
      <dsp:nvSpPr>
        <dsp:cNvPr id="0" name=""/>
        <dsp:cNvSpPr/>
      </dsp:nvSpPr>
      <dsp:spPr>
        <a:xfrm>
          <a:off x="2976" y="1219200"/>
          <a:ext cx="2030015" cy="256032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kern="1200" dirty="0" smtClean="0"/>
            <a:t>Executive Services</a:t>
          </a:r>
          <a:endParaRPr lang="en-US" sz="2900" b="0" kern="1200" dirty="0"/>
        </a:p>
      </dsp:txBody>
      <dsp:txXfrm>
        <a:off x="2976" y="1219200"/>
        <a:ext cx="2030015" cy="2560320"/>
      </dsp:txXfrm>
    </dsp:sp>
    <dsp:sp modelId="{06B7D394-02E1-4853-B6D4-A24DCA557F6F}">
      <dsp:nvSpPr>
        <dsp:cNvPr id="0" name=""/>
        <dsp:cNvSpPr/>
      </dsp:nvSpPr>
      <dsp:spPr>
        <a:xfrm>
          <a:off x="2032992" y="1219200"/>
          <a:ext cx="2030015" cy="256032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53123"/>
                <a:satOff val="-2196"/>
                <a:lumOff val="12807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153123"/>
                <a:satOff val="-2196"/>
                <a:lumOff val="12807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153123"/>
                <a:satOff val="-2196"/>
                <a:lumOff val="128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kern="1200" dirty="0" smtClean="0"/>
            <a:t>Operational Services</a:t>
          </a:r>
          <a:endParaRPr lang="en-US" sz="2900" b="0" kern="1200" dirty="0"/>
        </a:p>
      </dsp:txBody>
      <dsp:txXfrm>
        <a:off x="2032992" y="1219200"/>
        <a:ext cx="2030015" cy="2560320"/>
      </dsp:txXfrm>
    </dsp:sp>
    <dsp:sp modelId="{6C3935F4-5187-474E-9678-A731BEBB0476}">
      <dsp:nvSpPr>
        <dsp:cNvPr id="0" name=""/>
        <dsp:cNvSpPr/>
      </dsp:nvSpPr>
      <dsp:spPr>
        <a:xfrm>
          <a:off x="4063007" y="1219200"/>
          <a:ext cx="2030015" cy="2560320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06246"/>
                <a:satOff val="-4392"/>
                <a:lumOff val="25615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306246"/>
                <a:satOff val="-4392"/>
                <a:lumOff val="25615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306246"/>
                <a:satOff val="-4392"/>
                <a:lumOff val="256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0" kern="1200" dirty="0" smtClean="0"/>
            <a:t>Technical Services</a:t>
          </a:r>
          <a:endParaRPr lang="en-US" sz="2900" b="0" kern="1200" dirty="0"/>
        </a:p>
      </dsp:txBody>
      <dsp:txXfrm>
        <a:off x="4063007" y="1219200"/>
        <a:ext cx="2030015" cy="2560320"/>
      </dsp:txXfrm>
    </dsp:sp>
    <dsp:sp modelId="{2983552B-5061-4619-90E8-7A2761CA1FD4}">
      <dsp:nvSpPr>
        <dsp:cNvPr id="0" name=""/>
        <dsp:cNvSpPr/>
      </dsp:nvSpPr>
      <dsp:spPr>
        <a:xfrm>
          <a:off x="0" y="3779520"/>
          <a:ext cx="6096000" cy="284480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shade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01F8683-ABD3-4DC3-A9C9-83EE87876034}">
      <dsp:nvSpPr>
        <dsp:cNvPr id="0" name=""/>
        <dsp:cNvSpPr/>
      </dsp:nvSpPr>
      <dsp:spPr>
        <a:xfrm>
          <a:off x="938530" y="0"/>
          <a:ext cx="4927599" cy="4927599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813B80-08C0-4275-902E-8EE777334287}">
      <dsp:nvSpPr>
        <dsp:cNvPr id="0" name=""/>
        <dsp:cNvSpPr/>
      </dsp:nvSpPr>
      <dsp:spPr>
        <a:xfrm>
          <a:off x="3390895" y="681994"/>
          <a:ext cx="3202940" cy="954820"/>
        </a:xfrm>
        <a:prstGeom prst="round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Transforming Lives through Counseling, Training, &amp; Work</a:t>
          </a:r>
          <a:endParaRPr lang="en-US" sz="1800" b="1" kern="1200" dirty="0"/>
        </a:p>
      </dsp:txBody>
      <dsp:txXfrm>
        <a:off x="3390895" y="681994"/>
        <a:ext cx="3202940" cy="954820"/>
      </dsp:txXfrm>
    </dsp:sp>
    <dsp:sp modelId="{D8B0D5FA-C406-443D-8ADE-7DC6F986BC6A}">
      <dsp:nvSpPr>
        <dsp:cNvPr id="0" name=""/>
        <dsp:cNvSpPr/>
      </dsp:nvSpPr>
      <dsp:spPr>
        <a:xfrm>
          <a:off x="3757920" y="1839178"/>
          <a:ext cx="3202940" cy="954820"/>
        </a:xfrm>
        <a:prstGeom prst="round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Transforming Thinking through Business Advisory Council </a:t>
          </a:r>
          <a:endParaRPr lang="en-US" sz="1800" b="1" kern="1200" dirty="0"/>
        </a:p>
      </dsp:txBody>
      <dsp:txXfrm>
        <a:off x="3757920" y="1839178"/>
        <a:ext cx="3202940" cy="954820"/>
      </dsp:txXfrm>
    </dsp:sp>
    <dsp:sp modelId="{94BF59C9-C167-4D86-8E4B-797F773BA57D}">
      <dsp:nvSpPr>
        <dsp:cNvPr id="0" name=""/>
        <dsp:cNvSpPr/>
      </dsp:nvSpPr>
      <dsp:spPr>
        <a:xfrm>
          <a:off x="4114791" y="2982179"/>
          <a:ext cx="3202940" cy="954820"/>
        </a:xfrm>
        <a:prstGeom prst="round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Transforming Businesses through Service Delivery</a:t>
          </a:r>
          <a:endParaRPr lang="en-US" sz="1800" b="1" kern="1200" dirty="0"/>
        </a:p>
      </dsp:txBody>
      <dsp:txXfrm>
        <a:off x="4114791" y="2982179"/>
        <a:ext cx="3202940" cy="9548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80AD4E6-F3E0-41B1-B759-ADE27C774755}">
      <dsp:nvSpPr>
        <dsp:cNvPr id="0" name=""/>
        <dsp:cNvSpPr/>
      </dsp:nvSpPr>
      <dsp:spPr>
        <a:xfrm rot="5400000">
          <a:off x="5027138" y="-2136419"/>
          <a:ext cx="1148149" cy="546201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Establish a Board of Directors </a:t>
          </a:r>
          <a:endParaRPr lang="en-US" sz="1400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Establish Management Team &amp; staff up the lead positions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Build out the business model &amp; draft plans for each area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Begin work on the marketing plans &amp; network with partners</a:t>
          </a:r>
          <a:endParaRPr lang="en-US" sz="1400" b="1" kern="1200" dirty="0">
            <a:latin typeface="Calibri" pitchFamily="34" charset="0"/>
          </a:endParaRPr>
        </a:p>
      </dsp:txBody>
      <dsp:txXfrm rot="5400000">
        <a:off x="5027138" y="-2136419"/>
        <a:ext cx="1148149" cy="5462016"/>
      </dsp:txXfrm>
    </dsp:sp>
    <dsp:sp modelId="{848D56A8-618E-4EE0-9BD0-5EF28A89B29D}">
      <dsp:nvSpPr>
        <dsp:cNvPr id="0" name=""/>
        <dsp:cNvSpPr/>
      </dsp:nvSpPr>
      <dsp:spPr>
        <a:xfrm>
          <a:off x="202178" y="1545"/>
          <a:ext cx="2668027" cy="11860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Calibri" pitchFamily="34" charset="0"/>
            </a:rPr>
            <a:t>Establishing Framework</a:t>
          </a:r>
        </a:p>
      </dsp:txBody>
      <dsp:txXfrm>
        <a:off x="202178" y="1545"/>
        <a:ext cx="2668027" cy="1186085"/>
      </dsp:txXfrm>
    </dsp:sp>
    <dsp:sp modelId="{CCF51911-3FC3-4004-8DE1-2317351FEA93}">
      <dsp:nvSpPr>
        <dsp:cNvPr id="0" name=""/>
        <dsp:cNvSpPr/>
      </dsp:nvSpPr>
      <dsp:spPr>
        <a:xfrm rot="5400000">
          <a:off x="4996915" y="-882380"/>
          <a:ext cx="1198050" cy="545668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Secure investors &amp; funding to support resources during ramp up</a:t>
          </a:r>
          <a:endParaRPr lang="en-US" sz="1400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Establish the pipeline of companies using JVS’s relationships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Launch a few small engagements and establish credibility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Continue growing the portfolio &amp; improving the delivery model</a:t>
          </a:r>
          <a:endParaRPr lang="en-US" sz="1400" b="1" kern="1200" dirty="0">
            <a:latin typeface="Calibri" pitchFamily="34" charset="0"/>
          </a:endParaRPr>
        </a:p>
      </dsp:txBody>
      <dsp:txXfrm rot="5400000">
        <a:off x="4996915" y="-882380"/>
        <a:ext cx="1198050" cy="5456681"/>
      </dsp:txXfrm>
    </dsp:sp>
    <dsp:sp modelId="{2DCCA187-F438-43A0-9428-42FFF681F62D}">
      <dsp:nvSpPr>
        <dsp:cNvPr id="0" name=""/>
        <dsp:cNvSpPr/>
      </dsp:nvSpPr>
      <dsp:spPr>
        <a:xfrm>
          <a:off x="202178" y="1252917"/>
          <a:ext cx="2665422" cy="118608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Calibri" pitchFamily="34" charset="0"/>
            </a:rPr>
            <a:t>Building the Portfolio</a:t>
          </a:r>
        </a:p>
      </dsp:txBody>
      <dsp:txXfrm>
        <a:off x="202178" y="1252917"/>
        <a:ext cx="2665422" cy="1186085"/>
      </dsp:txXfrm>
    </dsp:sp>
    <dsp:sp modelId="{6F259A6D-7C49-4854-B55B-3A514803020A}">
      <dsp:nvSpPr>
        <dsp:cNvPr id="0" name=""/>
        <dsp:cNvSpPr/>
      </dsp:nvSpPr>
      <dsp:spPr>
        <a:xfrm rot="5400000">
          <a:off x="5054319" y="366325"/>
          <a:ext cx="1093789" cy="5462016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Ramp up the number of resources (leveraging JVS JEN)</a:t>
          </a:r>
          <a:endParaRPr lang="en-US" sz="1400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Incorporate best practices models for all 3 delivery models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Formalize the marketing &amp; sales 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Begin work on branding and establish a website</a:t>
          </a:r>
          <a:endParaRPr lang="en-US" sz="1400" b="1" kern="1200" dirty="0">
            <a:latin typeface="Calibri" pitchFamily="34" charset="0"/>
          </a:endParaRPr>
        </a:p>
      </dsp:txBody>
      <dsp:txXfrm rot="5400000">
        <a:off x="5054319" y="366325"/>
        <a:ext cx="1093789" cy="5462016"/>
      </dsp:txXfrm>
    </dsp:sp>
    <dsp:sp modelId="{E8ED1B5E-60EB-4A55-BF24-5BD4BFFFF0AB}">
      <dsp:nvSpPr>
        <dsp:cNvPr id="0" name=""/>
        <dsp:cNvSpPr/>
      </dsp:nvSpPr>
      <dsp:spPr>
        <a:xfrm>
          <a:off x="202178" y="2504290"/>
          <a:ext cx="2668027" cy="118608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Calibri" pitchFamily="34" charset="0"/>
            </a:rPr>
            <a:t>Filling the Pipeline</a:t>
          </a:r>
          <a:endParaRPr lang="en-US" sz="1800" kern="1200" dirty="0">
            <a:latin typeface="Calibri" pitchFamily="34" charset="0"/>
          </a:endParaRPr>
        </a:p>
      </dsp:txBody>
      <dsp:txXfrm>
        <a:off x="202178" y="2504290"/>
        <a:ext cx="2668027" cy="1186085"/>
      </dsp:txXfrm>
    </dsp:sp>
    <dsp:sp modelId="{0505FE9E-00CC-4561-AC5F-CDFA0A76FDD1}">
      <dsp:nvSpPr>
        <dsp:cNvPr id="0" name=""/>
        <dsp:cNvSpPr/>
      </dsp:nvSpPr>
      <dsp:spPr>
        <a:xfrm rot="5400000">
          <a:off x="4956954" y="1660326"/>
          <a:ext cx="1277974" cy="5456681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Begin measurement and reporting to drive improvement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Continue expanding the opportunity pipeline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Mature the delivery models for Executive, Operational, &amp; Tech</a:t>
          </a:r>
          <a:endParaRPr lang="en-US" sz="1400" b="1" kern="1200" dirty="0">
            <a:latin typeface="Calibri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Calibri" pitchFamily="34" charset="0"/>
            </a:rPr>
            <a:t>Capture case studies and references from clients</a:t>
          </a:r>
          <a:endParaRPr lang="en-US" sz="1400" b="1" kern="1200" dirty="0">
            <a:latin typeface="Calibri" pitchFamily="34" charset="0"/>
          </a:endParaRPr>
        </a:p>
      </dsp:txBody>
      <dsp:txXfrm rot="5400000">
        <a:off x="4956954" y="1660326"/>
        <a:ext cx="1277974" cy="5456681"/>
      </dsp:txXfrm>
    </dsp:sp>
    <dsp:sp modelId="{697A3FB5-C77C-4A5C-9BD7-B6AF794B8ADF}">
      <dsp:nvSpPr>
        <dsp:cNvPr id="0" name=""/>
        <dsp:cNvSpPr/>
      </dsp:nvSpPr>
      <dsp:spPr>
        <a:xfrm>
          <a:off x="202178" y="3795624"/>
          <a:ext cx="2665422" cy="118608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Calibri" pitchFamily="34" charset="0"/>
            </a:rPr>
            <a:t>Delivering Value</a:t>
          </a:r>
          <a:endParaRPr lang="en-US" sz="1800" kern="1200" dirty="0">
            <a:latin typeface="Calibri" pitchFamily="34" charset="0"/>
          </a:endParaRPr>
        </a:p>
      </dsp:txBody>
      <dsp:txXfrm>
        <a:off x="202178" y="3795624"/>
        <a:ext cx="2665422" cy="1186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2/4/2010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810000"/>
            <a:ext cx="2362200" cy="107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514600"/>
            <a:ext cx="7315200" cy="1470025"/>
          </a:xfrm>
        </p:spPr>
        <p:txBody>
          <a:bodyPr/>
          <a:lstStyle/>
          <a:p>
            <a:r>
              <a:rPr lang="en-US" b="1" dirty="0" smtClean="0"/>
              <a:t> A “Stimulus Plan” for JVS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1905000"/>
          </a:xfrm>
        </p:spPr>
        <p:txBody>
          <a:bodyPr/>
          <a:lstStyle/>
          <a:p>
            <a:pPr marL="403225" lvl="1" indent="-282575">
              <a:buNone/>
            </a:pP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Develop a consulting model to augment JVS’s employment network (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JEN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) as a low-cost service provider for businesses as part of a socio-economic “stimulus” plan to</a:t>
            </a:r>
            <a:r>
              <a:rPr lang="en-US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:</a:t>
            </a:r>
            <a:endParaRPr lang="en-US" sz="16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0393" y="3810000"/>
            <a:ext cx="2335007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09600" y="3124200"/>
            <a:ext cx="5715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3225" lvl="1" indent="-282575" eaLnBrk="0" hangingPunct="0">
              <a:spcBef>
                <a:spcPct val="20000"/>
              </a:spcBef>
              <a:buFont typeface="Wingdings" pitchFamily="2" charset="2"/>
              <a:buChar char="Ø"/>
            </a:pP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Deliver value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local businesses and  community organizations, </a:t>
            </a:r>
          </a:p>
          <a:p>
            <a:pPr marL="403225" lvl="1" indent="-282575" eaLnBrk="0" hangingPunct="0">
              <a:spcBef>
                <a:spcPct val="20000"/>
              </a:spcBef>
              <a:buFont typeface="Wingdings" pitchFamily="2" charset="2"/>
              <a:buChar char="Ø"/>
            </a:pP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Provide revenue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unemployed resources,</a:t>
            </a:r>
          </a:p>
          <a:p>
            <a:pPr marL="403225" lvl="1" indent="-282575" eaLnBrk="0" hangingPunct="0">
              <a:spcBef>
                <a:spcPct val="20000"/>
              </a:spcBef>
              <a:buFont typeface="Wingdings" pitchFamily="2" charset="2"/>
              <a:buChar char="Ø"/>
            </a:pP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Generate opportunities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unemployed resources to acquire new skills, which can be applied to permanent positions.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000" b="1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1"/>
            <a:ext cx="4724400" cy="3200399"/>
          </a:xfrm>
        </p:spPr>
        <p:txBody>
          <a:bodyPr/>
          <a:lstStyle/>
          <a:p>
            <a:r>
              <a:rPr lang="en-US" sz="2400" dirty="0" smtClean="0"/>
              <a:t>Community Challenges:</a:t>
            </a:r>
          </a:p>
          <a:p>
            <a:pPr lvl="1"/>
            <a:r>
              <a:rPr lang="en-US" sz="2000" dirty="0" smtClean="0"/>
              <a:t>Unemployment remains high</a:t>
            </a:r>
          </a:p>
          <a:p>
            <a:pPr lvl="1"/>
            <a:r>
              <a:rPr lang="en-US" sz="2000" dirty="0" smtClean="0"/>
              <a:t>Many jobs  may never return once the economy recovers </a:t>
            </a:r>
          </a:p>
          <a:p>
            <a:pPr lvl="1"/>
            <a:r>
              <a:rPr lang="en-US" sz="2000" dirty="0" smtClean="0"/>
              <a:t>Taxes are rising along with service cuts to  communities</a:t>
            </a:r>
          </a:p>
          <a:p>
            <a:pPr lvl="1"/>
            <a:r>
              <a:rPr lang="en-US" sz="2000" dirty="0" smtClean="0"/>
              <a:t>Small business owners are struggling to survive</a:t>
            </a:r>
          </a:p>
          <a:p>
            <a:pPr lvl="1"/>
            <a:r>
              <a:rPr lang="en-US" sz="2000" dirty="0" smtClean="0"/>
              <a:t>More  highly skilled workers and executives are unemployed than ever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14400" y="5029200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 eaLnBrk="0" hangingPunct="0">
              <a:spcBef>
                <a:spcPct val="20000"/>
              </a:spcBef>
              <a:buFont typeface="Arial" charset="0"/>
              <a:buChar char="–"/>
            </a:pPr>
            <a:r>
              <a:rPr lang="en-US" sz="2000" dirty="0" smtClean="0">
                <a:latin typeface="+mn-lt"/>
                <a:cs typeface="+mn-cs"/>
              </a:rPr>
              <a:t>Many states, cities, and communities are under water with debt and they are struggling to fund entitlement programs and support families who are in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5400" y="1371600"/>
            <a:ext cx="3886200" cy="28931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“The private sector of the economy that was supposed to thrive under the Bush administration ended up with a net loss of 223,000 jobs since August 1999, according to the latest figures from the Bureau of Labor Statistics. Meanwhile, the nation's population has grown by 33.5 million people. </a:t>
            </a:r>
          </a:p>
          <a:p>
            <a:endParaRPr lang="en-US" sz="1400" dirty="0" smtClean="0"/>
          </a:p>
          <a:p>
            <a:r>
              <a:rPr lang="en-US" sz="1400" dirty="0" smtClean="0"/>
              <a:t>That's the worst job-creating performance by the private sector since, you guessed it, the Great Depression”</a:t>
            </a:r>
          </a:p>
          <a:p>
            <a:endParaRPr lang="en-US" sz="1400" dirty="0" smtClean="0"/>
          </a:p>
          <a:p>
            <a:r>
              <a:rPr lang="en-US" sz="1400" i="1" dirty="0" smtClean="0"/>
              <a:t>        - Russ Britt, LA bureau chief </a:t>
            </a:r>
            <a:r>
              <a:rPr lang="en-US" sz="1400" i="1" dirty="0" err="1" smtClean="0"/>
              <a:t>MarketWatch</a:t>
            </a:r>
            <a:endParaRPr lang="en-US" sz="1400" i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Challenges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799"/>
          </a:xfrm>
        </p:spPr>
        <p:txBody>
          <a:bodyPr/>
          <a:lstStyle/>
          <a:p>
            <a:pPr lvl="0">
              <a:defRPr/>
            </a:pPr>
            <a:r>
              <a:rPr lang="en-US" sz="2800" dirty="0" smtClean="0"/>
              <a:t>JVS’s Challenges</a:t>
            </a:r>
          </a:p>
          <a:p>
            <a:pPr lvl="1">
              <a:defRPr/>
            </a:pPr>
            <a:r>
              <a:rPr lang="en-US" sz="2400" dirty="0" smtClean="0"/>
              <a:t>Funding has been cut</a:t>
            </a:r>
          </a:p>
          <a:p>
            <a:pPr lvl="1">
              <a:defRPr/>
            </a:pPr>
            <a:r>
              <a:rPr lang="en-US" sz="2400" dirty="0" smtClean="0"/>
              <a:t>They have limited resources to assist communities</a:t>
            </a:r>
          </a:p>
          <a:p>
            <a:pPr lvl="1">
              <a:defRPr/>
            </a:pPr>
            <a:r>
              <a:rPr lang="en-US" sz="2400" dirty="0" smtClean="0"/>
              <a:t>Employers don’t necessarily look to JVS as a source for highly skilled workers</a:t>
            </a:r>
          </a:p>
          <a:p>
            <a:pPr lvl="1">
              <a:defRPr/>
            </a:pPr>
            <a:r>
              <a:rPr lang="en-US" sz="2400" dirty="0" smtClean="0"/>
              <a:t>Due to funding issues, it’s difficult for JVS to launch new programs for unemployed workers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 a consulting services model using a phased approach to layer in higher value services over time:</a:t>
            </a:r>
          </a:p>
          <a:p>
            <a:pPr lvl="1"/>
            <a:r>
              <a:rPr lang="en-US" dirty="0" smtClean="0"/>
              <a:t>Phase 1 (Technical Services)</a:t>
            </a:r>
          </a:p>
          <a:p>
            <a:pPr lvl="1"/>
            <a:r>
              <a:rPr lang="en-US" dirty="0" smtClean="0"/>
              <a:t>Phase 2 (Operational Services)</a:t>
            </a:r>
          </a:p>
          <a:p>
            <a:pPr lvl="1"/>
            <a:r>
              <a:rPr lang="en-US" dirty="0" smtClean="0"/>
              <a:t>Phase 3 (Executive Services)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4419599"/>
            <a:ext cx="3533775" cy="19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ight Arrow 5"/>
          <p:cNvSpPr/>
          <p:nvPr/>
        </p:nvSpPr>
        <p:spPr>
          <a:xfrm rot="16200000">
            <a:off x="6934200" y="4572000"/>
            <a:ext cx="2362200" cy="685799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JVS Stimulus Plan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a 3-Track Consulting Model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295400" y="1752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Services Tracks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038600" cy="4830763"/>
          </a:xfrm>
        </p:spPr>
        <p:txBody>
          <a:bodyPr/>
          <a:lstStyle/>
          <a:p>
            <a:r>
              <a:rPr lang="en-US" sz="2400" dirty="0" smtClean="0"/>
              <a:t>Technical Services</a:t>
            </a:r>
          </a:p>
          <a:p>
            <a:pPr lvl="1"/>
            <a:r>
              <a:rPr lang="en-US" sz="2000" dirty="0" smtClean="0"/>
              <a:t>Architecture Planning</a:t>
            </a:r>
          </a:p>
          <a:p>
            <a:pPr lvl="1"/>
            <a:r>
              <a:rPr lang="en-US" sz="2000" dirty="0" smtClean="0"/>
              <a:t>Portfolio Planning</a:t>
            </a:r>
          </a:p>
          <a:p>
            <a:pPr lvl="1"/>
            <a:r>
              <a:rPr lang="en-US" sz="2000" dirty="0" smtClean="0"/>
              <a:t>Project Management</a:t>
            </a:r>
          </a:p>
          <a:p>
            <a:pPr lvl="1"/>
            <a:r>
              <a:rPr lang="en-US" sz="2000" dirty="0" smtClean="0"/>
              <a:t>Requirements Management</a:t>
            </a:r>
          </a:p>
          <a:p>
            <a:pPr lvl="1"/>
            <a:r>
              <a:rPr lang="en-US" sz="2000" dirty="0" smtClean="0"/>
              <a:t>Service Architecture </a:t>
            </a:r>
          </a:p>
          <a:p>
            <a:pPr lvl="1"/>
            <a:r>
              <a:rPr lang="en-US" sz="2000" dirty="0" smtClean="0"/>
              <a:t>SOA Design</a:t>
            </a:r>
          </a:p>
          <a:p>
            <a:pPr lvl="1"/>
            <a:r>
              <a:rPr lang="en-US" sz="2000" dirty="0" smtClean="0"/>
              <a:t>Data Architecture</a:t>
            </a:r>
          </a:p>
          <a:p>
            <a:pPr lvl="1"/>
            <a:r>
              <a:rPr lang="en-US" sz="2000" dirty="0" smtClean="0"/>
              <a:t>Business Intelligence</a:t>
            </a:r>
          </a:p>
          <a:p>
            <a:pPr lvl="1"/>
            <a:r>
              <a:rPr lang="en-US" sz="2000" dirty="0" smtClean="0"/>
              <a:t>Process Modeling</a:t>
            </a:r>
          </a:p>
          <a:p>
            <a:pPr lvl="1"/>
            <a:r>
              <a:rPr lang="en-US" sz="2000" dirty="0" err="1" smtClean="0"/>
              <a:t>SaaS</a:t>
            </a:r>
            <a:r>
              <a:rPr lang="en-US" sz="2000" dirty="0" smtClean="0"/>
              <a:t> &amp; Cloud Computing</a:t>
            </a:r>
          </a:p>
          <a:p>
            <a:pPr lvl="1"/>
            <a:endParaRPr lang="en-US" sz="20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648200" y="1295400"/>
            <a:ext cx="4038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Technical Services (cont.)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Network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Telecom&amp; VOIP Planning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noProof="0" dirty="0" smtClean="0">
                <a:latin typeface="+mn-lt"/>
                <a:cs typeface="+mn-cs"/>
              </a:rPr>
              <a:t>Desktop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Security</a:t>
            </a:r>
            <a:r>
              <a:rPr kumimoji="0" lang="en-US" sz="20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Business Analysis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Portal Design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Document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Collaboration Services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Social Networking</a:t>
            </a:r>
            <a:endParaRPr kumimoji="0" lang="en-US" sz="2000" b="0" i="0" u="none" strike="noStrike" kern="1200" cap="none" spc="0" normalizeH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Services Tracks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1295400"/>
            <a:ext cx="4038600" cy="4830763"/>
          </a:xfrm>
        </p:spPr>
        <p:txBody>
          <a:bodyPr/>
          <a:lstStyle/>
          <a:p>
            <a:r>
              <a:rPr lang="en-US" sz="2400" dirty="0" smtClean="0"/>
              <a:t>Executive Services</a:t>
            </a:r>
          </a:p>
          <a:p>
            <a:pPr lvl="1"/>
            <a:r>
              <a:rPr lang="en-US" sz="2000" dirty="0" smtClean="0"/>
              <a:t>Establishing vision</a:t>
            </a:r>
          </a:p>
          <a:p>
            <a:pPr lvl="1"/>
            <a:r>
              <a:rPr lang="en-US" sz="2000" dirty="0" smtClean="0"/>
              <a:t>Guiding strategy</a:t>
            </a:r>
          </a:p>
          <a:p>
            <a:pPr lvl="1"/>
            <a:r>
              <a:rPr lang="en-US" sz="2000" dirty="0" smtClean="0"/>
              <a:t>Investment Planning</a:t>
            </a:r>
          </a:p>
          <a:p>
            <a:pPr lvl="1"/>
            <a:r>
              <a:rPr lang="en-US" sz="2000" dirty="0" smtClean="0"/>
              <a:t>Portfolio Management</a:t>
            </a:r>
          </a:p>
          <a:p>
            <a:pPr lvl="1"/>
            <a:r>
              <a:rPr lang="en-US" sz="2000" dirty="0" smtClean="0"/>
              <a:t>Communications</a:t>
            </a:r>
          </a:p>
          <a:p>
            <a:pPr lvl="1"/>
            <a:r>
              <a:rPr lang="en-US" sz="2000" dirty="0" smtClean="0"/>
              <a:t>Market Research</a:t>
            </a:r>
          </a:p>
          <a:p>
            <a:pPr lvl="1"/>
            <a:r>
              <a:rPr lang="en-US" sz="2000" dirty="0" smtClean="0"/>
              <a:t>Marketing &amp; Sales</a:t>
            </a:r>
          </a:p>
          <a:p>
            <a:pPr lvl="1"/>
            <a:r>
              <a:rPr lang="en-US" sz="2000" dirty="0" smtClean="0"/>
              <a:t>Product Development</a:t>
            </a:r>
          </a:p>
          <a:p>
            <a:pPr lvl="1"/>
            <a:r>
              <a:rPr lang="en-US" sz="2000" dirty="0" smtClean="0"/>
              <a:t>Guiding Innovation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1295400"/>
            <a:ext cx="40386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Operational Services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Six Sigma, Lean &amp; Kaizen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Supply Chain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Resource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Scheduling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 Optimization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baseline="0" dirty="0" smtClean="0">
                <a:latin typeface="+mn-lt"/>
                <a:cs typeface="+mn-cs"/>
              </a:rPr>
              <a:t>Forecasting</a:t>
            </a:r>
            <a:r>
              <a:rPr lang="en-US" sz="2000" dirty="0" smtClean="0">
                <a:latin typeface="+mn-lt"/>
                <a:cs typeface="+mn-cs"/>
              </a:rPr>
              <a:t> &amp; Planning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Budgeting &amp; Planning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Project Management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Measurement &amp; Reporting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cs typeface="+mn-cs"/>
              </a:rPr>
              <a:t>Process Re-engineering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Business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Process Mgmt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Startup &amp; Launch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Leverage JVS’s Jewish Employment Network (JEN) to build a consulting services practice:</a:t>
            </a:r>
          </a:p>
          <a:p>
            <a:pPr lvl="1"/>
            <a:r>
              <a:rPr lang="en-US" sz="2400" dirty="0" smtClean="0"/>
              <a:t>Leverage a highly skilled workforce that is currently unemployed</a:t>
            </a:r>
          </a:p>
          <a:p>
            <a:pPr lvl="1"/>
            <a:r>
              <a:rPr lang="en-US" sz="2400" dirty="0" smtClean="0"/>
              <a:t>Build credibility and deliver value to businesses in the local community</a:t>
            </a:r>
          </a:p>
          <a:p>
            <a:pPr lvl="1"/>
            <a:r>
              <a:rPr lang="en-US" sz="2400" dirty="0" smtClean="0"/>
              <a:t>Provide revenue for unemployed workers who can gain new skills and potentially land positions in other organizations</a:t>
            </a:r>
          </a:p>
          <a:p>
            <a:pPr lvl="1"/>
            <a:r>
              <a:rPr lang="en-US" sz="2400" dirty="0" smtClean="0"/>
              <a:t>Generate a small revenue stream to fund  the program (initially) and develop/expand other programs (eventually)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&amp; 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Initial service offerings will be delivering technical advisory and delivery services for companies at a price discount to gain market penetration.</a:t>
            </a:r>
          </a:p>
          <a:p>
            <a:r>
              <a:rPr lang="en-US" sz="2800" dirty="0" smtClean="0"/>
              <a:t>Over time, prices can be increased as value is optimized and credibility established.</a:t>
            </a:r>
          </a:p>
          <a:p>
            <a:r>
              <a:rPr lang="en-US" sz="2800" dirty="0" smtClean="0"/>
              <a:t>As new services are launched and higher value services are offered, pricing and margins will increase.</a:t>
            </a:r>
          </a:p>
          <a:p>
            <a:r>
              <a:rPr lang="en-US" sz="2800" dirty="0" smtClean="0"/>
              <a:t>JVS will realize a portion of the revenue to support ongoing operations and the rest is provided to the resources who offer services for engagements.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Create revenue for unemployed resources.</a:t>
            </a:r>
          </a:p>
          <a:p>
            <a:pPr lvl="0"/>
            <a:r>
              <a:rPr lang="en-US" sz="2400" dirty="0" smtClean="0"/>
              <a:t>Provide resources with contract to hire opportunities.</a:t>
            </a:r>
          </a:p>
          <a:p>
            <a:pPr lvl="0"/>
            <a:r>
              <a:rPr lang="en-US" sz="2400" dirty="0" smtClean="0"/>
              <a:t>Develop new skills for resources to position them for new opportunities .</a:t>
            </a:r>
          </a:p>
          <a:p>
            <a:pPr lvl="0"/>
            <a:r>
              <a:rPr lang="en-US" sz="2400" dirty="0" smtClean="0"/>
              <a:t>Position JVS as a center for opportunity (investment) and innovation (value delivery). </a:t>
            </a:r>
          </a:p>
          <a:p>
            <a:r>
              <a:rPr lang="en-US" sz="2400" dirty="0" smtClean="0"/>
              <a:t>Generate tax &amp; income revenue to boost local economies.</a:t>
            </a:r>
          </a:p>
          <a:p>
            <a:r>
              <a:rPr lang="en-US" sz="2400" dirty="0" smtClean="0"/>
              <a:t>Create a “pull” model for JVS’s services &amp; JEN’s resources</a:t>
            </a:r>
          </a:p>
          <a:p>
            <a:r>
              <a:rPr lang="en-US" sz="2400" dirty="0" smtClean="0"/>
              <a:t>Build a more integrated model for JVS (see next slide).</a:t>
            </a:r>
          </a:p>
          <a:p>
            <a:endParaRPr lang="en-US" sz="22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A Collaborative Business Model for JVS</a:t>
            </a:r>
            <a:endParaRPr lang="en-US" dirty="0"/>
          </a:p>
        </p:txBody>
      </p:sp>
      <p:grpSp>
        <p:nvGrpSpPr>
          <p:cNvPr id="5" name="Group 17"/>
          <p:cNvGrpSpPr/>
          <p:nvPr/>
        </p:nvGrpSpPr>
        <p:grpSpPr>
          <a:xfrm>
            <a:off x="1219200" y="1524000"/>
            <a:ext cx="7010400" cy="4876800"/>
            <a:chOff x="1756811" y="685800"/>
            <a:chExt cx="5630378" cy="5335554"/>
          </a:xfrm>
          <a:effectLst>
            <a:outerShdw blurRad="190500" dist="1905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33" name="Freeform 5"/>
            <p:cNvSpPr>
              <a:spLocks/>
            </p:cNvSpPr>
            <p:nvPr/>
          </p:nvSpPr>
          <p:spPr bwMode="auto">
            <a:xfrm>
              <a:off x="1756811" y="685800"/>
              <a:ext cx="2815189" cy="3430931"/>
            </a:xfrm>
            <a:custGeom>
              <a:avLst/>
              <a:gdLst/>
              <a:ahLst/>
              <a:cxnLst>
                <a:cxn ang="0">
                  <a:pos x="1296" y="2160"/>
                </a:cxn>
                <a:cxn ang="0">
                  <a:pos x="1234" y="2182"/>
                </a:cxn>
                <a:cxn ang="0">
                  <a:pos x="1188" y="2220"/>
                </a:cxn>
                <a:cxn ang="0">
                  <a:pos x="1162" y="2268"/>
                </a:cxn>
                <a:cxn ang="0">
                  <a:pos x="1160" y="2310"/>
                </a:cxn>
                <a:cxn ang="0">
                  <a:pos x="1192" y="2372"/>
                </a:cxn>
                <a:cxn ang="0">
                  <a:pos x="1254" y="2450"/>
                </a:cxn>
                <a:cxn ang="0">
                  <a:pos x="1264" y="2492"/>
                </a:cxn>
                <a:cxn ang="0">
                  <a:pos x="1250" y="2546"/>
                </a:cxn>
                <a:cxn ang="0">
                  <a:pos x="1210" y="2590"/>
                </a:cxn>
                <a:cxn ang="0">
                  <a:pos x="1152" y="2620"/>
                </a:cxn>
                <a:cxn ang="0">
                  <a:pos x="1080" y="2630"/>
                </a:cxn>
                <a:cxn ang="0">
                  <a:pos x="1024" y="2624"/>
                </a:cxn>
                <a:cxn ang="0">
                  <a:pos x="962" y="2598"/>
                </a:cxn>
                <a:cxn ang="0">
                  <a:pos x="918" y="2558"/>
                </a:cxn>
                <a:cxn ang="0">
                  <a:pos x="896" y="2506"/>
                </a:cxn>
                <a:cxn ang="0">
                  <a:pos x="900" y="2464"/>
                </a:cxn>
                <a:cxn ang="0">
                  <a:pos x="948" y="2394"/>
                </a:cxn>
                <a:cxn ang="0">
                  <a:pos x="996" y="2324"/>
                </a:cxn>
                <a:cxn ang="0">
                  <a:pos x="1000" y="2280"/>
                </a:cxn>
                <a:cxn ang="0">
                  <a:pos x="980" y="2230"/>
                </a:cxn>
                <a:cxn ang="0">
                  <a:pos x="938" y="2190"/>
                </a:cxn>
                <a:cxn ang="0">
                  <a:pos x="880" y="2164"/>
                </a:cxn>
                <a:cxn ang="0">
                  <a:pos x="0" y="2156"/>
                </a:cxn>
                <a:cxn ang="0">
                  <a:pos x="2158" y="836"/>
                </a:cxn>
                <a:cxn ang="0">
                  <a:pos x="2144" y="900"/>
                </a:cxn>
                <a:cxn ang="0">
                  <a:pos x="2114" y="952"/>
                </a:cxn>
                <a:cxn ang="0">
                  <a:pos x="2072" y="986"/>
                </a:cxn>
                <a:cxn ang="0">
                  <a:pos x="2020" y="1000"/>
                </a:cxn>
                <a:cxn ang="0">
                  <a:pos x="1980" y="990"/>
                </a:cxn>
                <a:cxn ang="0">
                  <a:pos x="1900" y="926"/>
                </a:cxn>
                <a:cxn ang="0">
                  <a:pos x="1838" y="894"/>
                </a:cxn>
                <a:cxn ang="0">
                  <a:pos x="1796" y="898"/>
                </a:cxn>
                <a:cxn ang="0">
                  <a:pos x="1746" y="926"/>
                </a:cxn>
                <a:cxn ang="0">
                  <a:pos x="1708" y="974"/>
                </a:cxn>
                <a:cxn ang="0">
                  <a:pos x="1688" y="1040"/>
                </a:cxn>
                <a:cxn ang="0">
                  <a:pos x="1686" y="1096"/>
                </a:cxn>
                <a:cxn ang="0">
                  <a:pos x="1702" y="1166"/>
                </a:cxn>
                <a:cxn ang="0">
                  <a:pos x="1736" y="1220"/>
                </a:cxn>
                <a:cxn ang="0">
                  <a:pos x="1782" y="1254"/>
                </a:cxn>
                <a:cxn ang="0">
                  <a:pos x="1824" y="1262"/>
                </a:cxn>
                <a:cxn ang="0">
                  <a:pos x="1878" y="1246"/>
                </a:cxn>
                <a:cxn ang="0">
                  <a:pos x="1966" y="1174"/>
                </a:cxn>
                <a:cxn ang="0">
                  <a:pos x="2020" y="1158"/>
                </a:cxn>
                <a:cxn ang="0">
                  <a:pos x="2060" y="1164"/>
                </a:cxn>
                <a:cxn ang="0">
                  <a:pos x="2104" y="1194"/>
                </a:cxn>
                <a:cxn ang="0">
                  <a:pos x="2144" y="1256"/>
                </a:cxn>
                <a:cxn ang="0">
                  <a:pos x="2158" y="1330"/>
                </a:cxn>
              </a:cxnLst>
              <a:rect l="0" t="0" r="r" b="b"/>
              <a:pathLst>
                <a:path w="2158" h="2630">
                  <a:moveTo>
                    <a:pt x="1330" y="2156"/>
                  </a:moveTo>
                  <a:lnTo>
                    <a:pt x="1330" y="2156"/>
                  </a:lnTo>
                  <a:lnTo>
                    <a:pt x="1312" y="2158"/>
                  </a:lnTo>
                  <a:lnTo>
                    <a:pt x="1296" y="2160"/>
                  </a:lnTo>
                  <a:lnTo>
                    <a:pt x="1280" y="2164"/>
                  </a:lnTo>
                  <a:lnTo>
                    <a:pt x="1264" y="2170"/>
                  </a:lnTo>
                  <a:lnTo>
                    <a:pt x="1248" y="2176"/>
                  </a:lnTo>
                  <a:lnTo>
                    <a:pt x="1234" y="2182"/>
                  </a:lnTo>
                  <a:lnTo>
                    <a:pt x="1220" y="2190"/>
                  </a:lnTo>
                  <a:lnTo>
                    <a:pt x="1208" y="2200"/>
                  </a:lnTo>
                  <a:lnTo>
                    <a:pt x="1198" y="2210"/>
                  </a:lnTo>
                  <a:lnTo>
                    <a:pt x="1188" y="2220"/>
                  </a:lnTo>
                  <a:lnTo>
                    <a:pt x="1180" y="2230"/>
                  </a:lnTo>
                  <a:lnTo>
                    <a:pt x="1172" y="2242"/>
                  </a:lnTo>
                  <a:lnTo>
                    <a:pt x="1166" y="2254"/>
                  </a:lnTo>
                  <a:lnTo>
                    <a:pt x="1162" y="2268"/>
                  </a:lnTo>
                  <a:lnTo>
                    <a:pt x="1160" y="2280"/>
                  </a:lnTo>
                  <a:lnTo>
                    <a:pt x="1158" y="2294"/>
                  </a:lnTo>
                  <a:lnTo>
                    <a:pt x="1158" y="2294"/>
                  </a:lnTo>
                  <a:lnTo>
                    <a:pt x="1160" y="2310"/>
                  </a:lnTo>
                  <a:lnTo>
                    <a:pt x="1164" y="2324"/>
                  </a:lnTo>
                  <a:lnTo>
                    <a:pt x="1168" y="2336"/>
                  </a:lnTo>
                  <a:lnTo>
                    <a:pt x="1176" y="2348"/>
                  </a:lnTo>
                  <a:lnTo>
                    <a:pt x="1192" y="2372"/>
                  </a:lnTo>
                  <a:lnTo>
                    <a:pt x="1212" y="2394"/>
                  </a:lnTo>
                  <a:lnTo>
                    <a:pt x="1230" y="2416"/>
                  </a:lnTo>
                  <a:lnTo>
                    <a:pt x="1248" y="2438"/>
                  </a:lnTo>
                  <a:lnTo>
                    <a:pt x="1254" y="2450"/>
                  </a:lnTo>
                  <a:lnTo>
                    <a:pt x="1260" y="2464"/>
                  </a:lnTo>
                  <a:lnTo>
                    <a:pt x="1262" y="2478"/>
                  </a:lnTo>
                  <a:lnTo>
                    <a:pt x="1264" y="2492"/>
                  </a:lnTo>
                  <a:lnTo>
                    <a:pt x="1264" y="2492"/>
                  </a:lnTo>
                  <a:lnTo>
                    <a:pt x="1264" y="2506"/>
                  </a:lnTo>
                  <a:lnTo>
                    <a:pt x="1260" y="2520"/>
                  </a:lnTo>
                  <a:lnTo>
                    <a:pt x="1256" y="2534"/>
                  </a:lnTo>
                  <a:lnTo>
                    <a:pt x="1250" y="2546"/>
                  </a:lnTo>
                  <a:lnTo>
                    <a:pt x="1242" y="2558"/>
                  </a:lnTo>
                  <a:lnTo>
                    <a:pt x="1232" y="2570"/>
                  </a:lnTo>
                  <a:lnTo>
                    <a:pt x="1222" y="2580"/>
                  </a:lnTo>
                  <a:lnTo>
                    <a:pt x="1210" y="2590"/>
                  </a:lnTo>
                  <a:lnTo>
                    <a:pt x="1196" y="2598"/>
                  </a:lnTo>
                  <a:lnTo>
                    <a:pt x="1182" y="2606"/>
                  </a:lnTo>
                  <a:lnTo>
                    <a:pt x="1168" y="2614"/>
                  </a:lnTo>
                  <a:lnTo>
                    <a:pt x="1152" y="2620"/>
                  </a:lnTo>
                  <a:lnTo>
                    <a:pt x="1134" y="2624"/>
                  </a:lnTo>
                  <a:lnTo>
                    <a:pt x="1116" y="2628"/>
                  </a:lnTo>
                  <a:lnTo>
                    <a:pt x="1098" y="2630"/>
                  </a:lnTo>
                  <a:lnTo>
                    <a:pt x="1080" y="2630"/>
                  </a:lnTo>
                  <a:lnTo>
                    <a:pt x="1080" y="2630"/>
                  </a:lnTo>
                  <a:lnTo>
                    <a:pt x="1060" y="2630"/>
                  </a:lnTo>
                  <a:lnTo>
                    <a:pt x="1042" y="2628"/>
                  </a:lnTo>
                  <a:lnTo>
                    <a:pt x="1024" y="2624"/>
                  </a:lnTo>
                  <a:lnTo>
                    <a:pt x="1008" y="2620"/>
                  </a:lnTo>
                  <a:lnTo>
                    <a:pt x="992" y="2614"/>
                  </a:lnTo>
                  <a:lnTo>
                    <a:pt x="976" y="2606"/>
                  </a:lnTo>
                  <a:lnTo>
                    <a:pt x="962" y="2598"/>
                  </a:lnTo>
                  <a:lnTo>
                    <a:pt x="950" y="2590"/>
                  </a:lnTo>
                  <a:lnTo>
                    <a:pt x="938" y="2580"/>
                  </a:lnTo>
                  <a:lnTo>
                    <a:pt x="926" y="2570"/>
                  </a:lnTo>
                  <a:lnTo>
                    <a:pt x="918" y="2558"/>
                  </a:lnTo>
                  <a:lnTo>
                    <a:pt x="910" y="2546"/>
                  </a:lnTo>
                  <a:lnTo>
                    <a:pt x="904" y="2534"/>
                  </a:lnTo>
                  <a:lnTo>
                    <a:pt x="900" y="2520"/>
                  </a:lnTo>
                  <a:lnTo>
                    <a:pt x="896" y="2506"/>
                  </a:lnTo>
                  <a:lnTo>
                    <a:pt x="896" y="2492"/>
                  </a:lnTo>
                  <a:lnTo>
                    <a:pt x="896" y="2492"/>
                  </a:lnTo>
                  <a:lnTo>
                    <a:pt x="896" y="2478"/>
                  </a:lnTo>
                  <a:lnTo>
                    <a:pt x="900" y="2464"/>
                  </a:lnTo>
                  <a:lnTo>
                    <a:pt x="906" y="2450"/>
                  </a:lnTo>
                  <a:lnTo>
                    <a:pt x="912" y="2438"/>
                  </a:lnTo>
                  <a:lnTo>
                    <a:pt x="928" y="2416"/>
                  </a:lnTo>
                  <a:lnTo>
                    <a:pt x="948" y="2394"/>
                  </a:lnTo>
                  <a:lnTo>
                    <a:pt x="968" y="2372"/>
                  </a:lnTo>
                  <a:lnTo>
                    <a:pt x="984" y="2348"/>
                  </a:lnTo>
                  <a:lnTo>
                    <a:pt x="990" y="2336"/>
                  </a:lnTo>
                  <a:lnTo>
                    <a:pt x="996" y="2324"/>
                  </a:lnTo>
                  <a:lnTo>
                    <a:pt x="1000" y="2310"/>
                  </a:lnTo>
                  <a:lnTo>
                    <a:pt x="1000" y="2294"/>
                  </a:lnTo>
                  <a:lnTo>
                    <a:pt x="1000" y="2294"/>
                  </a:lnTo>
                  <a:lnTo>
                    <a:pt x="1000" y="2280"/>
                  </a:lnTo>
                  <a:lnTo>
                    <a:pt x="998" y="2268"/>
                  </a:lnTo>
                  <a:lnTo>
                    <a:pt x="992" y="2254"/>
                  </a:lnTo>
                  <a:lnTo>
                    <a:pt x="988" y="2242"/>
                  </a:lnTo>
                  <a:lnTo>
                    <a:pt x="980" y="2230"/>
                  </a:lnTo>
                  <a:lnTo>
                    <a:pt x="972" y="2220"/>
                  </a:lnTo>
                  <a:lnTo>
                    <a:pt x="962" y="2210"/>
                  </a:lnTo>
                  <a:lnTo>
                    <a:pt x="950" y="2200"/>
                  </a:lnTo>
                  <a:lnTo>
                    <a:pt x="938" y="2190"/>
                  </a:lnTo>
                  <a:lnTo>
                    <a:pt x="926" y="2182"/>
                  </a:lnTo>
                  <a:lnTo>
                    <a:pt x="910" y="2176"/>
                  </a:lnTo>
                  <a:lnTo>
                    <a:pt x="896" y="2170"/>
                  </a:lnTo>
                  <a:lnTo>
                    <a:pt x="880" y="2164"/>
                  </a:lnTo>
                  <a:lnTo>
                    <a:pt x="864" y="2160"/>
                  </a:lnTo>
                  <a:lnTo>
                    <a:pt x="846" y="2158"/>
                  </a:lnTo>
                  <a:lnTo>
                    <a:pt x="828" y="2156"/>
                  </a:lnTo>
                  <a:lnTo>
                    <a:pt x="0" y="2156"/>
                  </a:lnTo>
                  <a:lnTo>
                    <a:pt x="0" y="0"/>
                  </a:lnTo>
                  <a:lnTo>
                    <a:pt x="2158" y="0"/>
                  </a:lnTo>
                  <a:lnTo>
                    <a:pt x="2158" y="826"/>
                  </a:lnTo>
                  <a:lnTo>
                    <a:pt x="2158" y="836"/>
                  </a:lnTo>
                  <a:lnTo>
                    <a:pt x="2158" y="836"/>
                  </a:lnTo>
                  <a:lnTo>
                    <a:pt x="2156" y="852"/>
                  </a:lnTo>
                  <a:lnTo>
                    <a:pt x="2154" y="868"/>
                  </a:lnTo>
                  <a:lnTo>
                    <a:pt x="2144" y="900"/>
                  </a:lnTo>
                  <a:lnTo>
                    <a:pt x="2138" y="914"/>
                  </a:lnTo>
                  <a:lnTo>
                    <a:pt x="2130" y="928"/>
                  </a:lnTo>
                  <a:lnTo>
                    <a:pt x="2122" y="940"/>
                  </a:lnTo>
                  <a:lnTo>
                    <a:pt x="2114" y="952"/>
                  </a:lnTo>
                  <a:lnTo>
                    <a:pt x="2104" y="962"/>
                  </a:lnTo>
                  <a:lnTo>
                    <a:pt x="2094" y="972"/>
                  </a:lnTo>
                  <a:lnTo>
                    <a:pt x="2082" y="980"/>
                  </a:lnTo>
                  <a:lnTo>
                    <a:pt x="2072" y="986"/>
                  </a:lnTo>
                  <a:lnTo>
                    <a:pt x="2060" y="992"/>
                  </a:lnTo>
                  <a:lnTo>
                    <a:pt x="2046" y="996"/>
                  </a:lnTo>
                  <a:lnTo>
                    <a:pt x="2034" y="998"/>
                  </a:lnTo>
                  <a:lnTo>
                    <a:pt x="2020" y="1000"/>
                  </a:lnTo>
                  <a:lnTo>
                    <a:pt x="2020" y="1000"/>
                  </a:lnTo>
                  <a:lnTo>
                    <a:pt x="2006" y="998"/>
                  </a:lnTo>
                  <a:lnTo>
                    <a:pt x="1992" y="994"/>
                  </a:lnTo>
                  <a:lnTo>
                    <a:pt x="1980" y="990"/>
                  </a:lnTo>
                  <a:lnTo>
                    <a:pt x="1966" y="982"/>
                  </a:lnTo>
                  <a:lnTo>
                    <a:pt x="1944" y="966"/>
                  </a:lnTo>
                  <a:lnTo>
                    <a:pt x="1922" y="946"/>
                  </a:lnTo>
                  <a:lnTo>
                    <a:pt x="1900" y="926"/>
                  </a:lnTo>
                  <a:lnTo>
                    <a:pt x="1878" y="910"/>
                  </a:lnTo>
                  <a:lnTo>
                    <a:pt x="1864" y="904"/>
                  </a:lnTo>
                  <a:lnTo>
                    <a:pt x="1852" y="898"/>
                  </a:lnTo>
                  <a:lnTo>
                    <a:pt x="1838" y="894"/>
                  </a:lnTo>
                  <a:lnTo>
                    <a:pt x="1824" y="894"/>
                  </a:lnTo>
                  <a:lnTo>
                    <a:pt x="1824" y="894"/>
                  </a:lnTo>
                  <a:lnTo>
                    <a:pt x="1808" y="894"/>
                  </a:lnTo>
                  <a:lnTo>
                    <a:pt x="1796" y="898"/>
                  </a:lnTo>
                  <a:lnTo>
                    <a:pt x="1782" y="902"/>
                  </a:lnTo>
                  <a:lnTo>
                    <a:pt x="1770" y="908"/>
                  </a:lnTo>
                  <a:lnTo>
                    <a:pt x="1758" y="916"/>
                  </a:lnTo>
                  <a:lnTo>
                    <a:pt x="1746" y="926"/>
                  </a:lnTo>
                  <a:lnTo>
                    <a:pt x="1736" y="936"/>
                  </a:lnTo>
                  <a:lnTo>
                    <a:pt x="1726" y="948"/>
                  </a:lnTo>
                  <a:lnTo>
                    <a:pt x="1716" y="960"/>
                  </a:lnTo>
                  <a:lnTo>
                    <a:pt x="1708" y="974"/>
                  </a:lnTo>
                  <a:lnTo>
                    <a:pt x="1702" y="990"/>
                  </a:lnTo>
                  <a:lnTo>
                    <a:pt x="1696" y="1006"/>
                  </a:lnTo>
                  <a:lnTo>
                    <a:pt x="1690" y="1024"/>
                  </a:lnTo>
                  <a:lnTo>
                    <a:pt x="1688" y="1040"/>
                  </a:lnTo>
                  <a:lnTo>
                    <a:pt x="1686" y="1060"/>
                  </a:lnTo>
                  <a:lnTo>
                    <a:pt x="1684" y="1078"/>
                  </a:lnTo>
                  <a:lnTo>
                    <a:pt x="1684" y="1078"/>
                  </a:lnTo>
                  <a:lnTo>
                    <a:pt x="1686" y="1096"/>
                  </a:lnTo>
                  <a:lnTo>
                    <a:pt x="1688" y="1116"/>
                  </a:lnTo>
                  <a:lnTo>
                    <a:pt x="1690" y="1132"/>
                  </a:lnTo>
                  <a:lnTo>
                    <a:pt x="1696" y="1150"/>
                  </a:lnTo>
                  <a:lnTo>
                    <a:pt x="1702" y="1166"/>
                  </a:lnTo>
                  <a:lnTo>
                    <a:pt x="1708" y="1182"/>
                  </a:lnTo>
                  <a:lnTo>
                    <a:pt x="1716" y="1196"/>
                  </a:lnTo>
                  <a:lnTo>
                    <a:pt x="1726" y="1208"/>
                  </a:lnTo>
                  <a:lnTo>
                    <a:pt x="1736" y="1220"/>
                  </a:lnTo>
                  <a:lnTo>
                    <a:pt x="1746" y="1232"/>
                  </a:lnTo>
                  <a:lnTo>
                    <a:pt x="1758" y="1240"/>
                  </a:lnTo>
                  <a:lnTo>
                    <a:pt x="1770" y="1248"/>
                  </a:lnTo>
                  <a:lnTo>
                    <a:pt x="1782" y="1254"/>
                  </a:lnTo>
                  <a:lnTo>
                    <a:pt x="1796" y="1258"/>
                  </a:lnTo>
                  <a:lnTo>
                    <a:pt x="1808" y="1262"/>
                  </a:lnTo>
                  <a:lnTo>
                    <a:pt x="1824" y="1262"/>
                  </a:lnTo>
                  <a:lnTo>
                    <a:pt x="1824" y="1262"/>
                  </a:lnTo>
                  <a:lnTo>
                    <a:pt x="1838" y="1262"/>
                  </a:lnTo>
                  <a:lnTo>
                    <a:pt x="1852" y="1258"/>
                  </a:lnTo>
                  <a:lnTo>
                    <a:pt x="1864" y="1252"/>
                  </a:lnTo>
                  <a:lnTo>
                    <a:pt x="1878" y="1246"/>
                  </a:lnTo>
                  <a:lnTo>
                    <a:pt x="1900" y="1230"/>
                  </a:lnTo>
                  <a:lnTo>
                    <a:pt x="1922" y="1210"/>
                  </a:lnTo>
                  <a:lnTo>
                    <a:pt x="1944" y="1190"/>
                  </a:lnTo>
                  <a:lnTo>
                    <a:pt x="1966" y="1174"/>
                  </a:lnTo>
                  <a:lnTo>
                    <a:pt x="1980" y="1166"/>
                  </a:lnTo>
                  <a:lnTo>
                    <a:pt x="1992" y="1162"/>
                  </a:lnTo>
                  <a:lnTo>
                    <a:pt x="2006" y="1158"/>
                  </a:lnTo>
                  <a:lnTo>
                    <a:pt x="2020" y="1158"/>
                  </a:lnTo>
                  <a:lnTo>
                    <a:pt x="2020" y="1158"/>
                  </a:lnTo>
                  <a:lnTo>
                    <a:pt x="2034" y="1158"/>
                  </a:lnTo>
                  <a:lnTo>
                    <a:pt x="2046" y="1160"/>
                  </a:lnTo>
                  <a:lnTo>
                    <a:pt x="2060" y="1164"/>
                  </a:lnTo>
                  <a:lnTo>
                    <a:pt x="2072" y="1170"/>
                  </a:lnTo>
                  <a:lnTo>
                    <a:pt x="2082" y="1176"/>
                  </a:lnTo>
                  <a:lnTo>
                    <a:pt x="2094" y="1184"/>
                  </a:lnTo>
                  <a:lnTo>
                    <a:pt x="2104" y="1194"/>
                  </a:lnTo>
                  <a:lnTo>
                    <a:pt x="2114" y="1204"/>
                  </a:lnTo>
                  <a:lnTo>
                    <a:pt x="2122" y="1216"/>
                  </a:lnTo>
                  <a:lnTo>
                    <a:pt x="2130" y="1228"/>
                  </a:lnTo>
                  <a:lnTo>
                    <a:pt x="2144" y="1256"/>
                  </a:lnTo>
                  <a:lnTo>
                    <a:pt x="2154" y="1288"/>
                  </a:lnTo>
                  <a:lnTo>
                    <a:pt x="2156" y="1304"/>
                  </a:lnTo>
                  <a:lnTo>
                    <a:pt x="2158" y="1320"/>
                  </a:lnTo>
                  <a:lnTo>
                    <a:pt x="2158" y="1330"/>
                  </a:lnTo>
                  <a:lnTo>
                    <a:pt x="2158" y="2146"/>
                  </a:lnTo>
                  <a:lnTo>
                    <a:pt x="2158" y="2156"/>
                  </a:lnTo>
                  <a:lnTo>
                    <a:pt x="1330" y="2156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Freeform 7"/>
            <p:cNvSpPr>
              <a:spLocks/>
            </p:cNvSpPr>
            <p:nvPr/>
          </p:nvSpPr>
          <p:spPr bwMode="auto">
            <a:xfrm>
              <a:off x="3953650" y="685800"/>
              <a:ext cx="3433539" cy="2812581"/>
            </a:xfrm>
            <a:custGeom>
              <a:avLst/>
              <a:gdLst/>
              <a:ahLst/>
              <a:cxnLst>
                <a:cxn ang="0">
                  <a:pos x="470" y="1294"/>
                </a:cxn>
                <a:cxn ang="0">
                  <a:pos x="448" y="1232"/>
                </a:cxn>
                <a:cxn ang="0">
                  <a:pos x="410" y="1186"/>
                </a:cxn>
                <a:cxn ang="0">
                  <a:pos x="364" y="1160"/>
                </a:cxn>
                <a:cxn ang="0">
                  <a:pos x="322" y="1158"/>
                </a:cxn>
                <a:cxn ang="0">
                  <a:pos x="260" y="1190"/>
                </a:cxn>
                <a:cxn ang="0">
                  <a:pos x="180" y="1252"/>
                </a:cxn>
                <a:cxn ang="0">
                  <a:pos x="138" y="1262"/>
                </a:cxn>
                <a:cxn ang="0">
                  <a:pos x="86" y="1248"/>
                </a:cxn>
                <a:cxn ang="0">
                  <a:pos x="42" y="1208"/>
                </a:cxn>
                <a:cxn ang="0">
                  <a:pos x="12" y="1150"/>
                </a:cxn>
                <a:cxn ang="0">
                  <a:pos x="0" y="1078"/>
                </a:cxn>
                <a:cxn ang="0">
                  <a:pos x="6" y="1024"/>
                </a:cxn>
                <a:cxn ang="0">
                  <a:pos x="32" y="960"/>
                </a:cxn>
                <a:cxn ang="0">
                  <a:pos x="72" y="916"/>
                </a:cxn>
                <a:cxn ang="0">
                  <a:pos x="124" y="894"/>
                </a:cxn>
                <a:cxn ang="0">
                  <a:pos x="168" y="898"/>
                </a:cxn>
                <a:cxn ang="0">
                  <a:pos x="238" y="946"/>
                </a:cxn>
                <a:cxn ang="0">
                  <a:pos x="308" y="994"/>
                </a:cxn>
                <a:cxn ang="0">
                  <a:pos x="350" y="998"/>
                </a:cxn>
                <a:cxn ang="0">
                  <a:pos x="400" y="978"/>
                </a:cxn>
                <a:cxn ang="0">
                  <a:pos x="440" y="936"/>
                </a:cxn>
                <a:cxn ang="0">
                  <a:pos x="466" y="878"/>
                </a:cxn>
                <a:cxn ang="0">
                  <a:pos x="474" y="0"/>
                </a:cxn>
                <a:cxn ang="0">
                  <a:pos x="1796" y="2156"/>
                </a:cxn>
                <a:cxn ang="0">
                  <a:pos x="1732" y="2142"/>
                </a:cxn>
                <a:cxn ang="0">
                  <a:pos x="1680" y="2112"/>
                </a:cxn>
                <a:cxn ang="0">
                  <a:pos x="1644" y="2070"/>
                </a:cxn>
                <a:cxn ang="0">
                  <a:pos x="1632" y="2018"/>
                </a:cxn>
                <a:cxn ang="0">
                  <a:pos x="1642" y="1978"/>
                </a:cxn>
                <a:cxn ang="0">
                  <a:pos x="1704" y="1898"/>
                </a:cxn>
                <a:cxn ang="0">
                  <a:pos x="1736" y="1836"/>
                </a:cxn>
                <a:cxn ang="0">
                  <a:pos x="1734" y="1794"/>
                </a:cxn>
                <a:cxn ang="0">
                  <a:pos x="1706" y="1744"/>
                </a:cxn>
                <a:cxn ang="0">
                  <a:pos x="1656" y="1706"/>
                </a:cxn>
                <a:cxn ang="0">
                  <a:pos x="1590" y="1686"/>
                </a:cxn>
                <a:cxn ang="0">
                  <a:pos x="1534" y="1684"/>
                </a:cxn>
                <a:cxn ang="0">
                  <a:pos x="1464" y="1700"/>
                </a:cxn>
                <a:cxn ang="0">
                  <a:pos x="1410" y="1734"/>
                </a:cxn>
                <a:cxn ang="0">
                  <a:pos x="1376" y="1780"/>
                </a:cxn>
                <a:cxn ang="0">
                  <a:pos x="1368" y="1822"/>
                </a:cxn>
                <a:cxn ang="0">
                  <a:pos x="1384" y="1876"/>
                </a:cxn>
                <a:cxn ang="0">
                  <a:pos x="1458" y="1964"/>
                </a:cxn>
                <a:cxn ang="0">
                  <a:pos x="1474" y="2018"/>
                </a:cxn>
                <a:cxn ang="0">
                  <a:pos x="1466" y="2058"/>
                </a:cxn>
                <a:cxn ang="0">
                  <a:pos x="1436" y="2102"/>
                </a:cxn>
                <a:cxn ang="0">
                  <a:pos x="1374" y="2142"/>
                </a:cxn>
                <a:cxn ang="0">
                  <a:pos x="1302" y="2156"/>
                </a:cxn>
              </a:cxnLst>
              <a:rect l="0" t="0" r="r" b="b"/>
              <a:pathLst>
                <a:path w="2632" h="2156">
                  <a:moveTo>
                    <a:pt x="474" y="1328"/>
                  </a:moveTo>
                  <a:lnTo>
                    <a:pt x="474" y="1328"/>
                  </a:lnTo>
                  <a:lnTo>
                    <a:pt x="472" y="1312"/>
                  </a:lnTo>
                  <a:lnTo>
                    <a:pt x="470" y="1294"/>
                  </a:lnTo>
                  <a:lnTo>
                    <a:pt x="466" y="1278"/>
                  </a:lnTo>
                  <a:lnTo>
                    <a:pt x="462" y="1262"/>
                  </a:lnTo>
                  <a:lnTo>
                    <a:pt x="454" y="1246"/>
                  </a:lnTo>
                  <a:lnTo>
                    <a:pt x="448" y="1232"/>
                  </a:lnTo>
                  <a:lnTo>
                    <a:pt x="440" y="1218"/>
                  </a:lnTo>
                  <a:lnTo>
                    <a:pt x="432" y="1206"/>
                  </a:lnTo>
                  <a:lnTo>
                    <a:pt x="422" y="1196"/>
                  </a:lnTo>
                  <a:lnTo>
                    <a:pt x="410" y="1186"/>
                  </a:lnTo>
                  <a:lnTo>
                    <a:pt x="400" y="1178"/>
                  </a:lnTo>
                  <a:lnTo>
                    <a:pt x="388" y="1170"/>
                  </a:lnTo>
                  <a:lnTo>
                    <a:pt x="376" y="1164"/>
                  </a:lnTo>
                  <a:lnTo>
                    <a:pt x="364" y="1160"/>
                  </a:lnTo>
                  <a:lnTo>
                    <a:pt x="350" y="1158"/>
                  </a:lnTo>
                  <a:lnTo>
                    <a:pt x="336" y="1156"/>
                  </a:lnTo>
                  <a:lnTo>
                    <a:pt x="336" y="1156"/>
                  </a:lnTo>
                  <a:lnTo>
                    <a:pt x="322" y="1158"/>
                  </a:lnTo>
                  <a:lnTo>
                    <a:pt x="308" y="1162"/>
                  </a:lnTo>
                  <a:lnTo>
                    <a:pt x="294" y="1166"/>
                  </a:lnTo>
                  <a:lnTo>
                    <a:pt x="282" y="1174"/>
                  </a:lnTo>
                  <a:lnTo>
                    <a:pt x="260" y="1190"/>
                  </a:lnTo>
                  <a:lnTo>
                    <a:pt x="238" y="1210"/>
                  </a:lnTo>
                  <a:lnTo>
                    <a:pt x="216" y="1228"/>
                  </a:lnTo>
                  <a:lnTo>
                    <a:pt x="192" y="1246"/>
                  </a:lnTo>
                  <a:lnTo>
                    <a:pt x="180" y="1252"/>
                  </a:lnTo>
                  <a:lnTo>
                    <a:pt x="168" y="1258"/>
                  </a:lnTo>
                  <a:lnTo>
                    <a:pt x="154" y="1260"/>
                  </a:lnTo>
                  <a:lnTo>
                    <a:pt x="138" y="1262"/>
                  </a:lnTo>
                  <a:lnTo>
                    <a:pt x="138" y="1262"/>
                  </a:lnTo>
                  <a:lnTo>
                    <a:pt x="124" y="1262"/>
                  </a:lnTo>
                  <a:lnTo>
                    <a:pt x="110" y="1258"/>
                  </a:lnTo>
                  <a:lnTo>
                    <a:pt x="98" y="1254"/>
                  </a:lnTo>
                  <a:lnTo>
                    <a:pt x="86" y="1248"/>
                  </a:lnTo>
                  <a:lnTo>
                    <a:pt x="72" y="1240"/>
                  </a:lnTo>
                  <a:lnTo>
                    <a:pt x="62" y="1230"/>
                  </a:lnTo>
                  <a:lnTo>
                    <a:pt x="50" y="1220"/>
                  </a:lnTo>
                  <a:lnTo>
                    <a:pt x="42" y="1208"/>
                  </a:lnTo>
                  <a:lnTo>
                    <a:pt x="32" y="1196"/>
                  </a:lnTo>
                  <a:lnTo>
                    <a:pt x="24" y="1180"/>
                  </a:lnTo>
                  <a:lnTo>
                    <a:pt x="18" y="1166"/>
                  </a:lnTo>
                  <a:lnTo>
                    <a:pt x="12" y="1150"/>
                  </a:lnTo>
                  <a:lnTo>
                    <a:pt x="6" y="1132"/>
                  </a:lnTo>
                  <a:lnTo>
                    <a:pt x="4" y="1114"/>
                  </a:lnTo>
                  <a:lnTo>
                    <a:pt x="2" y="1096"/>
                  </a:lnTo>
                  <a:lnTo>
                    <a:pt x="0" y="1078"/>
                  </a:lnTo>
                  <a:lnTo>
                    <a:pt x="0" y="1078"/>
                  </a:lnTo>
                  <a:lnTo>
                    <a:pt x="2" y="1058"/>
                  </a:lnTo>
                  <a:lnTo>
                    <a:pt x="4" y="1040"/>
                  </a:lnTo>
                  <a:lnTo>
                    <a:pt x="6" y="1024"/>
                  </a:lnTo>
                  <a:lnTo>
                    <a:pt x="12" y="1006"/>
                  </a:lnTo>
                  <a:lnTo>
                    <a:pt x="18" y="990"/>
                  </a:lnTo>
                  <a:lnTo>
                    <a:pt x="24" y="974"/>
                  </a:lnTo>
                  <a:lnTo>
                    <a:pt x="32" y="960"/>
                  </a:lnTo>
                  <a:lnTo>
                    <a:pt x="42" y="948"/>
                  </a:lnTo>
                  <a:lnTo>
                    <a:pt x="50" y="936"/>
                  </a:lnTo>
                  <a:lnTo>
                    <a:pt x="62" y="924"/>
                  </a:lnTo>
                  <a:lnTo>
                    <a:pt x="72" y="916"/>
                  </a:lnTo>
                  <a:lnTo>
                    <a:pt x="86" y="908"/>
                  </a:lnTo>
                  <a:lnTo>
                    <a:pt x="98" y="902"/>
                  </a:lnTo>
                  <a:lnTo>
                    <a:pt x="110" y="898"/>
                  </a:lnTo>
                  <a:lnTo>
                    <a:pt x="124" y="894"/>
                  </a:lnTo>
                  <a:lnTo>
                    <a:pt x="138" y="894"/>
                  </a:lnTo>
                  <a:lnTo>
                    <a:pt x="138" y="894"/>
                  </a:lnTo>
                  <a:lnTo>
                    <a:pt x="154" y="894"/>
                  </a:lnTo>
                  <a:lnTo>
                    <a:pt x="168" y="898"/>
                  </a:lnTo>
                  <a:lnTo>
                    <a:pt x="180" y="904"/>
                  </a:lnTo>
                  <a:lnTo>
                    <a:pt x="192" y="910"/>
                  </a:lnTo>
                  <a:lnTo>
                    <a:pt x="216" y="926"/>
                  </a:lnTo>
                  <a:lnTo>
                    <a:pt x="238" y="946"/>
                  </a:lnTo>
                  <a:lnTo>
                    <a:pt x="260" y="966"/>
                  </a:lnTo>
                  <a:lnTo>
                    <a:pt x="282" y="982"/>
                  </a:lnTo>
                  <a:lnTo>
                    <a:pt x="294" y="990"/>
                  </a:lnTo>
                  <a:lnTo>
                    <a:pt x="308" y="994"/>
                  </a:lnTo>
                  <a:lnTo>
                    <a:pt x="322" y="998"/>
                  </a:lnTo>
                  <a:lnTo>
                    <a:pt x="336" y="998"/>
                  </a:lnTo>
                  <a:lnTo>
                    <a:pt x="336" y="998"/>
                  </a:lnTo>
                  <a:lnTo>
                    <a:pt x="350" y="998"/>
                  </a:lnTo>
                  <a:lnTo>
                    <a:pt x="364" y="996"/>
                  </a:lnTo>
                  <a:lnTo>
                    <a:pt x="376" y="992"/>
                  </a:lnTo>
                  <a:lnTo>
                    <a:pt x="388" y="986"/>
                  </a:lnTo>
                  <a:lnTo>
                    <a:pt x="400" y="978"/>
                  </a:lnTo>
                  <a:lnTo>
                    <a:pt x="412" y="970"/>
                  </a:lnTo>
                  <a:lnTo>
                    <a:pt x="422" y="960"/>
                  </a:lnTo>
                  <a:lnTo>
                    <a:pt x="432" y="948"/>
                  </a:lnTo>
                  <a:lnTo>
                    <a:pt x="440" y="936"/>
                  </a:lnTo>
                  <a:lnTo>
                    <a:pt x="448" y="924"/>
                  </a:lnTo>
                  <a:lnTo>
                    <a:pt x="456" y="908"/>
                  </a:lnTo>
                  <a:lnTo>
                    <a:pt x="462" y="894"/>
                  </a:lnTo>
                  <a:lnTo>
                    <a:pt x="466" y="878"/>
                  </a:lnTo>
                  <a:lnTo>
                    <a:pt x="470" y="862"/>
                  </a:lnTo>
                  <a:lnTo>
                    <a:pt x="472" y="844"/>
                  </a:lnTo>
                  <a:lnTo>
                    <a:pt x="474" y="826"/>
                  </a:lnTo>
                  <a:lnTo>
                    <a:pt x="474" y="0"/>
                  </a:lnTo>
                  <a:lnTo>
                    <a:pt x="2632" y="0"/>
                  </a:lnTo>
                  <a:lnTo>
                    <a:pt x="2632" y="2156"/>
                  </a:lnTo>
                  <a:lnTo>
                    <a:pt x="1804" y="2156"/>
                  </a:lnTo>
                  <a:lnTo>
                    <a:pt x="1796" y="2156"/>
                  </a:lnTo>
                  <a:lnTo>
                    <a:pt x="1796" y="2156"/>
                  </a:lnTo>
                  <a:lnTo>
                    <a:pt x="1778" y="2154"/>
                  </a:lnTo>
                  <a:lnTo>
                    <a:pt x="1762" y="2152"/>
                  </a:lnTo>
                  <a:lnTo>
                    <a:pt x="1732" y="2142"/>
                  </a:lnTo>
                  <a:lnTo>
                    <a:pt x="1716" y="2136"/>
                  </a:lnTo>
                  <a:lnTo>
                    <a:pt x="1704" y="2128"/>
                  </a:lnTo>
                  <a:lnTo>
                    <a:pt x="1690" y="2120"/>
                  </a:lnTo>
                  <a:lnTo>
                    <a:pt x="1680" y="2112"/>
                  </a:lnTo>
                  <a:lnTo>
                    <a:pt x="1668" y="2102"/>
                  </a:lnTo>
                  <a:lnTo>
                    <a:pt x="1660" y="2092"/>
                  </a:lnTo>
                  <a:lnTo>
                    <a:pt x="1652" y="2080"/>
                  </a:lnTo>
                  <a:lnTo>
                    <a:pt x="1644" y="2070"/>
                  </a:lnTo>
                  <a:lnTo>
                    <a:pt x="1640" y="2058"/>
                  </a:lnTo>
                  <a:lnTo>
                    <a:pt x="1636" y="2046"/>
                  </a:lnTo>
                  <a:lnTo>
                    <a:pt x="1632" y="2032"/>
                  </a:lnTo>
                  <a:lnTo>
                    <a:pt x="1632" y="2018"/>
                  </a:lnTo>
                  <a:lnTo>
                    <a:pt x="1632" y="2018"/>
                  </a:lnTo>
                  <a:lnTo>
                    <a:pt x="1634" y="2004"/>
                  </a:lnTo>
                  <a:lnTo>
                    <a:pt x="1636" y="1990"/>
                  </a:lnTo>
                  <a:lnTo>
                    <a:pt x="1642" y="1978"/>
                  </a:lnTo>
                  <a:lnTo>
                    <a:pt x="1648" y="1964"/>
                  </a:lnTo>
                  <a:lnTo>
                    <a:pt x="1666" y="1942"/>
                  </a:lnTo>
                  <a:lnTo>
                    <a:pt x="1684" y="1920"/>
                  </a:lnTo>
                  <a:lnTo>
                    <a:pt x="1704" y="1898"/>
                  </a:lnTo>
                  <a:lnTo>
                    <a:pt x="1720" y="1876"/>
                  </a:lnTo>
                  <a:lnTo>
                    <a:pt x="1728" y="1862"/>
                  </a:lnTo>
                  <a:lnTo>
                    <a:pt x="1732" y="1850"/>
                  </a:lnTo>
                  <a:lnTo>
                    <a:pt x="1736" y="1836"/>
                  </a:lnTo>
                  <a:lnTo>
                    <a:pt x="1738" y="1822"/>
                  </a:lnTo>
                  <a:lnTo>
                    <a:pt x="1738" y="1822"/>
                  </a:lnTo>
                  <a:lnTo>
                    <a:pt x="1736" y="1808"/>
                  </a:lnTo>
                  <a:lnTo>
                    <a:pt x="1734" y="1794"/>
                  </a:lnTo>
                  <a:lnTo>
                    <a:pt x="1728" y="1780"/>
                  </a:lnTo>
                  <a:lnTo>
                    <a:pt x="1722" y="1768"/>
                  </a:lnTo>
                  <a:lnTo>
                    <a:pt x="1714" y="1756"/>
                  </a:lnTo>
                  <a:lnTo>
                    <a:pt x="1706" y="1744"/>
                  </a:lnTo>
                  <a:lnTo>
                    <a:pt x="1696" y="1734"/>
                  </a:lnTo>
                  <a:lnTo>
                    <a:pt x="1684" y="1724"/>
                  </a:lnTo>
                  <a:lnTo>
                    <a:pt x="1670" y="1714"/>
                  </a:lnTo>
                  <a:lnTo>
                    <a:pt x="1656" y="1706"/>
                  </a:lnTo>
                  <a:lnTo>
                    <a:pt x="1640" y="1700"/>
                  </a:lnTo>
                  <a:lnTo>
                    <a:pt x="1624" y="1694"/>
                  </a:lnTo>
                  <a:lnTo>
                    <a:pt x="1608" y="1690"/>
                  </a:lnTo>
                  <a:lnTo>
                    <a:pt x="1590" y="1686"/>
                  </a:lnTo>
                  <a:lnTo>
                    <a:pt x="1572" y="1684"/>
                  </a:lnTo>
                  <a:lnTo>
                    <a:pt x="1552" y="1682"/>
                  </a:lnTo>
                  <a:lnTo>
                    <a:pt x="1552" y="1682"/>
                  </a:lnTo>
                  <a:lnTo>
                    <a:pt x="1534" y="1684"/>
                  </a:lnTo>
                  <a:lnTo>
                    <a:pt x="1516" y="1686"/>
                  </a:lnTo>
                  <a:lnTo>
                    <a:pt x="1498" y="1690"/>
                  </a:lnTo>
                  <a:lnTo>
                    <a:pt x="1480" y="1694"/>
                  </a:lnTo>
                  <a:lnTo>
                    <a:pt x="1464" y="1700"/>
                  </a:lnTo>
                  <a:lnTo>
                    <a:pt x="1450" y="1706"/>
                  </a:lnTo>
                  <a:lnTo>
                    <a:pt x="1436" y="1714"/>
                  </a:lnTo>
                  <a:lnTo>
                    <a:pt x="1422" y="1724"/>
                  </a:lnTo>
                  <a:lnTo>
                    <a:pt x="1410" y="1734"/>
                  </a:lnTo>
                  <a:lnTo>
                    <a:pt x="1400" y="1744"/>
                  </a:lnTo>
                  <a:lnTo>
                    <a:pt x="1390" y="1756"/>
                  </a:lnTo>
                  <a:lnTo>
                    <a:pt x="1382" y="1768"/>
                  </a:lnTo>
                  <a:lnTo>
                    <a:pt x="1376" y="1780"/>
                  </a:lnTo>
                  <a:lnTo>
                    <a:pt x="1372" y="1794"/>
                  </a:lnTo>
                  <a:lnTo>
                    <a:pt x="1370" y="1808"/>
                  </a:lnTo>
                  <a:lnTo>
                    <a:pt x="1368" y="1822"/>
                  </a:lnTo>
                  <a:lnTo>
                    <a:pt x="1368" y="1822"/>
                  </a:lnTo>
                  <a:lnTo>
                    <a:pt x="1370" y="1836"/>
                  </a:lnTo>
                  <a:lnTo>
                    <a:pt x="1372" y="1850"/>
                  </a:lnTo>
                  <a:lnTo>
                    <a:pt x="1378" y="1862"/>
                  </a:lnTo>
                  <a:lnTo>
                    <a:pt x="1384" y="1876"/>
                  </a:lnTo>
                  <a:lnTo>
                    <a:pt x="1402" y="1898"/>
                  </a:lnTo>
                  <a:lnTo>
                    <a:pt x="1420" y="1920"/>
                  </a:lnTo>
                  <a:lnTo>
                    <a:pt x="1440" y="1942"/>
                  </a:lnTo>
                  <a:lnTo>
                    <a:pt x="1458" y="1964"/>
                  </a:lnTo>
                  <a:lnTo>
                    <a:pt x="1464" y="1978"/>
                  </a:lnTo>
                  <a:lnTo>
                    <a:pt x="1470" y="1990"/>
                  </a:lnTo>
                  <a:lnTo>
                    <a:pt x="1472" y="2004"/>
                  </a:lnTo>
                  <a:lnTo>
                    <a:pt x="1474" y="2018"/>
                  </a:lnTo>
                  <a:lnTo>
                    <a:pt x="1474" y="2018"/>
                  </a:lnTo>
                  <a:lnTo>
                    <a:pt x="1472" y="2032"/>
                  </a:lnTo>
                  <a:lnTo>
                    <a:pt x="1470" y="2046"/>
                  </a:lnTo>
                  <a:lnTo>
                    <a:pt x="1466" y="2058"/>
                  </a:lnTo>
                  <a:lnTo>
                    <a:pt x="1462" y="2070"/>
                  </a:lnTo>
                  <a:lnTo>
                    <a:pt x="1454" y="2080"/>
                  </a:lnTo>
                  <a:lnTo>
                    <a:pt x="1446" y="2092"/>
                  </a:lnTo>
                  <a:lnTo>
                    <a:pt x="1436" y="2102"/>
                  </a:lnTo>
                  <a:lnTo>
                    <a:pt x="1426" y="2112"/>
                  </a:lnTo>
                  <a:lnTo>
                    <a:pt x="1414" y="2120"/>
                  </a:lnTo>
                  <a:lnTo>
                    <a:pt x="1402" y="2128"/>
                  </a:lnTo>
                  <a:lnTo>
                    <a:pt x="1374" y="2142"/>
                  </a:lnTo>
                  <a:lnTo>
                    <a:pt x="1344" y="2152"/>
                  </a:lnTo>
                  <a:lnTo>
                    <a:pt x="1326" y="2154"/>
                  </a:lnTo>
                  <a:lnTo>
                    <a:pt x="1310" y="2156"/>
                  </a:lnTo>
                  <a:lnTo>
                    <a:pt x="1302" y="2156"/>
                  </a:lnTo>
                  <a:lnTo>
                    <a:pt x="484" y="2156"/>
                  </a:lnTo>
                  <a:lnTo>
                    <a:pt x="474" y="2156"/>
                  </a:lnTo>
                  <a:lnTo>
                    <a:pt x="474" y="132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9050">
              <a:solidFill>
                <a:srgbClr val="061F4C"/>
              </a:solidFill>
              <a:miter lim="800000"/>
              <a:headEnd/>
              <a:tailEnd/>
            </a:ln>
            <a:effectLst>
              <a:outerShdw blurRad="25400" dist="12700" dir="5400000" algn="t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12700"/>
              <a:bevelB w="38100" h="12700"/>
              <a:extrusionClr>
                <a:schemeClr val="tx2">
                  <a:lumMod val="60000"/>
                  <a:lumOff val="40000"/>
                </a:schemeClr>
              </a:extrusionClr>
            </a:sp3d>
          </p:spPr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Freeform 6"/>
            <p:cNvSpPr>
              <a:spLocks noEditPoints="1"/>
            </p:cNvSpPr>
            <p:nvPr/>
          </p:nvSpPr>
          <p:spPr bwMode="auto">
            <a:xfrm>
              <a:off x="1756811" y="2895600"/>
              <a:ext cx="5630378" cy="3125754"/>
            </a:xfrm>
            <a:custGeom>
              <a:avLst/>
              <a:gdLst/>
              <a:ahLst/>
              <a:cxnLst>
                <a:cxn ang="0">
                  <a:pos x="3454" y="470"/>
                </a:cxn>
                <a:cxn ang="0">
                  <a:pos x="3392" y="448"/>
                </a:cxn>
                <a:cxn ang="0">
                  <a:pos x="3346" y="412"/>
                </a:cxn>
                <a:cxn ang="0">
                  <a:pos x="3320" y="364"/>
                </a:cxn>
                <a:cxn ang="0">
                  <a:pos x="3318" y="322"/>
                </a:cxn>
                <a:cxn ang="0">
                  <a:pos x="3350" y="260"/>
                </a:cxn>
                <a:cxn ang="0">
                  <a:pos x="3412" y="180"/>
                </a:cxn>
                <a:cxn ang="0">
                  <a:pos x="3422" y="138"/>
                </a:cxn>
                <a:cxn ang="0">
                  <a:pos x="3406" y="86"/>
                </a:cxn>
                <a:cxn ang="0">
                  <a:pos x="3368" y="42"/>
                </a:cxn>
                <a:cxn ang="0">
                  <a:pos x="3308" y="12"/>
                </a:cxn>
                <a:cxn ang="0">
                  <a:pos x="3236" y="0"/>
                </a:cxn>
                <a:cxn ang="0">
                  <a:pos x="3182" y="6"/>
                </a:cxn>
                <a:cxn ang="0">
                  <a:pos x="3120" y="32"/>
                </a:cxn>
                <a:cxn ang="0">
                  <a:pos x="3074" y="74"/>
                </a:cxn>
                <a:cxn ang="0">
                  <a:pos x="3054" y="124"/>
                </a:cxn>
                <a:cxn ang="0">
                  <a:pos x="3058" y="168"/>
                </a:cxn>
                <a:cxn ang="0">
                  <a:pos x="3106" y="238"/>
                </a:cxn>
                <a:cxn ang="0">
                  <a:pos x="3154" y="308"/>
                </a:cxn>
                <a:cxn ang="0">
                  <a:pos x="3158" y="350"/>
                </a:cxn>
                <a:cxn ang="0">
                  <a:pos x="3138" y="400"/>
                </a:cxn>
                <a:cxn ang="0">
                  <a:pos x="3096" y="440"/>
                </a:cxn>
                <a:cxn ang="0">
                  <a:pos x="3038" y="466"/>
                </a:cxn>
                <a:cxn ang="0">
                  <a:pos x="2162" y="474"/>
                </a:cxn>
                <a:cxn ang="0">
                  <a:pos x="1306" y="476"/>
                </a:cxn>
                <a:cxn ang="0">
                  <a:pos x="1218" y="510"/>
                </a:cxn>
                <a:cxn ang="0">
                  <a:pos x="1178" y="550"/>
                </a:cxn>
                <a:cxn ang="0">
                  <a:pos x="1160" y="598"/>
                </a:cxn>
                <a:cxn ang="0">
                  <a:pos x="1164" y="640"/>
                </a:cxn>
                <a:cxn ang="0">
                  <a:pos x="1212" y="710"/>
                </a:cxn>
                <a:cxn ang="0">
                  <a:pos x="1260" y="780"/>
                </a:cxn>
                <a:cxn ang="0">
                  <a:pos x="1264" y="824"/>
                </a:cxn>
                <a:cxn ang="0">
                  <a:pos x="1242" y="876"/>
                </a:cxn>
                <a:cxn ang="0">
                  <a:pos x="1198" y="916"/>
                </a:cxn>
                <a:cxn ang="0">
                  <a:pos x="1134" y="942"/>
                </a:cxn>
                <a:cxn ang="0">
                  <a:pos x="1080" y="948"/>
                </a:cxn>
                <a:cxn ang="0">
                  <a:pos x="1008" y="938"/>
                </a:cxn>
                <a:cxn ang="0">
                  <a:pos x="950" y="908"/>
                </a:cxn>
                <a:cxn ang="0">
                  <a:pos x="910" y="864"/>
                </a:cxn>
                <a:cxn ang="0">
                  <a:pos x="896" y="810"/>
                </a:cxn>
                <a:cxn ang="0">
                  <a:pos x="906" y="768"/>
                </a:cxn>
                <a:cxn ang="0">
                  <a:pos x="968" y="688"/>
                </a:cxn>
                <a:cxn ang="0">
                  <a:pos x="1000" y="626"/>
                </a:cxn>
                <a:cxn ang="0">
                  <a:pos x="998" y="586"/>
                </a:cxn>
                <a:cxn ang="0">
                  <a:pos x="974" y="540"/>
                </a:cxn>
                <a:cxn ang="0">
                  <a:pos x="930" y="502"/>
                </a:cxn>
                <a:cxn ang="0">
                  <a:pos x="854" y="476"/>
                </a:cxn>
                <a:cxn ang="0">
                  <a:pos x="2158" y="2408"/>
                </a:cxn>
                <a:cxn ang="0">
                  <a:pos x="2220" y="998"/>
                </a:cxn>
                <a:cxn ang="0">
                  <a:pos x="2220" y="998"/>
                </a:cxn>
                <a:cxn ang="0">
                  <a:pos x="2234" y="1008"/>
                </a:cxn>
              </a:cxnLst>
              <a:rect l="0" t="0" r="r" b="b"/>
              <a:pathLst>
                <a:path w="4316" h="2408">
                  <a:moveTo>
                    <a:pt x="3488" y="474"/>
                  </a:moveTo>
                  <a:lnTo>
                    <a:pt x="3488" y="474"/>
                  </a:lnTo>
                  <a:lnTo>
                    <a:pt x="3470" y="474"/>
                  </a:lnTo>
                  <a:lnTo>
                    <a:pt x="3454" y="470"/>
                  </a:lnTo>
                  <a:lnTo>
                    <a:pt x="3436" y="466"/>
                  </a:lnTo>
                  <a:lnTo>
                    <a:pt x="3420" y="462"/>
                  </a:lnTo>
                  <a:lnTo>
                    <a:pt x="3406" y="456"/>
                  </a:lnTo>
                  <a:lnTo>
                    <a:pt x="3392" y="448"/>
                  </a:lnTo>
                  <a:lnTo>
                    <a:pt x="3378" y="440"/>
                  </a:lnTo>
                  <a:lnTo>
                    <a:pt x="3366" y="432"/>
                  </a:lnTo>
                  <a:lnTo>
                    <a:pt x="3356" y="422"/>
                  </a:lnTo>
                  <a:lnTo>
                    <a:pt x="3346" y="412"/>
                  </a:lnTo>
                  <a:lnTo>
                    <a:pt x="3336" y="400"/>
                  </a:lnTo>
                  <a:lnTo>
                    <a:pt x="3330" y="388"/>
                  </a:lnTo>
                  <a:lnTo>
                    <a:pt x="3324" y="376"/>
                  </a:lnTo>
                  <a:lnTo>
                    <a:pt x="3320" y="364"/>
                  </a:lnTo>
                  <a:lnTo>
                    <a:pt x="3316" y="350"/>
                  </a:lnTo>
                  <a:lnTo>
                    <a:pt x="3316" y="336"/>
                  </a:lnTo>
                  <a:lnTo>
                    <a:pt x="3316" y="336"/>
                  </a:lnTo>
                  <a:lnTo>
                    <a:pt x="3318" y="322"/>
                  </a:lnTo>
                  <a:lnTo>
                    <a:pt x="3320" y="308"/>
                  </a:lnTo>
                  <a:lnTo>
                    <a:pt x="3326" y="294"/>
                  </a:lnTo>
                  <a:lnTo>
                    <a:pt x="3332" y="282"/>
                  </a:lnTo>
                  <a:lnTo>
                    <a:pt x="3350" y="260"/>
                  </a:lnTo>
                  <a:lnTo>
                    <a:pt x="3368" y="238"/>
                  </a:lnTo>
                  <a:lnTo>
                    <a:pt x="3388" y="216"/>
                  </a:lnTo>
                  <a:lnTo>
                    <a:pt x="3404" y="192"/>
                  </a:lnTo>
                  <a:lnTo>
                    <a:pt x="3412" y="180"/>
                  </a:lnTo>
                  <a:lnTo>
                    <a:pt x="3416" y="168"/>
                  </a:lnTo>
                  <a:lnTo>
                    <a:pt x="3420" y="154"/>
                  </a:lnTo>
                  <a:lnTo>
                    <a:pt x="3422" y="138"/>
                  </a:lnTo>
                  <a:lnTo>
                    <a:pt x="3422" y="138"/>
                  </a:lnTo>
                  <a:lnTo>
                    <a:pt x="3420" y="124"/>
                  </a:lnTo>
                  <a:lnTo>
                    <a:pt x="3418" y="112"/>
                  </a:lnTo>
                  <a:lnTo>
                    <a:pt x="3414" y="98"/>
                  </a:lnTo>
                  <a:lnTo>
                    <a:pt x="3406" y="86"/>
                  </a:lnTo>
                  <a:lnTo>
                    <a:pt x="3400" y="74"/>
                  </a:lnTo>
                  <a:lnTo>
                    <a:pt x="3390" y="62"/>
                  </a:lnTo>
                  <a:lnTo>
                    <a:pt x="3380" y="52"/>
                  </a:lnTo>
                  <a:lnTo>
                    <a:pt x="3368" y="42"/>
                  </a:lnTo>
                  <a:lnTo>
                    <a:pt x="3354" y="32"/>
                  </a:lnTo>
                  <a:lnTo>
                    <a:pt x="3340" y="24"/>
                  </a:lnTo>
                  <a:lnTo>
                    <a:pt x="3324" y="18"/>
                  </a:lnTo>
                  <a:lnTo>
                    <a:pt x="3308" y="12"/>
                  </a:lnTo>
                  <a:lnTo>
                    <a:pt x="3292" y="6"/>
                  </a:lnTo>
                  <a:lnTo>
                    <a:pt x="3274" y="4"/>
                  </a:lnTo>
                  <a:lnTo>
                    <a:pt x="3256" y="2"/>
                  </a:lnTo>
                  <a:lnTo>
                    <a:pt x="3236" y="0"/>
                  </a:lnTo>
                  <a:lnTo>
                    <a:pt x="3236" y="0"/>
                  </a:lnTo>
                  <a:lnTo>
                    <a:pt x="3218" y="2"/>
                  </a:lnTo>
                  <a:lnTo>
                    <a:pt x="3200" y="4"/>
                  </a:lnTo>
                  <a:lnTo>
                    <a:pt x="3182" y="6"/>
                  </a:lnTo>
                  <a:lnTo>
                    <a:pt x="3166" y="12"/>
                  </a:lnTo>
                  <a:lnTo>
                    <a:pt x="3150" y="18"/>
                  </a:lnTo>
                  <a:lnTo>
                    <a:pt x="3134" y="24"/>
                  </a:lnTo>
                  <a:lnTo>
                    <a:pt x="3120" y="32"/>
                  </a:lnTo>
                  <a:lnTo>
                    <a:pt x="3106" y="42"/>
                  </a:lnTo>
                  <a:lnTo>
                    <a:pt x="3094" y="52"/>
                  </a:lnTo>
                  <a:lnTo>
                    <a:pt x="3084" y="62"/>
                  </a:lnTo>
                  <a:lnTo>
                    <a:pt x="3074" y="74"/>
                  </a:lnTo>
                  <a:lnTo>
                    <a:pt x="3068" y="86"/>
                  </a:lnTo>
                  <a:lnTo>
                    <a:pt x="3060" y="98"/>
                  </a:lnTo>
                  <a:lnTo>
                    <a:pt x="3056" y="112"/>
                  </a:lnTo>
                  <a:lnTo>
                    <a:pt x="3054" y="124"/>
                  </a:lnTo>
                  <a:lnTo>
                    <a:pt x="3052" y="138"/>
                  </a:lnTo>
                  <a:lnTo>
                    <a:pt x="3052" y="138"/>
                  </a:lnTo>
                  <a:lnTo>
                    <a:pt x="3054" y="154"/>
                  </a:lnTo>
                  <a:lnTo>
                    <a:pt x="3058" y="168"/>
                  </a:lnTo>
                  <a:lnTo>
                    <a:pt x="3062" y="180"/>
                  </a:lnTo>
                  <a:lnTo>
                    <a:pt x="3070" y="192"/>
                  </a:lnTo>
                  <a:lnTo>
                    <a:pt x="3086" y="216"/>
                  </a:lnTo>
                  <a:lnTo>
                    <a:pt x="3106" y="238"/>
                  </a:lnTo>
                  <a:lnTo>
                    <a:pt x="3124" y="260"/>
                  </a:lnTo>
                  <a:lnTo>
                    <a:pt x="3142" y="282"/>
                  </a:lnTo>
                  <a:lnTo>
                    <a:pt x="3148" y="294"/>
                  </a:lnTo>
                  <a:lnTo>
                    <a:pt x="3154" y="308"/>
                  </a:lnTo>
                  <a:lnTo>
                    <a:pt x="3156" y="322"/>
                  </a:lnTo>
                  <a:lnTo>
                    <a:pt x="3158" y="336"/>
                  </a:lnTo>
                  <a:lnTo>
                    <a:pt x="3158" y="336"/>
                  </a:lnTo>
                  <a:lnTo>
                    <a:pt x="3158" y="350"/>
                  </a:lnTo>
                  <a:lnTo>
                    <a:pt x="3154" y="364"/>
                  </a:lnTo>
                  <a:lnTo>
                    <a:pt x="3150" y="376"/>
                  </a:lnTo>
                  <a:lnTo>
                    <a:pt x="3144" y="388"/>
                  </a:lnTo>
                  <a:lnTo>
                    <a:pt x="3138" y="400"/>
                  </a:lnTo>
                  <a:lnTo>
                    <a:pt x="3128" y="412"/>
                  </a:lnTo>
                  <a:lnTo>
                    <a:pt x="3120" y="422"/>
                  </a:lnTo>
                  <a:lnTo>
                    <a:pt x="3108" y="432"/>
                  </a:lnTo>
                  <a:lnTo>
                    <a:pt x="3096" y="440"/>
                  </a:lnTo>
                  <a:lnTo>
                    <a:pt x="3082" y="448"/>
                  </a:lnTo>
                  <a:lnTo>
                    <a:pt x="3068" y="456"/>
                  </a:lnTo>
                  <a:lnTo>
                    <a:pt x="3054" y="462"/>
                  </a:lnTo>
                  <a:lnTo>
                    <a:pt x="3038" y="466"/>
                  </a:lnTo>
                  <a:lnTo>
                    <a:pt x="3020" y="470"/>
                  </a:lnTo>
                  <a:lnTo>
                    <a:pt x="3004" y="472"/>
                  </a:lnTo>
                  <a:lnTo>
                    <a:pt x="2986" y="474"/>
                  </a:lnTo>
                  <a:lnTo>
                    <a:pt x="2162" y="474"/>
                  </a:lnTo>
                  <a:lnTo>
                    <a:pt x="2148" y="474"/>
                  </a:lnTo>
                  <a:lnTo>
                    <a:pt x="1322" y="474"/>
                  </a:lnTo>
                  <a:lnTo>
                    <a:pt x="1322" y="474"/>
                  </a:lnTo>
                  <a:lnTo>
                    <a:pt x="1306" y="476"/>
                  </a:lnTo>
                  <a:lnTo>
                    <a:pt x="1290" y="480"/>
                  </a:lnTo>
                  <a:lnTo>
                    <a:pt x="1258" y="490"/>
                  </a:lnTo>
                  <a:lnTo>
                    <a:pt x="1230" y="502"/>
                  </a:lnTo>
                  <a:lnTo>
                    <a:pt x="1218" y="510"/>
                  </a:lnTo>
                  <a:lnTo>
                    <a:pt x="1206" y="520"/>
                  </a:lnTo>
                  <a:lnTo>
                    <a:pt x="1196" y="528"/>
                  </a:lnTo>
                  <a:lnTo>
                    <a:pt x="1186" y="540"/>
                  </a:lnTo>
                  <a:lnTo>
                    <a:pt x="1178" y="550"/>
                  </a:lnTo>
                  <a:lnTo>
                    <a:pt x="1172" y="562"/>
                  </a:lnTo>
                  <a:lnTo>
                    <a:pt x="1166" y="574"/>
                  </a:lnTo>
                  <a:lnTo>
                    <a:pt x="1162" y="586"/>
                  </a:lnTo>
                  <a:lnTo>
                    <a:pt x="1160" y="598"/>
                  </a:lnTo>
                  <a:lnTo>
                    <a:pt x="1158" y="612"/>
                  </a:lnTo>
                  <a:lnTo>
                    <a:pt x="1158" y="612"/>
                  </a:lnTo>
                  <a:lnTo>
                    <a:pt x="1160" y="626"/>
                  </a:lnTo>
                  <a:lnTo>
                    <a:pt x="1164" y="640"/>
                  </a:lnTo>
                  <a:lnTo>
                    <a:pt x="1168" y="654"/>
                  </a:lnTo>
                  <a:lnTo>
                    <a:pt x="1176" y="666"/>
                  </a:lnTo>
                  <a:lnTo>
                    <a:pt x="1192" y="688"/>
                  </a:lnTo>
                  <a:lnTo>
                    <a:pt x="1212" y="710"/>
                  </a:lnTo>
                  <a:lnTo>
                    <a:pt x="1232" y="732"/>
                  </a:lnTo>
                  <a:lnTo>
                    <a:pt x="1248" y="756"/>
                  </a:lnTo>
                  <a:lnTo>
                    <a:pt x="1254" y="768"/>
                  </a:lnTo>
                  <a:lnTo>
                    <a:pt x="1260" y="780"/>
                  </a:lnTo>
                  <a:lnTo>
                    <a:pt x="1264" y="794"/>
                  </a:lnTo>
                  <a:lnTo>
                    <a:pt x="1264" y="810"/>
                  </a:lnTo>
                  <a:lnTo>
                    <a:pt x="1264" y="810"/>
                  </a:lnTo>
                  <a:lnTo>
                    <a:pt x="1264" y="824"/>
                  </a:lnTo>
                  <a:lnTo>
                    <a:pt x="1260" y="838"/>
                  </a:lnTo>
                  <a:lnTo>
                    <a:pt x="1256" y="850"/>
                  </a:lnTo>
                  <a:lnTo>
                    <a:pt x="1250" y="864"/>
                  </a:lnTo>
                  <a:lnTo>
                    <a:pt x="1242" y="876"/>
                  </a:lnTo>
                  <a:lnTo>
                    <a:pt x="1232" y="888"/>
                  </a:lnTo>
                  <a:lnTo>
                    <a:pt x="1222" y="898"/>
                  </a:lnTo>
                  <a:lnTo>
                    <a:pt x="1210" y="908"/>
                  </a:lnTo>
                  <a:lnTo>
                    <a:pt x="1198" y="916"/>
                  </a:lnTo>
                  <a:lnTo>
                    <a:pt x="1184" y="924"/>
                  </a:lnTo>
                  <a:lnTo>
                    <a:pt x="1168" y="932"/>
                  </a:lnTo>
                  <a:lnTo>
                    <a:pt x="1152" y="938"/>
                  </a:lnTo>
                  <a:lnTo>
                    <a:pt x="1134" y="942"/>
                  </a:lnTo>
                  <a:lnTo>
                    <a:pt x="1118" y="946"/>
                  </a:lnTo>
                  <a:lnTo>
                    <a:pt x="1098" y="948"/>
                  </a:lnTo>
                  <a:lnTo>
                    <a:pt x="1080" y="948"/>
                  </a:lnTo>
                  <a:lnTo>
                    <a:pt x="1080" y="948"/>
                  </a:lnTo>
                  <a:lnTo>
                    <a:pt x="1062" y="948"/>
                  </a:lnTo>
                  <a:lnTo>
                    <a:pt x="1042" y="946"/>
                  </a:lnTo>
                  <a:lnTo>
                    <a:pt x="1026" y="942"/>
                  </a:lnTo>
                  <a:lnTo>
                    <a:pt x="1008" y="938"/>
                  </a:lnTo>
                  <a:lnTo>
                    <a:pt x="992" y="932"/>
                  </a:lnTo>
                  <a:lnTo>
                    <a:pt x="976" y="924"/>
                  </a:lnTo>
                  <a:lnTo>
                    <a:pt x="962" y="916"/>
                  </a:lnTo>
                  <a:lnTo>
                    <a:pt x="950" y="908"/>
                  </a:lnTo>
                  <a:lnTo>
                    <a:pt x="938" y="898"/>
                  </a:lnTo>
                  <a:lnTo>
                    <a:pt x="926" y="888"/>
                  </a:lnTo>
                  <a:lnTo>
                    <a:pt x="918" y="876"/>
                  </a:lnTo>
                  <a:lnTo>
                    <a:pt x="910" y="864"/>
                  </a:lnTo>
                  <a:lnTo>
                    <a:pt x="904" y="850"/>
                  </a:lnTo>
                  <a:lnTo>
                    <a:pt x="900" y="838"/>
                  </a:lnTo>
                  <a:lnTo>
                    <a:pt x="896" y="824"/>
                  </a:lnTo>
                  <a:lnTo>
                    <a:pt x="896" y="810"/>
                  </a:lnTo>
                  <a:lnTo>
                    <a:pt x="896" y="810"/>
                  </a:lnTo>
                  <a:lnTo>
                    <a:pt x="896" y="794"/>
                  </a:lnTo>
                  <a:lnTo>
                    <a:pt x="900" y="780"/>
                  </a:lnTo>
                  <a:lnTo>
                    <a:pt x="906" y="768"/>
                  </a:lnTo>
                  <a:lnTo>
                    <a:pt x="912" y="756"/>
                  </a:lnTo>
                  <a:lnTo>
                    <a:pt x="928" y="732"/>
                  </a:lnTo>
                  <a:lnTo>
                    <a:pt x="948" y="710"/>
                  </a:lnTo>
                  <a:lnTo>
                    <a:pt x="968" y="688"/>
                  </a:lnTo>
                  <a:lnTo>
                    <a:pt x="984" y="666"/>
                  </a:lnTo>
                  <a:lnTo>
                    <a:pt x="992" y="654"/>
                  </a:lnTo>
                  <a:lnTo>
                    <a:pt x="996" y="640"/>
                  </a:lnTo>
                  <a:lnTo>
                    <a:pt x="1000" y="626"/>
                  </a:lnTo>
                  <a:lnTo>
                    <a:pt x="1000" y="612"/>
                  </a:lnTo>
                  <a:lnTo>
                    <a:pt x="1000" y="612"/>
                  </a:lnTo>
                  <a:lnTo>
                    <a:pt x="1000" y="598"/>
                  </a:lnTo>
                  <a:lnTo>
                    <a:pt x="998" y="586"/>
                  </a:lnTo>
                  <a:lnTo>
                    <a:pt x="994" y="574"/>
                  </a:lnTo>
                  <a:lnTo>
                    <a:pt x="988" y="562"/>
                  </a:lnTo>
                  <a:lnTo>
                    <a:pt x="982" y="550"/>
                  </a:lnTo>
                  <a:lnTo>
                    <a:pt x="974" y="540"/>
                  </a:lnTo>
                  <a:lnTo>
                    <a:pt x="964" y="528"/>
                  </a:lnTo>
                  <a:lnTo>
                    <a:pt x="954" y="520"/>
                  </a:lnTo>
                  <a:lnTo>
                    <a:pt x="942" y="510"/>
                  </a:lnTo>
                  <a:lnTo>
                    <a:pt x="930" y="502"/>
                  </a:lnTo>
                  <a:lnTo>
                    <a:pt x="916" y="496"/>
                  </a:lnTo>
                  <a:lnTo>
                    <a:pt x="902" y="490"/>
                  </a:lnTo>
                  <a:lnTo>
                    <a:pt x="870" y="480"/>
                  </a:lnTo>
                  <a:lnTo>
                    <a:pt x="854" y="476"/>
                  </a:lnTo>
                  <a:lnTo>
                    <a:pt x="836" y="474"/>
                  </a:lnTo>
                  <a:lnTo>
                    <a:pt x="0" y="474"/>
                  </a:lnTo>
                  <a:lnTo>
                    <a:pt x="0" y="2408"/>
                  </a:lnTo>
                  <a:lnTo>
                    <a:pt x="2158" y="2408"/>
                  </a:lnTo>
                  <a:lnTo>
                    <a:pt x="4316" y="2408"/>
                  </a:lnTo>
                  <a:lnTo>
                    <a:pt x="4316" y="474"/>
                  </a:lnTo>
                  <a:lnTo>
                    <a:pt x="3488" y="474"/>
                  </a:lnTo>
                  <a:close/>
                  <a:moveTo>
                    <a:pt x="2220" y="998"/>
                  </a:moveTo>
                  <a:lnTo>
                    <a:pt x="2220" y="998"/>
                  </a:lnTo>
                  <a:lnTo>
                    <a:pt x="2222" y="998"/>
                  </a:lnTo>
                  <a:lnTo>
                    <a:pt x="2222" y="998"/>
                  </a:lnTo>
                  <a:lnTo>
                    <a:pt x="2220" y="998"/>
                  </a:lnTo>
                  <a:lnTo>
                    <a:pt x="2220" y="998"/>
                  </a:lnTo>
                  <a:close/>
                  <a:moveTo>
                    <a:pt x="2230" y="1004"/>
                  </a:moveTo>
                  <a:lnTo>
                    <a:pt x="2230" y="1004"/>
                  </a:lnTo>
                  <a:lnTo>
                    <a:pt x="2234" y="1008"/>
                  </a:lnTo>
                  <a:lnTo>
                    <a:pt x="2234" y="1008"/>
                  </a:lnTo>
                  <a:lnTo>
                    <a:pt x="2230" y="1004"/>
                  </a:lnTo>
                  <a:lnTo>
                    <a:pt x="2230" y="1004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18288" tIns="18288" rIns="18288" bIns="18288" anchor="ctr" anchorCtr="1"/>
            <a:lstStyle/>
            <a:p>
              <a:pPr algn="ctr">
                <a:lnSpc>
                  <a:spcPct val="85000"/>
                </a:lnSpc>
                <a:spcBef>
                  <a:spcPts val="20"/>
                </a:spcBef>
              </a:pPr>
              <a:endParaRPr lang="en-US" sz="16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9"/>
          <p:cNvGrpSpPr/>
          <p:nvPr/>
        </p:nvGrpSpPr>
        <p:grpSpPr>
          <a:xfrm>
            <a:off x="1981200" y="4800600"/>
            <a:ext cx="1706880" cy="660702"/>
            <a:chOff x="228600" y="1125650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31" name="Rounded Rectangle 30"/>
            <p:cNvSpPr/>
            <p:nvPr/>
          </p:nvSpPr>
          <p:spPr>
            <a:xfrm>
              <a:off x="228600" y="1125650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Rounded Rectangle 6"/>
            <p:cNvSpPr/>
            <p:nvPr/>
          </p:nvSpPr>
          <p:spPr>
            <a:xfrm>
              <a:off x="252411" y="1149461"/>
              <a:ext cx="1659258" cy="726639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Funding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Group 10"/>
          <p:cNvGrpSpPr/>
          <p:nvPr/>
        </p:nvGrpSpPr>
        <p:grpSpPr>
          <a:xfrm>
            <a:off x="3909060" y="4800600"/>
            <a:ext cx="1706880" cy="660702"/>
            <a:chOff x="228600" y="1981515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29" name="Rounded Rectangle 28"/>
            <p:cNvSpPr/>
            <p:nvPr/>
          </p:nvSpPr>
          <p:spPr>
            <a:xfrm>
              <a:off x="228600" y="1981515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43749"/>
                <a:satOff val="-627"/>
                <a:lumOff val="3659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8"/>
            <p:cNvSpPr/>
            <p:nvPr/>
          </p:nvSpPr>
          <p:spPr>
            <a:xfrm>
              <a:off x="252411" y="2005326"/>
              <a:ext cx="1659258" cy="72663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Intellectual Property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11"/>
          <p:cNvGrpSpPr/>
          <p:nvPr/>
        </p:nvGrpSpPr>
        <p:grpSpPr>
          <a:xfrm>
            <a:off x="1981200" y="5575149"/>
            <a:ext cx="1706880" cy="660702"/>
            <a:chOff x="228600" y="2837380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27" name="Rounded Rectangle 26"/>
            <p:cNvSpPr/>
            <p:nvPr/>
          </p:nvSpPr>
          <p:spPr>
            <a:xfrm>
              <a:off x="228600" y="2837380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87499"/>
                <a:satOff val="-1255"/>
                <a:lumOff val="7319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Rounded Rectangle 10"/>
            <p:cNvSpPr/>
            <p:nvPr/>
          </p:nvSpPr>
          <p:spPr>
            <a:xfrm>
              <a:off x="252411" y="2861191"/>
              <a:ext cx="1659258" cy="72663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Business Networks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3"/>
          <p:cNvGrpSpPr/>
          <p:nvPr/>
        </p:nvGrpSpPr>
        <p:grpSpPr>
          <a:xfrm>
            <a:off x="5760720" y="4800600"/>
            <a:ext cx="1706880" cy="660702"/>
            <a:chOff x="228600" y="3693245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25" name="Rounded Rectangle 24"/>
            <p:cNvSpPr/>
            <p:nvPr/>
          </p:nvSpPr>
          <p:spPr>
            <a:xfrm>
              <a:off x="228600" y="3693245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131248"/>
                <a:satOff val="-1882"/>
                <a:lumOff val="1097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Rounded Rectangle 12"/>
            <p:cNvSpPr/>
            <p:nvPr/>
          </p:nvSpPr>
          <p:spPr>
            <a:xfrm>
              <a:off x="252411" y="3717056"/>
              <a:ext cx="1659258" cy="72663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Centers of Excellence</a:t>
              </a:r>
              <a:endParaRPr lang="en-US" sz="15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" name="Group 17"/>
          <p:cNvGrpSpPr/>
          <p:nvPr/>
        </p:nvGrpSpPr>
        <p:grpSpPr>
          <a:xfrm>
            <a:off x="1524000" y="2239264"/>
            <a:ext cx="2209800" cy="503936"/>
            <a:chOff x="2424126" y="2363724"/>
            <a:chExt cx="1538276" cy="933792"/>
          </a:xfrm>
          <a:scene3d>
            <a:camera prst="orthographicFront"/>
            <a:lightRig rig="flat" dir="t"/>
          </a:scene3d>
        </p:grpSpPr>
        <p:sp>
          <p:nvSpPr>
            <p:cNvPr id="23" name="Rounded Rectangle 22"/>
            <p:cNvSpPr/>
            <p:nvPr/>
          </p:nvSpPr>
          <p:spPr>
            <a:xfrm>
              <a:off x="2424126" y="2363724"/>
              <a:ext cx="1538276" cy="933792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174998"/>
                <a:satOff val="-2510"/>
                <a:lumOff val="14637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ounded Rectangle 16"/>
            <p:cNvSpPr/>
            <p:nvPr/>
          </p:nvSpPr>
          <p:spPr>
            <a:xfrm>
              <a:off x="2452843" y="2392441"/>
              <a:ext cx="1480842" cy="87635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Executive Services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Group 20"/>
          <p:cNvGrpSpPr/>
          <p:nvPr/>
        </p:nvGrpSpPr>
        <p:grpSpPr>
          <a:xfrm>
            <a:off x="5095864" y="2369312"/>
            <a:ext cx="1304936" cy="733471"/>
            <a:chOff x="4333877" y="3251201"/>
            <a:chExt cx="1304936" cy="859536"/>
          </a:xfrm>
          <a:scene3d>
            <a:camera prst="orthographicFront"/>
            <a:lightRig rig="flat" dir="t"/>
          </a:scene3d>
        </p:grpSpPr>
        <p:sp>
          <p:nvSpPr>
            <p:cNvPr id="19" name="Rounded Rectangle 18"/>
            <p:cNvSpPr/>
            <p:nvPr/>
          </p:nvSpPr>
          <p:spPr>
            <a:xfrm>
              <a:off x="4333877" y="3251201"/>
              <a:ext cx="1304936" cy="859536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262496"/>
                <a:satOff val="-3765"/>
                <a:lumOff val="2195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ounded Rectangle 22"/>
            <p:cNvSpPr/>
            <p:nvPr/>
          </p:nvSpPr>
          <p:spPr>
            <a:xfrm>
              <a:off x="4360311" y="3277635"/>
              <a:ext cx="1252068" cy="80666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Talent Development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Group 21"/>
          <p:cNvGrpSpPr/>
          <p:nvPr/>
        </p:nvGrpSpPr>
        <p:grpSpPr>
          <a:xfrm>
            <a:off x="6467464" y="2369312"/>
            <a:ext cx="1304936" cy="733471"/>
            <a:chOff x="5705470" y="3251201"/>
            <a:chExt cx="1304936" cy="859536"/>
          </a:xfrm>
          <a:scene3d>
            <a:camera prst="orthographicFront"/>
            <a:lightRig rig="flat" dir="t"/>
          </a:scene3d>
        </p:grpSpPr>
        <p:sp>
          <p:nvSpPr>
            <p:cNvPr id="17" name="Rounded Rectangle 16"/>
            <p:cNvSpPr/>
            <p:nvPr/>
          </p:nvSpPr>
          <p:spPr>
            <a:xfrm>
              <a:off x="5705470" y="3251201"/>
              <a:ext cx="1304936" cy="859536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306246"/>
                <a:satOff val="-4392"/>
                <a:lumOff val="25615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Rounded Rectangle 24"/>
            <p:cNvSpPr/>
            <p:nvPr/>
          </p:nvSpPr>
          <p:spPr>
            <a:xfrm>
              <a:off x="5731904" y="3277635"/>
              <a:ext cx="1252068" cy="80666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Talent Acquisition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447800" y="1654048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JVS Consulting Services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64" y="1719072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JVS JEN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5200" y="4267201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JVS Business Advisory Council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6" name="Group 10"/>
          <p:cNvGrpSpPr/>
          <p:nvPr/>
        </p:nvGrpSpPr>
        <p:grpSpPr>
          <a:xfrm>
            <a:off x="3886200" y="5575149"/>
            <a:ext cx="1706880" cy="660702"/>
            <a:chOff x="228600" y="1981515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37" name="Rounded Rectangle 36"/>
            <p:cNvSpPr/>
            <p:nvPr/>
          </p:nvSpPr>
          <p:spPr>
            <a:xfrm>
              <a:off x="228600" y="1981515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43749"/>
                <a:satOff val="-627"/>
                <a:lumOff val="3659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Rounded Rectangle 8"/>
            <p:cNvSpPr/>
            <p:nvPr/>
          </p:nvSpPr>
          <p:spPr>
            <a:xfrm>
              <a:off x="252411" y="2005326"/>
              <a:ext cx="1659258" cy="72663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Collaboration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Group 10"/>
          <p:cNvGrpSpPr/>
          <p:nvPr/>
        </p:nvGrpSpPr>
        <p:grpSpPr>
          <a:xfrm>
            <a:off x="5760720" y="5575149"/>
            <a:ext cx="1706880" cy="660702"/>
            <a:chOff x="228600" y="1981515"/>
            <a:chExt cx="1706880" cy="774260"/>
          </a:xfrm>
          <a:scene3d>
            <a:camera prst="orthographicFront"/>
            <a:lightRig rig="flat" dir="t"/>
          </a:scene3d>
        </p:grpSpPr>
        <p:sp>
          <p:nvSpPr>
            <p:cNvPr id="40" name="Rounded Rectangle 39"/>
            <p:cNvSpPr/>
            <p:nvPr/>
          </p:nvSpPr>
          <p:spPr>
            <a:xfrm>
              <a:off x="228600" y="1981515"/>
              <a:ext cx="1706880" cy="774260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43749"/>
                <a:satOff val="-627"/>
                <a:lumOff val="3659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Rounded Rectangle 8"/>
            <p:cNvSpPr/>
            <p:nvPr/>
          </p:nvSpPr>
          <p:spPr>
            <a:xfrm>
              <a:off x="252411" y="2005326"/>
              <a:ext cx="1659258" cy="72663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Partnerships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2" name="Group 17"/>
          <p:cNvGrpSpPr/>
          <p:nvPr/>
        </p:nvGrpSpPr>
        <p:grpSpPr>
          <a:xfrm>
            <a:off x="1524000" y="2819400"/>
            <a:ext cx="2209800" cy="503936"/>
            <a:chOff x="2424126" y="2363724"/>
            <a:chExt cx="1538276" cy="933792"/>
          </a:xfrm>
          <a:scene3d>
            <a:camera prst="orthographicFront"/>
            <a:lightRig rig="flat" dir="t"/>
          </a:scene3d>
        </p:grpSpPr>
        <p:sp>
          <p:nvSpPr>
            <p:cNvPr id="43" name="Rounded Rectangle 42"/>
            <p:cNvSpPr/>
            <p:nvPr/>
          </p:nvSpPr>
          <p:spPr>
            <a:xfrm>
              <a:off x="2424126" y="2363724"/>
              <a:ext cx="1538276" cy="933792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174998"/>
                <a:satOff val="-2510"/>
                <a:lumOff val="14637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4" name="Rounded Rectangle 16"/>
            <p:cNvSpPr/>
            <p:nvPr/>
          </p:nvSpPr>
          <p:spPr>
            <a:xfrm>
              <a:off x="2452843" y="2392441"/>
              <a:ext cx="1480842" cy="87635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Operational Services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" name="Group 17"/>
          <p:cNvGrpSpPr/>
          <p:nvPr/>
        </p:nvGrpSpPr>
        <p:grpSpPr>
          <a:xfrm>
            <a:off x="1524000" y="3382264"/>
            <a:ext cx="2209800" cy="503936"/>
            <a:chOff x="2424126" y="2363724"/>
            <a:chExt cx="1538276" cy="933792"/>
          </a:xfrm>
          <a:scene3d>
            <a:camera prst="orthographicFront"/>
            <a:lightRig rig="flat" dir="t"/>
          </a:scene3d>
        </p:grpSpPr>
        <p:sp>
          <p:nvSpPr>
            <p:cNvPr id="46" name="Rounded Rectangle 45"/>
            <p:cNvSpPr/>
            <p:nvPr/>
          </p:nvSpPr>
          <p:spPr>
            <a:xfrm>
              <a:off x="2424126" y="2363724"/>
              <a:ext cx="1538276" cy="933792"/>
            </a:xfrm>
            <a:prstGeom prst="roundRect">
              <a:avLst>
                <a:gd name="adj" fmla="val 105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1">
                <a:shade val="80000"/>
                <a:hueOff val="174998"/>
                <a:satOff val="-2510"/>
                <a:lumOff val="14637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7" name="Rounded Rectangle 16"/>
            <p:cNvSpPr/>
            <p:nvPr/>
          </p:nvSpPr>
          <p:spPr>
            <a:xfrm>
              <a:off x="2452843" y="2392441"/>
              <a:ext cx="1480842" cy="876358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>
                  <a:latin typeface="Times New Roman" pitchFamily="18" charset="0"/>
                  <a:cs typeface="Times New Roman" pitchFamily="18" charset="0"/>
                </a:rPr>
                <a:t>Technical Services</a:t>
              </a:r>
              <a:endParaRPr lang="en-US" sz="1600" kern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JVS’s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830763"/>
          </a:xfrm>
        </p:spPr>
        <p:txBody>
          <a:bodyPr/>
          <a:lstStyle/>
          <a:p>
            <a:r>
              <a:rPr lang="en-US" sz="2800" dirty="0" smtClean="0"/>
              <a:t>Provide an independent &amp; sustainable funding model.</a:t>
            </a:r>
          </a:p>
          <a:p>
            <a:r>
              <a:rPr lang="en-US" sz="2800" dirty="0" smtClean="0"/>
              <a:t>Provide a pull model for JVS to create opportunities for unemployed workers of all levels.</a:t>
            </a:r>
          </a:p>
          <a:p>
            <a:r>
              <a:rPr lang="en-US" sz="2800" dirty="0" smtClean="0"/>
              <a:t>Offer valuable experience &amp; relevant skills in driving growth and innovation.</a:t>
            </a:r>
          </a:p>
          <a:p>
            <a:r>
              <a:rPr lang="en-US" sz="2800" dirty="0" smtClean="0"/>
              <a:t>Build a service model that can provide revenue for JVS as well as the talent pool available to JVS.</a:t>
            </a:r>
          </a:p>
          <a:p>
            <a:r>
              <a:rPr lang="en-US" sz="2800" dirty="0" smtClean="0"/>
              <a:t>Provide opportunities for small businesses.</a:t>
            </a:r>
          </a:p>
          <a:p>
            <a:r>
              <a:rPr lang="en-US" sz="2800" dirty="0" smtClean="0"/>
              <a:t>Expand the business model to deliver value not just resources to the market.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JVS’s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Develop a revenue stream to underwrite existing programs and services.</a:t>
            </a:r>
          </a:p>
          <a:p>
            <a:r>
              <a:rPr lang="en-US" sz="2800" dirty="0" smtClean="0"/>
              <a:t>Reduce dependency on 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party funding.</a:t>
            </a:r>
          </a:p>
          <a:p>
            <a:r>
              <a:rPr lang="en-US" sz="2800" dirty="0" smtClean="0"/>
              <a:t>Increase relevancy amongst businesses and communities by offering tangible value.</a:t>
            </a:r>
          </a:p>
          <a:p>
            <a:r>
              <a:rPr lang="en-US" sz="2800" dirty="0" smtClean="0"/>
              <a:t>Extend the value proposition to adjacent business and municipalities.</a:t>
            </a:r>
          </a:p>
          <a:p>
            <a:r>
              <a:rPr lang="en-US" sz="2800" dirty="0" smtClean="0"/>
              <a:t>Create an value-driven model that can be extended throughout the US.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Socio-Economic Business Model</a:t>
            </a:r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90600" y="1397000"/>
          <a:ext cx="75438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/>
          <p:cNvSpPr/>
          <p:nvPr/>
        </p:nvSpPr>
        <p:spPr>
          <a:xfrm>
            <a:off x="2133600" y="4953000"/>
            <a:ext cx="27432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  <a:reflection blurRad="6350" stA="55000" endA="300" endPos="45500" dir="5400000" sy="-100000" algn="bl" rotWithShape="0"/>
                </a:effectLst>
              </a:rPr>
              <a:t>JVS</a:t>
            </a:r>
            <a:endParaRPr lang="en-US" sz="7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1524000"/>
            <a:ext cx="2971800" cy="181588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are taught that we, the Jewish people function as a community. I believe that one person can make a difference but only the power and will of the collective can effectuate great change.”</a:t>
            </a:r>
          </a:p>
          <a:p>
            <a:endParaRPr lang="en-US" sz="1400" dirty="0" smtClean="0"/>
          </a:p>
          <a:p>
            <a:r>
              <a:rPr lang="en-US" sz="1400" i="1" dirty="0" smtClean="0"/>
              <a:t>        - Harvey Barnett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6-Month Action Plan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93700" y="1397000"/>
          <a:ext cx="8534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>
          <a:xfrm>
            <a:off x="762000" y="2667000"/>
            <a:ext cx="7772400" cy="1470025"/>
          </a:xfrm>
        </p:spPr>
        <p:txBody>
          <a:bodyPr/>
          <a:lstStyle/>
          <a:p>
            <a:r>
              <a:rPr lang="en-US" b="1" dirty="0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9775</TotalTime>
  <Words>1035</Words>
  <Application>Microsoft Office PowerPoint</Application>
  <PresentationFormat>On-screen Show (4:3)</PresentationFormat>
  <Paragraphs>176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VEG</vt:lpstr>
      <vt:lpstr> A “Stimulus Plan” for JVS</vt:lpstr>
      <vt:lpstr>Proposal</vt:lpstr>
      <vt:lpstr>Current Challenges</vt:lpstr>
      <vt:lpstr>Current Challenges</vt:lpstr>
      <vt:lpstr>Solution</vt:lpstr>
      <vt:lpstr>Introducing a 3-Track Consulting Model</vt:lpstr>
      <vt:lpstr>Solution Services Tracks</vt:lpstr>
      <vt:lpstr>Solution Services Tracks</vt:lpstr>
      <vt:lpstr>Startup &amp; Launch</vt:lpstr>
      <vt:lpstr>Positioning &amp; Pricing</vt:lpstr>
      <vt:lpstr>Benefits</vt:lpstr>
      <vt:lpstr> A Collaborative Business Model for JVS</vt:lpstr>
      <vt:lpstr>JVS’s Opportunities</vt:lpstr>
      <vt:lpstr>JVS’s Opportunities</vt:lpstr>
      <vt:lpstr>A Socio-Economic Business Model</vt:lpstr>
      <vt:lpstr>6-Month Action Plan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189</cp:revision>
  <dcterms:created xsi:type="dcterms:W3CDTF">2009-06-09T11:36:35Z</dcterms:created>
  <dcterms:modified xsi:type="dcterms:W3CDTF">2010-02-05T03:50:49Z</dcterms:modified>
</cp:coreProperties>
</file>
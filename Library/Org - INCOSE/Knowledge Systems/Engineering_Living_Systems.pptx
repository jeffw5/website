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3200" y="1714500"/>
            <a:ext cx="7124700" cy="7239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6169" y="273755"/>
            <a:ext cx="16122861" cy="1623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8424" y="4395049"/>
            <a:ext cx="14852015" cy="433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8.png"/><Relationship Id="rId8" Type="http://schemas.openxmlformats.org/officeDocument/2006/relationships/image" Target="../media/image9.jp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700" y="0"/>
            <a:ext cx="16700500" cy="9753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536685" y="141463"/>
            <a:ext cx="4361815" cy="18141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700" spc="-110">
                <a:solidFill>
                  <a:srgbClr val="282828"/>
                </a:solidFill>
                <a:latin typeface="Times New Roman"/>
                <a:cs typeface="Times New Roman"/>
              </a:rPr>
              <a:t>itecting</a:t>
            </a:r>
            <a:endParaRPr sz="1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913" y="940833"/>
            <a:ext cx="8632825" cy="4631690"/>
          </a:xfrm>
          <a:prstGeom prst="rect">
            <a:avLst/>
          </a:prstGeom>
        </p:spPr>
        <p:txBody>
          <a:bodyPr wrap="square" lIns="0" tIns="538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40"/>
              </a:spcBef>
            </a:pPr>
            <a:r>
              <a:rPr dirty="0" sz="11150" spc="-45">
                <a:solidFill>
                  <a:srgbClr val="2B2B2B"/>
                </a:solidFill>
                <a:latin typeface="Cambria"/>
                <a:cs typeface="Cambria"/>
              </a:rPr>
              <a:t>Living</a:t>
            </a:r>
            <a:r>
              <a:rPr dirty="0" sz="11150" spc="-57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dirty="0" sz="11150" spc="-415">
                <a:solidFill>
                  <a:srgbClr val="2A2A2A"/>
                </a:solidFill>
                <a:latin typeface="Cambria"/>
                <a:cs typeface="Cambria"/>
              </a:rPr>
              <a:t>Systems</a:t>
            </a:r>
            <a:endParaRPr sz="11150">
              <a:latin typeface="Cambria"/>
              <a:cs typeface="Cambria"/>
            </a:endParaRPr>
          </a:p>
          <a:p>
            <a:pPr marL="63500" marR="1047750" indent="-5080">
              <a:lnSpc>
                <a:spcPct val="88900"/>
              </a:lnSpc>
              <a:spcBef>
                <a:spcPts val="1995"/>
              </a:spcBef>
            </a:pPr>
            <a:r>
              <a:rPr dirty="0" sz="3950">
                <a:solidFill>
                  <a:srgbClr val="181818"/>
                </a:solidFill>
                <a:latin typeface="Arial"/>
                <a:cs typeface="Arial"/>
              </a:rPr>
              <a:t>Moving</a:t>
            </a:r>
            <a:r>
              <a:rPr dirty="0" sz="3950" spc="21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950">
                <a:solidFill>
                  <a:srgbClr val="1C1C1C"/>
                </a:solidFill>
                <a:latin typeface="Arial"/>
                <a:cs typeface="Arial"/>
              </a:rPr>
              <a:t>beyond</a:t>
            </a:r>
            <a:r>
              <a:rPr dirty="0" sz="3950" spc="32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3950">
                <a:solidFill>
                  <a:srgbClr val="1A1A1A"/>
                </a:solidFill>
                <a:latin typeface="Arial"/>
                <a:cs typeface="Arial"/>
              </a:rPr>
              <a:t>static</a:t>
            </a:r>
            <a:r>
              <a:rPr dirty="0" sz="3950" spc="20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950">
                <a:solidFill>
                  <a:srgbClr val="1A1A1A"/>
                </a:solidFill>
                <a:latin typeface="Arial"/>
                <a:cs typeface="Arial"/>
              </a:rPr>
              <a:t>products</a:t>
            </a:r>
            <a:r>
              <a:rPr dirty="0" sz="3950" spc="2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950" spc="100">
                <a:solidFill>
                  <a:srgbClr val="232323"/>
                </a:solidFill>
                <a:latin typeface="Arial"/>
                <a:cs typeface="Arial"/>
              </a:rPr>
              <a:t>to </a:t>
            </a:r>
            <a:r>
              <a:rPr dirty="0" sz="3950">
                <a:solidFill>
                  <a:srgbClr val="181818"/>
                </a:solidFill>
                <a:latin typeface="Arial"/>
                <a:cs typeface="Arial"/>
              </a:rPr>
              <a:t>achieve</a:t>
            </a:r>
            <a:r>
              <a:rPr dirty="0" sz="3950" spc="1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950">
                <a:solidFill>
                  <a:srgbClr val="1A1A1A"/>
                </a:solidFill>
                <a:latin typeface="Arial"/>
                <a:cs typeface="Arial"/>
              </a:rPr>
              <a:t>systemic</a:t>
            </a:r>
            <a:r>
              <a:rPr dirty="0" sz="395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950">
                <a:solidFill>
                  <a:srgbClr val="1C1C1C"/>
                </a:solidFill>
                <a:latin typeface="Arial"/>
                <a:cs typeface="Arial"/>
              </a:rPr>
              <a:t>autonomy</a:t>
            </a:r>
            <a:r>
              <a:rPr dirty="0" sz="3950" spc="17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3950" spc="-2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3950">
                <a:solidFill>
                  <a:srgbClr val="1A1A1A"/>
                </a:solidFill>
                <a:latin typeface="Arial"/>
                <a:cs typeface="Arial"/>
              </a:rPr>
              <a:t>continuous</a:t>
            </a:r>
            <a:r>
              <a:rPr dirty="0" sz="3950" spc="2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950">
                <a:solidFill>
                  <a:srgbClr val="1A1A1A"/>
                </a:solidFill>
                <a:latin typeface="Arial"/>
                <a:cs typeface="Arial"/>
              </a:rPr>
              <a:t>evolution</a:t>
            </a:r>
            <a:r>
              <a:rPr dirty="0" sz="3950" spc="3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3950" spc="-10">
                <a:solidFill>
                  <a:srgbClr val="1A1A1A"/>
                </a:solidFill>
                <a:latin typeface="Arial"/>
                <a:cs typeface="Arial"/>
              </a:rPr>
              <a:t>through </a:t>
            </a:r>
            <a:r>
              <a:rPr dirty="0" sz="3850">
                <a:solidFill>
                  <a:srgbClr val="181818"/>
                </a:solidFill>
                <a:latin typeface="Arial"/>
                <a:cs typeface="Arial"/>
              </a:rPr>
              <a:t>Knowledge</a:t>
            </a:r>
            <a:r>
              <a:rPr dirty="0" sz="3850" spc="41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850" spc="-10">
                <a:solidFill>
                  <a:srgbClr val="181818"/>
                </a:solidFill>
                <a:latin typeface="Arial"/>
                <a:cs typeface="Arial"/>
              </a:rPr>
              <a:t>Engineering.</a:t>
            </a:r>
            <a:endParaRPr sz="3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" y="2616200"/>
            <a:ext cx="16002000" cy="6540500"/>
            <a:chOff x="762000" y="2616200"/>
            <a:chExt cx="16002000" cy="6540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2616200"/>
              <a:ext cx="16002000" cy="6540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2600" y="7137400"/>
              <a:ext cx="2425700" cy="596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4100" y="6819900"/>
              <a:ext cx="1066800" cy="444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07700" y="6451600"/>
              <a:ext cx="1803400" cy="762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74100" y="7200900"/>
              <a:ext cx="1930400" cy="10541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28400" y="5702300"/>
              <a:ext cx="711200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14900" y="6946900"/>
              <a:ext cx="3530600" cy="1371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32800" y="6489700"/>
              <a:ext cx="1066800" cy="457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63100" y="6146800"/>
              <a:ext cx="1041400" cy="444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79100" y="5842000"/>
              <a:ext cx="838200" cy="431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18800" y="7740650"/>
              <a:ext cx="5994400" cy="476250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7175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2025"/>
              </a:spcBef>
            </a:pPr>
            <a:r>
              <a:rPr dirty="0" sz="4850" spc="-185">
                <a:latin typeface="Times New Roman"/>
                <a:cs typeface="Times New Roman"/>
              </a:rPr>
              <a:t>Compounding</a:t>
            </a:r>
            <a:r>
              <a:rPr dirty="0" sz="4850" spc="-130">
                <a:latin typeface="Times New Roman"/>
                <a:cs typeface="Times New Roman"/>
              </a:rPr>
              <a:t> </a:t>
            </a:r>
            <a:r>
              <a:rPr dirty="0" sz="4850" spc="-210">
                <a:latin typeface="Times New Roman"/>
                <a:cs typeface="Times New Roman"/>
              </a:rPr>
              <a:t>complexity</a:t>
            </a:r>
            <a:r>
              <a:rPr dirty="0" sz="4850" spc="-90">
                <a:latin typeface="Times New Roman"/>
                <a:cs typeface="Times New Roman"/>
              </a:rPr>
              <a:t> </a:t>
            </a:r>
            <a:r>
              <a:rPr dirty="0" sz="4850" spc="-120">
                <a:latin typeface="Times New Roman"/>
                <a:cs typeface="Times New Roman"/>
              </a:rPr>
              <a:t>has</a:t>
            </a:r>
            <a:r>
              <a:rPr dirty="0" sz="4850" spc="-185">
                <a:latin typeface="Times New Roman"/>
                <a:cs typeface="Times New Roman"/>
              </a:rPr>
              <a:t> </a:t>
            </a:r>
            <a:r>
              <a:rPr dirty="0" sz="4850" spc="-110">
                <a:latin typeface="Times New Roman"/>
                <a:cs typeface="Times New Roman"/>
              </a:rPr>
              <a:t>outpaced</a:t>
            </a:r>
            <a:r>
              <a:rPr dirty="0" sz="4850" spc="-50">
                <a:latin typeface="Times New Roman"/>
                <a:cs typeface="Times New Roman"/>
              </a:rPr>
              <a:t> </a:t>
            </a:r>
            <a:r>
              <a:rPr dirty="0" sz="4850" spc="-175">
                <a:latin typeface="Times New Roman"/>
                <a:cs typeface="Times New Roman"/>
              </a:rPr>
              <a:t>manual</a:t>
            </a:r>
            <a:r>
              <a:rPr dirty="0" sz="4850" spc="-130">
                <a:latin typeface="Times New Roman"/>
                <a:cs typeface="Times New Roman"/>
              </a:rPr>
              <a:t> </a:t>
            </a:r>
            <a:r>
              <a:rPr dirty="0" sz="4850" spc="-105">
                <a:latin typeface="Times New Roman"/>
                <a:cs typeface="Times New Roman"/>
              </a:rPr>
              <a:t>engineering</a:t>
            </a:r>
            <a:r>
              <a:rPr dirty="0" sz="4850" spc="-85">
                <a:latin typeface="Times New Roman"/>
                <a:cs typeface="Times New Roman"/>
              </a:rPr>
              <a:t> </a:t>
            </a:r>
            <a:r>
              <a:rPr dirty="0" sz="4850" spc="-165">
                <a:latin typeface="Times New Roman"/>
                <a:cs typeface="Times New Roman"/>
              </a:rPr>
              <a:t>capacity</a:t>
            </a:r>
            <a:endParaRPr sz="485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1080"/>
              </a:spcBef>
            </a:pPr>
            <a:r>
              <a:rPr dirty="0" sz="2600">
                <a:latin typeface="Arial"/>
                <a:cs typeface="Arial"/>
              </a:rPr>
              <a:t>Managing</a:t>
            </a:r>
            <a:r>
              <a:rPr dirty="0" sz="2600" spc="30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scale</a:t>
            </a:r>
            <a:r>
              <a:rPr dirty="0" sz="2600" spc="1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requires</a:t>
            </a:r>
            <a:r>
              <a:rPr dirty="0" sz="2600" spc="3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systems</a:t>
            </a:r>
            <a:r>
              <a:rPr dirty="0" sz="2600" spc="360">
                <a:latin typeface="Arial"/>
                <a:cs typeface="Arial"/>
              </a:rPr>
              <a:t> </a:t>
            </a:r>
            <a:r>
              <a:rPr dirty="0" sz="2600" spc="50">
                <a:latin typeface="Arial"/>
                <a:cs typeface="Arial"/>
              </a:rPr>
              <a:t>that</a:t>
            </a:r>
            <a:r>
              <a:rPr dirty="0" sz="2600" spc="35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can</a:t>
            </a:r>
            <a:r>
              <a:rPr dirty="0" sz="2600" spc="1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formally</a:t>
            </a:r>
            <a:r>
              <a:rPr dirty="0" sz="2600" spc="46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verify</a:t>
            </a:r>
            <a:r>
              <a:rPr dirty="0" sz="2600" spc="3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their</a:t>
            </a:r>
            <a:r>
              <a:rPr dirty="0" sz="2600" spc="25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own</a:t>
            </a:r>
            <a:r>
              <a:rPr dirty="0" sz="2600" spc="30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safety</a:t>
            </a:r>
            <a:r>
              <a:rPr dirty="0" sz="2600" spc="28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constraints.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13721" y="9442508"/>
            <a:ext cx="1222375" cy="230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9"/>
              </a:lnSpc>
            </a:pPr>
            <a:r>
              <a:rPr dirty="0" sz="1450">
                <a:latin typeface="Times New Roman"/>
                <a:cs typeface="Times New Roman"/>
              </a:rPr>
              <a:t>W</a:t>
            </a:r>
            <a:r>
              <a:rPr dirty="0" sz="1450" spc="310">
                <a:latin typeface="Times New Roman"/>
                <a:cs typeface="Times New Roman"/>
              </a:rPr>
              <a:t> </a:t>
            </a:r>
            <a:r>
              <a:rPr dirty="0" sz="1450" spc="-45">
                <a:latin typeface="Times New Roman"/>
                <a:cs typeface="Times New Roman"/>
              </a:rPr>
              <a:t>NotebaokLM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78567" y="4975577"/>
            <a:ext cx="3931285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150">
                <a:latin typeface="Calibri"/>
                <a:cs typeface="Calibri"/>
              </a:rPr>
              <a:t>The</a:t>
            </a:r>
            <a:r>
              <a:rPr dirty="0" sz="3450" spc="-140">
                <a:latin typeface="Calibri"/>
                <a:cs typeface="Calibri"/>
              </a:rPr>
              <a:t> </a:t>
            </a:r>
            <a:r>
              <a:rPr dirty="0" sz="3450" spc="105">
                <a:latin typeface="Calibri"/>
                <a:cs typeface="Calibri"/>
              </a:rPr>
              <a:t>Complexity</a:t>
            </a:r>
            <a:r>
              <a:rPr dirty="0" sz="3450" spc="160">
                <a:latin typeface="Calibri"/>
                <a:cs typeface="Calibri"/>
              </a:rPr>
              <a:t> </a:t>
            </a:r>
            <a:r>
              <a:rPr dirty="0" sz="3450" spc="-20">
                <a:latin typeface="Calibri"/>
                <a:cs typeface="Calibri"/>
              </a:rPr>
              <a:t>Wall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74768" y="9138708"/>
            <a:ext cx="2089785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>
                <a:latin typeface="Times New Roman"/>
                <a:cs typeface="Times New Roman"/>
              </a:rPr>
              <a:t>Time</a:t>
            </a:r>
            <a:r>
              <a:rPr dirty="0" sz="2300" spc="20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/</a:t>
            </a:r>
            <a:r>
              <a:rPr dirty="0" sz="2300" spc="229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Evolution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34427" y="2883252"/>
            <a:ext cx="1767205" cy="8280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 marR="5080" indent="498475">
              <a:lnSpc>
                <a:spcPts val="2900"/>
              </a:lnSpc>
              <a:spcBef>
                <a:spcPts val="625"/>
              </a:spcBef>
            </a:pPr>
            <a:r>
              <a:rPr dirty="0" sz="2850" spc="65">
                <a:latin typeface="Times New Roman"/>
                <a:cs typeface="Times New Roman"/>
              </a:rPr>
              <a:t>System </a:t>
            </a:r>
            <a:r>
              <a:rPr dirty="0" sz="2850" spc="-10">
                <a:latin typeface="Times New Roman"/>
                <a:cs typeface="Times New Roman"/>
              </a:rPr>
              <a:t>Complexity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7800" y="1651000"/>
            <a:ext cx="12827000" cy="70739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362" rIns="0" bIns="0" rtlCol="0" vert="horz">
            <a:spAutoFit/>
          </a:bodyPr>
          <a:lstStyle/>
          <a:p>
            <a:pPr marL="10160">
              <a:lnSpc>
                <a:spcPct val="100000"/>
              </a:lnSpc>
              <a:spcBef>
                <a:spcPts val="95"/>
              </a:spcBef>
            </a:pPr>
            <a:r>
              <a:rPr dirty="0" sz="4100" spc="-45">
                <a:latin typeface="Arial"/>
                <a:cs typeface="Arial"/>
              </a:rPr>
              <a:t>The</a:t>
            </a:r>
            <a:r>
              <a:rPr dirty="0" sz="4100" spc="-200">
                <a:latin typeface="Arial"/>
                <a:cs typeface="Arial"/>
              </a:rPr>
              <a:t> </a:t>
            </a:r>
            <a:r>
              <a:rPr dirty="0" sz="4100">
                <a:latin typeface="Arial"/>
                <a:cs typeface="Arial"/>
              </a:rPr>
              <a:t>evolution</a:t>
            </a:r>
            <a:r>
              <a:rPr dirty="0" sz="4100" spc="-75">
                <a:latin typeface="Arial"/>
                <a:cs typeface="Arial"/>
              </a:rPr>
              <a:t> </a:t>
            </a:r>
            <a:r>
              <a:rPr dirty="0" sz="4100">
                <a:latin typeface="Arial"/>
                <a:cs typeface="Arial"/>
              </a:rPr>
              <a:t>of</a:t>
            </a:r>
            <a:r>
              <a:rPr dirty="0" sz="4100" spc="-45">
                <a:latin typeface="Arial"/>
                <a:cs typeface="Arial"/>
              </a:rPr>
              <a:t> </a:t>
            </a:r>
            <a:r>
              <a:rPr dirty="0" sz="4100" spc="50">
                <a:latin typeface="Arial"/>
                <a:cs typeface="Arial"/>
              </a:rPr>
              <a:t>the</a:t>
            </a:r>
            <a:r>
              <a:rPr dirty="0" sz="4100" spc="-245">
                <a:latin typeface="Arial"/>
                <a:cs typeface="Arial"/>
              </a:rPr>
              <a:t> </a:t>
            </a:r>
            <a:r>
              <a:rPr dirty="0" sz="4100" spc="-10">
                <a:latin typeface="Arial"/>
                <a:cs typeface="Arial"/>
              </a:rPr>
              <a:t>engineering</a:t>
            </a:r>
            <a:r>
              <a:rPr dirty="0" sz="4100" spc="-110">
                <a:latin typeface="Arial"/>
                <a:cs typeface="Arial"/>
              </a:rPr>
              <a:t> </a:t>
            </a:r>
            <a:r>
              <a:rPr dirty="0" sz="4100" spc="-20">
                <a:latin typeface="Arial"/>
                <a:cs typeface="Arial"/>
              </a:rPr>
              <a:t>paradigm</a:t>
            </a:r>
            <a:endParaRPr sz="4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13721" y="9442508"/>
            <a:ext cx="1222375" cy="230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9"/>
              </a:lnSpc>
            </a:pPr>
            <a:r>
              <a:rPr dirty="0" sz="1450">
                <a:latin typeface="Times New Roman"/>
                <a:cs typeface="Times New Roman"/>
              </a:rPr>
              <a:t>W</a:t>
            </a:r>
            <a:r>
              <a:rPr dirty="0" sz="1450" spc="310">
                <a:latin typeface="Times New Roman"/>
                <a:cs typeface="Times New Roman"/>
              </a:rPr>
              <a:t> </a:t>
            </a:r>
            <a:r>
              <a:rPr dirty="0" sz="1450" spc="-45">
                <a:latin typeface="Times New Roman"/>
                <a:cs typeface="Times New Roman"/>
              </a:rPr>
              <a:t>NotebaokLM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5486" y="2886780"/>
            <a:ext cx="3917950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>
                <a:latin typeface="Arial"/>
                <a:cs typeface="Arial"/>
              </a:rPr>
              <a:t>Static</a:t>
            </a:r>
            <a:r>
              <a:rPr dirty="0" sz="3800" spc="65">
                <a:latin typeface="Arial"/>
                <a:cs typeface="Arial"/>
              </a:rPr>
              <a:t> </a:t>
            </a:r>
            <a:r>
              <a:rPr dirty="0" sz="3800" spc="-25">
                <a:latin typeface="Arial"/>
                <a:cs typeface="Arial"/>
              </a:rPr>
              <a:t>Engineering</a:t>
            </a:r>
            <a:endParaRPr sz="3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2069" y="2886780"/>
            <a:ext cx="1335405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 spc="145">
                <a:latin typeface="Arial"/>
                <a:cs typeface="Arial"/>
              </a:rPr>
              <a:t>g</a:t>
            </a:r>
            <a:r>
              <a:rPr dirty="0" sz="3800" spc="-285">
                <a:latin typeface="Arial"/>
                <a:cs typeface="Arial"/>
              </a:rPr>
              <a:t> </a:t>
            </a:r>
            <a:r>
              <a:rPr dirty="0" sz="3800" spc="-20">
                <a:latin typeface="Arial"/>
                <a:cs typeface="Arial"/>
              </a:rPr>
              <a:t>Syst</a:t>
            </a:r>
            <a:endParaRPr sz="38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36524" y="4395049"/>
          <a:ext cx="14852015" cy="433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6085"/>
                <a:gridCol w="6605270"/>
                <a:gridCol w="5204459"/>
              </a:tblGrid>
              <a:tr h="1311910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dirty="0" sz="3050">
                          <a:latin typeface="Arial"/>
                          <a:cs typeface="Arial"/>
                        </a:rPr>
                        <a:t>Output</a:t>
                      </a:r>
                      <a:r>
                        <a:rPr dirty="0" sz="305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Target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227329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ts val="3835"/>
                        </a:lnSpc>
                      </a:pPr>
                      <a:r>
                        <a:rPr dirty="0" sz="3450" spc="-185">
                          <a:latin typeface="Arial"/>
                          <a:cs typeface="Arial"/>
                        </a:rPr>
                        <a:t>Static</a:t>
                      </a:r>
                      <a:r>
                        <a:rPr dirty="0" sz="345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450" spc="-270">
                          <a:latin typeface="Arial"/>
                          <a:cs typeface="Arial"/>
                        </a:rPr>
                        <a:t>Product</a:t>
                      </a:r>
                      <a:endParaRPr sz="3450">
                        <a:latin typeface="Arial"/>
                        <a:cs typeface="Arial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350" spc="-90">
                          <a:latin typeface="Arial"/>
                          <a:cs typeface="Arial"/>
                        </a:rPr>
                        <a:t>Designed</a:t>
                      </a:r>
                      <a:r>
                        <a:rPr dirty="0" sz="235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75">
                          <a:latin typeface="Arial"/>
                          <a:cs typeface="Arial"/>
                        </a:rPr>
                        <a:t>once,</a:t>
                      </a:r>
                      <a:r>
                        <a:rPr dirty="0" sz="235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70">
                          <a:latin typeface="Arial"/>
                          <a:cs typeface="Arial"/>
                        </a:rPr>
                        <a:t>degrades</a:t>
                      </a:r>
                      <a:r>
                        <a:rPr dirty="0" sz="235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50">
                          <a:latin typeface="Arial"/>
                          <a:cs typeface="Arial"/>
                        </a:rPr>
                        <a:t>over</a:t>
                      </a:r>
                      <a:r>
                        <a:rPr dirty="0" sz="23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10">
                          <a:latin typeface="Arial"/>
                          <a:cs typeface="Arial"/>
                        </a:rPr>
                        <a:t>time.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8470">
                        <a:lnSpc>
                          <a:spcPts val="3785"/>
                        </a:lnSpc>
                      </a:pPr>
                      <a:r>
                        <a:rPr dirty="0" sz="3200" spc="-55">
                          <a:latin typeface="Arial"/>
                          <a:cs typeface="Arial"/>
                        </a:rPr>
                        <a:t>Living</a:t>
                      </a:r>
                      <a:r>
                        <a:rPr dirty="0" sz="320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spc="-10">
                          <a:latin typeface="Arial"/>
                          <a:cs typeface="Arial"/>
                        </a:rPr>
                        <a:t>System</a:t>
                      </a:r>
                      <a:endParaRPr sz="3200">
                        <a:latin typeface="Arial"/>
                        <a:cs typeface="Arial"/>
                      </a:endParaRPr>
                    </a:p>
                    <a:p>
                      <a:pPr marL="4616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350" spc="-50">
                          <a:latin typeface="Arial"/>
                          <a:cs typeface="Arial"/>
                        </a:rPr>
                        <a:t>Self-optimizing,</a:t>
                      </a:r>
                      <a:r>
                        <a:rPr dirty="0" sz="2350" spc="-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55">
                          <a:latin typeface="Arial"/>
                          <a:cs typeface="Arial"/>
                        </a:rPr>
                        <a:t>continuously</a:t>
                      </a:r>
                      <a:r>
                        <a:rPr dirty="0" sz="2350" spc="1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60">
                          <a:latin typeface="Arial"/>
                          <a:cs typeface="Arial"/>
                        </a:rPr>
                        <a:t>evolves.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872490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2805"/>
                        </a:spcBef>
                      </a:pPr>
                      <a:r>
                        <a:rPr dirty="0" sz="3300" spc="-45">
                          <a:latin typeface="Arial"/>
                          <a:cs typeface="Arial"/>
                        </a:rPr>
                        <a:t>Process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B="0" marT="356235"/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ts val="3965"/>
                        </a:lnSpc>
                        <a:spcBef>
                          <a:spcPts val="2805"/>
                        </a:spcBef>
                      </a:pPr>
                      <a:r>
                        <a:rPr dirty="0" sz="3400" spc="-240">
                          <a:latin typeface="Arial"/>
                          <a:cs typeface="Arial"/>
                        </a:rPr>
                        <a:t>Siloed</a:t>
                      </a:r>
                      <a:r>
                        <a:rPr dirty="0" sz="34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400" spc="-105">
                          <a:latin typeface="Arial"/>
                          <a:cs typeface="Arial"/>
                        </a:rPr>
                        <a:t>Disciplines</a:t>
                      </a:r>
                      <a:endParaRPr sz="3400">
                        <a:latin typeface="Arial"/>
                        <a:cs typeface="Arial"/>
                      </a:endParaRPr>
                    </a:p>
                  </a:txBody>
                  <a:tcPr marL="0" marR="0" marB="0" marT="356235"/>
                </a:tc>
                <a:tc>
                  <a:txBody>
                    <a:bodyPr/>
                    <a:lstStyle/>
                    <a:p>
                      <a:pPr marL="452755">
                        <a:lnSpc>
                          <a:spcPts val="3965"/>
                        </a:lnSpc>
                        <a:spcBef>
                          <a:spcPts val="2805"/>
                        </a:spcBef>
                      </a:pPr>
                      <a:r>
                        <a:rPr dirty="0" sz="3400" spc="-200">
                          <a:latin typeface="Arial"/>
                          <a:cs typeface="Arial"/>
                        </a:rPr>
                        <a:t>Federated</a:t>
                      </a:r>
                      <a:r>
                        <a:rPr dirty="0" sz="3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400" spc="-10">
                          <a:latin typeface="Arial"/>
                          <a:cs typeface="Arial"/>
                        </a:rPr>
                        <a:t>Interoperability</a:t>
                      </a:r>
                      <a:endParaRPr sz="3400">
                        <a:latin typeface="Arial"/>
                        <a:cs typeface="Arial"/>
                      </a:endParaRPr>
                    </a:p>
                  </a:txBody>
                  <a:tcPr marL="0" marR="0" marB="0" marT="356235"/>
                </a:tc>
              </a:tr>
              <a:tr h="837565">
                <a:tc>
                  <a:txBody>
                    <a:bodyPr/>
                    <a:lstStyle/>
                    <a:p>
                      <a:pPr marL="40005">
                        <a:lnSpc>
                          <a:spcPts val="3475"/>
                        </a:lnSpc>
                      </a:pPr>
                      <a:r>
                        <a:rPr dirty="0" sz="3200" spc="-10">
                          <a:latin typeface="Arial"/>
                          <a:cs typeface="Arial"/>
                        </a:rPr>
                        <a:t>Architecture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35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50" spc="-55">
                          <a:latin typeface="Arial"/>
                          <a:cs typeface="Arial"/>
                        </a:rPr>
                        <a:t>Bottlenecked</a:t>
                      </a:r>
                      <a:r>
                        <a:rPr dirty="0" sz="235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10">
                          <a:latin typeface="Arial"/>
                          <a:cs typeface="Arial"/>
                        </a:rPr>
                        <a:t>communication.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74295"/>
                </a:tc>
                <a:tc>
                  <a:txBody>
                    <a:bodyPr/>
                    <a:lstStyle/>
                    <a:p>
                      <a:pPr marL="4521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50" spc="-90">
                          <a:latin typeface="Arial"/>
                          <a:cs typeface="Arial"/>
                        </a:rPr>
                        <a:t>Real-</a:t>
                      </a:r>
                      <a:r>
                        <a:rPr dirty="0" sz="2350" spc="-50">
                          <a:latin typeface="Arial"/>
                          <a:cs typeface="Arial"/>
                        </a:rPr>
                        <a:t>time,</a:t>
                      </a:r>
                      <a:r>
                        <a:rPr dirty="0" sz="23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75">
                          <a:latin typeface="Arial"/>
                          <a:cs typeface="Arial"/>
                        </a:rPr>
                        <a:t>cross-</a:t>
                      </a:r>
                      <a:r>
                        <a:rPr dirty="0" sz="2350" spc="-60">
                          <a:latin typeface="Arial"/>
                          <a:cs typeface="Arial"/>
                        </a:rPr>
                        <a:t>domain</a:t>
                      </a:r>
                      <a:r>
                        <a:rPr dirty="0" sz="23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10">
                          <a:latin typeface="Arial"/>
                          <a:cs typeface="Arial"/>
                        </a:rPr>
                        <a:t>negotiation.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74295"/>
                </a:tc>
              </a:tr>
              <a:tr h="847090">
                <a:tc>
                  <a:txBody>
                    <a:bodyPr/>
                    <a:lstStyle/>
                    <a:p>
                      <a:pPr marL="31750">
                        <a:lnSpc>
                          <a:spcPts val="3785"/>
                        </a:lnSpc>
                        <a:spcBef>
                          <a:spcPts val="2785"/>
                        </a:spcBef>
                      </a:pPr>
                      <a:r>
                        <a:rPr dirty="0" sz="3250" spc="-10">
                          <a:latin typeface="Arial"/>
                          <a:cs typeface="Arial"/>
                        </a:rPr>
                        <a:t>Control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353695"/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ts val="3485"/>
                        </a:lnSpc>
                        <a:spcBef>
                          <a:spcPts val="3085"/>
                        </a:spcBef>
                      </a:pPr>
                      <a:r>
                        <a:rPr dirty="0" sz="3050" spc="-60">
                          <a:latin typeface="Arial"/>
                          <a:cs typeface="Arial"/>
                        </a:rPr>
                        <a:t>Human</a:t>
                      </a:r>
                      <a:r>
                        <a:rPr dirty="0" sz="3050" spc="-1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Oversight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391795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3485"/>
                        </a:lnSpc>
                        <a:spcBef>
                          <a:spcPts val="3085"/>
                        </a:spcBef>
                      </a:pPr>
                      <a:r>
                        <a:rPr dirty="0" sz="3050">
                          <a:latin typeface="Arial"/>
                          <a:cs typeface="Arial"/>
                        </a:rPr>
                        <a:t>Cognitive</a:t>
                      </a:r>
                      <a:r>
                        <a:rPr dirty="0" sz="3050" spc="3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Autonomy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391795"/>
                </a:tc>
              </a:tr>
              <a:tr h="467995">
                <a:tc>
                  <a:txBody>
                    <a:bodyPr/>
                    <a:lstStyle/>
                    <a:p>
                      <a:pPr marL="32384">
                        <a:lnSpc>
                          <a:spcPts val="3590"/>
                        </a:lnSpc>
                      </a:pPr>
                      <a:r>
                        <a:rPr dirty="0" sz="3400" spc="-130">
                          <a:latin typeface="Arial"/>
                          <a:cs typeface="Arial"/>
                        </a:rPr>
                        <a:t>Mechanism</a:t>
                      </a:r>
                      <a:endParaRPr sz="3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292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2350" spc="-95">
                          <a:latin typeface="Arial"/>
                          <a:cs typeface="Arial"/>
                        </a:rPr>
                        <a:t>Manual</a:t>
                      </a:r>
                      <a:r>
                        <a:rPr dirty="0" sz="235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60">
                          <a:latin typeface="Arial"/>
                          <a:cs typeface="Arial"/>
                        </a:rPr>
                        <a:t>monitoring,</a:t>
                      </a:r>
                      <a:r>
                        <a:rPr dirty="0" sz="23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50">
                          <a:latin typeface="Arial"/>
                          <a:cs typeface="Arial"/>
                        </a:rPr>
                        <a:t>script-</a:t>
                      </a:r>
                      <a:r>
                        <a:rPr dirty="0" sz="2350" spc="-10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23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10">
                          <a:latin typeface="Arial"/>
                          <a:cs typeface="Arial"/>
                        </a:rPr>
                        <a:t>automation.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90805"/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2350" spc="-85"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235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75">
                          <a:latin typeface="Arial"/>
                          <a:cs typeface="Arial"/>
                        </a:rPr>
                        <a:t>reasoning</a:t>
                      </a:r>
                      <a:r>
                        <a:rPr dirty="0" sz="235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25">
                          <a:latin typeface="Arial"/>
                          <a:cs typeface="Arial"/>
                        </a:rPr>
                        <a:t>und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9080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8623300"/>
            <a:ext cx="5981700" cy="825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49400" y="8636000"/>
            <a:ext cx="2184400" cy="800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500" y="1498600"/>
            <a:ext cx="16078200" cy="68580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96241" y="391583"/>
            <a:ext cx="9855200" cy="6604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150">
                <a:latin typeface="Arial"/>
                <a:cs typeface="Arial"/>
              </a:rPr>
              <a:t>Closing</a:t>
            </a:r>
            <a:r>
              <a:rPr dirty="0" sz="4150" spc="-70">
                <a:latin typeface="Arial"/>
                <a:cs typeface="Arial"/>
              </a:rPr>
              <a:t> </a:t>
            </a:r>
            <a:r>
              <a:rPr dirty="0" sz="4150" spc="50">
                <a:latin typeface="Arial"/>
                <a:cs typeface="Arial"/>
              </a:rPr>
              <a:t>the</a:t>
            </a:r>
            <a:r>
              <a:rPr dirty="0" sz="4150" spc="-270">
                <a:latin typeface="Arial"/>
                <a:cs typeface="Arial"/>
              </a:rPr>
              <a:t> </a:t>
            </a:r>
            <a:r>
              <a:rPr dirty="0" sz="4150" spc="-10">
                <a:latin typeface="Arial"/>
                <a:cs typeface="Arial"/>
              </a:rPr>
              <a:t>self-</a:t>
            </a:r>
            <a:r>
              <a:rPr dirty="0" sz="4150">
                <a:latin typeface="Arial"/>
                <a:cs typeface="Arial"/>
              </a:rPr>
              <a:t>evolving</a:t>
            </a:r>
            <a:r>
              <a:rPr dirty="0" sz="4150" spc="240">
                <a:latin typeface="Arial"/>
                <a:cs typeface="Arial"/>
              </a:rPr>
              <a:t> </a:t>
            </a:r>
            <a:r>
              <a:rPr dirty="0" sz="4150">
                <a:latin typeface="Arial"/>
                <a:cs typeface="Arial"/>
              </a:rPr>
              <a:t>engineering</a:t>
            </a:r>
            <a:r>
              <a:rPr dirty="0" sz="4150" spc="65">
                <a:latin typeface="Arial"/>
                <a:cs typeface="Arial"/>
              </a:rPr>
              <a:t> </a:t>
            </a:r>
            <a:r>
              <a:rPr dirty="0" sz="4150" spc="-20">
                <a:latin typeface="Arial"/>
                <a:cs typeface="Arial"/>
              </a:rPr>
              <a:t>loop</a:t>
            </a:r>
            <a:endParaRPr sz="4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6549" y="4112876"/>
            <a:ext cx="2609215" cy="161607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dirty="0" sz="3800" spc="-125">
                <a:latin typeface="Arial"/>
                <a:cs typeface="Arial"/>
              </a:rPr>
              <a:t>Design-</a:t>
            </a:r>
            <a:r>
              <a:rPr dirty="0" sz="3800" spc="-65">
                <a:latin typeface="Arial"/>
                <a:cs typeface="Arial"/>
              </a:rPr>
              <a:t>Time</a:t>
            </a:r>
            <a:endParaRPr sz="3800">
              <a:latin typeface="Arial"/>
              <a:cs typeface="Arial"/>
            </a:endParaRPr>
          </a:p>
          <a:p>
            <a:pPr algn="ctr" marL="24130">
              <a:lnSpc>
                <a:spcPts val="3390"/>
              </a:lnSpc>
              <a:spcBef>
                <a:spcPts val="590"/>
              </a:spcBef>
            </a:pPr>
            <a:r>
              <a:rPr dirty="0" sz="2900" spc="-175">
                <a:latin typeface="Arial"/>
                <a:cs typeface="Arial"/>
              </a:rPr>
              <a:t>From</a:t>
            </a:r>
            <a:r>
              <a:rPr dirty="0" sz="2900" spc="-140">
                <a:latin typeface="Arial"/>
                <a:cs typeface="Arial"/>
              </a:rPr>
              <a:t> </a:t>
            </a:r>
            <a:r>
              <a:rPr dirty="0" sz="2900" spc="-40">
                <a:latin typeface="Arial"/>
                <a:cs typeface="Arial"/>
              </a:rPr>
              <a:t>Templates</a:t>
            </a:r>
            <a:endParaRPr sz="2900">
              <a:latin typeface="Arial"/>
              <a:cs typeface="Arial"/>
            </a:endParaRPr>
          </a:p>
          <a:p>
            <a:pPr algn="ctr" marL="24765">
              <a:lnSpc>
                <a:spcPts val="3210"/>
              </a:lnSpc>
            </a:pPr>
            <a:r>
              <a:rPr dirty="0" sz="2750" spc="50">
                <a:latin typeface="Arial"/>
                <a:cs typeface="Arial"/>
              </a:rPr>
              <a:t>to</a:t>
            </a:r>
            <a:r>
              <a:rPr dirty="0" sz="2750" spc="-14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Reasoning</a:t>
            </a:r>
            <a:endParaRPr sz="2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8117" y="8677627"/>
            <a:ext cx="5801360" cy="66294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478155" marR="5080" indent="-466090">
              <a:lnSpc>
                <a:spcPts val="2350"/>
              </a:lnSpc>
              <a:spcBef>
                <a:spcPts val="440"/>
              </a:spcBef>
            </a:pPr>
            <a:r>
              <a:rPr dirty="0" sz="2200" spc="-140">
                <a:latin typeface="Arial"/>
                <a:cs typeface="Arial"/>
              </a:rPr>
              <a:t>Semantic</a:t>
            </a:r>
            <a:r>
              <a:rPr dirty="0" sz="2200" spc="70">
                <a:latin typeface="Arial"/>
                <a:cs typeface="Arial"/>
              </a:rPr>
              <a:t> </a:t>
            </a:r>
            <a:r>
              <a:rPr dirty="0" sz="2200" spc="-90">
                <a:latin typeface="Arial"/>
                <a:cs typeface="Arial"/>
              </a:rPr>
              <a:t>interoperability</a:t>
            </a:r>
            <a:r>
              <a:rPr dirty="0" sz="2200" spc="-140">
                <a:latin typeface="Arial"/>
                <a:cs typeface="Arial"/>
              </a:rPr>
              <a:t> </a:t>
            </a:r>
            <a:r>
              <a:rPr dirty="0" sz="2200" spc="-150">
                <a:latin typeface="Arial"/>
                <a:cs typeface="Arial"/>
              </a:rPr>
              <a:t>enables</a:t>
            </a:r>
            <a:r>
              <a:rPr dirty="0" sz="2200" spc="60">
                <a:latin typeface="Arial"/>
                <a:cs typeface="Arial"/>
              </a:rPr>
              <a:t> </a:t>
            </a:r>
            <a:r>
              <a:rPr dirty="0" sz="2200" spc="-175">
                <a:latin typeface="Arial"/>
                <a:cs typeface="Arial"/>
              </a:rPr>
              <a:t>Generative</a:t>
            </a:r>
            <a:r>
              <a:rPr dirty="0" sz="2200" spc="80">
                <a:latin typeface="Arial"/>
                <a:cs typeface="Arial"/>
              </a:rPr>
              <a:t> </a:t>
            </a:r>
            <a:r>
              <a:rPr dirty="0" sz="2200" spc="-100">
                <a:latin typeface="Arial"/>
                <a:cs typeface="Arial"/>
              </a:rPr>
              <a:t>Design </a:t>
            </a:r>
            <a:r>
              <a:rPr dirty="0" sz="2200" spc="-95">
                <a:latin typeface="Arial"/>
                <a:cs typeface="Arial"/>
              </a:rPr>
              <a:t>that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105">
                <a:latin typeface="Arial"/>
                <a:cs typeface="Arial"/>
              </a:rPr>
              <a:t>respects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 spc="-90">
                <a:latin typeface="Arial"/>
                <a:cs typeface="Arial"/>
              </a:rPr>
              <a:t>cross-disciplinary</a:t>
            </a:r>
            <a:r>
              <a:rPr dirty="0" sz="2200" spc="-18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constraints.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1366" y="1501069"/>
            <a:ext cx="2689860" cy="108204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ctr" marL="12065" marR="5080">
              <a:lnSpc>
                <a:spcPts val="2700"/>
              </a:lnSpc>
              <a:spcBef>
                <a:spcPts val="370"/>
              </a:spcBef>
            </a:pPr>
            <a:r>
              <a:rPr dirty="0" sz="2400" spc="-75">
                <a:latin typeface="Arial"/>
                <a:cs typeface="Arial"/>
              </a:rPr>
              <a:t>Continuous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feedback </a:t>
            </a:r>
            <a:r>
              <a:rPr dirty="0" sz="2400" spc="-30">
                <a:latin typeface="Arial"/>
                <a:cs typeface="Arial"/>
              </a:rPr>
              <a:t>informs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the</a:t>
            </a:r>
            <a:r>
              <a:rPr dirty="0" sz="2400" spc="-16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next </a:t>
            </a:r>
            <a:r>
              <a:rPr dirty="0" sz="2400" spc="-10">
                <a:latin typeface="Arial"/>
                <a:cs typeface="Arial"/>
              </a:rPr>
              <a:t>generation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75825" y="4121191"/>
            <a:ext cx="2908300" cy="161099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algn="ctr" marR="26034">
              <a:lnSpc>
                <a:spcPct val="100000"/>
              </a:lnSpc>
              <a:spcBef>
                <a:spcPts val="800"/>
              </a:spcBef>
            </a:pPr>
            <a:r>
              <a:rPr dirty="0" sz="3800" spc="-135">
                <a:latin typeface="Arial"/>
                <a:cs typeface="Arial"/>
              </a:rPr>
              <a:t>Run-</a:t>
            </a:r>
            <a:r>
              <a:rPr dirty="0" sz="3800" spc="-20">
                <a:latin typeface="Arial"/>
                <a:cs typeface="Arial"/>
              </a:rPr>
              <a:t>Time</a:t>
            </a:r>
            <a:endParaRPr sz="3800">
              <a:latin typeface="Arial"/>
              <a:cs typeface="Arial"/>
            </a:endParaRPr>
          </a:p>
          <a:p>
            <a:pPr algn="ctr" marL="12700" marR="5080">
              <a:lnSpc>
                <a:spcPts val="3200"/>
              </a:lnSpc>
              <a:spcBef>
                <a:spcPts val="880"/>
              </a:spcBef>
            </a:pPr>
            <a:r>
              <a:rPr dirty="0" sz="2900" spc="-190">
                <a:latin typeface="Arial"/>
                <a:cs typeface="Arial"/>
              </a:rPr>
              <a:t>From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 spc="-95">
                <a:latin typeface="Arial"/>
                <a:cs typeface="Arial"/>
              </a:rPr>
              <a:t>Monitoring</a:t>
            </a:r>
            <a:r>
              <a:rPr dirty="0" sz="2900" spc="-25">
                <a:latin typeface="Arial"/>
                <a:cs typeface="Arial"/>
              </a:rPr>
              <a:t> to </a:t>
            </a:r>
            <a:r>
              <a:rPr dirty="0" sz="2900" spc="-110">
                <a:latin typeface="Arial"/>
                <a:cs typeface="Arial"/>
              </a:rPr>
              <a:t>Self-</a:t>
            </a:r>
            <a:r>
              <a:rPr dirty="0" sz="2900" spc="-30">
                <a:latin typeface="Arial"/>
                <a:cs typeface="Arial"/>
              </a:rPr>
              <a:t>Optimization</a:t>
            </a:r>
            <a:endParaRPr sz="2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70033" y="8677627"/>
            <a:ext cx="5156200" cy="66929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5240" marR="5080" indent="-3175">
              <a:lnSpc>
                <a:spcPts val="2400"/>
              </a:lnSpc>
              <a:spcBef>
                <a:spcPts val="400"/>
              </a:spcBef>
            </a:pPr>
            <a:r>
              <a:rPr dirty="0" sz="2200" spc="-135">
                <a:latin typeface="Arial"/>
                <a:cs typeface="Arial"/>
              </a:rPr>
              <a:t>Assets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 spc="-175">
                <a:latin typeface="Arial"/>
                <a:cs typeface="Arial"/>
              </a:rPr>
              <a:t>make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 spc="-135">
                <a:latin typeface="Arial"/>
                <a:cs typeface="Arial"/>
              </a:rPr>
              <a:t>autonomous</a:t>
            </a:r>
            <a:r>
              <a:rPr dirty="0" sz="2200" spc="130">
                <a:latin typeface="Arial"/>
                <a:cs typeface="Arial"/>
              </a:rPr>
              <a:t> </a:t>
            </a:r>
            <a:r>
              <a:rPr dirty="0" sz="2200" spc="-114">
                <a:latin typeface="Arial"/>
                <a:cs typeface="Arial"/>
              </a:rPr>
              <a:t>decisions</a:t>
            </a:r>
            <a:r>
              <a:rPr dirty="0" sz="2200" spc="-25">
                <a:latin typeface="Arial"/>
                <a:cs typeface="Arial"/>
              </a:rPr>
              <a:t> </a:t>
            </a:r>
            <a:r>
              <a:rPr dirty="0" sz="2200" spc="-130">
                <a:latin typeface="Arial"/>
                <a:cs typeface="Arial"/>
              </a:rPr>
              <a:t>based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030303"/>
                </a:solidFill>
                <a:latin typeface="Arial"/>
                <a:cs typeface="Arial"/>
              </a:rPr>
              <a:t>on </a:t>
            </a:r>
            <a:r>
              <a:rPr dirty="0" sz="2200" spc="-110">
                <a:latin typeface="Arial"/>
                <a:cs typeface="Arial"/>
              </a:rPr>
              <a:t>original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design</a:t>
            </a:r>
            <a:r>
              <a:rPr dirty="0" sz="2200" spc="-170">
                <a:latin typeface="Arial"/>
                <a:cs typeface="Arial"/>
              </a:rPr>
              <a:t> </a:t>
            </a:r>
            <a:r>
              <a:rPr dirty="0" sz="2200" spc="-75">
                <a:latin typeface="Arial"/>
                <a:cs typeface="Arial"/>
              </a:rPr>
              <a:t>intent</a:t>
            </a:r>
            <a:r>
              <a:rPr dirty="0" sz="2200" spc="30">
                <a:latin typeface="Arial"/>
                <a:cs typeface="Arial"/>
              </a:rPr>
              <a:t> </a:t>
            </a:r>
            <a:r>
              <a:rPr dirty="0" sz="2200" spc="-170">
                <a:latin typeface="Arial"/>
                <a:cs typeface="Arial"/>
              </a:rPr>
              <a:t>and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real-world</a:t>
            </a:r>
            <a:r>
              <a:rPr dirty="0" sz="2200" spc="45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feedback.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00" y="4953000"/>
            <a:ext cx="889000" cy="2120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500" y="2705100"/>
            <a:ext cx="889000" cy="2133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7900" y="1219200"/>
            <a:ext cx="114300" cy="12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457200"/>
            <a:ext cx="3568700" cy="1778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76169" y="273755"/>
            <a:ext cx="12593955" cy="1623695"/>
          </a:xfrm>
          <a:prstGeom prst="rect"/>
        </p:spPr>
        <p:txBody>
          <a:bodyPr wrap="square" lIns="0" tIns="151765" rIns="0" bIns="0" rtlCol="0" vert="horz">
            <a:spAutoFit/>
          </a:bodyPr>
          <a:lstStyle/>
          <a:p>
            <a:pPr marL="12700" marR="5080" indent="7620">
              <a:lnSpc>
                <a:spcPts val="5750"/>
              </a:lnSpc>
              <a:spcBef>
                <a:spcPts val="1195"/>
              </a:spcBef>
            </a:pPr>
            <a:r>
              <a:rPr dirty="0" sz="5700">
                <a:latin typeface="Arial"/>
                <a:cs typeface="Arial"/>
              </a:rPr>
              <a:t>Knowledge</a:t>
            </a:r>
            <a:r>
              <a:rPr dirty="0" sz="5700" spc="240">
                <a:latin typeface="Arial"/>
                <a:cs typeface="Arial"/>
              </a:rPr>
              <a:t> </a:t>
            </a:r>
            <a:r>
              <a:rPr dirty="0" sz="5700">
                <a:latin typeface="Arial"/>
                <a:cs typeface="Arial"/>
              </a:rPr>
              <a:t>engineering</a:t>
            </a:r>
            <a:r>
              <a:rPr dirty="0" sz="5700" spc="509">
                <a:latin typeface="Arial"/>
                <a:cs typeface="Arial"/>
              </a:rPr>
              <a:t> </a:t>
            </a:r>
            <a:r>
              <a:rPr dirty="0" sz="5700" spc="70">
                <a:latin typeface="Arial"/>
                <a:cs typeface="Arial"/>
              </a:rPr>
              <a:t>unifies</a:t>
            </a:r>
            <a:r>
              <a:rPr dirty="0" sz="5700" spc="110">
                <a:latin typeface="Arial"/>
                <a:cs typeface="Arial"/>
              </a:rPr>
              <a:t> </a:t>
            </a:r>
            <a:r>
              <a:rPr dirty="0" sz="5700" spc="100">
                <a:latin typeface="Arial"/>
                <a:cs typeface="Arial"/>
              </a:rPr>
              <a:t>digital, </a:t>
            </a:r>
            <a:r>
              <a:rPr dirty="0" sz="5700">
                <a:latin typeface="Arial"/>
                <a:cs typeface="Arial"/>
              </a:rPr>
              <a:t>physical,</a:t>
            </a:r>
            <a:r>
              <a:rPr dirty="0" sz="5700" spc="-5">
                <a:latin typeface="Arial"/>
                <a:cs typeface="Arial"/>
              </a:rPr>
              <a:t> </a:t>
            </a:r>
            <a:r>
              <a:rPr dirty="0" sz="5700">
                <a:latin typeface="Arial"/>
                <a:cs typeface="Arial"/>
              </a:rPr>
              <a:t>and</a:t>
            </a:r>
            <a:r>
              <a:rPr dirty="0" sz="5700" spc="-95">
                <a:latin typeface="Arial"/>
                <a:cs typeface="Arial"/>
              </a:rPr>
              <a:t> </a:t>
            </a:r>
            <a:r>
              <a:rPr dirty="0" sz="5700">
                <a:latin typeface="Arial"/>
                <a:cs typeface="Arial"/>
              </a:rPr>
              <a:t>biological</a:t>
            </a:r>
            <a:r>
              <a:rPr dirty="0" sz="5700" spc="254">
                <a:latin typeface="Arial"/>
                <a:cs typeface="Arial"/>
              </a:rPr>
              <a:t> </a:t>
            </a:r>
            <a:r>
              <a:rPr dirty="0" sz="5700" spc="-10">
                <a:latin typeface="Arial"/>
                <a:cs typeface="Arial"/>
              </a:rPr>
              <a:t>lifecycles</a:t>
            </a:r>
            <a:endParaRPr sz="5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10508" y="9462029"/>
            <a:ext cx="1228090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500" spc="120">
                <a:latin typeface="Calibri"/>
                <a:cs typeface="Calibri"/>
              </a:rPr>
              <a:t>W</a:t>
            </a:r>
            <a:r>
              <a:rPr dirty="0" sz="1500" spc="110">
                <a:latin typeface="Calibri"/>
                <a:cs typeface="Calibri"/>
              </a:rPr>
              <a:t> </a:t>
            </a:r>
            <a:r>
              <a:rPr dirty="0" sz="1500" spc="-35">
                <a:latin typeface="Calibri"/>
                <a:cs typeface="Calibri"/>
              </a:rPr>
              <a:t>NotebaokLM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5265" y="2033058"/>
            <a:ext cx="11971655" cy="565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961630" algn="l"/>
              </a:tabLst>
            </a:pPr>
            <a:r>
              <a:rPr dirty="0" sz="3550" spc="-114">
                <a:latin typeface="Arial"/>
                <a:cs typeface="Arial"/>
              </a:rPr>
              <a:t>Design-</a:t>
            </a:r>
            <a:r>
              <a:rPr dirty="0" sz="3550" spc="-35">
                <a:latin typeface="Arial"/>
                <a:cs typeface="Arial"/>
              </a:rPr>
              <a:t>Time</a:t>
            </a:r>
            <a:r>
              <a:rPr dirty="0" sz="3550" spc="-175">
                <a:latin typeface="Arial"/>
                <a:cs typeface="Arial"/>
              </a:rPr>
              <a:t> </a:t>
            </a:r>
            <a:r>
              <a:rPr dirty="0" sz="3550" spc="-10">
                <a:latin typeface="Arial"/>
                <a:cs typeface="Arial"/>
              </a:rPr>
              <a:t>Constraints</a:t>
            </a:r>
            <a:r>
              <a:rPr dirty="0" sz="3550">
                <a:latin typeface="Arial"/>
                <a:cs typeface="Arial"/>
              </a:rPr>
              <a:t>	</a:t>
            </a:r>
            <a:r>
              <a:rPr dirty="0" sz="3550" spc="-145">
                <a:latin typeface="Arial"/>
                <a:cs typeface="Arial"/>
              </a:rPr>
              <a:t>Run-</a:t>
            </a:r>
            <a:r>
              <a:rPr dirty="0" sz="3550" spc="-80">
                <a:latin typeface="Arial"/>
                <a:cs typeface="Arial"/>
              </a:rPr>
              <a:t>Time</a:t>
            </a:r>
            <a:r>
              <a:rPr dirty="0" sz="3550" spc="-145">
                <a:latin typeface="Arial"/>
                <a:cs typeface="Arial"/>
              </a:rPr>
              <a:t> </a:t>
            </a:r>
            <a:r>
              <a:rPr dirty="0" sz="3550" spc="-10">
                <a:latin typeface="Arial"/>
                <a:cs typeface="Arial"/>
              </a:rPr>
              <a:t>Autonomy</a:t>
            </a:r>
            <a:endParaRPr sz="3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8517" y="2728382"/>
            <a:ext cx="7378700" cy="2133600"/>
          </a:xfrm>
          <a:prstGeom prst="rect">
            <a:avLst/>
          </a:prstGeom>
          <a:ln w="12700">
            <a:solidFill>
              <a:srgbClr val="484848"/>
            </a:solidFill>
          </a:ln>
        </p:spPr>
        <p:txBody>
          <a:bodyPr wrap="square" lIns="0" tIns="590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3600">
              <a:latin typeface="Times New Roman"/>
              <a:cs typeface="Times New Roman"/>
            </a:endParaRPr>
          </a:p>
          <a:p>
            <a:pPr marL="424815" marR="1462405" indent="-6985">
              <a:lnSpc>
                <a:spcPts val="3700"/>
              </a:lnSpc>
            </a:pPr>
            <a:r>
              <a:rPr dirty="0" sz="3600" spc="-204">
                <a:latin typeface="Arial"/>
                <a:cs typeface="Arial"/>
              </a:rPr>
              <a:t>Embedded</a:t>
            </a:r>
            <a:r>
              <a:rPr dirty="0" sz="3600" spc="-25">
                <a:latin typeface="Arial"/>
                <a:cs typeface="Arial"/>
              </a:rPr>
              <a:t> </a:t>
            </a:r>
            <a:r>
              <a:rPr dirty="0" sz="3600" spc="-50">
                <a:latin typeface="Arial"/>
                <a:cs typeface="Arial"/>
              </a:rPr>
              <a:t>computational </a:t>
            </a:r>
            <a:r>
              <a:rPr dirty="0" sz="3600" spc="-130">
                <a:latin typeface="Arial"/>
                <a:cs typeface="Arial"/>
              </a:rPr>
              <a:t>requirements</a:t>
            </a:r>
            <a:r>
              <a:rPr dirty="0" sz="3600" spc="-85">
                <a:latin typeface="Arial"/>
                <a:cs typeface="Arial"/>
              </a:rPr>
              <a:t> </a:t>
            </a:r>
            <a:r>
              <a:rPr dirty="0" sz="3600" spc="-210">
                <a:latin typeface="Arial"/>
                <a:cs typeface="Arial"/>
              </a:rPr>
              <a:t>and</a:t>
            </a:r>
            <a:r>
              <a:rPr dirty="0" sz="3600" spc="-240">
                <a:latin typeface="Arial"/>
                <a:cs typeface="Arial"/>
              </a:rPr>
              <a:t> </a:t>
            </a:r>
            <a:r>
              <a:rPr dirty="0" sz="3600" spc="-155">
                <a:latin typeface="Arial"/>
                <a:cs typeface="Arial"/>
              </a:rPr>
              <a:t>constraints.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8517" y="4976283"/>
            <a:ext cx="7378700" cy="2133600"/>
          </a:xfrm>
          <a:prstGeom prst="rect">
            <a:avLst/>
          </a:prstGeom>
          <a:ln w="12700">
            <a:solidFill>
              <a:srgbClr val="5B5B5B"/>
            </a:solidFill>
          </a:ln>
        </p:spPr>
        <p:txBody>
          <a:bodyPr wrap="square" lIns="0" tIns="343535" rIns="0" bIns="0" rtlCol="0" vert="horz">
            <a:spAutoFit/>
          </a:bodyPr>
          <a:lstStyle/>
          <a:p>
            <a:pPr algn="just" marL="425450" marR="1061085" indent="-6985">
              <a:lnSpc>
                <a:spcPts val="3700"/>
              </a:lnSpc>
              <a:spcBef>
                <a:spcPts val="2705"/>
              </a:spcBef>
            </a:pPr>
            <a:r>
              <a:rPr dirty="0" sz="3450" spc="-160">
                <a:latin typeface="Arial"/>
                <a:cs typeface="Arial"/>
              </a:rPr>
              <a:t>Generative</a:t>
            </a:r>
            <a:r>
              <a:rPr dirty="0" sz="3450" spc="55">
                <a:latin typeface="Arial"/>
                <a:cs typeface="Arial"/>
              </a:rPr>
              <a:t> </a:t>
            </a:r>
            <a:r>
              <a:rPr dirty="0" sz="3450" spc="-110">
                <a:latin typeface="Arial"/>
                <a:cs typeface="Arial"/>
              </a:rPr>
              <a:t>design</a:t>
            </a:r>
            <a:r>
              <a:rPr dirty="0" sz="3450" spc="15">
                <a:latin typeface="Arial"/>
                <a:cs typeface="Arial"/>
              </a:rPr>
              <a:t> </a:t>
            </a:r>
            <a:r>
              <a:rPr dirty="0" sz="3450" spc="-80">
                <a:latin typeface="Arial"/>
                <a:cs typeface="Arial"/>
              </a:rPr>
              <a:t>automatically</a:t>
            </a:r>
            <a:r>
              <a:rPr dirty="0" sz="3450" spc="-50">
                <a:latin typeface="Arial"/>
                <a:cs typeface="Arial"/>
              </a:rPr>
              <a:t> </a:t>
            </a:r>
            <a:r>
              <a:rPr dirty="0" sz="3450" spc="-125">
                <a:latin typeface="Arial"/>
                <a:cs typeface="Arial"/>
              </a:rPr>
              <a:t>accounts</a:t>
            </a:r>
            <a:r>
              <a:rPr dirty="0" sz="3450" spc="10">
                <a:latin typeface="Arial"/>
                <a:cs typeface="Arial"/>
              </a:rPr>
              <a:t> </a:t>
            </a:r>
            <a:r>
              <a:rPr dirty="0" sz="3450" spc="-85">
                <a:latin typeface="Arial"/>
                <a:cs typeface="Arial"/>
              </a:rPr>
              <a:t>for</a:t>
            </a:r>
            <a:r>
              <a:rPr dirty="0" sz="3450" spc="-65">
                <a:latin typeface="Arial"/>
                <a:cs typeface="Arial"/>
              </a:rPr>
              <a:t> </a:t>
            </a:r>
            <a:r>
              <a:rPr dirty="0" sz="3450" spc="-345">
                <a:latin typeface="Arial"/>
                <a:cs typeface="Arial"/>
              </a:rPr>
              <a:t>a</a:t>
            </a:r>
            <a:r>
              <a:rPr dirty="0" sz="3450" spc="-35">
                <a:latin typeface="Arial"/>
                <a:cs typeface="Arial"/>
              </a:rPr>
              <a:t> </a:t>
            </a:r>
            <a:r>
              <a:rPr dirty="0" sz="3450" spc="-30">
                <a:latin typeface="Arial"/>
                <a:cs typeface="Arial"/>
              </a:rPr>
              <a:t>digital</a:t>
            </a:r>
            <a:r>
              <a:rPr dirty="0" sz="3450" spc="-90">
                <a:latin typeface="Arial"/>
                <a:cs typeface="Arial"/>
              </a:rPr>
              <a:t> </a:t>
            </a:r>
            <a:r>
              <a:rPr dirty="0" sz="3450" spc="-45">
                <a:latin typeface="Arial"/>
                <a:cs typeface="Arial"/>
              </a:rPr>
              <a:t>twin's</a:t>
            </a:r>
            <a:r>
              <a:rPr dirty="0" sz="3450" spc="-35">
                <a:latin typeface="Arial"/>
                <a:cs typeface="Arial"/>
              </a:rPr>
              <a:t> </a:t>
            </a:r>
            <a:r>
              <a:rPr dirty="0" sz="3450" spc="-140">
                <a:latin typeface="Arial"/>
                <a:cs typeface="Arial"/>
              </a:rPr>
              <a:t>data</a:t>
            </a:r>
            <a:r>
              <a:rPr dirty="0" sz="3450" spc="-85">
                <a:latin typeface="Arial"/>
                <a:cs typeface="Arial"/>
              </a:rPr>
              <a:t> </a:t>
            </a:r>
            <a:r>
              <a:rPr dirty="0" sz="3450" spc="-180">
                <a:latin typeface="Arial"/>
                <a:cs typeface="Arial"/>
              </a:rPr>
              <a:t>needs.</a:t>
            </a:r>
            <a:endParaRPr sz="3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1256" y="7490177"/>
            <a:ext cx="96520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60">
                <a:solidFill>
                  <a:srgbClr val="798C79"/>
                </a:solidFill>
                <a:latin typeface="Arial"/>
                <a:cs typeface="Arial"/>
              </a:rPr>
              <a:t>'</a:t>
            </a:r>
            <a:endParaRPr sz="3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78517" y="7224183"/>
            <a:ext cx="7378700" cy="2133600"/>
          </a:xfrm>
          <a:prstGeom prst="rect">
            <a:avLst/>
          </a:prstGeom>
          <a:ln w="12700">
            <a:solidFill>
              <a:srgbClr val="4F4F4F"/>
            </a:solidFill>
          </a:ln>
        </p:spPr>
        <p:txBody>
          <a:bodyPr wrap="square" lIns="0" tIns="343535" rIns="0" bIns="0" rtlCol="0" vert="horz">
            <a:spAutoFit/>
          </a:bodyPr>
          <a:lstStyle/>
          <a:p>
            <a:pPr algn="just" marL="425450" marR="1060450" indent="-3175">
              <a:lnSpc>
                <a:spcPts val="3700"/>
              </a:lnSpc>
              <a:spcBef>
                <a:spcPts val="2705"/>
              </a:spcBef>
            </a:pPr>
            <a:r>
              <a:rPr dirty="0" sz="3450" spc="-100">
                <a:latin typeface="Arial"/>
                <a:cs typeface="Arial"/>
              </a:rPr>
              <a:t>Bio-</a:t>
            </a:r>
            <a:r>
              <a:rPr dirty="0" sz="3450" spc="-80">
                <a:latin typeface="Arial"/>
                <a:cs typeface="Arial"/>
              </a:rPr>
              <a:t>foundries</a:t>
            </a:r>
            <a:r>
              <a:rPr dirty="0" sz="3450" spc="-135">
                <a:latin typeface="Arial"/>
                <a:cs typeface="Arial"/>
              </a:rPr>
              <a:t> </a:t>
            </a:r>
            <a:r>
              <a:rPr dirty="0" sz="3450" spc="-85">
                <a:latin typeface="Arial"/>
                <a:cs typeface="Arial"/>
              </a:rPr>
              <a:t>engineer</a:t>
            </a:r>
            <a:r>
              <a:rPr dirty="0" sz="3450" spc="-25">
                <a:latin typeface="Arial"/>
                <a:cs typeface="Arial"/>
              </a:rPr>
              <a:t> </a:t>
            </a:r>
            <a:r>
              <a:rPr dirty="0" sz="3450" spc="-30">
                <a:latin typeface="Arial"/>
                <a:cs typeface="Arial"/>
              </a:rPr>
              <a:t>complex </a:t>
            </a:r>
            <a:r>
              <a:rPr dirty="0" sz="3450" spc="-10">
                <a:latin typeface="Arial"/>
                <a:cs typeface="Arial"/>
              </a:rPr>
              <a:t>living</a:t>
            </a:r>
            <a:r>
              <a:rPr dirty="0" sz="3450" spc="-30">
                <a:latin typeface="Arial"/>
                <a:cs typeface="Arial"/>
              </a:rPr>
              <a:t> </a:t>
            </a:r>
            <a:r>
              <a:rPr dirty="0" sz="3450" spc="-175">
                <a:latin typeface="Arial"/>
                <a:cs typeface="Arial"/>
              </a:rPr>
              <a:t>systems</a:t>
            </a:r>
            <a:r>
              <a:rPr dirty="0" sz="3450" spc="-25">
                <a:latin typeface="Arial"/>
                <a:cs typeface="Arial"/>
              </a:rPr>
              <a:t> </a:t>
            </a:r>
            <a:r>
              <a:rPr dirty="0" sz="3450">
                <a:latin typeface="Arial"/>
                <a:cs typeface="Arial"/>
              </a:rPr>
              <a:t>with</a:t>
            </a:r>
            <a:r>
              <a:rPr dirty="0" sz="3450" spc="-155">
                <a:latin typeface="Arial"/>
                <a:cs typeface="Arial"/>
              </a:rPr>
              <a:t> </a:t>
            </a:r>
            <a:r>
              <a:rPr dirty="0" sz="3450" spc="-75">
                <a:latin typeface="Arial"/>
                <a:cs typeface="Arial"/>
              </a:rPr>
              <a:t>circuit-</a:t>
            </a:r>
            <a:r>
              <a:rPr dirty="0" sz="3450" spc="-20">
                <a:latin typeface="Arial"/>
                <a:cs typeface="Arial"/>
              </a:rPr>
              <a:t>board </a:t>
            </a:r>
            <a:r>
              <a:rPr dirty="0" sz="3450" spc="-25">
                <a:latin typeface="Arial"/>
                <a:cs typeface="Arial"/>
              </a:rPr>
              <a:t>precision.</a:t>
            </a:r>
            <a:endParaRPr sz="3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71516" y="2728382"/>
            <a:ext cx="7569200" cy="2133600"/>
          </a:xfrm>
          <a:prstGeom prst="rect">
            <a:avLst/>
          </a:prstGeom>
          <a:ln w="12700">
            <a:solidFill>
              <a:srgbClr val="484848"/>
            </a:solidFill>
          </a:ln>
        </p:spPr>
        <p:txBody>
          <a:bodyPr wrap="square" lIns="0" tIns="349250" rIns="0" bIns="0" rtlCol="0" vert="horz">
            <a:spAutoFit/>
          </a:bodyPr>
          <a:lstStyle/>
          <a:p>
            <a:pPr marL="374015" marR="715645" indent="-3175">
              <a:lnSpc>
                <a:spcPct val="89400"/>
              </a:lnSpc>
              <a:spcBef>
                <a:spcPts val="2750"/>
              </a:spcBef>
            </a:pPr>
            <a:r>
              <a:rPr dirty="0" sz="3400" spc="-80">
                <a:latin typeface="Arial"/>
                <a:cs typeface="Arial"/>
              </a:rPr>
              <a:t>Self-</a:t>
            </a:r>
            <a:r>
              <a:rPr dirty="0" sz="3400" spc="-40">
                <a:latin typeface="Arial"/>
                <a:cs typeface="Arial"/>
              </a:rPr>
              <a:t>healing</a:t>
            </a:r>
            <a:r>
              <a:rPr dirty="0" sz="3400" spc="-105">
                <a:latin typeface="Arial"/>
                <a:cs typeface="Arial"/>
              </a:rPr>
              <a:t> </a:t>
            </a:r>
            <a:r>
              <a:rPr dirty="0" sz="3400" spc="-65">
                <a:latin typeface="Arial"/>
                <a:cs typeface="Arial"/>
              </a:rPr>
              <a:t>code</a:t>
            </a:r>
            <a:r>
              <a:rPr dirty="0" sz="3400" spc="-170">
                <a:latin typeface="Arial"/>
                <a:cs typeface="Arial"/>
              </a:rPr>
              <a:t> </a:t>
            </a:r>
            <a:r>
              <a:rPr dirty="0" sz="3400" spc="-25">
                <a:latin typeface="Arial"/>
                <a:cs typeface="Arial"/>
              </a:rPr>
              <a:t>rewrites</a:t>
            </a:r>
            <a:r>
              <a:rPr dirty="0" sz="3400" spc="-215">
                <a:latin typeface="Arial"/>
                <a:cs typeface="Arial"/>
              </a:rPr>
              <a:t> </a:t>
            </a:r>
            <a:r>
              <a:rPr dirty="0" sz="3400" spc="-95">
                <a:latin typeface="Arial"/>
                <a:cs typeface="Arial"/>
              </a:rPr>
              <a:t>resource </a:t>
            </a:r>
            <a:r>
              <a:rPr dirty="0" sz="3450" spc="-50">
                <a:latin typeface="Arial"/>
                <a:cs typeface="Arial"/>
              </a:rPr>
              <a:t>allocation</a:t>
            </a:r>
            <a:r>
              <a:rPr dirty="0" sz="3450" spc="-130">
                <a:latin typeface="Arial"/>
                <a:cs typeface="Arial"/>
              </a:rPr>
              <a:t> </a:t>
            </a:r>
            <a:r>
              <a:rPr dirty="0" sz="3450" spc="-90">
                <a:latin typeface="Arial"/>
                <a:cs typeface="Arial"/>
              </a:rPr>
              <a:t>logic;</a:t>
            </a:r>
            <a:r>
              <a:rPr dirty="0" sz="3450" spc="-170">
                <a:latin typeface="Arial"/>
                <a:cs typeface="Arial"/>
              </a:rPr>
              <a:t> </a:t>
            </a:r>
            <a:r>
              <a:rPr dirty="0" sz="3450" spc="-10">
                <a:latin typeface="Arial"/>
                <a:cs typeface="Arial"/>
              </a:rPr>
              <a:t>autonomous </a:t>
            </a:r>
            <a:r>
              <a:rPr dirty="0" sz="3400" spc="-40">
                <a:latin typeface="Arial"/>
                <a:cs typeface="Arial"/>
              </a:rPr>
              <a:t>cybersecurity</a:t>
            </a:r>
            <a:r>
              <a:rPr dirty="0" sz="3400" spc="-160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reasoning.</a:t>
            </a:r>
            <a:endParaRPr sz="3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71516" y="4976283"/>
            <a:ext cx="7569200" cy="2133600"/>
          </a:xfrm>
          <a:prstGeom prst="rect">
            <a:avLst/>
          </a:prstGeom>
          <a:ln w="12700">
            <a:solidFill>
              <a:srgbClr val="575B57"/>
            </a:solidFill>
          </a:ln>
        </p:spPr>
        <p:txBody>
          <a:bodyPr wrap="square" lIns="0" tIns="343535" rIns="0" bIns="0" rtlCol="0" vert="horz">
            <a:spAutoFit/>
          </a:bodyPr>
          <a:lstStyle/>
          <a:p>
            <a:pPr marL="375920" marR="330200" indent="3175">
              <a:lnSpc>
                <a:spcPts val="3700"/>
              </a:lnSpc>
              <a:spcBef>
                <a:spcPts val="2705"/>
              </a:spcBef>
            </a:pPr>
            <a:r>
              <a:rPr dirty="0" sz="3400" spc="-235">
                <a:latin typeface="Arial"/>
                <a:cs typeface="Arial"/>
              </a:rPr>
              <a:t>A</a:t>
            </a:r>
            <a:r>
              <a:rPr dirty="0" sz="3400" spc="-114">
                <a:latin typeface="Arial"/>
                <a:cs typeface="Arial"/>
              </a:rPr>
              <a:t> </a:t>
            </a:r>
            <a:r>
              <a:rPr dirty="0" sz="3400">
                <a:latin typeface="Arial"/>
                <a:cs typeface="Arial"/>
              </a:rPr>
              <a:t>bridge</a:t>
            </a:r>
            <a:r>
              <a:rPr dirty="0" sz="3400" spc="-240">
                <a:latin typeface="Arial"/>
                <a:cs typeface="Arial"/>
              </a:rPr>
              <a:t> </a:t>
            </a:r>
            <a:r>
              <a:rPr dirty="0" sz="3400" spc="-90">
                <a:latin typeface="Arial"/>
                <a:cs typeface="Arial"/>
              </a:rPr>
              <a:t>knows</a:t>
            </a:r>
            <a:r>
              <a:rPr dirty="0" sz="3400" spc="-145">
                <a:latin typeface="Arial"/>
                <a:cs typeface="Arial"/>
              </a:rPr>
              <a:t> </a:t>
            </a:r>
            <a:r>
              <a:rPr dirty="0" sz="3400">
                <a:latin typeface="Arial"/>
                <a:cs typeface="Arial"/>
              </a:rPr>
              <a:t>its</a:t>
            </a:r>
            <a:r>
              <a:rPr dirty="0" sz="3400" spc="-240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structural</a:t>
            </a:r>
            <a:r>
              <a:rPr dirty="0" sz="3400" spc="-70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limits </a:t>
            </a:r>
            <a:r>
              <a:rPr dirty="0" sz="3400" spc="-50">
                <a:latin typeface="Arial"/>
                <a:cs typeface="Arial"/>
              </a:rPr>
              <a:t>and</a:t>
            </a:r>
            <a:r>
              <a:rPr dirty="0" sz="3400" spc="-190">
                <a:latin typeface="Arial"/>
                <a:cs typeface="Arial"/>
              </a:rPr>
              <a:t> </a:t>
            </a:r>
            <a:r>
              <a:rPr dirty="0" sz="3400" spc="-45">
                <a:latin typeface="Arial"/>
                <a:cs typeface="Arial"/>
              </a:rPr>
              <a:t>autonomously</a:t>
            </a:r>
            <a:r>
              <a:rPr dirty="0" sz="3400" spc="65">
                <a:latin typeface="Arial"/>
                <a:cs typeface="Arial"/>
              </a:rPr>
              <a:t> </a:t>
            </a:r>
            <a:r>
              <a:rPr dirty="0" sz="3400" spc="-70">
                <a:latin typeface="Arial"/>
                <a:cs typeface="Arial"/>
              </a:rPr>
              <a:t>reroutes</a:t>
            </a:r>
            <a:r>
              <a:rPr dirty="0" sz="3400" spc="-35">
                <a:latin typeface="Arial"/>
                <a:cs typeface="Arial"/>
              </a:rPr>
              <a:t> </a:t>
            </a:r>
            <a:r>
              <a:rPr dirty="0" sz="3400">
                <a:latin typeface="Arial"/>
                <a:cs typeface="Arial"/>
              </a:rPr>
              <a:t>traffic</a:t>
            </a:r>
            <a:r>
              <a:rPr dirty="0" sz="3400" spc="-60">
                <a:latin typeface="Arial"/>
                <a:cs typeface="Arial"/>
              </a:rPr>
              <a:t> </a:t>
            </a:r>
            <a:r>
              <a:rPr dirty="0" sz="3400">
                <a:latin typeface="Arial"/>
                <a:cs typeface="Arial"/>
              </a:rPr>
              <a:t>if</a:t>
            </a:r>
            <a:r>
              <a:rPr dirty="0" sz="3400" spc="-225">
                <a:latin typeface="Arial"/>
                <a:cs typeface="Arial"/>
              </a:rPr>
              <a:t> </a:t>
            </a:r>
            <a:r>
              <a:rPr dirty="0" sz="3400" spc="-470">
                <a:latin typeface="Arial"/>
                <a:cs typeface="Arial"/>
              </a:rPr>
              <a:t>a </a:t>
            </a:r>
            <a:r>
              <a:rPr dirty="0" sz="3400" spc="-130">
                <a:latin typeface="Arial"/>
                <a:cs typeface="Arial"/>
              </a:rPr>
              <a:t>sensor</a:t>
            </a:r>
            <a:r>
              <a:rPr dirty="0" sz="3400" spc="-110">
                <a:latin typeface="Arial"/>
                <a:cs typeface="Arial"/>
              </a:rPr>
              <a:t> </a:t>
            </a:r>
            <a:r>
              <a:rPr dirty="0" sz="3400" spc="-35">
                <a:latin typeface="Arial"/>
                <a:cs typeface="Arial"/>
              </a:rPr>
              <a:t>detects</a:t>
            </a:r>
            <a:r>
              <a:rPr dirty="0" sz="3400" spc="-155">
                <a:latin typeface="Arial"/>
                <a:cs typeface="Arial"/>
              </a:rPr>
              <a:t> </a:t>
            </a:r>
            <a:r>
              <a:rPr dirty="0" sz="3400" spc="-420">
                <a:latin typeface="Arial"/>
                <a:cs typeface="Arial"/>
              </a:rPr>
              <a:t>a</a:t>
            </a:r>
            <a:r>
              <a:rPr dirty="0" sz="3400" spc="-35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crack.</a:t>
            </a:r>
            <a:endParaRPr sz="3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71516" y="7224183"/>
            <a:ext cx="7569200" cy="2133600"/>
          </a:xfrm>
          <a:prstGeom prst="rect">
            <a:avLst/>
          </a:prstGeom>
          <a:ln w="12700">
            <a:solidFill>
              <a:srgbClr val="4F4F4F"/>
            </a:solidFill>
          </a:ln>
        </p:spPr>
        <p:txBody>
          <a:bodyPr wrap="square" lIns="0" tIns="343535" rIns="0" bIns="0" rtlCol="0" vert="horz">
            <a:spAutoFit/>
          </a:bodyPr>
          <a:lstStyle/>
          <a:p>
            <a:pPr marL="375920" marR="412750" indent="-3810">
              <a:lnSpc>
                <a:spcPts val="3700"/>
              </a:lnSpc>
              <a:spcBef>
                <a:spcPts val="2705"/>
              </a:spcBef>
            </a:pPr>
            <a:r>
              <a:rPr dirty="0" sz="3400" spc="-70">
                <a:latin typeface="Arial"/>
                <a:cs typeface="Arial"/>
              </a:rPr>
              <a:t>Bioreactors</a:t>
            </a:r>
            <a:r>
              <a:rPr dirty="0" sz="3400" spc="-85">
                <a:latin typeface="Arial"/>
                <a:cs typeface="Arial"/>
              </a:rPr>
              <a:t> </a:t>
            </a:r>
            <a:r>
              <a:rPr dirty="0" sz="3400" spc="-45">
                <a:latin typeface="Arial"/>
                <a:cs typeface="Arial"/>
              </a:rPr>
              <a:t>adjust</a:t>
            </a:r>
            <a:r>
              <a:rPr dirty="0" sz="3400" spc="-125">
                <a:latin typeface="Arial"/>
                <a:cs typeface="Arial"/>
              </a:rPr>
              <a:t> </a:t>
            </a:r>
            <a:r>
              <a:rPr dirty="0" sz="3400" spc="-40">
                <a:latin typeface="Arial"/>
                <a:cs typeface="Arial"/>
              </a:rPr>
              <a:t>chemical</a:t>
            </a:r>
            <a:r>
              <a:rPr dirty="0" sz="3400" spc="-195">
                <a:latin typeface="Arial"/>
                <a:cs typeface="Arial"/>
              </a:rPr>
              <a:t> </a:t>
            </a:r>
            <a:r>
              <a:rPr dirty="0" sz="3400">
                <a:latin typeface="Arial"/>
                <a:cs typeface="Arial"/>
              </a:rPr>
              <a:t>inputs</a:t>
            </a:r>
            <a:r>
              <a:rPr dirty="0" sz="3400" spc="-240">
                <a:latin typeface="Arial"/>
                <a:cs typeface="Arial"/>
              </a:rPr>
              <a:t> </a:t>
            </a:r>
            <a:r>
              <a:rPr dirty="0" sz="3400" spc="-25">
                <a:latin typeface="Arial"/>
                <a:cs typeface="Arial"/>
              </a:rPr>
              <a:t>in </a:t>
            </a:r>
            <a:r>
              <a:rPr dirty="0" sz="3400" spc="-55">
                <a:latin typeface="Arial"/>
                <a:cs typeface="Arial"/>
              </a:rPr>
              <a:t>real-</a:t>
            </a:r>
            <a:r>
              <a:rPr dirty="0" sz="3400">
                <a:latin typeface="Arial"/>
                <a:cs typeface="Arial"/>
              </a:rPr>
              <a:t>time</a:t>
            </a:r>
            <a:r>
              <a:rPr dirty="0" sz="3400" spc="-200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by</a:t>
            </a:r>
            <a:r>
              <a:rPr dirty="0" sz="3400" spc="-229">
                <a:latin typeface="Arial"/>
                <a:cs typeface="Arial"/>
              </a:rPr>
              <a:t> </a:t>
            </a:r>
            <a:r>
              <a:rPr dirty="0" sz="3400" spc="-35">
                <a:latin typeface="Arial"/>
                <a:cs typeface="Arial"/>
              </a:rPr>
              <a:t>understanding</a:t>
            </a:r>
            <a:r>
              <a:rPr dirty="0" sz="3400" spc="-85">
                <a:latin typeface="Arial"/>
                <a:cs typeface="Arial"/>
              </a:rPr>
              <a:t> </a:t>
            </a:r>
            <a:r>
              <a:rPr dirty="0" sz="3400" spc="-25">
                <a:latin typeface="Arial"/>
                <a:cs typeface="Arial"/>
              </a:rPr>
              <a:t>the </a:t>
            </a:r>
            <a:r>
              <a:rPr dirty="0" sz="3400" spc="-65">
                <a:latin typeface="Arial"/>
                <a:cs typeface="Arial"/>
              </a:rPr>
              <a:t>organism's</a:t>
            </a:r>
            <a:r>
              <a:rPr dirty="0" sz="3400" spc="-175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metabolic</a:t>
            </a:r>
            <a:r>
              <a:rPr dirty="0" sz="3400" spc="-204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pathway.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00" y="2146300"/>
            <a:ext cx="15621000" cy="6667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53744" y="189794"/>
            <a:ext cx="12721590" cy="8724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50" spc="-290">
                <a:latin typeface="Calibri"/>
                <a:cs typeface="Calibri"/>
              </a:rPr>
              <a:t>Moving</a:t>
            </a:r>
            <a:r>
              <a:rPr dirty="0" sz="5550" spc="125">
                <a:latin typeface="Calibri"/>
                <a:cs typeface="Calibri"/>
              </a:rPr>
              <a:t> </a:t>
            </a:r>
            <a:r>
              <a:rPr dirty="0" sz="5550" spc="-290">
                <a:latin typeface="Calibri"/>
                <a:cs typeface="Calibri"/>
              </a:rPr>
              <a:t>beyond</a:t>
            </a:r>
            <a:r>
              <a:rPr dirty="0" sz="5550" spc="-90">
                <a:latin typeface="Calibri"/>
                <a:cs typeface="Calibri"/>
              </a:rPr>
              <a:t> </a:t>
            </a:r>
            <a:r>
              <a:rPr dirty="0" sz="5550" spc="-254">
                <a:latin typeface="Calibri"/>
                <a:cs typeface="Calibri"/>
              </a:rPr>
              <a:t>the</a:t>
            </a:r>
            <a:r>
              <a:rPr dirty="0" sz="5550" spc="-155">
                <a:latin typeface="Calibri"/>
                <a:cs typeface="Calibri"/>
              </a:rPr>
              <a:t> </a:t>
            </a:r>
            <a:r>
              <a:rPr dirty="0" sz="5550" spc="-135">
                <a:latin typeface="Calibri"/>
                <a:cs typeface="Calibri"/>
              </a:rPr>
              <a:t>fragile</a:t>
            </a:r>
            <a:r>
              <a:rPr dirty="0" sz="5550" spc="-110">
                <a:latin typeface="Calibri"/>
                <a:cs typeface="Calibri"/>
              </a:rPr>
              <a:t> </a:t>
            </a:r>
            <a:r>
              <a:rPr dirty="0" sz="5550" spc="-35">
                <a:latin typeface="Calibri"/>
                <a:cs typeface="Calibri"/>
              </a:rPr>
              <a:t>single</a:t>
            </a:r>
            <a:r>
              <a:rPr dirty="0" sz="5550" spc="-225">
                <a:latin typeface="Calibri"/>
                <a:cs typeface="Calibri"/>
              </a:rPr>
              <a:t> </a:t>
            </a:r>
            <a:r>
              <a:rPr dirty="0" sz="5550" spc="-155">
                <a:latin typeface="Calibri"/>
                <a:cs typeface="Calibri"/>
              </a:rPr>
              <a:t>source</a:t>
            </a:r>
            <a:r>
              <a:rPr dirty="0" sz="5550" spc="-160">
                <a:latin typeface="Calibri"/>
                <a:cs typeface="Calibri"/>
              </a:rPr>
              <a:t> </a:t>
            </a:r>
            <a:r>
              <a:rPr dirty="0" sz="5550" spc="-125">
                <a:latin typeface="Calibri"/>
                <a:cs typeface="Calibri"/>
              </a:rPr>
              <a:t>of</a:t>
            </a:r>
            <a:r>
              <a:rPr dirty="0" sz="5550" spc="-130">
                <a:latin typeface="Calibri"/>
                <a:cs typeface="Calibri"/>
              </a:rPr>
              <a:t> </a:t>
            </a:r>
            <a:r>
              <a:rPr dirty="0" sz="5550" spc="-315">
                <a:latin typeface="Calibri"/>
                <a:cs typeface="Calibri"/>
              </a:rPr>
              <a:t>truth</a:t>
            </a:r>
            <a:endParaRPr sz="5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10508" y="9462029"/>
            <a:ext cx="1228090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500" spc="120">
                <a:latin typeface="Calibri"/>
                <a:cs typeface="Calibri"/>
              </a:rPr>
              <a:t>W</a:t>
            </a:r>
            <a:r>
              <a:rPr dirty="0" sz="1500" spc="110">
                <a:latin typeface="Calibri"/>
                <a:cs typeface="Calibri"/>
              </a:rPr>
              <a:t> </a:t>
            </a:r>
            <a:r>
              <a:rPr dirty="0" sz="1500" spc="-35">
                <a:latin typeface="Calibri"/>
                <a:cs typeface="Calibri"/>
              </a:rPr>
              <a:t>NotebaokLM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786" y="1001536"/>
            <a:ext cx="13225144" cy="964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3600"/>
              </a:lnSpc>
              <a:spcBef>
                <a:spcPts val="110"/>
              </a:spcBef>
            </a:pPr>
            <a:r>
              <a:rPr dirty="0" sz="3250" spc="-110">
                <a:latin typeface="Calibri"/>
                <a:cs typeface="Calibri"/>
              </a:rPr>
              <a:t>Managing</a:t>
            </a:r>
            <a:r>
              <a:rPr dirty="0" sz="3250" spc="65">
                <a:latin typeface="Calibri"/>
                <a:cs typeface="Calibri"/>
              </a:rPr>
              <a:t> </a:t>
            </a:r>
            <a:r>
              <a:rPr dirty="0" sz="3250" spc="-55">
                <a:latin typeface="Calibri"/>
                <a:cs typeface="Calibri"/>
              </a:rPr>
              <a:t>scale,</a:t>
            </a:r>
            <a:r>
              <a:rPr dirty="0" sz="3250" spc="-155">
                <a:latin typeface="Calibri"/>
                <a:cs typeface="Calibri"/>
              </a:rPr>
              <a:t> </a:t>
            </a:r>
            <a:r>
              <a:rPr dirty="0" sz="3250" spc="-140">
                <a:latin typeface="Calibri"/>
                <a:cs typeface="Calibri"/>
              </a:rPr>
              <a:t>complexity,</a:t>
            </a:r>
            <a:r>
              <a:rPr dirty="0" sz="3250" spc="-20">
                <a:latin typeface="Calibri"/>
                <a:cs typeface="Calibri"/>
              </a:rPr>
              <a:t> </a:t>
            </a:r>
            <a:r>
              <a:rPr dirty="0" sz="3250" spc="-130">
                <a:latin typeface="Calibri"/>
                <a:cs typeface="Calibri"/>
              </a:rPr>
              <a:t>and</a:t>
            </a:r>
            <a:r>
              <a:rPr dirty="0" sz="3250" spc="-55">
                <a:latin typeface="Calibri"/>
                <a:cs typeface="Calibri"/>
              </a:rPr>
              <a:t> </a:t>
            </a:r>
            <a:r>
              <a:rPr dirty="0" sz="3250" spc="-185">
                <a:latin typeface="Calibri"/>
                <a:cs typeface="Calibri"/>
              </a:rPr>
              <a:t>autonomy</a:t>
            </a:r>
            <a:r>
              <a:rPr dirty="0" sz="3250">
                <a:latin typeface="Calibri"/>
                <a:cs typeface="Calibri"/>
              </a:rPr>
              <a:t> </a:t>
            </a:r>
            <a:r>
              <a:rPr dirty="0" sz="3250" spc="-130">
                <a:latin typeface="Calibri"/>
                <a:cs typeface="Calibri"/>
              </a:rPr>
              <a:t>requires</a:t>
            </a:r>
            <a:r>
              <a:rPr dirty="0" sz="3250" spc="-10">
                <a:latin typeface="Calibri"/>
                <a:cs typeface="Calibri"/>
              </a:rPr>
              <a:t> </a:t>
            </a:r>
            <a:r>
              <a:rPr dirty="0" sz="3250" spc="125">
                <a:latin typeface="Calibri"/>
                <a:cs typeface="Calibri"/>
              </a:rPr>
              <a:t>a</a:t>
            </a:r>
            <a:r>
              <a:rPr dirty="0" sz="3250" spc="-240">
                <a:latin typeface="Calibri"/>
                <a:cs typeface="Calibri"/>
              </a:rPr>
              <a:t> </a:t>
            </a:r>
            <a:r>
              <a:rPr dirty="0" sz="3250" spc="-114">
                <a:latin typeface="Calibri"/>
                <a:cs typeface="Calibri"/>
              </a:rPr>
              <a:t>federated</a:t>
            </a:r>
            <a:r>
              <a:rPr dirty="0" sz="3250" spc="-50">
                <a:latin typeface="Calibri"/>
                <a:cs typeface="Calibri"/>
              </a:rPr>
              <a:t> </a:t>
            </a:r>
            <a:r>
              <a:rPr dirty="0" sz="3250" spc="-105">
                <a:latin typeface="Calibri"/>
                <a:cs typeface="Calibri"/>
              </a:rPr>
              <a:t>topology</a:t>
            </a:r>
            <a:r>
              <a:rPr dirty="0" sz="3250" spc="-5">
                <a:latin typeface="Calibri"/>
                <a:cs typeface="Calibri"/>
              </a:rPr>
              <a:t> </a:t>
            </a:r>
            <a:r>
              <a:rPr dirty="0" sz="3250" spc="-85">
                <a:latin typeface="Calibri"/>
                <a:cs typeface="Calibri"/>
              </a:rPr>
              <a:t>distributed</a:t>
            </a:r>
            <a:endParaRPr sz="3250">
              <a:latin typeface="Calibri"/>
              <a:cs typeface="Calibri"/>
            </a:endParaRPr>
          </a:p>
          <a:p>
            <a:pPr algn="ctr">
              <a:lnSpc>
                <a:spcPts val="3779"/>
              </a:lnSpc>
            </a:pPr>
            <a:r>
              <a:rPr dirty="0" sz="3400" spc="-65">
                <a:latin typeface="Calibri"/>
                <a:cs typeface="Calibri"/>
              </a:rPr>
              <a:t>across</a:t>
            </a:r>
            <a:r>
              <a:rPr dirty="0" sz="3400" spc="-130">
                <a:latin typeface="Calibri"/>
                <a:cs typeface="Calibri"/>
              </a:rPr>
              <a:t> </a:t>
            </a:r>
            <a:r>
              <a:rPr dirty="0" sz="3400" spc="-120">
                <a:latin typeface="Calibri"/>
                <a:cs typeface="Calibri"/>
              </a:rPr>
              <a:t>specialized</a:t>
            </a:r>
            <a:r>
              <a:rPr dirty="0" sz="3400" spc="65">
                <a:latin typeface="Calibri"/>
                <a:cs typeface="Calibri"/>
              </a:rPr>
              <a:t> </a:t>
            </a:r>
            <a:r>
              <a:rPr dirty="0" sz="3400" spc="-175">
                <a:latin typeface="Calibri"/>
                <a:cs typeface="Calibri"/>
              </a:rPr>
              <a:t>domains</a:t>
            </a:r>
            <a:r>
              <a:rPr dirty="0" sz="3400" spc="45">
                <a:latin typeface="Calibri"/>
                <a:cs typeface="Calibri"/>
              </a:rPr>
              <a:t> </a:t>
            </a:r>
            <a:r>
              <a:rPr dirty="0" sz="3400" spc="-270">
                <a:latin typeface="Calibri"/>
                <a:cs typeface="Calibri"/>
              </a:rPr>
              <a:t>to</a:t>
            </a:r>
            <a:r>
              <a:rPr dirty="0" sz="3400" spc="-75">
                <a:latin typeface="Calibri"/>
                <a:cs typeface="Calibri"/>
              </a:rPr>
              <a:t> </a:t>
            </a:r>
            <a:r>
              <a:rPr dirty="0" sz="3400" spc="-130">
                <a:latin typeface="Calibri"/>
                <a:cs typeface="Calibri"/>
              </a:rPr>
              <a:t>assure</a:t>
            </a:r>
            <a:r>
              <a:rPr dirty="0" sz="3400" spc="-105">
                <a:latin typeface="Calibri"/>
                <a:cs typeface="Calibri"/>
              </a:rPr>
              <a:t> </a:t>
            </a:r>
            <a:r>
              <a:rPr dirty="0" sz="3400" spc="-125">
                <a:latin typeface="Calibri"/>
                <a:cs typeface="Calibri"/>
              </a:rPr>
              <a:t>reliability</a:t>
            </a:r>
            <a:r>
              <a:rPr dirty="0" sz="3400" spc="-70">
                <a:latin typeface="Calibri"/>
                <a:cs typeface="Calibri"/>
              </a:rPr>
              <a:t> </a:t>
            </a:r>
            <a:r>
              <a:rPr dirty="0" sz="3400" spc="-150">
                <a:latin typeface="Calibri"/>
                <a:cs typeface="Calibri"/>
              </a:rPr>
              <a:t>and</a:t>
            </a:r>
            <a:r>
              <a:rPr dirty="0" sz="3400" spc="-260">
                <a:latin typeface="Calibri"/>
                <a:cs typeface="Calibri"/>
              </a:rPr>
              <a:t> </a:t>
            </a:r>
            <a:r>
              <a:rPr dirty="0" sz="3400" spc="-25">
                <a:latin typeface="Calibri"/>
                <a:cs typeface="Calibri"/>
              </a:rPr>
              <a:t>resilience.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1155" y="8936214"/>
            <a:ext cx="381571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>
                <a:latin typeface="Arial"/>
                <a:cs typeface="Arial"/>
              </a:rPr>
              <a:t>Single</a:t>
            </a:r>
            <a:r>
              <a:rPr dirty="0" sz="2950" spc="-7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Source</a:t>
            </a:r>
            <a:r>
              <a:rPr dirty="0" sz="2950" spc="100">
                <a:latin typeface="Arial"/>
                <a:cs typeface="Arial"/>
              </a:rPr>
              <a:t> </a:t>
            </a:r>
            <a:r>
              <a:rPr dirty="0" sz="2950" spc="80">
                <a:latin typeface="Arial"/>
                <a:cs typeface="Arial"/>
              </a:rPr>
              <a:t>of</a:t>
            </a:r>
            <a:r>
              <a:rPr dirty="0" sz="2950" spc="-95">
                <a:latin typeface="Arial"/>
                <a:cs typeface="Arial"/>
              </a:rPr>
              <a:t> </a:t>
            </a:r>
            <a:r>
              <a:rPr dirty="0" sz="2950" spc="40">
                <a:latin typeface="Arial"/>
                <a:cs typeface="Arial"/>
              </a:rPr>
              <a:t>Truth</a:t>
            </a:r>
            <a:endParaRPr sz="2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18799" y="8856839"/>
            <a:ext cx="391604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55">
                <a:latin typeface="Calibri"/>
                <a:cs typeface="Calibri"/>
              </a:rPr>
              <a:t>Single</a:t>
            </a:r>
            <a:r>
              <a:rPr dirty="0" sz="3600" spc="-190">
                <a:latin typeface="Calibri"/>
                <a:cs typeface="Calibri"/>
              </a:rPr>
              <a:t> </a:t>
            </a:r>
            <a:r>
              <a:rPr dirty="0" sz="3600" spc="-150">
                <a:latin typeface="Calibri"/>
                <a:cs typeface="Calibri"/>
              </a:rPr>
              <a:t>Version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 spc="-95">
                <a:latin typeface="Calibri"/>
                <a:cs typeface="Calibri"/>
              </a:rPr>
              <a:t>of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 spc="-140">
                <a:latin typeface="Calibri"/>
                <a:cs typeface="Calibri"/>
              </a:rPr>
              <a:t>Truth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90700"/>
            <a:ext cx="12306300" cy="60833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1762" rIns="0" bIns="0" rtlCol="0" vert="horz">
            <a:spAutoFit/>
          </a:bodyPr>
          <a:lstStyle/>
          <a:p>
            <a:pPr marL="613410">
              <a:lnSpc>
                <a:spcPct val="100000"/>
              </a:lnSpc>
              <a:spcBef>
                <a:spcPts val="120"/>
              </a:spcBef>
            </a:pPr>
            <a:r>
              <a:rPr dirty="0" sz="4700">
                <a:latin typeface="Arial"/>
                <a:cs typeface="Arial"/>
              </a:rPr>
              <a:t>Breaking</a:t>
            </a:r>
            <a:r>
              <a:rPr dirty="0" sz="4700" spc="125">
                <a:latin typeface="Arial"/>
                <a:cs typeface="Arial"/>
              </a:rPr>
              <a:t> </a:t>
            </a:r>
            <a:r>
              <a:rPr dirty="0" sz="4700">
                <a:latin typeface="Arial"/>
                <a:cs typeface="Arial"/>
              </a:rPr>
              <a:t>semantic</a:t>
            </a:r>
            <a:r>
              <a:rPr dirty="0" sz="4700" spc="290">
                <a:latin typeface="Arial"/>
                <a:cs typeface="Arial"/>
              </a:rPr>
              <a:t> </a:t>
            </a:r>
            <a:r>
              <a:rPr dirty="0" sz="4700">
                <a:latin typeface="Arial"/>
                <a:cs typeface="Arial"/>
              </a:rPr>
              <a:t>silos</a:t>
            </a:r>
            <a:r>
              <a:rPr dirty="0" sz="4700" spc="-135">
                <a:latin typeface="Arial"/>
                <a:cs typeface="Arial"/>
              </a:rPr>
              <a:t> </a:t>
            </a:r>
            <a:r>
              <a:rPr dirty="0" sz="4700">
                <a:latin typeface="Arial"/>
                <a:cs typeface="Arial"/>
              </a:rPr>
              <a:t>through</a:t>
            </a:r>
            <a:r>
              <a:rPr dirty="0" sz="4700" spc="150">
                <a:latin typeface="Arial"/>
                <a:cs typeface="Arial"/>
              </a:rPr>
              <a:t> </a:t>
            </a:r>
            <a:r>
              <a:rPr dirty="0" sz="4700" spc="-340">
                <a:latin typeface="Arial"/>
                <a:cs typeface="Arial"/>
              </a:rPr>
              <a:t>a</a:t>
            </a:r>
            <a:r>
              <a:rPr dirty="0" sz="4700" spc="15">
                <a:latin typeface="Arial"/>
                <a:cs typeface="Arial"/>
              </a:rPr>
              <a:t> </a:t>
            </a:r>
            <a:r>
              <a:rPr dirty="0" sz="4700">
                <a:latin typeface="Arial"/>
                <a:cs typeface="Arial"/>
              </a:rPr>
              <a:t>Common</a:t>
            </a:r>
            <a:r>
              <a:rPr dirty="0" sz="4700" spc="150">
                <a:latin typeface="Arial"/>
                <a:cs typeface="Arial"/>
              </a:rPr>
              <a:t> </a:t>
            </a:r>
            <a:r>
              <a:rPr dirty="0" sz="4700">
                <a:latin typeface="Arial"/>
                <a:cs typeface="Arial"/>
              </a:rPr>
              <a:t>Logic</a:t>
            </a:r>
            <a:r>
              <a:rPr dirty="0" sz="4700" spc="145">
                <a:latin typeface="Arial"/>
                <a:cs typeface="Arial"/>
              </a:rPr>
              <a:t> </a:t>
            </a:r>
            <a:r>
              <a:rPr dirty="0" sz="4700" spc="-10">
                <a:latin typeface="Arial"/>
                <a:cs typeface="Arial"/>
              </a:rPr>
              <a:t>Layer</a:t>
            </a:r>
            <a:endParaRPr sz="4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10508" y="9462029"/>
            <a:ext cx="1228090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500" spc="120">
                <a:latin typeface="Calibri"/>
                <a:cs typeface="Calibri"/>
              </a:rPr>
              <a:t>W</a:t>
            </a:r>
            <a:r>
              <a:rPr dirty="0" sz="1500" spc="110">
                <a:latin typeface="Calibri"/>
                <a:cs typeface="Calibri"/>
              </a:rPr>
              <a:t> </a:t>
            </a:r>
            <a:r>
              <a:rPr dirty="0" sz="1500" spc="-35">
                <a:latin typeface="Calibri"/>
                <a:cs typeface="Calibri"/>
              </a:rPr>
              <a:t>NotebaokLM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6695" y="6231113"/>
            <a:ext cx="2577465" cy="925194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 indent="100330">
              <a:lnSpc>
                <a:spcPts val="3500"/>
              </a:lnSpc>
              <a:spcBef>
                <a:spcPts val="280"/>
              </a:spcBef>
            </a:pPr>
            <a:r>
              <a:rPr dirty="0" sz="2950" spc="-55">
                <a:latin typeface="Arial"/>
                <a:cs typeface="Arial"/>
              </a:rPr>
              <a:t>Cross-</a:t>
            </a:r>
            <a:r>
              <a:rPr dirty="0" sz="2950" spc="-10">
                <a:latin typeface="Arial"/>
                <a:cs typeface="Arial"/>
              </a:rPr>
              <a:t>Domain Ontologies</a:t>
            </a:r>
            <a:r>
              <a:rPr dirty="0" sz="2950" spc="-190">
                <a:latin typeface="Arial"/>
                <a:cs typeface="Arial"/>
              </a:rPr>
              <a:t> </a:t>
            </a:r>
            <a:r>
              <a:rPr dirty="0" sz="2950" spc="-125">
                <a:latin typeface="Arial"/>
                <a:cs typeface="Arial"/>
              </a:rPr>
              <a:t>(KE)</a:t>
            </a:r>
            <a:endParaRPr sz="2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98983" y="4023783"/>
            <a:ext cx="3584575" cy="830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>
                <a:latin typeface="Arial"/>
                <a:cs typeface="Arial"/>
              </a:rPr>
              <a:t>Common</a:t>
            </a:r>
            <a:r>
              <a:rPr dirty="0" sz="2900" spc="6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Logic</a:t>
            </a:r>
            <a:r>
              <a:rPr dirty="0" sz="2900" spc="3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Layer</a:t>
            </a:r>
            <a:endParaRPr sz="29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0"/>
              </a:spcBef>
            </a:pPr>
            <a:r>
              <a:rPr dirty="0" sz="2350" spc="-20">
                <a:latin typeface="Arial"/>
                <a:cs typeface="Arial"/>
              </a:rPr>
              <a:t>(Semantic</a:t>
            </a:r>
            <a:r>
              <a:rPr dirty="0" sz="2350" spc="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Interoperability)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5449" y="8374591"/>
            <a:ext cx="15358110" cy="85725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 indent="671830">
              <a:lnSpc>
                <a:spcPct val="101899"/>
              </a:lnSpc>
              <a:spcBef>
                <a:spcPts val="45"/>
              </a:spcBef>
            </a:pPr>
            <a:r>
              <a:rPr dirty="0" sz="2700" spc="-254">
                <a:latin typeface="Arial"/>
                <a:cs typeface="Arial"/>
              </a:rPr>
              <a:t>A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 spc="-70">
                <a:latin typeface="Arial"/>
                <a:cs typeface="Arial"/>
              </a:rPr>
              <a:t>‘stress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test’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 spc="-100">
                <a:latin typeface="Arial"/>
                <a:cs typeface="Arial"/>
              </a:rPr>
              <a:t>means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something</a:t>
            </a:r>
            <a:r>
              <a:rPr dirty="0" sz="2700" spc="-14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different</a:t>
            </a:r>
            <a:r>
              <a:rPr dirty="0" sz="2700" spc="-6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to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 spc="-75">
                <a:latin typeface="Arial"/>
                <a:cs typeface="Arial"/>
              </a:rPr>
              <a:t>every </a:t>
            </a:r>
            <a:r>
              <a:rPr dirty="0" sz="2700" spc="-50">
                <a:latin typeface="Arial"/>
                <a:cs typeface="Arial"/>
              </a:rPr>
              <a:t>discipline.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135">
                <a:latin typeface="Arial"/>
                <a:cs typeface="Arial"/>
              </a:rPr>
              <a:t>The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70">
                <a:latin typeface="Arial"/>
                <a:cs typeface="Arial"/>
              </a:rPr>
              <a:t>Common</a:t>
            </a:r>
            <a:r>
              <a:rPr dirty="0" sz="2700" spc="5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Logic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 spc="-75">
                <a:latin typeface="Arial"/>
                <a:cs typeface="Arial"/>
              </a:rPr>
              <a:t>Layer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translates </a:t>
            </a:r>
            <a:r>
              <a:rPr dirty="0" sz="2700" spc="-50">
                <a:latin typeface="Arial"/>
                <a:cs typeface="Arial"/>
              </a:rPr>
              <a:t>domain-</a:t>
            </a:r>
            <a:r>
              <a:rPr dirty="0" sz="2700" spc="-20">
                <a:latin typeface="Arial"/>
                <a:cs typeface="Arial"/>
              </a:rPr>
              <a:t>specific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data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145">
                <a:latin typeface="Arial"/>
                <a:cs typeface="Arial"/>
              </a:rPr>
              <a:t>(e.g.,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physical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 spc="-55">
                <a:latin typeface="Arial"/>
                <a:cs typeface="Arial"/>
              </a:rPr>
              <a:t>fatigue)</a:t>
            </a:r>
            <a:r>
              <a:rPr dirty="0" sz="2700" spc="-5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into</a:t>
            </a:r>
            <a:r>
              <a:rPr dirty="0" sz="2700" spc="-70">
                <a:latin typeface="Arial"/>
                <a:cs typeface="Arial"/>
              </a:rPr>
              <a:t> </a:t>
            </a:r>
            <a:r>
              <a:rPr dirty="0" sz="2700" spc="-85">
                <a:latin typeface="Arial"/>
                <a:cs typeface="Arial"/>
              </a:rPr>
              <a:t>shared</a:t>
            </a:r>
            <a:r>
              <a:rPr dirty="0" sz="2700" spc="-40">
                <a:latin typeface="Arial"/>
                <a:cs typeface="Arial"/>
              </a:rPr>
              <a:t> computational</a:t>
            </a:r>
            <a:r>
              <a:rPr dirty="0" sz="2700" spc="20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and</a:t>
            </a:r>
            <a:r>
              <a:rPr dirty="0" sz="2700" spc="-15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biological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impacts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in</a:t>
            </a:r>
            <a:r>
              <a:rPr dirty="0" sz="2700" spc="-185">
                <a:latin typeface="Arial"/>
                <a:cs typeface="Arial"/>
              </a:rPr>
              <a:t> </a:t>
            </a:r>
            <a:r>
              <a:rPr dirty="0" sz="2700" spc="-55">
                <a:latin typeface="Arial"/>
                <a:cs typeface="Arial"/>
              </a:rPr>
              <a:t>real-</a:t>
            </a:r>
            <a:r>
              <a:rPr dirty="0" sz="2700" spc="-10">
                <a:latin typeface="Arial"/>
                <a:cs typeface="Arial"/>
              </a:rPr>
              <a:t>time.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2743200"/>
            <a:ext cx="723900" cy="1054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500" y="2755900"/>
            <a:ext cx="469900" cy="1028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5600" y="2743200"/>
            <a:ext cx="1524000" cy="1054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3900" y="2743200"/>
            <a:ext cx="1536700" cy="10541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96594" y="654049"/>
            <a:ext cx="1467802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50">
                <a:latin typeface="Arial"/>
                <a:cs typeface="Arial"/>
              </a:rPr>
              <a:t>The</a:t>
            </a:r>
            <a:r>
              <a:rPr dirty="0" sz="5000" spc="-200">
                <a:latin typeface="Arial"/>
                <a:cs typeface="Arial"/>
              </a:rPr>
              <a:t> </a:t>
            </a:r>
            <a:r>
              <a:rPr dirty="0" sz="5000" spc="-30">
                <a:latin typeface="Arial"/>
                <a:cs typeface="Arial"/>
              </a:rPr>
              <a:t>framework</a:t>
            </a:r>
            <a:r>
              <a:rPr dirty="0" sz="5000" spc="-315">
                <a:latin typeface="Arial"/>
                <a:cs typeface="Arial"/>
              </a:rPr>
              <a:t> </a:t>
            </a:r>
            <a:r>
              <a:rPr dirty="0" sz="5000">
                <a:latin typeface="Arial"/>
                <a:cs typeface="Arial"/>
              </a:rPr>
              <a:t>for</a:t>
            </a:r>
            <a:r>
              <a:rPr dirty="0" sz="5000" spc="-225">
                <a:latin typeface="Arial"/>
                <a:cs typeface="Arial"/>
              </a:rPr>
              <a:t> </a:t>
            </a:r>
            <a:r>
              <a:rPr dirty="0" sz="5000" spc="-390">
                <a:latin typeface="Arial"/>
                <a:cs typeface="Arial"/>
              </a:rPr>
              <a:t>a</a:t>
            </a:r>
            <a:r>
              <a:rPr dirty="0" sz="5000" spc="-50">
                <a:latin typeface="Arial"/>
                <a:cs typeface="Arial"/>
              </a:rPr>
              <a:t> </a:t>
            </a:r>
            <a:r>
              <a:rPr dirty="0" sz="5000" spc="-70">
                <a:latin typeface="Arial"/>
                <a:cs typeface="Arial"/>
              </a:rPr>
              <a:t>federated </a:t>
            </a:r>
            <a:r>
              <a:rPr dirty="0" sz="5000" spc="-110">
                <a:latin typeface="Arial"/>
                <a:cs typeface="Arial"/>
              </a:rPr>
              <a:t>engineering</a:t>
            </a:r>
            <a:r>
              <a:rPr dirty="0" sz="5000" spc="-25">
                <a:latin typeface="Arial"/>
                <a:cs typeface="Arial"/>
              </a:rPr>
              <a:t> </a:t>
            </a:r>
            <a:r>
              <a:rPr dirty="0" sz="5000" spc="-70">
                <a:latin typeface="Arial"/>
                <a:cs typeface="Arial"/>
              </a:rPr>
              <a:t>ecosystem</a:t>
            </a:r>
            <a:endParaRPr sz="5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07423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"/>
                <a:cs typeface="Arial"/>
              </a:rPr>
              <a:t>G</a:t>
            </a:r>
            <a:r>
              <a:rPr dirty="0" sz="1300" spc="484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Nc•tebookLM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5216" y="2245783"/>
            <a:ext cx="5168900" cy="6870700"/>
          </a:xfrm>
          <a:prstGeom prst="rect">
            <a:avLst/>
          </a:prstGeom>
          <a:ln w="2116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35"/>
              </a:spcBef>
            </a:pPr>
            <a:endParaRPr sz="4100">
              <a:latin typeface="Times New Roman"/>
              <a:cs typeface="Times New Roman"/>
            </a:endParaRPr>
          </a:p>
          <a:p>
            <a:pPr marL="539115">
              <a:lnSpc>
                <a:spcPts val="4485"/>
              </a:lnSpc>
            </a:pPr>
            <a:r>
              <a:rPr dirty="0" sz="4100" spc="-330">
                <a:latin typeface="Arial"/>
                <a:cs typeface="Arial"/>
              </a:rPr>
              <a:t>Federated</a:t>
            </a:r>
            <a:endParaRPr sz="4100">
              <a:latin typeface="Arial"/>
              <a:cs typeface="Arial"/>
            </a:endParaRPr>
          </a:p>
          <a:p>
            <a:pPr marL="535940">
              <a:lnSpc>
                <a:spcPts val="4185"/>
              </a:lnSpc>
            </a:pPr>
            <a:r>
              <a:rPr dirty="0" sz="3850" spc="-10">
                <a:latin typeface="Arial"/>
                <a:cs typeface="Arial"/>
              </a:rPr>
              <a:t>Interoperability</a:t>
            </a:r>
            <a:endParaRPr sz="3850">
              <a:latin typeface="Arial"/>
              <a:cs typeface="Arial"/>
            </a:endParaRPr>
          </a:p>
          <a:p>
            <a:pPr marL="547370">
              <a:lnSpc>
                <a:spcPts val="3365"/>
              </a:lnSpc>
              <a:spcBef>
                <a:spcPts val="1930"/>
              </a:spcBef>
            </a:pPr>
            <a:r>
              <a:rPr dirty="0" sz="2900" spc="-10">
                <a:latin typeface="Arial"/>
                <a:cs typeface="Arial"/>
              </a:rPr>
              <a:t>Impact:</a:t>
            </a:r>
            <a:endParaRPr sz="2900">
              <a:latin typeface="Arial"/>
              <a:cs typeface="Arial"/>
            </a:endParaRPr>
          </a:p>
          <a:p>
            <a:pPr marL="555625" marR="727710" indent="-2540">
              <a:lnSpc>
                <a:spcPts val="3250"/>
              </a:lnSpc>
              <a:spcBef>
                <a:spcPts val="185"/>
              </a:spcBef>
            </a:pPr>
            <a:r>
              <a:rPr dirty="0" sz="2900" spc="-140">
                <a:latin typeface="Arial"/>
                <a:cs typeface="Arial"/>
              </a:rPr>
              <a:t>Design-</a:t>
            </a:r>
            <a:r>
              <a:rPr dirty="0" sz="2900" spc="-90">
                <a:latin typeface="Arial"/>
                <a:cs typeface="Arial"/>
              </a:rPr>
              <a:t>time</a:t>
            </a:r>
            <a:r>
              <a:rPr dirty="0" sz="2900" spc="-60">
                <a:latin typeface="Arial"/>
                <a:cs typeface="Arial"/>
              </a:rPr>
              <a:t> </a:t>
            </a:r>
            <a:r>
              <a:rPr dirty="0" sz="2900" spc="-70">
                <a:latin typeface="Arial"/>
                <a:cs typeface="Arial"/>
              </a:rPr>
              <a:t>collaboration </a:t>
            </a:r>
            <a:r>
              <a:rPr dirty="0" sz="2900" spc="-100">
                <a:latin typeface="Arial"/>
                <a:cs typeface="Arial"/>
              </a:rPr>
              <a:t>across</a:t>
            </a:r>
            <a:r>
              <a:rPr dirty="0" sz="2900" spc="-90">
                <a:latin typeface="Arial"/>
                <a:cs typeface="Arial"/>
              </a:rPr>
              <a:t> </a:t>
            </a:r>
            <a:r>
              <a:rPr dirty="0" sz="2900" spc="-80">
                <a:latin typeface="Arial"/>
                <a:cs typeface="Arial"/>
              </a:rPr>
              <a:t>global</a:t>
            </a:r>
            <a:r>
              <a:rPr dirty="0" sz="2900" spc="-8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teams.</a:t>
            </a:r>
            <a:endParaRPr sz="2900">
              <a:latin typeface="Arial"/>
              <a:cs typeface="Arial"/>
            </a:endParaRPr>
          </a:p>
          <a:p>
            <a:pPr marL="551180">
              <a:lnSpc>
                <a:spcPts val="3370"/>
              </a:lnSpc>
              <a:spcBef>
                <a:spcPts val="2100"/>
              </a:spcBef>
            </a:pPr>
            <a:r>
              <a:rPr dirty="0" sz="2950" spc="-55">
                <a:latin typeface="Arial"/>
                <a:cs typeface="Arial"/>
              </a:rPr>
              <a:t>Outcome:</a:t>
            </a:r>
            <a:endParaRPr sz="2950">
              <a:latin typeface="Arial"/>
              <a:cs typeface="Arial"/>
            </a:endParaRPr>
          </a:p>
          <a:p>
            <a:pPr marL="544195" marR="1071880" indent="-5715">
              <a:lnSpc>
                <a:spcPts val="3200"/>
              </a:lnSpc>
              <a:spcBef>
                <a:spcPts val="220"/>
              </a:spcBef>
            </a:pPr>
            <a:r>
              <a:rPr dirty="0" sz="2950" spc="-175">
                <a:latin typeface="Arial"/>
                <a:cs typeface="Arial"/>
              </a:rPr>
              <a:t>Reduced</a:t>
            </a:r>
            <a:r>
              <a:rPr dirty="0" sz="2950" spc="-40">
                <a:latin typeface="Arial"/>
                <a:cs typeface="Arial"/>
              </a:rPr>
              <a:t> </a:t>
            </a:r>
            <a:r>
              <a:rPr dirty="0" sz="2950" spc="-95">
                <a:latin typeface="Arial"/>
                <a:cs typeface="Arial"/>
              </a:rPr>
              <a:t>design</a:t>
            </a:r>
            <a:r>
              <a:rPr dirty="0" sz="2950" spc="-70">
                <a:latin typeface="Arial"/>
                <a:cs typeface="Arial"/>
              </a:rPr>
              <a:t> </a:t>
            </a:r>
            <a:r>
              <a:rPr dirty="0" sz="2950" spc="-90">
                <a:latin typeface="Arial"/>
                <a:cs typeface="Arial"/>
              </a:rPr>
              <a:t>cycles </a:t>
            </a:r>
            <a:r>
              <a:rPr dirty="0" sz="2950" spc="-160">
                <a:latin typeface="Arial"/>
                <a:cs typeface="Arial"/>
              </a:rPr>
              <a:t>and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the</a:t>
            </a:r>
            <a:r>
              <a:rPr dirty="0" sz="2950" spc="-270">
                <a:latin typeface="Arial"/>
                <a:cs typeface="Arial"/>
              </a:rPr>
              <a:t> </a:t>
            </a:r>
            <a:r>
              <a:rPr dirty="0" sz="2950" spc="-40">
                <a:latin typeface="Arial"/>
                <a:cs typeface="Arial"/>
              </a:rPr>
              <a:t>elimination</a:t>
            </a:r>
            <a:r>
              <a:rPr dirty="0" sz="2950" spc="-95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of </a:t>
            </a:r>
            <a:r>
              <a:rPr dirty="0" sz="2950" spc="-60">
                <a:latin typeface="Arial"/>
                <a:cs typeface="Arial"/>
              </a:rPr>
              <a:t>re-</a:t>
            </a:r>
            <a:r>
              <a:rPr dirty="0" sz="2950" spc="-20">
                <a:latin typeface="Arial"/>
                <a:cs typeface="Arial"/>
              </a:rPr>
              <a:t>work.</a:t>
            </a:r>
            <a:endParaRPr sz="2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3516" y="2245783"/>
            <a:ext cx="5168900" cy="6870700"/>
          </a:xfrm>
          <a:prstGeom prst="rect">
            <a:avLst/>
          </a:prstGeom>
          <a:ln w="2116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3950">
              <a:latin typeface="Times New Roman"/>
              <a:cs typeface="Times New Roman"/>
            </a:endParaRPr>
          </a:p>
          <a:p>
            <a:pPr marL="542290" marR="2063114" indent="14604">
              <a:lnSpc>
                <a:spcPts val="3850"/>
              </a:lnSpc>
            </a:pPr>
            <a:r>
              <a:rPr dirty="0" sz="3950" spc="-229">
                <a:latin typeface="Arial"/>
                <a:cs typeface="Arial"/>
              </a:rPr>
              <a:t>Autonomous </a:t>
            </a:r>
            <a:r>
              <a:rPr dirty="0" sz="3950" spc="-270">
                <a:latin typeface="Arial"/>
                <a:cs typeface="Arial"/>
              </a:rPr>
              <a:t>Reasoning</a:t>
            </a:r>
            <a:endParaRPr sz="3950">
              <a:latin typeface="Arial"/>
              <a:cs typeface="Arial"/>
            </a:endParaRPr>
          </a:p>
          <a:p>
            <a:pPr marL="544830">
              <a:lnSpc>
                <a:spcPts val="3485"/>
              </a:lnSpc>
              <a:spcBef>
                <a:spcPts val="1680"/>
              </a:spcBef>
            </a:pPr>
            <a:r>
              <a:rPr dirty="0" sz="3100" spc="-55">
                <a:latin typeface="Arial"/>
                <a:cs typeface="Arial"/>
              </a:rPr>
              <a:t>Impact:</a:t>
            </a:r>
            <a:endParaRPr sz="3100">
              <a:latin typeface="Arial"/>
              <a:cs typeface="Arial"/>
            </a:endParaRPr>
          </a:p>
          <a:p>
            <a:pPr marL="554990" marR="1081405" indent="-17145">
              <a:lnSpc>
                <a:spcPts val="3200"/>
              </a:lnSpc>
              <a:spcBef>
                <a:spcPts val="305"/>
              </a:spcBef>
            </a:pPr>
            <a:r>
              <a:rPr dirty="0" sz="3100" spc="-295">
                <a:latin typeface="Arial"/>
                <a:cs typeface="Arial"/>
              </a:rPr>
              <a:t>Run-</a:t>
            </a:r>
            <a:r>
              <a:rPr dirty="0" sz="3100" spc="-254">
                <a:latin typeface="Arial"/>
                <a:cs typeface="Arial"/>
              </a:rPr>
              <a:t>time</a:t>
            </a:r>
            <a:r>
              <a:rPr dirty="0" sz="3100" spc="200">
                <a:latin typeface="Arial"/>
                <a:cs typeface="Arial"/>
              </a:rPr>
              <a:t> </a:t>
            </a:r>
            <a:r>
              <a:rPr dirty="0" sz="3100" spc="-200">
                <a:latin typeface="Arial"/>
                <a:cs typeface="Arial"/>
              </a:rPr>
              <a:t>safety</a:t>
            </a:r>
            <a:r>
              <a:rPr dirty="0" sz="3100" spc="-30">
                <a:latin typeface="Arial"/>
                <a:cs typeface="Arial"/>
              </a:rPr>
              <a:t> </a:t>
            </a:r>
            <a:r>
              <a:rPr dirty="0" sz="3100" spc="-200">
                <a:latin typeface="Arial"/>
                <a:cs typeface="Arial"/>
              </a:rPr>
              <a:t>checks </a:t>
            </a:r>
            <a:r>
              <a:rPr dirty="0" sz="3100" spc="-280">
                <a:latin typeface="Arial"/>
                <a:cs typeface="Arial"/>
              </a:rPr>
              <a:t>and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 spc="-190">
                <a:latin typeface="Arial"/>
                <a:cs typeface="Arial"/>
              </a:rPr>
              <a:t>self-</a:t>
            </a:r>
            <a:r>
              <a:rPr dirty="0" sz="3100" spc="-80">
                <a:latin typeface="Arial"/>
                <a:cs typeface="Arial"/>
              </a:rPr>
              <a:t>healing.</a:t>
            </a:r>
            <a:endParaRPr sz="3100">
              <a:latin typeface="Arial"/>
              <a:cs typeface="Arial"/>
            </a:endParaRPr>
          </a:p>
          <a:p>
            <a:pPr marL="550545">
              <a:lnSpc>
                <a:spcPts val="3370"/>
              </a:lnSpc>
              <a:spcBef>
                <a:spcPts val="2160"/>
              </a:spcBef>
            </a:pPr>
            <a:r>
              <a:rPr dirty="0" sz="2950" spc="-70">
                <a:latin typeface="Arial"/>
                <a:cs typeface="Arial"/>
              </a:rPr>
              <a:t>Outcome:</a:t>
            </a:r>
            <a:endParaRPr sz="2950">
              <a:latin typeface="Arial"/>
              <a:cs typeface="Arial"/>
            </a:endParaRPr>
          </a:p>
          <a:p>
            <a:pPr marL="542925" marR="1637664" indent="-4445">
              <a:lnSpc>
                <a:spcPts val="3200"/>
              </a:lnSpc>
              <a:spcBef>
                <a:spcPts val="220"/>
              </a:spcBef>
            </a:pPr>
            <a:r>
              <a:rPr dirty="0" sz="2950" spc="-95">
                <a:latin typeface="Arial"/>
                <a:cs typeface="Arial"/>
              </a:rPr>
              <a:t>High</a:t>
            </a:r>
            <a:r>
              <a:rPr dirty="0" sz="2950" spc="-114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reliability</a:t>
            </a:r>
            <a:r>
              <a:rPr dirty="0" sz="2950" spc="-114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in </a:t>
            </a:r>
            <a:r>
              <a:rPr dirty="0" sz="2950" spc="-80">
                <a:latin typeface="Arial"/>
                <a:cs typeface="Arial"/>
              </a:rPr>
              <a:t>unpredictable</a:t>
            </a:r>
            <a:r>
              <a:rPr dirty="0" sz="2950" spc="-114">
                <a:latin typeface="Arial"/>
                <a:cs typeface="Arial"/>
              </a:rPr>
              <a:t> </a:t>
            </a:r>
            <a:r>
              <a:rPr dirty="0" sz="2950" spc="-210">
                <a:latin typeface="Arial"/>
                <a:cs typeface="Arial"/>
              </a:rPr>
              <a:t>Edge </a:t>
            </a:r>
            <a:r>
              <a:rPr dirty="0" sz="2900" spc="-10">
                <a:latin typeface="Arial"/>
                <a:cs typeface="Arial"/>
              </a:rPr>
              <a:t>environments.</a:t>
            </a:r>
            <a:endParaRPr sz="2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71816" y="2245783"/>
            <a:ext cx="5168900" cy="6870700"/>
          </a:xfrm>
          <a:prstGeom prst="rect">
            <a:avLst/>
          </a:prstGeom>
          <a:ln w="2116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3950">
              <a:latin typeface="Times New Roman"/>
              <a:cs typeface="Times New Roman"/>
            </a:endParaRPr>
          </a:p>
          <a:p>
            <a:pPr marL="546735" marR="2370455" indent="-20320">
              <a:lnSpc>
                <a:spcPts val="3800"/>
              </a:lnSpc>
            </a:pPr>
            <a:r>
              <a:rPr dirty="0" sz="3950" spc="-10">
                <a:latin typeface="Calibri"/>
                <a:cs typeface="Calibri"/>
              </a:rPr>
              <a:t>Knowledge Graphs</a:t>
            </a:r>
            <a:endParaRPr sz="3950">
              <a:latin typeface="Calibri"/>
              <a:cs typeface="Calibri"/>
            </a:endParaRPr>
          </a:p>
          <a:p>
            <a:pPr marL="534035">
              <a:lnSpc>
                <a:spcPts val="3420"/>
              </a:lnSpc>
              <a:spcBef>
                <a:spcPts val="1889"/>
              </a:spcBef>
            </a:pPr>
            <a:r>
              <a:rPr dirty="0" sz="2950" spc="-10">
                <a:latin typeface="Arial"/>
                <a:cs typeface="Arial"/>
              </a:rPr>
              <a:t>Impact:</a:t>
            </a:r>
            <a:endParaRPr sz="2950">
              <a:latin typeface="Arial"/>
              <a:cs typeface="Arial"/>
            </a:endParaRPr>
          </a:p>
          <a:p>
            <a:pPr marL="535305">
              <a:lnSpc>
                <a:spcPts val="3215"/>
              </a:lnSpc>
            </a:pPr>
            <a:r>
              <a:rPr dirty="0" sz="2850" spc="-75">
                <a:latin typeface="Arial"/>
                <a:cs typeface="Arial"/>
              </a:rPr>
              <a:t>Traceability</a:t>
            </a:r>
            <a:r>
              <a:rPr dirty="0" sz="2850" spc="35">
                <a:latin typeface="Arial"/>
                <a:cs typeface="Arial"/>
              </a:rPr>
              <a:t> </a:t>
            </a:r>
            <a:r>
              <a:rPr dirty="0" sz="2850" spc="-20">
                <a:latin typeface="Arial"/>
                <a:cs typeface="Arial"/>
              </a:rPr>
              <a:t>from</a:t>
            </a:r>
            <a:endParaRPr sz="2850">
              <a:latin typeface="Arial"/>
              <a:cs typeface="Arial"/>
            </a:endParaRPr>
          </a:p>
          <a:p>
            <a:pPr marL="544830">
              <a:lnSpc>
                <a:spcPts val="3395"/>
              </a:lnSpc>
            </a:pPr>
            <a:r>
              <a:rPr dirty="0" sz="2900" spc="-105">
                <a:latin typeface="Arial"/>
                <a:cs typeface="Arial"/>
              </a:rPr>
              <a:t>requirement</a:t>
            </a:r>
            <a:r>
              <a:rPr dirty="0" sz="2900" spc="1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19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relirement.</a:t>
            </a:r>
            <a:endParaRPr sz="2900">
              <a:latin typeface="Arial"/>
              <a:cs typeface="Arial"/>
            </a:endParaRPr>
          </a:p>
          <a:p>
            <a:pPr marL="537845">
              <a:lnSpc>
                <a:spcPts val="3370"/>
              </a:lnSpc>
              <a:spcBef>
                <a:spcPts val="2170"/>
              </a:spcBef>
            </a:pPr>
            <a:r>
              <a:rPr dirty="0" sz="2950" spc="-55">
                <a:latin typeface="Arial"/>
                <a:cs typeface="Arial"/>
              </a:rPr>
              <a:t>Outcome:</a:t>
            </a:r>
            <a:endParaRPr sz="2950">
              <a:latin typeface="Arial"/>
              <a:cs typeface="Arial"/>
            </a:endParaRPr>
          </a:p>
          <a:p>
            <a:pPr marL="537845" marR="403225" indent="-1905">
              <a:lnSpc>
                <a:spcPts val="3200"/>
              </a:lnSpc>
              <a:spcBef>
                <a:spcPts val="220"/>
              </a:spcBef>
            </a:pPr>
            <a:r>
              <a:rPr dirty="0" sz="2950" spc="-160">
                <a:latin typeface="Arial"/>
                <a:cs typeface="Arial"/>
              </a:rPr>
              <a:t>Guaranteed</a:t>
            </a:r>
            <a:r>
              <a:rPr dirty="0" sz="2950" spc="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regulatory </a:t>
            </a:r>
            <a:r>
              <a:rPr dirty="0" sz="2950" spc="-95">
                <a:latin typeface="Arial"/>
                <a:cs typeface="Arial"/>
              </a:rPr>
              <a:t>compliance</a:t>
            </a:r>
            <a:r>
              <a:rPr dirty="0" sz="2950" spc="-25">
                <a:latin typeface="Arial"/>
                <a:cs typeface="Arial"/>
              </a:rPr>
              <a:t> </a:t>
            </a:r>
            <a:r>
              <a:rPr dirty="0" sz="2950" spc="-155">
                <a:latin typeface="Arial"/>
                <a:cs typeface="Arial"/>
              </a:rPr>
              <a:t>and</a:t>
            </a:r>
            <a:r>
              <a:rPr dirty="0" sz="2950" spc="-9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safety </a:t>
            </a:r>
            <a:r>
              <a:rPr dirty="0" sz="2950" spc="-80">
                <a:latin typeface="Arial"/>
                <a:cs typeface="Arial"/>
              </a:rPr>
              <a:t>through</a:t>
            </a:r>
            <a:r>
              <a:rPr dirty="0" sz="2950" spc="-85">
                <a:latin typeface="Arial"/>
                <a:cs typeface="Arial"/>
              </a:rPr>
              <a:t> </a:t>
            </a:r>
            <a:r>
              <a:rPr dirty="0" sz="2950" spc="-35">
                <a:latin typeface="Arial"/>
                <a:cs typeface="Arial"/>
              </a:rPr>
              <a:t>formal</a:t>
            </a:r>
            <a:r>
              <a:rPr dirty="0" sz="2950" spc="-160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verification.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332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114"/>
              </a:spcBef>
            </a:pPr>
            <a:r>
              <a:rPr dirty="0" sz="5400" spc="-430">
                <a:latin typeface="Arial"/>
                <a:cs typeface="Arial"/>
              </a:rPr>
              <a:t>Cognitive</a:t>
            </a:r>
            <a:r>
              <a:rPr dirty="0" sz="5400" spc="55">
                <a:latin typeface="Arial"/>
                <a:cs typeface="Arial"/>
              </a:rPr>
              <a:t> </a:t>
            </a:r>
            <a:r>
              <a:rPr dirty="0" sz="5400" spc="-475">
                <a:latin typeface="Arial"/>
                <a:cs typeface="Arial"/>
              </a:rPr>
              <a:t>autonomy</a:t>
            </a:r>
            <a:r>
              <a:rPr dirty="0" sz="5400" spc="30">
                <a:latin typeface="Arial"/>
                <a:cs typeface="Arial"/>
              </a:rPr>
              <a:t> </a:t>
            </a:r>
            <a:r>
              <a:rPr dirty="0" sz="5400" spc="-515">
                <a:latin typeface="Arial"/>
                <a:cs typeface="Arial"/>
              </a:rPr>
              <a:t>enables</a:t>
            </a:r>
            <a:r>
              <a:rPr dirty="0" sz="5400" spc="65">
                <a:latin typeface="Arial"/>
                <a:cs typeface="Arial"/>
              </a:rPr>
              <a:t> </a:t>
            </a:r>
            <a:r>
              <a:rPr dirty="0" sz="5400" spc="-330">
                <a:latin typeface="Arial"/>
                <a:cs typeface="Arial"/>
              </a:rPr>
              <a:t>the</a:t>
            </a:r>
            <a:r>
              <a:rPr dirty="0" sz="5400" spc="-320">
                <a:latin typeface="Arial"/>
                <a:cs typeface="Arial"/>
              </a:rPr>
              <a:t> </a:t>
            </a:r>
            <a:r>
              <a:rPr dirty="0" sz="5400" spc="-355">
                <a:latin typeface="Arial"/>
                <a:cs typeface="Arial"/>
              </a:rPr>
              <a:t>self-</a:t>
            </a:r>
            <a:r>
              <a:rPr dirty="0" sz="5400" spc="-430">
                <a:latin typeface="Arial"/>
                <a:cs typeface="Arial"/>
              </a:rPr>
              <a:t>evolving</a:t>
            </a:r>
            <a:r>
              <a:rPr dirty="0" sz="5400" spc="210">
                <a:latin typeface="Arial"/>
                <a:cs typeface="Arial"/>
              </a:rPr>
              <a:t> </a:t>
            </a:r>
            <a:r>
              <a:rPr dirty="0" sz="5400" spc="-470">
                <a:latin typeface="Arial"/>
                <a:cs typeface="Arial"/>
              </a:rPr>
              <a:t>engineering</a:t>
            </a:r>
            <a:r>
              <a:rPr dirty="0" sz="5400" spc="270">
                <a:latin typeface="Arial"/>
                <a:cs typeface="Arial"/>
              </a:rPr>
              <a:t> </a:t>
            </a:r>
            <a:r>
              <a:rPr dirty="0" sz="5400" spc="-409">
                <a:latin typeface="Arial"/>
                <a:cs typeface="Arial"/>
              </a:rPr>
              <a:t>loop</a:t>
            </a:r>
            <a:endParaRPr sz="5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07423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"/>
                <a:cs typeface="Arial"/>
              </a:rPr>
              <a:t>G</a:t>
            </a:r>
            <a:r>
              <a:rPr dirty="0" sz="1300" spc="484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Nc•tebookLM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4183" y="3259348"/>
            <a:ext cx="3763645" cy="2853055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algn="r" marR="40005">
              <a:lnSpc>
                <a:spcPct val="100000"/>
              </a:lnSpc>
              <a:spcBef>
                <a:spcPts val="1185"/>
              </a:spcBef>
            </a:pPr>
            <a:r>
              <a:rPr dirty="0" sz="4200" spc="-370">
                <a:latin typeface="Arial"/>
                <a:cs typeface="Arial"/>
              </a:rPr>
              <a:t>Adapt</a:t>
            </a:r>
            <a:endParaRPr sz="4200">
              <a:latin typeface="Arial"/>
              <a:cs typeface="Arial"/>
            </a:endParaRPr>
          </a:p>
          <a:p>
            <a:pPr algn="r" marL="33020" marR="5080" indent="-20955">
              <a:lnSpc>
                <a:spcPct val="79900"/>
              </a:lnSpc>
              <a:spcBef>
                <a:spcPts val="1395"/>
              </a:spcBef>
            </a:pPr>
            <a:r>
              <a:rPr dirty="0" sz="2850" spc="-270">
                <a:latin typeface="Arial"/>
                <a:cs typeface="Arial"/>
              </a:rPr>
              <a:t>The</a:t>
            </a:r>
            <a:r>
              <a:rPr dirty="0" sz="2850" spc="-50">
                <a:latin typeface="Arial"/>
                <a:cs typeface="Arial"/>
              </a:rPr>
              <a:t> </a:t>
            </a:r>
            <a:r>
              <a:rPr dirty="0" sz="2850" spc="-204">
                <a:latin typeface="Arial"/>
                <a:cs typeface="Arial"/>
              </a:rPr>
              <a:t>system</a:t>
            </a:r>
            <a:r>
              <a:rPr dirty="0" sz="2850" spc="-10">
                <a:latin typeface="Arial"/>
                <a:cs typeface="Arial"/>
              </a:rPr>
              <a:t> </a:t>
            </a:r>
            <a:r>
              <a:rPr dirty="0" sz="2850" spc="-155">
                <a:latin typeface="Arial"/>
                <a:cs typeface="Arial"/>
              </a:rPr>
              <a:t>autonomously </a:t>
            </a:r>
            <a:r>
              <a:rPr dirty="0" sz="3100" spc="-300">
                <a:latin typeface="Arial"/>
                <a:cs typeface="Arial"/>
              </a:rPr>
              <a:t>reconfigures</a:t>
            </a:r>
            <a:r>
              <a:rPr dirty="0" sz="3100" spc="60">
                <a:latin typeface="Arial"/>
                <a:cs typeface="Arial"/>
              </a:rPr>
              <a:t> </a:t>
            </a:r>
            <a:r>
              <a:rPr dirty="0" sz="3100" spc="-135">
                <a:latin typeface="Arial"/>
                <a:cs typeface="Arial"/>
              </a:rPr>
              <a:t>itself(Agility) </a:t>
            </a:r>
            <a:r>
              <a:rPr dirty="0" sz="3200" spc="-310">
                <a:latin typeface="Arial"/>
                <a:cs typeface="Arial"/>
              </a:rPr>
              <a:t>without</a:t>
            </a:r>
            <a:r>
              <a:rPr dirty="0" sz="3200" spc="-85">
                <a:latin typeface="Arial"/>
                <a:cs typeface="Arial"/>
              </a:rPr>
              <a:t> </a:t>
            </a:r>
            <a:r>
              <a:rPr dirty="0" sz="3200" spc="-380">
                <a:latin typeface="Arial"/>
                <a:cs typeface="Arial"/>
              </a:rPr>
              <a:t>compromising </a:t>
            </a:r>
            <a:r>
              <a:rPr dirty="0" sz="3100" spc="-310">
                <a:latin typeface="Arial"/>
                <a:cs typeface="Arial"/>
              </a:rPr>
              <a:t>underlying</a:t>
            </a:r>
            <a:r>
              <a:rPr dirty="0" sz="3100" spc="95">
                <a:latin typeface="Arial"/>
                <a:cs typeface="Arial"/>
              </a:rPr>
              <a:t> </a:t>
            </a:r>
            <a:r>
              <a:rPr dirty="0" sz="3100" spc="-290">
                <a:latin typeface="Arial"/>
                <a:cs typeface="Arial"/>
              </a:rPr>
              <a:t>safety </a:t>
            </a:r>
            <a:r>
              <a:rPr dirty="0" sz="3100" spc="-260">
                <a:latin typeface="Arial"/>
                <a:cs typeface="Arial"/>
              </a:rPr>
              <a:t>constraints</a:t>
            </a:r>
            <a:r>
              <a:rPr dirty="0" sz="3100" spc="30">
                <a:latin typeface="Arial"/>
                <a:cs typeface="Arial"/>
              </a:rPr>
              <a:t> </a:t>
            </a:r>
            <a:r>
              <a:rPr dirty="0" sz="3100" spc="-160">
                <a:latin typeface="Arial"/>
                <a:cs typeface="Arial"/>
              </a:rPr>
              <a:t>(Reliability).</a:t>
            </a:r>
            <a:endParaRPr sz="3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60959" y="3326694"/>
            <a:ext cx="4023995" cy="203327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705"/>
              </a:spcBef>
            </a:pPr>
            <a:r>
              <a:rPr dirty="0" sz="4150" spc="-10">
                <a:latin typeface="Calibri"/>
                <a:cs typeface="Calibri"/>
              </a:rPr>
              <a:t>Observe</a:t>
            </a:r>
            <a:endParaRPr sz="4150">
              <a:latin typeface="Calibri"/>
              <a:cs typeface="Calibri"/>
            </a:endParaRPr>
          </a:p>
          <a:p>
            <a:pPr marL="12700" marR="5080" indent="2540">
              <a:lnSpc>
                <a:spcPct val="76600"/>
              </a:lnSpc>
              <a:spcBef>
                <a:spcPts val="1340"/>
              </a:spcBef>
            </a:pPr>
            <a:r>
              <a:rPr dirty="0" sz="3100" spc="-310">
                <a:latin typeface="Arial"/>
                <a:cs typeface="Arial"/>
              </a:rPr>
              <a:t>Assets</a:t>
            </a:r>
            <a:r>
              <a:rPr dirty="0" sz="3100" spc="-165">
                <a:latin typeface="Arial"/>
                <a:cs typeface="Arial"/>
              </a:rPr>
              <a:t> </a:t>
            </a:r>
            <a:r>
              <a:rPr dirty="0" sz="3100" spc="-240">
                <a:latin typeface="Arial"/>
                <a:cs typeface="Arial"/>
              </a:rPr>
              <a:t>collect</a:t>
            </a:r>
            <a:r>
              <a:rPr dirty="0" sz="3100" spc="-55">
                <a:latin typeface="Arial"/>
                <a:cs typeface="Arial"/>
              </a:rPr>
              <a:t> </a:t>
            </a:r>
            <a:r>
              <a:rPr dirty="0" sz="3100" spc="-270">
                <a:latin typeface="Arial"/>
                <a:cs typeface="Arial"/>
              </a:rPr>
              <a:t>real-</a:t>
            </a:r>
            <a:r>
              <a:rPr dirty="0" sz="3100" spc="-315">
                <a:latin typeface="Arial"/>
                <a:cs typeface="Arial"/>
              </a:rPr>
              <a:t>time</a:t>
            </a:r>
            <a:r>
              <a:rPr dirty="0" sz="3100" spc="-30">
                <a:latin typeface="Arial"/>
                <a:cs typeface="Arial"/>
              </a:rPr>
              <a:t> </a:t>
            </a:r>
            <a:r>
              <a:rPr dirty="0" sz="3100" spc="-330">
                <a:latin typeface="Arial"/>
                <a:cs typeface="Arial"/>
              </a:rPr>
              <a:t>data </a:t>
            </a:r>
            <a:r>
              <a:rPr dirty="0" sz="3300" spc="-360">
                <a:latin typeface="Arial"/>
                <a:cs typeface="Arial"/>
              </a:rPr>
              <a:t>at</a:t>
            </a:r>
            <a:r>
              <a:rPr dirty="0" sz="3300" spc="-165">
                <a:latin typeface="Arial"/>
                <a:cs typeface="Arial"/>
              </a:rPr>
              <a:t> </a:t>
            </a:r>
            <a:r>
              <a:rPr dirty="0" sz="3300" spc="-390">
                <a:latin typeface="Arial"/>
                <a:cs typeface="Arial"/>
              </a:rPr>
              <a:t>run-</a:t>
            </a:r>
            <a:r>
              <a:rPr dirty="0" sz="3300" spc="-409">
                <a:latin typeface="Arial"/>
                <a:cs typeface="Arial"/>
              </a:rPr>
              <a:t>time</a:t>
            </a:r>
            <a:r>
              <a:rPr dirty="0" sz="3300" spc="-140">
                <a:latin typeface="Arial"/>
                <a:cs typeface="Arial"/>
              </a:rPr>
              <a:t> </a:t>
            </a:r>
            <a:r>
              <a:rPr dirty="0" sz="3300" spc="-390">
                <a:latin typeface="Arial"/>
                <a:cs typeface="Arial"/>
              </a:rPr>
              <a:t>(maintaining </a:t>
            </a:r>
            <a:r>
              <a:rPr dirty="0" sz="3250" spc="-360">
                <a:latin typeface="Arial"/>
                <a:cs typeface="Arial"/>
              </a:rPr>
              <a:t>operational</a:t>
            </a:r>
            <a:r>
              <a:rPr dirty="0" sz="3250" spc="45">
                <a:latin typeface="Arial"/>
                <a:cs typeface="Arial"/>
              </a:rPr>
              <a:t> </a:t>
            </a:r>
            <a:r>
              <a:rPr dirty="0" sz="3250" spc="-434">
                <a:latin typeface="Arial"/>
                <a:cs typeface="Arial"/>
              </a:rPr>
              <a:t>awareness).</a:t>
            </a:r>
            <a:endParaRPr sz="3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82576" y="7301794"/>
            <a:ext cx="4111625" cy="1857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080"/>
              </a:lnSpc>
              <a:spcBef>
                <a:spcPts val="105"/>
              </a:spcBef>
            </a:pPr>
            <a:r>
              <a:rPr dirty="0" sz="4300" spc="-10">
                <a:latin typeface="Calibri"/>
                <a:cs typeface="Calibri"/>
              </a:rPr>
              <a:t>Reason</a:t>
            </a:r>
            <a:endParaRPr sz="4300">
              <a:latin typeface="Calibri"/>
              <a:cs typeface="Calibri"/>
            </a:endParaRPr>
          </a:p>
          <a:p>
            <a:pPr marL="21590" marR="5080" indent="2540">
              <a:lnSpc>
                <a:spcPts val="3000"/>
              </a:lnSpc>
              <a:spcBef>
                <a:spcPts val="370"/>
              </a:spcBef>
            </a:pPr>
            <a:r>
              <a:rPr dirty="0" sz="2850" spc="-240">
                <a:latin typeface="Arial"/>
                <a:cs typeface="Arial"/>
              </a:rPr>
              <a:t>The</a:t>
            </a:r>
            <a:r>
              <a:rPr dirty="0" sz="2850" spc="-110">
                <a:latin typeface="Arial"/>
                <a:cs typeface="Arial"/>
              </a:rPr>
              <a:t> </a:t>
            </a:r>
            <a:r>
              <a:rPr dirty="0" sz="2850" spc="-210">
                <a:latin typeface="Arial"/>
                <a:cs typeface="Arial"/>
              </a:rPr>
              <a:t>federated</a:t>
            </a:r>
            <a:r>
              <a:rPr dirty="0" sz="2850" spc="30">
                <a:latin typeface="Arial"/>
                <a:cs typeface="Arial"/>
              </a:rPr>
              <a:t> </a:t>
            </a:r>
            <a:r>
              <a:rPr dirty="0" sz="2850" spc="-130">
                <a:latin typeface="Arial"/>
                <a:cs typeface="Arial"/>
              </a:rPr>
              <a:t>logic</a:t>
            </a:r>
            <a:r>
              <a:rPr dirty="0" sz="2850" spc="-45">
                <a:latin typeface="Arial"/>
                <a:cs typeface="Arial"/>
              </a:rPr>
              <a:t> </a:t>
            </a:r>
            <a:r>
              <a:rPr dirty="0" sz="2850" spc="-110">
                <a:latin typeface="Arial"/>
                <a:cs typeface="Arial"/>
              </a:rPr>
              <a:t>identifies </a:t>
            </a:r>
            <a:r>
              <a:rPr dirty="0" sz="2850" spc="-204">
                <a:latin typeface="Arial"/>
                <a:cs typeface="Arial"/>
              </a:rPr>
              <a:t>more</a:t>
            </a:r>
            <a:r>
              <a:rPr dirty="0" sz="2850" spc="-95">
                <a:latin typeface="Arial"/>
                <a:cs typeface="Arial"/>
              </a:rPr>
              <a:t> </a:t>
            </a:r>
            <a:r>
              <a:rPr dirty="0" sz="2850" spc="-110">
                <a:latin typeface="Arial"/>
                <a:cs typeface="Arial"/>
              </a:rPr>
              <a:t>efficient</a:t>
            </a:r>
            <a:r>
              <a:rPr dirty="0" sz="2850">
                <a:latin typeface="Arial"/>
                <a:cs typeface="Arial"/>
              </a:rPr>
              <a:t> </a:t>
            </a:r>
            <a:r>
              <a:rPr dirty="0" sz="2850" spc="-85">
                <a:latin typeface="Arial"/>
                <a:cs typeface="Arial"/>
              </a:rPr>
              <a:t>operational </a:t>
            </a:r>
            <a:r>
              <a:rPr dirty="0" sz="2850" spc="-204">
                <a:latin typeface="Arial"/>
                <a:cs typeface="Arial"/>
              </a:rPr>
              <a:t>pathways</a:t>
            </a:r>
            <a:r>
              <a:rPr dirty="0" sz="2850" spc="-35">
                <a:latin typeface="Arial"/>
                <a:cs typeface="Arial"/>
              </a:rPr>
              <a:t> </a:t>
            </a:r>
            <a:r>
              <a:rPr dirty="0" sz="2850" spc="-225">
                <a:latin typeface="Arial"/>
                <a:cs typeface="Arial"/>
              </a:rPr>
              <a:t>under</a:t>
            </a:r>
            <a:r>
              <a:rPr dirty="0" sz="2850">
                <a:latin typeface="Arial"/>
                <a:cs typeface="Arial"/>
              </a:rPr>
              <a:t> </a:t>
            </a:r>
            <a:r>
              <a:rPr dirty="0" sz="2850" spc="-75">
                <a:latin typeface="Arial"/>
                <a:cs typeface="Arial"/>
              </a:rPr>
              <a:t>uncertainty.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8100" y="2667000"/>
            <a:ext cx="7239000" cy="52705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271000" y="59055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16300" y="9493250"/>
            <a:ext cx="1219200" cy="13335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00150">
              <a:lnSpc>
                <a:spcPct val="100000"/>
              </a:lnSpc>
              <a:spcBef>
                <a:spcPts val="125"/>
              </a:spcBef>
            </a:pPr>
            <a:r>
              <a:rPr dirty="0" spc="-415"/>
              <a:t>The</a:t>
            </a:r>
            <a:r>
              <a:rPr dirty="0" spc="-105"/>
              <a:t> </a:t>
            </a:r>
            <a:r>
              <a:rPr dirty="0" spc="-375"/>
              <a:t>ultimate</a:t>
            </a:r>
            <a:r>
              <a:rPr dirty="0" spc="415"/>
              <a:t> </a:t>
            </a:r>
            <a:r>
              <a:rPr dirty="0" spc="-365"/>
              <a:t>asset</a:t>
            </a:r>
            <a:r>
              <a:rPr dirty="0" spc="-50"/>
              <a:t> </a:t>
            </a:r>
            <a:r>
              <a:rPr dirty="0" spc="-204"/>
              <a:t>is</a:t>
            </a:r>
            <a:r>
              <a:rPr dirty="0" spc="-215"/>
              <a:t> </a:t>
            </a:r>
            <a:r>
              <a:rPr dirty="0" spc="-385"/>
              <a:t>the</a:t>
            </a:r>
            <a:r>
              <a:rPr dirty="0" spc="-10"/>
              <a:t> </a:t>
            </a:r>
            <a:r>
              <a:rPr dirty="0" spc="-505"/>
              <a:t>knowledge</a:t>
            </a:r>
            <a:r>
              <a:rPr dirty="0" spc="590"/>
              <a:t> </a:t>
            </a:r>
            <a:r>
              <a:rPr dirty="0" spc="-280"/>
              <a:t>itself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09605" y="8237008"/>
            <a:ext cx="10779760" cy="10604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 marL="12700" marR="5080">
              <a:lnSpc>
                <a:spcPts val="2700"/>
              </a:lnSpc>
              <a:spcBef>
                <a:spcPts val="229"/>
              </a:spcBef>
            </a:pPr>
            <a:r>
              <a:rPr dirty="0" sz="2300" spc="-155">
                <a:latin typeface="Arial"/>
                <a:cs typeface="Arial"/>
              </a:rPr>
              <a:t>The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90">
                <a:latin typeface="Arial"/>
                <a:cs typeface="Arial"/>
              </a:rPr>
              <a:t>physical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part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175">
                <a:latin typeface="Arial"/>
                <a:cs typeface="Arial"/>
              </a:rPr>
              <a:t>may</a:t>
            </a:r>
            <a:r>
              <a:rPr dirty="0" sz="2300" spc="10">
                <a:latin typeface="Arial"/>
                <a:cs typeface="Arial"/>
              </a:rPr>
              <a:t> </a:t>
            </a:r>
            <a:r>
              <a:rPr dirty="0" sz="2300" spc="-100">
                <a:latin typeface="Arial"/>
                <a:cs typeface="Arial"/>
              </a:rPr>
              <a:t>be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90">
                <a:latin typeface="Arial"/>
                <a:cs typeface="Arial"/>
              </a:rPr>
              <a:t>replaced,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145">
                <a:latin typeface="Arial"/>
                <a:cs typeface="Arial"/>
              </a:rPr>
              <a:t>and</a:t>
            </a:r>
            <a:r>
              <a:rPr dirty="0" sz="2300" spc="-3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the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60">
                <a:latin typeface="Arial"/>
                <a:cs typeface="Arial"/>
              </a:rPr>
              <a:t>specific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80">
                <a:latin typeface="Arial"/>
                <a:cs typeface="Arial"/>
              </a:rPr>
              <a:t>algorithm</a:t>
            </a:r>
            <a:r>
              <a:rPr dirty="0" sz="2300" spc="-35">
                <a:latin typeface="Arial"/>
                <a:cs typeface="Arial"/>
              </a:rPr>
              <a:t> </a:t>
            </a:r>
            <a:r>
              <a:rPr dirty="0" sz="2300" spc="-50">
                <a:latin typeface="Arial"/>
                <a:cs typeface="Arial"/>
              </a:rPr>
              <a:t>rewritten,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but</a:t>
            </a:r>
            <a:r>
              <a:rPr dirty="0" sz="2300" spc="15">
                <a:latin typeface="Arial"/>
                <a:cs typeface="Arial"/>
              </a:rPr>
              <a:t> </a:t>
            </a:r>
            <a:r>
              <a:rPr dirty="0" sz="2300" spc="-70">
                <a:latin typeface="Arial"/>
                <a:cs typeface="Arial"/>
              </a:rPr>
              <a:t>the</a:t>
            </a:r>
            <a:r>
              <a:rPr dirty="0" sz="2300" spc="-75">
                <a:latin typeface="Arial"/>
                <a:cs typeface="Arial"/>
              </a:rPr>
              <a:t> </a:t>
            </a:r>
            <a:r>
              <a:rPr dirty="0" sz="2300" spc="-120">
                <a:latin typeface="Arial"/>
                <a:cs typeface="Arial"/>
              </a:rPr>
              <a:t>logic—</a:t>
            </a:r>
            <a:r>
              <a:rPr dirty="0" sz="2300" spc="-25">
                <a:latin typeface="Arial"/>
                <a:cs typeface="Arial"/>
              </a:rPr>
              <a:t>the </a:t>
            </a:r>
            <a:r>
              <a:rPr dirty="0" sz="2300" spc="-90">
                <a:latin typeface="Arial"/>
                <a:cs typeface="Arial"/>
              </a:rPr>
              <a:t>understanding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of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114">
                <a:latin typeface="Arial"/>
                <a:cs typeface="Arial"/>
              </a:rPr>
              <a:t>how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the</a:t>
            </a:r>
            <a:r>
              <a:rPr dirty="0" sz="2300" spc="-135">
                <a:latin typeface="Arial"/>
                <a:cs typeface="Arial"/>
              </a:rPr>
              <a:t> </a:t>
            </a:r>
            <a:r>
              <a:rPr dirty="0" sz="2300" spc="-114">
                <a:latin typeface="Arial"/>
                <a:cs typeface="Arial"/>
              </a:rPr>
              <a:t>system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45">
                <a:latin typeface="Arial"/>
                <a:cs typeface="Arial"/>
              </a:rPr>
              <a:t>interacts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 spc="-85">
                <a:latin typeface="Arial"/>
                <a:cs typeface="Arial"/>
              </a:rPr>
              <a:t>stay</a:t>
            </a:r>
            <a:r>
              <a:rPr dirty="0" sz="2300" spc="60">
                <a:latin typeface="Arial"/>
                <a:cs typeface="Arial"/>
              </a:rPr>
              <a:t> </a:t>
            </a:r>
            <a:r>
              <a:rPr dirty="0" sz="2300" spc="-120">
                <a:latin typeface="Arial"/>
                <a:cs typeface="Arial"/>
              </a:rPr>
              <a:t>safe,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90">
                <a:latin typeface="Arial"/>
                <a:cs typeface="Arial"/>
              </a:rPr>
              <a:t>agile,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150">
                <a:latin typeface="Arial"/>
                <a:cs typeface="Arial"/>
              </a:rPr>
              <a:t>and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90">
                <a:latin typeface="Arial"/>
                <a:cs typeface="Arial"/>
              </a:rPr>
              <a:t>resilient—</a:t>
            </a:r>
            <a:r>
              <a:rPr dirty="0" sz="2300" spc="-80">
                <a:latin typeface="Arial"/>
                <a:cs typeface="Arial"/>
              </a:rPr>
              <a:t>persists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and </a:t>
            </a:r>
            <a:r>
              <a:rPr dirty="0" sz="2300" spc="-125">
                <a:latin typeface="Arial"/>
                <a:cs typeface="Arial"/>
              </a:rPr>
              <a:t>evolves.</a:t>
            </a:r>
            <a:r>
              <a:rPr dirty="0" sz="2300" spc="-40">
                <a:latin typeface="Arial"/>
                <a:cs typeface="Arial"/>
              </a:rPr>
              <a:t> </a:t>
            </a:r>
            <a:r>
              <a:rPr dirty="0" sz="2300" spc="-265">
                <a:latin typeface="Arial"/>
                <a:cs typeface="Arial"/>
              </a:rPr>
              <a:t>We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120">
                <a:latin typeface="Arial"/>
                <a:cs typeface="Arial"/>
              </a:rPr>
              <a:t>are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 spc="-110">
                <a:latin typeface="Arial"/>
                <a:cs typeface="Arial"/>
              </a:rPr>
              <a:t>no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 spc="-80">
                <a:latin typeface="Arial"/>
                <a:cs typeface="Arial"/>
              </a:rPr>
              <a:t>longer </a:t>
            </a:r>
            <a:r>
              <a:rPr dirty="0" sz="2300" spc="-105">
                <a:latin typeface="Arial"/>
                <a:cs typeface="Arial"/>
              </a:rPr>
              <a:t>engineering</a:t>
            </a:r>
            <a:r>
              <a:rPr dirty="0" sz="2300" spc="50">
                <a:latin typeface="Arial"/>
                <a:cs typeface="Arial"/>
              </a:rPr>
              <a:t> </a:t>
            </a:r>
            <a:r>
              <a:rPr dirty="0" sz="2300" spc="-75">
                <a:latin typeface="Arial"/>
                <a:cs typeface="Arial"/>
              </a:rPr>
              <a:t>things;</a:t>
            </a:r>
            <a:r>
              <a:rPr dirty="0" sz="2300" spc="-20">
                <a:latin typeface="Arial"/>
                <a:cs typeface="Arial"/>
              </a:rPr>
              <a:t> </a:t>
            </a:r>
            <a:r>
              <a:rPr dirty="0" sz="2300" spc="-170">
                <a:latin typeface="Arial"/>
                <a:cs typeface="Arial"/>
              </a:rPr>
              <a:t>we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120">
                <a:latin typeface="Arial"/>
                <a:cs typeface="Arial"/>
              </a:rPr>
              <a:t>are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100">
                <a:latin typeface="Arial"/>
                <a:cs typeface="Arial"/>
              </a:rPr>
              <a:t>engineering</a:t>
            </a:r>
            <a:r>
              <a:rPr dirty="0" sz="2300" spc="6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understanding.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2026-03-26T14:01:49Z</dcterms:created>
  <dcterms:modified xsi:type="dcterms:W3CDTF">2026-03-26T14:01:49Z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2026-03-26T00:00:00Z</vt:filetime>
  </property>
  <property fmtid="{D5CDD505-2E9C-101B-9397-08002B2CF9AE}" pid="3" name="LastSaved">
    <vt:filetime>2026-03-26T00:00:00Z</vt:filetime>
  </property>
</Properties>
</file>
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83" r:id="rId2"/>
    <p:sldId id="372" r:id="rId3"/>
    <p:sldId id="323" r:id="rId4"/>
    <p:sldId id="321" r:id="rId5"/>
    <p:sldId id="322" r:id="rId6"/>
    <p:sldId id="349" r:id="rId7"/>
    <p:sldId id="319" r:id="rId8"/>
    <p:sldId id="332" r:id="rId9"/>
    <p:sldId id="339" r:id="rId10"/>
    <p:sldId id="336" r:id="rId11"/>
    <p:sldId id="337" r:id="rId12"/>
    <p:sldId id="338" r:id="rId13"/>
    <p:sldId id="343" r:id="rId14"/>
    <p:sldId id="344" r:id="rId15"/>
    <p:sldId id="345" r:id="rId16"/>
    <p:sldId id="352" r:id="rId17"/>
    <p:sldId id="347" r:id="rId18"/>
    <p:sldId id="348" r:id="rId19"/>
    <p:sldId id="350" r:id="rId20"/>
    <p:sldId id="353" r:id="rId21"/>
    <p:sldId id="366" r:id="rId22"/>
    <p:sldId id="365" r:id="rId23"/>
    <p:sldId id="371" r:id="rId24"/>
    <p:sldId id="370" r:id="rId25"/>
    <p:sldId id="369" r:id="rId26"/>
  </p:sldIdLst>
  <p:sldSz cx="9144000" cy="6858000" type="screen4x3"/>
  <p:notesSz cx="6918325" cy="9223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8" autoAdjust="0"/>
    <p:restoredTop sz="94660"/>
  </p:normalViewPr>
  <p:slideViewPr>
    <p:cSldViewPr>
      <p:cViewPr varScale="1">
        <p:scale>
          <a:sx n="96" d="100"/>
          <a:sy n="96" d="100"/>
        </p:scale>
        <p:origin x="-5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-2688" y="-114"/>
      </p:cViewPr>
      <p:guideLst>
        <p:guide orient="horz" pos="2905"/>
        <p:guide pos="217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972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19538" y="0"/>
            <a:ext cx="29972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3DAEE-20BF-4928-81DC-098FB3010991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9825"/>
            <a:ext cx="29972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19538" y="8759825"/>
            <a:ext cx="29972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7B1BA-CF6F-4AB6-B4AD-7B87F4FC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41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97941" cy="461169"/>
          </a:xfrm>
          <a:prstGeom prst="rect">
            <a:avLst/>
          </a:prstGeom>
        </p:spPr>
        <p:txBody>
          <a:bodyPr vert="horz" lIns="92236" tIns="46118" rIns="92236" bIns="461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18783" y="0"/>
            <a:ext cx="2997941" cy="461169"/>
          </a:xfrm>
          <a:prstGeom prst="rect">
            <a:avLst/>
          </a:prstGeom>
        </p:spPr>
        <p:txBody>
          <a:bodyPr vert="horz" lIns="92236" tIns="46118" rIns="92236" bIns="46118" rtlCol="0"/>
          <a:lstStyle>
            <a:lvl1pPr algn="r">
              <a:defRPr sz="1200"/>
            </a:lvl1pPr>
          </a:lstStyle>
          <a:p>
            <a:fld id="{24A9F686-EBA0-4794-8879-B4AF5475E7E2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2150"/>
            <a:ext cx="4613275" cy="3459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36" tIns="46118" rIns="92236" bIns="4611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1833" y="4381103"/>
            <a:ext cx="5534660" cy="4150519"/>
          </a:xfrm>
          <a:prstGeom prst="rect">
            <a:avLst/>
          </a:prstGeom>
        </p:spPr>
        <p:txBody>
          <a:bodyPr vert="horz" lIns="92236" tIns="46118" rIns="92236" bIns="46118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60605"/>
            <a:ext cx="2997941" cy="461169"/>
          </a:xfrm>
          <a:prstGeom prst="rect">
            <a:avLst/>
          </a:prstGeom>
        </p:spPr>
        <p:txBody>
          <a:bodyPr vert="horz" lIns="92236" tIns="46118" rIns="92236" bIns="461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18783" y="8760605"/>
            <a:ext cx="2997941" cy="461169"/>
          </a:xfrm>
          <a:prstGeom prst="rect">
            <a:avLst/>
          </a:prstGeom>
        </p:spPr>
        <p:txBody>
          <a:bodyPr vert="horz" lIns="92236" tIns="46118" rIns="92236" bIns="46118" rtlCol="0" anchor="b"/>
          <a:lstStyle>
            <a:lvl1pPr algn="r">
              <a:defRPr sz="1200"/>
            </a:lvl1pPr>
          </a:lstStyle>
          <a:p>
            <a:fld id="{6C3903A2-469A-40A8-B298-D7477C785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34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903A2-469A-40A8-B298-D7477C7852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6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903A2-469A-40A8-B298-D7477C7852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87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903A2-469A-40A8-B298-D7477C7852E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47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03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7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1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0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2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4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5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7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7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2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99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/>
          <p:cNvSpPr>
            <a:spLocks noChangeShapeType="1"/>
          </p:cNvSpPr>
          <p:nvPr userDrawn="1"/>
        </p:nvSpPr>
        <p:spPr bwMode="auto">
          <a:xfrm>
            <a:off x="0" y="838200"/>
            <a:ext cx="9144000" cy="0"/>
          </a:xfrm>
          <a:prstGeom prst="line">
            <a:avLst/>
          </a:prstGeom>
          <a:noFill/>
          <a:ln w="6350">
            <a:solidFill>
              <a:srgbClr val="002147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1341120" y="38100"/>
            <a:ext cx="7726680" cy="762000"/>
          </a:xfrm>
        </p:spPr>
        <p:txBody>
          <a:bodyPr>
            <a:noAutofit/>
          </a:bodyPr>
          <a:lstStyle>
            <a:lvl1pPr algn="r">
              <a:lnSpc>
                <a:spcPts val="2800"/>
              </a:lnSpc>
              <a:defRPr lang="en-US" sz="2800" b="0" kern="1200" baseline="0" dirty="0" smtClean="0">
                <a:solidFill>
                  <a:srgbClr val="002147"/>
                </a:solidFill>
                <a:latin typeface="+mj-lt"/>
                <a:ea typeface="+mn-ea"/>
                <a:cs typeface="Arial" charset="0"/>
              </a:defRPr>
            </a:lvl1pPr>
          </a:lstStyle>
          <a:p>
            <a:r>
              <a:rPr lang="en-US" dirty="0" smtClean="0"/>
              <a:t>Click to add title</a:t>
            </a:r>
            <a:br>
              <a:rPr lang="en-US" dirty="0" smtClean="0"/>
            </a:br>
            <a:r>
              <a:rPr lang="en-US" dirty="0" smtClean="0"/>
              <a:t>Use only two lines</a:t>
            </a:r>
          </a:p>
        </p:txBody>
      </p:sp>
      <p:sp>
        <p:nvSpPr>
          <p:cNvPr id="16" name="Line 3"/>
          <p:cNvSpPr>
            <a:spLocks noChangeShapeType="1"/>
          </p:cNvSpPr>
          <p:nvPr userDrawn="1"/>
        </p:nvSpPr>
        <p:spPr bwMode="auto">
          <a:xfrm flipV="1">
            <a:off x="1280160" y="0"/>
            <a:ext cx="0" cy="838200"/>
          </a:xfrm>
          <a:prstGeom prst="line">
            <a:avLst/>
          </a:prstGeom>
          <a:noFill/>
          <a:ln w="6350">
            <a:solidFill>
              <a:srgbClr val="002147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9" name="Picture 8" descr="DCMO_Short Head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84051" cy="83820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5532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4888B"/>
                </a:solidFill>
              </a:defRPr>
            </a:lvl1pPr>
          </a:lstStyle>
          <a:p>
            <a:fld id="{E3ED77E8-1697-42D6-AC8B-649E93CD7F3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For Official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96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6FFB3-D261-4D89-9939-3E83828A5CFC}" type="datetimeFigureOut">
              <a:rPr lang="en-US" smtClean="0"/>
              <a:t>9/23/2014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BC3D9-7456-420A-9B49-BA1619700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99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7.png"/><Relationship Id="rId3" Type="http://schemas.openxmlformats.org/officeDocument/2006/relationships/image" Target="../media/image20.png"/><Relationship Id="rId21" Type="http://schemas.openxmlformats.org/officeDocument/2006/relationships/image" Target="../media/image19.pn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3" Type="http://schemas.openxmlformats.org/officeDocument/2006/relationships/image" Target="../media/image4.png"/><Relationship Id="rId21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image" Target="../media/image20.png"/><Relationship Id="rId16" Type="http://schemas.openxmlformats.org/officeDocument/2006/relationships/image" Target="../media/image12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3" Type="http://schemas.openxmlformats.org/officeDocument/2006/relationships/image" Target="../media/image4.png"/><Relationship Id="rId21" Type="http://schemas.openxmlformats.org/officeDocument/2006/relationships/image" Target="../media/image2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image" Target="../media/image20.png"/><Relationship Id="rId16" Type="http://schemas.openxmlformats.org/officeDocument/2006/relationships/image" Target="../media/image12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428169"/>
            <a:ext cx="47918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Design Forum </a:t>
            </a:r>
          </a:p>
          <a:p>
            <a:pPr algn="ctr"/>
            <a:r>
              <a:rPr lang="en-US" sz="2800" dirty="0" smtClean="0"/>
              <a:t>E2E Metamodel Working Group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3072050" y="2667000"/>
            <a:ext cx="30868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smtClean="0"/>
              <a:t>example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09662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3200" dirty="0" smtClean="0"/>
              <a:t>E2E </a:t>
            </a:r>
            <a:r>
              <a:rPr lang="en-US" sz="3200" dirty="0"/>
              <a:t>Metamodel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2253" y="833497"/>
            <a:ext cx="851694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Context </a:t>
            </a:r>
            <a:r>
              <a:rPr lang="en-US" sz="1600" dirty="0" smtClean="0"/>
              <a:t>–  Provides additional context (typically needed with hierarchy, time…)</a:t>
            </a:r>
          </a:p>
          <a:p>
            <a:pPr lvl="1"/>
            <a:r>
              <a:rPr lang="en-US" sz="1600" b="1" dirty="0" smtClean="0"/>
              <a:t>E2E Federation Level</a:t>
            </a:r>
            <a:r>
              <a:rPr lang="en-US" sz="1600" dirty="0" smtClean="0"/>
              <a:t> – Specifies E2E Federation Level (L0, L1, L2, L3, L4)</a:t>
            </a:r>
          </a:p>
          <a:p>
            <a:r>
              <a:rPr lang="en-US" sz="1600" b="1" dirty="0" smtClean="0"/>
              <a:t>Operational Activity</a:t>
            </a:r>
            <a:r>
              <a:rPr lang="en-US" sz="1600" dirty="0" smtClean="0"/>
              <a:t> – What does the department do (aka function, high level “collapsed process”)</a:t>
            </a:r>
          </a:p>
          <a:p>
            <a:pPr lvl="1"/>
            <a:r>
              <a:rPr lang="en-US" sz="1600" b="1" dirty="0" smtClean="0"/>
              <a:t>ActivityInE2EContext</a:t>
            </a:r>
            <a:r>
              <a:rPr lang="en-US" sz="1600" dirty="0" smtClean="0"/>
              <a:t> – an activity employed within a specific E2E</a:t>
            </a:r>
          </a:p>
          <a:p>
            <a:pPr lvl="1"/>
            <a:r>
              <a:rPr lang="en-US" sz="1600" b="1" dirty="0" smtClean="0"/>
              <a:t>BPMN Task </a:t>
            </a:r>
            <a:r>
              <a:rPr lang="en-US" sz="1600" dirty="0" smtClean="0"/>
              <a:t>– an activity representing a task in a BPMN process model</a:t>
            </a:r>
          </a:p>
          <a:p>
            <a:r>
              <a:rPr lang="en-US" sz="1600" b="1" dirty="0" smtClean="0"/>
              <a:t>E2E Segment </a:t>
            </a:r>
            <a:r>
              <a:rPr lang="en-US" sz="1600" dirty="0" smtClean="0"/>
              <a:t>– A capability to achieve a desired outcome through a combination of ways and means</a:t>
            </a:r>
          </a:p>
          <a:p>
            <a:pPr lvl="1"/>
            <a:r>
              <a:rPr lang="en-US" sz="1600" b="1" dirty="0" smtClean="0"/>
              <a:t>BPMN Segment</a:t>
            </a:r>
            <a:r>
              <a:rPr lang="en-US" sz="1600" dirty="0" smtClean="0"/>
              <a:t> – an E2E Segment that is represented by a BPMN process model</a:t>
            </a:r>
          </a:p>
          <a:p>
            <a:r>
              <a:rPr lang="en-US" sz="1600" dirty="0"/>
              <a:t>	</a:t>
            </a:r>
          </a:p>
        </p:txBody>
      </p:sp>
      <p:cxnSp>
        <p:nvCxnSpPr>
          <p:cNvPr id="41" name="Elbow Connector 40"/>
          <p:cNvCxnSpPr>
            <a:stCxn id="43" idx="2"/>
            <a:endCxn id="43" idx="3"/>
          </p:cNvCxnSpPr>
          <p:nvPr/>
        </p:nvCxnSpPr>
        <p:spPr>
          <a:xfrm rot="5400000" flipH="1" flipV="1">
            <a:off x="8243588" y="4566541"/>
            <a:ext cx="230832" cy="503191"/>
          </a:xfrm>
          <a:prstGeom prst="bentConnector4">
            <a:avLst>
              <a:gd name="adj1" fmla="val -50279"/>
              <a:gd name="adj2" fmla="val 1454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3610" y="42858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7604217" y="4471888"/>
            <a:ext cx="1006383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Operational</a:t>
            </a:r>
          </a:p>
          <a:p>
            <a:r>
              <a:rPr lang="en-US" sz="1200" dirty="0" smtClean="0"/>
              <a:t>Activity</a:t>
            </a:r>
            <a:endParaRPr 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1040687" y="4501401"/>
            <a:ext cx="1373782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Context</a:t>
            </a:r>
            <a:endParaRPr 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3893964" y="4415917"/>
            <a:ext cx="97965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E2E Segment</a:t>
            </a:r>
            <a:endParaRPr lang="en-US" sz="1200" dirty="0"/>
          </a:p>
        </p:txBody>
      </p:sp>
      <p:cxnSp>
        <p:nvCxnSpPr>
          <p:cNvPr id="53" name="Elbow Connector 52"/>
          <p:cNvCxnSpPr>
            <a:stCxn id="52" idx="2"/>
          </p:cNvCxnSpPr>
          <p:nvPr/>
        </p:nvCxnSpPr>
        <p:spPr>
          <a:xfrm rot="5400000" flipH="1" flipV="1">
            <a:off x="4570999" y="4574960"/>
            <a:ext cx="115416" cy="489828"/>
          </a:xfrm>
          <a:prstGeom prst="bentConnector4">
            <a:avLst>
              <a:gd name="adj1" fmla="val -198066"/>
              <a:gd name="adj2" fmla="val 11467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173710" y="4967068"/>
            <a:ext cx="684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isPartOf</a:t>
            </a:r>
            <a:endParaRPr lang="en-US" sz="1200" dirty="0"/>
          </a:p>
        </p:txBody>
      </p:sp>
      <p:cxnSp>
        <p:nvCxnSpPr>
          <p:cNvPr id="59" name="Straight Connector 58"/>
          <p:cNvCxnSpPr>
            <a:stCxn id="52" idx="1"/>
            <a:endCxn id="51" idx="3"/>
          </p:cNvCxnSpPr>
          <p:nvPr/>
        </p:nvCxnSpPr>
        <p:spPr>
          <a:xfrm flipH="1" flipV="1">
            <a:off x="2414469" y="4639901"/>
            <a:ext cx="1479495" cy="6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953000" y="4415917"/>
            <a:ext cx="668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</a:t>
            </a:r>
            <a:r>
              <a:rPr lang="en-US" sz="1200" dirty="0" smtClean="0"/>
              <a:t>nables</a:t>
            </a:r>
            <a:endParaRPr lang="en-US" sz="1200" dirty="0"/>
          </a:p>
        </p:txBody>
      </p:sp>
      <p:sp>
        <p:nvSpPr>
          <p:cNvPr id="74" name="TextBox 73"/>
          <p:cNvSpPr txBox="1"/>
          <p:nvPr/>
        </p:nvSpPr>
        <p:spPr>
          <a:xfrm>
            <a:off x="2753929" y="4433668"/>
            <a:ext cx="885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isScopedBy</a:t>
            </a:r>
            <a:endParaRPr lang="en-US" sz="1200" dirty="0"/>
          </a:p>
        </p:txBody>
      </p:sp>
      <p:cxnSp>
        <p:nvCxnSpPr>
          <p:cNvPr id="76" name="Elbow Connector 75"/>
          <p:cNvCxnSpPr>
            <a:stCxn id="51" idx="0"/>
            <a:endCxn id="43" idx="0"/>
          </p:cNvCxnSpPr>
          <p:nvPr/>
        </p:nvCxnSpPr>
        <p:spPr>
          <a:xfrm rot="5400000" flipH="1" flipV="1">
            <a:off x="4902737" y="1296730"/>
            <a:ext cx="29513" cy="6379831"/>
          </a:xfrm>
          <a:prstGeom prst="bentConnector3">
            <a:avLst>
              <a:gd name="adj1" fmla="val 8745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0217" y="5393984"/>
            <a:ext cx="1006383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ActivityInE2EContext</a:t>
            </a:r>
            <a:endParaRPr lang="en-US" sz="1200" dirty="0"/>
          </a:p>
        </p:txBody>
      </p:sp>
      <p:cxnSp>
        <p:nvCxnSpPr>
          <p:cNvPr id="80" name="Elbow Connector 79"/>
          <p:cNvCxnSpPr>
            <a:stCxn id="52" idx="3"/>
            <a:endCxn id="79" idx="1"/>
          </p:cNvCxnSpPr>
          <p:nvPr/>
        </p:nvCxnSpPr>
        <p:spPr>
          <a:xfrm>
            <a:off x="4873622" y="4646750"/>
            <a:ext cx="1206595" cy="97806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9" idx="3"/>
            <a:endCxn id="43" idx="1"/>
          </p:cNvCxnSpPr>
          <p:nvPr/>
        </p:nvCxnSpPr>
        <p:spPr>
          <a:xfrm flipV="1">
            <a:off x="7086600" y="4702721"/>
            <a:ext cx="517617" cy="922096"/>
          </a:xfrm>
          <a:prstGeom prst="bentConnector3">
            <a:avLst>
              <a:gd name="adj1" fmla="val 2825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2819400" y="3124200"/>
            <a:ext cx="0" cy="3046069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96000" y="4467664"/>
            <a:ext cx="1547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asFunctionallyAligned</a:t>
            </a:r>
            <a:endParaRPr lang="en-US" sz="1200" dirty="0"/>
          </a:p>
        </p:txBody>
      </p:sp>
      <p:cxnSp>
        <p:nvCxnSpPr>
          <p:cNvPr id="85" name="Straight Arrow Connector 84"/>
          <p:cNvCxnSpPr>
            <a:stCxn id="89" idx="0"/>
          </p:cNvCxnSpPr>
          <p:nvPr/>
        </p:nvCxnSpPr>
        <p:spPr>
          <a:xfrm flipV="1">
            <a:off x="1966662" y="4778401"/>
            <a:ext cx="0" cy="73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496523" y="3244552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DM2: Capability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6629400" y="3244552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DM2: Activity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773112" y="3244552"/>
            <a:ext cx="16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DM2: Property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24020" y="5514201"/>
            <a:ext cx="1485283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E2E Federation Level</a:t>
            </a:r>
            <a:endParaRPr lang="en-US" sz="1200" dirty="0"/>
          </a:p>
        </p:txBody>
      </p:sp>
      <p:sp>
        <p:nvSpPr>
          <p:cNvPr id="90" name="TextBox 89"/>
          <p:cNvSpPr txBox="1"/>
          <p:nvPr/>
        </p:nvSpPr>
        <p:spPr>
          <a:xfrm>
            <a:off x="3668542" y="5459736"/>
            <a:ext cx="97965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BPMN</a:t>
            </a:r>
          </a:p>
          <a:p>
            <a:r>
              <a:rPr lang="en-US" sz="1200" dirty="0" smtClean="0"/>
              <a:t>Segment</a:t>
            </a:r>
            <a:endParaRPr lang="en-US" sz="1200" dirty="0"/>
          </a:p>
        </p:txBody>
      </p:sp>
      <p:cxnSp>
        <p:nvCxnSpPr>
          <p:cNvPr id="91" name="Straight Arrow Connector 90"/>
          <p:cNvCxnSpPr>
            <a:stCxn id="90" idx="0"/>
          </p:cNvCxnSpPr>
          <p:nvPr/>
        </p:nvCxnSpPr>
        <p:spPr>
          <a:xfrm flipV="1">
            <a:off x="4158371" y="4877582"/>
            <a:ext cx="0" cy="58215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5983306" y="3126131"/>
            <a:ext cx="0" cy="3046069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604217" y="5361801"/>
            <a:ext cx="1006383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BPMN Task</a:t>
            </a:r>
            <a:endParaRPr lang="en-US" sz="1200" dirty="0"/>
          </a:p>
        </p:txBody>
      </p:sp>
      <p:cxnSp>
        <p:nvCxnSpPr>
          <p:cNvPr id="94" name="Straight Arrow Connector 93"/>
          <p:cNvCxnSpPr>
            <a:stCxn id="93" idx="0"/>
            <a:endCxn id="43" idx="2"/>
          </p:cNvCxnSpPr>
          <p:nvPr/>
        </p:nvCxnSpPr>
        <p:spPr>
          <a:xfrm flipV="1">
            <a:off x="8107409" y="4933553"/>
            <a:ext cx="0" cy="4282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79" idx="0"/>
            <a:endCxn id="43" idx="2"/>
          </p:cNvCxnSpPr>
          <p:nvPr/>
        </p:nvCxnSpPr>
        <p:spPr>
          <a:xfrm flipV="1">
            <a:off x="6583409" y="4933553"/>
            <a:ext cx="1524000" cy="46043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02974" y="4786699"/>
            <a:ext cx="0" cy="713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133600" y="5029200"/>
            <a:ext cx="807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IsLevel</a:t>
            </a:r>
            <a:r>
              <a:rPr lang="en-US" sz="1200" dirty="0" err="1"/>
              <a:t>F</a:t>
            </a:r>
            <a:r>
              <a:rPr lang="en-US" sz="1200" dirty="0" err="1" smtClean="0"/>
              <a:t>or</a:t>
            </a:r>
            <a:endParaRPr 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866336" y="5971736"/>
            <a:ext cx="1143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isMoreDetailed</a:t>
            </a:r>
            <a:endParaRPr lang="en-US" sz="1200" dirty="0"/>
          </a:p>
        </p:txBody>
      </p:sp>
      <p:cxnSp>
        <p:nvCxnSpPr>
          <p:cNvPr id="49" name="Elbow Connector 48"/>
          <p:cNvCxnSpPr>
            <a:stCxn id="89" idx="2"/>
            <a:endCxn id="89" idx="1"/>
          </p:cNvCxnSpPr>
          <p:nvPr/>
        </p:nvCxnSpPr>
        <p:spPr>
          <a:xfrm rot="5400000" flipH="1">
            <a:off x="1526091" y="5350630"/>
            <a:ext cx="138499" cy="742642"/>
          </a:xfrm>
          <a:prstGeom prst="bentConnector4">
            <a:avLst>
              <a:gd name="adj1" fmla="val -165055"/>
              <a:gd name="adj2" fmla="val 130782"/>
            </a:avLst>
          </a:prstGeom>
          <a:ln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287478" y="5029200"/>
            <a:ext cx="684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isPartOf</a:t>
            </a:r>
            <a:endParaRPr lang="en-US" sz="1200" dirty="0"/>
          </a:p>
        </p:txBody>
      </p:sp>
      <p:sp>
        <p:nvSpPr>
          <p:cNvPr id="50" name="TextBox 49"/>
          <p:cNvSpPr txBox="1"/>
          <p:nvPr/>
        </p:nvSpPr>
        <p:spPr>
          <a:xfrm>
            <a:off x="4049329" y="4024254"/>
            <a:ext cx="885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isScopedBy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54046" y="6400800"/>
            <a:ext cx="377711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L0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1006907" y="6400800"/>
            <a:ext cx="377711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L1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1459768" y="6400800"/>
            <a:ext cx="377711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L2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1912629" y="6400800"/>
            <a:ext cx="377711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L3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365489" y="6400800"/>
            <a:ext cx="377711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L4</a:t>
            </a:r>
            <a:endParaRPr lang="en-US" sz="1200" dirty="0"/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2316442" y="5791203"/>
            <a:ext cx="0" cy="46072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stCxn id="37" idx="0"/>
            <a:endCxn id="46" idx="0"/>
          </p:cNvCxnSpPr>
          <p:nvPr/>
        </p:nvCxnSpPr>
        <p:spPr>
          <a:xfrm rot="5400000" flipH="1" flipV="1">
            <a:off x="1648623" y="5495079"/>
            <a:ext cx="12700" cy="1811443"/>
          </a:xfrm>
          <a:prstGeom prst="bentConnector3">
            <a:avLst>
              <a:gd name="adj1" fmla="val 1106008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8" idx="0"/>
          </p:cNvCxnSpPr>
          <p:nvPr/>
        </p:nvCxnSpPr>
        <p:spPr>
          <a:xfrm flipH="1" flipV="1">
            <a:off x="1195762" y="6251925"/>
            <a:ext cx="1" cy="1488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9" idx="0"/>
          </p:cNvCxnSpPr>
          <p:nvPr/>
        </p:nvCxnSpPr>
        <p:spPr>
          <a:xfrm flipV="1">
            <a:off x="1648624" y="6259418"/>
            <a:ext cx="6662" cy="1413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40" idx="0"/>
          </p:cNvCxnSpPr>
          <p:nvPr/>
        </p:nvCxnSpPr>
        <p:spPr>
          <a:xfrm flipV="1">
            <a:off x="2101485" y="6266910"/>
            <a:ext cx="13324" cy="13389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11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76200" y="3733800"/>
            <a:ext cx="8991600" cy="182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76200" y="2667000"/>
            <a:ext cx="8991600" cy="1049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76200" y="1600200"/>
            <a:ext cx="8991600" cy="1049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i="1" dirty="0" smtClean="0"/>
              <a:t>Notional Example: </a:t>
            </a:r>
            <a:r>
              <a:rPr lang="en-US" sz="3200" dirty="0" smtClean="0"/>
              <a:t>E2E </a:t>
            </a:r>
            <a:r>
              <a:rPr lang="en-US" sz="3200" dirty="0"/>
              <a:t>Plan to </a:t>
            </a:r>
            <a:r>
              <a:rPr lang="en-US" sz="3200" dirty="0" smtClean="0"/>
              <a:t>Stock</a:t>
            </a:r>
            <a:endParaRPr lang="en-US" sz="3200" dirty="0"/>
          </a:p>
        </p:txBody>
      </p:sp>
      <p:sp>
        <p:nvSpPr>
          <p:cNvPr id="12" name="Rectangle 11"/>
          <p:cNvSpPr/>
          <p:nvPr/>
        </p:nvSpPr>
        <p:spPr>
          <a:xfrm>
            <a:off x="3573780" y="178308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Plan to Stock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>
            <a:stCxn id="12" idx="2"/>
            <a:endCxn id="18" idx="0"/>
          </p:cNvCxnSpPr>
          <p:nvPr/>
        </p:nvCxnSpPr>
        <p:spPr>
          <a:xfrm flipH="1">
            <a:off x="2500469" y="2400300"/>
            <a:ext cx="2063911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2" idx="2"/>
            <a:endCxn id="20" idx="0"/>
          </p:cNvCxnSpPr>
          <p:nvPr/>
        </p:nvCxnSpPr>
        <p:spPr>
          <a:xfrm flipH="1">
            <a:off x="4557869" y="2400300"/>
            <a:ext cx="6511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2" idx="2"/>
            <a:endCxn id="19" idx="0"/>
          </p:cNvCxnSpPr>
          <p:nvPr/>
        </p:nvCxnSpPr>
        <p:spPr>
          <a:xfrm>
            <a:off x="4564380" y="2400300"/>
            <a:ext cx="2050889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9" idx="2"/>
            <a:endCxn id="21" idx="0"/>
          </p:cNvCxnSpPr>
          <p:nvPr/>
        </p:nvCxnSpPr>
        <p:spPr>
          <a:xfrm flipH="1">
            <a:off x="5631180" y="3516630"/>
            <a:ext cx="984089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9" idx="2"/>
            <a:endCxn id="22" idx="0"/>
          </p:cNvCxnSpPr>
          <p:nvPr/>
        </p:nvCxnSpPr>
        <p:spPr>
          <a:xfrm>
            <a:off x="6615269" y="3516630"/>
            <a:ext cx="1157131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5098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Create Inventory Plan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246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Receive, Accept and Warehouse Inventory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672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Determine Source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40580" y="382143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Receive Goods and Services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81800" y="382143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Accept Goods and Services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81800" y="4792980"/>
            <a:ext cx="1981200" cy="6172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Accept Goods and Services BPMN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>
            <a:stCxn id="22" idx="2"/>
            <a:endCxn id="23" idx="0"/>
          </p:cNvCxnSpPr>
          <p:nvPr/>
        </p:nvCxnSpPr>
        <p:spPr>
          <a:xfrm>
            <a:off x="7772400" y="4438650"/>
            <a:ext cx="0" cy="354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ular Callout 25"/>
          <p:cNvSpPr/>
          <p:nvPr/>
        </p:nvSpPr>
        <p:spPr>
          <a:xfrm>
            <a:off x="3491069" y="5867400"/>
            <a:ext cx="5576731" cy="762000"/>
          </a:xfrm>
          <a:prstGeom prst="wedgeRoundRectCallout">
            <a:avLst>
              <a:gd name="adj1" fmla="val 24198"/>
              <a:gd name="adj2" fmla="val -1098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E2E Segment represented by a BPMN model (BPMN Segment):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 Illustrated here as a BEA ‘level 2 extension’, but … 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could also be a Component level 3 operational process model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1164" y="1905000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0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76952" y="2971800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1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93624" y="4431268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2</a:t>
            </a:r>
            <a:endParaRPr lang="en-US" b="1" dirty="0"/>
          </a:p>
        </p:txBody>
      </p:sp>
      <p:sp>
        <p:nvSpPr>
          <p:cNvPr id="30" name="Rectangle 29"/>
          <p:cNvSpPr/>
          <p:nvPr/>
        </p:nvSpPr>
        <p:spPr>
          <a:xfrm>
            <a:off x="6777990" y="3813882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ular Callout 34"/>
          <p:cNvSpPr/>
          <p:nvPr/>
        </p:nvSpPr>
        <p:spPr>
          <a:xfrm>
            <a:off x="1371600" y="4896797"/>
            <a:ext cx="4953000" cy="665803"/>
          </a:xfrm>
          <a:prstGeom prst="wedgeRoundRectCallout">
            <a:avLst>
              <a:gd name="adj1" fmla="val 76072"/>
              <a:gd name="adj2" fmla="val -11947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E2E Segment corresponding to an Operational </a:t>
            </a:r>
            <a:r>
              <a:rPr lang="en-US" sz="1600" b="1" dirty="0">
                <a:solidFill>
                  <a:schemeClr val="tx1"/>
                </a:solidFill>
              </a:rPr>
              <a:t>A</a:t>
            </a:r>
            <a:r>
              <a:rPr lang="en-US" sz="1600" b="1" dirty="0" smtClean="0">
                <a:solidFill>
                  <a:schemeClr val="tx1"/>
                </a:solidFill>
              </a:rPr>
              <a:t>ctivity from the BEA activity node tree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44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76200" y="3733800"/>
            <a:ext cx="8991600" cy="1049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477000" y="382143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Accept Goods and Services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200" y="2667000"/>
            <a:ext cx="8991600" cy="1049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6200" y="1600200"/>
            <a:ext cx="8991600" cy="1049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i="1" dirty="0" smtClean="0"/>
              <a:t>Notional Example: </a:t>
            </a:r>
            <a:r>
              <a:rPr lang="en-US" sz="3200" dirty="0" smtClean="0"/>
              <a:t>E2E Procure to Pay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3268980" y="178308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Procure to Pay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>
            <a:stCxn id="3" idx="2"/>
            <a:endCxn id="8" idx="0"/>
          </p:cNvCxnSpPr>
          <p:nvPr/>
        </p:nvCxnSpPr>
        <p:spPr>
          <a:xfrm flipH="1">
            <a:off x="2195669" y="2400300"/>
            <a:ext cx="2063911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stCxn id="3" idx="2"/>
            <a:endCxn id="10" idx="0"/>
          </p:cNvCxnSpPr>
          <p:nvPr/>
        </p:nvCxnSpPr>
        <p:spPr>
          <a:xfrm flipH="1">
            <a:off x="4253069" y="2400300"/>
            <a:ext cx="6511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3" idx="2"/>
            <a:endCxn id="9" idx="0"/>
          </p:cNvCxnSpPr>
          <p:nvPr/>
        </p:nvCxnSpPr>
        <p:spPr>
          <a:xfrm>
            <a:off x="4259580" y="2400300"/>
            <a:ext cx="2050889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9" idx="2"/>
            <a:endCxn id="11" idx="0"/>
          </p:cNvCxnSpPr>
          <p:nvPr/>
        </p:nvCxnSpPr>
        <p:spPr>
          <a:xfrm>
            <a:off x="6310469" y="3516630"/>
            <a:ext cx="1157131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050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Award Procurement Instrument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198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Perform Receipt, Acceptance and Return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624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Administer Procurement Instrument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77000" y="3825312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ular Callout 13"/>
          <p:cNvSpPr/>
          <p:nvPr/>
        </p:nvSpPr>
        <p:spPr>
          <a:xfrm>
            <a:off x="4876801" y="5181600"/>
            <a:ext cx="3429000" cy="609600"/>
          </a:xfrm>
          <a:prstGeom prst="wedgeRoundRectCallout">
            <a:avLst>
              <a:gd name="adj1" fmla="val 27767"/>
              <a:gd name="adj2" fmla="val -168309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Participates in </a:t>
            </a:r>
            <a:r>
              <a:rPr lang="en-US" sz="1600" b="1" dirty="0" smtClean="0">
                <a:solidFill>
                  <a:schemeClr val="tx1"/>
                </a:solidFill>
              </a:rPr>
              <a:t>Two </a:t>
            </a:r>
            <a:r>
              <a:rPr lang="en-US" sz="1600" b="1" dirty="0">
                <a:solidFill>
                  <a:schemeClr val="tx1"/>
                </a:solidFill>
              </a:rPr>
              <a:t>E2E Hierarchies: P2S and P2P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164" y="1905000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0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6952" y="2971800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1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93624" y="4038600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2</a:t>
            </a:r>
            <a:endParaRPr lang="en-US" b="1" dirty="0"/>
          </a:p>
        </p:txBody>
      </p:sp>
      <p:sp>
        <p:nvSpPr>
          <p:cNvPr id="22" name="Rectangle 21"/>
          <p:cNvSpPr/>
          <p:nvPr/>
        </p:nvSpPr>
        <p:spPr>
          <a:xfrm>
            <a:off x="5300949" y="2895600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ular Callout 22"/>
          <p:cNvSpPr/>
          <p:nvPr/>
        </p:nvSpPr>
        <p:spPr>
          <a:xfrm>
            <a:off x="1034668" y="4101746"/>
            <a:ext cx="5257801" cy="665803"/>
          </a:xfrm>
          <a:prstGeom prst="wedgeRoundRectCallout">
            <a:avLst>
              <a:gd name="adj1" fmla="val 47034"/>
              <a:gd name="adj2" fmla="val -13602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E2E Segment also corresponding to an Operational </a:t>
            </a:r>
            <a:r>
              <a:rPr lang="en-US" sz="1600" b="1" dirty="0">
                <a:solidFill>
                  <a:schemeClr val="tx1"/>
                </a:solidFill>
              </a:rPr>
              <a:t>A</a:t>
            </a:r>
            <a:r>
              <a:rPr lang="en-US" sz="1600" b="1" dirty="0" smtClean="0">
                <a:solidFill>
                  <a:schemeClr val="tx1"/>
                </a:solidFill>
              </a:rPr>
              <a:t>ctivity from the BEA activity node tree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20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76200" y="3733800"/>
            <a:ext cx="8991600" cy="1049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6200" y="2667000"/>
            <a:ext cx="8991600" cy="1049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76200" y="1600200"/>
            <a:ext cx="8991600" cy="1049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i="1" dirty="0" smtClean="0"/>
              <a:t>Notional Example: </a:t>
            </a:r>
            <a:r>
              <a:rPr lang="en-US" sz="3200" dirty="0" smtClean="0"/>
              <a:t>E2E </a:t>
            </a:r>
            <a:r>
              <a:rPr lang="en-US" sz="3200" dirty="0"/>
              <a:t>Acquire to </a:t>
            </a:r>
            <a:r>
              <a:rPr lang="en-US" sz="3200" dirty="0" smtClean="0"/>
              <a:t>Retire</a:t>
            </a:r>
            <a:endParaRPr lang="en-US" sz="3200" dirty="0"/>
          </a:p>
        </p:txBody>
      </p:sp>
      <p:sp>
        <p:nvSpPr>
          <p:cNvPr id="19" name="Rectangle 18"/>
          <p:cNvSpPr/>
          <p:nvPr/>
        </p:nvSpPr>
        <p:spPr>
          <a:xfrm>
            <a:off x="3268980" y="178308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Acquire to Retire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stCxn id="19" idx="2"/>
            <a:endCxn id="23" idx="0"/>
          </p:cNvCxnSpPr>
          <p:nvPr/>
        </p:nvCxnSpPr>
        <p:spPr>
          <a:xfrm flipH="1">
            <a:off x="2195669" y="2400300"/>
            <a:ext cx="2063911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9" idx="2"/>
            <a:endCxn id="25" idx="0"/>
          </p:cNvCxnSpPr>
          <p:nvPr/>
        </p:nvCxnSpPr>
        <p:spPr>
          <a:xfrm flipH="1">
            <a:off x="4253069" y="2400300"/>
            <a:ext cx="6511" cy="537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9" idx="2"/>
            <a:endCxn id="24" idx="0"/>
          </p:cNvCxnSpPr>
          <p:nvPr/>
        </p:nvCxnSpPr>
        <p:spPr>
          <a:xfrm>
            <a:off x="4259580" y="2400300"/>
            <a:ext cx="2050889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2050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Concept to Product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198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Placement into Service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62469" y="29375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Procure to Pay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62469" y="2937324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51164" y="1905000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0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176952" y="2971800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1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193624" y="4038600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2</a:t>
            </a:r>
            <a:endParaRPr lang="en-US" b="1" dirty="0"/>
          </a:p>
        </p:txBody>
      </p:sp>
      <p:sp>
        <p:nvSpPr>
          <p:cNvPr id="18" name="Rounded Rectangular Callout 17"/>
          <p:cNvSpPr/>
          <p:nvPr/>
        </p:nvSpPr>
        <p:spPr>
          <a:xfrm>
            <a:off x="1905000" y="5029200"/>
            <a:ext cx="3429000" cy="609600"/>
          </a:xfrm>
          <a:prstGeom prst="wedgeRoundRectCallout">
            <a:avLst>
              <a:gd name="adj1" fmla="val 20377"/>
              <a:gd name="adj2" fmla="val -296623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Participates in </a:t>
            </a:r>
            <a:r>
              <a:rPr lang="en-US" sz="1600" b="1" dirty="0" smtClean="0">
                <a:solidFill>
                  <a:schemeClr val="tx1"/>
                </a:solidFill>
              </a:rPr>
              <a:t>Two </a:t>
            </a:r>
            <a:r>
              <a:rPr lang="en-US" sz="1600" b="1" dirty="0">
                <a:solidFill>
                  <a:schemeClr val="tx1"/>
                </a:solidFill>
              </a:rPr>
              <a:t>E2E Hierarchies: </a:t>
            </a:r>
            <a:r>
              <a:rPr lang="en-US" sz="1600" b="1" dirty="0" smtClean="0">
                <a:solidFill>
                  <a:schemeClr val="tx1"/>
                </a:solidFill>
              </a:rPr>
              <a:t>A2R and </a:t>
            </a:r>
            <a:r>
              <a:rPr lang="en-US" sz="1600" b="1" dirty="0">
                <a:solidFill>
                  <a:schemeClr val="tx1"/>
                </a:solidFill>
              </a:rPr>
              <a:t>P2P</a:t>
            </a:r>
          </a:p>
        </p:txBody>
      </p:sp>
    </p:spTree>
    <p:extLst>
      <p:ext uri="{BB962C8B-B14F-4D97-AF65-F5344CB8AC3E}">
        <p14:creationId xmlns:p14="http://schemas.microsoft.com/office/powerpoint/2010/main" val="230721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76200" y="5029200"/>
            <a:ext cx="8991600" cy="1049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6200" y="2667001"/>
            <a:ext cx="8991600" cy="23394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76200" y="1600200"/>
            <a:ext cx="8991600" cy="1049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‘Nested’ </a:t>
            </a:r>
            <a:r>
              <a:rPr lang="en-US" sz="3200" dirty="0"/>
              <a:t>E2E Hierarchies and </a:t>
            </a:r>
            <a:r>
              <a:rPr lang="en-US" sz="3200" dirty="0" smtClean="0"/>
              <a:t>Federation Level</a:t>
            </a:r>
            <a:endParaRPr lang="en-US" sz="3200" dirty="0"/>
          </a:p>
        </p:txBody>
      </p:sp>
      <p:sp>
        <p:nvSpPr>
          <p:cNvPr id="19" name="Rectangle 18"/>
          <p:cNvSpPr/>
          <p:nvPr/>
        </p:nvSpPr>
        <p:spPr>
          <a:xfrm>
            <a:off x="3268980" y="178308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Acquire to Retire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stCxn id="19" idx="2"/>
            <a:endCxn id="23" idx="0"/>
          </p:cNvCxnSpPr>
          <p:nvPr/>
        </p:nvCxnSpPr>
        <p:spPr>
          <a:xfrm flipH="1">
            <a:off x="2195669" y="2400300"/>
            <a:ext cx="2063911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9" idx="2"/>
            <a:endCxn id="25" idx="0"/>
          </p:cNvCxnSpPr>
          <p:nvPr/>
        </p:nvCxnSpPr>
        <p:spPr>
          <a:xfrm flipH="1">
            <a:off x="4253069" y="2400300"/>
            <a:ext cx="6511" cy="537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9" idx="2"/>
            <a:endCxn id="24" idx="0"/>
          </p:cNvCxnSpPr>
          <p:nvPr/>
        </p:nvCxnSpPr>
        <p:spPr>
          <a:xfrm>
            <a:off x="4259580" y="2400300"/>
            <a:ext cx="2050889" cy="49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2050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Concept to Product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19869" y="28994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Placement into Service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62469" y="29375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Procure to Pay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62469" y="2937324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51164" y="1905000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0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176952" y="3652041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1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193624" y="5334000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Level 2</a:t>
            </a:r>
            <a:endParaRPr lang="en-US" b="1" dirty="0"/>
          </a:p>
        </p:txBody>
      </p:sp>
      <p:sp>
        <p:nvSpPr>
          <p:cNvPr id="27" name="Rectangle 26"/>
          <p:cNvSpPr/>
          <p:nvPr/>
        </p:nvSpPr>
        <p:spPr>
          <a:xfrm>
            <a:off x="6172200" y="525780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Accept Goods and Services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/>
          <p:cNvCxnSpPr>
            <a:stCxn id="33" idx="2"/>
            <a:endCxn id="32" idx="0"/>
          </p:cNvCxnSpPr>
          <p:nvPr/>
        </p:nvCxnSpPr>
        <p:spPr>
          <a:xfrm flipH="1">
            <a:off x="2195669" y="3554544"/>
            <a:ext cx="2057400" cy="525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33" idx="2"/>
            <a:endCxn id="42" idx="0"/>
          </p:cNvCxnSpPr>
          <p:nvPr/>
        </p:nvCxnSpPr>
        <p:spPr>
          <a:xfrm>
            <a:off x="4253069" y="3554544"/>
            <a:ext cx="0" cy="525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5" idx="2"/>
            <a:endCxn id="34" idx="0"/>
          </p:cNvCxnSpPr>
          <p:nvPr/>
        </p:nvCxnSpPr>
        <p:spPr>
          <a:xfrm>
            <a:off x="4253069" y="3554730"/>
            <a:ext cx="2057400" cy="525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4" idx="2"/>
            <a:endCxn id="27" idx="0"/>
          </p:cNvCxnSpPr>
          <p:nvPr/>
        </p:nvCxnSpPr>
        <p:spPr>
          <a:xfrm>
            <a:off x="6310469" y="4697730"/>
            <a:ext cx="852331" cy="560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205069" y="40805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Award Procurement Instrument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319869" y="40805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Perform Receipt, Acceptance and Return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62469" y="4080510"/>
            <a:ext cx="1981200" cy="617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Administer Procurement Instrument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6" name="Rounded Rectangular Callout 25"/>
          <p:cNvSpPr/>
          <p:nvPr/>
        </p:nvSpPr>
        <p:spPr>
          <a:xfrm>
            <a:off x="1237201" y="6244416"/>
            <a:ext cx="4934999" cy="308784"/>
          </a:xfrm>
          <a:prstGeom prst="wedgeRoundRectCallout">
            <a:avLst>
              <a:gd name="adj1" fmla="val 49847"/>
              <a:gd name="adj2" fmla="val -258925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BEA E2E Hierarchy ‘leaves’ always understood as Level 2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77527" y="4080510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265583" y="4074129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320588" y="4078765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150166" y="5257800"/>
            <a:ext cx="1981200" cy="61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1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</a:t>
            </a:r>
            <a:r>
              <a:rPr lang="en-US" i="1" dirty="0" smtClean="0"/>
              <a:t>Notional Example: </a:t>
            </a:r>
            <a:br>
              <a:rPr lang="en-US" i="1" dirty="0" smtClean="0"/>
            </a:br>
            <a:r>
              <a:rPr lang="en-US" dirty="0" smtClean="0"/>
              <a:t>BEA Operational Activity Node Tree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5406390" y="5684520"/>
            <a:ext cx="2362200" cy="550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88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 smtClean="0"/>
              <a:t>E2E Hierarchy: P2S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5406390" y="5684520"/>
            <a:ext cx="2362200" cy="550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Straight Connector 13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ular Callout 14"/>
          <p:cNvSpPr/>
          <p:nvPr/>
        </p:nvSpPr>
        <p:spPr>
          <a:xfrm>
            <a:off x="2728474" y="4419600"/>
            <a:ext cx="1558636" cy="236568"/>
          </a:xfrm>
          <a:prstGeom prst="wedgeRoundRectCallout">
            <a:avLst>
              <a:gd name="adj1" fmla="val -52130"/>
              <a:gd name="adj2" fmla="val 15012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E2E Hierarchy: P2S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15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 smtClean="0"/>
              <a:t>E2E Hierarchy and Federation Level Context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5406390" y="5684520"/>
            <a:ext cx="2362200" cy="550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4038600"/>
            <a:ext cx="247356" cy="64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1"/>
            <a:ext cx="1795916" cy="2618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4038600"/>
            <a:ext cx="551245" cy="2280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754457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4038600"/>
            <a:ext cx="151841" cy="1013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ular Callout 40"/>
          <p:cNvSpPr/>
          <p:nvPr/>
        </p:nvSpPr>
        <p:spPr>
          <a:xfrm>
            <a:off x="472306" y="3421032"/>
            <a:ext cx="1995927" cy="236568"/>
          </a:xfrm>
          <a:prstGeom prst="wedgeRoundRectCallout">
            <a:avLst>
              <a:gd name="adj1" fmla="val -33505"/>
              <a:gd name="adj2" fmla="val 9075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E2E Hierarchy Context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962710" cy="820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114953"/>
            <a:ext cx="2705058" cy="203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ular Callout 55"/>
          <p:cNvSpPr/>
          <p:nvPr/>
        </p:nvSpPr>
        <p:spPr>
          <a:xfrm>
            <a:off x="1204356" y="4030132"/>
            <a:ext cx="1996044" cy="215034"/>
          </a:xfrm>
          <a:prstGeom prst="wedgeRoundRectCallout">
            <a:avLst>
              <a:gd name="adj1" fmla="val -50391"/>
              <a:gd name="adj2" fmla="val 21494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L0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4" name="Rounded Rectangular Callout 33"/>
          <p:cNvSpPr/>
          <p:nvPr/>
        </p:nvSpPr>
        <p:spPr>
          <a:xfrm>
            <a:off x="443127" y="6592544"/>
            <a:ext cx="1980034" cy="215034"/>
          </a:xfrm>
          <a:prstGeom prst="wedgeRoundRectCallout">
            <a:avLst>
              <a:gd name="adj1" fmla="val -50883"/>
              <a:gd name="adj2" fmla="val -12831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L2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Rounded Rectangular Callout 35"/>
          <p:cNvSpPr/>
          <p:nvPr/>
        </p:nvSpPr>
        <p:spPr>
          <a:xfrm>
            <a:off x="1643208" y="4452651"/>
            <a:ext cx="1958102" cy="215034"/>
          </a:xfrm>
          <a:prstGeom prst="wedgeRoundRectCallout">
            <a:avLst>
              <a:gd name="adj1" fmla="val -92293"/>
              <a:gd name="adj2" fmla="val 20982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L1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00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 smtClean="0"/>
              <a:t>Operational Activity in E2E Context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5406390" y="5684520"/>
            <a:ext cx="2362200" cy="550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6313170" y="5353050"/>
            <a:ext cx="838200" cy="3276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4038600"/>
            <a:ext cx="247356" cy="64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1"/>
            <a:ext cx="1795916" cy="2618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4038600"/>
            <a:ext cx="551245" cy="2280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754457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4038600"/>
            <a:ext cx="151841" cy="1013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  <a:endCxn id="118" idx="1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8" idx="3"/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  <a:endCxn id="3" idx="2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8" name="Rectangle 117"/>
          <p:cNvSpPr/>
          <p:nvPr/>
        </p:nvSpPr>
        <p:spPr>
          <a:xfrm>
            <a:off x="3294949" y="5890379"/>
            <a:ext cx="986347" cy="2858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ular Callout 56"/>
          <p:cNvSpPr/>
          <p:nvPr/>
        </p:nvSpPr>
        <p:spPr>
          <a:xfrm>
            <a:off x="4007468" y="4850407"/>
            <a:ext cx="2242993" cy="243562"/>
          </a:xfrm>
          <a:prstGeom prst="wedgeRoundRectCallout">
            <a:avLst>
              <a:gd name="adj1" fmla="val -7740"/>
              <a:gd name="adj2" fmla="val 17740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E2E Context: P2S L2</a:t>
            </a:r>
            <a:endParaRPr lang="en-US" sz="1200" b="1" dirty="0">
              <a:solidFill>
                <a:schemeClr val="tx1"/>
              </a:solidFill>
            </a:endParaRPr>
          </a:p>
        </p:txBody>
      </p: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8" name="Straight Connector 57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21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 smtClean="0"/>
              <a:t>BPMN Tasks Extend the BEA Activity Node Tree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1"/>
            <a:ext cx="1795916" cy="2618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9" name="Straight Connector 58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ular Callout 59"/>
          <p:cNvSpPr/>
          <p:nvPr/>
        </p:nvSpPr>
        <p:spPr>
          <a:xfrm>
            <a:off x="6629400" y="6566766"/>
            <a:ext cx="2242993" cy="215034"/>
          </a:xfrm>
          <a:prstGeom prst="wedgeRoundRectCallout">
            <a:avLst>
              <a:gd name="adj1" fmla="val -61946"/>
              <a:gd name="adj2" fmla="val -25223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Task within the BPMN model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77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 smtClean="0"/>
              <a:t>BPMN Task in E2E Context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Rounded Rectangular Callout 57"/>
          <p:cNvSpPr/>
          <p:nvPr/>
        </p:nvSpPr>
        <p:spPr>
          <a:xfrm>
            <a:off x="4572000" y="4999617"/>
            <a:ext cx="1954805" cy="215034"/>
          </a:xfrm>
          <a:prstGeom prst="wedgeRoundRectCallout">
            <a:avLst>
              <a:gd name="adj1" fmla="val 935"/>
              <a:gd name="adj2" fmla="val 43947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Task in </a:t>
            </a:r>
            <a:r>
              <a:rPr lang="en-US" sz="1200" b="1" dirty="0">
                <a:solidFill>
                  <a:schemeClr val="tx1"/>
                </a:solidFill>
              </a:rPr>
              <a:t>E2E Context: P2S L2</a:t>
            </a:r>
          </a:p>
        </p:txBody>
      </p:sp>
      <p:sp>
        <p:nvSpPr>
          <p:cNvPr id="67" name="Rounded Rectangular Callout 66"/>
          <p:cNvSpPr/>
          <p:nvPr/>
        </p:nvSpPr>
        <p:spPr>
          <a:xfrm>
            <a:off x="6629400" y="6566766"/>
            <a:ext cx="2242993" cy="215034"/>
          </a:xfrm>
          <a:prstGeom prst="wedgeRoundRectCallout">
            <a:avLst>
              <a:gd name="adj1" fmla="val -61946"/>
              <a:gd name="adj2" fmla="val -25223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Task within the BPMN model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862098" y="5822579"/>
            <a:ext cx="838200" cy="3276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858000" y="5822579"/>
            <a:ext cx="838200" cy="3276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3287510" y="6358263"/>
            <a:ext cx="986347" cy="2858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9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 smtClean="0"/>
              <a:t>A Second E2E Hierarchy: P2P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10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6054"/>
            <a:ext cx="2667268" cy="83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8" name="Straight Connector 67"/>
          <p:cNvCxnSpPr/>
          <p:nvPr/>
        </p:nvCxnSpPr>
        <p:spPr>
          <a:xfrm>
            <a:off x="3659292" y="4419600"/>
            <a:ext cx="128831" cy="147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ular Callout 56"/>
          <p:cNvSpPr/>
          <p:nvPr/>
        </p:nvSpPr>
        <p:spPr>
          <a:xfrm>
            <a:off x="3352800" y="3268632"/>
            <a:ext cx="1995927" cy="236568"/>
          </a:xfrm>
          <a:prstGeom prst="wedgeRoundRectCallout">
            <a:avLst>
              <a:gd name="adj1" fmla="val -58491"/>
              <a:gd name="adj2" fmla="val 13149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 Second E2E Hierarchy: P2P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88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Second E2E Hierarchy</a:t>
            </a:r>
            <a:r>
              <a:rPr lang="en-US" dirty="0"/>
              <a:t> and Federation Level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8" name="Straight Connector 67"/>
          <p:cNvCxnSpPr/>
          <p:nvPr/>
        </p:nvCxnSpPr>
        <p:spPr>
          <a:xfrm>
            <a:off x="3659292" y="4419600"/>
            <a:ext cx="128831" cy="147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806941" cy="27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7" name="Straight Connector 56"/>
          <p:cNvCxnSpPr>
            <a:stCxn id="56" idx="2"/>
            <a:endCxn id="78" idx="3"/>
          </p:cNvCxnSpPr>
          <p:nvPr/>
        </p:nvCxnSpPr>
        <p:spPr>
          <a:xfrm flipH="1">
            <a:off x="4127856" y="3550617"/>
            <a:ext cx="1000015" cy="3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79" idx="1"/>
          </p:cNvCxnSpPr>
          <p:nvPr/>
        </p:nvCxnSpPr>
        <p:spPr>
          <a:xfrm flipH="1">
            <a:off x="1934929" y="3874214"/>
            <a:ext cx="2102715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79" idx="1"/>
          </p:cNvCxnSpPr>
          <p:nvPr/>
        </p:nvCxnSpPr>
        <p:spPr>
          <a:xfrm flipH="1">
            <a:off x="2895600" y="3874214"/>
            <a:ext cx="1142044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9" idx="1"/>
          </p:cNvCxnSpPr>
          <p:nvPr/>
        </p:nvCxnSpPr>
        <p:spPr>
          <a:xfrm flipH="1">
            <a:off x="3723707" y="3874214"/>
            <a:ext cx="313937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6" idx="2"/>
            <a:endCxn id="80" idx="3"/>
          </p:cNvCxnSpPr>
          <p:nvPr/>
        </p:nvCxnSpPr>
        <p:spPr>
          <a:xfrm flipH="1">
            <a:off x="5062885" y="3550617"/>
            <a:ext cx="64986" cy="681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ular Callout 71"/>
          <p:cNvSpPr/>
          <p:nvPr/>
        </p:nvSpPr>
        <p:spPr>
          <a:xfrm>
            <a:off x="4100073" y="2971800"/>
            <a:ext cx="1995927" cy="236568"/>
          </a:xfrm>
          <a:prstGeom prst="wedgeRoundRectCallout">
            <a:avLst>
              <a:gd name="adj1" fmla="val -11022"/>
              <a:gd name="adj2" fmla="val 9424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P2P E2E Hierarchy Context</a:t>
            </a:r>
          </a:p>
        </p:txBody>
      </p:sp>
      <p:cxnSp>
        <p:nvCxnSpPr>
          <p:cNvPr id="73" name="Straight Connector 72"/>
          <p:cNvCxnSpPr>
            <a:stCxn id="78" idx="1"/>
            <a:endCxn id="67" idx="0"/>
          </p:cNvCxnSpPr>
          <p:nvPr/>
        </p:nvCxnSpPr>
        <p:spPr>
          <a:xfrm flipH="1">
            <a:off x="2781434" y="3585428"/>
            <a:ext cx="758934" cy="706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6" idx="2"/>
            <a:endCxn id="79" idx="3"/>
          </p:cNvCxnSpPr>
          <p:nvPr/>
        </p:nvCxnSpPr>
        <p:spPr>
          <a:xfrm flipH="1">
            <a:off x="4517522" y="3550617"/>
            <a:ext cx="610349" cy="323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80" idx="1"/>
          </p:cNvCxnSpPr>
          <p:nvPr/>
        </p:nvCxnSpPr>
        <p:spPr>
          <a:xfrm flipH="1">
            <a:off x="3788123" y="4231821"/>
            <a:ext cx="863100" cy="16585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8" idx="2"/>
            <a:endCxn id="79" idx="0"/>
          </p:cNvCxnSpPr>
          <p:nvPr/>
        </p:nvCxnSpPr>
        <p:spPr>
          <a:xfrm>
            <a:off x="3834112" y="3685176"/>
            <a:ext cx="443471" cy="107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79" idx="2"/>
            <a:endCxn id="80" idx="0"/>
          </p:cNvCxnSpPr>
          <p:nvPr/>
        </p:nvCxnSpPr>
        <p:spPr>
          <a:xfrm>
            <a:off x="4277583" y="3955691"/>
            <a:ext cx="579471" cy="20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8" y="3485680"/>
            <a:ext cx="587488" cy="19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1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644" y="3792737"/>
            <a:ext cx="479878" cy="16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" name="Picture 1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223" y="416192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10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6054"/>
            <a:ext cx="2667268" cy="83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" name="Rounded Rectangular Callout 80"/>
          <p:cNvSpPr/>
          <p:nvPr/>
        </p:nvSpPr>
        <p:spPr>
          <a:xfrm>
            <a:off x="4580453" y="4517179"/>
            <a:ext cx="2048948" cy="215034"/>
          </a:xfrm>
          <a:prstGeom prst="wedgeRoundRectCallout">
            <a:avLst>
              <a:gd name="adj1" fmla="val -38659"/>
              <a:gd name="adj2" fmla="val -14458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P2P L2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ular Callout 82"/>
          <p:cNvSpPr/>
          <p:nvPr/>
        </p:nvSpPr>
        <p:spPr>
          <a:xfrm>
            <a:off x="4919807" y="3823566"/>
            <a:ext cx="2014393" cy="194504"/>
          </a:xfrm>
          <a:prstGeom prst="wedgeRoundRectCallout">
            <a:avLst>
              <a:gd name="adj1" fmla="val -68621"/>
              <a:gd name="adj2" fmla="val -1137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P2P L1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58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/>
              <a:t>Operational Activity in </a:t>
            </a:r>
            <a:r>
              <a:rPr lang="en-US" dirty="0" smtClean="0"/>
              <a:t>Two Different E2E Contexts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  <a:endCxn id="118" idx="1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8" idx="3"/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  <a:endCxn id="3" idx="2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3294949" y="5890379"/>
            <a:ext cx="986347" cy="2858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6313170" y="5353050"/>
            <a:ext cx="838200" cy="3276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>
            <a:endCxn id="118" idx="0"/>
          </p:cNvCxnSpPr>
          <p:nvPr/>
        </p:nvCxnSpPr>
        <p:spPr>
          <a:xfrm>
            <a:off x="3659292" y="4419600"/>
            <a:ext cx="128831" cy="147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806941" cy="27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7" name="Straight Connector 56"/>
          <p:cNvCxnSpPr>
            <a:stCxn id="56" idx="2"/>
            <a:endCxn id="78" idx="3"/>
          </p:cNvCxnSpPr>
          <p:nvPr/>
        </p:nvCxnSpPr>
        <p:spPr>
          <a:xfrm flipH="1">
            <a:off x="4127856" y="3550617"/>
            <a:ext cx="1000015" cy="3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79" idx="1"/>
          </p:cNvCxnSpPr>
          <p:nvPr/>
        </p:nvCxnSpPr>
        <p:spPr>
          <a:xfrm flipH="1">
            <a:off x="1934929" y="3874214"/>
            <a:ext cx="2102715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79" idx="1"/>
          </p:cNvCxnSpPr>
          <p:nvPr/>
        </p:nvCxnSpPr>
        <p:spPr>
          <a:xfrm flipH="1">
            <a:off x="2895600" y="3874214"/>
            <a:ext cx="1142044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9" idx="1"/>
          </p:cNvCxnSpPr>
          <p:nvPr/>
        </p:nvCxnSpPr>
        <p:spPr>
          <a:xfrm flipH="1">
            <a:off x="3723707" y="3874214"/>
            <a:ext cx="313937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6" idx="2"/>
            <a:endCxn id="80" idx="3"/>
          </p:cNvCxnSpPr>
          <p:nvPr/>
        </p:nvCxnSpPr>
        <p:spPr>
          <a:xfrm flipH="1">
            <a:off x="5062885" y="3550617"/>
            <a:ext cx="64986" cy="681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78" idx="1"/>
            <a:endCxn id="67" idx="0"/>
          </p:cNvCxnSpPr>
          <p:nvPr/>
        </p:nvCxnSpPr>
        <p:spPr>
          <a:xfrm flipH="1">
            <a:off x="2781434" y="3585428"/>
            <a:ext cx="758934" cy="706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6" idx="2"/>
            <a:endCxn id="79" idx="3"/>
          </p:cNvCxnSpPr>
          <p:nvPr/>
        </p:nvCxnSpPr>
        <p:spPr>
          <a:xfrm flipH="1">
            <a:off x="4517522" y="3550617"/>
            <a:ext cx="610349" cy="323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80" idx="1"/>
            <a:endCxn id="118" idx="0"/>
          </p:cNvCxnSpPr>
          <p:nvPr/>
        </p:nvCxnSpPr>
        <p:spPr>
          <a:xfrm flipH="1">
            <a:off x="3788123" y="4231821"/>
            <a:ext cx="863100" cy="16585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8" idx="2"/>
            <a:endCxn id="79" idx="0"/>
          </p:cNvCxnSpPr>
          <p:nvPr/>
        </p:nvCxnSpPr>
        <p:spPr>
          <a:xfrm>
            <a:off x="3834112" y="3685176"/>
            <a:ext cx="443471" cy="107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79" idx="2"/>
            <a:endCxn id="80" idx="0"/>
          </p:cNvCxnSpPr>
          <p:nvPr/>
        </p:nvCxnSpPr>
        <p:spPr>
          <a:xfrm>
            <a:off x="4277583" y="3955691"/>
            <a:ext cx="579471" cy="20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8" y="3485680"/>
            <a:ext cx="587488" cy="19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1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644" y="3792737"/>
            <a:ext cx="479878" cy="16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" name="Picture 1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223" y="416192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10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6054"/>
            <a:ext cx="2667268" cy="83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2" name="Straight Connector 81"/>
          <p:cNvCxnSpPr>
            <a:stCxn id="84" idx="3"/>
            <a:endCxn id="3" idx="2"/>
          </p:cNvCxnSpPr>
          <p:nvPr/>
        </p:nvCxnSpPr>
        <p:spPr>
          <a:xfrm>
            <a:off x="5658709" y="5068971"/>
            <a:ext cx="654461" cy="447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118" idx="3"/>
            <a:endCxn id="84" idx="1"/>
          </p:cNvCxnSpPr>
          <p:nvPr/>
        </p:nvCxnSpPr>
        <p:spPr>
          <a:xfrm flipV="1">
            <a:off x="4281296" y="5068971"/>
            <a:ext cx="466819" cy="96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1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115" y="4937391"/>
            <a:ext cx="910594" cy="26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5" name="Straight Connector 84"/>
          <p:cNvCxnSpPr>
            <a:stCxn id="80" idx="1"/>
            <a:endCxn id="84" idx="1"/>
          </p:cNvCxnSpPr>
          <p:nvPr/>
        </p:nvCxnSpPr>
        <p:spPr>
          <a:xfrm>
            <a:off x="4651223" y="4231821"/>
            <a:ext cx="96892" cy="8371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ounded Rectangular Callout 85"/>
          <p:cNvSpPr/>
          <p:nvPr/>
        </p:nvSpPr>
        <p:spPr>
          <a:xfrm>
            <a:off x="5279511" y="4586989"/>
            <a:ext cx="2645289" cy="213611"/>
          </a:xfrm>
          <a:prstGeom prst="wedgeRoundRectCallout">
            <a:avLst>
              <a:gd name="adj1" fmla="val -40599"/>
              <a:gd name="adj2" fmla="val 12697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Second E2E Context: P2P L2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ular Callout 80"/>
          <p:cNvSpPr/>
          <p:nvPr/>
        </p:nvSpPr>
        <p:spPr>
          <a:xfrm>
            <a:off x="5605607" y="5120261"/>
            <a:ext cx="2242993" cy="213739"/>
          </a:xfrm>
          <a:prstGeom prst="wedgeRoundRectCallout">
            <a:avLst>
              <a:gd name="adj1" fmla="val -48999"/>
              <a:gd name="adj2" fmla="val 1353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E2E Context: P2S L2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88" name="Rounded Rectangular Callout 87"/>
          <p:cNvSpPr/>
          <p:nvPr/>
        </p:nvSpPr>
        <p:spPr>
          <a:xfrm>
            <a:off x="697569" y="4343400"/>
            <a:ext cx="2590800" cy="435497"/>
          </a:xfrm>
          <a:prstGeom prst="wedgeRoundRectCallout">
            <a:avLst>
              <a:gd name="adj1" fmla="val 62560"/>
              <a:gd name="adj2" fmla="val 30790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Participates in </a:t>
            </a:r>
            <a:r>
              <a:rPr lang="en-US" sz="1200" b="1" dirty="0" smtClean="0">
                <a:solidFill>
                  <a:schemeClr val="tx1"/>
                </a:solidFill>
              </a:rPr>
              <a:t>two E2E </a:t>
            </a:r>
            <a:r>
              <a:rPr lang="en-US" sz="1200" b="1" dirty="0">
                <a:solidFill>
                  <a:schemeClr val="tx1"/>
                </a:solidFill>
              </a:rPr>
              <a:t>Hierarchies: </a:t>
            </a:r>
            <a:r>
              <a:rPr lang="en-US" sz="1200" b="1" dirty="0" smtClean="0">
                <a:solidFill>
                  <a:schemeClr val="tx1"/>
                </a:solidFill>
              </a:rPr>
              <a:t>P2S </a:t>
            </a:r>
            <a:r>
              <a:rPr lang="en-US" sz="1200" b="1" dirty="0">
                <a:solidFill>
                  <a:schemeClr val="tx1"/>
                </a:solidFill>
              </a:rPr>
              <a:t>and </a:t>
            </a:r>
            <a:r>
              <a:rPr lang="en-US" sz="1200" b="1" dirty="0" smtClean="0">
                <a:solidFill>
                  <a:schemeClr val="tx1"/>
                </a:solidFill>
              </a:rPr>
              <a:t>P2P (both at Level 2)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87" name="Rounded Rectangular Callout 86"/>
          <p:cNvSpPr/>
          <p:nvPr/>
        </p:nvSpPr>
        <p:spPr>
          <a:xfrm>
            <a:off x="491217" y="5236768"/>
            <a:ext cx="2299155" cy="416546"/>
          </a:xfrm>
          <a:prstGeom prst="wedgeRoundRectCallout">
            <a:avLst>
              <a:gd name="adj1" fmla="val 72644"/>
              <a:gd name="adj2" fmla="val 26124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Only valid </a:t>
            </a:r>
            <a:r>
              <a:rPr lang="en-US" sz="1200" b="1" dirty="0">
                <a:solidFill>
                  <a:schemeClr val="tx1"/>
                </a:solidFill>
              </a:rPr>
              <a:t>in P2S E2E </a:t>
            </a:r>
            <a:r>
              <a:rPr lang="en-US" sz="1200" b="1" dirty="0" smtClean="0">
                <a:solidFill>
                  <a:schemeClr val="tx1"/>
                </a:solidFill>
              </a:rPr>
              <a:t>Hierarchy Context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49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/>
              <a:t>Operational Activity in </a:t>
            </a:r>
            <a:r>
              <a:rPr lang="en-US" dirty="0" smtClean="0"/>
              <a:t>a L1 E2E Context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31242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6200" y="2834640"/>
            <a:ext cx="89763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0" y="88094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Meta-Model</a:t>
            </a:r>
            <a:endParaRPr lang="en-US" sz="14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2839105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71893"/>
            <a:ext cx="5769489" cy="194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8" name="Straight Connector 67"/>
          <p:cNvCxnSpPr/>
          <p:nvPr/>
        </p:nvCxnSpPr>
        <p:spPr>
          <a:xfrm>
            <a:off x="3659292" y="4419600"/>
            <a:ext cx="128831" cy="147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806941" cy="27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7" name="Straight Connector 56"/>
          <p:cNvCxnSpPr>
            <a:stCxn id="56" idx="2"/>
            <a:endCxn id="78" idx="3"/>
          </p:cNvCxnSpPr>
          <p:nvPr/>
        </p:nvCxnSpPr>
        <p:spPr>
          <a:xfrm flipH="1">
            <a:off x="4127856" y="3550617"/>
            <a:ext cx="1000015" cy="3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79" idx="1"/>
          </p:cNvCxnSpPr>
          <p:nvPr/>
        </p:nvCxnSpPr>
        <p:spPr>
          <a:xfrm flipH="1">
            <a:off x="1934929" y="3874214"/>
            <a:ext cx="2102715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79" idx="1"/>
          </p:cNvCxnSpPr>
          <p:nvPr/>
        </p:nvCxnSpPr>
        <p:spPr>
          <a:xfrm flipH="1">
            <a:off x="2895600" y="3874214"/>
            <a:ext cx="1142044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9" idx="1"/>
          </p:cNvCxnSpPr>
          <p:nvPr/>
        </p:nvCxnSpPr>
        <p:spPr>
          <a:xfrm flipH="1">
            <a:off x="3723707" y="3874214"/>
            <a:ext cx="313937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6" idx="2"/>
            <a:endCxn id="80" idx="3"/>
          </p:cNvCxnSpPr>
          <p:nvPr/>
        </p:nvCxnSpPr>
        <p:spPr>
          <a:xfrm flipH="1">
            <a:off x="5062885" y="3550617"/>
            <a:ext cx="64986" cy="681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78" idx="1"/>
            <a:endCxn id="67" idx="0"/>
          </p:cNvCxnSpPr>
          <p:nvPr/>
        </p:nvCxnSpPr>
        <p:spPr>
          <a:xfrm flipH="1">
            <a:off x="2781434" y="3585428"/>
            <a:ext cx="758934" cy="706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6" idx="2"/>
            <a:endCxn id="79" idx="3"/>
          </p:cNvCxnSpPr>
          <p:nvPr/>
        </p:nvCxnSpPr>
        <p:spPr>
          <a:xfrm flipH="1">
            <a:off x="4517522" y="3550617"/>
            <a:ext cx="610349" cy="323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80" idx="1"/>
          </p:cNvCxnSpPr>
          <p:nvPr/>
        </p:nvCxnSpPr>
        <p:spPr>
          <a:xfrm flipH="1">
            <a:off x="3788123" y="4231821"/>
            <a:ext cx="863100" cy="16585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8" idx="2"/>
            <a:endCxn id="79" idx="0"/>
          </p:cNvCxnSpPr>
          <p:nvPr/>
        </p:nvCxnSpPr>
        <p:spPr>
          <a:xfrm>
            <a:off x="3834112" y="3685176"/>
            <a:ext cx="443471" cy="107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79" idx="2"/>
            <a:endCxn id="80" idx="0"/>
          </p:cNvCxnSpPr>
          <p:nvPr/>
        </p:nvCxnSpPr>
        <p:spPr>
          <a:xfrm>
            <a:off x="4277583" y="3955691"/>
            <a:ext cx="579471" cy="20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8" y="3485680"/>
            <a:ext cx="587488" cy="19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1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644" y="3792737"/>
            <a:ext cx="479878" cy="16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" name="Picture 1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223" y="416192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10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6054"/>
            <a:ext cx="2667268" cy="83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2" name="Straight Connector 81"/>
          <p:cNvCxnSpPr>
            <a:stCxn id="84" idx="3"/>
          </p:cNvCxnSpPr>
          <p:nvPr/>
        </p:nvCxnSpPr>
        <p:spPr>
          <a:xfrm>
            <a:off x="5658709" y="5068971"/>
            <a:ext cx="654461" cy="447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endCxn id="84" idx="1"/>
          </p:cNvCxnSpPr>
          <p:nvPr/>
        </p:nvCxnSpPr>
        <p:spPr>
          <a:xfrm flipV="1">
            <a:off x="4281296" y="5068971"/>
            <a:ext cx="466819" cy="96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1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115" y="4937391"/>
            <a:ext cx="910594" cy="26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5" name="Straight Connector 84"/>
          <p:cNvCxnSpPr>
            <a:stCxn id="80" idx="1"/>
            <a:endCxn id="84" idx="1"/>
          </p:cNvCxnSpPr>
          <p:nvPr/>
        </p:nvCxnSpPr>
        <p:spPr>
          <a:xfrm>
            <a:off x="4651223" y="4231821"/>
            <a:ext cx="96892" cy="8371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267074" y="1836120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ular Callout 80"/>
          <p:cNvSpPr/>
          <p:nvPr/>
        </p:nvSpPr>
        <p:spPr>
          <a:xfrm>
            <a:off x="5910407" y="4129661"/>
            <a:ext cx="2242993" cy="213739"/>
          </a:xfrm>
          <a:prstGeom prst="wedgeRoundRectCallout">
            <a:avLst>
              <a:gd name="adj1" fmla="val -48999"/>
              <a:gd name="adj2" fmla="val 1353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E2E Context: P2P L1</a:t>
            </a:r>
            <a:endParaRPr lang="en-US" sz="1200" b="1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712" y="4479817"/>
            <a:ext cx="799467" cy="295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7" name="Straight Connector 86"/>
          <p:cNvCxnSpPr>
            <a:stCxn id="2050" idx="3"/>
            <a:endCxn id="88" idx="2"/>
          </p:cNvCxnSpPr>
          <p:nvPr/>
        </p:nvCxnSpPr>
        <p:spPr>
          <a:xfrm>
            <a:off x="6101179" y="4627463"/>
            <a:ext cx="680621" cy="444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6781800" y="4908106"/>
            <a:ext cx="838200" cy="3276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241551" y="4146856"/>
            <a:ext cx="873518" cy="2718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/>
          <p:cNvCxnSpPr>
            <a:stCxn id="89" idx="3"/>
            <a:endCxn id="2050" idx="1"/>
          </p:cNvCxnSpPr>
          <p:nvPr/>
        </p:nvCxnSpPr>
        <p:spPr>
          <a:xfrm>
            <a:off x="4115069" y="4282769"/>
            <a:ext cx="1186643" cy="344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79" idx="1"/>
            <a:endCxn id="2050" idx="1"/>
          </p:cNvCxnSpPr>
          <p:nvPr/>
        </p:nvCxnSpPr>
        <p:spPr>
          <a:xfrm>
            <a:off x="4037644" y="3874214"/>
            <a:ext cx="1264068" cy="75324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10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/>
              <a:t>A </a:t>
            </a:r>
            <a:r>
              <a:rPr lang="en-US" dirty="0" smtClean="0"/>
              <a:t>Third E2E Hierarchy: A2R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11400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11400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854928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8" name="Straight Connector 67"/>
          <p:cNvCxnSpPr/>
          <p:nvPr/>
        </p:nvCxnSpPr>
        <p:spPr>
          <a:xfrm>
            <a:off x="3659292" y="4419600"/>
            <a:ext cx="128831" cy="147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806941" cy="27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7" name="Straight Connector 56"/>
          <p:cNvCxnSpPr>
            <a:stCxn id="56" idx="2"/>
            <a:endCxn id="78" idx="3"/>
          </p:cNvCxnSpPr>
          <p:nvPr/>
        </p:nvCxnSpPr>
        <p:spPr>
          <a:xfrm flipH="1">
            <a:off x="4127856" y="3550617"/>
            <a:ext cx="1000015" cy="3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79" idx="1"/>
          </p:cNvCxnSpPr>
          <p:nvPr/>
        </p:nvCxnSpPr>
        <p:spPr>
          <a:xfrm flipH="1">
            <a:off x="1934929" y="3874214"/>
            <a:ext cx="2102715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79" idx="1"/>
          </p:cNvCxnSpPr>
          <p:nvPr/>
        </p:nvCxnSpPr>
        <p:spPr>
          <a:xfrm flipH="1">
            <a:off x="2895600" y="3874214"/>
            <a:ext cx="1142044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9" idx="1"/>
          </p:cNvCxnSpPr>
          <p:nvPr/>
        </p:nvCxnSpPr>
        <p:spPr>
          <a:xfrm flipH="1">
            <a:off x="3723707" y="3874214"/>
            <a:ext cx="313937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6" idx="2"/>
            <a:endCxn id="80" idx="3"/>
          </p:cNvCxnSpPr>
          <p:nvPr/>
        </p:nvCxnSpPr>
        <p:spPr>
          <a:xfrm flipH="1">
            <a:off x="5062885" y="3550617"/>
            <a:ext cx="64986" cy="681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78" idx="1"/>
            <a:endCxn id="67" idx="0"/>
          </p:cNvCxnSpPr>
          <p:nvPr/>
        </p:nvCxnSpPr>
        <p:spPr>
          <a:xfrm flipH="1">
            <a:off x="2781434" y="3585428"/>
            <a:ext cx="758934" cy="706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6" idx="2"/>
            <a:endCxn id="79" idx="3"/>
          </p:cNvCxnSpPr>
          <p:nvPr/>
        </p:nvCxnSpPr>
        <p:spPr>
          <a:xfrm flipH="1">
            <a:off x="4517522" y="3550617"/>
            <a:ext cx="610349" cy="323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80" idx="1"/>
          </p:cNvCxnSpPr>
          <p:nvPr/>
        </p:nvCxnSpPr>
        <p:spPr>
          <a:xfrm flipH="1">
            <a:off x="3788123" y="4231821"/>
            <a:ext cx="863100" cy="16585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8" idx="2"/>
            <a:endCxn id="79" idx="0"/>
          </p:cNvCxnSpPr>
          <p:nvPr/>
        </p:nvCxnSpPr>
        <p:spPr>
          <a:xfrm>
            <a:off x="3834112" y="3685176"/>
            <a:ext cx="443471" cy="107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79" idx="2"/>
            <a:endCxn id="80" idx="0"/>
          </p:cNvCxnSpPr>
          <p:nvPr/>
        </p:nvCxnSpPr>
        <p:spPr>
          <a:xfrm>
            <a:off x="4277583" y="3955691"/>
            <a:ext cx="579471" cy="20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8" y="3485680"/>
            <a:ext cx="587488" cy="19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1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644" y="3792737"/>
            <a:ext cx="479878" cy="16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" name="Picture 12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223" y="416192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10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6054"/>
            <a:ext cx="2667268" cy="83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2" name="Straight Connector 81"/>
          <p:cNvCxnSpPr>
            <a:stCxn id="84" idx="3"/>
          </p:cNvCxnSpPr>
          <p:nvPr/>
        </p:nvCxnSpPr>
        <p:spPr>
          <a:xfrm>
            <a:off x="5658709" y="5068971"/>
            <a:ext cx="654461" cy="447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endCxn id="84" idx="1"/>
          </p:cNvCxnSpPr>
          <p:nvPr/>
        </p:nvCxnSpPr>
        <p:spPr>
          <a:xfrm flipV="1">
            <a:off x="4281296" y="5068971"/>
            <a:ext cx="466819" cy="96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11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115" y="4937391"/>
            <a:ext cx="910594" cy="26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5" name="Straight Connector 84"/>
          <p:cNvCxnSpPr>
            <a:stCxn id="80" idx="1"/>
            <a:endCxn id="84" idx="1"/>
          </p:cNvCxnSpPr>
          <p:nvPr/>
        </p:nvCxnSpPr>
        <p:spPr>
          <a:xfrm>
            <a:off x="4651223" y="4231821"/>
            <a:ext cx="96892" cy="8371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449" y="1910360"/>
            <a:ext cx="2836407" cy="83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>
            <a:endCxn id="67" idx="0"/>
          </p:cNvCxnSpPr>
          <p:nvPr/>
        </p:nvCxnSpPr>
        <p:spPr>
          <a:xfrm>
            <a:off x="2709652" y="2209800"/>
            <a:ext cx="71782" cy="1446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ular Callout 71"/>
          <p:cNvSpPr/>
          <p:nvPr/>
        </p:nvSpPr>
        <p:spPr>
          <a:xfrm>
            <a:off x="3341783" y="1469834"/>
            <a:ext cx="1995927" cy="236568"/>
          </a:xfrm>
          <a:prstGeom prst="wedgeRoundRectCallout">
            <a:avLst>
              <a:gd name="adj1" fmla="val -58491"/>
              <a:gd name="adj2" fmla="val 13149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 Third E2E Hierarchy: A2R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641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082" y="1447800"/>
            <a:ext cx="743505" cy="2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Third E2E </a:t>
            </a:r>
            <a:r>
              <a:rPr lang="en-US" dirty="0"/>
              <a:t>Hierarchy and Federation Level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5909" y="11400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11400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854928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8" name="Straight Connector 67"/>
          <p:cNvCxnSpPr/>
          <p:nvPr/>
        </p:nvCxnSpPr>
        <p:spPr>
          <a:xfrm>
            <a:off x="3659292" y="4419600"/>
            <a:ext cx="128831" cy="147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806941" cy="27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7" name="Straight Connector 56"/>
          <p:cNvCxnSpPr>
            <a:stCxn id="56" idx="2"/>
            <a:endCxn id="78" idx="3"/>
          </p:cNvCxnSpPr>
          <p:nvPr/>
        </p:nvCxnSpPr>
        <p:spPr>
          <a:xfrm flipH="1">
            <a:off x="4127856" y="3550617"/>
            <a:ext cx="1000015" cy="3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79" idx="1"/>
          </p:cNvCxnSpPr>
          <p:nvPr/>
        </p:nvCxnSpPr>
        <p:spPr>
          <a:xfrm flipH="1">
            <a:off x="1934929" y="3874214"/>
            <a:ext cx="2102715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79" idx="1"/>
          </p:cNvCxnSpPr>
          <p:nvPr/>
        </p:nvCxnSpPr>
        <p:spPr>
          <a:xfrm flipH="1">
            <a:off x="2895600" y="3874214"/>
            <a:ext cx="1142044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9" idx="1"/>
          </p:cNvCxnSpPr>
          <p:nvPr/>
        </p:nvCxnSpPr>
        <p:spPr>
          <a:xfrm flipH="1">
            <a:off x="3723707" y="3874214"/>
            <a:ext cx="313937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6" idx="2"/>
            <a:endCxn id="80" idx="3"/>
          </p:cNvCxnSpPr>
          <p:nvPr/>
        </p:nvCxnSpPr>
        <p:spPr>
          <a:xfrm flipH="1">
            <a:off x="5062885" y="3550617"/>
            <a:ext cx="64986" cy="681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78" idx="1"/>
            <a:endCxn id="67" idx="0"/>
          </p:cNvCxnSpPr>
          <p:nvPr/>
        </p:nvCxnSpPr>
        <p:spPr>
          <a:xfrm flipH="1">
            <a:off x="2781434" y="3585428"/>
            <a:ext cx="758934" cy="706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6" idx="2"/>
            <a:endCxn id="79" idx="3"/>
          </p:cNvCxnSpPr>
          <p:nvPr/>
        </p:nvCxnSpPr>
        <p:spPr>
          <a:xfrm flipH="1">
            <a:off x="4517522" y="3550617"/>
            <a:ext cx="610349" cy="323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8" idx="2"/>
            <a:endCxn id="79" idx="0"/>
          </p:cNvCxnSpPr>
          <p:nvPr/>
        </p:nvCxnSpPr>
        <p:spPr>
          <a:xfrm>
            <a:off x="3834112" y="3685176"/>
            <a:ext cx="443471" cy="107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79" idx="2"/>
            <a:endCxn id="80" idx="0"/>
          </p:cNvCxnSpPr>
          <p:nvPr/>
        </p:nvCxnSpPr>
        <p:spPr>
          <a:xfrm>
            <a:off x="4277583" y="3955691"/>
            <a:ext cx="579471" cy="20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8" y="3485680"/>
            <a:ext cx="587488" cy="19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10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644" y="3792737"/>
            <a:ext cx="479878" cy="16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" name="Picture 12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223" y="416192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10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6054"/>
            <a:ext cx="2667268" cy="83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2" name="Straight Connector 81"/>
          <p:cNvCxnSpPr>
            <a:stCxn id="84" idx="3"/>
          </p:cNvCxnSpPr>
          <p:nvPr/>
        </p:nvCxnSpPr>
        <p:spPr>
          <a:xfrm>
            <a:off x="5658709" y="5068971"/>
            <a:ext cx="654461" cy="447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endCxn id="84" idx="1"/>
          </p:cNvCxnSpPr>
          <p:nvPr/>
        </p:nvCxnSpPr>
        <p:spPr>
          <a:xfrm flipV="1">
            <a:off x="4281296" y="5068971"/>
            <a:ext cx="466819" cy="96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11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115" y="4937391"/>
            <a:ext cx="910594" cy="26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5" name="Straight Connector 84"/>
          <p:cNvCxnSpPr>
            <a:stCxn id="80" idx="1"/>
            <a:endCxn id="84" idx="1"/>
          </p:cNvCxnSpPr>
          <p:nvPr/>
        </p:nvCxnSpPr>
        <p:spPr>
          <a:xfrm>
            <a:off x="4651223" y="4231821"/>
            <a:ext cx="96892" cy="8371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endCxn id="67" idx="0"/>
          </p:cNvCxnSpPr>
          <p:nvPr/>
        </p:nvCxnSpPr>
        <p:spPr>
          <a:xfrm>
            <a:off x="2709652" y="2209800"/>
            <a:ext cx="71782" cy="1446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74" idx="2"/>
            <a:endCxn id="3075" idx="3"/>
          </p:cNvCxnSpPr>
          <p:nvPr/>
        </p:nvCxnSpPr>
        <p:spPr>
          <a:xfrm flipH="1" flipV="1">
            <a:off x="4791798" y="1633996"/>
            <a:ext cx="1088037" cy="66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076" idx="1"/>
          </p:cNvCxnSpPr>
          <p:nvPr/>
        </p:nvCxnSpPr>
        <p:spPr>
          <a:xfrm flipH="1">
            <a:off x="1793228" y="1982362"/>
            <a:ext cx="2931172" cy="47978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3076" idx="1"/>
          </p:cNvCxnSpPr>
          <p:nvPr/>
        </p:nvCxnSpPr>
        <p:spPr>
          <a:xfrm flipH="1">
            <a:off x="3659292" y="1982362"/>
            <a:ext cx="1065108" cy="47978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3074" idx="2"/>
            <a:endCxn id="98" idx="3"/>
          </p:cNvCxnSpPr>
          <p:nvPr/>
        </p:nvCxnSpPr>
        <p:spPr>
          <a:xfrm flipH="1">
            <a:off x="5562600" y="1700275"/>
            <a:ext cx="317235" cy="691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3075" idx="1"/>
            <a:endCxn id="2051" idx="0"/>
          </p:cNvCxnSpPr>
          <p:nvPr/>
        </p:nvCxnSpPr>
        <p:spPr>
          <a:xfrm flipH="1">
            <a:off x="2709653" y="1633996"/>
            <a:ext cx="1557547" cy="2763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3074" idx="2"/>
            <a:endCxn id="3076" idx="3"/>
          </p:cNvCxnSpPr>
          <p:nvPr/>
        </p:nvCxnSpPr>
        <p:spPr>
          <a:xfrm flipH="1">
            <a:off x="5231524" y="1700275"/>
            <a:ext cx="648311" cy="282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075" idx="2"/>
            <a:endCxn id="3076" idx="0"/>
          </p:cNvCxnSpPr>
          <p:nvPr/>
        </p:nvCxnSpPr>
        <p:spPr>
          <a:xfrm>
            <a:off x="4529499" y="1723066"/>
            <a:ext cx="448463" cy="173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3076" idx="2"/>
            <a:endCxn id="98" idx="0"/>
          </p:cNvCxnSpPr>
          <p:nvPr/>
        </p:nvCxnSpPr>
        <p:spPr>
          <a:xfrm>
            <a:off x="4977962" y="2068465"/>
            <a:ext cx="378807" cy="253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12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938" y="232235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44926"/>
            <a:ext cx="524598" cy="17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896259"/>
            <a:ext cx="507124" cy="172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449" y="1910360"/>
            <a:ext cx="2836407" cy="83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8" name="Straight Connector 87"/>
          <p:cNvCxnSpPr>
            <a:stCxn id="3076" idx="1"/>
            <a:endCxn id="67" idx="0"/>
          </p:cNvCxnSpPr>
          <p:nvPr/>
        </p:nvCxnSpPr>
        <p:spPr>
          <a:xfrm flipH="1">
            <a:off x="2781434" y="1982362"/>
            <a:ext cx="1942966" cy="167369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3076" idx="1"/>
          </p:cNvCxnSpPr>
          <p:nvPr/>
        </p:nvCxnSpPr>
        <p:spPr>
          <a:xfrm flipH="1">
            <a:off x="1934929" y="1982362"/>
            <a:ext cx="2789471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3076" idx="1"/>
          </p:cNvCxnSpPr>
          <p:nvPr/>
        </p:nvCxnSpPr>
        <p:spPr>
          <a:xfrm flipH="1">
            <a:off x="2781434" y="1982362"/>
            <a:ext cx="1942966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3076" idx="1"/>
          </p:cNvCxnSpPr>
          <p:nvPr/>
        </p:nvCxnSpPr>
        <p:spPr>
          <a:xfrm flipH="1">
            <a:off x="3723707" y="1982362"/>
            <a:ext cx="1000693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98" idx="1"/>
          </p:cNvCxnSpPr>
          <p:nvPr/>
        </p:nvCxnSpPr>
        <p:spPr>
          <a:xfrm flipH="1">
            <a:off x="3788123" y="2392251"/>
            <a:ext cx="1362815" cy="34981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80" idx="1"/>
          </p:cNvCxnSpPr>
          <p:nvPr/>
        </p:nvCxnSpPr>
        <p:spPr>
          <a:xfrm flipH="1">
            <a:off x="3788123" y="4231821"/>
            <a:ext cx="863100" cy="16585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ular Callout 100"/>
          <p:cNvSpPr/>
          <p:nvPr/>
        </p:nvSpPr>
        <p:spPr>
          <a:xfrm>
            <a:off x="3947673" y="1058832"/>
            <a:ext cx="1995927" cy="236568"/>
          </a:xfrm>
          <a:prstGeom prst="wedgeRoundRectCallout">
            <a:avLst>
              <a:gd name="adj1" fmla="val 35895"/>
              <a:gd name="adj2" fmla="val 12218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A2R E2E </a:t>
            </a:r>
            <a:r>
              <a:rPr lang="en-US" sz="1200" b="1" dirty="0">
                <a:solidFill>
                  <a:schemeClr val="tx1"/>
                </a:solidFill>
              </a:rPr>
              <a:t>Hierarchy Context</a:t>
            </a:r>
          </a:p>
        </p:txBody>
      </p:sp>
      <p:sp>
        <p:nvSpPr>
          <p:cNvPr id="102" name="Rounded Rectangular Callout 101"/>
          <p:cNvSpPr/>
          <p:nvPr/>
        </p:nvSpPr>
        <p:spPr>
          <a:xfrm>
            <a:off x="5335816" y="2604174"/>
            <a:ext cx="2048948" cy="215034"/>
          </a:xfrm>
          <a:prstGeom prst="wedgeRoundRectCallout">
            <a:avLst>
              <a:gd name="adj1" fmla="val -38659"/>
              <a:gd name="adj2" fmla="val -14458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A2RL2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4" name="Rounded Rectangular Callout 103"/>
          <p:cNvSpPr/>
          <p:nvPr/>
        </p:nvSpPr>
        <p:spPr>
          <a:xfrm>
            <a:off x="5757111" y="1856593"/>
            <a:ext cx="2014393" cy="194504"/>
          </a:xfrm>
          <a:prstGeom prst="wedgeRoundRectCallout">
            <a:avLst>
              <a:gd name="adj1" fmla="val -78465"/>
              <a:gd name="adj2" fmla="val 1694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A2R L1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98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082" y="1447800"/>
            <a:ext cx="743505" cy="2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Architecture Model Notional Example: </a:t>
            </a:r>
            <a:br>
              <a:rPr lang="en-US" i="1" dirty="0"/>
            </a:br>
            <a:r>
              <a:rPr lang="en-US" dirty="0"/>
              <a:t>Operational Activity in </a:t>
            </a:r>
            <a:r>
              <a:rPr lang="en-US" dirty="0" smtClean="0"/>
              <a:t>Three Different </a:t>
            </a:r>
            <a:r>
              <a:rPr lang="en-US" dirty="0"/>
              <a:t>E2E Contexts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5909" y="11400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11400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854928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  <a:endCxn id="118" idx="1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8" idx="3"/>
            <a:endCxn id="36" idx="1"/>
          </p:cNvCxnSpPr>
          <p:nvPr/>
        </p:nvCxnSpPr>
        <p:spPr>
          <a:xfrm flipV="1">
            <a:off x="4281296" y="5571243"/>
            <a:ext cx="358243" cy="4620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  <a:endCxn id="3" idx="2"/>
          </p:cNvCxnSpPr>
          <p:nvPr/>
        </p:nvCxnSpPr>
        <p:spPr>
          <a:xfrm flipV="1">
            <a:off x="5641251" y="5516880"/>
            <a:ext cx="671919" cy="5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3294949" y="5890379"/>
            <a:ext cx="986347" cy="2858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71243"/>
            <a:ext cx="4064630" cy="7474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27486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6313170" y="5353050"/>
            <a:ext cx="838200" cy="3276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>
            <a:endCxn id="118" idx="0"/>
          </p:cNvCxnSpPr>
          <p:nvPr/>
        </p:nvCxnSpPr>
        <p:spPr>
          <a:xfrm>
            <a:off x="3659292" y="4419600"/>
            <a:ext cx="128831" cy="147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806941" cy="27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7" name="Straight Connector 56"/>
          <p:cNvCxnSpPr>
            <a:stCxn id="56" idx="2"/>
            <a:endCxn id="78" idx="3"/>
          </p:cNvCxnSpPr>
          <p:nvPr/>
        </p:nvCxnSpPr>
        <p:spPr>
          <a:xfrm flipH="1">
            <a:off x="4127856" y="3550617"/>
            <a:ext cx="1000015" cy="3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79" idx="1"/>
          </p:cNvCxnSpPr>
          <p:nvPr/>
        </p:nvCxnSpPr>
        <p:spPr>
          <a:xfrm flipH="1">
            <a:off x="1934929" y="3874214"/>
            <a:ext cx="2102715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79" idx="1"/>
          </p:cNvCxnSpPr>
          <p:nvPr/>
        </p:nvCxnSpPr>
        <p:spPr>
          <a:xfrm flipH="1">
            <a:off x="2895600" y="3874214"/>
            <a:ext cx="1142044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9" idx="1"/>
          </p:cNvCxnSpPr>
          <p:nvPr/>
        </p:nvCxnSpPr>
        <p:spPr>
          <a:xfrm flipH="1">
            <a:off x="3723707" y="3874214"/>
            <a:ext cx="313937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6" idx="2"/>
            <a:endCxn id="80" idx="3"/>
          </p:cNvCxnSpPr>
          <p:nvPr/>
        </p:nvCxnSpPr>
        <p:spPr>
          <a:xfrm flipH="1">
            <a:off x="5062885" y="3550617"/>
            <a:ext cx="64986" cy="681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78" idx="1"/>
            <a:endCxn id="67" idx="0"/>
          </p:cNvCxnSpPr>
          <p:nvPr/>
        </p:nvCxnSpPr>
        <p:spPr>
          <a:xfrm flipH="1">
            <a:off x="2781434" y="3585428"/>
            <a:ext cx="758934" cy="706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6" idx="2"/>
            <a:endCxn id="79" idx="3"/>
          </p:cNvCxnSpPr>
          <p:nvPr/>
        </p:nvCxnSpPr>
        <p:spPr>
          <a:xfrm flipH="1">
            <a:off x="4517522" y="3550617"/>
            <a:ext cx="610349" cy="323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8" idx="2"/>
            <a:endCxn id="79" idx="0"/>
          </p:cNvCxnSpPr>
          <p:nvPr/>
        </p:nvCxnSpPr>
        <p:spPr>
          <a:xfrm>
            <a:off x="3834112" y="3685176"/>
            <a:ext cx="443471" cy="107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79" idx="2"/>
            <a:endCxn id="80" idx="0"/>
          </p:cNvCxnSpPr>
          <p:nvPr/>
        </p:nvCxnSpPr>
        <p:spPr>
          <a:xfrm>
            <a:off x="4277583" y="3955691"/>
            <a:ext cx="579471" cy="20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8" y="3485680"/>
            <a:ext cx="587488" cy="19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1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644" y="3792737"/>
            <a:ext cx="479878" cy="16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" name="Picture 1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223" y="416192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10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6054"/>
            <a:ext cx="2667268" cy="83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2" name="Straight Connector 81"/>
          <p:cNvCxnSpPr>
            <a:stCxn id="84" idx="3"/>
            <a:endCxn id="3" idx="2"/>
          </p:cNvCxnSpPr>
          <p:nvPr/>
        </p:nvCxnSpPr>
        <p:spPr>
          <a:xfrm>
            <a:off x="5711194" y="5068971"/>
            <a:ext cx="601976" cy="447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118" idx="3"/>
            <a:endCxn id="84" idx="1"/>
          </p:cNvCxnSpPr>
          <p:nvPr/>
        </p:nvCxnSpPr>
        <p:spPr>
          <a:xfrm flipV="1">
            <a:off x="4281296" y="5068971"/>
            <a:ext cx="519304" cy="96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1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937391"/>
            <a:ext cx="910594" cy="26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5" name="Straight Connector 84"/>
          <p:cNvCxnSpPr>
            <a:stCxn id="80" idx="1"/>
            <a:endCxn id="84" idx="1"/>
          </p:cNvCxnSpPr>
          <p:nvPr/>
        </p:nvCxnSpPr>
        <p:spPr>
          <a:xfrm>
            <a:off x="4651223" y="4231821"/>
            <a:ext cx="149377" cy="8371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endCxn id="67" idx="0"/>
          </p:cNvCxnSpPr>
          <p:nvPr/>
        </p:nvCxnSpPr>
        <p:spPr>
          <a:xfrm>
            <a:off x="2709652" y="2209800"/>
            <a:ext cx="71782" cy="1446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74" idx="2"/>
            <a:endCxn id="3075" idx="3"/>
          </p:cNvCxnSpPr>
          <p:nvPr/>
        </p:nvCxnSpPr>
        <p:spPr>
          <a:xfrm flipH="1" flipV="1">
            <a:off x="4791798" y="1633996"/>
            <a:ext cx="1088037" cy="66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076" idx="1"/>
          </p:cNvCxnSpPr>
          <p:nvPr/>
        </p:nvCxnSpPr>
        <p:spPr>
          <a:xfrm flipH="1">
            <a:off x="1793228" y="1982362"/>
            <a:ext cx="2931172" cy="47978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3076" idx="1"/>
          </p:cNvCxnSpPr>
          <p:nvPr/>
        </p:nvCxnSpPr>
        <p:spPr>
          <a:xfrm flipH="1">
            <a:off x="3659292" y="1982362"/>
            <a:ext cx="1065108" cy="47978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3074" idx="2"/>
            <a:endCxn id="98" idx="3"/>
          </p:cNvCxnSpPr>
          <p:nvPr/>
        </p:nvCxnSpPr>
        <p:spPr>
          <a:xfrm flipH="1">
            <a:off x="5562600" y="1700275"/>
            <a:ext cx="317235" cy="691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3075" idx="1"/>
            <a:endCxn id="2051" idx="0"/>
          </p:cNvCxnSpPr>
          <p:nvPr/>
        </p:nvCxnSpPr>
        <p:spPr>
          <a:xfrm flipH="1">
            <a:off x="2709653" y="1633996"/>
            <a:ext cx="1557547" cy="2763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3074" idx="2"/>
            <a:endCxn id="3076" idx="3"/>
          </p:cNvCxnSpPr>
          <p:nvPr/>
        </p:nvCxnSpPr>
        <p:spPr>
          <a:xfrm flipH="1">
            <a:off x="5231524" y="1700275"/>
            <a:ext cx="648311" cy="282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075" idx="2"/>
            <a:endCxn id="3076" idx="0"/>
          </p:cNvCxnSpPr>
          <p:nvPr/>
        </p:nvCxnSpPr>
        <p:spPr>
          <a:xfrm>
            <a:off x="4529499" y="1723066"/>
            <a:ext cx="448463" cy="173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3076" idx="2"/>
            <a:endCxn id="98" idx="0"/>
          </p:cNvCxnSpPr>
          <p:nvPr/>
        </p:nvCxnSpPr>
        <p:spPr>
          <a:xfrm>
            <a:off x="4977962" y="2068465"/>
            <a:ext cx="378807" cy="253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1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938" y="232235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44926"/>
            <a:ext cx="524598" cy="17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896259"/>
            <a:ext cx="507124" cy="172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449" y="1910360"/>
            <a:ext cx="2836407" cy="83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8" name="Straight Connector 87"/>
          <p:cNvCxnSpPr>
            <a:stCxn id="3076" idx="1"/>
            <a:endCxn id="67" idx="0"/>
          </p:cNvCxnSpPr>
          <p:nvPr/>
        </p:nvCxnSpPr>
        <p:spPr>
          <a:xfrm flipH="1">
            <a:off x="2781434" y="1982362"/>
            <a:ext cx="1942966" cy="167369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3076" idx="1"/>
          </p:cNvCxnSpPr>
          <p:nvPr/>
        </p:nvCxnSpPr>
        <p:spPr>
          <a:xfrm flipH="1">
            <a:off x="1934929" y="1982362"/>
            <a:ext cx="2789471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3076" idx="1"/>
          </p:cNvCxnSpPr>
          <p:nvPr/>
        </p:nvCxnSpPr>
        <p:spPr>
          <a:xfrm flipH="1">
            <a:off x="2781434" y="1982362"/>
            <a:ext cx="1942966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3076" idx="1"/>
          </p:cNvCxnSpPr>
          <p:nvPr/>
        </p:nvCxnSpPr>
        <p:spPr>
          <a:xfrm flipH="1">
            <a:off x="3723707" y="1982362"/>
            <a:ext cx="1000693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98" idx="1"/>
            <a:endCxn id="118" idx="0"/>
          </p:cNvCxnSpPr>
          <p:nvPr/>
        </p:nvCxnSpPr>
        <p:spPr>
          <a:xfrm flipH="1">
            <a:off x="3788123" y="2392251"/>
            <a:ext cx="1362815" cy="34981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80" idx="1"/>
            <a:endCxn id="118" idx="0"/>
          </p:cNvCxnSpPr>
          <p:nvPr/>
        </p:nvCxnSpPr>
        <p:spPr>
          <a:xfrm flipH="1">
            <a:off x="3788123" y="4231821"/>
            <a:ext cx="863100" cy="16585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998" y="4439241"/>
            <a:ext cx="847002" cy="361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6" name="Straight Connector 85"/>
          <p:cNvCxnSpPr>
            <a:stCxn id="1026" idx="3"/>
            <a:endCxn id="3" idx="2"/>
          </p:cNvCxnSpPr>
          <p:nvPr/>
        </p:nvCxnSpPr>
        <p:spPr>
          <a:xfrm>
            <a:off x="5715000" y="4619921"/>
            <a:ext cx="598170" cy="8969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118" idx="3"/>
            <a:endCxn id="1026" idx="1"/>
          </p:cNvCxnSpPr>
          <p:nvPr/>
        </p:nvCxnSpPr>
        <p:spPr>
          <a:xfrm flipV="1">
            <a:off x="4281296" y="4619921"/>
            <a:ext cx="586702" cy="1413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98" idx="1"/>
            <a:endCxn id="1026" idx="1"/>
          </p:cNvCxnSpPr>
          <p:nvPr/>
        </p:nvCxnSpPr>
        <p:spPr>
          <a:xfrm flipH="1">
            <a:off x="4867998" y="2392251"/>
            <a:ext cx="282940" cy="22276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ular Callout 104"/>
          <p:cNvSpPr/>
          <p:nvPr/>
        </p:nvSpPr>
        <p:spPr>
          <a:xfrm>
            <a:off x="5812911" y="4586989"/>
            <a:ext cx="2645289" cy="213611"/>
          </a:xfrm>
          <a:prstGeom prst="wedgeRoundRectCallout">
            <a:avLst>
              <a:gd name="adj1" fmla="val -56841"/>
              <a:gd name="adj2" fmla="val 14760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Second E2E Context: P2P L2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6" name="Rounded Rectangular Callout 105"/>
          <p:cNvSpPr/>
          <p:nvPr/>
        </p:nvSpPr>
        <p:spPr>
          <a:xfrm>
            <a:off x="5605607" y="5120261"/>
            <a:ext cx="2242993" cy="213739"/>
          </a:xfrm>
          <a:prstGeom prst="wedgeRoundRectCallout">
            <a:avLst>
              <a:gd name="adj1" fmla="val -48999"/>
              <a:gd name="adj2" fmla="val 1353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E2E Context: P2S L2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7" name="Rounded Rectangular Callout 106"/>
          <p:cNvSpPr/>
          <p:nvPr/>
        </p:nvSpPr>
        <p:spPr>
          <a:xfrm>
            <a:off x="5772091" y="4088105"/>
            <a:ext cx="2645289" cy="213611"/>
          </a:xfrm>
          <a:prstGeom prst="wedgeRoundRectCallout">
            <a:avLst>
              <a:gd name="adj1" fmla="val -56841"/>
              <a:gd name="adj2" fmla="val 14760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Third E2E Context: A2R L2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8" name="Rounded Rectangular Callout 107"/>
          <p:cNvSpPr/>
          <p:nvPr/>
        </p:nvSpPr>
        <p:spPr>
          <a:xfrm>
            <a:off x="697569" y="4343400"/>
            <a:ext cx="2590800" cy="435497"/>
          </a:xfrm>
          <a:prstGeom prst="wedgeRoundRectCallout">
            <a:avLst>
              <a:gd name="adj1" fmla="val 62560"/>
              <a:gd name="adj2" fmla="val 30790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Participates in </a:t>
            </a:r>
            <a:r>
              <a:rPr lang="en-US" sz="1200" b="1" dirty="0" smtClean="0">
                <a:solidFill>
                  <a:schemeClr val="tx1"/>
                </a:solidFill>
              </a:rPr>
              <a:t>three E2E </a:t>
            </a:r>
            <a:r>
              <a:rPr lang="en-US" sz="1200" b="1" dirty="0">
                <a:solidFill>
                  <a:schemeClr val="tx1"/>
                </a:solidFill>
              </a:rPr>
              <a:t>Hierarchies: </a:t>
            </a:r>
            <a:r>
              <a:rPr lang="en-US" sz="1200" b="1" dirty="0" smtClean="0">
                <a:solidFill>
                  <a:schemeClr val="tx1"/>
                </a:solidFill>
              </a:rPr>
              <a:t>P2S, P2P and A2R (all at level 2)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6" name="Rounded Rectangular Callout 95"/>
          <p:cNvSpPr/>
          <p:nvPr/>
        </p:nvSpPr>
        <p:spPr>
          <a:xfrm>
            <a:off x="491217" y="5236768"/>
            <a:ext cx="2299155" cy="416546"/>
          </a:xfrm>
          <a:prstGeom prst="wedgeRoundRectCallout">
            <a:avLst>
              <a:gd name="adj1" fmla="val 72644"/>
              <a:gd name="adj2" fmla="val 26124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Still only valid </a:t>
            </a:r>
            <a:r>
              <a:rPr lang="en-US" sz="1200" b="1" dirty="0">
                <a:solidFill>
                  <a:schemeClr val="tx1"/>
                </a:solidFill>
              </a:rPr>
              <a:t>in P2S E2E </a:t>
            </a:r>
            <a:r>
              <a:rPr lang="en-US" sz="1200" b="1" dirty="0" smtClean="0">
                <a:solidFill>
                  <a:schemeClr val="tx1"/>
                </a:solidFill>
              </a:rPr>
              <a:t>Hierarchy Context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31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082" y="1447800"/>
            <a:ext cx="743505" cy="2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Connector 54"/>
          <p:cNvCxnSpPr/>
          <p:nvPr/>
        </p:nvCxnSpPr>
        <p:spPr>
          <a:xfrm>
            <a:off x="843241" y="5052260"/>
            <a:ext cx="243672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3" idx="3"/>
          </p:cNvCxnSpPr>
          <p:nvPr/>
        </p:nvCxnSpPr>
        <p:spPr>
          <a:xfrm>
            <a:off x="843241" y="5052260"/>
            <a:ext cx="533416" cy="4721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3" idx="3"/>
          </p:cNvCxnSpPr>
          <p:nvPr/>
        </p:nvCxnSpPr>
        <p:spPr>
          <a:xfrm>
            <a:off x="843241" y="5052260"/>
            <a:ext cx="1524016" cy="4468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2" idx="3"/>
          </p:cNvCxnSpPr>
          <p:nvPr/>
        </p:nvCxnSpPr>
        <p:spPr>
          <a:xfrm>
            <a:off x="1376657" y="4684542"/>
            <a:ext cx="833143" cy="2684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28050" y="6056882"/>
            <a:ext cx="1839207" cy="2618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7" y="4895752"/>
            <a:ext cx="3523682" cy="180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960" y="38100"/>
            <a:ext cx="7863840" cy="762000"/>
          </a:xfrm>
        </p:spPr>
        <p:txBody>
          <a:bodyPr/>
          <a:lstStyle/>
          <a:p>
            <a:r>
              <a:rPr lang="en-US" i="1" dirty="0"/>
              <a:t>Architecture Model Notional Example: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Operational Activity in Two Different L1 E2E Contexts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15909" y="11400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Functional Activity Hierarchy</a:t>
            </a:r>
            <a:endParaRPr 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62909" y="1140023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E2E Capability Hierarchies</a:t>
            </a:r>
            <a:endParaRPr lang="en-US" sz="14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-15240" y="854928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/>
              <a:t>Architecture Models</a:t>
            </a:r>
            <a:endParaRPr lang="en-US" sz="1400" b="1" i="1" dirty="0"/>
          </a:p>
        </p:txBody>
      </p:sp>
      <p:cxnSp>
        <p:nvCxnSpPr>
          <p:cNvPr id="32" name="Straight Connector 31"/>
          <p:cNvCxnSpPr>
            <a:stCxn id="38" idx="2"/>
            <a:endCxn id="52" idx="1"/>
          </p:cNvCxnSpPr>
          <p:nvPr/>
        </p:nvCxnSpPr>
        <p:spPr>
          <a:xfrm>
            <a:off x="595885" y="3969319"/>
            <a:ext cx="247356" cy="7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8" idx="2"/>
            <a:endCxn id="54" idx="1"/>
          </p:cNvCxnSpPr>
          <p:nvPr/>
        </p:nvCxnSpPr>
        <p:spPr>
          <a:xfrm flipH="1">
            <a:off x="44640" y="3969319"/>
            <a:ext cx="551245" cy="2349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4" y="3685176"/>
            <a:ext cx="836762" cy="28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Connector 38"/>
          <p:cNvCxnSpPr>
            <a:stCxn id="38" idx="2"/>
            <a:endCxn id="53" idx="1"/>
          </p:cNvCxnSpPr>
          <p:nvPr/>
        </p:nvCxnSpPr>
        <p:spPr>
          <a:xfrm flipH="1">
            <a:off x="444044" y="3969319"/>
            <a:ext cx="151841" cy="10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4" idx="3"/>
          </p:cNvCxnSpPr>
          <p:nvPr/>
        </p:nvCxnSpPr>
        <p:spPr>
          <a:xfrm>
            <a:off x="574909" y="6318723"/>
            <a:ext cx="2720040" cy="1582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52" idx="2"/>
            <a:endCxn id="53" idx="0"/>
          </p:cNvCxnSpPr>
          <p:nvPr/>
        </p:nvCxnSpPr>
        <p:spPr>
          <a:xfrm flipH="1">
            <a:off x="643643" y="4775109"/>
            <a:ext cx="466306" cy="209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3" idx="2"/>
            <a:endCxn id="54" idx="0"/>
          </p:cNvCxnSpPr>
          <p:nvPr/>
        </p:nvCxnSpPr>
        <p:spPr>
          <a:xfrm flipH="1">
            <a:off x="309775" y="5120038"/>
            <a:ext cx="333868" cy="110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4593974"/>
            <a:ext cx="533416" cy="18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4984481"/>
            <a:ext cx="399197" cy="13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" y="6228690"/>
            <a:ext cx="530269" cy="1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4" name="Straight Connector 43"/>
          <p:cNvCxnSpPr>
            <a:stCxn id="54" idx="3"/>
          </p:cNvCxnSpPr>
          <p:nvPr/>
        </p:nvCxnSpPr>
        <p:spPr>
          <a:xfrm flipV="1">
            <a:off x="574909" y="6033303"/>
            <a:ext cx="2720040" cy="2854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6" idx="1"/>
          </p:cNvCxnSpPr>
          <p:nvPr/>
        </p:nvCxnSpPr>
        <p:spPr>
          <a:xfrm flipV="1">
            <a:off x="4281296" y="5553957"/>
            <a:ext cx="358243" cy="47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6" idx="3"/>
          </p:cNvCxnSpPr>
          <p:nvPr/>
        </p:nvCxnSpPr>
        <p:spPr>
          <a:xfrm flipV="1">
            <a:off x="5641251" y="5516880"/>
            <a:ext cx="671919" cy="3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54" idx="3"/>
            <a:endCxn id="36" idx="1"/>
          </p:cNvCxnSpPr>
          <p:nvPr/>
        </p:nvCxnSpPr>
        <p:spPr>
          <a:xfrm flipV="1">
            <a:off x="574909" y="5553957"/>
            <a:ext cx="4064630" cy="764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9" y="5410200"/>
            <a:ext cx="1001712" cy="28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247" y="6509302"/>
            <a:ext cx="814554" cy="3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27" y="5930110"/>
            <a:ext cx="932073" cy="39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Straight Connector 60"/>
          <p:cNvCxnSpPr>
            <a:stCxn id="59" idx="3"/>
          </p:cNvCxnSpPr>
          <p:nvPr/>
        </p:nvCxnSpPr>
        <p:spPr>
          <a:xfrm flipV="1">
            <a:off x="5638801" y="5986409"/>
            <a:ext cx="1219199" cy="697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0" idx="3"/>
          </p:cNvCxnSpPr>
          <p:nvPr/>
        </p:nvCxnSpPr>
        <p:spPr>
          <a:xfrm flipV="1">
            <a:off x="5638800" y="5986409"/>
            <a:ext cx="186855" cy="1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0" idx="1"/>
          </p:cNvCxnSpPr>
          <p:nvPr/>
        </p:nvCxnSpPr>
        <p:spPr>
          <a:xfrm flipV="1">
            <a:off x="4281296" y="6127355"/>
            <a:ext cx="425431" cy="34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9" idx="1"/>
          </p:cNvCxnSpPr>
          <p:nvPr/>
        </p:nvCxnSpPr>
        <p:spPr>
          <a:xfrm>
            <a:off x="4281296" y="6501187"/>
            <a:ext cx="542951" cy="18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3"/>
            <a:endCxn id="59" idx="1"/>
          </p:cNvCxnSpPr>
          <p:nvPr/>
        </p:nvCxnSpPr>
        <p:spPr>
          <a:xfrm>
            <a:off x="574909" y="6318723"/>
            <a:ext cx="4249338" cy="3649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60" idx="1"/>
          </p:cNvCxnSpPr>
          <p:nvPr/>
        </p:nvCxnSpPr>
        <p:spPr>
          <a:xfrm flipV="1">
            <a:off x="574909" y="6127355"/>
            <a:ext cx="4131818" cy="1913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9" y="3511153"/>
            <a:ext cx="3420699" cy="267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8" name="Straight Connector 67"/>
          <p:cNvCxnSpPr/>
          <p:nvPr/>
        </p:nvCxnSpPr>
        <p:spPr>
          <a:xfrm>
            <a:off x="3659292" y="4419600"/>
            <a:ext cx="128831" cy="147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806941" cy="27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7" name="Straight Connector 56"/>
          <p:cNvCxnSpPr>
            <a:stCxn id="56" idx="2"/>
            <a:endCxn id="78" idx="3"/>
          </p:cNvCxnSpPr>
          <p:nvPr/>
        </p:nvCxnSpPr>
        <p:spPr>
          <a:xfrm flipH="1">
            <a:off x="4127856" y="3550617"/>
            <a:ext cx="1000015" cy="3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79" idx="1"/>
          </p:cNvCxnSpPr>
          <p:nvPr/>
        </p:nvCxnSpPr>
        <p:spPr>
          <a:xfrm flipH="1">
            <a:off x="1934929" y="3874214"/>
            <a:ext cx="2102715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79" idx="1"/>
          </p:cNvCxnSpPr>
          <p:nvPr/>
        </p:nvCxnSpPr>
        <p:spPr>
          <a:xfrm flipH="1">
            <a:off x="2895600" y="3874214"/>
            <a:ext cx="1142044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9" idx="1"/>
          </p:cNvCxnSpPr>
          <p:nvPr/>
        </p:nvCxnSpPr>
        <p:spPr>
          <a:xfrm flipH="1">
            <a:off x="3723707" y="3874214"/>
            <a:ext cx="313937" cy="287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6" idx="2"/>
            <a:endCxn id="80" idx="3"/>
          </p:cNvCxnSpPr>
          <p:nvPr/>
        </p:nvCxnSpPr>
        <p:spPr>
          <a:xfrm flipH="1">
            <a:off x="5062885" y="3550617"/>
            <a:ext cx="64986" cy="681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78" idx="1"/>
            <a:endCxn id="67" idx="0"/>
          </p:cNvCxnSpPr>
          <p:nvPr/>
        </p:nvCxnSpPr>
        <p:spPr>
          <a:xfrm flipH="1">
            <a:off x="2781434" y="3585428"/>
            <a:ext cx="758934" cy="706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6" idx="2"/>
            <a:endCxn id="79" idx="3"/>
          </p:cNvCxnSpPr>
          <p:nvPr/>
        </p:nvCxnSpPr>
        <p:spPr>
          <a:xfrm flipH="1">
            <a:off x="4517522" y="3550617"/>
            <a:ext cx="610349" cy="323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8" idx="2"/>
            <a:endCxn id="79" idx="0"/>
          </p:cNvCxnSpPr>
          <p:nvPr/>
        </p:nvCxnSpPr>
        <p:spPr>
          <a:xfrm>
            <a:off x="3834112" y="3685176"/>
            <a:ext cx="443471" cy="107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79" idx="2"/>
            <a:endCxn id="80" idx="0"/>
          </p:cNvCxnSpPr>
          <p:nvPr/>
        </p:nvCxnSpPr>
        <p:spPr>
          <a:xfrm>
            <a:off x="4277583" y="3955691"/>
            <a:ext cx="579471" cy="20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8" y="3485680"/>
            <a:ext cx="587488" cy="19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1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644" y="3792737"/>
            <a:ext cx="479878" cy="16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" name="Picture 1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223" y="416192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10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6054"/>
            <a:ext cx="2667268" cy="83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2" name="Straight Connector 81"/>
          <p:cNvCxnSpPr>
            <a:stCxn id="84" idx="3"/>
          </p:cNvCxnSpPr>
          <p:nvPr/>
        </p:nvCxnSpPr>
        <p:spPr>
          <a:xfrm>
            <a:off x="5658709" y="5068971"/>
            <a:ext cx="654461" cy="447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endCxn id="84" idx="1"/>
          </p:cNvCxnSpPr>
          <p:nvPr/>
        </p:nvCxnSpPr>
        <p:spPr>
          <a:xfrm flipV="1">
            <a:off x="4281296" y="5068971"/>
            <a:ext cx="466819" cy="96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1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115" y="4937391"/>
            <a:ext cx="910594" cy="26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5" name="Straight Connector 84"/>
          <p:cNvCxnSpPr>
            <a:stCxn id="80" idx="1"/>
            <a:endCxn id="84" idx="1"/>
          </p:cNvCxnSpPr>
          <p:nvPr/>
        </p:nvCxnSpPr>
        <p:spPr>
          <a:xfrm>
            <a:off x="4651223" y="4231821"/>
            <a:ext cx="96892" cy="8371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endCxn id="67" idx="0"/>
          </p:cNvCxnSpPr>
          <p:nvPr/>
        </p:nvCxnSpPr>
        <p:spPr>
          <a:xfrm>
            <a:off x="2709652" y="2209800"/>
            <a:ext cx="71782" cy="1446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74" idx="2"/>
            <a:endCxn id="3075" idx="3"/>
          </p:cNvCxnSpPr>
          <p:nvPr/>
        </p:nvCxnSpPr>
        <p:spPr>
          <a:xfrm flipH="1" flipV="1">
            <a:off x="4791798" y="1633996"/>
            <a:ext cx="1088037" cy="66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076" idx="1"/>
          </p:cNvCxnSpPr>
          <p:nvPr/>
        </p:nvCxnSpPr>
        <p:spPr>
          <a:xfrm flipH="1">
            <a:off x="1793228" y="1982362"/>
            <a:ext cx="2931172" cy="47978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3076" idx="1"/>
          </p:cNvCxnSpPr>
          <p:nvPr/>
        </p:nvCxnSpPr>
        <p:spPr>
          <a:xfrm flipH="1">
            <a:off x="3659292" y="1982362"/>
            <a:ext cx="1065108" cy="47978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3074" idx="2"/>
            <a:endCxn id="98" idx="3"/>
          </p:cNvCxnSpPr>
          <p:nvPr/>
        </p:nvCxnSpPr>
        <p:spPr>
          <a:xfrm flipH="1">
            <a:off x="5562600" y="1700275"/>
            <a:ext cx="317235" cy="691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3075" idx="1"/>
            <a:endCxn id="2051" idx="0"/>
          </p:cNvCxnSpPr>
          <p:nvPr/>
        </p:nvCxnSpPr>
        <p:spPr>
          <a:xfrm flipH="1">
            <a:off x="2709653" y="1633996"/>
            <a:ext cx="1557547" cy="2763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3074" idx="2"/>
            <a:endCxn id="3076" idx="3"/>
          </p:cNvCxnSpPr>
          <p:nvPr/>
        </p:nvCxnSpPr>
        <p:spPr>
          <a:xfrm flipH="1">
            <a:off x="5231524" y="1700275"/>
            <a:ext cx="648311" cy="282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075" idx="2"/>
            <a:endCxn id="3076" idx="0"/>
          </p:cNvCxnSpPr>
          <p:nvPr/>
        </p:nvCxnSpPr>
        <p:spPr>
          <a:xfrm>
            <a:off x="4529499" y="1723066"/>
            <a:ext cx="448463" cy="173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3076" idx="2"/>
            <a:endCxn id="98" idx="0"/>
          </p:cNvCxnSpPr>
          <p:nvPr/>
        </p:nvCxnSpPr>
        <p:spPr>
          <a:xfrm>
            <a:off x="4977962" y="2068465"/>
            <a:ext cx="378807" cy="253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1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938" y="2322356"/>
            <a:ext cx="411662" cy="13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44926"/>
            <a:ext cx="524598" cy="17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896259"/>
            <a:ext cx="507124" cy="172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449" y="1910360"/>
            <a:ext cx="2836407" cy="83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8" name="Straight Connector 87"/>
          <p:cNvCxnSpPr>
            <a:stCxn id="3076" idx="1"/>
            <a:endCxn id="67" idx="0"/>
          </p:cNvCxnSpPr>
          <p:nvPr/>
        </p:nvCxnSpPr>
        <p:spPr>
          <a:xfrm flipH="1">
            <a:off x="2781434" y="1982362"/>
            <a:ext cx="1942966" cy="167369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3076" idx="1"/>
          </p:cNvCxnSpPr>
          <p:nvPr/>
        </p:nvCxnSpPr>
        <p:spPr>
          <a:xfrm flipH="1">
            <a:off x="1934929" y="1982362"/>
            <a:ext cx="2789471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3076" idx="1"/>
          </p:cNvCxnSpPr>
          <p:nvPr/>
        </p:nvCxnSpPr>
        <p:spPr>
          <a:xfrm flipH="1">
            <a:off x="2781434" y="1982362"/>
            <a:ext cx="1942966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3076" idx="1"/>
          </p:cNvCxnSpPr>
          <p:nvPr/>
        </p:nvCxnSpPr>
        <p:spPr>
          <a:xfrm flipH="1">
            <a:off x="3723707" y="1982362"/>
            <a:ext cx="1000693" cy="21795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98" idx="1"/>
          </p:cNvCxnSpPr>
          <p:nvPr/>
        </p:nvCxnSpPr>
        <p:spPr>
          <a:xfrm flipH="1">
            <a:off x="3788123" y="2392251"/>
            <a:ext cx="1362815" cy="34981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80" idx="1"/>
          </p:cNvCxnSpPr>
          <p:nvPr/>
        </p:nvCxnSpPr>
        <p:spPr>
          <a:xfrm flipH="1">
            <a:off x="3788123" y="4231821"/>
            <a:ext cx="863100" cy="16585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ular Callout 96"/>
          <p:cNvSpPr/>
          <p:nvPr/>
        </p:nvSpPr>
        <p:spPr>
          <a:xfrm>
            <a:off x="228600" y="3145903"/>
            <a:ext cx="2514600" cy="435497"/>
          </a:xfrm>
          <a:prstGeom prst="wedgeRoundRectCallout">
            <a:avLst>
              <a:gd name="adj1" fmla="val 87249"/>
              <a:gd name="adj2" fmla="val 17888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Participates in two E2E Hierarchies: </a:t>
            </a:r>
            <a:r>
              <a:rPr lang="en-US" sz="1200" b="1" dirty="0" smtClean="0">
                <a:solidFill>
                  <a:schemeClr val="tx1"/>
                </a:solidFill>
              </a:rPr>
              <a:t>P2P </a:t>
            </a:r>
            <a:r>
              <a:rPr lang="en-US" sz="1200" b="1" dirty="0">
                <a:solidFill>
                  <a:schemeClr val="tx1"/>
                </a:solidFill>
              </a:rPr>
              <a:t>and </a:t>
            </a:r>
            <a:r>
              <a:rPr lang="en-US" sz="1200" b="1" dirty="0" smtClean="0">
                <a:solidFill>
                  <a:schemeClr val="tx1"/>
                </a:solidFill>
              </a:rPr>
              <a:t>A2R (both at level 1)</a:t>
            </a:r>
            <a:endParaRPr lang="en-US" sz="1200" b="1" dirty="0">
              <a:solidFill>
                <a:schemeClr val="tx1"/>
              </a:solidFill>
            </a:endParaRPr>
          </a:p>
        </p:txBody>
      </p:sp>
      <p:pic>
        <p:nvPicPr>
          <p:cNvPr id="86" name="Picture 2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712" y="4665490"/>
            <a:ext cx="726817" cy="26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1" name="Straight Connector 100"/>
          <p:cNvCxnSpPr>
            <a:stCxn id="86" idx="3"/>
            <a:endCxn id="102" idx="2"/>
          </p:cNvCxnSpPr>
          <p:nvPr/>
        </p:nvCxnSpPr>
        <p:spPr>
          <a:xfrm>
            <a:off x="6028529" y="4799719"/>
            <a:ext cx="753271" cy="272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6781800" y="4908106"/>
            <a:ext cx="838200" cy="3276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/>
          <p:cNvCxnSpPr>
            <a:stCxn id="106" idx="3"/>
            <a:endCxn id="86" idx="1"/>
          </p:cNvCxnSpPr>
          <p:nvPr/>
        </p:nvCxnSpPr>
        <p:spPr>
          <a:xfrm>
            <a:off x="4126086" y="4272736"/>
            <a:ext cx="1175626" cy="526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endCxn id="86" idx="1"/>
          </p:cNvCxnSpPr>
          <p:nvPr/>
        </p:nvCxnSpPr>
        <p:spPr>
          <a:xfrm>
            <a:off x="4037644" y="3874214"/>
            <a:ext cx="1264068" cy="9255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3255345" y="4129812"/>
            <a:ext cx="870741" cy="2858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755" y="4381941"/>
            <a:ext cx="730045" cy="266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7" name="Straight Connector 106"/>
          <p:cNvCxnSpPr>
            <a:stCxn id="12" idx="3"/>
            <a:endCxn id="102" idx="2"/>
          </p:cNvCxnSpPr>
          <p:nvPr/>
        </p:nvCxnSpPr>
        <p:spPr>
          <a:xfrm>
            <a:off x="6019800" y="4515071"/>
            <a:ext cx="762000" cy="556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106" idx="3"/>
            <a:endCxn id="12" idx="1"/>
          </p:cNvCxnSpPr>
          <p:nvPr/>
        </p:nvCxnSpPr>
        <p:spPr>
          <a:xfrm>
            <a:off x="4126086" y="4272736"/>
            <a:ext cx="1163669" cy="242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3076" idx="1"/>
            <a:endCxn id="12" idx="1"/>
          </p:cNvCxnSpPr>
          <p:nvPr/>
        </p:nvCxnSpPr>
        <p:spPr>
          <a:xfrm>
            <a:off x="4724400" y="1982362"/>
            <a:ext cx="565355" cy="253270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ular Callout 109"/>
          <p:cNvSpPr/>
          <p:nvPr/>
        </p:nvSpPr>
        <p:spPr>
          <a:xfrm>
            <a:off x="6062807" y="4343400"/>
            <a:ext cx="2242993" cy="213739"/>
          </a:xfrm>
          <a:prstGeom prst="wedgeRoundRectCallout">
            <a:avLst>
              <a:gd name="adj1" fmla="val -51946"/>
              <a:gd name="adj2" fmla="val 15079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E2E Context: P2P L1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1" name="Rounded Rectangular Callout 110"/>
          <p:cNvSpPr/>
          <p:nvPr/>
        </p:nvSpPr>
        <p:spPr>
          <a:xfrm>
            <a:off x="5879834" y="3891219"/>
            <a:ext cx="2674475" cy="205095"/>
          </a:xfrm>
          <a:prstGeom prst="wedgeRoundRectCallout">
            <a:avLst>
              <a:gd name="adj1" fmla="val -51455"/>
              <a:gd name="adj2" fmla="val 18171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</a:t>
            </a:r>
            <a:r>
              <a:rPr lang="en-US" sz="1200" b="1" dirty="0">
                <a:solidFill>
                  <a:schemeClr val="tx1"/>
                </a:solidFill>
              </a:rPr>
              <a:t>Second E2E Context</a:t>
            </a:r>
            <a:r>
              <a:rPr lang="en-US" sz="1200" b="1" dirty="0" smtClean="0">
                <a:solidFill>
                  <a:schemeClr val="tx1"/>
                </a:solidFill>
              </a:rPr>
              <a:t>: A2R L1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20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BEOF Architecture </a:t>
            </a:r>
            <a:r>
              <a:rPr lang="en-US" i="1" dirty="0"/>
              <a:t>Model </a:t>
            </a:r>
            <a:r>
              <a:rPr lang="en-US" i="1" dirty="0" smtClean="0"/>
              <a:t>Example</a:t>
            </a:r>
            <a:r>
              <a:rPr lang="en-US" i="1" dirty="0"/>
              <a:t>: </a:t>
            </a:r>
            <a:br>
              <a:rPr lang="en-US" i="1" dirty="0"/>
            </a:br>
            <a:r>
              <a:rPr lang="en-US" dirty="0"/>
              <a:t>BEA Operational Activity Node Tree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0293"/>
            <a:ext cx="9144000" cy="143450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6189" y="2802876"/>
            <a:ext cx="1397063" cy="1524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261652" y="3208703"/>
            <a:ext cx="1243621" cy="1524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261652" y="3604679"/>
            <a:ext cx="1218158" cy="1524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382000" y="3213693"/>
            <a:ext cx="685800" cy="1524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762500" y="3773457"/>
            <a:ext cx="952499" cy="1524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741705" y="3366093"/>
            <a:ext cx="668495" cy="1524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892258" y="3200441"/>
            <a:ext cx="1209289" cy="14741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932014" y="3604679"/>
            <a:ext cx="1034660" cy="132428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524000" y="3366093"/>
            <a:ext cx="829351" cy="102834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585291" y="3793429"/>
            <a:ext cx="768060" cy="132428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9735" y="3562153"/>
            <a:ext cx="882260" cy="132428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9735" y="3982372"/>
            <a:ext cx="691860" cy="132428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6200" y="3518493"/>
            <a:ext cx="1482587" cy="672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348479" y="2209800"/>
            <a:ext cx="2566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Functional </a:t>
            </a:r>
            <a:r>
              <a:rPr lang="en-US" sz="1600" dirty="0"/>
              <a:t>Activity Hierarchy</a:t>
            </a:r>
          </a:p>
        </p:txBody>
      </p:sp>
    </p:spTree>
    <p:extLst>
      <p:ext uri="{BB962C8B-B14F-4D97-AF65-F5344CB8AC3E}">
        <p14:creationId xmlns:p14="http://schemas.microsoft.com/office/powerpoint/2010/main" val="286928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5571"/>
            <a:ext cx="9144000" cy="27214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BEOF Architecture </a:t>
            </a:r>
            <a:r>
              <a:rPr lang="en-US" i="1" dirty="0"/>
              <a:t>Model </a:t>
            </a:r>
            <a:r>
              <a:rPr lang="en-US" i="1" dirty="0" smtClean="0"/>
              <a:t>Example</a:t>
            </a:r>
            <a:r>
              <a:rPr lang="en-US" i="1" dirty="0"/>
              <a:t>: </a:t>
            </a:r>
            <a:br>
              <a:rPr lang="en-US" i="1" dirty="0"/>
            </a:br>
            <a:r>
              <a:rPr lang="en-US" dirty="0"/>
              <a:t>E2E Hierarchy and Federation Level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584096" y="4979504"/>
            <a:ext cx="533400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33252" y="4625008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377608" y="4979504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141304" y="5506276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7148073" y="5387992"/>
            <a:ext cx="1995927" cy="236568"/>
          </a:xfrm>
          <a:prstGeom prst="wedgeRoundRectCallout">
            <a:avLst>
              <a:gd name="adj1" fmla="val 37539"/>
              <a:gd name="adj2" fmla="val -1613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E2E Hierarchy Context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7066772" y="3988904"/>
            <a:ext cx="1996044" cy="215034"/>
          </a:xfrm>
          <a:prstGeom prst="wedgeRoundRectCallout">
            <a:avLst>
              <a:gd name="adj1" fmla="val -7236"/>
              <a:gd name="adj2" fmla="val 24575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L0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4219903" y="6082887"/>
            <a:ext cx="1980034" cy="215034"/>
          </a:xfrm>
          <a:prstGeom prst="wedgeRoundRectCallout">
            <a:avLst>
              <a:gd name="adj1" fmla="val -38836"/>
              <a:gd name="adj2" fmla="val -26389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L2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6148915" y="5832136"/>
            <a:ext cx="1958102" cy="215034"/>
          </a:xfrm>
          <a:prstGeom prst="wedgeRoundRectCallout">
            <a:avLst>
              <a:gd name="adj1" fmla="val -27322"/>
              <a:gd name="adj2" fmla="val -38180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L1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67668" y="4463860"/>
            <a:ext cx="699103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120234" y="3944021"/>
            <a:ext cx="846017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110296" y="4463860"/>
            <a:ext cx="1452304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97045" y="4997260"/>
            <a:ext cx="1008356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028475" y="4475921"/>
            <a:ext cx="1160274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6200" y="5351754"/>
            <a:ext cx="1295400" cy="154522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28474" y="4983020"/>
            <a:ext cx="1095725" cy="133265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2948" y="2146893"/>
            <a:ext cx="1482587" cy="672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9144000" cy="1434507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236189" y="1441798"/>
            <a:ext cx="1397063" cy="106017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275941" y="1831679"/>
            <a:ext cx="1243621" cy="82847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261652" y="2229312"/>
            <a:ext cx="1218158" cy="80376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8329615" y="1843089"/>
            <a:ext cx="762000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762500" y="2433633"/>
            <a:ext cx="952499" cy="69231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741705" y="2043111"/>
            <a:ext cx="668495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2895608" y="1828800"/>
            <a:ext cx="1209289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881311" y="2219786"/>
            <a:ext cx="1071074" cy="80376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538289" y="2022178"/>
            <a:ext cx="838200" cy="71381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543049" y="2408536"/>
            <a:ext cx="810302" cy="94328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89734" y="2233948"/>
            <a:ext cx="900865" cy="66214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89735" y="2616531"/>
            <a:ext cx="691860" cy="66214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6025" y="2146893"/>
            <a:ext cx="1482587" cy="672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391875" y="3497950"/>
            <a:ext cx="2675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E2E Capability Hierarchy (</a:t>
            </a:r>
            <a:r>
              <a:rPr lang="en-US" sz="1600" dirty="0" smtClean="0">
                <a:solidFill>
                  <a:srgbClr val="0070C0"/>
                </a:solidFill>
              </a:rPr>
              <a:t>P2S)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48479" y="1033046"/>
            <a:ext cx="2566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Functional </a:t>
            </a:r>
            <a:r>
              <a:rPr lang="en-US" sz="1600" dirty="0"/>
              <a:t>Activity Hierarchy</a:t>
            </a:r>
          </a:p>
        </p:txBody>
      </p:sp>
    </p:spTree>
    <p:extLst>
      <p:ext uri="{BB962C8B-B14F-4D97-AF65-F5344CB8AC3E}">
        <p14:creationId xmlns:p14="http://schemas.microsoft.com/office/powerpoint/2010/main" val="37772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1867"/>
            <a:ext cx="9144000" cy="27214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BEOF Architecture Model </a:t>
            </a:r>
            <a:r>
              <a:rPr lang="en-US" i="1" dirty="0" smtClean="0"/>
              <a:t>Example</a:t>
            </a:r>
            <a:r>
              <a:rPr lang="en-US" i="1" dirty="0"/>
              <a:t>: </a:t>
            </a:r>
            <a:br>
              <a:rPr lang="en-US" i="1" dirty="0"/>
            </a:br>
            <a:r>
              <a:rPr lang="en-US" dirty="0"/>
              <a:t>BPMN Tasks Extend the BEA Activity Node Tree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5166"/>
            <a:ext cx="9144000" cy="14345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84096" y="4495800"/>
            <a:ext cx="533400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33252" y="4141304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377608" y="4495800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141304" y="5022572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7148073" y="4904288"/>
            <a:ext cx="1995927" cy="236568"/>
          </a:xfrm>
          <a:prstGeom prst="wedgeRoundRectCallout">
            <a:avLst>
              <a:gd name="adj1" fmla="val 37539"/>
              <a:gd name="adj2" fmla="val -1613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E2E Hierarchy Context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7066772" y="3505200"/>
            <a:ext cx="1996044" cy="215034"/>
          </a:xfrm>
          <a:prstGeom prst="wedgeRoundRectCallout">
            <a:avLst>
              <a:gd name="adj1" fmla="val -7236"/>
              <a:gd name="adj2" fmla="val 24575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L0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4219903" y="5599183"/>
            <a:ext cx="1980034" cy="215034"/>
          </a:xfrm>
          <a:prstGeom prst="wedgeRoundRectCallout">
            <a:avLst>
              <a:gd name="adj1" fmla="val -38836"/>
              <a:gd name="adj2" fmla="val -26389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L2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6148915" y="5348432"/>
            <a:ext cx="1958102" cy="215034"/>
          </a:xfrm>
          <a:prstGeom prst="wedgeRoundRectCallout">
            <a:avLst>
              <a:gd name="adj1" fmla="val -27322"/>
              <a:gd name="adj2" fmla="val -38180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L1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67668" y="3980156"/>
            <a:ext cx="699103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120234" y="3460317"/>
            <a:ext cx="846017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110296" y="3980156"/>
            <a:ext cx="1452304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97045" y="4513556"/>
            <a:ext cx="1008356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028475" y="3992217"/>
            <a:ext cx="1160274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6200" y="4868050"/>
            <a:ext cx="1295400" cy="154522"/>
          </a:xfrm>
          <a:prstGeom prst="rect">
            <a:avLst/>
          </a:prstGeom>
          <a:solidFill>
            <a:schemeClr val="bg2">
              <a:lumMod val="50000"/>
              <a:alpha val="50196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28474" y="4499316"/>
            <a:ext cx="1095725" cy="133265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236189" y="1531564"/>
            <a:ext cx="1397063" cy="106017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275941" y="1921445"/>
            <a:ext cx="1243621" cy="82847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261652" y="2319078"/>
            <a:ext cx="1218158" cy="80376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329615" y="1932855"/>
            <a:ext cx="762000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762500" y="2523399"/>
            <a:ext cx="952499" cy="69231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741705" y="2132877"/>
            <a:ext cx="668495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895608" y="1918566"/>
            <a:ext cx="1209289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881311" y="2309552"/>
            <a:ext cx="1071074" cy="80376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538289" y="2111944"/>
            <a:ext cx="838200" cy="71381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543049" y="2498302"/>
            <a:ext cx="810302" cy="94328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9734" y="2323714"/>
            <a:ext cx="900865" cy="66214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9735" y="2706297"/>
            <a:ext cx="691860" cy="66214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ular Callout 35"/>
          <p:cNvSpPr/>
          <p:nvPr/>
        </p:nvSpPr>
        <p:spPr>
          <a:xfrm>
            <a:off x="492954" y="1637581"/>
            <a:ext cx="2242993" cy="215034"/>
          </a:xfrm>
          <a:prstGeom prst="wedgeRoundRectCallout">
            <a:avLst>
              <a:gd name="adj1" fmla="val -53084"/>
              <a:gd name="adj2" fmla="val 26544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Task within the BPMN model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7" name="Rounded Rectangular Callout 36"/>
          <p:cNvSpPr/>
          <p:nvPr/>
        </p:nvSpPr>
        <p:spPr>
          <a:xfrm>
            <a:off x="138268" y="5993296"/>
            <a:ext cx="5576731" cy="762000"/>
          </a:xfrm>
          <a:prstGeom prst="wedgeRoundRectCallout">
            <a:avLst>
              <a:gd name="adj1" fmla="val -39250"/>
              <a:gd name="adj2" fmla="val -17591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E2E Segment represented by a BPMN model (BPMN Segment):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 Illustrated here as a BEA ‘level 2 extension’, but … 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could also be a Component level 3 operational process model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15690" y="3044689"/>
            <a:ext cx="2675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E2E Capability Hierarchy (</a:t>
            </a:r>
            <a:r>
              <a:rPr lang="en-US" sz="1600" dirty="0" smtClean="0">
                <a:solidFill>
                  <a:srgbClr val="0070C0"/>
                </a:solidFill>
              </a:rPr>
              <a:t>P2S)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48479" y="1033046"/>
            <a:ext cx="2566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Functional </a:t>
            </a:r>
            <a:r>
              <a:rPr lang="en-US" sz="1600" dirty="0"/>
              <a:t>Activity Hierarchy</a:t>
            </a:r>
          </a:p>
        </p:txBody>
      </p:sp>
    </p:spTree>
    <p:extLst>
      <p:ext uri="{BB962C8B-B14F-4D97-AF65-F5344CB8AC3E}">
        <p14:creationId xmlns:p14="http://schemas.microsoft.com/office/powerpoint/2010/main" val="99429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1867"/>
            <a:ext cx="9144000" cy="27214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BEOF Architecture Model Example: </a:t>
            </a:r>
            <a:br>
              <a:rPr lang="en-US" i="1" dirty="0"/>
            </a:br>
            <a:r>
              <a:rPr lang="en-US" dirty="0" smtClean="0"/>
              <a:t>Activity </a:t>
            </a:r>
            <a:r>
              <a:rPr lang="en-US" dirty="0"/>
              <a:t>in E2E Context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5166"/>
            <a:ext cx="9144000" cy="14345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84096" y="4495800"/>
            <a:ext cx="533400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33252" y="4141304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377608" y="4495800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141304" y="5022572"/>
            <a:ext cx="5334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7148073" y="4904288"/>
            <a:ext cx="1995927" cy="236568"/>
          </a:xfrm>
          <a:prstGeom prst="wedgeRoundRectCallout">
            <a:avLst>
              <a:gd name="adj1" fmla="val 37539"/>
              <a:gd name="adj2" fmla="val -1613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E2E Hierarchy Context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7066772" y="3505200"/>
            <a:ext cx="1996044" cy="215034"/>
          </a:xfrm>
          <a:prstGeom prst="wedgeRoundRectCallout">
            <a:avLst>
              <a:gd name="adj1" fmla="val -7236"/>
              <a:gd name="adj2" fmla="val 24575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L0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4219903" y="5599183"/>
            <a:ext cx="1980034" cy="215034"/>
          </a:xfrm>
          <a:prstGeom prst="wedgeRoundRectCallout">
            <a:avLst>
              <a:gd name="adj1" fmla="val -38836"/>
              <a:gd name="adj2" fmla="val -26389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L2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6148915" y="5348432"/>
            <a:ext cx="1958102" cy="215034"/>
          </a:xfrm>
          <a:prstGeom prst="wedgeRoundRectCallout">
            <a:avLst>
              <a:gd name="adj1" fmla="val -27322"/>
              <a:gd name="adj2" fmla="val -38180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L1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67668" y="3980156"/>
            <a:ext cx="699103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120234" y="3460317"/>
            <a:ext cx="846017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110296" y="3980156"/>
            <a:ext cx="1452304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97045" y="4513556"/>
            <a:ext cx="1008356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028475" y="3992217"/>
            <a:ext cx="1160274" cy="152400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6200" y="4868050"/>
            <a:ext cx="1295400" cy="154522"/>
          </a:xfrm>
          <a:prstGeom prst="rect">
            <a:avLst/>
          </a:prstGeom>
          <a:solidFill>
            <a:schemeClr val="bg2">
              <a:lumMod val="50000"/>
              <a:alpha val="50196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28474" y="4499316"/>
            <a:ext cx="1095725" cy="133265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236189" y="1531564"/>
            <a:ext cx="1397063" cy="106017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275941" y="1921445"/>
            <a:ext cx="1243621" cy="82847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261652" y="2319078"/>
            <a:ext cx="1218158" cy="80376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329615" y="1932855"/>
            <a:ext cx="762000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762500" y="2523399"/>
            <a:ext cx="952499" cy="69231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741705" y="2132877"/>
            <a:ext cx="668495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895608" y="1918566"/>
            <a:ext cx="1209289" cy="76200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881311" y="2309552"/>
            <a:ext cx="1071074" cy="80376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538289" y="2111944"/>
            <a:ext cx="838200" cy="71381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543049" y="2498302"/>
            <a:ext cx="810302" cy="94328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9734" y="2323714"/>
            <a:ext cx="900865" cy="66214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9735" y="2706297"/>
            <a:ext cx="691860" cy="66214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543049" y="2502141"/>
            <a:ext cx="810301" cy="762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flipV="1">
            <a:off x="1998658" y="4482548"/>
            <a:ext cx="1125541" cy="17015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415690" y="3044689"/>
            <a:ext cx="2675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E2E Capability Hierarchy (</a:t>
            </a:r>
            <a:r>
              <a:rPr lang="en-US" sz="1600" dirty="0" smtClean="0">
                <a:solidFill>
                  <a:srgbClr val="0070C0"/>
                </a:solidFill>
              </a:rPr>
              <a:t>P2S)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48479" y="1033046"/>
            <a:ext cx="2566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Functional </a:t>
            </a:r>
            <a:r>
              <a:rPr lang="en-US" sz="1600" dirty="0"/>
              <a:t>Activity Hierarchy</a:t>
            </a:r>
          </a:p>
        </p:txBody>
      </p:sp>
      <p:sp>
        <p:nvSpPr>
          <p:cNvPr id="5" name="Freeform 4"/>
          <p:cNvSpPr/>
          <p:nvPr/>
        </p:nvSpPr>
        <p:spPr>
          <a:xfrm>
            <a:off x="864323" y="2584174"/>
            <a:ext cx="1136755" cy="2001078"/>
          </a:xfrm>
          <a:custGeom>
            <a:avLst/>
            <a:gdLst>
              <a:gd name="connsiteX0" fmla="*/ 937973 w 1136755"/>
              <a:gd name="connsiteY0" fmla="*/ 0 h 2001078"/>
              <a:gd name="connsiteX1" fmla="*/ 421138 w 1136755"/>
              <a:gd name="connsiteY1" fmla="*/ 331304 h 2001078"/>
              <a:gd name="connsiteX2" fmla="*/ 23573 w 1136755"/>
              <a:gd name="connsiteY2" fmla="*/ 1457739 h 2001078"/>
              <a:gd name="connsiteX3" fmla="*/ 1136755 w 1136755"/>
              <a:gd name="connsiteY3" fmla="*/ 2001078 h 200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6755" h="2001078">
                <a:moveTo>
                  <a:pt x="937973" y="0"/>
                </a:moveTo>
                <a:cubicBezTo>
                  <a:pt x="755755" y="44174"/>
                  <a:pt x="573538" y="88348"/>
                  <a:pt x="421138" y="331304"/>
                </a:cubicBezTo>
                <a:cubicBezTo>
                  <a:pt x="268738" y="574260"/>
                  <a:pt x="-95697" y="1179443"/>
                  <a:pt x="23573" y="1457739"/>
                </a:cubicBezTo>
                <a:cubicBezTo>
                  <a:pt x="142842" y="1736035"/>
                  <a:pt x="639798" y="1868556"/>
                  <a:pt x="1136755" y="2001078"/>
                </a:cubicBezTo>
              </a:path>
            </a:pathLst>
          </a:cu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ular Callout 40"/>
          <p:cNvSpPr/>
          <p:nvPr/>
        </p:nvSpPr>
        <p:spPr>
          <a:xfrm>
            <a:off x="1646953" y="2843218"/>
            <a:ext cx="4475458" cy="388893"/>
          </a:xfrm>
          <a:prstGeom prst="wedgeRoundRectCallout">
            <a:avLst>
              <a:gd name="adj1" fmla="val -74560"/>
              <a:gd name="adj2" fmla="val 12077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‘Activity </a:t>
            </a:r>
            <a:r>
              <a:rPr lang="en-US" sz="1600" b="1" dirty="0">
                <a:solidFill>
                  <a:schemeClr val="tx1"/>
                </a:solidFill>
              </a:rPr>
              <a:t>in E2E </a:t>
            </a:r>
            <a:r>
              <a:rPr lang="en-US" sz="1600" b="1" dirty="0" smtClean="0">
                <a:solidFill>
                  <a:schemeClr val="tx1"/>
                </a:solidFill>
              </a:rPr>
              <a:t>Context’ makes these Associations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24598" y="2367290"/>
            <a:ext cx="306706" cy="2483006"/>
          </a:xfrm>
          <a:custGeom>
            <a:avLst/>
            <a:gdLst>
              <a:gd name="connsiteX0" fmla="*/ 200689 w 306706"/>
              <a:gd name="connsiteY0" fmla="*/ 18101 h 2483006"/>
              <a:gd name="connsiteX1" fmla="*/ 1906 w 306706"/>
              <a:gd name="connsiteY1" fmla="*/ 362658 h 2483006"/>
              <a:gd name="connsiteX2" fmla="*/ 306706 w 306706"/>
              <a:gd name="connsiteY2" fmla="*/ 2483006 h 2483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706" h="2483006">
                <a:moveTo>
                  <a:pt x="200689" y="18101"/>
                </a:moveTo>
                <a:cubicBezTo>
                  <a:pt x="92462" y="-15030"/>
                  <a:pt x="-15764" y="-48160"/>
                  <a:pt x="1906" y="362658"/>
                </a:cubicBezTo>
                <a:cubicBezTo>
                  <a:pt x="19576" y="773476"/>
                  <a:pt x="163141" y="1628241"/>
                  <a:pt x="306706" y="2483006"/>
                </a:cubicBezTo>
              </a:path>
            </a:pathLst>
          </a:cu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>
            <a:off x="288258" y="2796209"/>
            <a:ext cx="453864" cy="2067339"/>
          </a:xfrm>
          <a:custGeom>
            <a:avLst/>
            <a:gdLst>
              <a:gd name="connsiteX0" fmla="*/ 135812 w 453864"/>
              <a:gd name="connsiteY0" fmla="*/ 0 h 2067339"/>
              <a:gd name="connsiteX1" fmla="*/ 96055 w 453864"/>
              <a:gd name="connsiteY1" fmla="*/ 265043 h 2067339"/>
              <a:gd name="connsiteX2" fmla="*/ 16542 w 453864"/>
              <a:gd name="connsiteY2" fmla="*/ 1033669 h 2067339"/>
              <a:gd name="connsiteX3" fmla="*/ 453864 w 453864"/>
              <a:gd name="connsiteY3" fmla="*/ 2067339 h 206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864" h="2067339">
                <a:moveTo>
                  <a:pt x="135812" y="0"/>
                </a:moveTo>
                <a:cubicBezTo>
                  <a:pt x="125872" y="46382"/>
                  <a:pt x="115933" y="92765"/>
                  <a:pt x="96055" y="265043"/>
                </a:cubicBezTo>
                <a:cubicBezTo>
                  <a:pt x="76177" y="437321"/>
                  <a:pt x="-43093" y="733286"/>
                  <a:pt x="16542" y="1033669"/>
                </a:cubicBezTo>
                <a:cubicBezTo>
                  <a:pt x="76177" y="1334052"/>
                  <a:pt x="265020" y="1700695"/>
                  <a:pt x="453864" y="2067339"/>
                </a:cubicBezTo>
              </a:path>
            </a:pathLst>
          </a:cu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eft Brace 43"/>
          <p:cNvSpPr/>
          <p:nvPr/>
        </p:nvSpPr>
        <p:spPr>
          <a:xfrm rot="5400000">
            <a:off x="297124" y="3320289"/>
            <a:ext cx="465450" cy="827786"/>
          </a:xfrm>
          <a:prstGeom prst="leftBrace">
            <a:avLst>
              <a:gd name="adj1" fmla="val 25416"/>
              <a:gd name="adj2" fmla="val 5000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162050"/>
            <a:ext cx="9058275" cy="516255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568864" y="1378320"/>
            <a:ext cx="2009365" cy="198642"/>
          </a:xfrm>
          <a:prstGeom prst="rect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550504" y="1371600"/>
            <a:ext cx="2057400" cy="2286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BEOF Architecture </a:t>
            </a:r>
            <a:r>
              <a:rPr lang="en-US" i="1" dirty="0"/>
              <a:t>Model </a:t>
            </a:r>
            <a:r>
              <a:rPr lang="en-US" i="1" dirty="0" smtClean="0"/>
              <a:t>Example</a:t>
            </a:r>
            <a:r>
              <a:rPr lang="en-US" i="1" dirty="0"/>
              <a:t>: </a:t>
            </a:r>
            <a:br>
              <a:rPr lang="en-US" i="1" dirty="0"/>
            </a:br>
            <a:r>
              <a:rPr lang="en-US" dirty="0" smtClean="0"/>
              <a:t>Activity </a:t>
            </a:r>
            <a:r>
              <a:rPr lang="en-US" dirty="0"/>
              <a:t>in E2E Context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4750908"/>
            <a:ext cx="1985903" cy="133265"/>
          </a:xfrm>
          <a:prstGeom prst="rect">
            <a:avLst/>
          </a:prstGeom>
          <a:solidFill>
            <a:srgbClr val="4F81B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flipV="1">
            <a:off x="884584" y="4720888"/>
            <a:ext cx="2039942" cy="17015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ular Callout 48"/>
          <p:cNvSpPr/>
          <p:nvPr/>
        </p:nvSpPr>
        <p:spPr>
          <a:xfrm>
            <a:off x="2203323" y="2617304"/>
            <a:ext cx="2242993" cy="243562"/>
          </a:xfrm>
          <a:prstGeom prst="wedgeRoundRectCallout">
            <a:avLst>
              <a:gd name="adj1" fmla="val -42008"/>
              <a:gd name="adj2" fmla="val 16108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Activity in E2E Context: P2S L2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78628" y="5098947"/>
            <a:ext cx="990600" cy="152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ular Callout 50"/>
          <p:cNvSpPr/>
          <p:nvPr/>
        </p:nvSpPr>
        <p:spPr>
          <a:xfrm>
            <a:off x="4856007" y="5728566"/>
            <a:ext cx="1980034" cy="215034"/>
          </a:xfrm>
          <a:prstGeom prst="wedgeRoundRectCallout">
            <a:avLst>
              <a:gd name="adj1" fmla="val -38836"/>
              <a:gd name="adj2" fmla="val -26389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L2 E2E Federation Level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93958" y="3074504"/>
            <a:ext cx="2211318" cy="198642"/>
          </a:xfrm>
          <a:prstGeom prst="rect">
            <a:avLst/>
          </a:prstGeom>
          <a:solidFill>
            <a:schemeClr val="accent2">
              <a:lumMod val="40000"/>
              <a:lumOff val="60000"/>
              <a:alpha val="50196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6172200" y="4572000"/>
            <a:ext cx="2675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E2E Capability Hierarchy (</a:t>
            </a:r>
            <a:r>
              <a:rPr lang="en-US" sz="1600" dirty="0" smtClean="0">
                <a:solidFill>
                  <a:srgbClr val="0070C0"/>
                </a:solidFill>
              </a:rPr>
              <a:t>P2S)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42883" y="1308364"/>
            <a:ext cx="2566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Functional </a:t>
            </a:r>
            <a:r>
              <a:rPr lang="en-US" sz="1600" dirty="0"/>
              <a:t>Activity Hierarchy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6760" y="5105400"/>
            <a:ext cx="859046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ular Callout 58"/>
          <p:cNvSpPr/>
          <p:nvPr/>
        </p:nvSpPr>
        <p:spPr>
          <a:xfrm>
            <a:off x="6934200" y="5554632"/>
            <a:ext cx="1995927" cy="236568"/>
          </a:xfrm>
          <a:prstGeom prst="wedgeRoundRectCallout">
            <a:avLst>
              <a:gd name="adj1" fmla="val -38816"/>
              <a:gd name="adj2" fmla="val -17253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P2S E2E Hierarchy Context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21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12396</TotalTime>
  <Words>961</Words>
  <Application>Microsoft Office PowerPoint</Application>
  <PresentationFormat>On-screen Show (4:3)</PresentationFormat>
  <Paragraphs>217</Paragraphs>
  <Slides>25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E2E Metamodel</vt:lpstr>
      <vt:lpstr>Notional Example: E2E Plan to Stock</vt:lpstr>
      <vt:lpstr>Notional Example: E2E Procure to Pay</vt:lpstr>
      <vt:lpstr>Notional Example: E2E Acquire to Retire</vt:lpstr>
      <vt:lpstr>‘Nested’ E2E Hierarchies and Federation Level</vt:lpstr>
      <vt:lpstr>Architecture Model Notional Example:  BEA Operational Activity Node Tree</vt:lpstr>
      <vt:lpstr>Architecture Model Notional Example:  E2E Hierarchy: P2S</vt:lpstr>
      <vt:lpstr>Architecture Model Notional Example:  E2E Hierarchy and Federation Level Context</vt:lpstr>
      <vt:lpstr>Architecture Model Notional Example:  Operational Activity in E2E Context</vt:lpstr>
      <vt:lpstr>Architecture Model Notional Example:  BPMN Tasks Extend the BEA Activity Node Tree</vt:lpstr>
      <vt:lpstr>Architecture Model Notional Example:  BPMN Task in E2E Context</vt:lpstr>
      <vt:lpstr>Architecture Model Notional Example:  A Second E2E Hierarchy: P2P</vt:lpstr>
      <vt:lpstr>Architecture Model Notional Example:  Second E2E Hierarchy and Federation Level Context</vt:lpstr>
      <vt:lpstr>Architecture Model Notional Example:  Operational Activity in Two Different E2E Contexts</vt:lpstr>
      <vt:lpstr>Architecture Model Notional Example:  Operational Activity in a L1 E2E Context</vt:lpstr>
      <vt:lpstr>Architecture Model Notional Example:  A Third E2E Hierarchy: A2R</vt:lpstr>
      <vt:lpstr>Architecture Model Notional Example:  Third E2E Hierarchy and Federation Level Context</vt:lpstr>
      <vt:lpstr>Architecture Model Notional Example:  Operational Activity in Three Different E2E Contexts</vt:lpstr>
      <vt:lpstr>Architecture Model Notional Example:  Operational Activity in Two Different L1 E2E Contexts</vt:lpstr>
      <vt:lpstr>BEOF Architecture Model Example:  BEA Operational Activity Node Tree</vt:lpstr>
      <vt:lpstr>BEOF Architecture Model Example:  E2E Hierarchy and Federation Level Context</vt:lpstr>
      <vt:lpstr>BEOF Architecture Model Example:  BPMN Tasks Extend the BEA Activity Node Tree</vt:lpstr>
      <vt:lpstr>BEOF Architecture Model Example:  Activity in E2E Context</vt:lpstr>
      <vt:lpstr>BEOF Architecture Model Example:  Activity in E2E Context</vt:lpstr>
    </vt:vector>
  </TitlesOfParts>
  <Company>EITSD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HunterSK</dc:creator>
  <cp:lastModifiedBy>Stephen Hunter</cp:lastModifiedBy>
  <cp:revision>208</cp:revision>
  <cp:lastPrinted>2013-04-24T19:34:56Z</cp:lastPrinted>
  <dcterms:created xsi:type="dcterms:W3CDTF">2013-04-02T20:43:04Z</dcterms:created>
  <dcterms:modified xsi:type="dcterms:W3CDTF">2014-09-23T15:23:35Z</dcterms:modified>
</cp:coreProperties>
</file>
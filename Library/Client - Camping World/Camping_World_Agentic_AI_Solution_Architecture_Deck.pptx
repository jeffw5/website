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071B2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Rectangle 2"/>
          <p:cNvSpPr/>
          <p:nvPr/>
        </p:nvSpPr>
        <p:spPr>
          <a:xfrm>
            <a:off x="-1" y="2377439"/>
            <a:ext cx="12191697" cy="54865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" name="Rectangle 3"/>
          <p:cNvSpPr/>
          <p:nvPr/>
        </p:nvSpPr>
        <p:spPr>
          <a:xfrm>
            <a:off x="-1" y="2606039"/>
            <a:ext cx="12191697" cy="18289"/>
          </a:xfrm>
          <a:prstGeom prst="rect">
            <a:avLst/>
          </a:prstGeom>
          <a:solidFill>
            <a:srgbClr val="E6834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" name="TextBox 4"/>
          <p:cNvSpPr txBox="1"/>
          <p:nvPr/>
        </p:nvSpPr>
        <p:spPr>
          <a:xfrm>
            <a:off x="640080" y="548640"/>
            <a:ext cx="91440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C1441E"/>
                </a:solidFill>
              </a:defRPr>
            </a:lvl1pPr>
          </a:lstStyle>
          <a:p>
            <a:pPr/>
            <a:r>
              <a:t>SOLUTION ARCHITECTURE BLUEPRINT</a:t>
            </a:r>
          </a:p>
        </p:txBody>
      </p:sp>
      <p:sp>
        <p:nvSpPr>
          <p:cNvPr id="98" name="TextBox 5"/>
          <p:cNvSpPr txBox="1"/>
          <p:nvPr/>
        </p:nvSpPr>
        <p:spPr>
          <a:xfrm>
            <a:off x="640080" y="1005839"/>
            <a:ext cx="10972801" cy="686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600">
                <a:solidFill>
                  <a:srgbClr val="FFFFFF"/>
                </a:solidFill>
              </a:defRPr>
            </a:lvl1pPr>
          </a:lstStyle>
          <a:p>
            <a:pPr/>
            <a:r>
              <a:t>Agentic AI Business Transformation</a:t>
            </a:r>
          </a:p>
        </p:txBody>
      </p:sp>
      <p:sp>
        <p:nvSpPr>
          <p:cNvPr id="99" name="TextBox 6"/>
          <p:cNvSpPr txBox="1"/>
          <p:nvPr/>
        </p:nvSpPr>
        <p:spPr>
          <a:xfrm>
            <a:off x="640080" y="2834639"/>
            <a:ext cx="10972801" cy="385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2200">
                <a:solidFill>
                  <a:srgbClr val="F1E6CB"/>
                </a:solidFill>
              </a:defRPr>
            </a:lvl1pPr>
          </a:lstStyle>
          <a:p>
            <a:pPr/>
            <a:r>
              <a:t>Camping World &amp; Good Sam — From Retailer to Lifestyle Ecosystem</a:t>
            </a:r>
          </a:p>
        </p:txBody>
      </p:sp>
      <p:sp>
        <p:nvSpPr>
          <p:cNvPr id="100" name="TextBox 7"/>
          <p:cNvSpPr txBox="1"/>
          <p:nvPr/>
        </p:nvSpPr>
        <p:spPr>
          <a:xfrm>
            <a:off x="640080" y="3657600"/>
            <a:ext cx="10972801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6E8B4F"/>
                </a:solidFill>
              </a:defRPr>
            </a:lvl1pPr>
          </a:lstStyle>
          <a:p>
            <a:pPr/>
            <a:r>
              <a:t>Component Design  ·  Reference Architecture  ·  Progressive Capability Roadmap (2026 → 2028)</a:t>
            </a:r>
          </a:p>
        </p:txBody>
      </p:sp>
      <p:sp>
        <p:nvSpPr>
          <p:cNvPr id="101" name="Rectangle 8"/>
          <p:cNvSpPr/>
          <p:nvPr/>
        </p:nvSpPr>
        <p:spPr>
          <a:xfrm>
            <a:off x="640080" y="4663440"/>
            <a:ext cx="6400801" cy="1554481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" name="TextBox 9"/>
          <p:cNvSpPr txBox="1"/>
          <p:nvPr/>
        </p:nvSpPr>
        <p:spPr>
          <a:xfrm>
            <a:off x="822960" y="4754879"/>
            <a:ext cx="146304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E6834A"/>
                </a:solidFill>
              </a:defRPr>
            </a:lvl1pPr>
          </a:lstStyle>
          <a:p>
            <a:pPr/>
            <a:r>
              <a:t>AUDIENCE</a:t>
            </a:r>
          </a:p>
        </p:txBody>
      </p:sp>
      <p:sp>
        <p:nvSpPr>
          <p:cNvPr id="103" name="TextBox 10"/>
          <p:cNvSpPr txBox="1"/>
          <p:nvPr/>
        </p:nvSpPr>
        <p:spPr>
          <a:xfrm>
            <a:off x="2286000" y="4754879"/>
            <a:ext cx="457200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Enterprise Architecture / CTO Office</a:t>
            </a:r>
          </a:p>
        </p:txBody>
      </p:sp>
      <p:sp>
        <p:nvSpPr>
          <p:cNvPr id="104" name="TextBox 11"/>
          <p:cNvSpPr txBox="1"/>
          <p:nvPr/>
        </p:nvSpPr>
        <p:spPr>
          <a:xfrm>
            <a:off x="822960" y="5102352"/>
            <a:ext cx="146304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E6834A"/>
                </a:solidFill>
              </a:defRPr>
            </a:lvl1pPr>
          </a:lstStyle>
          <a:p>
            <a:pPr/>
            <a:r>
              <a:t>SPONSOR</a:t>
            </a:r>
          </a:p>
        </p:txBody>
      </p:sp>
      <p:sp>
        <p:nvSpPr>
          <p:cNvPr id="105" name="TextBox 12"/>
          <p:cNvSpPr txBox="1"/>
          <p:nvPr/>
        </p:nvSpPr>
        <p:spPr>
          <a:xfrm>
            <a:off x="2286000" y="5102352"/>
            <a:ext cx="457200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Matthew Wagner — CEO</a:t>
            </a:r>
          </a:p>
        </p:txBody>
      </p:sp>
      <p:sp>
        <p:nvSpPr>
          <p:cNvPr id="106" name="TextBox 13"/>
          <p:cNvSpPr txBox="1"/>
          <p:nvPr/>
        </p:nvSpPr>
        <p:spPr>
          <a:xfrm>
            <a:off x="822960" y="5449823"/>
            <a:ext cx="146304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E6834A"/>
                </a:solidFill>
              </a:defRPr>
            </a:lvl1pPr>
          </a:lstStyle>
          <a:p>
            <a:pPr/>
            <a:r>
              <a:t>HORIZON</a:t>
            </a:r>
          </a:p>
        </p:txBody>
      </p:sp>
      <p:sp>
        <p:nvSpPr>
          <p:cNvPr id="107" name="TextBox 14"/>
          <p:cNvSpPr txBox="1"/>
          <p:nvPr/>
        </p:nvSpPr>
        <p:spPr>
          <a:xfrm>
            <a:off x="2286000" y="5449823"/>
            <a:ext cx="457200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2026 Q3  →  2028 Q4   (10 quarters)</a:t>
            </a:r>
          </a:p>
        </p:txBody>
      </p:sp>
      <p:sp>
        <p:nvSpPr>
          <p:cNvPr id="108" name="TextBox 15"/>
          <p:cNvSpPr txBox="1"/>
          <p:nvPr/>
        </p:nvSpPr>
        <p:spPr>
          <a:xfrm>
            <a:off x="822960" y="5797296"/>
            <a:ext cx="146304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E6834A"/>
                </a:solidFill>
              </a:defRPr>
            </a:lvl1pPr>
          </a:lstStyle>
          <a:p>
            <a:pPr/>
            <a:r>
              <a:t>ARCHITECTURE</a:t>
            </a:r>
          </a:p>
        </p:txBody>
      </p:sp>
      <p:sp>
        <p:nvSpPr>
          <p:cNvPr id="109" name="TextBox 16"/>
          <p:cNvSpPr txBox="1"/>
          <p:nvPr/>
        </p:nvSpPr>
        <p:spPr>
          <a:xfrm>
            <a:off x="2286000" y="5797296"/>
            <a:ext cx="457200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Event-driven · Composable · Agent-first</a:t>
            </a:r>
          </a:p>
        </p:txBody>
      </p:sp>
      <p:sp>
        <p:nvSpPr>
          <p:cNvPr id="110" name="Rectangle 17"/>
          <p:cNvSpPr/>
          <p:nvPr/>
        </p:nvSpPr>
        <p:spPr>
          <a:xfrm>
            <a:off x="8778240" y="6035040"/>
            <a:ext cx="2011680" cy="164593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" name="Isosceles Triangle 18"/>
          <p:cNvSpPr/>
          <p:nvPr/>
        </p:nvSpPr>
        <p:spPr>
          <a:xfrm>
            <a:off x="9281159" y="5212079"/>
            <a:ext cx="1005841" cy="914401"/>
          </a:xfrm>
          <a:prstGeom prst="triangle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" name="Isosceles Triangle 19"/>
          <p:cNvSpPr/>
          <p:nvPr/>
        </p:nvSpPr>
        <p:spPr>
          <a:xfrm>
            <a:off x="9464040" y="4846320"/>
            <a:ext cx="640081" cy="640080"/>
          </a:xfrm>
          <a:prstGeom prst="triangle">
            <a:avLst/>
          </a:prstGeom>
          <a:solidFill>
            <a:srgbClr val="E6834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" name="Isosceles Triangle 20"/>
          <p:cNvSpPr/>
          <p:nvPr/>
        </p:nvSpPr>
        <p:spPr>
          <a:xfrm>
            <a:off x="9601200" y="4617720"/>
            <a:ext cx="365761" cy="365760"/>
          </a:xfrm>
          <a:prstGeom prst="triangle">
            <a:avLst/>
          </a:prstGeom>
          <a:solidFill>
            <a:srgbClr val="F1E6C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" name="TextBox 21"/>
          <p:cNvSpPr txBox="1"/>
          <p:nvPr/>
        </p:nvSpPr>
        <p:spPr>
          <a:xfrm>
            <a:off x="8686799" y="6263640"/>
            <a:ext cx="301752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i="1" sz="800">
                <a:solidFill>
                  <a:srgbClr val="6E7780"/>
                </a:solidFill>
              </a:defRPr>
            </a:lvl1pPr>
          </a:lstStyle>
          <a:p>
            <a:pPr/>
            <a:r>
              <a:t>Confidential — Internal architecture artifact</a:t>
            </a:r>
          </a:p>
        </p:txBody>
      </p:sp>
      <p:sp>
        <p:nvSpPr>
          <p:cNvPr id="115" name="Rectangle 22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" name="Rectangle 23"/>
          <p:cNvSpPr/>
          <p:nvPr/>
        </p:nvSpPr>
        <p:spPr>
          <a:xfrm>
            <a:off x="-1" y="6675119"/>
            <a:ext cx="12191697" cy="182881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" name="Rectangle 2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" name="Rectangle 3"/>
          <p:cNvSpPr/>
          <p:nvPr/>
        </p:nvSpPr>
        <p:spPr>
          <a:xfrm>
            <a:off x="-1" y="6565392"/>
            <a:ext cx="12191697" cy="292609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" name="TextBox 4"/>
          <p:cNvSpPr txBox="1"/>
          <p:nvPr/>
        </p:nvSpPr>
        <p:spPr>
          <a:xfrm>
            <a:off x="365759" y="6583680"/>
            <a:ext cx="73152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FFFFFF"/>
                </a:solidFill>
              </a:defRPr>
            </a:lvl1pPr>
          </a:lstStyle>
          <a:p>
            <a:pPr/>
            <a:r>
              <a:t>Camping World · Agentic AI Solution Architecture Blueprint v1.0</a:t>
            </a:r>
          </a:p>
        </p:txBody>
      </p:sp>
      <p:sp>
        <p:nvSpPr>
          <p:cNvPr id="122" name="TextBox 5"/>
          <p:cNvSpPr txBox="1"/>
          <p:nvPr/>
        </p:nvSpPr>
        <p:spPr>
          <a:xfrm>
            <a:off x="10332719" y="6583680"/>
            <a:ext cx="18288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/>
            <a:r>
              <a:t>2 / 30</a:t>
            </a:r>
          </a:p>
        </p:txBody>
      </p:sp>
      <p:sp>
        <p:nvSpPr>
          <p:cNvPr id="123" name="TextBox 6"/>
          <p:cNvSpPr txBox="1"/>
          <p:nvPr/>
        </p:nvSpPr>
        <p:spPr>
          <a:xfrm>
            <a:off x="502919" y="274320"/>
            <a:ext cx="1097280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C1441E"/>
                </a:solidFill>
              </a:defRPr>
            </a:lvl1pPr>
          </a:lstStyle>
          <a:p>
            <a:pPr/>
            <a:r>
              <a:t>EXECUTIVE SUMMARY</a:t>
            </a:r>
          </a:p>
        </p:txBody>
      </p:sp>
      <p:sp>
        <p:nvSpPr>
          <p:cNvPr id="124" name="TextBox 7"/>
          <p:cNvSpPr txBox="1"/>
          <p:nvPr/>
        </p:nvSpPr>
        <p:spPr>
          <a:xfrm>
            <a:off x="502919" y="502919"/>
            <a:ext cx="1124712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102A43"/>
                </a:solidFill>
              </a:defRPr>
            </a:lvl1pPr>
          </a:lstStyle>
          <a:p>
            <a:pPr/>
            <a:r>
              <a:t>From Retailer to Self-Improving Lifecycle Engine</a:t>
            </a:r>
          </a:p>
        </p:txBody>
      </p:sp>
      <p:sp>
        <p:nvSpPr>
          <p:cNvPr id="125" name="Rectangle 8"/>
          <p:cNvSpPr/>
          <p:nvPr/>
        </p:nvSpPr>
        <p:spPr>
          <a:xfrm>
            <a:off x="502919" y="1097280"/>
            <a:ext cx="548641" cy="36577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" name="Rectangle 9"/>
          <p:cNvSpPr/>
          <p:nvPr/>
        </p:nvSpPr>
        <p:spPr>
          <a:xfrm>
            <a:off x="502919" y="1463039"/>
            <a:ext cx="5486401" cy="48463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" name="Rectangle 10"/>
          <p:cNvSpPr/>
          <p:nvPr/>
        </p:nvSpPr>
        <p:spPr>
          <a:xfrm>
            <a:off x="502919" y="1463039"/>
            <a:ext cx="91441" cy="4846321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" name="TextBox 11"/>
          <p:cNvSpPr txBox="1"/>
          <p:nvPr/>
        </p:nvSpPr>
        <p:spPr>
          <a:xfrm>
            <a:off x="777239" y="1600200"/>
            <a:ext cx="5120642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102A43"/>
                </a:solidFill>
              </a:defRPr>
            </a:lvl1pPr>
          </a:lstStyle>
          <a:p>
            <a:pPr/>
            <a:r>
              <a:t>Strategic Thesis</a:t>
            </a:r>
          </a:p>
        </p:txBody>
      </p:sp>
      <p:sp>
        <p:nvSpPr>
          <p:cNvPr id="129" name="TextBox 12"/>
          <p:cNvSpPr txBox="1"/>
          <p:nvPr/>
        </p:nvSpPr>
        <p:spPr>
          <a:xfrm>
            <a:off x="777240" y="2103119"/>
            <a:ext cx="5029201" cy="1772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36454F"/>
                </a:solidFill>
              </a:defRPr>
            </a:pPr>
            <a:r>
              <a:t>Camping World does not need ‘more AI.’ It needs a coherent agentic capability platform that converts the 29M-record golden customer record, the service telemetry from an aging RV fleet, and the Good Sam subscription base into a self-improving lifecycle engine.</a:t>
            </a:r>
          </a:p>
          <a:p>
            <a:pPr>
              <a:defRPr sz="1200">
                <a:solidFill>
                  <a:srgbClr val="36454F"/>
                </a:solidFill>
              </a:defRPr>
            </a:pPr>
          </a:p>
          <a:p>
            <a:pPr>
              <a:defRPr sz="1200">
                <a:solidFill>
                  <a:srgbClr val="36454F"/>
                </a:solidFill>
              </a:defRPr>
            </a:pPr>
            <a:r>
              <a:t>Margin expansion follows automatically from prediction quality, personalization fidelity, and inventory velocity. Agents — not point models — are the unit of architecture, because the value is in the closed loop of sense → decide → act → learn.</a:t>
            </a:r>
          </a:p>
        </p:txBody>
      </p:sp>
      <p:sp>
        <p:nvSpPr>
          <p:cNvPr id="130" name="TextBox 13"/>
          <p:cNvSpPr txBox="1"/>
          <p:nvPr/>
        </p:nvSpPr>
        <p:spPr>
          <a:xfrm>
            <a:off x="6309359" y="1463039"/>
            <a:ext cx="5486401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02A43"/>
                </a:solidFill>
              </a:defRPr>
            </a:lvl1pPr>
          </a:lstStyle>
          <a:p>
            <a:pPr/>
            <a:r>
              <a:t>Five Outcomes Architected For</a:t>
            </a:r>
          </a:p>
        </p:txBody>
      </p:sp>
      <p:sp>
        <p:nvSpPr>
          <p:cNvPr id="131" name="Oval 14"/>
          <p:cNvSpPr/>
          <p:nvPr/>
        </p:nvSpPr>
        <p:spPr>
          <a:xfrm>
            <a:off x="6309359" y="1920239"/>
            <a:ext cx="640081" cy="640081"/>
          </a:xfrm>
          <a:prstGeom prst="ellipse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" name="TextBox 15"/>
          <p:cNvSpPr txBox="1"/>
          <p:nvPr/>
        </p:nvSpPr>
        <p:spPr>
          <a:xfrm>
            <a:off x="6309359" y="2099880"/>
            <a:ext cx="6400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33" name="TextBox 16"/>
          <p:cNvSpPr txBox="1"/>
          <p:nvPr/>
        </p:nvSpPr>
        <p:spPr>
          <a:xfrm>
            <a:off x="7086600" y="1956816"/>
            <a:ext cx="4709160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102A43"/>
                </a:solidFill>
              </a:defRPr>
            </a:lvl1pPr>
          </a:lstStyle>
          <a:p>
            <a:pPr/>
            <a:r>
              <a:t>Predictive Service revenue uplift</a:t>
            </a:r>
          </a:p>
        </p:txBody>
      </p:sp>
      <p:sp>
        <p:nvSpPr>
          <p:cNvPr id="134" name="TextBox 17"/>
          <p:cNvSpPr txBox="1"/>
          <p:nvPr/>
        </p:nvSpPr>
        <p:spPr>
          <a:xfrm>
            <a:off x="7086600" y="2285999"/>
            <a:ext cx="470916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100">
                <a:solidFill>
                  <a:srgbClr val="C1441E"/>
                </a:solidFill>
              </a:defRPr>
            </a:lvl1pPr>
          </a:lstStyle>
          <a:p>
            <a:pPr/>
            <a:r>
              <a:t>+18% ESP attach by 2028</a:t>
            </a:r>
          </a:p>
        </p:txBody>
      </p:sp>
      <p:sp>
        <p:nvSpPr>
          <p:cNvPr id="135" name="Oval 18"/>
          <p:cNvSpPr/>
          <p:nvPr/>
        </p:nvSpPr>
        <p:spPr>
          <a:xfrm>
            <a:off x="6309359" y="2788920"/>
            <a:ext cx="640081" cy="640081"/>
          </a:xfrm>
          <a:prstGeom prst="ellipse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" name="TextBox 19"/>
          <p:cNvSpPr txBox="1"/>
          <p:nvPr/>
        </p:nvSpPr>
        <p:spPr>
          <a:xfrm>
            <a:off x="6309359" y="2968560"/>
            <a:ext cx="6400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37" name="TextBox 20"/>
          <p:cNvSpPr txBox="1"/>
          <p:nvPr/>
        </p:nvSpPr>
        <p:spPr>
          <a:xfrm>
            <a:off x="7086600" y="2825495"/>
            <a:ext cx="4709160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102A43"/>
                </a:solidFill>
              </a:defRPr>
            </a:lvl1pPr>
          </a:lstStyle>
          <a:p>
            <a:pPr/>
            <a:r>
              <a:t>Personalized lifecycle marketing</a:t>
            </a:r>
          </a:p>
        </p:txBody>
      </p:sp>
      <p:sp>
        <p:nvSpPr>
          <p:cNvPr id="138" name="TextBox 21"/>
          <p:cNvSpPr txBox="1"/>
          <p:nvPr/>
        </p:nvSpPr>
        <p:spPr>
          <a:xfrm>
            <a:off x="7086600" y="3154679"/>
            <a:ext cx="470916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100">
                <a:solidFill>
                  <a:srgbClr val="C1441E"/>
                </a:solidFill>
              </a:defRPr>
            </a:lvl1pPr>
          </a:lstStyle>
          <a:p>
            <a:pPr/>
            <a:r>
              <a:t>+22% campaign ROAS</a:t>
            </a:r>
          </a:p>
        </p:txBody>
      </p:sp>
      <p:sp>
        <p:nvSpPr>
          <p:cNvPr id="139" name="Oval 22"/>
          <p:cNvSpPr/>
          <p:nvPr/>
        </p:nvSpPr>
        <p:spPr>
          <a:xfrm>
            <a:off x="6309359" y="3657599"/>
            <a:ext cx="640081" cy="640082"/>
          </a:xfrm>
          <a:prstGeom prst="ellipse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" name="TextBox 23"/>
          <p:cNvSpPr txBox="1"/>
          <p:nvPr/>
        </p:nvSpPr>
        <p:spPr>
          <a:xfrm>
            <a:off x="6309359" y="3837240"/>
            <a:ext cx="6400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41" name="TextBox 24"/>
          <p:cNvSpPr txBox="1"/>
          <p:nvPr/>
        </p:nvSpPr>
        <p:spPr>
          <a:xfrm>
            <a:off x="7086600" y="3694176"/>
            <a:ext cx="4709160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102A43"/>
                </a:solidFill>
              </a:defRPr>
            </a:lvl1pPr>
          </a:lstStyle>
          <a:p>
            <a:pPr/>
            <a:r>
              <a:t>Dealership conversion</a:t>
            </a:r>
          </a:p>
        </p:txBody>
      </p:sp>
      <p:sp>
        <p:nvSpPr>
          <p:cNvPr id="142" name="TextBox 25"/>
          <p:cNvSpPr txBox="1"/>
          <p:nvPr/>
        </p:nvSpPr>
        <p:spPr>
          <a:xfrm>
            <a:off x="7086600" y="4023359"/>
            <a:ext cx="470916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100">
                <a:solidFill>
                  <a:srgbClr val="C1441E"/>
                </a:solidFill>
              </a:defRPr>
            </a:lvl1pPr>
          </a:lstStyle>
          <a:p>
            <a:pPr/>
            <a:r>
              <a:t>+9 pp lead-to-close</a:t>
            </a:r>
          </a:p>
        </p:txBody>
      </p:sp>
      <p:sp>
        <p:nvSpPr>
          <p:cNvPr id="143" name="Oval 26"/>
          <p:cNvSpPr/>
          <p:nvPr/>
        </p:nvSpPr>
        <p:spPr>
          <a:xfrm>
            <a:off x="6309359" y="4526279"/>
            <a:ext cx="640081" cy="640081"/>
          </a:xfrm>
          <a:prstGeom prst="ellipse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" name="TextBox 27"/>
          <p:cNvSpPr txBox="1"/>
          <p:nvPr/>
        </p:nvSpPr>
        <p:spPr>
          <a:xfrm>
            <a:off x="6309359" y="4705919"/>
            <a:ext cx="6400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45" name="TextBox 28"/>
          <p:cNvSpPr txBox="1"/>
          <p:nvPr/>
        </p:nvSpPr>
        <p:spPr>
          <a:xfrm>
            <a:off x="7086600" y="4562854"/>
            <a:ext cx="4709160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102A43"/>
                </a:solidFill>
              </a:defRPr>
            </a:lvl1pPr>
          </a:lstStyle>
          <a:p>
            <a:pPr/>
            <a:r>
              <a:t>Inventory turn / aged-unit drag</a:t>
            </a:r>
          </a:p>
        </p:txBody>
      </p:sp>
      <p:sp>
        <p:nvSpPr>
          <p:cNvPr id="146" name="TextBox 29"/>
          <p:cNvSpPr txBox="1"/>
          <p:nvPr/>
        </p:nvSpPr>
        <p:spPr>
          <a:xfrm>
            <a:off x="7086600" y="4892038"/>
            <a:ext cx="470916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100">
                <a:solidFill>
                  <a:srgbClr val="C1441E"/>
                </a:solidFill>
              </a:defRPr>
            </a:lvl1pPr>
          </a:lstStyle>
          <a:p>
            <a:pPr/>
            <a:r>
              <a:t>−25% aged inventory</a:t>
            </a:r>
          </a:p>
        </p:txBody>
      </p:sp>
      <p:sp>
        <p:nvSpPr>
          <p:cNvPr id="147" name="Oval 30"/>
          <p:cNvSpPr/>
          <p:nvPr/>
        </p:nvSpPr>
        <p:spPr>
          <a:xfrm>
            <a:off x="6309359" y="5394959"/>
            <a:ext cx="640081" cy="640081"/>
          </a:xfrm>
          <a:prstGeom prst="ellipse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" name="TextBox 31"/>
          <p:cNvSpPr txBox="1"/>
          <p:nvPr/>
        </p:nvSpPr>
        <p:spPr>
          <a:xfrm>
            <a:off x="6309359" y="5574600"/>
            <a:ext cx="6400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49" name="TextBox 32"/>
          <p:cNvSpPr txBox="1"/>
          <p:nvPr/>
        </p:nvSpPr>
        <p:spPr>
          <a:xfrm>
            <a:off x="7086600" y="5431535"/>
            <a:ext cx="4709160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102A43"/>
                </a:solidFill>
              </a:defRPr>
            </a:lvl1pPr>
          </a:lstStyle>
          <a:p>
            <a:pPr/>
            <a:r>
              <a:t>SG&amp;A cost takeout</a:t>
            </a:r>
          </a:p>
        </p:txBody>
      </p:sp>
      <p:sp>
        <p:nvSpPr>
          <p:cNvPr id="150" name="TextBox 33"/>
          <p:cNvSpPr txBox="1"/>
          <p:nvPr/>
        </p:nvSpPr>
        <p:spPr>
          <a:xfrm>
            <a:off x="7086600" y="5760720"/>
            <a:ext cx="470916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100">
                <a:solidFill>
                  <a:srgbClr val="C1441E"/>
                </a:solidFill>
              </a:defRPr>
            </a:lvl1pPr>
          </a:lstStyle>
          <a:p>
            <a:pPr/>
            <a:r>
              <a:t>−$60M run-rate SG&amp;A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" name="Rectangle 2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4" name="Rectangle 3"/>
          <p:cNvSpPr/>
          <p:nvPr/>
        </p:nvSpPr>
        <p:spPr>
          <a:xfrm>
            <a:off x="-1" y="6565392"/>
            <a:ext cx="12191697" cy="292609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5" name="TextBox 4"/>
          <p:cNvSpPr txBox="1"/>
          <p:nvPr/>
        </p:nvSpPr>
        <p:spPr>
          <a:xfrm>
            <a:off x="365759" y="6583680"/>
            <a:ext cx="73152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FFFFFF"/>
                </a:solidFill>
              </a:defRPr>
            </a:lvl1pPr>
          </a:lstStyle>
          <a:p>
            <a:pPr/>
            <a:r>
              <a:t>Camping World · Agentic AI Solution Architecture Blueprint v1.0</a:t>
            </a:r>
          </a:p>
        </p:txBody>
      </p:sp>
      <p:sp>
        <p:nvSpPr>
          <p:cNvPr id="156" name="TextBox 5"/>
          <p:cNvSpPr txBox="1"/>
          <p:nvPr/>
        </p:nvSpPr>
        <p:spPr>
          <a:xfrm>
            <a:off x="10332719" y="6583680"/>
            <a:ext cx="18288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/>
            <a:r>
              <a:t>3 / 30</a:t>
            </a:r>
          </a:p>
        </p:txBody>
      </p:sp>
      <p:sp>
        <p:nvSpPr>
          <p:cNvPr id="157" name="TextBox 6"/>
          <p:cNvSpPr txBox="1"/>
          <p:nvPr/>
        </p:nvSpPr>
        <p:spPr>
          <a:xfrm>
            <a:off x="502919" y="274320"/>
            <a:ext cx="1097280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C1441E"/>
                </a:solidFill>
              </a:defRPr>
            </a:lvl1pPr>
          </a:lstStyle>
          <a:p>
            <a:pPr/>
            <a:r>
              <a:t>BUSINESS CONTEXT</a:t>
            </a:r>
          </a:p>
        </p:txBody>
      </p:sp>
      <p:sp>
        <p:nvSpPr>
          <p:cNvPr id="158" name="TextBox 7"/>
          <p:cNvSpPr txBox="1"/>
          <p:nvPr/>
        </p:nvSpPr>
        <p:spPr>
          <a:xfrm>
            <a:off x="502919" y="502919"/>
            <a:ext cx="1124712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102A43"/>
                </a:solidFill>
              </a:defRPr>
            </a:lvl1pPr>
          </a:lstStyle>
          <a:p>
            <a:pPr/>
            <a:r>
              <a:t>The Hub-and-Spoke Lifestyle Ecosystem</a:t>
            </a:r>
          </a:p>
        </p:txBody>
      </p:sp>
      <p:sp>
        <p:nvSpPr>
          <p:cNvPr id="159" name="Rectangle 8"/>
          <p:cNvSpPr/>
          <p:nvPr/>
        </p:nvSpPr>
        <p:spPr>
          <a:xfrm>
            <a:off x="502919" y="1097280"/>
            <a:ext cx="548641" cy="36577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" name="Oval 9"/>
          <p:cNvSpPr/>
          <p:nvPr/>
        </p:nvSpPr>
        <p:spPr>
          <a:xfrm>
            <a:off x="4809743" y="2743199"/>
            <a:ext cx="2560322" cy="2560322"/>
          </a:xfrm>
          <a:prstGeom prst="ellipse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1" name="TextBox 10"/>
          <p:cNvSpPr txBox="1"/>
          <p:nvPr/>
        </p:nvSpPr>
        <p:spPr>
          <a:xfrm>
            <a:off x="4809743" y="3566159"/>
            <a:ext cx="2560322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GOOD SAM</a:t>
            </a:r>
          </a:p>
        </p:txBody>
      </p:sp>
      <p:sp>
        <p:nvSpPr>
          <p:cNvPr id="162" name="TextBox 11"/>
          <p:cNvSpPr txBox="1"/>
          <p:nvPr/>
        </p:nvSpPr>
        <p:spPr>
          <a:xfrm>
            <a:off x="4809743" y="3977640"/>
            <a:ext cx="256032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1300">
                <a:solidFill>
                  <a:srgbClr val="F1E6CB"/>
                </a:solidFill>
              </a:defRPr>
            </a:lvl1pPr>
          </a:lstStyle>
          <a:p>
            <a:pPr/>
            <a:r>
              <a:t>the Hub</a:t>
            </a:r>
          </a:p>
        </p:txBody>
      </p:sp>
      <p:sp>
        <p:nvSpPr>
          <p:cNvPr id="163" name="TextBox 12"/>
          <p:cNvSpPr txBox="1"/>
          <p:nvPr/>
        </p:nvSpPr>
        <p:spPr>
          <a:xfrm>
            <a:off x="4809743" y="4434840"/>
            <a:ext cx="256032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ESPs · Roadside · Insurance</a:t>
            </a:r>
          </a:p>
        </p:txBody>
      </p:sp>
      <p:sp>
        <p:nvSpPr>
          <p:cNvPr id="164" name="Rectangle 13"/>
          <p:cNvSpPr/>
          <p:nvPr/>
        </p:nvSpPr>
        <p:spPr>
          <a:xfrm>
            <a:off x="1828800" y="1828799"/>
            <a:ext cx="2286000" cy="1097282"/>
          </a:xfrm>
          <a:prstGeom prst="rect">
            <a:avLst/>
          </a:prstGeom>
          <a:solidFill>
            <a:srgbClr val="6E8B4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5" name="TextBox 14"/>
          <p:cNvSpPr txBox="1"/>
          <p:nvPr/>
        </p:nvSpPr>
        <p:spPr>
          <a:xfrm>
            <a:off x="1828800" y="1901951"/>
            <a:ext cx="228600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Vehicle Sales</a:t>
            </a:r>
          </a:p>
        </p:txBody>
      </p:sp>
      <p:sp>
        <p:nvSpPr>
          <p:cNvPr id="166" name="TextBox 15"/>
          <p:cNvSpPr txBox="1"/>
          <p:nvPr/>
        </p:nvSpPr>
        <p:spPr>
          <a:xfrm>
            <a:off x="1828800" y="2331720"/>
            <a:ext cx="2286000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solidFill>
                  <a:srgbClr val="F8F3E8"/>
                </a:solidFill>
              </a:defRPr>
            </a:lvl1pPr>
          </a:lstStyle>
          <a:p>
            <a:pPr/>
            <a:r>
              <a:t>Used + house brands</a:t>
            </a:r>
          </a:p>
        </p:txBody>
      </p:sp>
      <p:sp>
        <p:nvSpPr>
          <p:cNvPr id="167" name="Rectangle 16"/>
          <p:cNvSpPr/>
          <p:nvPr/>
        </p:nvSpPr>
        <p:spPr>
          <a:xfrm>
            <a:off x="8686800" y="1828799"/>
            <a:ext cx="2286000" cy="1097282"/>
          </a:xfrm>
          <a:prstGeom prst="rect">
            <a:avLst/>
          </a:prstGeom>
          <a:solidFill>
            <a:srgbClr val="1F4D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8" name="TextBox 17"/>
          <p:cNvSpPr txBox="1"/>
          <p:nvPr/>
        </p:nvSpPr>
        <p:spPr>
          <a:xfrm>
            <a:off x="8686800" y="1901951"/>
            <a:ext cx="228600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Service &amp; Parts</a:t>
            </a:r>
          </a:p>
        </p:txBody>
      </p:sp>
      <p:sp>
        <p:nvSpPr>
          <p:cNvPr id="169" name="TextBox 18"/>
          <p:cNvSpPr txBox="1"/>
          <p:nvPr/>
        </p:nvSpPr>
        <p:spPr>
          <a:xfrm>
            <a:off x="8686800" y="2331720"/>
            <a:ext cx="2286000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solidFill>
                  <a:srgbClr val="F8F3E8"/>
                </a:solidFill>
              </a:defRPr>
            </a:lvl1pPr>
          </a:lstStyle>
          <a:p>
            <a:pPr/>
            <a:r>
              <a:t>Aging fleet · bays</a:t>
            </a:r>
          </a:p>
        </p:txBody>
      </p:sp>
      <p:sp>
        <p:nvSpPr>
          <p:cNvPr id="170" name="Rectangle 19"/>
          <p:cNvSpPr/>
          <p:nvPr/>
        </p:nvSpPr>
        <p:spPr>
          <a:xfrm>
            <a:off x="1828800" y="5120640"/>
            <a:ext cx="2286000" cy="1097281"/>
          </a:xfrm>
          <a:prstGeom prst="rect">
            <a:avLst/>
          </a:prstGeom>
          <a:solidFill>
            <a:srgbClr val="E6834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1" name="TextBox 20"/>
          <p:cNvSpPr txBox="1"/>
          <p:nvPr/>
        </p:nvSpPr>
        <p:spPr>
          <a:xfrm>
            <a:off x="1828800" y="5193791"/>
            <a:ext cx="228600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Lifestyle / Retail</a:t>
            </a:r>
          </a:p>
        </p:txBody>
      </p:sp>
      <p:sp>
        <p:nvSpPr>
          <p:cNvPr id="172" name="TextBox 21"/>
          <p:cNvSpPr txBox="1"/>
          <p:nvPr/>
        </p:nvSpPr>
        <p:spPr>
          <a:xfrm>
            <a:off x="1828800" y="5623559"/>
            <a:ext cx="228600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solidFill>
                  <a:srgbClr val="F8F3E8"/>
                </a:solidFill>
              </a:defRPr>
            </a:lvl1pPr>
          </a:lstStyle>
          <a:p>
            <a:pPr/>
            <a:r>
              <a:t>Accessories · campsites</a:t>
            </a:r>
          </a:p>
        </p:txBody>
      </p:sp>
      <p:sp>
        <p:nvSpPr>
          <p:cNvPr id="173" name="Rectangle 22"/>
          <p:cNvSpPr/>
          <p:nvPr/>
        </p:nvSpPr>
        <p:spPr>
          <a:xfrm>
            <a:off x="8686800" y="5120640"/>
            <a:ext cx="2286000" cy="1097281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" name="TextBox 23"/>
          <p:cNvSpPr txBox="1"/>
          <p:nvPr/>
        </p:nvSpPr>
        <p:spPr>
          <a:xfrm>
            <a:off x="8686800" y="5193791"/>
            <a:ext cx="228600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Membership / Loyalty</a:t>
            </a:r>
          </a:p>
        </p:txBody>
      </p:sp>
      <p:sp>
        <p:nvSpPr>
          <p:cNvPr id="175" name="TextBox 24"/>
          <p:cNvSpPr txBox="1"/>
          <p:nvPr/>
        </p:nvSpPr>
        <p:spPr>
          <a:xfrm>
            <a:off x="8686800" y="5623559"/>
            <a:ext cx="228600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solidFill>
                  <a:srgbClr val="F8F3E8"/>
                </a:solidFill>
              </a:defRPr>
            </a:lvl1pPr>
          </a:lstStyle>
          <a:p>
            <a:pPr/>
            <a:r>
              <a:t>Recurring · cross-sell</a:t>
            </a:r>
          </a:p>
        </p:txBody>
      </p:sp>
      <p:sp>
        <p:nvSpPr>
          <p:cNvPr id="176" name="Connector 25"/>
          <p:cNvSpPr/>
          <p:nvPr/>
        </p:nvSpPr>
        <p:spPr>
          <a:xfrm>
            <a:off x="4106383" y="2386039"/>
            <a:ext cx="1279957" cy="1016074"/>
          </a:xfrm>
          <a:prstGeom prst="line">
            <a:avLst/>
          </a:prstGeom>
          <a:ln w="28575">
            <a:solidFill>
              <a:srgbClr val="102A4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" name="Connector 26"/>
          <p:cNvSpPr/>
          <p:nvPr/>
        </p:nvSpPr>
        <p:spPr>
          <a:xfrm flipH="1">
            <a:off x="6871548" y="2377439"/>
            <a:ext cx="1815252" cy="1033273"/>
          </a:xfrm>
          <a:prstGeom prst="line">
            <a:avLst/>
          </a:prstGeom>
          <a:ln w="28575">
            <a:solidFill>
              <a:srgbClr val="102A4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8" name="Connector 27"/>
          <p:cNvSpPr/>
          <p:nvPr/>
        </p:nvSpPr>
        <p:spPr>
          <a:xfrm flipV="1">
            <a:off x="4114800" y="4738688"/>
            <a:ext cx="1263123" cy="930593"/>
          </a:xfrm>
          <a:prstGeom prst="line">
            <a:avLst/>
          </a:prstGeom>
          <a:ln w="28575">
            <a:solidFill>
              <a:srgbClr val="102A4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9" name="Connector 28"/>
          <p:cNvSpPr/>
          <p:nvPr/>
        </p:nvSpPr>
        <p:spPr>
          <a:xfrm flipH="1" flipV="1">
            <a:off x="6871548" y="4738688"/>
            <a:ext cx="1815252" cy="930593"/>
          </a:xfrm>
          <a:prstGeom prst="line">
            <a:avLst/>
          </a:prstGeom>
          <a:ln w="28575">
            <a:solidFill>
              <a:srgbClr val="102A4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0" name="TextBox 29"/>
          <p:cNvSpPr txBox="1"/>
          <p:nvPr/>
        </p:nvSpPr>
        <p:spPr>
          <a:xfrm>
            <a:off x="502919" y="1417319"/>
            <a:ext cx="1124712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200">
                <a:solidFill>
                  <a:srgbClr val="36454F"/>
                </a:solidFill>
              </a:defRPr>
            </a:lvl1pPr>
          </a:lstStyle>
          <a:p>
            <a:pPr/>
            <a:r>
              <a:t>Camping World monetizes the lifecycle, not the transaction. Good Sam is the recurring-revenue Hub; every Spoke feeds it and is fed by it.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" name="Rectangle 2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" name="Rectangle 3"/>
          <p:cNvSpPr/>
          <p:nvPr/>
        </p:nvSpPr>
        <p:spPr>
          <a:xfrm>
            <a:off x="-1" y="6565392"/>
            <a:ext cx="12191697" cy="292609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" name="TextBox 4"/>
          <p:cNvSpPr txBox="1"/>
          <p:nvPr/>
        </p:nvSpPr>
        <p:spPr>
          <a:xfrm>
            <a:off x="365759" y="6583680"/>
            <a:ext cx="73152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FFFFFF"/>
                </a:solidFill>
              </a:defRPr>
            </a:lvl1pPr>
          </a:lstStyle>
          <a:p>
            <a:pPr/>
            <a:r>
              <a:t>Camping World · Agentic AI Solution Architecture Blueprint v1.0</a:t>
            </a:r>
          </a:p>
        </p:txBody>
      </p:sp>
      <p:sp>
        <p:nvSpPr>
          <p:cNvPr id="186" name="TextBox 5"/>
          <p:cNvSpPr txBox="1"/>
          <p:nvPr/>
        </p:nvSpPr>
        <p:spPr>
          <a:xfrm>
            <a:off x="10332719" y="6583680"/>
            <a:ext cx="18288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/>
            <a:r>
              <a:t>4 / 30</a:t>
            </a:r>
          </a:p>
        </p:txBody>
      </p:sp>
      <p:sp>
        <p:nvSpPr>
          <p:cNvPr id="187" name="TextBox 6"/>
          <p:cNvSpPr txBox="1"/>
          <p:nvPr/>
        </p:nvSpPr>
        <p:spPr>
          <a:xfrm>
            <a:off x="502919" y="274320"/>
            <a:ext cx="1097280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C1441E"/>
                </a:solidFill>
              </a:defRPr>
            </a:lvl1pPr>
          </a:lstStyle>
          <a:p>
            <a:pPr/>
            <a:r>
              <a:t>SECTION 3</a:t>
            </a:r>
          </a:p>
        </p:txBody>
      </p:sp>
      <p:sp>
        <p:nvSpPr>
          <p:cNvPr id="188" name="TextBox 7"/>
          <p:cNvSpPr txBox="1"/>
          <p:nvPr/>
        </p:nvSpPr>
        <p:spPr>
          <a:xfrm>
            <a:off x="502919" y="502919"/>
            <a:ext cx="1124712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102A43"/>
                </a:solidFill>
              </a:defRPr>
            </a:lvl1pPr>
          </a:lstStyle>
          <a:p>
            <a:pPr/>
            <a:r>
              <a:t>Ten Architecture Principles</a:t>
            </a:r>
          </a:p>
        </p:txBody>
      </p:sp>
      <p:sp>
        <p:nvSpPr>
          <p:cNvPr id="189" name="Rectangle 8"/>
          <p:cNvSpPr/>
          <p:nvPr/>
        </p:nvSpPr>
        <p:spPr>
          <a:xfrm>
            <a:off x="502919" y="1097280"/>
            <a:ext cx="548641" cy="36577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0" name="Rectangle 9"/>
          <p:cNvSpPr/>
          <p:nvPr/>
        </p:nvSpPr>
        <p:spPr>
          <a:xfrm>
            <a:off x="502919" y="1463039"/>
            <a:ext cx="2194561" cy="23317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1" name="Rectangle 10"/>
          <p:cNvSpPr/>
          <p:nvPr/>
        </p:nvSpPr>
        <p:spPr>
          <a:xfrm>
            <a:off x="502919" y="1463039"/>
            <a:ext cx="2194561" cy="54865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2" name="TextBox 11"/>
          <p:cNvSpPr txBox="1"/>
          <p:nvPr/>
        </p:nvSpPr>
        <p:spPr>
          <a:xfrm>
            <a:off x="594359" y="1645920"/>
            <a:ext cx="219456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C1441E"/>
                </a:solidFill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193" name="TextBox 12"/>
          <p:cNvSpPr txBox="1"/>
          <p:nvPr/>
        </p:nvSpPr>
        <p:spPr>
          <a:xfrm>
            <a:off x="594360" y="1965960"/>
            <a:ext cx="2011679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102A43"/>
                </a:solidFill>
              </a:defRPr>
            </a:lvl1pPr>
          </a:lstStyle>
          <a:p>
            <a:pPr/>
            <a:r>
              <a:t>Domain-Aligned Agents</a:t>
            </a:r>
          </a:p>
        </p:txBody>
      </p:sp>
      <p:sp>
        <p:nvSpPr>
          <p:cNvPr id="194" name="TextBox 13"/>
          <p:cNvSpPr txBox="1"/>
          <p:nvPr/>
        </p:nvSpPr>
        <p:spPr>
          <a:xfrm>
            <a:off x="594360" y="2743200"/>
            <a:ext cx="2011679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Bounded by domain data products</a:t>
            </a:r>
          </a:p>
        </p:txBody>
      </p:sp>
      <p:sp>
        <p:nvSpPr>
          <p:cNvPr id="195" name="Rectangle 14"/>
          <p:cNvSpPr/>
          <p:nvPr/>
        </p:nvSpPr>
        <p:spPr>
          <a:xfrm>
            <a:off x="2788920" y="1463039"/>
            <a:ext cx="2194561" cy="23317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" name="Rectangle 15"/>
          <p:cNvSpPr/>
          <p:nvPr/>
        </p:nvSpPr>
        <p:spPr>
          <a:xfrm>
            <a:off x="2788920" y="1463039"/>
            <a:ext cx="2194561" cy="54865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" name="TextBox 16"/>
          <p:cNvSpPr txBox="1"/>
          <p:nvPr/>
        </p:nvSpPr>
        <p:spPr>
          <a:xfrm>
            <a:off x="2880360" y="1645920"/>
            <a:ext cx="219456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C1441E"/>
                </a:solidFill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198" name="TextBox 17"/>
          <p:cNvSpPr txBox="1"/>
          <p:nvPr/>
        </p:nvSpPr>
        <p:spPr>
          <a:xfrm>
            <a:off x="2880360" y="1965960"/>
            <a:ext cx="2011680" cy="50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102A43"/>
                </a:solidFill>
              </a:defRPr>
            </a:lvl1pPr>
          </a:lstStyle>
          <a:p>
            <a:pPr/>
            <a:r>
              <a:t>Composable, Not Monolithic</a:t>
            </a:r>
          </a:p>
        </p:txBody>
      </p:sp>
      <p:sp>
        <p:nvSpPr>
          <p:cNvPr id="199" name="TextBox 18"/>
          <p:cNvSpPr txBox="1"/>
          <p:nvPr/>
        </p:nvSpPr>
        <p:spPr>
          <a:xfrm>
            <a:off x="2880360" y="2743200"/>
            <a:ext cx="2011680" cy="393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Models, prompts, tools = components</a:t>
            </a:r>
          </a:p>
        </p:txBody>
      </p:sp>
      <p:sp>
        <p:nvSpPr>
          <p:cNvPr id="200" name="Rectangle 19"/>
          <p:cNvSpPr/>
          <p:nvPr/>
        </p:nvSpPr>
        <p:spPr>
          <a:xfrm>
            <a:off x="5074920" y="1463039"/>
            <a:ext cx="2194561" cy="23317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" name="Rectangle 20"/>
          <p:cNvSpPr/>
          <p:nvPr/>
        </p:nvSpPr>
        <p:spPr>
          <a:xfrm>
            <a:off x="5074920" y="1463039"/>
            <a:ext cx="2194561" cy="54865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" name="TextBox 21"/>
          <p:cNvSpPr txBox="1"/>
          <p:nvPr/>
        </p:nvSpPr>
        <p:spPr>
          <a:xfrm>
            <a:off x="5166359" y="1645920"/>
            <a:ext cx="219456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C1441E"/>
                </a:solidFill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03" name="TextBox 22"/>
          <p:cNvSpPr txBox="1"/>
          <p:nvPr/>
        </p:nvSpPr>
        <p:spPr>
          <a:xfrm>
            <a:off x="5166359" y="1965960"/>
            <a:ext cx="20116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102A43"/>
                </a:solidFill>
              </a:defRPr>
            </a:lvl1pPr>
          </a:lstStyle>
          <a:p>
            <a:pPr/>
            <a:r>
              <a:t>Golden Record is Truth</a:t>
            </a:r>
          </a:p>
        </p:txBody>
      </p:sp>
      <p:sp>
        <p:nvSpPr>
          <p:cNvPr id="204" name="TextBox 23"/>
          <p:cNvSpPr txBox="1"/>
          <p:nvPr/>
        </p:nvSpPr>
        <p:spPr>
          <a:xfrm>
            <a:off x="5166359" y="2743200"/>
            <a:ext cx="2011680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Identity through Customer 360</a:t>
            </a:r>
          </a:p>
        </p:txBody>
      </p:sp>
      <p:sp>
        <p:nvSpPr>
          <p:cNvPr id="205" name="Rectangle 24"/>
          <p:cNvSpPr/>
          <p:nvPr/>
        </p:nvSpPr>
        <p:spPr>
          <a:xfrm>
            <a:off x="7360919" y="1463039"/>
            <a:ext cx="2194561" cy="23317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6" name="Rectangle 25"/>
          <p:cNvSpPr/>
          <p:nvPr/>
        </p:nvSpPr>
        <p:spPr>
          <a:xfrm>
            <a:off x="7360919" y="1463039"/>
            <a:ext cx="2194561" cy="54865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7" name="TextBox 26"/>
          <p:cNvSpPr txBox="1"/>
          <p:nvPr/>
        </p:nvSpPr>
        <p:spPr>
          <a:xfrm>
            <a:off x="7452359" y="1645920"/>
            <a:ext cx="219456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C1441E"/>
                </a:solidFill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208" name="TextBox 27"/>
          <p:cNvSpPr txBox="1"/>
          <p:nvPr/>
        </p:nvSpPr>
        <p:spPr>
          <a:xfrm>
            <a:off x="7452359" y="1965960"/>
            <a:ext cx="20116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102A43"/>
                </a:solidFill>
              </a:defRPr>
            </a:lvl1pPr>
          </a:lstStyle>
          <a:p>
            <a:pPr/>
            <a:r>
              <a:t>Event-Driven by Default</a:t>
            </a:r>
          </a:p>
        </p:txBody>
      </p:sp>
      <p:sp>
        <p:nvSpPr>
          <p:cNvPr id="209" name="TextBox 28"/>
          <p:cNvSpPr txBox="1"/>
          <p:nvPr/>
        </p:nvSpPr>
        <p:spPr>
          <a:xfrm>
            <a:off x="7452359" y="2743200"/>
            <a:ext cx="2011680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Sense-decide-act fires on events</a:t>
            </a:r>
          </a:p>
        </p:txBody>
      </p:sp>
      <p:sp>
        <p:nvSpPr>
          <p:cNvPr id="210" name="Rectangle 29"/>
          <p:cNvSpPr/>
          <p:nvPr/>
        </p:nvSpPr>
        <p:spPr>
          <a:xfrm>
            <a:off x="9646919" y="1463039"/>
            <a:ext cx="2194561" cy="23317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" name="Rectangle 30"/>
          <p:cNvSpPr/>
          <p:nvPr/>
        </p:nvSpPr>
        <p:spPr>
          <a:xfrm>
            <a:off x="9646919" y="1463039"/>
            <a:ext cx="2194561" cy="54865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2" name="TextBox 31"/>
          <p:cNvSpPr txBox="1"/>
          <p:nvPr/>
        </p:nvSpPr>
        <p:spPr>
          <a:xfrm>
            <a:off x="9738359" y="1645920"/>
            <a:ext cx="219456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C1441E"/>
                </a:solidFill>
              </a:defRPr>
            </a:lvl1pPr>
          </a:lstStyle>
          <a:p>
            <a:pPr/>
            <a:r>
              <a:t>P5</a:t>
            </a:r>
          </a:p>
        </p:txBody>
      </p:sp>
      <p:sp>
        <p:nvSpPr>
          <p:cNvPr id="213" name="TextBox 32"/>
          <p:cNvSpPr txBox="1"/>
          <p:nvPr/>
        </p:nvSpPr>
        <p:spPr>
          <a:xfrm>
            <a:off x="9738359" y="1965960"/>
            <a:ext cx="20116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102A43"/>
                </a:solidFill>
              </a:defRPr>
            </a:lvl1pPr>
          </a:lstStyle>
          <a:p>
            <a:pPr/>
            <a:r>
              <a:t>HITL by Risk Class</a:t>
            </a:r>
          </a:p>
        </p:txBody>
      </p:sp>
      <p:sp>
        <p:nvSpPr>
          <p:cNvPr id="214" name="TextBox 33"/>
          <p:cNvSpPr txBox="1"/>
          <p:nvPr/>
        </p:nvSpPr>
        <p:spPr>
          <a:xfrm>
            <a:off x="9738359" y="2743200"/>
            <a:ext cx="2011680" cy="393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Low / Medium / High encoded in contract</a:t>
            </a:r>
          </a:p>
        </p:txBody>
      </p:sp>
      <p:sp>
        <p:nvSpPr>
          <p:cNvPr id="215" name="Rectangle 34"/>
          <p:cNvSpPr/>
          <p:nvPr/>
        </p:nvSpPr>
        <p:spPr>
          <a:xfrm>
            <a:off x="502919" y="3886199"/>
            <a:ext cx="2194561" cy="233172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6" name="Rectangle 35"/>
          <p:cNvSpPr/>
          <p:nvPr/>
        </p:nvSpPr>
        <p:spPr>
          <a:xfrm>
            <a:off x="502919" y="3886200"/>
            <a:ext cx="2194561" cy="54864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" name="TextBox 36"/>
          <p:cNvSpPr txBox="1"/>
          <p:nvPr/>
        </p:nvSpPr>
        <p:spPr>
          <a:xfrm>
            <a:off x="594359" y="4069079"/>
            <a:ext cx="219456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C1441E"/>
                </a:solidFill>
              </a:defRPr>
            </a:lvl1pPr>
          </a:lstStyle>
          <a:p>
            <a:pPr/>
            <a:r>
              <a:t>P6</a:t>
            </a:r>
          </a:p>
        </p:txBody>
      </p:sp>
      <p:sp>
        <p:nvSpPr>
          <p:cNvPr id="218" name="TextBox 37"/>
          <p:cNvSpPr txBox="1"/>
          <p:nvPr/>
        </p:nvSpPr>
        <p:spPr>
          <a:xfrm>
            <a:off x="594360" y="4389120"/>
            <a:ext cx="2011679" cy="50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102A43"/>
                </a:solidFill>
              </a:defRPr>
            </a:lvl1pPr>
          </a:lstStyle>
          <a:p>
            <a:pPr/>
            <a:r>
              <a:t>Observable Before Autonomous</a:t>
            </a:r>
          </a:p>
        </p:txBody>
      </p:sp>
      <p:sp>
        <p:nvSpPr>
          <p:cNvPr id="219" name="TextBox 38"/>
          <p:cNvSpPr txBox="1"/>
          <p:nvPr/>
        </p:nvSpPr>
        <p:spPr>
          <a:xfrm>
            <a:off x="594360" y="5166359"/>
            <a:ext cx="2011679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Trace + eval + rollback before launch</a:t>
            </a:r>
          </a:p>
        </p:txBody>
      </p:sp>
      <p:sp>
        <p:nvSpPr>
          <p:cNvPr id="220" name="Rectangle 39"/>
          <p:cNvSpPr/>
          <p:nvPr/>
        </p:nvSpPr>
        <p:spPr>
          <a:xfrm>
            <a:off x="2788920" y="3886199"/>
            <a:ext cx="2194561" cy="233172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" name="Rectangle 40"/>
          <p:cNvSpPr/>
          <p:nvPr/>
        </p:nvSpPr>
        <p:spPr>
          <a:xfrm>
            <a:off x="2788920" y="3886200"/>
            <a:ext cx="2194561" cy="54864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2" name="TextBox 41"/>
          <p:cNvSpPr txBox="1"/>
          <p:nvPr/>
        </p:nvSpPr>
        <p:spPr>
          <a:xfrm>
            <a:off x="2880360" y="4069079"/>
            <a:ext cx="219456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C1441E"/>
                </a:solidFill>
              </a:defRPr>
            </a:lvl1pPr>
          </a:lstStyle>
          <a:p>
            <a:pPr/>
            <a:r>
              <a:t>P7</a:t>
            </a:r>
          </a:p>
        </p:txBody>
      </p:sp>
      <p:sp>
        <p:nvSpPr>
          <p:cNvPr id="223" name="TextBox 42"/>
          <p:cNvSpPr txBox="1"/>
          <p:nvPr/>
        </p:nvSpPr>
        <p:spPr>
          <a:xfrm>
            <a:off x="2880360" y="4389120"/>
            <a:ext cx="2011680" cy="50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102A43"/>
                </a:solidFill>
              </a:defRPr>
            </a:lvl1pPr>
          </a:lstStyle>
          <a:p>
            <a:pPr/>
            <a:r>
              <a:t>Privacy &amp; Consent as Code</a:t>
            </a:r>
          </a:p>
        </p:txBody>
      </p:sp>
      <p:sp>
        <p:nvSpPr>
          <p:cNvPr id="224" name="TextBox 43"/>
          <p:cNvSpPr txBox="1"/>
          <p:nvPr/>
        </p:nvSpPr>
        <p:spPr>
          <a:xfrm>
            <a:off x="2880360" y="5166359"/>
            <a:ext cx="201168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Consent state is a typed input</a:t>
            </a:r>
          </a:p>
        </p:txBody>
      </p:sp>
      <p:sp>
        <p:nvSpPr>
          <p:cNvPr id="225" name="Rectangle 44"/>
          <p:cNvSpPr/>
          <p:nvPr/>
        </p:nvSpPr>
        <p:spPr>
          <a:xfrm>
            <a:off x="5074920" y="3886199"/>
            <a:ext cx="2194561" cy="233172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6" name="Rectangle 45"/>
          <p:cNvSpPr/>
          <p:nvPr/>
        </p:nvSpPr>
        <p:spPr>
          <a:xfrm>
            <a:off x="5074920" y="3886200"/>
            <a:ext cx="2194561" cy="54864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7" name="TextBox 46"/>
          <p:cNvSpPr txBox="1"/>
          <p:nvPr/>
        </p:nvSpPr>
        <p:spPr>
          <a:xfrm>
            <a:off x="5166359" y="4069079"/>
            <a:ext cx="219456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C1441E"/>
                </a:solidFill>
              </a:defRPr>
            </a:lvl1pPr>
          </a:lstStyle>
          <a:p>
            <a:pPr/>
            <a:r>
              <a:t>P8</a:t>
            </a:r>
          </a:p>
        </p:txBody>
      </p:sp>
      <p:sp>
        <p:nvSpPr>
          <p:cNvPr id="228" name="TextBox 47"/>
          <p:cNvSpPr txBox="1"/>
          <p:nvPr/>
        </p:nvSpPr>
        <p:spPr>
          <a:xfrm>
            <a:off x="5166359" y="4389120"/>
            <a:ext cx="20116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102A43"/>
                </a:solidFill>
              </a:defRPr>
            </a:lvl1pPr>
          </a:lstStyle>
          <a:p>
            <a:pPr/>
            <a:r>
              <a:t>Cost-Aware Routing</a:t>
            </a:r>
          </a:p>
        </p:txBody>
      </p:sp>
      <p:sp>
        <p:nvSpPr>
          <p:cNvPr id="229" name="TextBox 48"/>
          <p:cNvSpPr txBox="1"/>
          <p:nvPr/>
        </p:nvSpPr>
        <p:spPr>
          <a:xfrm>
            <a:off x="5166359" y="5166359"/>
            <a:ext cx="201168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SLO + budget per agent invocation</a:t>
            </a:r>
          </a:p>
        </p:txBody>
      </p:sp>
      <p:sp>
        <p:nvSpPr>
          <p:cNvPr id="230" name="Rectangle 49"/>
          <p:cNvSpPr/>
          <p:nvPr/>
        </p:nvSpPr>
        <p:spPr>
          <a:xfrm>
            <a:off x="7360919" y="3886199"/>
            <a:ext cx="2194561" cy="233172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1" name="Rectangle 50"/>
          <p:cNvSpPr/>
          <p:nvPr/>
        </p:nvSpPr>
        <p:spPr>
          <a:xfrm>
            <a:off x="7360919" y="3886200"/>
            <a:ext cx="2194561" cy="54864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2" name="TextBox 51"/>
          <p:cNvSpPr txBox="1"/>
          <p:nvPr/>
        </p:nvSpPr>
        <p:spPr>
          <a:xfrm>
            <a:off x="7452359" y="4069079"/>
            <a:ext cx="219456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C1441E"/>
                </a:solidFill>
              </a:defRPr>
            </a:lvl1pPr>
          </a:lstStyle>
          <a:p>
            <a:pPr/>
            <a:r>
              <a:t>P9</a:t>
            </a:r>
          </a:p>
        </p:txBody>
      </p:sp>
      <p:sp>
        <p:nvSpPr>
          <p:cNvPr id="233" name="TextBox 52"/>
          <p:cNvSpPr txBox="1"/>
          <p:nvPr/>
        </p:nvSpPr>
        <p:spPr>
          <a:xfrm>
            <a:off x="7452359" y="4389120"/>
            <a:ext cx="2011680" cy="50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102A43"/>
                </a:solidFill>
              </a:defRPr>
            </a:lvl1pPr>
          </a:lstStyle>
          <a:p>
            <a:pPr/>
            <a:r>
              <a:t>Reversible Actions Preferred</a:t>
            </a:r>
          </a:p>
        </p:txBody>
      </p:sp>
      <p:sp>
        <p:nvSpPr>
          <p:cNvPr id="234" name="TextBox 53"/>
          <p:cNvSpPr txBox="1"/>
          <p:nvPr/>
        </p:nvSpPr>
        <p:spPr>
          <a:xfrm>
            <a:off x="7452359" y="5166359"/>
            <a:ext cx="2011680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Stage → commit, with rollback window</a:t>
            </a:r>
          </a:p>
        </p:txBody>
      </p:sp>
      <p:sp>
        <p:nvSpPr>
          <p:cNvPr id="235" name="Rectangle 54"/>
          <p:cNvSpPr/>
          <p:nvPr/>
        </p:nvSpPr>
        <p:spPr>
          <a:xfrm>
            <a:off x="9646919" y="3886199"/>
            <a:ext cx="2194561" cy="233172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6" name="Rectangle 55"/>
          <p:cNvSpPr/>
          <p:nvPr/>
        </p:nvSpPr>
        <p:spPr>
          <a:xfrm>
            <a:off x="9646919" y="3886200"/>
            <a:ext cx="2194561" cy="54864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7" name="TextBox 56"/>
          <p:cNvSpPr txBox="1"/>
          <p:nvPr/>
        </p:nvSpPr>
        <p:spPr>
          <a:xfrm>
            <a:off x="9738359" y="4069079"/>
            <a:ext cx="219456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C1441E"/>
                </a:solidFill>
              </a:defRPr>
            </a:lvl1pPr>
          </a:lstStyle>
          <a:p>
            <a:pPr/>
            <a:r>
              <a:t>P10</a:t>
            </a:r>
          </a:p>
        </p:txBody>
      </p:sp>
      <p:sp>
        <p:nvSpPr>
          <p:cNvPr id="238" name="TextBox 57"/>
          <p:cNvSpPr txBox="1"/>
          <p:nvPr/>
        </p:nvSpPr>
        <p:spPr>
          <a:xfrm>
            <a:off x="9738359" y="4389120"/>
            <a:ext cx="2011680" cy="50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102A43"/>
                </a:solidFill>
              </a:defRPr>
            </a:lvl1pPr>
          </a:lstStyle>
          <a:p>
            <a:pPr/>
            <a:r>
              <a:t>Open at Edges, Closed at Core</a:t>
            </a:r>
          </a:p>
        </p:txBody>
      </p:sp>
      <p:sp>
        <p:nvSpPr>
          <p:cNvPr id="239" name="TextBox 58"/>
          <p:cNvSpPr txBox="1"/>
          <p:nvPr/>
        </p:nvSpPr>
        <p:spPr>
          <a:xfrm>
            <a:off x="9738359" y="5166359"/>
            <a:ext cx="201168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OpenAPI/MCP outside; in-house core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2" name="Rectangle 2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3" name="Rectangle 3"/>
          <p:cNvSpPr/>
          <p:nvPr/>
        </p:nvSpPr>
        <p:spPr>
          <a:xfrm>
            <a:off x="-1" y="6565392"/>
            <a:ext cx="12191697" cy="292609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4" name="TextBox 4"/>
          <p:cNvSpPr txBox="1"/>
          <p:nvPr/>
        </p:nvSpPr>
        <p:spPr>
          <a:xfrm>
            <a:off x="365759" y="6583680"/>
            <a:ext cx="73152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FFFFFF"/>
                </a:solidFill>
              </a:defRPr>
            </a:lvl1pPr>
          </a:lstStyle>
          <a:p>
            <a:pPr/>
            <a:r>
              <a:t>Camping World · Agentic AI Solution Architecture Blueprint v1.0</a:t>
            </a:r>
          </a:p>
        </p:txBody>
      </p:sp>
      <p:sp>
        <p:nvSpPr>
          <p:cNvPr id="245" name="TextBox 5"/>
          <p:cNvSpPr txBox="1"/>
          <p:nvPr/>
        </p:nvSpPr>
        <p:spPr>
          <a:xfrm>
            <a:off x="10332719" y="6583680"/>
            <a:ext cx="18288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/>
            <a:r>
              <a:t>5 / 30</a:t>
            </a:r>
          </a:p>
        </p:txBody>
      </p:sp>
      <p:sp>
        <p:nvSpPr>
          <p:cNvPr id="246" name="TextBox 6"/>
          <p:cNvSpPr txBox="1"/>
          <p:nvPr/>
        </p:nvSpPr>
        <p:spPr>
          <a:xfrm>
            <a:off x="502919" y="274320"/>
            <a:ext cx="1097280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C1441E"/>
                </a:solidFill>
              </a:defRPr>
            </a:lvl1pPr>
          </a:lstStyle>
          <a:p>
            <a:pPr/>
            <a:r>
              <a:t>SECTION 4 — TARGET STATE</a:t>
            </a:r>
          </a:p>
        </p:txBody>
      </p:sp>
      <p:sp>
        <p:nvSpPr>
          <p:cNvPr id="247" name="TextBox 7"/>
          <p:cNvSpPr txBox="1"/>
          <p:nvPr/>
        </p:nvSpPr>
        <p:spPr>
          <a:xfrm>
            <a:off x="502919" y="502919"/>
            <a:ext cx="1124712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102A43"/>
                </a:solidFill>
              </a:defRPr>
            </a:lvl1pPr>
          </a:lstStyle>
          <a:p>
            <a:pPr/>
            <a:r>
              <a:t>Layered Reference Architecture</a:t>
            </a:r>
          </a:p>
        </p:txBody>
      </p:sp>
      <p:sp>
        <p:nvSpPr>
          <p:cNvPr id="248" name="Rectangle 8"/>
          <p:cNvSpPr/>
          <p:nvPr/>
        </p:nvSpPr>
        <p:spPr>
          <a:xfrm>
            <a:off x="502919" y="1097280"/>
            <a:ext cx="548641" cy="36577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9" name="Rectangle 9"/>
          <p:cNvSpPr/>
          <p:nvPr/>
        </p:nvSpPr>
        <p:spPr>
          <a:xfrm>
            <a:off x="2194560" y="1417319"/>
            <a:ext cx="8686801" cy="594361"/>
          </a:xfrm>
          <a:prstGeom prst="rect">
            <a:avLst/>
          </a:prstGeom>
          <a:solidFill>
            <a:srgbClr val="6E8B4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0" name="TextBox 10"/>
          <p:cNvSpPr txBox="1"/>
          <p:nvPr/>
        </p:nvSpPr>
        <p:spPr>
          <a:xfrm>
            <a:off x="2304288" y="1574099"/>
            <a:ext cx="91440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L1</a:t>
            </a:r>
          </a:p>
        </p:txBody>
      </p:sp>
      <p:sp>
        <p:nvSpPr>
          <p:cNvPr id="251" name="TextBox 11"/>
          <p:cNvSpPr txBox="1"/>
          <p:nvPr/>
        </p:nvSpPr>
        <p:spPr>
          <a:xfrm>
            <a:off x="3108960" y="1581203"/>
            <a:ext cx="228600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Experience / Channel</a:t>
            </a:r>
          </a:p>
        </p:txBody>
      </p:sp>
      <p:sp>
        <p:nvSpPr>
          <p:cNvPr id="252" name="TextBox 12"/>
          <p:cNvSpPr txBox="1"/>
          <p:nvPr/>
        </p:nvSpPr>
        <p:spPr>
          <a:xfrm>
            <a:off x="5303520" y="1602398"/>
            <a:ext cx="548640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F8F3E8"/>
                </a:solidFill>
              </a:defRPr>
            </a:lvl1pPr>
          </a:lstStyle>
          <a:p>
            <a:pPr/>
            <a:r>
              <a:t>Web · Mobile · Dealership Co-Pilot · Service Bay · Voice/IVR · Email/SMS · Partner APIs</a:t>
            </a:r>
          </a:p>
        </p:txBody>
      </p:sp>
      <p:sp>
        <p:nvSpPr>
          <p:cNvPr id="253" name="Rectangle 13"/>
          <p:cNvSpPr/>
          <p:nvPr/>
        </p:nvSpPr>
        <p:spPr>
          <a:xfrm>
            <a:off x="2194560" y="2103120"/>
            <a:ext cx="8686801" cy="594361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4" name="TextBox 14"/>
          <p:cNvSpPr txBox="1"/>
          <p:nvPr/>
        </p:nvSpPr>
        <p:spPr>
          <a:xfrm>
            <a:off x="2304288" y="2259899"/>
            <a:ext cx="91440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L2</a:t>
            </a:r>
          </a:p>
        </p:txBody>
      </p:sp>
      <p:sp>
        <p:nvSpPr>
          <p:cNvPr id="255" name="TextBox 15"/>
          <p:cNvSpPr txBox="1"/>
          <p:nvPr/>
        </p:nvSpPr>
        <p:spPr>
          <a:xfrm>
            <a:off x="3108960" y="2267003"/>
            <a:ext cx="228600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Agentic Orchestration</a:t>
            </a:r>
          </a:p>
        </p:txBody>
      </p:sp>
      <p:sp>
        <p:nvSpPr>
          <p:cNvPr id="256" name="TextBox 16"/>
          <p:cNvSpPr txBox="1"/>
          <p:nvPr/>
        </p:nvSpPr>
        <p:spPr>
          <a:xfrm>
            <a:off x="5303520" y="2288198"/>
            <a:ext cx="548640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F8F3E8"/>
                </a:solidFill>
              </a:defRPr>
            </a:lvl1pPr>
          </a:lstStyle>
          <a:p>
            <a:pPr/>
            <a:r>
              <a:t>Planner · Router · Memory · Tool Registry · Guardrails · Critic · Run Store · Eval</a:t>
            </a:r>
          </a:p>
        </p:txBody>
      </p:sp>
      <p:sp>
        <p:nvSpPr>
          <p:cNvPr id="257" name="Rectangle 17"/>
          <p:cNvSpPr/>
          <p:nvPr/>
        </p:nvSpPr>
        <p:spPr>
          <a:xfrm>
            <a:off x="2194560" y="2788920"/>
            <a:ext cx="8686801" cy="594361"/>
          </a:xfrm>
          <a:prstGeom prst="rect">
            <a:avLst/>
          </a:prstGeom>
          <a:solidFill>
            <a:srgbClr val="E6834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8" name="TextBox 18"/>
          <p:cNvSpPr txBox="1"/>
          <p:nvPr/>
        </p:nvSpPr>
        <p:spPr>
          <a:xfrm>
            <a:off x="2304288" y="2945699"/>
            <a:ext cx="91440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L3</a:t>
            </a:r>
          </a:p>
        </p:txBody>
      </p:sp>
      <p:sp>
        <p:nvSpPr>
          <p:cNvPr id="259" name="TextBox 19"/>
          <p:cNvSpPr txBox="1"/>
          <p:nvPr/>
        </p:nvSpPr>
        <p:spPr>
          <a:xfrm>
            <a:off x="3108960" y="2952803"/>
            <a:ext cx="228600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AI / ML Services</a:t>
            </a:r>
          </a:p>
        </p:txBody>
      </p:sp>
      <p:sp>
        <p:nvSpPr>
          <p:cNvPr id="260" name="TextBox 20"/>
          <p:cNvSpPr txBox="1"/>
          <p:nvPr/>
        </p:nvSpPr>
        <p:spPr>
          <a:xfrm>
            <a:off x="5303520" y="2973998"/>
            <a:ext cx="548640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F8F3E8"/>
                </a:solidFill>
              </a:defRPr>
            </a:lvl1pPr>
          </a:lstStyle>
          <a:p>
            <a:pPr/>
            <a:r>
              <a:t>LLMs (multi-vendor) · Forecasts · Recommenders · Vision · RAG · Speech · Feature Store</a:t>
            </a:r>
          </a:p>
        </p:txBody>
      </p:sp>
      <p:sp>
        <p:nvSpPr>
          <p:cNvPr id="261" name="Rectangle 21"/>
          <p:cNvSpPr/>
          <p:nvPr/>
        </p:nvSpPr>
        <p:spPr>
          <a:xfrm>
            <a:off x="2194560" y="3474720"/>
            <a:ext cx="8686801" cy="594361"/>
          </a:xfrm>
          <a:prstGeom prst="rect">
            <a:avLst/>
          </a:prstGeom>
          <a:solidFill>
            <a:srgbClr val="1F4D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2" name="TextBox 22"/>
          <p:cNvSpPr txBox="1"/>
          <p:nvPr/>
        </p:nvSpPr>
        <p:spPr>
          <a:xfrm>
            <a:off x="2304288" y="3631500"/>
            <a:ext cx="91440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L4</a:t>
            </a:r>
          </a:p>
        </p:txBody>
      </p:sp>
      <p:sp>
        <p:nvSpPr>
          <p:cNvPr id="263" name="TextBox 23"/>
          <p:cNvSpPr txBox="1"/>
          <p:nvPr/>
        </p:nvSpPr>
        <p:spPr>
          <a:xfrm>
            <a:off x="3108960" y="3638603"/>
            <a:ext cx="228600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Data Foundation</a:t>
            </a:r>
          </a:p>
        </p:txBody>
      </p:sp>
      <p:sp>
        <p:nvSpPr>
          <p:cNvPr id="264" name="TextBox 24"/>
          <p:cNvSpPr txBox="1"/>
          <p:nvPr/>
        </p:nvSpPr>
        <p:spPr>
          <a:xfrm>
            <a:off x="5303520" y="3659798"/>
            <a:ext cx="548640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F8F3E8"/>
                </a:solidFill>
              </a:defRPr>
            </a:lvl1pPr>
          </a:lstStyle>
          <a:p>
            <a:pPr/>
            <a:r>
              <a:t>Customer 360 · Vehicle 360 · Telemetry Lakehouse · Inventory · Consent Vault</a:t>
            </a:r>
          </a:p>
        </p:txBody>
      </p:sp>
      <p:sp>
        <p:nvSpPr>
          <p:cNvPr id="265" name="Rectangle 25"/>
          <p:cNvSpPr/>
          <p:nvPr/>
        </p:nvSpPr>
        <p:spPr>
          <a:xfrm>
            <a:off x="2194560" y="4160520"/>
            <a:ext cx="8686801" cy="594361"/>
          </a:xfrm>
          <a:prstGeom prst="rect">
            <a:avLst/>
          </a:prstGeom>
          <a:solidFill>
            <a:srgbClr val="36454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6" name="TextBox 26"/>
          <p:cNvSpPr txBox="1"/>
          <p:nvPr/>
        </p:nvSpPr>
        <p:spPr>
          <a:xfrm>
            <a:off x="2304288" y="4317300"/>
            <a:ext cx="91440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L5</a:t>
            </a:r>
          </a:p>
        </p:txBody>
      </p:sp>
      <p:sp>
        <p:nvSpPr>
          <p:cNvPr id="267" name="TextBox 27"/>
          <p:cNvSpPr txBox="1"/>
          <p:nvPr/>
        </p:nvSpPr>
        <p:spPr>
          <a:xfrm>
            <a:off x="3108960" y="4324403"/>
            <a:ext cx="228600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Integration &amp; Event Backbone</a:t>
            </a:r>
          </a:p>
        </p:txBody>
      </p:sp>
      <p:sp>
        <p:nvSpPr>
          <p:cNvPr id="268" name="TextBox 28"/>
          <p:cNvSpPr txBox="1"/>
          <p:nvPr/>
        </p:nvSpPr>
        <p:spPr>
          <a:xfrm>
            <a:off x="5303520" y="4345598"/>
            <a:ext cx="548640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F8F3E8"/>
                </a:solidFill>
              </a:defRPr>
            </a:lvl1pPr>
          </a:lstStyle>
          <a:p>
            <a:pPr/>
            <a:r>
              <a:t>Confluent Kafka · Debezium CDC · API Gateway · MCP Tool Bus · iPaaS</a:t>
            </a:r>
          </a:p>
        </p:txBody>
      </p:sp>
      <p:sp>
        <p:nvSpPr>
          <p:cNvPr id="269" name="Rectangle 29"/>
          <p:cNvSpPr/>
          <p:nvPr/>
        </p:nvSpPr>
        <p:spPr>
          <a:xfrm>
            <a:off x="2194560" y="4846320"/>
            <a:ext cx="8686801" cy="594361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0" name="TextBox 30"/>
          <p:cNvSpPr txBox="1"/>
          <p:nvPr/>
        </p:nvSpPr>
        <p:spPr>
          <a:xfrm>
            <a:off x="2304288" y="5003100"/>
            <a:ext cx="91440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L6</a:t>
            </a:r>
          </a:p>
        </p:txBody>
      </p:sp>
      <p:sp>
        <p:nvSpPr>
          <p:cNvPr id="271" name="TextBox 31"/>
          <p:cNvSpPr txBox="1"/>
          <p:nvPr/>
        </p:nvSpPr>
        <p:spPr>
          <a:xfrm>
            <a:off x="3108960" y="5010203"/>
            <a:ext cx="228600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Core Systems of Record</a:t>
            </a:r>
          </a:p>
        </p:txBody>
      </p:sp>
      <p:sp>
        <p:nvSpPr>
          <p:cNvPr id="272" name="TextBox 32"/>
          <p:cNvSpPr txBox="1"/>
          <p:nvPr/>
        </p:nvSpPr>
        <p:spPr>
          <a:xfrm>
            <a:off x="5303520" y="5031398"/>
            <a:ext cx="548640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F8F3E8"/>
                </a:solidFill>
              </a:defRPr>
            </a:lvl1pPr>
          </a:lstStyle>
          <a:p>
            <a:pPr/>
            <a:r>
              <a:t>ESP-CRM (in-house) · DMS · ERP · POS · WMS · HRIS · LMS · Membership Platform</a:t>
            </a:r>
          </a:p>
        </p:txBody>
      </p:sp>
      <p:sp>
        <p:nvSpPr>
          <p:cNvPr id="273" name="Rectangle 33"/>
          <p:cNvSpPr/>
          <p:nvPr/>
        </p:nvSpPr>
        <p:spPr>
          <a:xfrm>
            <a:off x="502919" y="1417319"/>
            <a:ext cx="1554481" cy="4023361"/>
          </a:xfrm>
          <a:prstGeom prst="rect">
            <a:avLst/>
          </a:prstGeom>
          <a:solidFill>
            <a:srgbClr val="071B2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4" name="TextBox 34"/>
          <p:cNvSpPr txBox="1"/>
          <p:nvPr/>
        </p:nvSpPr>
        <p:spPr>
          <a:xfrm>
            <a:off x="502919" y="1600200"/>
            <a:ext cx="155448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C1441E"/>
                </a:solidFill>
              </a:defRPr>
            </a:lvl1pPr>
          </a:lstStyle>
          <a:p>
            <a:pPr/>
            <a:r>
              <a:t>L0 — Cross-Cutting</a:t>
            </a:r>
          </a:p>
        </p:txBody>
      </p:sp>
      <p:sp>
        <p:nvSpPr>
          <p:cNvPr id="275" name="TextBox 35"/>
          <p:cNvSpPr txBox="1"/>
          <p:nvPr/>
        </p:nvSpPr>
        <p:spPr>
          <a:xfrm>
            <a:off x="594359" y="2194560"/>
            <a:ext cx="137160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Security &amp; IAM</a:t>
            </a:r>
          </a:p>
        </p:txBody>
      </p:sp>
      <p:sp>
        <p:nvSpPr>
          <p:cNvPr id="276" name="TextBox 36"/>
          <p:cNvSpPr txBox="1"/>
          <p:nvPr/>
        </p:nvSpPr>
        <p:spPr>
          <a:xfrm>
            <a:off x="594359" y="2743199"/>
            <a:ext cx="13716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Identity (Okta)</a:t>
            </a:r>
          </a:p>
        </p:txBody>
      </p:sp>
      <p:sp>
        <p:nvSpPr>
          <p:cNvPr id="277" name="TextBox 37"/>
          <p:cNvSpPr txBox="1"/>
          <p:nvPr/>
        </p:nvSpPr>
        <p:spPr>
          <a:xfrm>
            <a:off x="594359" y="3291840"/>
            <a:ext cx="137160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Trust &amp; RAI</a:t>
            </a:r>
          </a:p>
        </p:txBody>
      </p:sp>
      <p:sp>
        <p:nvSpPr>
          <p:cNvPr id="278" name="TextBox 38"/>
          <p:cNvSpPr txBox="1"/>
          <p:nvPr/>
        </p:nvSpPr>
        <p:spPr>
          <a:xfrm>
            <a:off x="594359" y="3840479"/>
            <a:ext cx="1371601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Observability /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AgentOps</a:t>
            </a:r>
          </a:p>
        </p:txBody>
      </p:sp>
      <p:sp>
        <p:nvSpPr>
          <p:cNvPr id="279" name="TextBox 39"/>
          <p:cNvSpPr txBox="1"/>
          <p:nvPr/>
        </p:nvSpPr>
        <p:spPr>
          <a:xfrm>
            <a:off x="594359" y="4389120"/>
            <a:ext cx="1371601" cy="393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FinOps /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cost routing</a:t>
            </a:r>
          </a:p>
        </p:txBody>
      </p:sp>
      <p:sp>
        <p:nvSpPr>
          <p:cNvPr id="280" name="TextBox 40"/>
          <p:cNvSpPr txBox="1"/>
          <p:nvPr/>
        </p:nvSpPr>
        <p:spPr>
          <a:xfrm>
            <a:off x="594359" y="4937759"/>
            <a:ext cx="13716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DevSecOps</a:t>
            </a:r>
          </a:p>
        </p:txBody>
      </p:sp>
      <p:sp>
        <p:nvSpPr>
          <p:cNvPr id="281" name="TextBox 41"/>
          <p:cNvSpPr txBox="1"/>
          <p:nvPr/>
        </p:nvSpPr>
        <p:spPr>
          <a:xfrm>
            <a:off x="502919" y="868680"/>
            <a:ext cx="109728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100">
                <a:solidFill>
                  <a:srgbClr val="36454F"/>
                </a:solidFill>
              </a:defRPr>
            </a:lvl1pPr>
          </a:lstStyle>
          <a:p>
            <a:pPr/>
            <a:r>
              <a:t>Each layer has clear ownership, contracts, and failure modes. Domains compose across layers; cross-cutting binds them.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4" name="Rectangle 2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5" name="Rectangle 3"/>
          <p:cNvSpPr/>
          <p:nvPr/>
        </p:nvSpPr>
        <p:spPr>
          <a:xfrm>
            <a:off x="-1" y="6565392"/>
            <a:ext cx="12191697" cy="292609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6" name="TextBox 4"/>
          <p:cNvSpPr txBox="1"/>
          <p:nvPr/>
        </p:nvSpPr>
        <p:spPr>
          <a:xfrm>
            <a:off x="365759" y="6583680"/>
            <a:ext cx="73152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FFFFFF"/>
                </a:solidFill>
              </a:defRPr>
            </a:lvl1pPr>
          </a:lstStyle>
          <a:p>
            <a:pPr/>
            <a:r>
              <a:t>Camping World · Agentic AI Solution Architecture Blueprint v1.0</a:t>
            </a:r>
          </a:p>
        </p:txBody>
      </p:sp>
      <p:sp>
        <p:nvSpPr>
          <p:cNvPr id="287" name="TextBox 5"/>
          <p:cNvSpPr txBox="1"/>
          <p:nvPr/>
        </p:nvSpPr>
        <p:spPr>
          <a:xfrm>
            <a:off x="10332719" y="6583680"/>
            <a:ext cx="18288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/>
            <a:r>
              <a:t>6 / 30</a:t>
            </a:r>
          </a:p>
        </p:txBody>
      </p:sp>
      <p:sp>
        <p:nvSpPr>
          <p:cNvPr id="288" name="TextBox 6"/>
          <p:cNvSpPr txBox="1"/>
          <p:nvPr/>
        </p:nvSpPr>
        <p:spPr>
          <a:xfrm>
            <a:off x="502919" y="274320"/>
            <a:ext cx="1097280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C1441E"/>
                </a:solidFill>
              </a:defRPr>
            </a:lvl1pPr>
          </a:lstStyle>
          <a:p>
            <a:pPr/>
            <a:r>
              <a:t>LAYER L1</a:t>
            </a:r>
          </a:p>
        </p:txBody>
      </p:sp>
      <p:sp>
        <p:nvSpPr>
          <p:cNvPr id="289" name="TextBox 7"/>
          <p:cNvSpPr txBox="1"/>
          <p:nvPr/>
        </p:nvSpPr>
        <p:spPr>
          <a:xfrm>
            <a:off x="502919" y="502919"/>
            <a:ext cx="1124712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102A43"/>
                </a:solidFill>
              </a:defRPr>
            </a:lvl1pPr>
          </a:lstStyle>
          <a:p>
            <a:pPr/>
            <a:r>
              <a:t>Experience &amp; Channel — Agent-Mediated Touchpoints</a:t>
            </a:r>
          </a:p>
        </p:txBody>
      </p:sp>
      <p:sp>
        <p:nvSpPr>
          <p:cNvPr id="290" name="Rectangle 8"/>
          <p:cNvSpPr/>
          <p:nvPr/>
        </p:nvSpPr>
        <p:spPr>
          <a:xfrm>
            <a:off x="502919" y="1097280"/>
            <a:ext cx="548641" cy="36577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1" name="Rectangle 9"/>
          <p:cNvSpPr/>
          <p:nvPr/>
        </p:nvSpPr>
        <p:spPr>
          <a:xfrm>
            <a:off x="502920" y="1463039"/>
            <a:ext cx="3611880" cy="21945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2" name="Rectangle 10"/>
          <p:cNvSpPr/>
          <p:nvPr/>
        </p:nvSpPr>
        <p:spPr>
          <a:xfrm>
            <a:off x="502920" y="1463039"/>
            <a:ext cx="3611880" cy="502920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3" name="TextBox 11"/>
          <p:cNvSpPr txBox="1"/>
          <p:nvPr/>
        </p:nvSpPr>
        <p:spPr>
          <a:xfrm>
            <a:off x="685800" y="1619820"/>
            <a:ext cx="36118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Member Web / App</a:t>
            </a:r>
          </a:p>
        </p:txBody>
      </p:sp>
      <p:sp>
        <p:nvSpPr>
          <p:cNvPr id="294" name="TextBox 12"/>
          <p:cNvSpPr txBox="1"/>
          <p:nvPr/>
        </p:nvSpPr>
        <p:spPr>
          <a:xfrm>
            <a:off x="685799" y="2103120"/>
            <a:ext cx="324612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36454F"/>
                </a:solidFill>
              </a:defRPr>
            </a:lvl1pPr>
          </a:lstStyle>
          <a:p>
            <a:pPr/>
            <a:r>
              <a:t>Self-service, shop, ESP mgmt</a:t>
            </a:r>
          </a:p>
        </p:txBody>
      </p:sp>
      <p:sp>
        <p:nvSpPr>
          <p:cNvPr id="295" name="Rectangle 13"/>
          <p:cNvSpPr/>
          <p:nvPr/>
        </p:nvSpPr>
        <p:spPr>
          <a:xfrm>
            <a:off x="4279391" y="1463039"/>
            <a:ext cx="3611881" cy="21945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6" name="Rectangle 14"/>
          <p:cNvSpPr/>
          <p:nvPr/>
        </p:nvSpPr>
        <p:spPr>
          <a:xfrm>
            <a:off x="4279391" y="1463039"/>
            <a:ext cx="3611881" cy="502920"/>
          </a:xfrm>
          <a:prstGeom prst="rect">
            <a:avLst/>
          </a:prstGeom>
          <a:solidFill>
            <a:srgbClr val="1F4D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7" name="TextBox 15"/>
          <p:cNvSpPr txBox="1"/>
          <p:nvPr/>
        </p:nvSpPr>
        <p:spPr>
          <a:xfrm>
            <a:off x="4462271" y="1619820"/>
            <a:ext cx="3611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Dealership Co-Pilot</a:t>
            </a:r>
          </a:p>
        </p:txBody>
      </p:sp>
      <p:sp>
        <p:nvSpPr>
          <p:cNvPr id="298" name="TextBox 16"/>
          <p:cNvSpPr txBox="1"/>
          <p:nvPr/>
        </p:nvSpPr>
        <p:spPr>
          <a:xfrm>
            <a:off x="4462271" y="2103120"/>
            <a:ext cx="324612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36454F"/>
                </a:solidFill>
              </a:defRPr>
            </a:lvl1pPr>
          </a:lstStyle>
          <a:p>
            <a:pPr/>
            <a:r>
              <a:t>Tablet + browser; reads DMS</a:t>
            </a:r>
          </a:p>
        </p:txBody>
      </p:sp>
      <p:sp>
        <p:nvSpPr>
          <p:cNvPr id="299" name="Rectangle 17"/>
          <p:cNvSpPr/>
          <p:nvPr/>
        </p:nvSpPr>
        <p:spPr>
          <a:xfrm>
            <a:off x="8055864" y="1463039"/>
            <a:ext cx="3611881" cy="21945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0" name="Rectangle 18"/>
          <p:cNvSpPr/>
          <p:nvPr/>
        </p:nvSpPr>
        <p:spPr>
          <a:xfrm>
            <a:off x="8055864" y="1463039"/>
            <a:ext cx="3611881" cy="502920"/>
          </a:xfrm>
          <a:prstGeom prst="rect">
            <a:avLst/>
          </a:prstGeom>
          <a:solidFill>
            <a:srgbClr val="E6834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1" name="TextBox 19"/>
          <p:cNvSpPr txBox="1"/>
          <p:nvPr/>
        </p:nvSpPr>
        <p:spPr>
          <a:xfrm>
            <a:off x="8238743" y="1619820"/>
            <a:ext cx="3611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Service Bay Tablet</a:t>
            </a:r>
          </a:p>
        </p:txBody>
      </p:sp>
      <p:sp>
        <p:nvSpPr>
          <p:cNvPr id="302" name="TextBox 20"/>
          <p:cNvSpPr txBox="1"/>
          <p:nvPr/>
        </p:nvSpPr>
        <p:spPr>
          <a:xfrm>
            <a:off x="8238743" y="2103120"/>
            <a:ext cx="324612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36454F"/>
                </a:solidFill>
              </a:defRPr>
            </a:lvl1pPr>
          </a:lstStyle>
          <a:p>
            <a:pPr/>
            <a:r>
              <a:t>Technician workflow, parts</a:t>
            </a:r>
          </a:p>
        </p:txBody>
      </p:sp>
      <p:sp>
        <p:nvSpPr>
          <p:cNvPr id="303" name="Rectangle 21"/>
          <p:cNvSpPr/>
          <p:nvPr/>
        </p:nvSpPr>
        <p:spPr>
          <a:xfrm>
            <a:off x="502920" y="3822191"/>
            <a:ext cx="3611880" cy="21945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4" name="Rectangle 22"/>
          <p:cNvSpPr/>
          <p:nvPr/>
        </p:nvSpPr>
        <p:spPr>
          <a:xfrm>
            <a:off x="502920" y="3822191"/>
            <a:ext cx="3611880" cy="502920"/>
          </a:xfrm>
          <a:prstGeom prst="rect">
            <a:avLst/>
          </a:prstGeom>
          <a:solidFill>
            <a:srgbClr val="6E8B4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5" name="TextBox 23"/>
          <p:cNvSpPr txBox="1"/>
          <p:nvPr/>
        </p:nvSpPr>
        <p:spPr>
          <a:xfrm>
            <a:off x="685800" y="3978972"/>
            <a:ext cx="36118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Voice / IVR</a:t>
            </a:r>
          </a:p>
        </p:txBody>
      </p:sp>
      <p:sp>
        <p:nvSpPr>
          <p:cNvPr id="306" name="TextBox 24"/>
          <p:cNvSpPr txBox="1"/>
          <p:nvPr/>
        </p:nvSpPr>
        <p:spPr>
          <a:xfrm>
            <a:off x="685799" y="4462271"/>
            <a:ext cx="324612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36454F"/>
                </a:solidFill>
              </a:defRPr>
            </a:lvl1pPr>
          </a:lstStyle>
          <a:p>
            <a:pPr/>
            <a:r>
              <a:t>Roadside, scheduling</a:t>
            </a:r>
          </a:p>
        </p:txBody>
      </p:sp>
      <p:sp>
        <p:nvSpPr>
          <p:cNvPr id="307" name="Rectangle 25"/>
          <p:cNvSpPr/>
          <p:nvPr/>
        </p:nvSpPr>
        <p:spPr>
          <a:xfrm>
            <a:off x="4279391" y="3822191"/>
            <a:ext cx="3611881" cy="21945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8" name="Rectangle 26"/>
          <p:cNvSpPr/>
          <p:nvPr/>
        </p:nvSpPr>
        <p:spPr>
          <a:xfrm>
            <a:off x="4279391" y="3822191"/>
            <a:ext cx="3611881" cy="502920"/>
          </a:xfrm>
          <a:prstGeom prst="rect">
            <a:avLst/>
          </a:prstGeom>
          <a:solidFill>
            <a:srgbClr val="36454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9" name="TextBox 27"/>
          <p:cNvSpPr txBox="1"/>
          <p:nvPr/>
        </p:nvSpPr>
        <p:spPr>
          <a:xfrm>
            <a:off x="4462271" y="3978972"/>
            <a:ext cx="3611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Email / SMS</a:t>
            </a:r>
          </a:p>
        </p:txBody>
      </p:sp>
      <p:sp>
        <p:nvSpPr>
          <p:cNvPr id="310" name="TextBox 28"/>
          <p:cNvSpPr txBox="1"/>
          <p:nvPr/>
        </p:nvSpPr>
        <p:spPr>
          <a:xfrm>
            <a:off x="4462271" y="4462271"/>
            <a:ext cx="324612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36454F"/>
                </a:solidFill>
              </a:defRPr>
            </a:lvl1pPr>
          </a:lstStyle>
          <a:p>
            <a:pPr/>
            <a:r>
              <a:t>Lifecycle journeys</a:t>
            </a:r>
          </a:p>
        </p:txBody>
      </p:sp>
      <p:sp>
        <p:nvSpPr>
          <p:cNvPr id="311" name="Rectangle 29"/>
          <p:cNvSpPr/>
          <p:nvPr/>
        </p:nvSpPr>
        <p:spPr>
          <a:xfrm>
            <a:off x="8055864" y="3822191"/>
            <a:ext cx="3611881" cy="21945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2" name="Rectangle 30"/>
          <p:cNvSpPr/>
          <p:nvPr/>
        </p:nvSpPr>
        <p:spPr>
          <a:xfrm>
            <a:off x="8055864" y="3822191"/>
            <a:ext cx="3611881" cy="502920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3" name="TextBox 31"/>
          <p:cNvSpPr txBox="1"/>
          <p:nvPr/>
        </p:nvSpPr>
        <p:spPr>
          <a:xfrm>
            <a:off x="8238743" y="3978972"/>
            <a:ext cx="3611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Partner / Affiliate</a:t>
            </a:r>
          </a:p>
        </p:txBody>
      </p:sp>
      <p:sp>
        <p:nvSpPr>
          <p:cNvPr id="314" name="TextBox 32"/>
          <p:cNvSpPr txBox="1"/>
          <p:nvPr/>
        </p:nvSpPr>
        <p:spPr>
          <a:xfrm>
            <a:off x="8238743" y="4462271"/>
            <a:ext cx="324612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36454F"/>
                </a:solidFill>
              </a:defRPr>
            </a:lvl1pPr>
          </a:lstStyle>
          <a:p>
            <a:pPr/>
            <a:r>
              <a:t>OEM, carriers, campsites</a:t>
            </a:r>
          </a:p>
        </p:txBody>
      </p:sp>
      <p:sp>
        <p:nvSpPr>
          <p:cNvPr id="315" name="TextBox 33"/>
          <p:cNvSpPr txBox="1"/>
          <p:nvPr/>
        </p:nvSpPr>
        <p:spPr>
          <a:xfrm>
            <a:off x="502919" y="6400799"/>
            <a:ext cx="109728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6E7780"/>
                </a:solidFill>
              </a:defRPr>
            </a:lvl1pPr>
          </a:lstStyle>
          <a:p>
            <a:pPr/>
            <a:r>
              <a:t>The architectural shift: same agent renders into many channels through adapters; channel becomes a viewport, not a silo.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8" name="Rectangle 2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9" name="Rectangle 3"/>
          <p:cNvSpPr/>
          <p:nvPr/>
        </p:nvSpPr>
        <p:spPr>
          <a:xfrm>
            <a:off x="-1" y="6565392"/>
            <a:ext cx="12191697" cy="292609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0" name="TextBox 4"/>
          <p:cNvSpPr txBox="1"/>
          <p:nvPr/>
        </p:nvSpPr>
        <p:spPr>
          <a:xfrm>
            <a:off x="365759" y="6583680"/>
            <a:ext cx="73152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FFFFFF"/>
                </a:solidFill>
              </a:defRPr>
            </a:lvl1pPr>
          </a:lstStyle>
          <a:p>
            <a:pPr/>
            <a:r>
              <a:t>Camping World · Agentic AI Solution Architecture Blueprint v1.0</a:t>
            </a:r>
          </a:p>
        </p:txBody>
      </p:sp>
      <p:sp>
        <p:nvSpPr>
          <p:cNvPr id="321" name="TextBox 5"/>
          <p:cNvSpPr txBox="1"/>
          <p:nvPr/>
        </p:nvSpPr>
        <p:spPr>
          <a:xfrm>
            <a:off x="10332719" y="6583680"/>
            <a:ext cx="18288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/>
            <a:r>
              <a:t>7 / 30</a:t>
            </a:r>
          </a:p>
        </p:txBody>
      </p:sp>
      <p:sp>
        <p:nvSpPr>
          <p:cNvPr id="322" name="TextBox 6"/>
          <p:cNvSpPr txBox="1"/>
          <p:nvPr/>
        </p:nvSpPr>
        <p:spPr>
          <a:xfrm>
            <a:off x="502919" y="274320"/>
            <a:ext cx="1097280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C1441E"/>
                </a:solidFill>
              </a:defRPr>
            </a:lvl1pPr>
          </a:lstStyle>
          <a:p>
            <a:pPr/>
            <a:r>
              <a:t>LAYER L2 — THE HEART</a:t>
            </a:r>
          </a:p>
        </p:txBody>
      </p:sp>
      <p:sp>
        <p:nvSpPr>
          <p:cNvPr id="323" name="TextBox 7"/>
          <p:cNvSpPr txBox="1"/>
          <p:nvPr/>
        </p:nvSpPr>
        <p:spPr>
          <a:xfrm>
            <a:off x="502919" y="502919"/>
            <a:ext cx="1124712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102A43"/>
                </a:solidFill>
              </a:defRPr>
            </a:lvl1pPr>
          </a:lstStyle>
          <a:p>
            <a:pPr/>
            <a:r>
              <a:t>Agentic Orchestration Layer</a:t>
            </a:r>
          </a:p>
        </p:txBody>
      </p:sp>
      <p:sp>
        <p:nvSpPr>
          <p:cNvPr id="324" name="Rectangle 8"/>
          <p:cNvSpPr/>
          <p:nvPr/>
        </p:nvSpPr>
        <p:spPr>
          <a:xfrm>
            <a:off x="502919" y="1097280"/>
            <a:ext cx="548641" cy="36577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5" name="Rectangle 9"/>
          <p:cNvSpPr/>
          <p:nvPr/>
        </p:nvSpPr>
        <p:spPr>
          <a:xfrm>
            <a:off x="502919" y="1463039"/>
            <a:ext cx="6858001" cy="48463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6" name="Rectangle 10"/>
          <p:cNvSpPr/>
          <p:nvPr/>
        </p:nvSpPr>
        <p:spPr>
          <a:xfrm>
            <a:off x="868679" y="1920239"/>
            <a:ext cx="1737362" cy="914401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7" name="TextBox 11"/>
          <p:cNvSpPr txBox="1"/>
          <p:nvPr/>
        </p:nvSpPr>
        <p:spPr>
          <a:xfrm>
            <a:off x="923543" y="1975104"/>
            <a:ext cx="1627634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PLANNER</a:t>
            </a:r>
          </a:p>
        </p:txBody>
      </p:sp>
      <p:sp>
        <p:nvSpPr>
          <p:cNvPr id="328" name="TextBox 12"/>
          <p:cNvSpPr txBox="1"/>
          <p:nvPr/>
        </p:nvSpPr>
        <p:spPr>
          <a:xfrm>
            <a:off x="923543" y="2285999"/>
            <a:ext cx="1627634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800">
                <a:solidFill>
                  <a:srgbClr val="FFFFFF"/>
                </a:solidFill>
              </a:defRPr>
            </a:lvl1pPr>
          </a:lstStyle>
          <a:p>
            <a:pPr/>
            <a:r>
              <a:t>ReAct / Plan-and-Execute</a:t>
            </a:r>
          </a:p>
        </p:txBody>
      </p:sp>
      <p:sp>
        <p:nvSpPr>
          <p:cNvPr id="329" name="Rectangle 13"/>
          <p:cNvSpPr/>
          <p:nvPr/>
        </p:nvSpPr>
        <p:spPr>
          <a:xfrm>
            <a:off x="2880360" y="1920239"/>
            <a:ext cx="1737361" cy="914401"/>
          </a:xfrm>
          <a:prstGeom prst="rect">
            <a:avLst/>
          </a:prstGeom>
          <a:solidFill>
            <a:srgbClr val="E6834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0" name="TextBox 14"/>
          <p:cNvSpPr txBox="1"/>
          <p:nvPr/>
        </p:nvSpPr>
        <p:spPr>
          <a:xfrm>
            <a:off x="2935223" y="1975104"/>
            <a:ext cx="1627633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ROUTER</a:t>
            </a:r>
          </a:p>
        </p:txBody>
      </p:sp>
      <p:sp>
        <p:nvSpPr>
          <p:cNvPr id="331" name="TextBox 15"/>
          <p:cNvSpPr txBox="1"/>
          <p:nvPr/>
        </p:nvSpPr>
        <p:spPr>
          <a:xfrm>
            <a:off x="2935223" y="2285999"/>
            <a:ext cx="1627633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800">
                <a:solidFill>
                  <a:srgbClr val="FFFFFF"/>
                </a:solidFill>
              </a:defRPr>
            </a:lvl1pPr>
          </a:lstStyle>
          <a:p>
            <a:pPr/>
            <a:r>
              <a:t>Cost-aware model selection</a:t>
            </a:r>
          </a:p>
        </p:txBody>
      </p:sp>
      <p:sp>
        <p:nvSpPr>
          <p:cNvPr id="332" name="Rectangle 16"/>
          <p:cNvSpPr/>
          <p:nvPr/>
        </p:nvSpPr>
        <p:spPr>
          <a:xfrm>
            <a:off x="4892040" y="1920239"/>
            <a:ext cx="1737361" cy="914401"/>
          </a:xfrm>
          <a:prstGeom prst="rect">
            <a:avLst/>
          </a:prstGeom>
          <a:solidFill>
            <a:srgbClr val="1F4D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3" name="TextBox 17"/>
          <p:cNvSpPr txBox="1"/>
          <p:nvPr/>
        </p:nvSpPr>
        <p:spPr>
          <a:xfrm>
            <a:off x="4946903" y="1975104"/>
            <a:ext cx="1627633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CRITIC</a:t>
            </a:r>
          </a:p>
        </p:txBody>
      </p:sp>
      <p:sp>
        <p:nvSpPr>
          <p:cNvPr id="334" name="TextBox 18"/>
          <p:cNvSpPr txBox="1"/>
          <p:nvPr/>
        </p:nvSpPr>
        <p:spPr>
          <a:xfrm>
            <a:off x="4946903" y="2285999"/>
            <a:ext cx="1627633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800">
                <a:solidFill>
                  <a:srgbClr val="FFFFFF"/>
                </a:solidFill>
              </a:defRPr>
            </a:lvl1pPr>
          </a:lstStyle>
          <a:p>
            <a:pPr/>
            <a:r>
              <a:t>Pre-commit reviewer</a:t>
            </a:r>
          </a:p>
        </p:txBody>
      </p:sp>
      <p:sp>
        <p:nvSpPr>
          <p:cNvPr id="335" name="Rectangle 19"/>
          <p:cNvSpPr/>
          <p:nvPr/>
        </p:nvSpPr>
        <p:spPr>
          <a:xfrm>
            <a:off x="868679" y="3154679"/>
            <a:ext cx="2651762" cy="1005840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6" name="TextBox 20"/>
          <p:cNvSpPr txBox="1"/>
          <p:nvPr/>
        </p:nvSpPr>
        <p:spPr>
          <a:xfrm>
            <a:off x="923543" y="3209544"/>
            <a:ext cx="2542034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TOOL REGISTRY (MCP)</a:t>
            </a:r>
          </a:p>
        </p:txBody>
      </p:sp>
      <p:sp>
        <p:nvSpPr>
          <p:cNvPr id="337" name="TextBox 21"/>
          <p:cNvSpPr txBox="1"/>
          <p:nvPr/>
        </p:nvSpPr>
        <p:spPr>
          <a:xfrm>
            <a:off x="923543" y="3520440"/>
            <a:ext cx="2542034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800">
                <a:solidFill>
                  <a:srgbClr val="FFFFFF"/>
                </a:solidFill>
              </a:defRPr>
            </a:lvl1pPr>
          </a:lstStyle>
          <a:p>
            <a:pPr/>
            <a:r>
              <a:t>Versioned · signed · per-agent ACL</a:t>
            </a:r>
          </a:p>
        </p:txBody>
      </p:sp>
      <p:sp>
        <p:nvSpPr>
          <p:cNvPr id="338" name="Rectangle 22"/>
          <p:cNvSpPr/>
          <p:nvPr/>
        </p:nvSpPr>
        <p:spPr>
          <a:xfrm>
            <a:off x="3703320" y="3154679"/>
            <a:ext cx="1463041" cy="1005840"/>
          </a:xfrm>
          <a:prstGeom prst="rect">
            <a:avLst/>
          </a:prstGeom>
          <a:solidFill>
            <a:srgbClr val="6E8B4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9" name="TextBox 23"/>
          <p:cNvSpPr txBox="1"/>
          <p:nvPr/>
        </p:nvSpPr>
        <p:spPr>
          <a:xfrm>
            <a:off x="3758184" y="3209544"/>
            <a:ext cx="1353313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MEMORY</a:t>
            </a:r>
          </a:p>
        </p:txBody>
      </p:sp>
      <p:sp>
        <p:nvSpPr>
          <p:cNvPr id="340" name="TextBox 24"/>
          <p:cNvSpPr txBox="1"/>
          <p:nvPr/>
        </p:nvSpPr>
        <p:spPr>
          <a:xfrm>
            <a:off x="3758184" y="3520440"/>
            <a:ext cx="1353313" cy="450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i="1" sz="800">
                <a:solidFill>
                  <a:srgbClr val="FFFFFF"/>
                </a:solidFill>
              </a:defRPr>
            </a:pPr>
            <a:r>
              <a:t>Episodic ·</a:t>
            </a:r>
          </a:p>
          <a:p>
            <a:pPr algn="ctr">
              <a:defRPr i="1" sz="800">
                <a:solidFill>
                  <a:srgbClr val="FFFFFF"/>
                </a:solidFill>
              </a:defRPr>
            </a:pPr>
            <a:r>
              <a:t>Semantic ·</a:t>
            </a:r>
          </a:p>
          <a:p>
            <a:pPr algn="ctr">
              <a:defRPr i="1" sz="800">
                <a:solidFill>
                  <a:srgbClr val="FFFFFF"/>
                </a:solidFill>
              </a:defRPr>
            </a:pPr>
            <a:r>
              <a:t>Procedural</a:t>
            </a:r>
          </a:p>
        </p:txBody>
      </p:sp>
      <p:sp>
        <p:nvSpPr>
          <p:cNvPr id="341" name="Rectangle 25"/>
          <p:cNvSpPr/>
          <p:nvPr/>
        </p:nvSpPr>
        <p:spPr>
          <a:xfrm>
            <a:off x="5349240" y="3154679"/>
            <a:ext cx="1737361" cy="1005840"/>
          </a:xfrm>
          <a:prstGeom prst="rect">
            <a:avLst/>
          </a:prstGeom>
          <a:solidFill>
            <a:srgbClr val="36454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2" name="TextBox 26"/>
          <p:cNvSpPr txBox="1"/>
          <p:nvPr/>
        </p:nvSpPr>
        <p:spPr>
          <a:xfrm>
            <a:off x="5404103" y="3209544"/>
            <a:ext cx="1627633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GUARDRAILS</a:t>
            </a:r>
          </a:p>
        </p:txBody>
      </p:sp>
      <p:sp>
        <p:nvSpPr>
          <p:cNvPr id="343" name="TextBox 27"/>
          <p:cNvSpPr txBox="1"/>
          <p:nvPr/>
        </p:nvSpPr>
        <p:spPr>
          <a:xfrm>
            <a:off x="5404103" y="3520440"/>
            <a:ext cx="1627633" cy="323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i="1" sz="800">
                <a:solidFill>
                  <a:srgbClr val="FFFFFF"/>
                </a:solidFill>
              </a:defRPr>
            </a:pPr>
            <a:r>
              <a:t>PII · Consent ·</a:t>
            </a:r>
          </a:p>
          <a:p>
            <a:pPr algn="ctr">
              <a:defRPr i="1" sz="800">
                <a:solidFill>
                  <a:srgbClr val="FFFFFF"/>
                </a:solidFill>
              </a:defRPr>
            </a:pPr>
            <a:r>
              <a:t>Jailbreak filters</a:t>
            </a:r>
          </a:p>
        </p:txBody>
      </p:sp>
      <p:sp>
        <p:nvSpPr>
          <p:cNvPr id="344" name="Rectangle 28"/>
          <p:cNvSpPr/>
          <p:nvPr/>
        </p:nvSpPr>
        <p:spPr>
          <a:xfrm>
            <a:off x="868680" y="4389120"/>
            <a:ext cx="1828801" cy="914401"/>
          </a:xfrm>
          <a:prstGeom prst="rect">
            <a:avLst/>
          </a:prstGeom>
          <a:solidFill>
            <a:srgbClr val="071B2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5" name="TextBox 29"/>
          <p:cNvSpPr txBox="1"/>
          <p:nvPr/>
        </p:nvSpPr>
        <p:spPr>
          <a:xfrm>
            <a:off x="923544" y="4443984"/>
            <a:ext cx="1719073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RUN STORE</a:t>
            </a:r>
          </a:p>
        </p:txBody>
      </p:sp>
      <p:sp>
        <p:nvSpPr>
          <p:cNvPr id="346" name="TextBox 30"/>
          <p:cNvSpPr txBox="1"/>
          <p:nvPr/>
        </p:nvSpPr>
        <p:spPr>
          <a:xfrm>
            <a:off x="923544" y="4754879"/>
            <a:ext cx="1719073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800">
                <a:solidFill>
                  <a:srgbClr val="FFFFFF"/>
                </a:solidFill>
              </a:defRPr>
            </a:lvl1pPr>
          </a:lstStyle>
          <a:p>
            <a:pPr/>
            <a:r>
              <a:t>Trace + replay</a:t>
            </a:r>
          </a:p>
        </p:txBody>
      </p:sp>
      <p:sp>
        <p:nvSpPr>
          <p:cNvPr id="347" name="Rectangle 31"/>
          <p:cNvSpPr/>
          <p:nvPr/>
        </p:nvSpPr>
        <p:spPr>
          <a:xfrm>
            <a:off x="2880360" y="4389120"/>
            <a:ext cx="1828801" cy="914401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8" name="TextBox 32"/>
          <p:cNvSpPr txBox="1"/>
          <p:nvPr/>
        </p:nvSpPr>
        <p:spPr>
          <a:xfrm>
            <a:off x="2935223" y="4443984"/>
            <a:ext cx="1719073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EVAL HARNESS</a:t>
            </a:r>
          </a:p>
        </p:txBody>
      </p:sp>
      <p:sp>
        <p:nvSpPr>
          <p:cNvPr id="349" name="TextBox 33"/>
          <p:cNvSpPr txBox="1"/>
          <p:nvPr/>
        </p:nvSpPr>
        <p:spPr>
          <a:xfrm>
            <a:off x="2935223" y="4754879"/>
            <a:ext cx="1719073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800">
                <a:solidFill>
                  <a:srgbClr val="FFFFFF"/>
                </a:solidFill>
              </a:defRPr>
            </a:lvl1pPr>
          </a:lstStyle>
          <a:p>
            <a:pPr/>
            <a:r>
              <a:t>Golden sets · LLM-judge</a:t>
            </a:r>
          </a:p>
        </p:txBody>
      </p:sp>
      <p:sp>
        <p:nvSpPr>
          <p:cNvPr id="350" name="Rectangle 34"/>
          <p:cNvSpPr/>
          <p:nvPr/>
        </p:nvSpPr>
        <p:spPr>
          <a:xfrm>
            <a:off x="4892040" y="4389120"/>
            <a:ext cx="2194561" cy="914401"/>
          </a:xfrm>
          <a:prstGeom prst="rect">
            <a:avLst/>
          </a:prstGeom>
          <a:solidFill>
            <a:srgbClr val="1F4D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1" name="TextBox 35"/>
          <p:cNvSpPr txBox="1"/>
          <p:nvPr/>
        </p:nvSpPr>
        <p:spPr>
          <a:xfrm>
            <a:off x="4946903" y="4443984"/>
            <a:ext cx="2084833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FINOPS / RAI / OBS</a:t>
            </a:r>
          </a:p>
        </p:txBody>
      </p:sp>
      <p:sp>
        <p:nvSpPr>
          <p:cNvPr id="352" name="TextBox 36"/>
          <p:cNvSpPr txBox="1"/>
          <p:nvPr/>
        </p:nvSpPr>
        <p:spPr>
          <a:xfrm>
            <a:off x="4946903" y="4754879"/>
            <a:ext cx="2084833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800">
                <a:solidFill>
                  <a:srgbClr val="FFFFFF"/>
                </a:solidFill>
              </a:defRPr>
            </a:lvl1pPr>
          </a:lstStyle>
          <a:p>
            <a:pPr/>
            <a:r>
              <a:t>Budgets · drift · bias</a:t>
            </a:r>
          </a:p>
        </p:txBody>
      </p:sp>
      <p:sp>
        <p:nvSpPr>
          <p:cNvPr id="353" name="TextBox 37"/>
          <p:cNvSpPr txBox="1"/>
          <p:nvPr/>
        </p:nvSpPr>
        <p:spPr>
          <a:xfrm>
            <a:off x="868680" y="5486400"/>
            <a:ext cx="612648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1100">
                <a:solidFill>
                  <a:srgbClr val="102A43"/>
                </a:solidFill>
              </a:defRPr>
            </a:lvl1pPr>
          </a:lstStyle>
          <a:p>
            <a:pPr/>
            <a:r>
              <a:t>Domains plug in agents through the orchestration kernel — never around it.</a:t>
            </a:r>
          </a:p>
        </p:txBody>
      </p:sp>
      <p:sp>
        <p:nvSpPr>
          <p:cNvPr id="354" name="TextBox 38"/>
          <p:cNvSpPr txBox="1"/>
          <p:nvPr/>
        </p:nvSpPr>
        <p:spPr>
          <a:xfrm>
            <a:off x="7680959" y="1463039"/>
            <a:ext cx="4114801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02A43"/>
                </a:solidFill>
              </a:defRPr>
            </a:lvl1pPr>
          </a:lstStyle>
          <a:p>
            <a:pPr/>
            <a:r>
              <a:t>Multi-Agent Patterns</a:t>
            </a:r>
          </a:p>
        </p:txBody>
      </p:sp>
      <p:sp>
        <p:nvSpPr>
          <p:cNvPr id="355" name="Rectangle 39"/>
          <p:cNvSpPr/>
          <p:nvPr/>
        </p:nvSpPr>
        <p:spPr>
          <a:xfrm>
            <a:off x="7680959" y="1965960"/>
            <a:ext cx="4114801" cy="5943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6" name="Rectangle 40"/>
          <p:cNvSpPr/>
          <p:nvPr/>
        </p:nvSpPr>
        <p:spPr>
          <a:xfrm>
            <a:off x="7680959" y="1965960"/>
            <a:ext cx="64009" cy="594361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7" name="TextBox 41"/>
          <p:cNvSpPr txBox="1"/>
          <p:nvPr/>
        </p:nvSpPr>
        <p:spPr>
          <a:xfrm>
            <a:off x="7863840" y="2029967"/>
            <a:ext cx="384048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102A43"/>
                </a:solidFill>
              </a:defRPr>
            </a:lvl1pPr>
          </a:lstStyle>
          <a:p>
            <a:pPr/>
            <a:r>
              <a:t>Plan-and-Execute</a:t>
            </a:r>
          </a:p>
        </p:txBody>
      </p:sp>
      <p:sp>
        <p:nvSpPr>
          <p:cNvPr id="358" name="TextBox 42"/>
          <p:cNvSpPr txBox="1"/>
          <p:nvPr/>
        </p:nvSpPr>
        <p:spPr>
          <a:xfrm>
            <a:off x="7863840" y="2295144"/>
            <a:ext cx="384048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Predictive Service · AP</a:t>
            </a:r>
          </a:p>
        </p:txBody>
      </p:sp>
      <p:sp>
        <p:nvSpPr>
          <p:cNvPr id="359" name="Rectangle 43"/>
          <p:cNvSpPr/>
          <p:nvPr/>
        </p:nvSpPr>
        <p:spPr>
          <a:xfrm>
            <a:off x="7680959" y="2679190"/>
            <a:ext cx="4114801" cy="5943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0" name="Rectangle 44"/>
          <p:cNvSpPr/>
          <p:nvPr/>
        </p:nvSpPr>
        <p:spPr>
          <a:xfrm>
            <a:off x="7680959" y="2679190"/>
            <a:ext cx="64009" cy="594361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1" name="TextBox 45"/>
          <p:cNvSpPr txBox="1"/>
          <p:nvPr/>
        </p:nvSpPr>
        <p:spPr>
          <a:xfrm>
            <a:off x="7863840" y="2743199"/>
            <a:ext cx="384048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102A43"/>
                </a:solidFill>
              </a:defRPr>
            </a:lvl1pPr>
          </a:lstStyle>
          <a:p>
            <a:pPr/>
            <a:r>
              <a:t>ReAct</a:t>
            </a:r>
          </a:p>
        </p:txBody>
      </p:sp>
      <p:sp>
        <p:nvSpPr>
          <p:cNvPr id="362" name="TextBox 46"/>
          <p:cNvSpPr txBox="1"/>
          <p:nvPr/>
        </p:nvSpPr>
        <p:spPr>
          <a:xfrm>
            <a:off x="7863840" y="3008375"/>
            <a:ext cx="384048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Conv. AI · Tech Co-Pilot</a:t>
            </a:r>
          </a:p>
        </p:txBody>
      </p:sp>
      <p:sp>
        <p:nvSpPr>
          <p:cNvPr id="363" name="Rectangle 47"/>
          <p:cNvSpPr/>
          <p:nvPr/>
        </p:nvSpPr>
        <p:spPr>
          <a:xfrm>
            <a:off x="7680959" y="3392423"/>
            <a:ext cx="4114801" cy="5943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4" name="Rectangle 48"/>
          <p:cNvSpPr/>
          <p:nvPr/>
        </p:nvSpPr>
        <p:spPr>
          <a:xfrm>
            <a:off x="7680959" y="3392423"/>
            <a:ext cx="64009" cy="594361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5" name="TextBox 49"/>
          <p:cNvSpPr txBox="1"/>
          <p:nvPr/>
        </p:nvSpPr>
        <p:spPr>
          <a:xfrm>
            <a:off x="7863840" y="3456432"/>
            <a:ext cx="384048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102A43"/>
                </a:solidFill>
              </a:defRPr>
            </a:lvl1pPr>
          </a:lstStyle>
          <a:p>
            <a:pPr/>
            <a:r>
              <a:t>Critic / Reviewer</a:t>
            </a:r>
          </a:p>
        </p:txBody>
      </p:sp>
      <p:sp>
        <p:nvSpPr>
          <p:cNvPr id="366" name="TextBox 50"/>
          <p:cNvSpPr txBox="1"/>
          <p:nvPr/>
        </p:nvSpPr>
        <p:spPr>
          <a:xfrm>
            <a:off x="7863840" y="3721608"/>
            <a:ext cx="384048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All Med/High-risk actions</a:t>
            </a:r>
          </a:p>
        </p:txBody>
      </p:sp>
      <p:sp>
        <p:nvSpPr>
          <p:cNvPr id="367" name="Rectangle 51"/>
          <p:cNvSpPr/>
          <p:nvPr/>
        </p:nvSpPr>
        <p:spPr>
          <a:xfrm>
            <a:off x="7680959" y="4105655"/>
            <a:ext cx="4114801" cy="5943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8" name="Rectangle 52"/>
          <p:cNvSpPr/>
          <p:nvPr/>
        </p:nvSpPr>
        <p:spPr>
          <a:xfrm>
            <a:off x="7680959" y="4105655"/>
            <a:ext cx="64009" cy="594361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9" name="TextBox 53"/>
          <p:cNvSpPr txBox="1"/>
          <p:nvPr/>
        </p:nvSpPr>
        <p:spPr>
          <a:xfrm>
            <a:off x="7863840" y="4169664"/>
            <a:ext cx="384048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102A43"/>
                </a:solidFill>
              </a:defRPr>
            </a:lvl1pPr>
          </a:lstStyle>
          <a:p>
            <a:pPr/>
            <a:r>
              <a:t>Hierarchical</a:t>
            </a:r>
          </a:p>
        </p:txBody>
      </p:sp>
      <p:sp>
        <p:nvSpPr>
          <p:cNvPr id="370" name="TextBox 54"/>
          <p:cNvSpPr txBox="1"/>
          <p:nvPr/>
        </p:nvSpPr>
        <p:spPr>
          <a:xfrm>
            <a:off x="7863840" y="4434840"/>
            <a:ext cx="384048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Complex deals &amp; claims</a:t>
            </a:r>
          </a:p>
        </p:txBody>
      </p:sp>
      <p:sp>
        <p:nvSpPr>
          <p:cNvPr id="371" name="Rectangle 55"/>
          <p:cNvSpPr/>
          <p:nvPr/>
        </p:nvSpPr>
        <p:spPr>
          <a:xfrm>
            <a:off x="7680959" y="4818888"/>
            <a:ext cx="4114801" cy="5943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2" name="Rectangle 56"/>
          <p:cNvSpPr/>
          <p:nvPr/>
        </p:nvSpPr>
        <p:spPr>
          <a:xfrm>
            <a:off x="7680959" y="4818888"/>
            <a:ext cx="64009" cy="594361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3" name="TextBox 57"/>
          <p:cNvSpPr txBox="1"/>
          <p:nvPr/>
        </p:nvSpPr>
        <p:spPr>
          <a:xfrm>
            <a:off x="7863840" y="4882896"/>
            <a:ext cx="384048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102A43"/>
                </a:solidFill>
              </a:defRPr>
            </a:lvl1pPr>
          </a:lstStyle>
          <a:p>
            <a:pPr/>
            <a:r>
              <a:t>Single-shot tool-call</a:t>
            </a:r>
          </a:p>
        </p:txBody>
      </p:sp>
      <p:sp>
        <p:nvSpPr>
          <p:cNvPr id="374" name="TextBox 58"/>
          <p:cNvSpPr txBox="1"/>
          <p:nvPr/>
        </p:nvSpPr>
        <p:spPr>
          <a:xfrm>
            <a:off x="7863840" y="5148071"/>
            <a:ext cx="384048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Personalization render</a:t>
            </a:r>
          </a:p>
        </p:txBody>
      </p:sp>
      <p:sp>
        <p:nvSpPr>
          <p:cNvPr id="375" name="Rectangle 59"/>
          <p:cNvSpPr/>
          <p:nvPr/>
        </p:nvSpPr>
        <p:spPr>
          <a:xfrm>
            <a:off x="7680959" y="5532120"/>
            <a:ext cx="4114801" cy="5943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6" name="Rectangle 60"/>
          <p:cNvSpPr/>
          <p:nvPr/>
        </p:nvSpPr>
        <p:spPr>
          <a:xfrm>
            <a:off x="7680959" y="5532120"/>
            <a:ext cx="64009" cy="594361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7" name="TextBox 61"/>
          <p:cNvSpPr txBox="1"/>
          <p:nvPr/>
        </p:nvSpPr>
        <p:spPr>
          <a:xfrm>
            <a:off x="7863840" y="5596128"/>
            <a:ext cx="384048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102A43"/>
                </a:solidFill>
              </a:defRPr>
            </a:lvl1pPr>
          </a:lstStyle>
          <a:p>
            <a:pPr/>
            <a:r>
              <a:t>Swarm / parallel</a:t>
            </a:r>
          </a:p>
        </p:txBody>
      </p:sp>
      <p:sp>
        <p:nvSpPr>
          <p:cNvPr id="378" name="TextBox 62"/>
          <p:cNvSpPr txBox="1"/>
          <p:nvPr/>
        </p:nvSpPr>
        <p:spPr>
          <a:xfrm>
            <a:off x="7863840" y="5861303"/>
            <a:ext cx="384048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Inventory pricing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1" name="Rectangle 2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2" name="Rectangle 3"/>
          <p:cNvSpPr/>
          <p:nvPr/>
        </p:nvSpPr>
        <p:spPr>
          <a:xfrm>
            <a:off x="-1" y="6565392"/>
            <a:ext cx="12191697" cy="292609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3" name="TextBox 4"/>
          <p:cNvSpPr txBox="1"/>
          <p:nvPr/>
        </p:nvSpPr>
        <p:spPr>
          <a:xfrm>
            <a:off x="365759" y="6583680"/>
            <a:ext cx="73152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FFFFFF"/>
                </a:solidFill>
              </a:defRPr>
            </a:lvl1pPr>
          </a:lstStyle>
          <a:p>
            <a:pPr/>
            <a:r>
              <a:t>Camping World · Agentic AI Solution Architecture Blueprint v1.0</a:t>
            </a:r>
          </a:p>
        </p:txBody>
      </p:sp>
      <p:sp>
        <p:nvSpPr>
          <p:cNvPr id="384" name="TextBox 5"/>
          <p:cNvSpPr txBox="1"/>
          <p:nvPr/>
        </p:nvSpPr>
        <p:spPr>
          <a:xfrm>
            <a:off x="10332719" y="6583680"/>
            <a:ext cx="18288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/>
            <a:r>
              <a:t>8 / 30</a:t>
            </a:r>
          </a:p>
        </p:txBody>
      </p:sp>
      <p:sp>
        <p:nvSpPr>
          <p:cNvPr id="385" name="TextBox 6"/>
          <p:cNvSpPr txBox="1"/>
          <p:nvPr/>
        </p:nvSpPr>
        <p:spPr>
          <a:xfrm>
            <a:off x="502919" y="274320"/>
            <a:ext cx="1097280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C1441E"/>
                </a:solidFill>
              </a:defRPr>
            </a:lvl1pPr>
          </a:lstStyle>
          <a:p>
            <a:pPr/>
            <a:r>
              <a:t>LAYER L3</a:t>
            </a:r>
          </a:p>
        </p:txBody>
      </p:sp>
      <p:sp>
        <p:nvSpPr>
          <p:cNvPr id="386" name="TextBox 7"/>
          <p:cNvSpPr txBox="1"/>
          <p:nvPr/>
        </p:nvSpPr>
        <p:spPr>
          <a:xfrm>
            <a:off x="502919" y="502919"/>
            <a:ext cx="1124712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102A43"/>
                </a:solidFill>
              </a:defRPr>
            </a:lvl1pPr>
          </a:lstStyle>
          <a:p>
            <a:pPr/>
            <a:r>
              <a:t>AI / ML Services — Reusable Primitives</a:t>
            </a:r>
          </a:p>
        </p:txBody>
      </p:sp>
      <p:sp>
        <p:nvSpPr>
          <p:cNvPr id="387" name="Rectangle 8"/>
          <p:cNvSpPr/>
          <p:nvPr/>
        </p:nvSpPr>
        <p:spPr>
          <a:xfrm>
            <a:off x="502919" y="1097280"/>
            <a:ext cx="548641" cy="36577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8" name="Rectangle 9"/>
          <p:cNvSpPr/>
          <p:nvPr/>
        </p:nvSpPr>
        <p:spPr>
          <a:xfrm>
            <a:off x="502920" y="1463039"/>
            <a:ext cx="2240280" cy="23317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9" name="Rectangle 10"/>
          <p:cNvSpPr/>
          <p:nvPr/>
        </p:nvSpPr>
        <p:spPr>
          <a:xfrm>
            <a:off x="502920" y="1463039"/>
            <a:ext cx="2240280" cy="457201"/>
          </a:xfrm>
          <a:prstGeom prst="rect">
            <a:avLst/>
          </a:prstGeom>
          <a:solidFill>
            <a:srgbClr val="1F4D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0" name="TextBox 11"/>
          <p:cNvSpPr txBox="1"/>
          <p:nvPr/>
        </p:nvSpPr>
        <p:spPr>
          <a:xfrm>
            <a:off x="594359" y="1578786"/>
            <a:ext cx="20574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Predictive Maintenance</a:t>
            </a:r>
          </a:p>
        </p:txBody>
      </p:sp>
      <p:sp>
        <p:nvSpPr>
          <p:cNvPr id="391" name="TextBox 12"/>
          <p:cNvSpPr txBox="1"/>
          <p:nvPr/>
        </p:nvSpPr>
        <p:spPr>
          <a:xfrm>
            <a:off x="594359" y="2011679"/>
            <a:ext cx="20574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Gradient-boosted + survival</a:t>
            </a:r>
          </a:p>
        </p:txBody>
      </p:sp>
      <p:sp>
        <p:nvSpPr>
          <p:cNvPr id="392" name="TextBox 13"/>
          <p:cNvSpPr txBox="1"/>
          <p:nvPr/>
        </p:nvSpPr>
        <p:spPr>
          <a:xfrm>
            <a:off x="594359" y="2880360"/>
            <a:ext cx="20574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C1441E"/>
                </a:solidFill>
              </a:defRPr>
            </a:lvl1pPr>
          </a:lstStyle>
          <a:p>
            <a:pPr/>
            <a:r>
              <a:t>Consumers</a:t>
            </a:r>
          </a:p>
        </p:txBody>
      </p:sp>
      <p:sp>
        <p:nvSpPr>
          <p:cNvPr id="393" name="TextBox 14"/>
          <p:cNvSpPr txBox="1"/>
          <p:nvPr/>
        </p:nvSpPr>
        <p:spPr>
          <a:xfrm>
            <a:off x="594359" y="3154679"/>
            <a:ext cx="205740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102A43"/>
                </a:solidFill>
              </a:defRPr>
            </a:lvl1pPr>
          </a:lstStyle>
          <a:p>
            <a:pPr/>
            <a:r>
              <a:t>Service · Membership</a:t>
            </a:r>
          </a:p>
        </p:txBody>
      </p:sp>
      <p:sp>
        <p:nvSpPr>
          <p:cNvPr id="394" name="Rectangle 15"/>
          <p:cNvSpPr/>
          <p:nvPr/>
        </p:nvSpPr>
        <p:spPr>
          <a:xfrm>
            <a:off x="2834639" y="1463039"/>
            <a:ext cx="2240281" cy="23317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5" name="Rectangle 16"/>
          <p:cNvSpPr/>
          <p:nvPr/>
        </p:nvSpPr>
        <p:spPr>
          <a:xfrm>
            <a:off x="2834639" y="1463039"/>
            <a:ext cx="2240281" cy="457201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6" name="TextBox 17"/>
          <p:cNvSpPr txBox="1"/>
          <p:nvPr/>
        </p:nvSpPr>
        <p:spPr>
          <a:xfrm>
            <a:off x="2926079" y="1578786"/>
            <a:ext cx="20574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Demand &amp; Price Forecast</a:t>
            </a:r>
          </a:p>
        </p:txBody>
      </p:sp>
      <p:sp>
        <p:nvSpPr>
          <p:cNvPr id="397" name="TextBox 18"/>
          <p:cNvSpPr txBox="1"/>
          <p:nvPr/>
        </p:nvSpPr>
        <p:spPr>
          <a:xfrm>
            <a:off x="2926079" y="2011679"/>
            <a:ext cx="20574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Hierarchical Bayesian</a:t>
            </a:r>
          </a:p>
        </p:txBody>
      </p:sp>
      <p:sp>
        <p:nvSpPr>
          <p:cNvPr id="398" name="TextBox 19"/>
          <p:cNvSpPr txBox="1"/>
          <p:nvPr/>
        </p:nvSpPr>
        <p:spPr>
          <a:xfrm>
            <a:off x="2926079" y="2880360"/>
            <a:ext cx="20574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C1441E"/>
                </a:solidFill>
              </a:defRPr>
            </a:lvl1pPr>
          </a:lstStyle>
          <a:p>
            <a:pPr/>
            <a:r>
              <a:t>Consumers</a:t>
            </a:r>
          </a:p>
        </p:txBody>
      </p:sp>
      <p:sp>
        <p:nvSpPr>
          <p:cNvPr id="399" name="TextBox 20"/>
          <p:cNvSpPr txBox="1"/>
          <p:nvPr/>
        </p:nvSpPr>
        <p:spPr>
          <a:xfrm>
            <a:off x="2926079" y="3154679"/>
            <a:ext cx="205740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102A43"/>
                </a:solidFill>
              </a:defRPr>
            </a:lvl1pPr>
          </a:lstStyle>
          <a:p>
            <a:pPr/>
            <a:r>
              <a:t>Inventory · Sales</a:t>
            </a:r>
          </a:p>
        </p:txBody>
      </p:sp>
      <p:sp>
        <p:nvSpPr>
          <p:cNvPr id="400" name="Rectangle 21"/>
          <p:cNvSpPr/>
          <p:nvPr/>
        </p:nvSpPr>
        <p:spPr>
          <a:xfrm>
            <a:off x="5166359" y="1463039"/>
            <a:ext cx="2240281" cy="23317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1" name="Rectangle 22"/>
          <p:cNvSpPr/>
          <p:nvPr/>
        </p:nvSpPr>
        <p:spPr>
          <a:xfrm>
            <a:off x="5166359" y="1463039"/>
            <a:ext cx="2240281" cy="457201"/>
          </a:xfrm>
          <a:prstGeom prst="rect">
            <a:avLst/>
          </a:prstGeom>
          <a:solidFill>
            <a:srgbClr val="E6834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2" name="TextBox 23"/>
          <p:cNvSpPr txBox="1"/>
          <p:nvPr/>
        </p:nvSpPr>
        <p:spPr>
          <a:xfrm>
            <a:off x="5257800" y="1578786"/>
            <a:ext cx="205740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Recommender</a:t>
            </a:r>
          </a:p>
        </p:txBody>
      </p:sp>
      <p:sp>
        <p:nvSpPr>
          <p:cNvPr id="403" name="TextBox 24"/>
          <p:cNvSpPr txBox="1"/>
          <p:nvPr/>
        </p:nvSpPr>
        <p:spPr>
          <a:xfrm>
            <a:off x="5257800" y="2011679"/>
            <a:ext cx="205740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Two-tower + sequential</a:t>
            </a:r>
          </a:p>
        </p:txBody>
      </p:sp>
      <p:sp>
        <p:nvSpPr>
          <p:cNvPr id="404" name="TextBox 25"/>
          <p:cNvSpPr txBox="1"/>
          <p:nvPr/>
        </p:nvSpPr>
        <p:spPr>
          <a:xfrm>
            <a:off x="5257800" y="2880360"/>
            <a:ext cx="2057400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C1441E"/>
                </a:solidFill>
              </a:defRPr>
            </a:lvl1pPr>
          </a:lstStyle>
          <a:p>
            <a:pPr/>
            <a:r>
              <a:t>Consumers</a:t>
            </a:r>
          </a:p>
        </p:txBody>
      </p:sp>
      <p:sp>
        <p:nvSpPr>
          <p:cNvPr id="405" name="TextBox 26"/>
          <p:cNvSpPr txBox="1"/>
          <p:nvPr/>
        </p:nvSpPr>
        <p:spPr>
          <a:xfrm>
            <a:off x="5257800" y="3154679"/>
            <a:ext cx="2057400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102A43"/>
                </a:solidFill>
              </a:defRPr>
            </a:lvl1pPr>
          </a:lstStyle>
          <a:p>
            <a:pPr/>
            <a:r>
              <a:t>Personalization</a:t>
            </a:r>
          </a:p>
        </p:txBody>
      </p:sp>
      <p:sp>
        <p:nvSpPr>
          <p:cNvPr id="406" name="Rectangle 27"/>
          <p:cNvSpPr/>
          <p:nvPr/>
        </p:nvSpPr>
        <p:spPr>
          <a:xfrm>
            <a:off x="7498080" y="1463039"/>
            <a:ext cx="2240281" cy="23317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7" name="Rectangle 28"/>
          <p:cNvSpPr/>
          <p:nvPr/>
        </p:nvSpPr>
        <p:spPr>
          <a:xfrm>
            <a:off x="7498080" y="1463039"/>
            <a:ext cx="2240281" cy="457201"/>
          </a:xfrm>
          <a:prstGeom prst="rect">
            <a:avLst/>
          </a:prstGeom>
          <a:solidFill>
            <a:srgbClr val="6E8B4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8" name="TextBox 29"/>
          <p:cNvSpPr txBox="1"/>
          <p:nvPr/>
        </p:nvSpPr>
        <p:spPr>
          <a:xfrm>
            <a:off x="7589519" y="1578786"/>
            <a:ext cx="20574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Lead Scoring</a:t>
            </a:r>
          </a:p>
        </p:txBody>
      </p:sp>
      <p:sp>
        <p:nvSpPr>
          <p:cNvPr id="409" name="TextBox 30"/>
          <p:cNvSpPr txBox="1"/>
          <p:nvPr/>
        </p:nvSpPr>
        <p:spPr>
          <a:xfrm>
            <a:off x="7589519" y="2011679"/>
            <a:ext cx="20574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Gradient-boosted</a:t>
            </a:r>
          </a:p>
        </p:txBody>
      </p:sp>
      <p:sp>
        <p:nvSpPr>
          <p:cNvPr id="410" name="TextBox 31"/>
          <p:cNvSpPr txBox="1"/>
          <p:nvPr/>
        </p:nvSpPr>
        <p:spPr>
          <a:xfrm>
            <a:off x="7589519" y="2880360"/>
            <a:ext cx="20574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C1441E"/>
                </a:solidFill>
              </a:defRPr>
            </a:lvl1pPr>
          </a:lstStyle>
          <a:p>
            <a:pPr/>
            <a:r>
              <a:t>Consumers</a:t>
            </a:r>
          </a:p>
        </p:txBody>
      </p:sp>
      <p:sp>
        <p:nvSpPr>
          <p:cNvPr id="411" name="TextBox 32"/>
          <p:cNvSpPr txBox="1"/>
          <p:nvPr/>
        </p:nvSpPr>
        <p:spPr>
          <a:xfrm>
            <a:off x="7589519" y="3154679"/>
            <a:ext cx="205740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102A43"/>
                </a:solidFill>
              </a:defRPr>
            </a:lvl1pPr>
          </a:lstStyle>
          <a:p>
            <a:pPr/>
            <a:r>
              <a:t>Sales · Marketing</a:t>
            </a:r>
          </a:p>
        </p:txBody>
      </p:sp>
      <p:sp>
        <p:nvSpPr>
          <p:cNvPr id="412" name="Rectangle 33"/>
          <p:cNvSpPr/>
          <p:nvPr/>
        </p:nvSpPr>
        <p:spPr>
          <a:xfrm>
            <a:off x="9829800" y="1463039"/>
            <a:ext cx="2240280" cy="23317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3" name="Rectangle 34"/>
          <p:cNvSpPr/>
          <p:nvPr/>
        </p:nvSpPr>
        <p:spPr>
          <a:xfrm>
            <a:off x="9829800" y="1463039"/>
            <a:ext cx="2240280" cy="457201"/>
          </a:xfrm>
          <a:prstGeom prst="rect">
            <a:avLst/>
          </a:prstGeom>
          <a:solidFill>
            <a:srgbClr val="36454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4" name="TextBox 35"/>
          <p:cNvSpPr txBox="1"/>
          <p:nvPr/>
        </p:nvSpPr>
        <p:spPr>
          <a:xfrm>
            <a:off x="9921240" y="1578786"/>
            <a:ext cx="20574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LTV &amp; Churn</a:t>
            </a:r>
          </a:p>
        </p:txBody>
      </p:sp>
      <p:sp>
        <p:nvSpPr>
          <p:cNvPr id="415" name="TextBox 36"/>
          <p:cNvSpPr txBox="1"/>
          <p:nvPr/>
        </p:nvSpPr>
        <p:spPr>
          <a:xfrm>
            <a:off x="9921240" y="2011679"/>
            <a:ext cx="20574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Survival + uplift</a:t>
            </a:r>
          </a:p>
        </p:txBody>
      </p:sp>
      <p:sp>
        <p:nvSpPr>
          <p:cNvPr id="416" name="TextBox 37"/>
          <p:cNvSpPr txBox="1"/>
          <p:nvPr/>
        </p:nvSpPr>
        <p:spPr>
          <a:xfrm>
            <a:off x="9921240" y="2880360"/>
            <a:ext cx="20574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C1441E"/>
                </a:solidFill>
              </a:defRPr>
            </a:lvl1pPr>
          </a:lstStyle>
          <a:p>
            <a:pPr/>
            <a:r>
              <a:t>Consumers</a:t>
            </a:r>
          </a:p>
        </p:txBody>
      </p:sp>
      <p:sp>
        <p:nvSpPr>
          <p:cNvPr id="417" name="TextBox 38"/>
          <p:cNvSpPr txBox="1"/>
          <p:nvPr/>
        </p:nvSpPr>
        <p:spPr>
          <a:xfrm>
            <a:off x="9921240" y="3154679"/>
            <a:ext cx="205740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102A43"/>
                </a:solidFill>
              </a:defRPr>
            </a:lvl1pPr>
          </a:lstStyle>
          <a:p>
            <a:pPr/>
            <a:r>
              <a:t>Membership · CX</a:t>
            </a:r>
          </a:p>
        </p:txBody>
      </p:sp>
      <p:sp>
        <p:nvSpPr>
          <p:cNvPr id="418" name="Rectangle 39"/>
          <p:cNvSpPr/>
          <p:nvPr/>
        </p:nvSpPr>
        <p:spPr>
          <a:xfrm>
            <a:off x="502920" y="3886199"/>
            <a:ext cx="2240280" cy="233172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9" name="Rectangle 40"/>
          <p:cNvSpPr/>
          <p:nvPr/>
        </p:nvSpPr>
        <p:spPr>
          <a:xfrm>
            <a:off x="502920" y="3886200"/>
            <a:ext cx="2240280" cy="457200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0" name="TextBox 41"/>
          <p:cNvSpPr txBox="1"/>
          <p:nvPr/>
        </p:nvSpPr>
        <p:spPr>
          <a:xfrm>
            <a:off x="594359" y="4001946"/>
            <a:ext cx="20574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Vehicle / Damage Vision</a:t>
            </a:r>
          </a:p>
        </p:txBody>
      </p:sp>
      <p:sp>
        <p:nvSpPr>
          <p:cNvPr id="421" name="TextBox 42"/>
          <p:cNvSpPr txBox="1"/>
          <p:nvPr/>
        </p:nvSpPr>
        <p:spPr>
          <a:xfrm>
            <a:off x="594359" y="4434840"/>
            <a:ext cx="205740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CV detection</a:t>
            </a:r>
          </a:p>
        </p:txBody>
      </p:sp>
      <p:sp>
        <p:nvSpPr>
          <p:cNvPr id="422" name="TextBox 43"/>
          <p:cNvSpPr txBox="1"/>
          <p:nvPr/>
        </p:nvSpPr>
        <p:spPr>
          <a:xfrm>
            <a:off x="594359" y="5303520"/>
            <a:ext cx="20574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C1441E"/>
                </a:solidFill>
              </a:defRPr>
            </a:lvl1pPr>
          </a:lstStyle>
          <a:p>
            <a:pPr/>
            <a:r>
              <a:t>Consumers</a:t>
            </a:r>
          </a:p>
        </p:txBody>
      </p:sp>
      <p:sp>
        <p:nvSpPr>
          <p:cNvPr id="423" name="TextBox 44"/>
          <p:cNvSpPr txBox="1"/>
          <p:nvPr/>
        </p:nvSpPr>
        <p:spPr>
          <a:xfrm>
            <a:off x="594359" y="5577840"/>
            <a:ext cx="205740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102A43"/>
                </a:solidFill>
              </a:defRPr>
            </a:lvl1pPr>
          </a:lstStyle>
          <a:p>
            <a:pPr/>
            <a:r>
              <a:t>Trade-in · Service</a:t>
            </a:r>
          </a:p>
        </p:txBody>
      </p:sp>
      <p:sp>
        <p:nvSpPr>
          <p:cNvPr id="424" name="Rectangle 45"/>
          <p:cNvSpPr/>
          <p:nvPr/>
        </p:nvSpPr>
        <p:spPr>
          <a:xfrm>
            <a:off x="2834639" y="3886199"/>
            <a:ext cx="2240281" cy="233172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5" name="Rectangle 46"/>
          <p:cNvSpPr/>
          <p:nvPr/>
        </p:nvSpPr>
        <p:spPr>
          <a:xfrm>
            <a:off x="2834639" y="3886200"/>
            <a:ext cx="2240281" cy="457200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6" name="TextBox 47"/>
          <p:cNvSpPr txBox="1"/>
          <p:nvPr/>
        </p:nvSpPr>
        <p:spPr>
          <a:xfrm>
            <a:off x="2926079" y="4001946"/>
            <a:ext cx="20574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RAG / Retrieval</a:t>
            </a:r>
          </a:p>
        </p:txBody>
      </p:sp>
      <p:sp>
        <p:nvSpPr>
          <p:cNvPr id="427" name="TextBox 48"/>
          <p:cNvSpPr txBox="1"/>
          <p:nvPr/>
        </p:nvSpPr>
        <p:spPr>
          <a:xfrm>
            <a:off x="2926079" y="4434840"/>
            <a:ext cx="205740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Hybrid (BM25 + dense)</a:t>
            </a:r>
          </a:p>
        </p:txBody>
      </p:sp>
      <p:sp>
        <p:nvSpPr>
          <p:cNvPr id="428" name="TextBox 49"/>
          <p:cNvSpPr txBox="1"/>
          <p:nvPr/>
        </p:nvSpPr>
        <p:spPr>
          <a:xfrm>
            <a:off x="2926079" y="5303520"/>
            <a:ext cx="20574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C1441E"/>
                </a:solidFill>
              </a:defRPr>
            </a:lvl1pPr>
          </a:lstStyle>
          <a:p>
            <a:pPr/>
            <a:r>
              <a:t>Consumers</a:t>
            </a:r>
          </a:p>
        </p:txBody>
      </p:sp>
      <p:sp>
        <p:nvSpPr>
          <p:cNvPr id="429" name="TextBox 50"/>
          <p:cNvSpPr txBox="1"/>
          <p:nvPr/>
        </p:nvSpPr>
        <p:spPr>
          <a:xfrm>
            <a:off x="2926079" y="5577840"/>
            <a:ext cx="205740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102A43"/>
                </a:solidFill>
              </a:defRPr>
            </a:lvl1pPr>
          </a:lstStyle>
          <a:p>
            <a:pPr/>
            <a:r>
              <a:t>Conv. AI · Tech Sup.</a:t>
            </a:r>
          </a:p>
        </p:txBody>
      </p:sp>
      <p:sp>
        <p:nvSpPr>
          <p:cNvPr id="430" name="Rectangle 51"/>
          <p:cNvSpPr/>
          <p:nvPr/>
        </p:nvSpPr>
        <p:spPr>
          <a:xfrm>
            <a:off x="5166359" y="3886199"/>
            <a:ext cx="2240281" cy="233172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1" name="Rectangle 52"/>
          <p:cNvSpPr/>
          <p:nvPr/>
        </p:nvSpPr>
        <p:spPr>
          <a:xfrm>
            <a:off x="5166359" y="3886200"/>
            <a:ext cx="2240281" cy="457200"/>
          </a:xfrm>
          <a:prstGeom prst="rect">
            <a:avLst/>
          </a:prstGeom>
          <a:solidFill>
            <a:srgbClr val="E6834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2" name="TextBox 53"/>
          <p:cNvSpPr txBox="1"/>
          <p:nvPr/>
        </p:nvSpPr>
        <p:spPr>
          <a:xfrm>
            <a:off x="5257800" y="4001946"/>
            <a:ext cx="205740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Speech (ASR / TTS)</a:t>
            </a:r>
          </a:p>
        </p:txBody>
      </p:sp>
      <p:sp>
        <p:nvSpPr>
          <p:cNvPr id="433" name="TextBox 54"/>
          <p:cNvSpPr txBox="1"/>
          <p:nvPr/>
        </p:nvSpPr>
        <p:spPr>
          <a:xfrm>
            <a:off x="5257800" y="4434840"/>
            <a:ext cx="2057400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Streaming</a:t>
            </a:r>
          </a:p>
        </p:txBody>
      </p:sp>
      <p:sp>
        <p:nvSpPr>
          <p:cNvPr id="434" name="TextBox 55"/>
          <p:cNvSpPr txBox="1"/>
          <p:nvPr/>
        </p:nvSpPr>
        <p:spPr>
          <a:xfrm>
            <a:off x="5257800" y="5303520"/>
            <a:ext cx="2057400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C1441E"/>
                </a:solidFill>
              </a:defRPr>
            </a:lvl1pPr>
          </a:lstStyle>
          <a:p>
            <a:pPr/>
            <a:r>
              <a:t>Consumers</a:t>
            </a:r>
          </a:p>
        </p:txBody>
      </p:sp>
      <p:sp>
        <p:nvSpPr>
          <p:cNvPr id="435" name="TextBox 56"/>
          <p:cNvSpPr txBox="1"/>
          <p:nvPr/>
        </p:nvSpPr>
        <p:spPr>
          <a:xfrm>
            <a:off x="5257800" y="5577840"/>
            <a:ext cx="205740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102A43"/>
                </a:solidFill>
              </a:defRPr>
            </a:lvl1pPr>
          </a:lstStyle>
          <a:p>
            <a:pPr/>
            <a:r>
              <a:t>Voice · Bay Tablet</a:t>
            </a:r>
          </a:p>
        </p:txBody>
      </p:sp>
      <p:sp>
        <p:nvSpPr>
          <p:cNvPr id="436" name="Rectangle 57"/>
          <p:cNvSpPr/>
          <p:nvPr/>
        </p:nvSpPr>
        <p:spPr>
          <a:xfrm>
            <a:off x="7498080" y="3886199"/>
            <a:ext cx="2240281" cy="233172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7" name="Rectangle 58"/>
          <p:cNvSpPr/>
          <p:nvPr/>
        </p:nvSpPr>
        <p:spPr>
          <a:xfrm>
            <a:off x="7498080" y="3886200"/>
            <a:ext cx="2240281" cy="457200"/>
          </a:xfrm>
          <a:prstGeom prst="rect">
            <a:avLst/>
          </a:prstGeom>
          <a:solidFill>
            <a:srgbClr val="1F4D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8" name="TextBox 59"/>
          <p:cNvSpPr txBox="1"/>
          <p:nvPr/>
        </p:nvSpPr>
        <p:spPr>
          <a:xfrm>
            <a:off x="7589519" y="4001946"/>
            <a:ext cx="20574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Foundation LLMs</a:t>
            </a:r>
          </a:p>
        </p:txBody>
      </p:sp>
      <p:sp>
        <p:nvSpPr>
          <p:cNvPr id="439" name="TextBox 60"/>
          <p:cNvSpPr txBox="1"/>
          <p:nvPr/>
        </p:nvSpPr>
        <p:spPr>
          <a:xfrm>
            <a:off x="7589519" y="4434840"/>
            <a:ext cx="2057401" cy="393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Multi-vendor: Anthropic, OpenAI, open-weight</a:t>
            </a:r>
          </a:p>
        </p:txBody>
      </p:sp>
      <p:sp>
        <p:nvSpPr>
          <p:cNvPr id="440" name="TextBox 61"/>
          <p:cNvSpPr txBox="1"/>
          <p:nvPr/>
        </p:nvSpPr>
        <p:spPr>
          <a:xfrm>
            <a:off x="7589519" y="5303520"/>
            <a:ext cx="20574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C1441E"/>
                </a:solidFill>
              </a:defRPr>
            </a:lvl1pPr>
          </a:lstStyle>
          <a:p>
            <a:pPr/>
            <a:r>
              <a:t>Consumers</a:t>
            </a:r>
          </a:p>
        </p:txBody>
      </p:sp>
      <p:sp>
        <p:nvSpPr>
          <p:cNvPr id="441" name="TextBox 62"/>
          <p:cNvSpPr txBox="1"/>
          <p:nvPr/>
        </p:nvSpPr>
        <p:spPr>
          <a:xfrm>
            <a:off x="7589519" y="5577840"/>
            <a:ext cx="205740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102A43"/>
                </a:solidFill>
              </a:defRPr>
            </a:lvl1pPr>
          </a:lstStyle>
          <a:p>
            <a:pPr/>
            <a:r>
              <a:t>All agents (via Router)</a:t>
            </a:r>
          </a:p>
        </p:txBody>
      </p:sp>
      <p:sp>
        <p:nvSpPr>
          <p:cNvPr id="442" name="Rectangle 63"/>
          <p:cNvSpPr/>
          <p:nvPr/>
        </p:nvSpPr>
        <p:spPr>
          <a:xfrm>
            <a:off x="9829800" y="3886199"/>
            <a:ext cx="2240280" cy="233172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3" name="Rectangle 64"/>
          <p:cNvSpPr/>
          <p:nvPr/>
        </p:nvSpPr>
        <p:spPr>
          <a:xfrm>
            <a:off x="9829800" y="3886200"/>
            <a:ext cx="2240280" cy="457200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4" name="TextBox 65"/>
          <p:cNvSpPr txBox="1"/>
          <p:nvPr/>
        </p:nvSpPr>
        <p:spPr>
          <a:xfrm>
            <a:off x="9921240" y="4001946"/>
            <a:ext cx="20574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Eval-as-a-Service</a:t>
            </a:r>
          </a:p>
        </p:txBody>
      </p:sp>
      <p:sp>
        <p:nvSpPr>
          <p:cNvPr id="445" name="TextBox 66"/>
          <p:cNvSpPr txBox="1"/>
          <p:nvPr/>
        </p:nvSpPr>
        <p:spPr>
          <a:xfrm>
            <a:off x="9921240" y="4434840"/>
            <a:ext cx="205740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Golden sets + LLM-judge</a:t>
            </a:r>
          </a:p>
        </p:txBody>
      </p:sp>
      <p:sp>
        <p:nvSpPr>
          <p:cNvPr id="446" name="TextBox 67"/>
          <p:cNvSpPr txBox="1"/>
          <p:nvPr/>
        </p:nvSpPr>
        <p:spPr>
          <a:xfrm>
            <a:off x="9921240" y="5303520"/>
            <a:ext cx="20574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C1441E"/>
                </a:solidFill>
              </a:defRPr>
            </a:lvl1pPr>
          </a:lstStyle>
          <a:p>
            <a:pPr/>
            <a:r>
              <a:t>Consumers</a:t>
            </a:r>
          </a:p>
        </p:txBody>
      </p:sp>
      <p:sp>
        <p:nvSpPr>
          <p:cNvPr id="447" name="TextBox 68"/>
          <p:cNvSpPr txBox="1"/>
          <p:nvPr/>
        </p:nvSpPr>
        <p:spPr>
          <a:xfrm>
            <a:off x="9921240" y="5577840"/>
            <a:ext cx="205740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102A43"/>
                </a:solidFill>
              </a:defRPr>
            </a:lvl1pPr>
          </a:lstStyle>
          <a:p>
            <a:pPr/>
            <a:r>
              <a:t>All agents (CI gate)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0" name="Rectangle 2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1" name="Rectangle 3"/>
          <p:cNvSpPr/>
          <p:nvPr/>
        </p:nvSpPr>
        <p:spPr>
          <a:xfrm>
            <a:off x="-1" y="6565392"/>
            <a:ext cx="12191697" cy="292609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2" name="TextBox 4"/>
          <p:cNvSpPr txBox="1"/>
          <p:nvPr/>
        </p:nvSpPr>
        <p:spPr>
          <a:xfrm>
            <a:off x="365759" y="6583680"/>
            <a:ext cx="73152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FFFFFF"/>
                </a:solidFill>
              </a:defRPr>
            </a:lvl1pPr>
          </a:lstStyle>
          <a:p>
            <a:pPr/>
            <a:r>
              <a:t>Camping World · Agentic AI Solution Architecture Blueprint v1.0</a:t>
            </a:r>
          </a:p>
        </p:txBody>
      </p:sp>
      <p:sp>
        <p:nvSpPr>
          <p:cNvPr id="453" name="TextBox 5"/>
          <p:cNvSpPr txBox="1"/>
          <p:nvPr/>
        </p:nvSpPr>
        <p:spPr>
          <a:xfrm>
            <a:off x="10332719" y="6583680"/>
            <a:ext cx="18288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/>
            <a:r>
              <a:t>9 / 30</a:t>
            </a:r>
          </a:p>
        </p:txBody>
      </p:sp>
      <p:sp>
        <p:nvSpPr>
          <p:cNvPr id="454" name="TextBox 6"/>
          <p:cNvSpPr txBox="1"/>
          <p:nvPr/>
        </p:nvSpPr>
        <p:spPr>
          <a:xfrm>
            <a:off x="502919" y="274320"/>
            <a:ext cx="1097280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C1441E"/>
                </a:solidFill>
              </a:defRPr>
            </a:lvl1pPr>
          </a:lstStyle>
          <a:p>
            <a:pPr/>
            <a:r>
              <a:t>LAYER L4</a:t>
            </a:r>
          </a:p>
        </p:txBody>
      </p:sp>
      <p:sp>
        <p:nvSpPr>
          <p:cNvPr id="455" name="TextBox 7"/>
          <p:cNvSpPr txBox="1"/>
          <p:nvPr/>
        </p:nvSpPr>
        <p:spPr>
          <a:xfrm>
            <a:off x="502919" y="502919"/>
            <a:ext cx="1124712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102A43"/>
                </a:solidFill>
              </a:defRPr>
            </a:lvl1pPr>
          </a:lstStyle>
          <a:p>
            <a:pPr/>
            <a:r>
              <a:t>Data Foundation — Customer 360 &amp; Vehicle 360</a:t>
            </a:r>
          </a:p>
        </p:txBody>
      </p:sp>
      <p:sp>
        <p:nvSpPr>
          <p:cNvPr id="456" name="Rectangle 8"/>
          <p:cNvSpPr/>
          <p:nvPr/>
        </p:nvSpPr>
        <p:spPr>
          <a:xfrm>
            <a:off x="502919" y="1097280"/>
            <a:ext cx="548641" cy="36577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7" name="Rectangle 9"/>
          <p:cNvSpPr/>
          <p:nvPr/>
        </p:nvSpPr>
        <p:spPr>
          <a:xfrm>
            <a:off x="502919" y="1417319"/>
            <a:ext cx="5577842" cy="484632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8" name="Rectangle 10"/>
          <p:cNvSpPr/>
          <p:nvPr/>
        </p:nvSpPr>
        <p:spPr>
          <a:xfrm>
            <a:off x="502919" y="1417319"/>
            <a:ext cx="5577842" cy="640081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9" name="TextBox 11"/>
          <p:cNvSpPr txBox="1"/>
          <p:nvPr/>
        </p:nvSpPr>
        <p:spPr>
          <a:xfrm>
            <a:off x="731519" y="1593675"/>
            <a:ext cx="5120642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Customer 360</a:t>
            </a:r>
          </a:p>
        </p:txBody>
      </p:sp>
      <p:sp>
        <p:nvSpPr>
          <p:cNvPr id="460" name="TextBox 12"/>
          <p:cNvSpPr txBox="1"/>
          <p:nvPr/>
        </p:nvSpPr>
        <p:spPr>
          <a:xfrm>
            <a:off x="4709159" y="1645964"/>
            <a:ext cx="118872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b="1" sz="1000">
                <a:solidFill>
                  <a:srgbClr val="F1E6CB"/>
                </a:solidFill>
              </a:defRPr>
            </a:lvl1pPr>
          </a:lstStyle>
          <a:p>
            <a:pPr/>
            <a:r>
              <a:t>GA — 2026 Q3</a:t>
            </a:r>
          </a:p>
        </p:txBody>
      </p:sp>
      <p:sp>
        <p:nvSpPr>
          <p:cNvPr id="461" name="TextBox 13"/>
          <p:cNvSpPr txBox="1"/>
          <p:nvPr/>
        </p:nvSpPr>
        <p:spPr>
          <a:xfrm>
            <a:off x="731519" y="2194560"/>
            <a:ext cx="512064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100">
                <a:solidFill>
                  <a:srgbClr val="36454F"/>
                </a:solidFill>
              </a:defRPr>
            </a:lvl1pPr>
          </a:lstStyle>
          <a:p>
            <a:pPr/>
            <a:r>
              <a:t>Informatica IDMC golden record</a:t>
            </a:r>
          </a:p>
        </p:txBody>
      </p:sp>
      <p:sp>
        <p:nvSpPr>
          <p:cNvPr id="462" name="Rectangle 14"/>
          <p:cNvSpPr/>
          <p:nvPr/>
        </p:nvSpPr>
        <p:spPr>
          <a:xfrm>
            <a:off x="731519" y="2651760"/>
            <a:ext cx="91441" cy="320041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3" name="TextBox 15"/>
          <p:cNvSpPr txBox="1"/>
          <p:nvPr/>
        </p:nvSpPr>
        <p:spPr>
          <a:xfrm>
            <a:off x="960119" y="2651760"/>
            <a:ext cx="493776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02A43"/>
                </a:solidFill>
              </a:defRPr>
            </a:lvl1pPr>
          </a:lstStyle>
          <a:p>
            <a:pPr/>
            <a:r>
              <a:t>~29M consolidated person/household records</a:t>
            </a:r>
          </a:p>
        </p:txBody>
      </p:sp>
      <p:sp>
        <p:nvSpPr>
          <p:cNvPr id="464" name="Rectangle 16"/>
          <p:cNvSpPr/>
          <p:nvPr/>
        </p:nvSpPr>
        <p:spPr>
          <a:xfrm>
            <a:off x="731519" y="3108960"/>
            <a:ext cx="91441" cy="320041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5" name="TextBox 17"/>
          <p:cNvSpPr txBox="1"/>
          <p:nvPr/>
        </p:nvSpPr>
        <p:spPr>
          <a:xfrm>
            <a:off x="960119" y="3108960"/>
            <a:ext cx="493776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02A43"/>
                </a:solidFill>
              </a:defRPr>
            </a:lvl1pPr>
          </a:lstStyle>
          <a:p>
            <a:pPr/>
            <a:r>
              <a:t>Identity resolution &lt; 5 min after source change</a:t>
            </a:r>
          </a:p>
        </p:txBody>
      </p:sp>
      <p:sp>
        <p:nvSpPr>
          <p:cNvPr id="466" name="Rectangle 18"/>
          <p:cNvSpPr/>
          <p:nvPr/>
        </p:nvSpPr>
        <p:spPr>
          <a:xfrm>
            <a:off x="731519" y="3566159"/>
            <a:ext cx="91441" cy="320041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7" name="TextBox 19"/>
          <p:cNvSpPr txBox="1"/>
          <p:nvPr/>
        </p:nvSpPr>
        <p:spPr>
          <a:xfrm>
            <a:off x="960119" y="3566159"/>
            <a:ext cx="493776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02A43"/>
                </a:solidFill>
              </a:defRPr>
            </a:lvl1pPr>
          </a:lstStyle>
          <a:p>
            <a:pPr/>
            <a:r>
              <a:t>Materialized consent state inline with identity</a:t>
            </a:r>
          </a:p>
        </p:txBody>
      </p:sp>
      <p:sp>
        <p:nvSpPr>
          <p:cNvPr id="468" name="Rectangle 20"/>
          <p:cNvSpPr/>
          <p:nvPr/>
        </p:nvSpPr>
        <p:spPr>
          <a:xfrm>
            <a:off x="731519" y="4023359"/>
            <a:ext cx="91441" cy="320041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9" name="TextBox 21"/>
          <p:cNvSpPr txBox="1"/>
          <p:nvPr/>
        </p:nvSpPr>
        <p:spPr>
          <a:xfrm>
            <a:off x="960119" y="4023359"/>
            <a:ext cx="493776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02A43"/>
                </a:solidFill>
              </a:defRPr>
            </a:lvl1pPr>
          </a:lstStyle>
          <a:p>
            <a:pPr/>
            <a:r>
              <a:t>Keyed by golden_id — every agent uses it</a:t>
            </a:r>
          </a:p>
        </p:txBody>
      </p:sp>
      <p:sp>
        <p:nvSpPr>
          <p:cNvPr id="470" name="Rectangle 22"/>
          <p:cNvSpPr/>
          <p:nvPr/>
        </p:nvSpPr>
        <p:spPr>
          <a:xfrm>
            <a:off x="731519" y="4480559"/>
            <a:ext cx="91441" cy="320041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1" name="TextBox 23"/>
          <p:cNvSpPr txBox="1"/>
          <p:nvPr/>
        </p:nvSpPr>
        <p:spPr>
          <a:xfrm>
            <a:off x="960119" y="4480559"/>
            <a:ext cx="493776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02A43"/>
                </a:solidFill>
              </a:defRPr>
            </a:lvl1pPr>
          </a:lstStyle>
          <a:p>
            <a:pPr/>
            <a:r>
              <a:t>Marketing performance, journeys join here</a:t>
            </a:r>
          </a:p>
        </p:txBody>
      </p:sp>
      <p:sp>
        <p:nvSpPr>
          <p:cNvPr id="472" name="Rectangle 24"/>
          <p:cNvSpPr/>
          <p:nvPr/>
        </p:nvSpPr>
        <p:spPr>
          <a:xfrm>
            <a:off x="731519" y="4937759"/>
            <a:ext cx="91441" cy="320041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3" name="TextBox 25"/>
          <p:cNvSpPr txBox="1"/>
          <p:nvPr/>
        </p:nvSpPr>
        <p:spPr>
          <a:xfrm>
            <a:off x="960119" y="4937759"/>
            <a:ext cx="493776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02A43"/>
                </a:solidFill>
              </a:defRPr>
            </a:lvl1pPr>
          </a:lstStyle>
          <a:p>
            <a:pPr/>
            <a:r>
              <a:t>Member preferences, household graph</a:t>
            </a:r>
          </a:p>
        </p:txBody>
      </p:sp>
      <p:sp>
        <p:nvSpPr>
          <p:cNvPr id="474" name="Rectangle 26"/>
          <p:cNvSpPr/>
          <p:nvPr/>
        </p:nvSpPr>
        <p:spPr>
          <a:xfrm>
            <a:off x="731519" y="5394959"/>
            <a:ext cx="91441" cy="320041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5" name="TextBox 27"/>
          <p:cNvSpPr txBox="1"/>
          <p:nvPr/>
        </p:nvSpPr>
        <p:spPr>
          <a:xfrm>
            <a:off x="960119" y="5394959"/>
            <a:ext cx="493776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02A43"/>
                </a:solidFill>
              </a:defRPr>
            </a:lvl1pPr>
          </a:lstStyle>
          <a:p>
            <a:pPr/>
            <a:r>
              <a:t>PII-redaction &amp; data export skills built in</a:t>
            </a:r>
          </a:p>
        </p:txBody>
      </p:sp>
      <p:sp>
        <p:nvSpPr>
          <p:cNvPr id="476" name="Rectangle 28"/>
          <p:cNvSpPr/>
          <p:nvPr/>
        </p:nvSpPr>
        <p:spPr>
          <a:xfrm>
            <a:off x="6263640" y="1417319"/>
            <a:ext cx="5486401" cy="484632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7" name="Rectangle 29"/>
          <p:cNvSpPr/>
          <p:nvPr/>
        </p:nvSpPr>
        <p:spPr>
          <a:xfrm>
            <a:off x="6263640" y="1417319"/>
            <a:ext cx="5486401" cy="640081"/>
          </a:xfrm>
          <a:prstGeom prst="rect">
            <a:avLst/>
          </a:prstGeom>
          <a:solidFill>
            <a:srgbClr val="1F4D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8" name="TextBox 30"/>
          <p:cNvSpPr txBox="1"/>
          <p:nvPr/>
        </p:nvSpPr>
        <p:spPr>
          <a:xfrm>
            <a:off x="6492240" y="1593675"/>
            <a:ext cx="5029201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Vehicle 360</a:t>
            </a:r>
          </a:p>
        </p:txBody>
      </p:sp>
      <p:sp>
        <p:nvSpPr>
          <p:cNvPr id="479" name="TextBox 31"/>
          <p:cNvSpPr txBox="1"/>
          <p:nvPr/>
        </p:nvSpPr>
        <p:spPr>
          <a:xfrm>
            <a:off x="10378440" y="1645964"/>
            <a:ext cx="118872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b="1" sz="1000">
                <a:solidFill>
                  <a:srgbClr val="F1E6CB"/>
                </a:solidFill>
              </a:defRPr>
            </a:lvl1pPr>
          </a:lstStyle>
          <a:p>
            <a:pPr/>
            <a:r>
              <a:t>Build → GA 2026 Q4</a:t>
            </a:r>
          </a:p>
        </p:txBody>
      </p:sp>
      <p:sp>
        <p:nvSpPr>
          <p:cNvPr id="480" name="TextBox 32"/>
          <p:cNvSpPr txBox="1"/>
          <p:nvPr/>
        </p:nvSpPr>
        <p:spPr>
          <a:xfrm>
            <a:off x="6492240" y="2194560"/>
            <a:ext cx="50292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100">
                <a:solidFill>
                  <a:srgbClr val="36454F"/>
                </a:solidFill>
              </a:defRPr>
            </a:lvl1pPr>
          </a:lstStyle>
          <a:p>
            <a:pPr/>
            <a:r>
              <a:t>VIN-keyed unit golden record</a:t>
            </a:r>
          </a:p>
        </p:txBody>
      </p:sp>
      <p:sp>
        <p:nvSpPr>
          <p:cNvPr id="481" name="Rectangle 33"/>
          <p:cNvSpPr/>
          <p:nvPr/>
        </p:nvSpPr>
        <p:spPr>
          <a:xfrm>
            <a:off x="6492240" y="2651760"/>
            <a:ext cx="91441" cy="320041"/>
          </a:xfrm>
          <a:prstGeom prst="rect">
            <a:avLst/>
          </a:prstGeom>
          <a:solidFill>
            <a:srgbClr val="1F4D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2" name="TextBox 34"/>
          <p:cNvSpPr txBox="1"/>
          <p:nvPr/>
        </p:nvSpPr>
        <p:spPr>
          <a:xfrm>
            <a:off x="6720840" y="2651760"/>
            <a:ext cx="484632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02A43"/>
                </a:solidFill>
              </a:defRPr>
            </a:lvl1pPr>
          </a:lstStyle>
          <a:p>
            <a:pPr/>
            <a:r>
              <a:t>Static · Ownership · Health · Usage · Coverage</a:t>
            </a:r>
          </a:p>
        </p:txBody>
      </p:sp>
      <p:sp>
        <p:nvSpPr>
          <p:cNvPr id="483" name="Rectangle 35"/>
          <p:cNvSpPr/>
          <p:nvPr/>
        </p:nvSpPr>
        <p:spPr>
          <a:xfrm>
            <a:off x="6492240" y="3108960"/>
            <a:ext cx="91441" cy="320041"/>
          </a:xfrm>
          <a:prstGeom prst="rect">
            <a:avLst/>
          </a:prstGeom>
          <a:solidFill>
            <a:srgbClr val="1F4D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4" name="TextBox 36"/>
          <p:cNvSpPr txBox="1"/>
          <p:nvPr/>
        </p:nvSpPr>
        <p:spPr>
          <a:xfrm>
            <a:off x="6720840" y="3108960"/>
            <a:ext cx="484632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02A43"/>
                </a:solidFill>
              </a:defRPr>
            </a:lvl1pPr>
          </a:lstStyle>
          <a:p>
            <a:pPr/>
            <a:r>
              <a:t>Streaming telemetry into health attributes</a:t>
            </a:r>
          </a:p>
        </p:txBody>
      </p:sp>
      <p:sp>
        <p:nvSpPr>
          <p:cNvPr id="485" name="Rectangle 37"/>
          <p:cNvSpPr/>
          <p:nvPr/>
        </p:nvSpPr>
        <p:spPr>
          <a:xfrm>
            <a:off x="6492240" y="3566159"/>
            <a:ext cx="91441" cy="320041"/>
          </a:xfrm>
          <a:prstGeom prst="rect">
            <a:avLst/>
          </a:prstGeom>
          <a:solidFill>
            <a:srgbClr val="1F4D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6" name="TextBox 38"/>
          <p:cNvSpPr txBox="1"/>
          <p:nvPr/>
        </p:nvSpPr>
        <p:spPr>
          <a:xfrm>
            <a:off x="6720840" y="3566159"/>
            <a:ext cx="484632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02A43"/>
                </a:solidFill>
              </a:defRPr>
            </a:lvl1pPr>
          </a:lstStyle>
          <a:p>
            <a:pPr/>
            <a:r>
              <a:t>Recall &amp; TSB feeds reconciled in flight</a:t>
            </a:r>
          </a:p>
        </p:txBody>
      </p:sp>
      <p:sp>
        <p:nvSpPr>
          <p:cNvPr id="487" name="Rectangle 39"/>
          <p:cNvSpPr/>
          <p:nvPr/>
        </p:nvSpPr>
        <p:spPr>
          <a:xfrm>
            <a:off x="6492240" y="4023359"/>
            <a:ext cx="91441" cy="320041"/>
          </a:xfrm>
          <a:prstGeom prst="rect">
            <a:avLst/>
          </a:prstGeom>
          <a:solidFill>
            <a:srgbClr val="1F4D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8" name="TextBox 40"/>
          <p:cNvSpPr txBox="1"/>
          <p:nvPr/>
        </p:nvSpPr>
        <p:spPr>
          <a:xfrm>
            <a:off x="6720840" y="4023359"/>
            <a:ext cx="484632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02A43"/>
                </a:solidFill>
              </a:defRPr>
            </a:lvl1pPr>
          </a:lstStyle>
          <a:p>
            <a:pPr/>
            <a:r>
              <a:t>ESP coverage status materialized</a:t>
            </a:r>
          </a:p>
        </p:txBody>
      </p:sp>
      <p:sp>
        <p:nvSpPr>
          <p:cNvPr id="489" name="Rectangle 41"/>
          <p:cNvSpPr/>
          <p:nvPr/>
        </p:nvSpPr>
        <p:spPr>
          <a:xfrm>
            <a:off x="6492240" y="4480559"/>
            <a:ext cx="91441" cy="320041"/>
          </a:xfrm>
          <a:prstGeom prst="rect">
            <a:avLst/>
          </a:prstGeom>
          <a:solidFill>
            <a:srgbClr val="1F4D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0" name="TextBox 42"/>
          <p:cNvSpPr txBox="1"/>
          <p:nvPr/>
        </p:nvSpPr>
        <p:spPr>
          <a:xfrm>
            <a:off x="6720840" y="4480559"/>
            <a:ext cx="484632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02A43"/>
                </a:solidFill>
              </a:defRPr>
            </a:lvl1pPr>
          </a:lstStyle>
          <a:p>
            <a:pPr/>
            <a:r>
              <a:t>Update SLA &lt; 15 min from event</a:t>
            </a:r>
          </a:p>
        </p:txBody>
      </p:sp>
      <p:sp>
        <p:nvSpPr>
          <p:cNvPr id="491" name="Rectangle 43"/>
          <p:cNvSpPr/>
          <p:nvPr/>
        </p:nvSpPr>
        <p:spPr>
          <a:xfrm>
            <a:off x="6492240" y="4937759"/>
            <a:ext cx="91441" cy="320041"/>
          </a:xfrm>
          <a:prstGeom prst="rect">
            <a:avLst/>
          </a:prstGeom>
          <a:solidFill>
            <a:srgbClr val="1F4D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2" name="TextBox 44"/>
          <p:cNvSpPr txBox="1"/>
          <p:nvPr/>
        </p:nvSpPr>
        <p:spPr>
          <a:xfrm>
            <a:off x="6720840" y="4937759"/>
            <a:ext cx="484632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02A43"/>
                </a:solidFill>
              </a:defRPr>
            </a:lvl1pPr>
          </a:lstStyle>
          <a:p>
            <a:pPr/>
            <a:r>
              <a:t>Substrate for predictive service &amp; lifecycle marketing</a:t>
            </a:r>
          </a:p>
        </p:txBody>
      </p:sp>
      <p:sp>
        <p:nvSpPr>
          <p:cNvPr id="493" name="Rectangle 45"/>
          <p:cNvSpPr/>
          <p:nvPr/>
        </p:nvSpPr>
        <p:spPr>
          <a:xfrm>
            <a:off x="6492240" y="5394959"/>
            <a:ext cx="91441" cy="320041"/>
          </a:xfrm>
          <a:prstGeom prst="rect">
            <a:avLst/>
          </a:prstGeom>
          <a:solidFill>
            <a:srgbClr val="1F4D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4" name="TextBox 46"/>
          <p:cNvSpPr txBox="1"/>
          <p:nvPr/>
        </p:nvSpPr>
        <p:spPr>
          <a:xfrm>
            <a:off x="6720840" y="5394959"/>
            <a:ext cx="484632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02A43"/>
                </a:solidFill>
              </a:defRPr>
            </a:lvl1pPr>
          </a:lstStyle>
          <a:p>
            <a:pPr/>
            <a:r>
              <a:t>GA target — 2026 Q4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7" name="Rectangle 2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8" name="Rectangle 3"/>
          <p:cNvSpPr/>
          <p:nvPr/>
        </p:nvSpPr>
        <p:spPr>
          <a:xfrm>
            <a:off x="-1" y="6565392"/>
            <a:ext cx="12191697" cy="292609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9" name="TextBox 4"/>
          <p:cNvSpPr txBox="1"/>
          <p:nvPr/>
        </p:nvSpPr>
        <p:spPr>
          <a:xfrm>
            <a:off x="365759" y="6583680"/>
            <a:ext cx="73152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FFFFFF"/>
                </a:solidFill>
              </a:defRPr>
            </a:lvl1pPr>
          </a:lstStyle>
          <a:p>
            <a:pPr/>
            <a:r>
              <a:t>Camping World · Agentic AI Solution Architecture Blueprint v1.0</a:t>
            </a:r>
          </a:p>
        </p:txBody>
      </p:sp>
      <p:sp>
        <p:nvSpPr>
          <p:cNvPr id="500" name="TextBox 5"/>
          <p:cNvSpPr txBox="1"/>
          <p:nvPr/>
        </p:nvSpPr>
        <p:spPr>
          <a:xfrm>
            <a:off x="10332719" y="6583680"/>
            <a:ext cx="18288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/>
            <a:r>
              <a:t>10 / 30</a:t>
            </a:r>
          </a:p>
        </p:txBody>
      </p:sp>
      <p:sp>
        <p:nvSpPr>
          <p:cNvPr id="501" name="TextBox 6"/>
          <p:cNvSpPr txBox="1"/>
          <p:nvPr/>
        </p:nvSpPr>
        <p:spPr>
          <a:xfrm>
            <a:off x="502919" y="274320"/>
            <a:ext cx="1097280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C1441E"/>
                </a:solidFill>
              </a:defRPr>
            </a:lvl1pPr>
          </a:lstStyle>
          <a:p>
            <a:pPr/>
            <a:r>
              <a:t>LAYER L5</a:t>
            </a:r>
          </a:p>
        </p:txBody>
      </p:sp>
      <p:sp>
        <p:nvSpPr>
          <p:cNvPr id="502" name="TextBox 7"/>
          <p:cNvSpPr txBox="1"/>
          <p:nvPr/>
        </p:nvSpPr>
        <p:spPr>
          <a:xfrm>
            <a:off x="502919" y="502919"/>
            <a:ext cx="1124712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102A43"/>
                </a:solidFill>
              </a:defRPr>
            </a:lvl1pPr>
          </a:lstStyle>
          <a:p>
            <a:pPr/>
            <a:r>
              <a:t>Integration &amp; Event Backbone — Three Planes</a:t>
            </a:r>
          </a:p>
        </p:txBody>
      </p:sp>
      <p:sp>
        <p:nvSpPr>
          <p:cNvPr id="503" name="Rectangle 8"/>
          <p:cNvSpPr/>
          <p:nvPr/>
        </p:nvSpPr>
        <p:spPr>
          <a:xfrm>
            <a:off x="502919" y="1097280"/>
            <a:ext cx="548641" cy="36577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4" name="Rectangle 9"/>
          <p:cNvSpPr/>
          <p:nvPr/>
        </p:nvSpPr>
        <p:spPr>
          <a:xfrm>
            <a:off x="502919" y="1463039"/>
            <a:ext cx="11247122" cy="12344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5" name="Rectangle 10"/>
          <p:cNvSpPr/>
          <p:nvPr/>
        </p:nvSpPr>
        <p:spPr>
          <a:xfrm>
            <a:off x="502919" y="1463039"/>
            <a:ext cx="164593" cy="1234441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6" name="TextBox 11"/>
          <p:cNvSpPr txBox="1"/>
          <p:nvPr/>
        </p:nvSpPr>
        <p:spPr>
          <a:xfrm>
            <a:off x="777239" y="1600200"/>
            <a:ext cx="256032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02A43"/>
                </a:solidFill>
              </a:defRPr>
            </a:lvl1pPr>
          </a:lstStyle>
          <a:p>
            <a:pPr/>
            <a:r>
              <a:t>Synchronous API</a:t>
            </a:r>
          </a:p>
        </p:txBody>
      </p:sp>
      <p:sp>
        <p:nvSpPr>
          <p:cNvPr id="507" name="TextBox 12"/>
          <p:cNvSpPr txBox="1"/>
          <p:nvPr/>
        </p:nvSpPr>
        <p:spPr>
          <a:xfrm>
            <a:off x="777239" y="2057399"/>
            <a:ext cx="256032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100">
                <a:solidFill>
                  <a:srgbClr val="36454F"/>
                </a:solidFill>
              </a:defRPr>
            </a:lvl1pPr>
          </a:lstStyle>
          <a:p>
            <a:pPr/>
            <a:r>
              <a:t>Member/employee req-resp</a:t>
            </a:r>
          </a:p>
        </p:txBody>
      </p:sp>
      <p:sp>
        <p:nvSpPr>
          <p:cNvPr id="508" name="TextBox 13"/>
          <p:cNvSpPr txBox="1"/>
          <p:nvPr/>
        </p:nvSpPr>
        <p:spPr>
          <a:xfrm>
            <a:off x="3657599" y="1645920"/>
            <a:ext cx="8229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C1441E"/>
                </a:solidFill>
              </a:defRPr>
            </a:lvl1pPr>
          </a:lstStyle>
          <a:p>
            <a:pPr/>
            <a:r>
              <a:t>TECH</a:t>
            </a:r>
          </a:p>
        </p:txBody>
      </p:sp>
      <p:sp>
        <p:nvSpPr>
          <p:cNvPr id="509" name="TextBox 14"/>
          <p:cNvSpPr txBox="1"/>
          <p:nvPr/>
        </p:nvSpPr>
        <p:spPr>
          <a:xfrm>
            <a:off x="3657600" y="1920239"/>
            <a:ext cx="411480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02A43"/>
                </a:solidFill>
              </a:defRPr>
            </a:lvl1pPr>
          </a:lstStyle>
          <a:p>
            <a:pPr/>
            <a:r>
              <a:t>Apigee + Envoy mesh</a:t>
            </a:r>
          </a:p>
        </p:txBody>
      </p:sp>
      <p:sp>
        <p:nvSpPr>
          <p:cNvPr id="510" name="TextBox 15"/>
          <p:cNvSpPr txBox="1"/>
          <p:nvPr/>
        </p:nvSpPr>
        <p:spPr>
          <a:xfrm>
            <a:off x="7772399" y="1645920"/>
            <a:ext cx="8229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C1441E"/>
                </a:solidFill>
              </a:defRPr>
            </a:lvl1pPr>
          </a:lstStyle>
          <a:p>
            <a:pPr/>
            <a:r>
              <a:t>SLA</a:t>
            </a:r>
          </a:p>
        </p:txBody>
      </p:sp>
      <p:sp>
        <p:nvSpPr>
          <p:cNvPr id="511" name="TextBox 16"/>
          <p:cNvSpPr txBox="1"/>
          <p:nvPr/>
        </p:nvSpPr>
        <p:spPr>
          <a:xfrm>
            <a:off x="7772400" y="1920239"/>
            <a:ext cx="365760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02A43"/>
                </a:solidFill>
              </a:defRPr>
            </a:lvl1pPr>
          </a:lstStyle>
          <a:p>
            <a:pPr/>
            <a:r>
              <a:t>p95 &lt; 250 ms</a:t>
            </a:r>
          </a:p>
        </p:txBody>
      </p:sp>
      <p:sp>
        <p:nvSpPr>
          <p:cNvPr id="512" name="Rectangle 17"/>
          <p:cNvSpPr/>
          <p:nvPr/>
        </p:nvSpPr>
        <p:spPr>
          <a:xfrm>
            <a:off x="502919" y="2880360"/>
            <a:ext cx="11247122" cy="12344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3" name="Rectangle 18"/>
          <p:cNvSpPr/>
          <p:nvPr/>
        </p:nvSpPr>
        <p:spPr>
          <a:xfrm>
            <a:off x="502919" y="2880360"/>
            <a:ext cx="164593" cy="1234441"/>
          </a:xfrm>
          <a:prstGeom prst="rect">
            <a:avLst/>
          </a:prstGeom>
          <a:solidFill>
            <a:srgbClr val="1F4D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4" name="TextBox 19"/>
          <p:cNvSpPr txBox="1"/>
          <p:nvPr/>
        </p:nvSpPr>
        <p:spPr>
          <a:xfrm>
            <a:off x="777239" y="3017520"/>
            <a:ext cx="256032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02A43"/>
                </a:solidFill>
              </a:defRPr>
            </a:lvl1pPr>
          </a:lstStyle>
          <a:p>
            <a:pPr/>
            <a:r>
              <a:t>Asynchronous Event</a:t>
            </a:r>
          </a:p>
        </p:txBody>
      </p:sp>
      <p:sp>
        <p:nvSpPr>
          <p:cNvPr id="515" name="TextBox 20"/>
          <p:cNvSpPr txBox="1"/>
          <p:nvPr/>
        </p:nvSpPr>
        <p:spPr>
          <a:xfrm>
            <a:off x="777239" y="3474720"/>
            <a:ext cx="256032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100">
                <a:solidFill>
                  <a:srgbClr val="36454F"/>
                </a:solidFill>
              </a:defRPr>
            </a:lvl1pPr>
          </a:lstStyle>
          <a:p>
            <a:pPr/>
            <a:r>
              <a:t>Sense-decide-act loops</a:t>
            </a:r>
          </a:p>
        </p:txBody>
      </p:sp>
      <p:sp>
        <p:nvSpPr>
          <p:cNvPr id="516" name="TextBox 21"/>
          <p:cNvSpPr txBox="1"/>
          <p:nvPr/>
        </p:nvSpPr>
        <p:spPr>
          <a:xfrm>
            <a:off x="3657599" y="3063239"/>
            <a:ext cx="822962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C1441E"/>
                </a:solidFill>
              </a:defRPr>
            </a:lvl1pPr>
          </a:lstStyle>
          <a:p>
            <a:pPr/>
            <a:r>
              <a:t>TECH</a:t>
            </a:r>
          </a:p>
        </p:txBody>
      </p:sp>
      <p:sp>
        <p:nvSpPr>
          <p:cNvPr id="517" name="TextBox 22"/>
          <p:cNvSpPr txBox="1"/>
          <p:nvPr/>
        </p:nvSpPr>
        <p:spPr>
          <a:xfrm>
            <a:off x="3657600" y="3337559"/>
            <a:ext cx="411480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02A43"/>
                </a:solidFill>
              </a:defRPr>
            </a:lvl1pPr>
          </a:lstStyle>
          <a:p>
            <a:pPr/>
            <a:r>
              <a:t>Confluent Kafka · Debezium</a:t>
            </a:r>
          </a:p>
        </p:txBody>
      </p:sp>
      <p:sp>
        <p:nvSpPr>
          <p:cNvPr id="518" name="TextBox 23"/>
          <p:cNvSpPr txBox="1"/>
          <p:nvPr/>
        </p:nvSpPr>
        <p:spPr>
          <a:xfrm>
            <a:off x="7772399" y="3063239"/>
            <a:ext cx="822962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C1441E"/>
                </a:solidFill>
              </a:defRPr>
            </a:lvl1pPr>
          </a:lstStyle>
          <a:p>
            <a:pPr/>
            <a:r>
              <a:t>SLA</a:t>
            </a:r>
          </a:p>
        </p:txBody>
      </p:sp>
      <p:sp>
        <p:nvSpPr>
          <p:cNvPr id="519" name="TextBox 24"/>
          <p:cNvSpPr txBox="1"/>
          <p:nvPr/>
        </p:nvSpPr>
        <p:spPr>
          <a:xfrm>
            <a:off x="7772400" y="3337559"/>
            <a:ext cx="365760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02A43"/>
                </a:solidFill>
              </a:defRPr>
            </a:lvl1pPr>
          </a:lstStyle>
          <a:p>
            <a:pPr/>
            <a:r>
              <a:t>p95 &lt; 2 s e2e</a:t>
            </a:r>
          </a:p>
        </p:txBody>
      </p:sp>
      <p:sp>
        <p:nvSpPr>
          <p:cNvPr id="520" name="Rectangle 25"/>
          <p:cNvSpPr/>
          <p:nvPr/>
        </p:nvSpPr>
        <p:spPr>
          <a:xfrm>
            <a:off x="502919" y="4297679"/>
            <a:ext cx="11247122" cy="12344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1" name="Rectangle 26"/>
          <p:cNvSpPr/>
          <p:nvPr/>
        </p:nvSpPr>
        <p:spPr>
          <a:xfrm>
            <a:off x="502919" y="4297679"/>
            <a:ext cx="164593" cy="1234441"/>
          </a:xfrm>
          <a:prstGeom prst="rect">
            <a:avLst/>
          </a:prstGeom>
          <a:solidFill>
            <a:srgbClr val="E6834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2" name="TextBox 27"/>
          <p:cNvSpPr txBox="1"/>
          <p:nvPr/>
        </p:nvSpPr>
        <p:spPr>
          <a:xfrm>
            <a:off x="777239" y="4434840"/>
            <a:ext cx="256032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02A43"/>
                </a:solidFill>
              </a:defRPr>
            </a:lvl1pPr>
          </a:lstStyle>
          <a:p>
            <a:pPr/>
            <a:r>
              <a:t>Tool Bus (MCP)</a:t>
            </a:r>
          </a:p>
        </p:txBody>
      </p:sp>
      <p:sp>
        <p:nvSpPr>
          <p:cNvPr id="523" name="TextBox 28"/>
          <p:cNvSpPr txBox="1"/>
          <p:nvPr/>
        </p:nvSpPr>
        <p:spPr>
          <a:xfrm>
            <a:off x="777239" y="4892040"/>
            <a:ext cx="256032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100">
                <a:solidFill>
                  <a:srgbClr val="36454F"/>
                </a:solidFill>
              </a:defRPr>
            </a:lvl1pPr>
          </a:lstStyle>
          <a:p>
            <a:pPr/>
            <a:r>
              <a:t>Agent-to-tool exposure</a:t>
            </a:r>
          </a:p>
        </p:txBody>
      </p:sp>
      <p:sp>
        <p:nvSpPr>
          <p:cNvPr id="524" name="TextBox 29"/>
          <p:cNvSpPr txBox="1"/>
          <p:nvPr/>
        </p:nvSpPr>
        <p:spPr>
          <a:xfrm>
            <a:off x="3657599" y="4480559"/>
            <a:ext cx="822962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C1441E"/>
                </a:solidFill>
              </a:defRPr>
            </a:lvl1pPr>
          </a:lstStyle>
          <a:p>
            <a:pPr/>
            <a:r>
              <a:t>TECH</a:t>
            </a:r>
          </a:p>
        </p:txBody>
      </p:sp>
      <p:sp>
        <p:nvSpPr>
          <p:cNvPr id="525" name="TextBox 30"/>
          <p:cNvSpPr txBox="1"/>
          <p:nvPr/>
        </p:nvSpPr>
        <p:spPr>
          <a:xfrm>
            <a:off x="3657600" y="4754879"/>
            <a:ext cx="411480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02A43"/>
                </a:solidFill>
              </a:defRPr>
            </a:lvl1pPr>
          </a:lstStyle>
          <a:p>
            <a:pPr/>
            <a:r>
              <a:t>MCP servers per domain</a:t>
            </a:r>
          </a:p>
        </p:txBody>
      </p:sp>
      <p:sp>
        <p:nvSpPr>
          <p:cNvPr id="526" name="TextBox 31"/>
          <p:cNvSpPr txBox="1"/>
          <p:nvPr/>
        </p:nvSpPr>
        <p:spPr>
          <a:xfrm>
            <a:off x="7772399" y="4480559"/>
            <a:ext cx="822962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C1441E"/>
                </a:solidFill>
              </a:defRPr>
            </a:lvl1pPr>
          </a:lstStyle>
          <a:p>
            <a:pPr/>
            <a:r>
              <a:t>SLA</a:t>
            </a:r>
          </a:p>
        </p:txBody>
      </p:sp>
      <p:sp>
        <p:nvSpPr>
          <p:cNvPr id="527" name="TextBox 32"/>
          <p:cNvSpPr txBox="1"/>
          <p:nvPr/>
        </p:nvSpPr>
        <p:spPr>
          <a:xfrm>
            <a:off x="7772400" y="4754879"/>
            <a:ext cx="365760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02A43"/>
                </a:solidFill>
              </a:defRPr>
            </a:lvl1pPr>
          </a:lstStyle>
          <a:p>
            <a:pPr/>
            <a:r>
              <a:t>p95 &lt; 400 ms</a:t>
            </a:r>
          </a:p>
        </p:txBody>
      </p:sp>
      <p:sp>
        <p:nvSpPr>
          <p:cNvPr id="528" name="Rectangle 33"/>
          <p:cNvSpPr/>
          <p:nvPr/>
        </p:nvSpPr>
        <p:spPr>
          <a:xfrm>
            <a:off x="502919" y="5852159"/>
            <a:ext cx="11247122" cy="594361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9" name="TextBox 34"/>
          <p:cNvSpPr txBox="1"/>
          <p:nvPr/>
        </p:nvSpPr>
        <p:spPr>
          <a:xfrm>
            <a:off x="640080" y="6022770"/>
            <a:ext cx="109728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1E6CB"/>
                </a:solidFill>
              </a:defRPr>
            </a:lvl1pPr>
          </a:lstStyle>
          <a:p>
            <a:pPr/>
            <a:r>
              <a:t>Canonical patterns:  Outbox + CDC  ·  Saga (multi-system actions)  ·  Anti-corruption layer (legacy DMS)  ·  Strangler (off-the-shelf → in-house)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2" name="Rectangle 2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3" name="Rectangle 3"/>
          <p:cNvSpPr/>
          <p:nvPr/>
        </p:nvSpPr>
        <p:spPr>
          <a:xfrm>
            <a:off x="-1" y="6565392"/>
            <a:ext cx="12191697" cy="292609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4" name="TextBox 4"/>
          <p:cNvSpPr txBox="1"/>
          <p:nvPr/>
        </p:nvSpPr>
        <p:spPr>
          <a:xfrm>
            <a:off x="365759" y="6583680"/>
            <a:ext cx="73152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FFFFFF"/>
                </a:solidFill>
              </a:defRPr>
            </a:lvl1pPr>
          </a:lstStyle>
          <a:p>
            <a:pPr/>
            <a:r>
              <a:t>Camping World · Agentic AI Solution Architecture Blueprint v1.0</a:t>
            </a:r>
          </a:p>
        </p:txBody>
      </p:sp>
      <p:sp>
        <p:nvSpPr>
          <p:cNvPr id="535" name="TextBox 5"/>
          <p:cNvSpPr txBox="1"/>
          <p:nvPr/>
        </p:nvSpPr>
        <p:spPr>
          <a:xfrm>
            <a:off x="10332719" y="6583680"/>
            <a:ext cx="18288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/>
            <a:r>
              <a:t>11 / 30</a:t>
            </a:r>
          </a:p>
        </p:txBody>
      </p:sp>
      <p:sp>
        <p:nvSpPr>
          <p:cNvPr id="536" name="TextBox 6"/>
          <p:cNvSpPr txBox="1"/>
          <p:nvPr/>
        </p:nvSpPr>
        <p:spPr>
          <a:xfrm>
            <a:off x="502919" y="274320"/>
            <a:ext cx="1097280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C1441E"/>
                </a:solidFill>
              </a:defRPr>
            </a:lvl1pPr>
          </a:lstStyle>
          <a:p>
            <a:pPr/>
            <a:r>
              <a:t>LAYER L0</a:t>
            </a:r>
          </a:p>
        </p:txBody>
      </p:sp>
      <p:sp>
        <p:nvSpPr>
          <p:cNvPr id="537" name="TextBox 7"/>
          <p:cNvSpPr txBox="1"/>
          <p:nvPr/>
        </p:nvSpPr>
        <p:spPr>
          <a:xfrm>
            <a:off x="502919" y="502919"/>
            <a:ext cx="1124712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102A43"/>
                </a:solidFill>
              </a:defRPr>
            </a:lvl1pPr>
          </a:lstStyle>
          <a:p>
            <a:pPr/>
            <a:r>
              <a:t>Cross-Cutting — Trust, Operability, Cost</a:t>
            </a:r>
          </a:p>
        </p:txBody>
      </p:sp>
      <p:sp>
        <p:nvSpPr>
          <p:cNvPr id="538" name="Rectangle 8"/>
          <p:cNvSpPr/>
          <p:nvPr/>
        </p:nvSpPr>
        <p:spPr>
          <a:xfrm>
            <a:off x="502919" y="1097280"/>
            <a:ext cx="548641" cy="36577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9" name="Rectangle 9"/>
          <p:cNvSpPr/>
          <p:nvPr/>
        </p:nvSpPr>
        <p:spPr>
          <a:xfrm>
            <a:off x="594359" y="1554480"/>
            <a:ext cx="5486401" cy="23774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0" name="Rectangle 10"/>
          <p:cNvSpPr/>
          <p:nvPr/>
        </p:nvSpPr>
        <p:spPr>
          <a:xfrm>
            <a:off x="594359" y="1554480"/>
            <a:ext cx="164593" cy="2377440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1" name="TextBox 11"/>
          <p:cNvSpPr txBox="1"/>
          <p:nvPr/>
        </p:nvSpPr>
        <p:spPr>
          <a:xfrm>
            <a:off x="960119" y="1737360"/>
            <a:ext cx="4937762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102A43"/>
                </a:solidFill>
              </a:defRPr>
            </a:lvl1pPr>
          </a:lstStyle>
          <a:p>
            <a:pPr/>
            <a:r>
              <a:t>Security &amp; IAM</a:t>
            </a:r>
          </a:p>
        </p:txBody>
      </p:sp>
      <p:sp>
        <p:nvSpPr>
          <p:cNvPr id="542" name="TextBox 12"/>
          <p:cNvSpPr txBox="1"/>
          <p:nvPr/>
        </p:nvSpPr>
        <p:spPr>
          <a:xfrm>
            <a:off x="960119" y="2331720"/>
            <a:ext cx="49377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36454F"/>
                </a:solidFill>
              </a:defRPr>
            </a:lvl1pPr>
          </a:lstStyle>
          <a:p>
            <a:pPr/>
            <a:r>
              <a:t>Okta CIAM/WIAM · Vault secrets · mTLS · RBAC + JIT elevation</a:t>
            </a:r>
          </a:p>
        </p:txBody>
      </p:sp>
      <p:sp>
        <p:nvSpPr>
          <p:cNvPr id="543" name="Rectangle 13"/>
          <p:cNvSpPr/>
          <p:nvPr/>
        </p:nvSpPr>
        <p:spPr>
          <a:xfrm>
            <a:off x="6263640" y="1554480"/>
            <a:ext cx="5486401" cy="23774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4" name="Rectangle 14"/>
          <p:cNvSpPr/>
          <p:nvPr/>
        </p:nvSpPr>
        <p:spPr>
          <a:xfrm>
            <a:off x="6263640" y="1554480"/>
            <a:ext cx="164593" cy="2377440"/>
          </a:xfrm>
          <a:prstGeom prst="rect">
            <a:avLst/>
          </a:prstGeom>
          <a:solidFill>
            <a:srgbClr val="1F4D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5" name="TextBox 15"/>
          <p:cNvSpPr txBox="1"/>
          <p:nvPr/>
        </p:nvSpPr>
        <p:spPr>
          <a:xfrm>
            <a:off x="6629399" y="1737360"/>
            <a:ext cx="4937762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102A43"/>
                </a:solidFill>
              </a:defRPr>
            </a:lvl1pPr>
          </a:lstStyle>
          <a:p>
            <a:pPr/>
            <a:r>
              <a:t>Responsible AI</a:t>
            </a:r>
          </a:p>
        </p:txBody>
      </p:sp>
      <p:sp>
        <p:nvSpPr>
          <p:cNvPr id="546" name="TextBox 16"/>
          <p:cNvSpPr txBox="1"/>
          <p:nvPr/>
        </p:nvSpPr>
        <p:spPr>
          <a:xfrm>
            <a:off x="6629399" y="2331720"/>
            <a:ext cx="49377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36454F"/>
                </a:solidFill>
              </a:defRPr>
            </a:lvl1pPr>
          </a:lstStyle>
          <a:p>
            <a:pPr/>
            <a:r>
              <a:t>RAI Council · golden eval · bias gates · red-team quarterly</a:t>
            </a:r>
          </a:p>
        </p:txBody>
      </p:sp>
      <p:sp>
        <p:nvSpPr>
          <p:cNvPr id="547" name="Rectangle 17"/>
          <p:cNvSpPr/>
          <p:nvPr/>
        </p:nvSpPr>
        <p:spPr>
          <a:xfrm>
            <a:off x="594359" y="4114800"/>
            <a:ext cx="5486401" cy="23774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8" name="Rectangle 18"/>
          <p:cNvSpPr/>
          <p:nvPr/>
        </p:nvSpPr>
        <p:spPr>
          <a:xfrm>
            <a:off x="594359" y="4114800"/>
            <a:ext cx="164593" cy="2377440"/>
          </a:xfrm>
          <a:prstGeom prst="rect">
            <a:avLst/>
          </a:prstGeom>
          <a:solidFill>
            <a:srgbClr val="E6834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9" name="TextBox 19"/>
          <p:cNvSpPr txBox="1"/>
          <p:nvPr/>
        </p:nvSpPr>
        <p:spPr>
          <a:xfrm>
            <a:off x="960119" y="4297679"/>
            <a:ext cx="4937762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102A43"/>
                </a:solidFill>
              </a:defRPr>
            </a:lvl1pPr>
          </a:lstStyle>
          <a:p>
            <a:pPr/>
            <a:r>
              <a:t>Observability / AgentOps</a:t>
            </a:r>
          </a:p>
        </p:txBody>
      </p:sp>
      <p:sp>
        <p:nvSpPr>
          <p:cNvPr id="550" name="TextBox 20"/>
          <p:cNvSpPr txBox="1"/>
          <p:nvPr/>
        </p:nvSpPr>
        <p:spPr>
          <a:xfrm>
            <a:off x="960119" y="4892040"/>
            <a:ext cx="49377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36454F"/>
                </a:solidFill>
              </a:defRPr>
            </a:lvl1pPr>
          </a:lstStyle>
          <a:p>
            <a:pPr/>
            <a:r>
              <a:t>Datadog · Langfuse · OpenTelemetry · Run Store</a:t>
            </a:r>
          </a:p>
        </p:txBody>
      </p:sp>
      <p:sp>
        <p:nvSpPr>
          <p:cNvPr id="551" name="Rectangle 21"/>
          <p:cNvSpPr/>
          <p:nvPr/>
        </p:nvSpPr>
        <p:spPr>
          <a:xfrm>
            <a:off x="6263640" y="4114800"/>
            <a:ext cx="5486401" cy="23774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2" name="Rectangle 22"/>
          <p:cNvSpPr/>
          <p:nvPr/>
        </p:nvSpPr>
        <p:spPr>
          <a:xfrm>
            <a:off x="6263640" y="4114800"/>
            <a:ext cx="164593" cy="2377440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3" name="TextBox 23"/>
          <p:cNvSpPr txBox="1"/>
          <p:nvPr/>
        </p:nvSpPr>
        <p:spPr>
          <a:xfrm>
            <a:off x="6629399" y="4297679"/>
            <a:ext cx="4937762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102A43"/>
                </a:solidFill>
              </a:defRPr>
            </a:lvl1pPr>
          </a:lstStyle>
          <a:p>
            <a:pPr/>
            <a:r>
              <a:t>FinOps</a:t>
            </a:r>
          </a:p>
        </p:txBody>
      </p:sp>
      <p:sp>
        <p:nvSpPr>
          <p:cNvPr id="554" name="TextBox 24"/>
          <p:cNvSpPr txBox="1"/>
          <p:nvPr/>
        </p:nvSpPr>
        <p:spPr>
          <a:xfrm>
            <a:off x="6629399" y="4892040"/>
            <a:ext cx="49377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36454F"/>
                </a:solidFill>
              </a:defRPr>
            </a:lvl1pPr>
          </a:lstStyle>
          <a:p>
            <a:pPr/>
            <a:r>
              <a:t>Per-agent budgets · cost-aware router · drift alerting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7" name="Rectangle 2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8" name="Rectangle 3"/>
          <p:cNvSpPr/>
          <p:nvPr/>
        </p:nvSpPr>
        <p:spPr>
          <a:xfrm>
            <a:off x="-1" y="6565392"/>
            <a:ext cx="12191697" cy="292609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9" name="TextBox 4"/>
          <p:cNvSpPr txBox="1"/>
          <p:nvPr/>
        </p:nvSpPr>
        <p:spPr>
          <a:xfrm>
            <a:off x="365759" y="6583680"/>
            <a:ext cx="73152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FFFFFF"/>
                </a:solidFill>
              </a:defRPr>
            </a:lvl1pPr>
          </a:lstStyle>
          <a:p>
            <a:pPr/>
            <a:r>
              <a:t>Camping World · Agentic AI Solution Architecture Blueprint v1.0</a:t>
            </a:r>
          </a:p>
        </p:txBody>
      </p:sp>
      <p:sp>
        <p:nvSpPr>
          <p:cNvPr id="560" name="TextBox 5"/>
          <p:cNvSpPr txBox="1"/>
          <p:nvPr/>
        </p:nvSpPr>
        <p:spPr>
          <a:xfrm>
            <a:off x="10332719" y="6583680"/>
            <a:ext cx="18288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/>
            <a:r>
              <a:t>12 / 30</a:t>
            </a:r>
          </a:p>
        </p:txBody>
      </p:sp>
      <p:sp>
        <p:nvSpPr>
          <p:cNvPr id="561" name="TextBox 6"/>
          <p:cNvSpPr txBox="1"/>
          <p:nvPr/>
        </p:nvSpPr>
        <p:spPr>
          <a:xfrm>
            <a:off x="502919" y="274320"/>
            <a:ext cx="1097280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C1441E"/>
                </a:solidFill>
              </a:defRPr>
            </a:lvl1pPr>
          </a:lstStyle>
          <a:p>
            <a:pPr/>
            <a:r>
              <a:t>SECTION 5 — COMPONENT DESIGN</a:t>
            </a:r>
          </a:p>
        </p:txBody>
      </p:sp>
      <p:sp>
        <p:nvSpPr>
          <p:cNvPr id="562" name="TextBox 7"/>
          <p:cNvSpPr txBox="1"/>
          <p:nvPr/>
        </p:nvSpPr>
        <p:spPr>
          <a:xfrm>
            <a:off x="502919" y="502919"/>
            <a:ext cx="1124712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102A43"/>
                </a:solidFill>
              </a:defRPr>
            </a:lvl1pPr>
          </a:lstStyle>
          <a:p>
            <a:pPr/>
            <a:r>
              <a:t>Five Agentic Domains</a:t>
            </a:r>
          </a:p>
        </p:txBody>
      </p:sp>
      <p:sp>
        <p:nvSpPr>
          <p:cNvPr id="563" name="Rectangle 8"/>
          <p:cNvSpPr/>
          <p:nvPr/>
        </p:nvSpPr>
        <p:spPr>
          <a:xfrm>
            <a:off x="502919" y="1097280"/>
            <a:ext cx="548641" cy="36577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4" name="Rectangle 9"/>
          <p:cNvSpPr/>
          <p:nvPr/>
        </p:nvSpPr>
        <p:spPr>
          <a:xfrm>
            <a:off x="502919" y="1417319"/>
            <a:ext cx="11247122" cy="8686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5" name="Rectangle 10"/>
          <p:cNvSpPr/>
          <p:nvPr/>
        </p:nvSpPr>
        <p:spPr>
          <a:xfrm>
            <a:off x="502919" y="1417319"/>
            <a:ext cx="164593" cy="868681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6" name="TextBox 11"/>
          <p:cNvSpPr txBox="1"/>
          <p:nvPr/>
        </p:nvSpPr>
        <p:spPr>
          <a:xfrm>
            <a:off x="777239" y="1508760"/>
            <a:ext cx="329184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102A43"/>
                </a:solidFill>
              </a:defRPr>
            </a:lvl1pPr>
          </a:lstStyle>
          <a:p>
            <a:pPr/>
            <a:r>
              <a:t>Predictive Service</a:t>
            </a:r>
          </a:p>
        </p:txBody>
      </p:sp>
      <p:sp>
        <p:nvSpPr>
          <p:cNvPr id="567" name="TextBox 12"/>
          <p:cNvSpPr txBox="1"/>
          <p:nvPr/>
        </p:nvSpPr>
        <p:spPr>
          <a:xfrm>
            <a:off x="777239" y="1874520"/>
            <a:ext cx="3291842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100">
                <a:solidFill>
                  <a:srgbClr val="36454F"/>
                </a:solidFill>
              </a:defRPr>
            </a:lvl1pPr>
          </a:lstStyle>
          <a:p>
            <a:pPr/>
            <a:r>
              <a:t>Sense unit health → propose appointments before failure</a:t>
            </a:r>
          </a:p>
        </p:txBody>
      </p:sp>
      <p:sp>
        <p:nvSpPr>
          <p:cNvPr id="568" name="Rectangle 13"/>
          <p:cNvSpPr/>
          <p:nvPr/>
        </p:nvSpPr>
        <p:spPr>
          <a:xfrm>
            <a:off x="4206240" y="1600200"/>
            <a:ext cx="548641" cy="457200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9" name="TextBox 14"/>
          <p:cNvSpPr txBox="1"/>
          <p:nvPr/>
        </p:nvSpPr>
        <p:spPr>
          <a:xfrm>
            <a:off x="4206240" y="1730791"/>
            <a:ext cx="54864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AGENTS</a:t>
            </a:r>
          </a:p>
        </p:txBody>
      </p:sp>
      <p:sp>
        <p:nvSpPr>
          <p:cNvPr id="570" name="TextBox 15"/>
          <p:cNvSpPr txBox="1"/>
          <p:nvPr/>
        </p:nvSpPr>
        <p:spPr>
          <a:xfrm>
            <a:off x="4846320" y="1807386"/>
            <a:ext cx="676656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102A43"/>
                </a:solidFill>
              </a:defRPr>
            </a:lvl1pPr>
          </a:lstStyle>
          <a:p>
            <a:pPr/>
            <a:r>
              <a:t>Failure-Mode · Booking · Recall · Tech Co-Pilot</a:t>
            </a:r>
          </a:p>
        </p:txBody>
      </p:sp>
      <p:sp>
        <p:nvSpPr>
          <p:cNvPr id="571" name="Rectangle 16"/>
          <p:cNvSpPr/>
          <p:nvPr/>
        </p:nvSpPr>
        <p:spPr>
          <a:xfrm>
            <a:off x="502919" y="2377439"/>
            <a:ext cx="11247122" cy="8686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2" name="Rectangle 17"/>
          <p:cNvSpPr/>
          <p:nvPr/>
        </p:nvSpPr>
        <p:spPr>
          <a:xfrm>
            <a:off x="502919" y="2377439"/>
            <a:ext cx="164593" cy="868681"/>
          </a:xfrm>
          <a:prstGeom prst="rect">
            <a:avLst/>
          </a:prstGeom>
          <a:solidFill>
            <a:srgbClr val="1F4D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3" name="TextBox 18"/>
          <p:cNvSpPr txBox="1"/>
          <p:nvPr/>
        </p:nvSpPr>
        <p:spPr>
          <a:xfrm>
            <a:off x="777239" y="2468879"/>
            <a:ext cx="329184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102A43"/>
                </a:solidFill>
              </a:defRPr>
            </a:lvl1pPr>
          </a:lstStyle>
          <a:p>
            <a:pPr/>
            <a:r>
              <a:t>Customer 360 / Personalization</a:t>
            </a:r>
          </a:p>
        </p:txBody>
      </p:sp>
      <p:sp>
        <p:nvSpPr>
          <p:cNvPr id="574" name="TextBox 19"/>
          <p:cNvSpPr txBox="1"/>
          <p:nvPr/>
        </p:nvSpPr>
        <p:spPr>
          <a:xfrm>
            <a:off x="777239" y="2834639"/>
            <a:ext cx="329184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100">
                <a:solidFill>
                  <a:srgbClr val="36454F"/>
                </a:solidFill>
              </a:defRPr>
            </a:lvl1pPr>
          </a:lstStyle>
          <a:p>
            <a:pPr/>
            <a:r>
              <a:t>Lifecycle, moment-of-life cross-channel personalization</a:t>
            </a:r>
          </a:p>
        </p:txBody>
      </p:sp>
      <p:sp>
        <p:nvSpPr>
          <p:cNvPr id="575" name="Rectangle 20"/>
          <p:cNvSpPr/>
          <p:nvPr/>
        </p:nvSpPr>
        <p:spPr>
          <a:xfrm>
            <a:off x="4206240" y="2560320"/>
            <a:ext cx="548641" cy="457201"/>
          </a:xfrm>
          <a:prstGeom prst="rect">
            <a:avLst/>
          </a:prstGeom>
          <a:solidFill>
            <a:srgbClr val="1F4D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6" name="TextBox 21"/>
          <p:cNvSpPr txBox="1"/>
          <p:nvPr/>
        </p:nvSpPr>
        <p:spPr>
          <a:xfrm>
            <a:off x="4206240" y="2690911"/>
            <a:ext cx="54864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AGENTS</a:t>
            </a:r>
          </a:p>
        </p:txBody>
      </p:sp>
      <p:sp>
        <p:nvSpPr>
          <p:cNvPr id="577" name="TextBox 22"/>
          <p:cNvSpPr txBox="1"/>
          <p:nvPr/>
        </p:nvSpPr>
        <p:spPr>
          <a:xfrm>
            <a:off x="4846320" y="2767506"/>
            <a:ext cx="676656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102A43"/>
                </a:solidFill>
              </a:defRPr>
            </a:lvl1pPr>
          </a:lstStyle>
          <a:p>
            <a:pPr/>
            <a:r>
              <a:t>Journey · Audience · Content · Trigger</a:t>
            </a:r>
          </a:p>
        </p:txBody>
      </p:sp>
      <p:sp>
        <p:nvSpPr>
          <p:cNvPr id="578" name="Rectangle 23"/>
          <p:cNvSpPr/>
          <p:nvPr/>
        </p:nvSpPr>
        <p:spPr>
          <a:xfrm>
            <a:off x="502919" y="3337559"/>
            <a:ext cx="11247122" cy="8686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9" name="Rectangle 24"/>
          <p:cNvSpPr/>
          <p:nvPr/>
        </p:nvSpPr>
        <p:spPr>
          <a:xfrm>
            <a:off x="502919" y="3337559"/>
            <a:ext cx="164593" cy="868681"/>
          </a:xfrm>
          <a:prstGeom prst="rect">
            <a:avLst/>
          </a:prstGeom>
          <a:solidFill>
            <a:srgbClr val="E6834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0" name="TextBox 25"/>
          <p:cNvSpPr txBox="1"/>
          <p:nvPr/>
        </p:nvSpPr>
        <p:spPr>
          <a:xfrm>
            <a:off x="777239" y="3428999"/>
            <a:ext cx="3291842" cy="277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102A43"/>
                </a:solidFill>
              </a:defRPr>
            </a:lvl1pPr>
          </a:lstStyle>
          <a:p>
            <a:pPr/>
            <a:r>
              <a:t>Conversational AI</a:t>
            </a:r>
          </a:p>
        </p:txBody>
      </p:sp>
      <p:sp>
        <p:nvSpPr>
          <p:cNvPr id="581" name="TextBox 26"/>
          <p:cNvSpPr txBox="1"/>
          <p:nvPr/>
        </p:nvSpPr>
        <p:spPr>
          <a:xfrm>
            <a:off x="777239" y="3794759"/>
            <a:ext cx="329184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100">
                <a:solidFill>
                  <a:srgbClr val="36454F"/>
                </a:solidFill>
              </a:defRPr>
            </a:lvl1pPr>
          </a:lstStyle>
          <a:p>
            <a:pPr/>
            <a:r>
              <a:t>Top-of-funnel and routine work; advisor augmentation</a:t>
            </a:r>
          </a:p>
        </p:txBody>
      </p:sp>
      <p:sp>
        <p:nvSpPr>
          <p:cNvPr id="582" name="Rectangle 27"/>
          <p:cNvSpPr/>
          <p:nvPr/>
        </p:nvSpPr>
        <p:spPr>
          <a:xfrm>
            <a:off x="4206240" y="3520440"/>
            <a:ext cx="548641" cy="457201"/>
          </a:xfrm>
          <a:prstGeom prst="rect">
            <a:avLst/>
          </a:prstGeom>
          <a:solidFill>
            <a:srgbClr val="E6834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3" name="TextBox 28"/>
          <p:cNvSpPr txBox="1"/>
          <p:nvPr/>
        </p:nvSpPr>
        <p:spPr>
          <a:xfrm>
            <a:off x="4206240" y="3651031"/>
            <a:ext cx="54864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AGENTS</a:t>
            </a:r>
          </a:p>
        </p:txBody>
      </p:sp>
      <p:sp>
        <p:nvSpPr>
          <p:cNvPr id="584" name="TextBox 29"/>
          <p:cNvSpPr txBox="1"/>
          <p:nvPr/>
        </p:nvSpPr>
        <p:spPr>
          <a:xfrm>
            <a:off x="4846320" y="3727626"/>
            <a:ext cx="676656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102A43"/>
                </a:solidFill>
              </a:defRPr>
            </a:lvl1pPr>
          </a:lstStyle>
          <a:p>
            <a:pPr/>
            <a:r>
              <a:t>Lead-gen · Scheduler · Sales Co-Pilot · Tech Diag.</a:t>
            </a:r>
          </a:p>
        </p:txBody>
      </p:sp>
      <p:sp>
        <p:nvSpPr>
          <p:cNvPr id="585" name="Rectangle 30"/>
          <p:cNvSpPr/>
          <p:nvPr/>
        </p:nvSpPr>
        <p:spPr>
          <a:xfrm>
            <a:off x="502919" y="4297679"/>
            <a:ext cx="11247122" cy="8686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6" name="Rectangle 31"/>
          <p:cNvSpPr/>
          <p:nvPr/>
        </p:nvSpPr>
        <p:spPr>
          <a:xfrm>
            <a:off x="502919" y="4297679"/>
            <a:ext cx="164593" cy="868681"/>
          </a:xfrm>
          <a:prstGeom prst="rect">
            <a:avLst/>
          </a:prstGeom>
          <a:solidFill>
            <a:srgbClr val="6E8B4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7" name="TextBox 32"/>
          <p:cNvSpPr txBox="1"/>
          <p:nvPr/>
        </p:nvSpPr>
        <p:spPr>
          <a:xfrm>
            <a:off x="777239" y="4389120"/>
            <a:ext cx="329184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102A43"/>
                </a:solidFill>
              </a:defRPr>
            </a:lvl1pPr>
          </a:lstStyle>
          <a:p>
            <a:pPr/>
            <a:r>
              <a:t>Inventory Metrology</a:t>
            </a:r>
          </a:p>
        </p:txBody>
      </p:sp>
      <p:sp>
        <p:nvSpPr>
          <p:cNvPr id="588" name="TextBox 33"/>
          <p:cNvSpPr txBox="1"/>
          <p:nvPr/>
        </p:nvSpPr>
        <p:spPr>
          <a:xfrm>
            <a:off x="777239" y="4754879"/>
            <a:ext cx="329184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100">
                <a:solidFill>
                  <a:srgbClr val="36454F"/>
                </a:solidFill>
              </a:defRPr>
            </a:lvl1pPr>
          </a:lstStyle>
          <a:p>
            <a:pPr/>
            <a:r>
              <a:t>Right unit, right region, right price — continuously</a:t>
            </a:r>
          </a:p>
        </p:txBody>
      </p:sp>
      <p:sp>
        <p:nvSpPr>
          <p:cNvPr id="589" name="Rectangle 34"/>
          <p:cNvSpPr/>
          <p:nvPr/>
        </p:nvSpPr>
        <p:spPr>
          <a:xfrm>
            <a:off x="4206240" y="4480559"/>
            <a:ext cx="548641" cy="457201"/>
          </a:xfrm>
          <a:prstGeom prst="rect">
            <a:avLst/>
          </a:prstGeom>
          <a:solidFill>
            <a:srgbClr val="6E8B4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0" name="TextBox 35"/>
          <p:cNvSpPr txBox="1"/>
          <p:nvPr/>
        </p:nvSpPr>
        <p:spPr>
          <a:xfrm>
            <a:off x="4206240" y="4611151"/>
            <a:ext cx="54864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AGENTS</a:t>
            </a:r>
          </a:p>
        </p:txBody>
      </p:sp>
      <p:sp>
        <p:nvSpPr>
          <p:cNvPr id="591" name="TextBox 36"/>
          <p:cNvSpPr txBox="1"/>
          <p:nvPr/>
        </p:nvSpPr>
        <p:spPr>
          <a:xfrm>
            <a:off x="4846320" y="4687746"/>
            <a:ext cx="676656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102A43"/>
                </a:solidFill>
              </a:defRPr>
            </a:lvl1pPr>
          </a:lstStyle>
          <a:p>
            <a:pPr/>
            <a:r>
              <a:t>Forecast · Aging · Rebalance · Pricing · Mix</a:t>
            </a:r>
          </a:p>
        </p:txBody>
      </p:sp>
      <p:sp>
        <p:nvSpPr>
          <p:cNvPr id="592" name="Rectangle 37"/>
          <p:cNvSpPr/>
          <p:nvPr/>
        </p:nvSpPr>
        <p:spPr>
          <a:xfrm>
            <a:off x="502919" y="5257799"/>
            <a:ext cx="11247122" cy="86868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3" name="Rectangle 38"/>
          <p:cNvSpPr/>
          <p:nvPr/>
        </p:nvSpPr>
        <p:spPr>
          <a:xfrm>
            <a:off x="502919" y="5257799"/>
            <a:ext cx="164593" cy="868682"/>
          </a:xfrm>
          <a:prstGeom prst="rect">
            <a:avLst/>
          </a:prstGeom>
          <a:solidFill>
            <a:srgbClr val="36454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4" name="TextBox 39"/>
          <p:cNvSpPr txBox="1"/>
          <p:nvPr/>
        </p:nvSpPr>
        <p:spPr>
          <a:xfrm>
            <a:off x="777239" y="5349240"/>
            <a:ext cx="329184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102A43"/>
                </a:solidFill>
              </a:defRPr>
            </a:lvl1pPr>
          </a:lstStyle>
          <a:p>
            <a:pPr/>
            <a:r>
              <a:t>Back-Office Automation</a:t>
            </a:r>
          </a:p>
        </p:txBody>
      </p:sp>
      <p:sp>
        <p:nvSpPr>
          <p:cNvPr id="595" name="TextBox 40"/>
          <p:cNvSpPr txBox="1"/>
          <p:nvPr/>
        </p:nvSpPr>
        <p:spPr>
          <a:xfrm>
            <a:off x="777239" y="5714999"/>
            <a:ext cx="329184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100">
                <a:solidFill>
                  <a:srgbClr val="36454F"/>
                </a:solidFill>
              </a:defRPr>
            </a:lvl1pPr>
          </a:lstStyle>
          <a:p>
            <a:pPr/>
            <a:r>
              <a:t>SG&amp;A reduction via agentic workflow automation</a:t>
            </a:r>
          </a:p>
        </p:txBody>
      </p:sp>
      <p:sp>
        <p:nvSpPr>
          <p:cNvPr id="596" name="Rectangle 41"/>
          <p:cNvSpPr/>
          <p:nvPr/>
        </p:nvSpPr>
        <p:spPr>
          <a:xfrm>
            <a:off x="4206240" y="5440679"/>
            <a:ext cx="548641" cy="457201"/>
          </a:xfrm>
          <a:prstGeom prst="rect">
            <a:avLst/>
          </a:prstGeom>
          <a:solidFill>
            <a:srgbClr val="36454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7" name="TextBox 42"/>
          <p:cNvSpPr txBox="1"/>
          <p:nvPr/>
        </p:nvSpPr>
        <p:spPr>
          <a:xfrm>
            <a:off x="4206240" y="5571271"/>
            <a:ext cx="54864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AGENTS</a:t>
            </a:r>
          </a:p>
        </p:txBody>
      </p:sp>
      <p:sp>
        <p:nvSpPr>
          <p:cNvPr id="598" name="TextBox 43"/>
          <p:cNvSpPr txBox="1"/>
          <p:nvPr/>
        </p:nvSpPr>
        <p:spPr>
          <a:xfrm>
            <a:off x="4846320" y="5647866"/>
            <a:ext cx="676656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102A43"/>
                </a:solidFill>
              </a:defRPr>
            </a:lvl1pPr>
          </a:lstStyle>
          <a:p>
            <a:pPr/>
            <a:r>
              <a:t>AP · 3-way · Vendor · HR · Close · RFx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1" name="Rectangle 2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2" name="Rectangle 3"/>
          <p:cNvSpPr/>
          <p:nvPr/>
        </p:nvSpPr>
        <p:spPr>
          <a:xfrm>
            <a:off x="-1" y="6565392"/>
            <a:ext cx="12191697" cy="292609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3" name="TextBox 4"/>
          <p:cNvSpPr txBox="1"/>
          <p:nvPr/>
        </p:nvSpPr>
        <p:spPr>
          <a:xfrm>
            <a:off x="365759" y="6583680"/>
            <a:ext cx="73152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FFFFFF"/>
                </a:solidFill>
              </a:defRPr>
            </a:lvl1pPr>
          </a:lstStyle>
          <a:p>
            <a:pPr/>
            <a:r>
              <a:t>Camping World · Agentic AI Solution Architecture Blueprint v1.0</a:t>
            </a:r>
          </a:p>
        </p:txBody>
      </p:sp>
      <p:sp>
        <p:nvSpPr>
          <p:cNvPr id="604" name="TextBox 5"/>
          <p:cNvSpPr txBox="1"/>
          <p:nvPr/>
        </p:nvSpPr>
        <p:spPr>
          <a:xfrm>
            <a:off x="10332719" y="6583680"/>
            <a:ext cx="18288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/>
            <a:r>
              <a:t>13 / 30</a:t>
            </a:r>
          </a:p>
        </p:txBody>
      </p:sp>
      <p:sp>
        <p:nvSpPr>
          <p:cNvPr id="605" name="TextBox 6"/>
          <p:cNvSpPr txBox="1"/>
          <p:nvPr/>
        </p:nvSpPr>
        <p:spPr>
          <a:xfrm>
            <a:off x="502919" y="274320"/>
            <a:ext cx="1097280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C1441E"/>
                </a:solidFill>
              </a:defRPr>
            </a:lvl1pPr>
          </a:lstStyle>
          <a:p>
            <a:pPr/>
            <a:r>
              <a:t>DOMAIN 5.1 · HIGHEST-VALUE BET</a:t>
            </a:r>
          </a:p>
        </p:txBody>
      </p:sp>
      <p:sp>
        <p:nvSpPr>
          <p:cNvPr id="606" name="TextBox 7"/>
          <p:cNvSpPr txBox="1"/>
          <p:nvPr/>
        </p:nvSpPr>
        <p:spPr>
          <a:xfrm>
            <a:off x="502919" y="502919"/>
            <a:ext cx="1124712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102A43"/>
                </a:solidFill>
              </a:defRPr>
            </a:lvl1pPr>
          </a:lstStyle>
          <a:p>
            <a:pPr/>
            <a:r>
              <a:t>Predictive Service — From Reactive to Prescriptive</a:t>
            </a:r>
          </a:p>
        </p:txBody>
      </p:sp>
      <p:sp>
        <p:nvSpPr>
          <p:cNvPr id="607" name="Rectangle 8"/>
          <p:cNvSpPr/>
          <p:nvPr/>
        </p:nvSpPr>
        <p:spPr>
          <a:xfrm>
            <a:off x="502919" y="1097280"/>
            <a:ext cx="548641" cy="36577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8" name="Rectangle 9"/>
          <p:cNvSpPr/>
          <p:nvPr/>
        </p:nvSpPr>
        <p:spPr>
          <a:xfrm>
            <a:off x="502919" y="1828799"/>
            <a:ext cx="2103122" cy="1554482"/>
          </a:xfrm>
          <a:prstGeom prst="rect">
            <a:avLst/>
          </a:prstGeom>
          <a:solidFill>
            <a:srgbClr val="E6834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9" name="TextBox 10"/>
          <p:cNvSpPr txBox="1"/>
          <p:nvPr/>
        </p:nvSpPr>
        <p:spPr>
          <a:xfrm>
            <a:off x="502919" y="2047547"/>
            <a:ext cx="210312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Telemetry &amp; Usage</a:t>
            </a:r>
          </a:p>
        </p:txBody>
      </p:sp>
      <p:sp>
        <p:nvSpPr>
          <p:cNvPr id="610" name="TextBox 11"/>
          <p:cNvSpPr txBox="1"/>
          <p:nvPr/>
        </p:nvSpPr>
        <p:spPr>
          <a:xfrm>
            <a:off x="502919" y="2468879"/>
            <a:ext cx="2103122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i="1" sz="1000">
                <a:solidFill>
                  <a:srgbClr val="F8F3E8"/>
                </a:solidFill>
              </a:defRPr>
            </a:pPr>
            <a:r>
              <a:t>VIN events,</a:t>
            </a:r>
          </a:p>
          <a:p>
            <a:pPr algn="ctr">
              <a:defRPr i="1" sz="1000">
                <a:solidFill>
                  <a:srgbClr val="F8F3E8"/>
                </a:solidFill>
              </a:defRPr>
            </a:pPr>
            <a:r>
              <a:t>mileage, alerts</a:t>
            </a:r>
          </a:p>
        </p:txBody>
      </p:sp>
      <p:sp>
        <p:nvSpPr>
          <p:cNvPr id="611" name="Connector 12"/>
          <p:cNvSpPr/>
          <p:nvPr/>
        </p:nvSpPr>
        <p:spPr>
          <a:xfrm>
            <a:off x="2642616" y="2606039"/>
            <a:ext cx="146305" cy="1"/>
          </a:xfrm>
          <a:prstGeom prst="line">
            <a:avLst/>
          </a:prstGeom>
          <a:ln w="31750">
            <a:solidFill>
              <a:srgbClr val="102A4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2" name="Rectangle 13"/>
          <p:cNvSpPr/>
          <p:nvPr/>
        </p:nvSpPr>
        <p:spPr>
          <a:xfrm>
            <a:off x="2788920" y="1828799"/>
            <a:ext cx="2103121" cy="1554482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3" name="TextBox 14"/>
          <p:cNvSpPr txBox="1"/>
          <p:nvPr/>
        </p:nvSpPr>
        <p:spPr>
          <a:xfrm>
            <a:off x="2788920" y="2047547"/>
            <a:ext cx="210312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Failure-Mode Agent</a:t>
            </a:r>
          </a:p>
        </p:txBody>
      </p:sp>
      <p:sp>
        <p:nvSpPr>
          <p:cNvPr id="614" name="TextBox 15"/>
          <p:cNvSpPr txBox="1"/>
          <p:nvPr/>
        </p:nvSpPr>
        <p:spPr>
          <a:xfrm>
            <a:off x="2788920" y="2468879"/>
            <a:ext cx="2103121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i="1" sz="1000">
                <a:solidFill>
                  <a:srgbClr val="F8F3E8"/>
                </a:solidFill>
              </a:defRPr>
            </a:pPr>
            <a:r>
              <a:t>Predicts failure</a:t>
            </a:r>
          </a:p>
          <a:p>
            <a:pPr algn="ctr">
              <a:defRPr i="1" sz="1000">
                <a:solidFill>
                  <a:srgbClr val="F8F3E8"/>
                </a:solidFill>
              </a:defRPr>
            </a:pPr>
            <a:r>
              <a:t>window per VIN</a:t>
            </a:r>
          </a:p>
        </p:txBody>
      </p:sp>
      <p:sp>
        <p:nvSpPr>
          <p:cNvPr id="615" name="Connector 16"/>
          <p:cNvSpPr/>
          <p:nvPr/>
        </p:nvSpPr>
        <p:spPr>
          <a:xfrm>
            <a:off x="4928615" y="2606039"/>
            <a:ext cx="146305" cy="1"/>
          </a:xfrm>
          <a:prstGeom prst="line">
            <a:avLst/>
          </a:prstGeom>
          <a:ln w="31750">
            <a:solidFill>
              <a:srgbClr val="102A4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6" name="Rectangle 17"/>
          <p:cNvSpPr/>
          <p:nvPr/>
        </p:nvSpPr>
        <p:spPr>
          <a:xfrm>
            <a:off x="5074920" y="1828799"/>
            <a:ext cx="2103121" cy="1554482"/>
          </a:xfrm>
          <a:prstGeom prst="rect">
            <a:avLst/>
          </a:prstGeom>
          <a:solidFill>
            <a:srgbClr val="1F4D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7" name="TextBox 18"/>
          <p:cNvSpPr txBox="1"/>
          <p:nvPr/>
        </p:nvSpPr>
        <p:spPr>
          <a:xfrm>
            <a:off x="5074920" y="2047547"/>
            <a:ext cx="210312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Service Booking Agent</a:t>
            </a:r>
          </a:p>
        </p:txBody>
      </p:sp>
      <p:sp>
        <p:nvSpPr>
          <p:cNvPr id="618" name="TextBox 19"/>
          <p:cNvSpPr txBox="1"/>
          <p:nvPr/>
        </p:nvSpPr>
        <p:spPr>
          <a:xfrm>
            <a:off x="5074920" y="2468879"/>
            <a:ext cx="2103121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i="1" sz="1000">
                <a:solidFill>
                  <a:srgbClr val="F8F3E8"/>
                </a:solidFill>
              </a:defRPr>
            </a:pPr>
            <a:r>
              <a:t>Bay + tech +</a:t>
            </a:r>
          </a:p>
          <a:p>
            <a:pPr algn="ctr">
              <a:defRPr i="1" sz="1000">
                <a:solidFill>
                  <a:srgbClr val="F8F3E8"/>
                </a:solidFill>
              </a:defRPr>
            </a:pPr>
            <a:r>
              <a:t>parts + slot</a:t>
            </a:r>
          </a:p>
        </p:txBody>
      </p:sp>
      <p:sp>
        <p:nvSpPr>
          <p:cNvPr id="619" name="Connector 20"/>
          <p:cNvSpPr/>
          <p:nvPr/>
        </p:nvSpPr>
        <p:spPr>
          <a:xfrm>
            <a:off x="7214616" y="2606039"/>
            <a:ext cx="146305" cy="1"/>
          </a:xfrm>
          <a:prstGeom prst="line">
            <a:avLst/>
          </a:prstGeom>
          <a:ln w="31750">
            <a:solidFill>
              <a:srgbClr val="102A4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0" name="Rectangle 21"/>
          <p:cNvSpPr/>
          <p:nvPr/>
        </p:nvSpPr>
        <p:spPr>
          <a:xfrm>
            <a:off x="7360919" y="1828799"/>
            <a:ext cx="2103121" cy="1554482"/>
          </a:xfrm>
          <a:prstGeom prst="rect">
            <a:avLst/>
          </a:prstGeom>
          <a:solidFill>
            <a:srgbClr val="6E8B4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1" name="TextBox 22"/>
          <p:cNvSpPr txBox="1"/>
          <p:nvPr/>
        </p:nvSpPr>
        <p:spPr>
          <a:xfrm>
            <a:off x="7360919" y="2047547"/>
            <a:ext cx="210312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Member Channel</a:t>
            </a:r>
          </a:p>
        </p:txBody>
      </p:sp>
      <p:sp>
        <p:nvSpPr>
          <p:cNvPr id="622" name="TextBox 23"/>
          <p:cNvSpPr txBox="1"/>
          <p:nvPr/>
        </p:nvSpPr>
        <p:spPr>
          <a:xfrm>
            <a:off x="7360919" y="2468879"/>
            <a:ext cx="2103121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i="1" sz="1000">
                <a:solidFill>
                  <a:srgbClr val="F8F3E8"/>
                </a:solidFill>
              </a:defRPr>
            </a:pPr>
            <a:r>
              <a:t>App / SMS / Voice</a:t>
            </a:r>
          </a:p>
          <a:p>
            <a:pPr algn="ctr">
              <a:defRPr i="1" sz="1000">
                <a:solidFill>
                  <a:srgbClr val="F8F3E8"/>
                </a:solidFill>
              </a:defRPr>
            </a:pPr>
            <a:r>
              <a:t>offer + confirm</a:t>
            </a:r>
          </a:p>
        </p:txBody>
      </p:sp>
      <p:sp>
        <p:nvSpPr>
          <p:cNvPr id="623" name="Connector 24"/>
          <p:cNvSpPr/>
          <p:nvPr/>
        </p:nvSpPr>
        <p:spPr>
          <a:xfrm>
            <a:off x="9500616" y="2606039"/>
            <a:ext cx="146305" cy="1"/>
          </a:xfrm>
          <a:prstGeom prst="line">
            <a:avLst/>
          </a:prstGeom>
          <a:ln w="31750">
            <a:solidFill>
              <a:srgbClr val="102A4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4" name="Rectangle 25"/>
          <p:cNvSpPr/>
          <p:nvPr/>
        </p:nvSpPr>
        <p:spPr>
          <a:xfrm>
            <a:off x="9646919" y="1828799"/>
            <a:ext cx="2103121" cy="1554482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5" name="TextBox 26"/>
          <p:cNvSpPr txBox="1"/>
          <p:nvPr/>
        </p:nvSpPr>
        <p:spPr>
          <a:xfrm>
            <a:off x="9646919" y="2047547"/>
            <a:ext cx="210312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ESP-CRM</a:t>
            </a:r>
          </a:p>
        </p:txBody>
      </p:sp>
      <p:sp>
        <p:nvSpPr>
          <p:cNvPr id="626" name="TextBox 27"/>
          <p:cNvSpPr txBox="1"/>
          <p:nvPr/>
        </p:nvSpPr>
        <p:spPr>
          <a:xfrm>
            <a:off x="9646919" y="2468879"/>
            <a:ext cx="2103121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i="1" sz="1000">
                <a:solidFill>
                  <a:srgbClr val="F8F3E8"/>
                </a:solidFill>
              </a:defRPr>
            </a:pPr>
            <a:r>
              <a:t>Ticket created,</a:t>
            </a:r>
          </a:p>
          <a:p>
            <a:pPr algn="ctr">
              <a:defRPr i="1" sz="1000">
                <a:solidFill>
                  <a:srgbClr val="F8F3E8"/>
                </a:solidFill>
              </a:defRPr>
            </a:pPr>
            <a:r>
              <a:t>claim pre-staged</a:t>
            </a:r>
          </a:p>
        </p:txBody>
      </p:sp>
      <p:sp>
        <p:nvSpPr>
          <p:cNvPr id="627" name="Rectangle 28"/>
          <p:cNvSpPr/>
          <p:nvPr/>
        </p:nvSpPr>
        <p:spPr>
          <a:xfrm>
            <a:off x="502919" y="3931920"/>
            <a:ext cx="11247122" cy="2286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8" name="TextBox 29"/>
          <p:cNvSpPr txBox="1"/>
          <p:nvPr/>
        </p:nvSpPr>
        <p:spPr>
          <a:xfrm>
            <a:off x="685800" y="4023359"/>
            <a:ext cx="1097280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102A43"/>
                </a:solidFill>
              </a:defRPr>
            </a:lvl1pPr>
          </a:lstStyle>
          <a:p>
            <a:pPr/>
            <a:r>
              <a:t>KPIs Targeted</a:t>
            </a:r>
          </a:p>
        </p:txBody>
      </p:sp>
      <p:sp>
        <p:nvSpPr>
          <p:cNvPr id="629" name="Rectangle 30"/>
          <p:cNvSpPr/>
          <p:nvPr/>
        </p:nvSpPr>
        <p:spPr>
          <a:xfrm>
            <a:off x="685799" y="4434840"/>
            <a:ext cx="2194562" cy="1554481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0" name="Rectangle 31"/>
          <p:cNvSpPr/>
          <p:nvPr/>
        </p:nvSpPr>
        <p:spPr>
          <a:xfrm>
            <a:off x="685799" y="4434840"/>
            <a:ext cx="2194562" cy="54865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1" name="TextBox 32"/>
          <p:cNvSpPr txBox="1"/>
          <p:nvPr/>
        </p:nvSpPr>
        <p:spPr>
          <a:xfrm>
            <a:off x="868680" y="4526279"/>
            <a:ext cx="19202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102A43"/>
                </a:solidFill>
              </a:defRPr>
            </a:lvl1pPr>
          </a:lstStyle>
          <a:p>
            <a:pPr/>
            <a:r>
              <a:t>Predictive booking rate</a:t>
            </a:r>
          </a:p>
        </p:txBody>
      </p:sp>
      <p:sp>
        <p:nvSpPr>
          <p:cNvPr id="632" name="TextBox 33"/>
          <p:cNvSpPr txBox="1"/>
          <p:nvPr/>
        </p:nvSpPr>
        <p:spPr>
          <a:xfrm>
            <a:off x="868680" y="5120640"/>
            <a:ext cx="1920240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200">
                <a:solidFill>
                  <a:srgbClr val="C1441E"/>
                </a:solidFill>
              </a:defRPr>
            </a:lvl1pPr>
          </a:lstStyle>
          <a:p>
            <a:pPr/>
            <a:r>
              <a:t>0% → 35%</a:t>
            </a:r>
          </a:p>
        </p:txBody>
      </p:sp>
      <p:sp>
        <p:nvSpPr>
          <p:cNvPr id="633" name="Rectangle 34"/>
          <p:cNvSpPr/>
          <p:nvPr/>
        </p:nvSpPr>
        <p:spPr>
          <a:xfrm>
            <a:off x="2926079" y="4434840"/>
            <a:ext cx="2194561" cy="1554481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4" name="Rectangle 35"/>
          <p:cNvSpPr/>
          <p:nvPr/>
        </p:nvSpPr>
        <p:spPr>
          <a:xfrm>
            <a:off x="2926079" y="4434840"/>
            <a:ext cx="2194561" cy="54865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5" name="TextBox 36"/>
          <p:cNvSpPr txBox="1"/>
          <p:nvPr/>
        </p:nvSpPr>
        <p:spPr>
          <a:xfrm>
            <a:off x="3108960" y="4526279"/>
            <a:ext cx="192024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102A43"/>
                </a:solidFill>
              </a:defRPr>
            </a:lvl1pPr>
          </a:lstStyle>
          <a:p>
            <a:pPr/>
            <a:r>
              <a:t>Roadside-failure incidents / 1k</a:t>
            </a:r>
          </a:p>
        </p:txBody>
      </p:sp>
      <p:sp>
        <p:nvSpPr>
          <p:cNvPr id="636" name="TextBox 37"/>
          <p:cNvSpPr txBox="1"/>
          <p:nvPr/>
        </p:nvSpPr>
        <p:spPr>
          <a:xfrm>
            <a:off x="3108960" y="5120640"/>
            <a:ext cx="1920241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200">
                <a:solidFill>
                  <a:srgbClr val="C1441E"/>
                </a:solidFill>
              </a:defRPr>
            </a:lvl1pPr>
          </a:lstStyle>
          <a:p>
            <a:pPr/>
            <a:r>
              <a:t>−25%</a:t>
            </a:r>
          </a:p>
        </p:txBody>
      </p:sp>
      <p:sp>
        <p:nvSpPr>
          <p:cNvPr id="637" name="Rectangle 38"/>
          <p:cNvSpPr/>
          <p:nvPr/>
        </p:nvSpPr>
        <p:spPr>
          <a:xfrm>
            <a:off x="5166359" y="4434840"/>
            <a:ext cx="2194561" cy="1554481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8" name="Rectangle 39"/>
          <p:cNvSpPr/>
          <p:nvPr/>
        </p:nvSpPr>
        <p:spPr>
          <a:xfrm>
            <a:off x="5166359" y="4434840"/>
            <a:ext cx="2194561" cy="54865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9" name="TextBox 40"/>
          <p:cNvSpPr txBox="1"/>
          <p:nvPr/>
        </p:nvSpPr>
        <p:spPr>
          <a:xfrm>
            <a:off x="5349240" y="4526279"/>
            <a:ext cx="192024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102A43"/>
                </a:solidFill>
              </a:defRPr>
            </a:lvl1pPr>
          </a:lstStyle>
          <a:p>
            <a:pPr/>
            <a:r>
              <a:t>ESP attach at point of sale</a:t>
            </a:r>
          </a:p>
        </p:txBody>
      </p:sp>
      <p:sp>
        <p:nvSpPr>
          <p:cNvPr id="640" name="TextBox 41"/>
          <p:cNvSpPr txBox="1"/>
          <p:nvPr/>
        </p:nvSpPr>
        <p:spPr>
          <a:xfrm>
            <a:off x="5349240" y="5120640"/>
            <a:ext cx="1920241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200">
                <a:solidFill>
                  <a:srgbClr val="C1441E"/>
                </a:solidFill>
              </a:defRPr>
            </a:lvl1pPr>
          </a:lstStyle>
          <a:p>
            <a:pPr/>
            <a:r>
              <a:t>+8 pp</a:t>
            </a:r>
          </a:p>
        </p:txBody>
      </p:sp>
      <p:sp>
        <p:nvSpPr>
          <p:cNvPr id="641" name="Rectangle 42"/>
          <p:cNvSpPr/>
          <p:nvPr/>
        </p:nvSpPr>
        <p:spPr>
          <a:xfrm>
            <a:off x="7406640" y="4434840"/>
            <a:ext cx="2194561" cy="1554481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2" name="Rectangle 43"/>
          <p:cNvSpPr/>
          <p:nvPr/>
        </p:nvSpPr>
        <p:spPr>
          <a:xfrm>
            <a:off x="7406640" y="4434840"/>
            <a:ext cx="2194561" cy="54865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3" name="TextBox 44"/>
          <p:cNvSpPr txBox="1"/>
          <p:nvPr/>
        </p:nvSpPr>
        <p:spPr>
          <a:xfrm>
            <a:off x="7589519" y="4526279"/>
            <a:ext cx="192024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102A43"/>
                </a:solidFill>
              </a:defRPr>
            </a:lvl1pPr>
          </a:lstStyle>
          <a:p>
            <a:pPr/>
            <a:r>
              <a:t>First-time-fix rate</a:t>
            </a:r>
          </a:p>
        </p:txBody>
      </p:sp>
      <p:sp>
        <p:nvSpPr>
          <p:cNvPr id="644" name="TextBox 45"/>
          <p:cNvSpPr txBox="1"/>
          <p:nvPr/>
        </p:nvSpPr>
        <p:spPr>
          <a:xfrm>
            <a:off x="7589519" y="5120640"/>
            <a:ext cx="1920241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200">
                <a:solidFill>
                  <a:srgbClr val="C1441E"/>
                </a:solidFill>
              </a:defRPr>
            </a:lvl1pPr>
          </a:lstStyle>
          <a:p>
            <a:pPr/>
            <a:r>
              <a:t>+12 pp</a:t>
            </a:r>
          </a:p>
        </p:txBody>
      </p:sp>
      <p:sp>
        <p:nvSpPr>
          <p:cNvPr id="645" name="Rectangle 46"/>
          <p:cNvSpPr/>
          <p:nvPr/>
        </p:nvSpPr>
        <p:spPr>
          <a:xfrm>
            <a:off x="9646919" y="4434840"/>
            <a:ext cx="2194561" cy="1554481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6" name="Rectangle 47"/>
          <p:cNvSpPr/>
          <p:nvPr/>
        </p:nvSpPr>
        <p:spPr>
          <a:xfrm>
            <a:off x="9646919" y="4434840"/>
            <a:ext cx="2194561" cy="54865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7" name="TextBox 48"/>
          <p:cNvSpPr txBox="1"/>
          <p:nvPr/>
        </p:nvSpPr>
        <p:spPr>
          <a:xfrm>
            <a:off x="9829800" y="4526279"/>
            <a:ext cx="19202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102A43"/>
                </a:solidFill>
              </a:defRPr>
            </a:lvl1pPr>
          </a:lstStyle>
          <a:p>
            <a:pPr/>
            <a:r>
              <a:t>Prediction → booked appt</a:t>
            </a:r>
          </a:p>
        </p:txBody>
      </p:sp>
      <p:sp>
        <p:nvSpPr>
          <p:cNvPr id="648" name="TextBox 49"/>
          <p:cNvSpPr txBox="1"/>
          <p:nvPr/>
        </p:nvSpPr>
        <p:spPr>
          <a:xfrm>
            <a:off x="9829800" y="5120640"/>
            <a:ext cx="1920240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200">
                <a:solidFill>
                  <a:srgbClr val="C1441E"/>
                </a:solidFill>
              </a:defRPr>
            </a:lvl1pPr>
          </a:lstStyle>
          <a:p>
            <a:pPr/>
            <a:r>
              <a:t>&lt; 4 hrs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1" name="Rectangle 2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2" name="Rectangle 3"/>
          <p:cNvSpPr/>
          <p:nvPr/>
        </p:nvSpPr>
        <p:spPr>
          <a:xfrm>
            <a:off x="-1" y="6565392"/>
            <a:ext cx="12191697" cy="292609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3" name="TextBox 4"/>
          <p:cNvSpPr txBox="1"/>
          <p:nvPr/>
        </p:nvSpPr>
        <p:spPr>
          <a:xfrm>
            <a:off x="365759" y="6583680"/>
            <a:ext cx="73152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FFFFFF"/>
                </a:solidFill>
              </a:defRPr>
            </a:lvl1pPr>
          </a:lstStyle>
          <a:p>
            <a:pPr/>
            <a:r>
              <a:t>Camping World · Agentic AI Solution Architecture Blueprint v1.0</a:t>
            </a:r>
          </a:p>
        </p:txBody>
      </p:sp>
      <p:sp>
        <p:nvSpPr>
          <p:cNvPr id="654" name="TextBox 5"/>
          <p:cNvSpPr txBox="1"/>
          <p:nvPr/>
        </p:nvSpPr>
        <p:spPr>
          <a:xfrm>
            <a:off x="10332719" y="6583680"/>
            <a:ext cx="18288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/>
            <a:r>
              <a:t>14 / 30</a:t>
            </a:r>
          </a:p>
        </p:txBody>
      </p:sp>
      <p:sp>
        <p:nvSpPr>
          <p:cNvPr id="655" name="TextBox 6"/>
          <p:cNvSpPr txBox="1"/>
          <p:nvPr/>
        </p:nvSpPr>
        <p:spPr>
          <a:xfrm>
            <a:off x="502919" y="274320"/>
            <a:ext cx="1097280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C1441E"/>
                </a:solidFill>
              </a:defRPr>
            </a:lvl1pPr>
          </a:lstStyle>
          <a:p>
            <a:pPr/>
            <a:r>
              <a:t>DOMAIN 5.2</a:t>
            </a:r>
          </a:p>
        </p:txBody>
      </p:sp>
      <p:sp>
        <p:nvSpPr>
          <p:cNvPr id="656" name="TextBox 7"/>
          <p:cNvSpPr txBox="1"/>
          <p:nvPr/>
        </p:nvSpPr>
        <p:spPr>
          <a:xfrm>
            <a:off x="502919" y="502919"/>
            <a:ext cx="1124712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102A43"/>
                </a:solidFill>
              </a:defRPr>
            </a:lvl1pPr>
          </a:lstStyle>
          <a:p>
            <a:pPr/>
            <a:r>
              <a:t>Customer 360 &amp; Personalization — A Worked Example</a:t>
            </a:r>
          </a:p>
        </p:txBody>
      </p:sp>
      <p:sp>
        <p:nvSpPr>
          <p:cNvPr id="657" name="Rectangle 8"/>
          <p:cNvSpPr/>
          <p:nvPr/>
        </p:nvSpPr>
        <p:spPr>
          <a:xfrm>
            <a:off x="502919" y="1097280"/>
            <a:ext cx="548641" cy="36577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8" name="Rectangle 9"/>
          <p:cNvSpPr/>
          <p:nvPr/>
        </p:nvSpPr>
        <p:spPr>
          <a:xfrm>
            <a:off x="502919" y="1463039"/>
            <a:ext cx="5486401" cy="48463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9" name="Rectangle 10"/>
          <p:cNvSpPr/>
          <p:nvPr/>
        </p:nvSpPr>
        <p:spPr>
          <a:xfrm>
            <a:off x="502919" y="1463039"/>
            <a:ext cx="91441" cy="4846321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0" name="TextBox 11"/>
          <p:cNvSpPr txBox="1"/>
          <p:nvPr/>
        </p:nvSpPr>
        <p:spPr>
          <a:xfrm>
            <a:off x="777240" y="1600200"/>
            <a:ext cx="502920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102A43"/>
                </a:solidFill>
              </a:defRPr>
            </a:lvl1pPr>
          </a:lstStyle>
          <a:p>
            <a:pPr/>
            <a:r>
              <a:t>Scenario: Phoenix Member · Flagstaff Trip</a:t>
            </a:r>
          </a:p>
        </p:txBody>
      </p:sp>
      <p:sp>
        <p:nvSpPr>
          <p:cNvPr id="661" name="TextBox 12"/>
          <p:cNvSpPr txBox="1"/>
          <p:nvPr/>
        </p:nvSpPr>
        <p:spPr>
          <a:xfrm>
            <a:off x="777239" y="2103120"/>
            <a:ext cx="4937762" cy="12163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36454F"/>
                </a:solidFill>
              </a:defRPr>
            </a:pPr>
            <a:r>
              <a:t>Member bought a 28-ft travel trailer 11 months ago. Trip Planner sees a saved trip to Flagstaff next weekend. Weather feed shows a 30°F overnight low.</a:t>
            </a:r>
          </a:p>
          <a:p>
            <a:pPr>
              <a:defRPr sz="1100">
                <a:solidFill>
                  <a:srgbClr val="36454F"/>
                </a:solidFill>
              </a:defRPr>
            </a:pPr>
          </a:p>
          <a:p>
            <a:pPr>
              <a:defRPr sz="1100">
                <a:solidFill>
                  <a:srgbClr val="36454F"/>
                </a:solidFill>
              </a:defRPr>
            </a:pPr>
            <a:r>
              <a:t>Customer 360 resolves identity. Vehicle 360 confirms the unit profile. The Recommender returns: 4-season skirting kit, propane extension, leveling blocks. Content agent drafts an SMS. Guardrail agent confirms consent + frequency cap. Member Channel sends the offer with a one-tap reservation hold at Flagstaff store.</a:t>
            </a:r>
          </a:p>
        </p:txBody>
      </p:sp>
      <p:sp>
        <p:nvSpPr>
          <p:cNvPr id="662" name="TextBox 13"/>
          <p:cNvSpPr txBox="1"/>
          <p:nvPr/>
        </p:nvSpPr>
        <p:spPr>
          <a:xfrm>
            <a:off x="6263640" y="1463039"/>
            <a:ext cx="5486401" cy="277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102A43"/>
                </a:solidFill>
              </a:defRPr>
            </a:lvl1pPr>
          </a:lstStyle>
          <a:p>
            <a:pPr/>
            <a:r>
              <a:t>Agent Sequence</a:t>
            </a:r>
          </a:p>
        </p:txBody>
      </p:sp>
      <p:sp>
        <p:nvSpPr>
          <p:cNvPr id="663" name="Oval 14"/>
          <p:cNvSpPr/>
          <p:nvPr/>
        </p:nvSpPr>
        <p:spPr>
          <a:xfrm>
            <a:off x="6263640" y="1874518"/>
            <a:ext cx="384049" cy="384049"/>
          </a:xfrm>
          <a:prstGeom prst="ellipse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4" name="TextBox 15"/>
          <p:cNvSpPr txBox="1"/>
          <p:nvPr/>
        </p:nvSpPr>
        <p:spPr>
          <a:xfrm>
            <a:off x="6263640" y="1953689"/>
            <a:ext cx="384049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65" name="TextBox 16"/>
          <p:cNvSpPr txBox="1"/>
          <p:nvPr/>
        </p:nvSpPr>
        <p:spPr>
          <a:xfrm>
            <a:off x="6766559" y="1874518"/>
            <a:ext cx="493776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02A43"/>
                </a:solidFill>
              </a:defRPr>
            </a:lvl1pPr>
          </a:lstStyle>
          <a:p>
            <a:pPr/>
            <a:r>
              <a:t>Identity Resolution</a:t>
            </a:r>
          </a:p>
        </p:txBody>
      </p:sp>
      <p:sp>
        <p:nvSpPr>
          <p:cNvPr id="666" name="TextBox 17"/>
          <p:cNvSpPr txBox="1"/>
          <p:nvPr/>
        </p:nvSpPr>
        <p:spPr>
          <a:xfrm>
            <a:off x="6766559" y="2093975"/>
            <a:ext cx="493776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Customer 360 golden_id</a:t>
            </a:r>
          </a:p>
        </p:txBody>
      </p:sp>
      <p:sp>
        <p:nvSpPr>
          <p:cNvPr id="667" name="Oval 18"/>
          <p:cNvSpPr/>
          <p:nvPr/>
        </p:nvSpPr>
        <p:spPr>
          <a:xfrm>
            <a:off x="6263640" y="2423160"/>
            <a:ext cx="384049" cy="384049"/>
          </a:xfrm>
          <a:prstGeom prst="ellipse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8" name="TextBox 19"/>
          <p:cNvSpPr txBox="1"/>
          <p:nvPr/>
        </p:nvSpPr>
        <p:spPr>
          <a:xfrm>
            <a:off x="6263640" y="2502330"/>
            <a:ext cx="384049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69" name="TextBox 20"/>
          <p:cNvSpPr txBox="1"/>
          <p:nvPr/>
        </p:nvSpPr>
        <p:spPr>
          <a:xfrm>
            <a:off x="6766559" y="2423160"/>
            <a:ext cx="493776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02A43"/>
                </a:solidFill>
              </a:defRPr>
            </a:lvl1pPr>
          </a:lstStyle>
          <a:p>
            <a:pPr/>
            <a:r>
              <a:t>Vehicle Resolution</a:t>
            </a:r>
          </a:p>
        </p:txBody>
      </p:sp>
      <p:sp>
        <p:nvSpPr>
          <p:cNvPr id="670" name="TextBox 21"/>
          <p:cNvSpPr txBox="1"/>
          <p:nvPr/>
        </p:nvSpPr>
        <p:spPr>
          <a:xfrm>
            <a:off x="6766559" y="2642616"/>
            <a:ext cx="493776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Vehicle 360 unit profile</a:t>
            </a:r>
          </a:p>
        </p:txBody>
      </p:sp>
      <p:sp>
        <p:nvSpPr>
          <p:cNvPr id="671" name="Oval 22"/>
          <p:cNvSpPr/>
          <p:nvPr/>
        </p:nvSpPr>
        <p:spPr>
          <a:xfrm>
            <a:off x="6263640" y="2971800"/>
            <a:ext cx="384049" cy="384048"/>
          </a:xfrm>
          <a:prstGeom prst="ellipse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2" name="TextBox 23"/>
          <p:cNvSpPr txBox="1"/>
          <p:nvPr/>
        </p:nvSpPr>
        <p:spPr>
          <a:xfrm>
            <a:off x="6263640" y="3050970"/>
            <a:ext cx="384049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73" name="TextBox 24"/>
          <p:cNvSpPr txBox="1"/>
          <p:nvPr/>
        </p:nvSpPr>
        <p:spPr>
          <a:xfrm>
            <a:off x="6766559" y="2971800"/>
            <a:ext cx="493776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02A43"/>
                </a:solidFill>
              </a:defRPr>
            </a:lvl1pPr>
          </a:lstStyle>
          <a:p>
            <a:pPr/>
            <a:r>
              <a:t>Trigger Detection</a:t>
            </a:r>
          </a:p>
        </p:txBody>
      </p:sp>
      <p:sp>
        <p:nvSpPr>
          <p:cNvPr id="674" name="TextBox 25"/>
          <p:cNvSpPr txBox="1"/>
          <p:nvPr/>
        </p:nvSpPr>
        <p:spPr>
          <a:xfrm>
            <a:off x="6766559" y="3191255"/>
            <a:ext cx="49377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Event-Trigger Agent</a:t>
            </a:r>
          </a:p>
        </p:txBody>
      </p:sp>
      <p:sp>
        <p:nvSpPr>
          <p:cNvPr id="675" name="Oval 26"/>
          <p:cNvSpPr/>
          <p:nvPr/>
        </p:nvSpPr>
        <p:spPr>
          <a:xfrm>
            <a:off x="6263640" y="3520438"/>
            <a:ext cx="384049" cy="384049"/>
          </a:xfrm>
          <a:prstGeom prst="ellipse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6" name="TextBox 27"/>
          <p:cNvSpPr txBox="1"/>
          <p:nvPr/>
        </p:nvSpPr>
        <p:spPr>
          <a:xfrm>
            <a:off x="6263640" y="3599609"/>
            <a:ext cx="384049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77" name="TextBox 28"/>
          <p:cNvSpPr txBox="1"/>
          <p:nvPr/>
        </p:nvSpPr>
        <p:spPr>
          <a:xfrm>
            <a:off x="6766559" y="3520438"/>
            <a:ext cx="493776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02A43"/>
                </a:solidFill>
              </a:defRPr>
            </a:lvl1pPr>
          </a:lstStyle>
          <a:p>
            <a:pPr/>
            <a:r>
              <a:t>Audience + Recommender</a:t>
            </a:r>
          </a:p>
        </p:txBody>
      </p:sp>
      <p:sp>
        <p:nvSpPr>
          <p:cNvPr id="678" name="TextBox 29"/>
          <p:cNvSpPr txBox="1"/>
          <p:nvPr/>
        </p:nvSpPr>
        <p:spPr>
          <a:xfrm>
            <a:off x="6766559" y="3739894"/>
            <a:ext cx="49377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Two-tower model · ranked items</a:t>
            </a:r>
          </a:p>
        </p:txBody>
      </p:sp>
      <p:sp>
        <p:nvSpPr>
          <p:cNvPr id="679" name="Oval 30"/>
          <p:cNvSpPr/>
          <p:nvPr/>
        </p:nvSpPr>
        <p:spPr>
          <a:xfrm>
            <a:off x="6263640" y="4069079"/>
            <a:ext cx="384049" cy="384049"/>
          </a:xfrm>
          <a:prstGeom prst="ellipse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0" name="TextBox 31"/>
          <p:cNvSpPr txBox="1"/>
          <p:nvPr/>
        </p:nvSpPr>
        <p:spPr>
          <a:xfrm>
            <a:off x="6263640" y="4148249"/>
            <a:ext cx="384049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681" name="TextBox 32"/>
          <p:cNvSpPr txBox="1"/>
          <p:nvPr/>
        </p:nvSpPr>
        <p:spPr>
          <a:xfrm>
            <a:off x="6766559" y="4069079"/>
            <a:ext cx="493776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02A43"/>
                </a:solidFill>
              </a:defRPr>
            </a:lvl1pPr>
          </a:lstStyle>
          <a:p>
            <a:pPr/>
            <a:r>
              <a:t>Content Render</a:t>
            </a:r>
          </a:p>
        </p:txBody>
      </p:sp>
      <p:sp>
        <p:nvSpPr>
          <p:cNvPr id="682" name="TextBox 33"/>
          <p:cNvSpPr txBox="1"/>
          <p:nvPr/>
        </p:nvSpPr>
        <p:spPr>
          <a:xfrm>
            <a:off x="6766559" y="4288535"/>
            <a:ext cx="493776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Subject + body + product blocks</a:t>
            </a:r>
          </a:p>
        </p:txBody>
      </p:sp>
      <p:sp>
        <p:nvSpPr>
          <p:cNvPr id="683" name="Oval 34"/>
          <p:cNvSpPr/>
          <p:nvPr/>
        </p:nvSpPr>
        <p:spPr>
          <a:xfrm>
            <a:off x="6263640" y="4617720"/>
            <a:ext cx="384049" cy="384049"/>
          </a:xfrm>
          <a:prstGeom prst="ellipse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4" name="TextBox 35"/>
          <p:cNvSpPr txBox="1"/>
          <p:nvPr/>
        </p:nvSpPr>
        <p:spPr>
          <a:xfrm>
            <a:off x="6263640" y="4696890"/>
            <a:ext cx="384049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685" name="TextBox 36"/>
          <p:cNvSpPr txBox="1"/>
          <p:nvPr/>
        </p:nvSpPr>
        <p:spPr>
          <a:xfrm>
            <a:off x="6766559" y="4617720"/>
            <a:ext cx="493776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02A43"/>
                </a:solidFill>
              </a:defRPr>
            </a:lvl1pPr>
          </a:lstStyle>
          <a:p>
            <a:pPr/>
            <a:r>
              <a:t>Guardrails</a:t>
            </a:r>
          </a:p>
        </p:txBody>
      </p:sp>
      <p:sp>
        <p:nvSpPr>
          <p:cNvPr id="686" name="TextBox 37"/>
          <p:cNvSpPr txBox="1"/>
          <p:nvPr/>
        </p:nvSpPr>
        <p:spPr>
          <a:xfrm>
            <a:off x="6766559" y="4837176"/>
            <a:ext cx="493776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Consent · frequency cap · PII</a:t>
            </a:r>
          </a:p>
        </p:txBody>
      </p:sp>
      <p:sp>
        <p:nvSpPr>
          <p:cNvPr id="687" name="Oval 38"/>
          <p:cNvSpPr/>
          <p:nvPr/>
        </p:nvSpPr>
        <p:spPr>
          <a:xfrm>
            <a:off x="6263640" y="5166359"/>
            <a:ext cx="384049" cy="384049"/>
          </a:xfrm>
          <a:prstGeom prst="ellipse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8" name="TextBox 39"/>
          <p:cNvSpPr txBox="1"/>
          <p:nvPr/>
        </p:nvSpPr>
        <p:spPr>
          <a:xfrm>
            <a:off x="6263640" y="5245529"/>
            <a:ext cx="384049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689" name="TextBox 40"/>
          <p:cNvSpPr txBox="1"/>
          <p:nvPr/>
        </p:nvSpPr>
        <p:spPr>
          <a:xfrm>
            <a:off x="6766559" y="5166359"/>
            <a:ext cx="493776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02A43"/>
                </a:solidFill>
              </a:defRPr>
            </a:lvl1pPr>
          </a:lstStyle>
          <a:p>
            <a:pPr/>
            <a:r>
              <a:t>Channel Delivery</a:t>
            </a:r>
          </a:p>
        </p:txBody>
      </p:sp>
      <p:sp>
        <p:nvSpPr>
          <p:cNvPr id="690" name="TextBox 41"/>
          <p:cNvSpPr txBox="1"/>
          <p:nvPr/>
        </p:nvSpPr>
        <p:spPr>
          <a:xfrm>
            <a:off x="6766559" y="5385815"/>
            <a:ext cx="493776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SMS · with reservation deeplink</a:t>
            </a:r>
          </a:p>
        </p:txBody>
      </p:sp>
      <p:sp>
        <p:nvSpPr>
          <p:cNvPr id="691" name="Oval 42"/>
          <p:cNvSpPr/>
          <p:nvPr/>
        </p:nvSpPr>
        <p:spPr>
          <a:xfrm>
            <a:off x="6263640" y="5715000"/>
            <a:ext cx="384049" cy="384048"/>
          </a:xfrm>
          <a:prstGeom prst="ellipse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2" name="TextBox 43"/>
          <p:cNvSpPr txBox="1"/>
          <p:nvPr/>
        </p:nvSpPr>
        <p:spPr>
          <a:xfrm>
            <a:off x="6263640" y="5794170"/>
            <a:ext cx="384049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693" name="TextBox 44"/>
          <p:cNvSpPr txBox="1"/>
          <p:nvPr/>
        </p:nvSpPr>
        <p:spPr>
          <a:xfrm>
            <a:off x="6766559" y="5715000"/>
            <a:ext cx="493776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02A43"/>
                </a:solidFill>
              </a:defRPr>
            </a:lvl1pPr>
          </a:lstStyle>
          <a:p>
            <a:pPr/>
            <a:r>
              <a:t>Outcome Capture</a:t>
            </a:r>
          </a:p>
        </p:txBody>
      </p:sp>
      <p:sp>
        <p:nvSpPr>
          <p:cNvPr id="694" name="TextBox 45"/>
          <p:cNvSpPr txBox="1"/>
          <p:nvPr/>
        </p:nvSpPr>
        <p:spPr>
          <a:xfrm>
            <a:off x="6766559" y="5934455"/>
            <a:ext cx="49377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Run Store + ROAS attribution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7" name="Rectangle 2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8" name="Rectangle 3"/>
          <p:cNvSpPr/>
          <p:nvPr/>
        </p:nvSpPr>
        <p:spPr>
          <a:xfrm>
            <a:off x="-1" y="6565392"/>
            <a:ext cx="12191697" cy="292609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9" name="TextBox 4"/>
          <p:cNvSpPr txBox="1"/>
          <p:nvPr/>
        </p:nvSpPr>
        <p:spPr>
          <a:xfrm>
            <a:off x="365759" y="6583680"/>
            <a:ext cx="73152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FFFFFF"/>
                </a:solidFill>
              </a:defRPr>
            </a:lvl1pPr>
          </a:lstStyle>
          <a:p>
            <a:pPr/>
            <a:r>
              <a:t>Camping World · Agentic AI Solution Architecture Blueprint v1.0</a:t>
            </a:r>
          </a:p>
        </p:txBody>
      </p:sp>
      <p:sp>
        <p:nvSpPr>
          <p:cNvPr id="700" name="TextBox 5"/>
          <p:cNvSpPr txBox="1"/>
          <p:nvPr/>
        </p:nvSpPr>
        <p:spPr>
          <a:xfrm>
            <a:off x="10332719" y="6583680"/>
            <a:ext cx="18288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/>
            <a:r>
              <a:t>15 / 30</a:t>
            </a:r>
          </a:p>
        </p:txBody>
      </p:sp>
      <p:sp>
        <p:nvSpPr>
          <p:cNvPr id="701" name="TextBox 6"/>
          <p:cNvSpPr txBox="1"/>
          <p:nvPr/>
        </p:nvSpPr>
        <p:spPr>
          <a:xfrm>
            <a:off x="502919" y="274320"/>
            <a:ext cx="1097280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C1441E"/>
                </a:solidFill>
              </a:defRPr>
            </a:lvl1pPr>
          </a:lstStyle>
          <a:p>
            <a:pPr/>
            <a:r>
              <a:t>DOMAIN 5.3</a:t>
            </a:r>
          </a:p>
        </p:txBody>
      </p:sp>
      <p:sp>
        <p:nvSpPr>
          <p:cNvPr id="702" name="TextBox 7"/>
          <p:cNvSpPr txBox="1"/>
          <p:nvPr/>
        </p:nvSpPr>
        <p:spPr>
          <a:xfrm>
            <a:off x="502919" y="502919"/>
            <a:ext cx="1124712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102A43"/>
                </a:solidFill>
              </a:defRPr>
            </a:lvl1pPr>
          </a:lstStyle>
          <a:p>
            <a:pPr/>
            <a:r>
              <a:t>Dealership Productivity &amp; Conversational AI</a:t>
            </a:r>
          </a:p>
        </p:txBody>
      </p:sp>
      <p:sp>
        <p:nvSpPr>
          <p:cNvPr id="703" name="Rectangle 8"/>
          <p:cNvSpPr/>
          <p:nvPr/>
        </p:nvSpPr>
        <p:spPr>
          <a:xfrm>
            <a:off x="502919" y="1097280"/>
            <a:ext cx="548641" cy="36577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4" name="Rectangle 9"/>
          <p:cNvSpPr/>
          <p:nvPr/>
        </p:nvSpPr>
        <p:spPr>
          <a:xfrm>
            <a:off x="594359" y="1463039"/>
            <a:ext cx="5486401" cy="2286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5" name="Rectangle 10"/>
          <p:cNvSpPr/>
          <p:nvPr/>
        </p:nvSpPr>
        <p:spPr>
          <a:xfrm>
            <a:off x="594359" y="1463039"/>
            <a:ext cx="5486401" cy="502920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6" name="TextBox 11"/>
          <p:cNvSpPr txBox="1"/>
          <p:nvPr/>
        </p:nvSpPr>
        <p:spPr>
          <a:xfrm>
            <a:off x="822960" y="1575502"/>
            <a:ext cx="502920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Lead-Gen Chatbot</a:t>
            </a:r>
          </a:p>
        </p:txBody>
      </p:sp>
      <p:sp>
        <p:nvSpPr>
          <p:cNvPr id="707" name="Rounded Rectangle 12"/>
          <p:cNvSpPr/>
          <p:nvPr/>
        </p:nvSpPr>
        <p:spPr>
          <a:xfrm>
            <a:off x="5303520" y="1554480"/>
            <a:ext cx="640081" cy="29260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8" name="TextBox 13"/>
          <p:cNvSpPr txBox="1"/>
          <p:nvPr/>
        </p:nvSpPr>
        <p:spPr>
          <a:xfrm>
            <a:off x="5303520" y="1586528"/>
            <a:ext cx="64008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C1441E"/>
                </a:solidFill>
              </a:defRPr>
            </a:lvl1pPr>
          </a:lstStyle>
          <a:p>
            <a:pPr/>
            <a:r>
              <a:t>Low</a:t>
            </a:r>
          </a:p>
        </p:txBody>
      </p:sp>
      <p:sp>
        <p:nvSpPr>
          <p:cNvPr id="709" name="TextBox 14"/>
          <p:cNvSpPr txBox="1"/>
          <p:nvPr/>
        </p:nvSpPr>
        <p:spPr>
          <a:xfrm>
            <a:off x="822960" y="2103120"/>
            <a:ext cx="201168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C1441E"/>
                </a:solidFill>
              </a:defRPr>
            </a:lvl1pPr>
          </a:lstStyle>
          <a:p>
            <a:pPr/>
            <a:r>
              <a:t>Channel</a:t>
            </a:r>
          </a:p>
        </p:txBody>
      </p:sp>
      <p:sp>
        <p:nvSpPr>
          <p:cNvPr id="710" name="TextBox 15"/>
          <p:cNvSpPr txBox="1"/>
          <p:nvPr/>
        </p:nvSpPr>
        <p:spPr>
          <a:xfrm>
            <a:off x="822960" y="2377439"/>
            <a:ext cx="201168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02A43"/>
                </a:solidFill>
              </a:defRPr>
            </a:lvl1pPr>
          </a:lstStyle>
          <a:p>
            <a:pPr/>
            <a:r>
              <a:t>Web · SMS</a:t>
            </a:r>
          </a:p>
        </p:txBody>
      </p:sp>
      <p:sp>
        <p:nvSpPr>
          <p:cNvPr id="711" name="TextBox 16"/>
          <p:cNvSpPr txBox="1"/>
          <p:nvPr/>
        </p:nvSpPr>
        <p:spPr>
          <a:xfrm>
            <a:off x="822960" y="2788920"/>
            <a:ext cx="502920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C1441E"/>
                </a:solidFill>
              </a:defRPr>
            </a:lvl1pPr>
          </a:lstStyle>
          <a:p>
            <a:pPr/>
            <a:r>
              <a:t>Role</a:t>
            </a:r>
          </a:p>
        </p:txBody>
      </p:sp>
      <p:sp>
        <p:nvSpPr>
          <p:cNvPr id="712" name="TextBox 17"/>
          <p:cNvSpPr txBox="1"/>
          <p:nvPr/>
        </p:nvSpPr>
        <p:spPr>
          <a:xfrm>
            <a:off x="822960" y="3063239"/>
            <a:ext cx="502920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02A43"/>
                </a:solidFill>
              </a:defRPr>
            </a:lvl1pPr>
          </a:lstStyle>
          <a:p>
            <a:pPr/>
            <a:r>
              <a:t>Containment + qualify</a:t>
            </a:r>
          </a:p>
        </p:txBody>
      </p:sp>
      <p:sp>
        <p:nvSpPr>
          <p:cNvPr id="713" name="Rectangle 18"/>
          <p:cNvSpPr/>
          <p:nvPr/>
        </p:nvSpPr>
        <p:spPr>
          <a:xfrm>
            <a:off x="6355079" y="1463039"/>
            <a:ext cx="5486401" cy="2286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4" name="Rectangle 19"/>
          <p:cNvSpPr/>
          <p:nvPr/>
        </p:nvSpPr>
        <p:spPr>
          <a:xfrm>
            <a:off x="6355079" y="1463039"/>
            <a:ext cx="5486401" cy="502920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5" name="TextBox 20"/>
          <p:cNvSpPr txBox="1"/>
          <p:nvPr/>
        </p:nvSpPr>
        <p:spPr>
          <a:xfrm>
            <a:off x="6583680" y="1575502"/>
            <a:ext cx="502920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Service Scheduler</a:t>
            </a:r>
          </a:p>
        </p:txBody>
      </p:sp>
      <p:sp>
        <p:nvSpPr>
          <p:cNvPr id="716" name="Rounded Rectangle 21"/>
          <p:cNvSpPr/>
          <p:nvPr/>
        </p:nvSpPr>
        <p:spPr>
          <a:xfrm>
            <a:off x="11064240" y="1554480"/>
            <a:ext cx="640081" cy="29260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7" name="TextBox 22"/>
          <p:cNvSpPr txBox="1"/>
          <p:nvPr/>
        </p:nvSpPr>
        <p:spPr>
          <a:xfrm>
            <a:off x="11064240" y="1586528"/>
            <a:ext cx="64008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C1441E"/>
                </a:solidFill>
              </a:defRPr>
            </a:lvl1pPr>
          </a:lstStyle>
          <a:p>
            <a:pPr/>
            <a:r>
              <a:t>Low</a:t>
            </a:r>
          </a:p>
        </p:txBody>
      </p:sp>
      <p:sp>
        <p:nvSpPr>
          <p:cNvPr id="718" name="TextBox 23"/>
          <p:cNvSpPr txBox="1"/>
          <p:nvPr/>
        </p:nvSpPr>
        <p:spPr>
          <a:xfrm>
            <a:off x="6583680" y="2103120"/>
            <a:ext cx="201168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C1441E"/>
                </a:solidFill>
              </a:defRPr>
            </a:lvl1pPr>
          </a:lstStyle>
          <a:p>
            <a:pPr/>
            <a:r>
              <a:t>Channel</a:t>
            </a:r>
          </a:p>
        </p:txBody>
      </p:sp>
      <p:sp>
        <p:nvSpPr>
          <p:cNvPr id="719" name="TextBox 24"/>
          <p:cNvSpPr txBox="1"/>
          <p:nvPr/>
        </p:nvSpPr>
        <p:spPr>
          <a:xfrm>
            <a:off x="6583680" y="2377439"/>
            <a:ext cx="201168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02A43"/>
                </a:solidFill>
              </a:defRPr>
            </a:lvl1pPr>
          </a:lstStyle>
          <a:p>
            <a:pPr/>
            <a:r>
              <a:t>Voice · App</a:t>
            </a:r>
          </a:p>
        </p:txBody>
      </p:sp>
      <p:sp>
        <p:nvSpPr>
          <p:cNvPr id="720" name="TextBox 25"/>
          <p:cNvSpPr txBox="1"/>
          <p:nvPr/>
        </p:nvSpPr>
        <p:spPr>
          <a:xfrm>
            <a:off x="6583680" y="2788920"/>
            <a:ext cx="502920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C1441E"/>
                </a:solidFill>
              </a:defRPr>
            </a:lvl1pPr>
          </a:lstStyle>
          <a:p>
            <a:pPr/>
            <a:r>
              <a:t>Role</a:t>
            </a:r>
          </a:p>
        </p:txBody>
      </p:sp>
      <p:sp>
        <p:nvSpPr>
          <p:cNvPr id="721" name="TextBox 26"/>
          <p:cNvSpPr txBox="1"/>
          <p:nvPr/>
        </p:nvSpPr>
        <p:spPr>
          <a:xfrm>
            <a:off x="6583680" y="3063239"/>
            <a:ext cx="502920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02A43"/>
                </a:solidFill>
              </a:defRPr>
            </a:lvl1pPr>
          </a:lstStyle>
          <a:p>
            <a:pPr/>
            <a:r>
              <a:t>Booking + parts hold</a:t>
            </a:r>
          </a:p>
        </p:txBody>
      </p:sp>
      <p:sp>
        <p:nvSpPr>
          <p:cNvPr id="722" name="Rectangle 27"/>
          <p:cNvSpPr/>
          <p:nvPr/>
        </p:nvSpPr>
        <p:spPr>
          <a:xfrm>
            <a:off x="594359" y="4023359"/>
            <a:ext cx="5486401" cy="2286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3" name="Rectangle 28"/>
          <p:cNvSpPr/>
          <p:nvPr/>
        </p:nvSpPr>
        <p:spPr>
          <a:xfrm>
            <a:off x="594359" y="4023359"/>
            <a:ext cx="5486401" cy="502920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4" name="TextBox 29"/>
          <p:cNvSpPr txBox="1"/>
          <p:nvPr/>
        </p:nvSpPr>
        <p:spPr>
          <a:xfrm>
            <a:off x="822960" y="4135821"/>
            <a:ext cx="502920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Sales Co-Pilot</a:t>
            </a:r>
          </a:p>
        </p:txBody>
      </p:sp>
      <p:sp>
        <p:nvSpPr>
          <p:cNvPr id="725" name="Rounded Rectangle 30"/>
          <p:cNvSpPr/>
          <p:nvPr/>
        </p:nvSpPr>
        <p:spPr>
          <a:xfrm>
            <a:off x="5303520" y="4114800"/>
            <a:ext cx="640081" cy="29260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6" name="TextBox 31"/>
          <p:cNvSpPr txBox="1"/>
          <p:nvPr/>
        </p:nvSpPr>
        <p:spPr>
          <a:xfrm>
            <a:off x="5303520" y="4146848"/>
            <a:ext cx="64008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C1441E"/>
                </a:solidFill>
              </a:defRPr>
            </a:lvl1pPr>
          </a:lstStyle>
          <a:p>
            <a:pPr/>
            <a:r>
              <a:t>Medium</a:t>
            </a:r>
          </a:p>
        </p:txBody>
      </p:sp>
      <p:sp>
        <p:nvSpPr>
          <p:cNvPr id="727" name="TextBox 32"/>
          <p:cNvSpPr txBox="1"/>
          <p:nvPr/>
        </p:nvSpPr>
        <p:spPr>
          <a:xfrm>
            <a:off x="822960" y="4663440"/>
            <a:ext cx="201168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C1441E"/>
                </a:solidFill>
              </a:defRPr>
            </a:lvl1pPr>
          </a:lstStyle>
          <a:p>
            <a:pPr/>
            <a:r>
              <a:t>Channel</a:t>
            </a:r>
          </a:p>
        </p:txBody>
      </p:sp>
      <p:sp>
        <p:nvSpPr>
          <p:cNvPr id="728" name="TextBox 33"/>
          <p:cNvSpPr txBox="1"/>
          <p:nvPr/>
        </p:nvSpPr>
        <p:spPr>
          <a:xfrm>
            <a:off x="822960" y="4937759"/>
            <a:ext cx="201168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02A43"/>
                </a:solidFill>
              </a:defRPr>
            </a:lvl1pPr>
          </a:lstStyle>
          <a:p>
            <a:pPr/>
            <a:r>
              <a:t>Tablet · Browser</a:t>
            </a:r>
          </a:p>
        </p:txBody>
      </p:sp>
      <p:sp>
        <p:nvSpPr>
          <p:cNvPr id="729" name="TextBox 34"/>
          <p:cNvSpPr txBox="1"/>
          <p:nvPr/>
        </p:nvSpPr>
        <p:spPr>
          <a:xfrm>
            <a:off x="822960" y="5349240"/>
            <a:ext cx="502920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C1441E"/>
                </a:solidFill>
              </a:defRPr>
            </a:lvl1pPr>
          </a:lstStyle>
          <a:p>
            <a:pPr/>
            <a:r>
              <a:t>Role</a:t>
            </a:r>
          </a:p>
        </p:txBody>
      </p:sp>
      <p:sp>
        <p:nvSpPr>
          <p:cNvPr id="730" name="TextBox 35"/>
          <p:cNvSpPr txBox="1"/>
          <p:nvPr/>
        </p:nvSpPr>
        <p:spPr>
          <a:xfrm>
            <a:off x="822960" y="5623559"/>
            <a:ext cx="502920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02A43"/>
                </a:solidFill>
              </a:defRPr>
            </a:lvl1pPr>
          </a:lstStyle>
          <a:p>
            <a:pPr/>
            <a:r>
              <a:t>Advisor-shadowed; never autonomous on price</a:t>
            </a:r>
          </a:p>
        </p:txBody>
      </p:sp>
      <p:sp>
        <p:nvSpPr>
          <p:cNvPr id="731" name="Rectangle 36"/>
          <p:cNvSpPr/>
          <p:nvPr/>
        </p:nvSpPr>
        <p:spPr>
          <a:xfrm>
            <a:off x="6355079" y="4023359"/>
            <a:ext cx="5486401" cy="2286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2" name="Rectangle 37"/>
          <p:cNvSpPr/>
          <p:nvPr/>
        </p:nvSpPr>
        <p:spPr>
          <a:xfrm>
            <a:off x="6355079" y="4023359"/>
            <a:ext cx="5486401" cy="502920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3" name="TextBox 38"/>
          <p:cNvSpPr txBox="1"/>
          <p:nvPr/>
        </p:nvSpPr>
        <p:spPr>
          <a:xfrm>
            <a:off x="6583680" y="4135821"/>
            <a:ext cx="502920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Tech Diagnostic Co-Pilot</a:t>
            </a:r>
          </a:p>
        </p:txBody>
      </p:sp>
      <p:sp>
        <p:nvSpPr>
          <p:cNvPr id="734" name="Rounded Rectangle 39"/>
          <p:cNvSpPr/>
          <p:nvPr/>
        </p:nvSpPr>
        <p:spPr>
          <a:xfrm>
            <a:off x="11064240" y="4114800"/>
            <a:ext cx="640081" cy="29260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5" name="TextBox 40"/>
          <p:cNvSpPr txBox="1"/>
          <p:nvPr/>
        </p:nvSpPr>
        <p:spPr>
          <a:xfrm>
            <a:off x="11064240" y="4146848"/>
            <a:ext cx="64008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C1441E"/>
                </a:solidFill>
              </a:defRPr>
            </a:lvl1pPr>
          </a:lstStyle>
          <a:p>
            <a:pPr/>
            <a:r>
              <a:t>Low</a:t>
            </a:r>
          </a:p>
        </p:txBody>
      </p:sp>
      <p:sp>
        <p:nvSpPr>
          <p:cNvPr id="736" name="TextBox 41"/>
          <p:cNvSpPr txBox="1"/>
          <p:nvPr/>
        </p:nvSpPr>
        <p:spPr>
          <a:xfrm>
            <a:off x="6583680" y="4663440"/>
            <a:ext cx="201168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C1441E"/>
                </a:solidFill>
              </a:defRPr>
            </a:lvl1pPr>
          </a:lstStyle>
          <a:p>
            <a:pPr/>
            <a:r>
              <a:t>Channel</a:t>
            </a:r>
          </a:p>
        </p:txBody>
      </p:sp>
      <p:sp>
        <p:nvSpPr>
          <p:cNvPr id="737" name="TextBox 42"/>
          <p:cNvSpPr txBox="1"/>
          <p:nvPr/>
        </p:nvSpPr>
        <p:spPr>
          <a:xfrm>
            <a:off x="6583680" y="4937759"/>
            <a:ext cx="201168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02A43"/>
                </a:solidFill>
              </a:defRPr>
            </a:lvl1pPr>
          </a:lstStyle>
          <a:p>
            <a:pPr/>
            <a:r>
              <a:t>Bay tablet</a:t>
            </a:r>
          </a:p>
        </p:txBody>
      </p:sp>
      <p:sp>
        <p:nvSpPr>
          <p:cNvPr id="738" name="TextBox 43"/>
          <p:cNvSpPr txBox="1"/>
          <p:nvPr/>
        </p:nvSpPr>
        <p:spPr>
          <a:xfrm>
            <a:off x="6583680" y="5349240"/>
            <a:ext cx="502920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C1441E"/>
                </a:solidFill>
              </a:defRPr>
            </a:lvl1pPr>
          </a:lstStyle>
          <a:p>
            <a:pPr/>
            <a:r>
              <a:t>Role</a:t>
            </a:r>
          </a:p>
        </p:txBody>
      </p:sp>
      <p:sp>
        <p:nvSpPr>
          <p:cNvPr id="739" name="TextBox 44"/>
          <p:cNvSpPr txBox="1"/>
          <p:nvPr/>
        </p:nvSpPr>
        <p:spPr>
          <a:xfrm>
            <a:off x="6583680" y="5623559"/>
            <a:ext cx="502920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02A43"/>
                </a:solidFill>
              </a:defRPr>
            </a:lvl1pPr>
          </a:lstStyle>
          <a:p>
            <a:pPr/>
            <a:r>
              <a:t>Manual + RO history retrieval</a:t>
            </a:r>
          </a:p>
        </p:txBody>
      </p:sp>
      <p:sp>
        <p:nvSpPr>
          <p:cNvPr id="740" name="Rectangle 45"/>
          <p:cNvSpPr/>
          <p:nvPr/>
        </p:nvSpPr>
        <p:spPr>
          <a:xfrm>
            <a:off x="594359" y="6263640"/>
            <a:ext cx="10972801" cy="365761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1" name="TextBox 46"/>
          <p:cNvSpPr txBox="1"/>
          <p:nvPr/>
        </p:nvSpPr>
        <p:spPr>
          <a:xfrm>
            <a:off x="777240" y="6333666"/>
            <a:ext cx="1051560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1E6CB"/>
                </a:solidFill>
              </a:defRPr>
            </a:lvl1pPr>
          </a:lstStyle>
          <a:p>
            <a:pPr/>
            <a:r>
              <a:t>Targets — Containment ≥ 55% (2027 H1)  ·  Lead → test-drive +30% (2028 Q1)  ·  Advisor minutes saved/ticket: 6 (2027 H2)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4" name="Rectangle 2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5" name="Rectangle 3"/>
          <p:cNvSpPr/>
          <p:nvPr/>
        </p:nvSpPr>
        <p:spPr>
          <a:xfrm>
            <a:off x="-1" y="6565392"/>
            <a:ext cx="12191697" cy="292609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6" name="TextBox 4"/>
          <p:cNvSpPr txBox="1"/>
          <p:nvPr/>
        </p:nvSpPr>
        <p:spPr>
          <a:xfrm>
            <a:off x="365759" y="6583680"/>
            <a:ext cx="73152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FFFFFF"/>
                </a:solidFill>
              </a:defRPr>
            </a:lvl1pPr>
          </a:lstStyle>
          <a:p>
            <a:pPr/>
            <a:r>
              <a:t>Camping World · Agentic AI Solution Architecture Blueprint v1.0</a:t>
            </a:r>
          </a:p>
        </p:txBody>
      </p:sp>
      <p:sp>
        <p:nvSpPr>
          <p:cNvPr id="747" name="TextBox 5"/>
          <p:cNvSpPr txBox="1"/>
          <p:nvPr/>
        </p:nvSpPr>
        <p:spPr>
          <a:xfrm>
            <a:off x="10332719" y="6583680"/>
            <a:ext cx="18288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/>
            <a:r>
              <a:t>16 / 30</a:t>
            </a:r>
          </a:p>
        </p:txBody>
      </p:sp>
      <p:sp>
        <p:nvSpPr>
          <p:cNvPr id="748" name="TextBox 6"/>
          <p:cNvSpPr txBox="1"/>
          <p:nvPr/>
        </p:nvSpPr>
        <p:spPr>
          <a:xfrm>
            <a:off x="502919" y="274320"/>
            <a:ext cx="1097280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C1441E"/>
                </a:solidFill>
              </a:defRPr>
            </a:lvl1pPr>
          </a:lstStyle>
          <a:p>
            <a:pPr/>
            <a:r>
              <a:t>DOMAIN 5.4</a:t>
            </a:r>
          </a:p>
        </p:txBody>
      </p:sp>
      <p:sp>
        <p:nvSpPr>
          <p:cNvPr id="749" name="TextBox 7"/>
          <p:cNvSpPr txBox="1"/>
          <p:nvPr/>
        </p:nvSpPr>
        <p:spPr>
          <a:xfrm>
            <a:off x="502919" y="502919"/>
            <a:ext cx="1124712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102A43"/>
                </a:solidFill>
              </a:defRPr>
            </a:lvl1pPr>
          </a:lstStyle>
          <a:p>
            <a:pPr/>
            <a:r>
              <a:t>Inventory Metrology &amp; Pricing</a:t>
            </a:r>
          </a:p>
        </p:txBody>
      </p:sp>
      <p:sp>
        <p:nvSpPr>
          <p:cNvPr id="750" name="Rectangle 8"/>
          <p:cNvSpPr/>
          <p:nvPr/>
        </p:nvSpPr>
        <p:spPr>
          <a:xfrm>
            <a:off x="502919" y="1097280"/>
            <a:ext cx="548641" cy="36577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51" name="Rectangle 9"/>
          <p:cNvSpPr/>
          <p:nvPr/>
        </p:nvSpPr>
        <p:spPr>
          <a:xfrm>
            <a:off x="502919" y="1508760"/>
            <a:ext cx="11247122" cy="8686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52" name="Rectangle 10"/>
          <p:cNvSpPr/>
          <p:nvPr/>
        </p:nvSpPr>
        <p:spPr>
          <a:xfrm>
            <a:off x="502919" y="1508760"/>
            <a:ext cx="164593" cy="868681"/>
          </a:xfrm>
          <a:prstGeom prst="rect">
            <a:avLst/>
          </a:prstGeom>
          <a:solidFill>
            <a:srgbClr val="6E8B4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53" name="TextBox 11"/>
          <p:cNvSpPr txBox="1"/>
          <p:nvPr/>
        </p:nvSpPr>
        <p:spPr>
          <a:xfrm>
            <a:off x="777239" y="1600199"/>
            <a:ext cx="246888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102A43"/>
                </a:solidFill>
              </a:defRPr>
            </a:lvl1pPr>
          </a:lstStyle>
          <a:p>
            <a:pPr/>
            <a:r>
              <a:t>Demand Forecast</a:t>
            </a:r>
          </a:p>
        </p:txBody>
      </p:sp>
      <p:sp>
        <p:nvSpPr>
          <p:cNvPr id="754" name="TextBox 12"/>
          <p:cNvSpPr txBox="1"/>
          <p:nvPr/>
        </p:nvSpPr>
        <p:spPr>
          <a:xfrm>
            <a:off x="777239" y="1965960"/>
            <a:ext cx="246888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30/60/90-day demand by SKU × region</a:t>
            </a:r>
          </a:p>
        </p:txBody>
      </p:sp>
      <p:sp>
        <p:nvSpPr>
          <p:cNvPr id="755" name="TextBox 13"/>
          <p:cNvSpPr txBox="1"/>
          <p:nvPr/>
        </p:nvSpPr>
        <p:spPr>
          <a:xfrm>
            <a:off x="3383279" y="1600199"/>
            <a:ext cx="54864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C1441E"/>
                </a:solidFill>
              </a:defRPr>
            </a:lvl1pPr>
          </a:lstStyle>
          <a:p>
            <a:pPr/>
            <a:r>
              <a:t>INPUTS</a:t>
            </a:r>
          </a:p>
        </p:txBody>
      </p:sp>
      <p:sp>
        <p:nvSpPr>
          <p:cNvPr id="756" name="TextBox 14"/>
          <p:cNvSpPr txBox="1"/>
          <p:nvPr/>
        </p:nvSpPr>
        <p:spPr>
          <a:xfrm>
            <a:off x="3383279" y="1874520"/>
            <a:ext cx="512064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02A43"/>
                </a:solidFill>
              </a:defRPr>
            </a:lvl1pPr>
          </a:lstStyle>
          <a:p>
            <a:pPr/>
            <a:r>
              <a:t>Sales hist · web traffic · fed funds · fuel · season</a:t>
            </a:r>
          </a:p>
        </p:txBody>
      </p:sp>
      <p:sp>
        <p:nvSpPr>
          <p:cNvPr id="757" name="TextBox 15"/>
          <p:cNvSpPr txBox="1"/>
          <p:nvPr/>
        </p:nvSpPr>
        <p:spPr>
          <a:xfrm>
            <a:off x="8686800" y="1600199"/>
            <a:ext cx="914400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C1441E"/>
                </a:solidFill>
              </a:defRPr>
            </a:lvl1pPr>
          </a:lstStyle>
          <a:p>
            <a:pPr/>
            <a:r>
              <a:t>POLICY</a:t>
            </a:r>
          </a:p>
        </p:txBody>
      </p:sp>
      <p:sp>
        <p:nvSpPr>
          <p:cNvPr id="758" name="TextBox 16"/>
          <p:cNvSpPr txBox="1"/>
          <p:nvPr/>
        </p:nvSpPr>
        <p:spPr>
          <a:xfrm>
            <a:off x="8686799" y="1874520"/>
            <a:ext cx="301752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02A43"/>
                </a:solidFill>
              </a:defRPr>
            </a:lvl1pPr>
          </a:lstStyle>
          <a:p>
            <a:pPr/>
            <a:r>
              <a:t>Hierarchical reconciliation</a:t>
            </a:r>
          </a:p>
        </p:txBody>
      </p:sp>
      <p:sp>
        <p:nvSpPr>
          <p:cNvPr id="759" name="Rectangle 17"/>
          <p:cNvSpPr/>
          <p:nvPr/>
        </p:nvSpPr>
        <p:spPr>
          <a:xfrm>
            <a:off x="502919" y="2468879"/>
            <a:ext cx="11247122" cy="8686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0" name="Rectangle 18"/>
          <p:cNvSpPr/>
          <p:nvPr/>
        </p:nvSpPr>
        <p:spPr>
          <a:xfrm>
            <a:off x="502919" y="2468879"/>
            <a:ext cx="164593" cy="868681"/>
          </a:xfrm>
          <a:prstGeom prst="rect">
            <a:avLst/>
          </a:prstGeom>
          <a:solidFill>
            <a:srgbClr val="6E8B4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1" name="TextBox 19"/>
          <p:cNvSpPr txBox="1"/>
          <p:nvPr/>
        </p:nvSpPr>
        <p:spPr>
          <a:xfrm>
            <a:off x="777239" y="2560320"/>
            <a:ext cx="246888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102A43"/>
                </a:solidFill>
              </a:defRPr>
            </a:lvl1pPr>
          </a:lstStyle>
          <a:p>
            <a:pPr/>
            <a:r>
              <a:t>Aging Risk Scorer</a:t>
            </a:r>
          </a:p>
        </p:txBody>
      </p:sp>
      <p:sp>
        <p:nvSpPr>
          <p:cNvPr id="762" name="TextBox 20"/>
          <p:cNvSpPr txBox="1"/>
          <p:nvPr/>
        </p:nvSpPr>
        <p:spPr>
          <a:xfrm>
            <a:off x="777239" y="2926079"/>
            <a:ext cx="246888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P(unit unsold &gt; 120d)</a:t>
            </a:r>
          </a:p>
        </p:txBody>
      </p:sp>
      <p:sp>
        <p:nvSpPr>
          <p:cNvPr id="763" name="TextBox 21"/>
          <p:cNvSpPr txBox="1"/>
          <p:nvPr/>
        </p:nvSpPr>
        <p:spPr>
          <a:xfrm>
            <a:off x="3383279" y="2560320"/>
            <a:ext cx="54864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C1441E"/>
                </a:solidFill>
              </a:defRPr>
            </a:lvl1pPr>
          </a:lstStyle>
          <a:p>
            <a:pPr/>
            <a:r>
              <a:t>INPUTS</a:t>
            </a:r>
          </a:p>
        </p:txBody>
      </p:sp>
      <p:sp>
        <p:nvSpPr>
          <p:cNvPr id="764" name="TextBox 22"/>
          <p:cNvSpPr txBox="1"/>
          <p:nvPr/>
        </p:nvSpPr>
        <p:spPr>
          <a:xfrm>
            <a:off x="3383279" y="2834639"/>
            <a:ext cx="512064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02A43"/>
                </a:solidFill>
              </a:defRPr>
            </a:lvl1pPr>
          </a:lstStyle>
          <a:p>
            <a:pPr/>
            <a:r>
              <a:t>Age · region · model trend · finance rates</a:t>
            </a:r>
          </a:p>
        </p:txBody>
      </p:sp>
      <p:sp>
        <p:nvSpPr>
          <p:cNvPr id="765" name="TextBox 23"/>
          <p:cNvSpPr txBox="1"/>
          <p:nvPr/>
        </p:nvSpPr>
        <p:spPr>
          <a:xfrm>
            <a:off x="8686800" y="2560320"/>
            <a:ext cx="914400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C1441E"/>
                </a:solidFill>
              </a:defRPr>
            </a:lvl1pPr>
          </a:lstStyle>
          <a:p>
            <a:pPr/>
            <a:r>
              <a:t>POLICY</a:t>
            </a:r>
          </a:p>
        </p:txBody>
      </p:sp>
      <p:sp>
        <p:nvSpPr>
          <p:cNvPr id="766" name="TextBox 24"/>
          <p:cNvSpPr txBox="1"/>
          <p:nvPr/>
        </p:nvSpPr>
        <p:spPr>
          <a:xfrm>
            <a:off x="8686799" y="2834639"/>
            <a:ext cx="301752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02A43"/>
                </a:solidFill>
              </a:defRPr>
            </a:lvl1pPr>
          </a:lstStyle>
          <a:p>
            <a:pPr/>
            <a:r>
              <a:t>CI reported</a:t>
            </a:r>
          </a:p>
        </p:txBody>
      </p:sp>
      <p:sp>
        <p:nvSpPr>
          <p:cNvPr id="767" name="Rectangle 25"/>
          <p:cNvSpPr/>
          <p:nvPr/>
        </p:nvSpPr>
        <p:spPr>
          <a:xfrm>
            <a:off x="502919" y="3428999"/>
            <a:ext cx="11247122" cy="86868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8" name="Rectangle 26"/>
          <p:cNvSpPr/>
          <p:nvPr/>
        </p:nvSpPr>
        <p:spPr>
          <a:xfrm>
            <a:off x="502919" y="3428999"/>
            <a:ext cx="164593" cy="868682"/>
          </a:xfrm>
          <a:prstGeom prst="rect">
            <a:avLst/>
          </a:prstGeom>
          <a:solidFill>
            <a:srgbClr val="6E8B4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9" name="TextBox 27"/>
          <p:cNvSpPr txBox="1"/>
          <p:nvPr/>
        </p:nvSpPr>
        <p:spPr>
          <a:xfrm>
            <a:off x="777239" y="3520440"/>
            <a:ext cx="246888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102A43"/>
                </a:solidFill>
              </a:defRPr>
            </a:lvl1pPr>
          </a:lstStyle>
          <a:p>
            <a:pPr/>
            <a:r>
              <a:t>Inter-Store Rebalance</a:t>
            </a:r>
          </a:p>
        </p:txBody>
      </p:sp>
      <p:sp>
        <p:nvSpPr>
          <p:cNvPr id="770" name="TextBox 28"/>
          <p:cNvSpPr txBox="1"/>
          <p:nvPr/>
        </p:nvSpPr>
        <p:spPr>
          <a:xfrm>
            <a:off x="777239" y="3886199"/>
            <a:ext cx="246888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Move A → B?</a:t>
            </a:r>
          </a:p>
        </p:txBody>
      </p:sp>
      <p:sp>
        <p:nvSpPr>
          <p:cNvPr id="771" name="TextBox 29"/>
          <p:cNvSpPr txBox="1"/>
          <p:nvPr/>
        </p:nvSpPr>
        <p:spPr>
          <a:xfrm>
            <a:off x="3383279" y="3520440"/>
            <a:ext cx="54864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C1441E"/>
                </a:solidFill>
              </a:defRPr>
            </a:lvl1pPr>
          </a:lstStyle>
          <a:p>
            <a:pPr/>
            <a:r>
              <a:t>INPUTS</a:t>
            </a:r>
          </a:p>
        </p:txBody>
      </p:sp>
      <p:sp>
        <p:nvSpPr>
          <p:cNvPr id="772" name="TextBox 30"/>
          <p:cNvSpPr txBox="1"/>
          <p:nvPr/>
        </p:nvSpPr>
        <p:spPr>
          <a:xfrm>
            <a:off x="3383279" y="3794759"/>
            <a:ext cx="512064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02A43"/>
                </a:solidFill>
              </a:defRPr>
            </a:lvl1pPr>
          </a:lstStyle>
          <a:p>
            <a:pPr/>
            <a:r>
              <a:t>Aging · ship cost · regional demand</a:t>
            </a:r>
          </a:p>
        </p:txBody>
      </p:sp>
      <p:sp>
        <p:nvSpPr>
          <p:cNvPr id="773" name="TextBox 31"/>
          <p:cNvSpPr txBox="1"/>
          <p:nvPr/>
        </p:nvSpPr>
        <p:spPr>
          <a:xfrm>
            <a:off x="8686800" y="3520440"/>
            <a:ext cx="914400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C1441E"/>
                </a:solidFill>
              </a:defRPr>
            </a:lvl1pPr>
          </a:lstStyle>
          <a:p>
            <a:pPr/>
            <a:r>
              <a:t>POLICY</a:t>
            </a:r>
          </a:p>
        </p:txBody>
      </p:sp>
      <p:sp>
        <p:nvSpPr>
          <p:cNvPr id="774" name="TextBox 32"/>
          <p:cNvSpPr txBox="1"/>
          <p:nvPr/>
        </p:nvSpPr>
        <p:spPr>
          <a:xfrm>
            <a:off x="8686799" y="3794759"/>
            <a:ext cx="301752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02A43"/>
                </a:solidFill>
              </a:defRPr>
            </a:lvl1pPr>
          </a:lstStyle>
          <a:p>
            <a:pPr/>
            <a:r>
              <a:t>Approver: Regional GM</a:t>
            </a:r>
          </a:p>
        </p:txBody>
      </p:sp>
      <p:sp>
        <p:nvSpPr>
          <p:cNvPr id="775" name="Rectangle 33"/>
          <p:cNvSpPr/>
          <p:nvPr/>
        </p:nvSpPr>
        <p:spPr>
          <a:xfrm>
            <a:off x="502919" y="4389120"/>
            <a:ext cx="11247122" cy="8686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6" name="Rectangle 34"/>
          <p:cNvSpPr/>
          <p:nvPr/>
        </p:nvSpPr>
        <p:spPr>
          <a:xfrm>
            <a:off x="502919" y="4389120"/>
            <a:ext cx="164593" cy="868681"/>
          </a:xfrm>
          <a:prstGeom prst="rect">
            <a:avLst/>
          </a:prstGeom>
          <a:solidFill>
            <a:srgbClr val="6E8B4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7" name="TextBox 35"/>
          <p:cNvSpPr txBox="1"/>
          <p:nvPr/>
        </p:nvSpPr>
        <p:spPr>
          <a:xfrm>
            <a:off x="777239" y="4480559"/>
            <a:ext cx="246888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102A43"/>
                </a:solidFill>
              </a:defRPr>
            </a:lvl1pPr>
          </a:lstStyle>
          <a:p>
            <a:pPr/>
            <a:r>
              <a:t>Price-Adjustment Agent</a:t>
            </a:r>
          </a:p>
        </p:txBody>
      </p:sp>
      <p:sp>
        <p:nvSpPr>
          <p:cNvPr id="778" name="TextBox 36"/>
          <p:cNvSpPr txBox="1"/>
          <p:nvPr/>
        </p:nvSpPr>
        <p:spPr>
          <a:xfrm>
            <a:off x="777239" y="4846320"/>
            <a:ext cx="246888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Markdown / promo proposal</a:t>
            </a:r>
          </a:p>
        </p:txBody>
      </p:sp>
      <p:sp>
        <p:nvSpPr>
          <p:cNvPr id="779" name="TextBox 37"/>
          <p:cNvSpPr txBox="1"/>
          <p:nvPr/>
        </p:nvSpPr>
        <p:spPr>
          <a:xfrm>
            <a:off x="3383279" y="4480559"/>
            <a:ext cx="54864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C1441E"/>
                </a:solidFill>
              </a:defRPr>
            </a:lvl1pPr>
          </a:lstStyle>
          <a:p>
            <a:pPr/>
            <a:r>
              <a:t>INPUTS</a:t>
            </a:r>
          </a:p>
        </p:txBody>
      </p:sp>
      <p:sp>
        <p:nvSpPr>
          <p:cNvPr id="780" name="TextBox 38"/>
          <p:cNvSpPr txBox="1"/>
          <p:nvPr/>
        </p:nvSpPr>
        <p:spPr>
          <a:xfrm>
            <a:off x="3383279" y="4754879"/>
            <a:ext cx="512064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02A43"/>
                </a:solidFill>
              </a:defRPr>
            </a:lvl1pPr>
          </a:lstStyle>
          <a:p>
            <a:pPr/>
            <a:r>
              <a:t>Aging · competitor scrape · margin floor</a:t>
            </a:r>
          </a:p>
        </p:txBody>
      </p:sp>
      <p:sp>
        <p:nvSpPr>
          <p:cNvPr id="781" name="TextBox 39"/>
          <p:cNvSpPr txBox="1"/>
          <p:nvPr/>
        </p:nvSpPr>
        <p:spPr>
          <a:xfrm>
            <a:off x="8686800" y="4480559"/>
            <a:ext cx="914400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C1441E"/>
                </a:solidFill>
              </a:defRPr>
            </a:lvl1pPr>
          </a:lstStyle>
          <a:p>
            <a:pPr/>
            <a:r>
              <a:t>POLICY</a:t>
            </a:r>
          </a:p>
        </p:txBody>
      </p:sp>
      <p:sp>
        <p:nvSpPr>
          <p:cNvPr id="782" name="TextBox 40"/>
          <p:cNvSpPr txBox="1"/>
          <p:nvPr/>
        </p:nvSpPr>
        <p:spPr>
          <a:xfrm>
            <a:off x="8686799" y="4754879"/>
            <a:ext cx="301752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02A43"/>
                </a:solidFill>
              </a:defRPr>
            </a:lvl1pPr>
          </a:lstStyle>
          <a:p>
            <a:pPr/>
            <a:r>
              <a:t>HITL above ±3% list</a:t>
            </a:r>
          </a:p>
        </p:txBody>
      </p:sp>
      <p:sp>
        <p:nvSpPr>
          <p:cNvPr id="783" name="Rectangle 41"/>
          <p:cNvSpPr/>
          <p:nvPr/>
        </p:nvSpPr>
        <p:spPr>
          <a:xfrm>
            <a:off x="502919" y="5349240"/>
            <a:ext cx="11247122" cy="8686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84" name="Rectangle 42"/>
          <p:cNvSpPr/>
          <p:nvPr/>
        </p:nvSpPr>
        <p:spPr>
          <a:xfrm>
            <a:off x="502919" y="5349240"/>
            <a:ext cx="164593" cy="868681"/>
          </a:xfrm>
          <a:prstGeom prst="rect">
            <a:avLst/>
          </a:prstGeom>
          <a:solidFill>
            <a:srgbClr val="6E8B4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85" name="TextBox 43"/>
          <p:cNvSpPr txBox="1"/>
          <p:nvPr/>
        </p:nvSpPr>
        <p:spPr>
          <a:xfrm>
            <a:off x="777239" y="5440679"/>
            <a:ext cx="246888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102A43"/>
                </a:solidFill>
              </a:defRPr>
            </a:lvl1pPr>
          </a:lstStyle>
          <a:p>
            <a:pPr/>
            <a:r>
              <a:t>Mix Recommender</a:t>
            </a:r>
          </a:p>
        </p:txBody>
      </p:sp>
      <p:sp>
        <p:nvSpPr>
          <p:cNvPr id="786" name="TextBox 44"/>
          <p:cNvSpPr txBox="1"/>
          <p:nvPr/>
        </p:nvSpPr>
        <p:spPr>
          <a:xfrm>
            <a:off x="777239" y="5806440"/>
            <a:ext cx="246888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House brands vs OEM allocations</a:t>
            </a:r>
          </a:p>
        </p:txBody>
      </p:sp>
      <p:sp>
        <p:nvSpPr>
          <p:cNvPr id="787" name="TextBox 45"/>
          <p:cNvSpPr txBox="1"/>
          <p:nvPr/>
        </p:nvSpPr>
        <p:spPr>
          <a:xfrm>
            <a:off x="3383279" y="5440679"/>
            <a:ext cx="54864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C1441E"/>
                </a:solidFill>
              </a:defRPr>
            </a:lvl1pPr>
          </a:lstStyle>
          <a:p>
            <a:pPr/>
            <a:r>
              <a:t>INPUTS</a:t>
            </a:r>
          </a:p>
        </p:txBody>
      </p:sp>
      <p:sp>
        <p:nvSpPr>
          <p:cNvPr id="788" name="TextBox 46"/>
          <p:cNvSpPr txBox="1"/>
          <p:nvPr/>
        </p:nvSpPr>
        <p:spPr>
          <a:xfrm>
            <a:off x="3383279" y="5714999"/>
            <a:ext cx="512064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02A43"/>
                </a:solidFill>
              </a:defRPr>
            </a:lvl1pPr>
          </a:lstStyle>
          <a:p>
            <a:pPr/>
            <a:r>
              <a:t>Mix elasticity · supply lead times</a:t>
            </a:r>
          </a:p>
        </p:txBody>
      </p:sp>
      <p:sp>
        <p:nvSpPr>
          <p:cNvPr id="789" name="TextBox 47"/>
          <p:cNvSpPr txBox="1"/>
          <p:nvPr/>
        </p:nvSpPr>
        <p:spPr>
          <a:xfrm>
            <a:off x="8686800" y="5440679"/>
            <a:ext cx="914400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C1441E"/>
                </a:solidFill>
              </a:defRPr>
            </a:lvl1pPr>
          </a:lstStyle>
          <a:p>
            <a:pPr/>
            <a:r>
              <a:t>POLICY</a:t>
            </a:r>
          </a:p>
        </p:txBody>
      </p:sp>
      <p:sp>
        <p:nvSpPr>
          <p:cNvPr id="790" name="TextBox 48"/>
          <p:cNvSpPr txBox="1"/>
          <p:nvPr/>
        </p:nvSpPr>
        <p:spPr>
          <a:xfrm>
            <a:off x="8686799" y="5714999"/>
            <a:ext cx="301752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02A43"/>
                </a:solidFill>
              </a:defRPr>
            </a:lvl1pPr>
          </a:lstStyle>
          <a:p>
            <a:pPr/>
            <a:r>
              <a:t>Quarterly board bands</a:t>
            </a:r>
          </a:p>
        </p:txBody>
      </p:sp>
      <p:sp>
        <p:nvSpPr>
          <p:cNvPr id="791" name="TextBox 49"/>
          <p:cNvSpPr txBox="1"/>
          <p:nvPr/>
        </p:nvSpPr>
        <p:spPr>
          <a:xfrm>
            <a:off x="502919" y="6400799"/>
            <a:ext cx="109728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6E7780"/>
                </a:solidFill>
              </a:defRPr>
            </a:lvl1pPr>
          </a:lstStyle>
          <a:p>
            <a:pPr/>
            <a:r>
              <a:t>All actions reversible within 24h via Run Store replay; pricing actions ±&gt;3% or rebalances &gt;$50k transport require GM approval.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4" name="Rectangle 2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5" name="Rectangle 3"/>
          <p:cNvSpPr/>
          <p:nvPr/>
        </p:nvSpPr>
        <p:spPr>
          <a:xfrm>
            <a:off x="-1" y="6565392"/>
            <a:ext cx="12191697" cy="292609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6" name="TextBox 4"/>
          <p:cNvSpPr txBox="1"/>
          <p:nvPr/>
        </p:nvSpPr>
        <p:spPr>
          <a:xfrm>
            <a:off x="365759" y="6583680"/>
            <a:ext cx="73152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FFFFFF"/>
                </a:solidFill>
              </a:defRPr>
            </a:lvl1pPr>
          </a:lstStyle>
          <a:p>
            <a:pPr/>
            <a:r>
              <a:t>Camping World · Agentic AI Solution Architecture Blueprint v1.0</a:t>
            </a:r>
          </a:p>
        </p:txBody>
      </p:sp>
      <p:sp>
        <p:nvSpPr>
          <p:cNvPr id="797" name="TextBox 5"/>
          <p:cNvSpPr txBox="1"/>
          <p:nvPr/>
        </p:nvSpPr>
        <p:spPr>
          <a:xfrm>
            <a:off x="10332719" y="6583680"/>
            <a:ext cx="18288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/>
            <a:r>
              <a:t>17 / 30</a:t>
            </a:r>
          </a:p>
        </p:txBody>
      </p:sp>
      <p:sp>
        <p:nvSpPr>
          <p:cNvPr id="798" name="TextBox 6"/>
          <p:cNvSpPr txBox="1"/>
          <p:nvPr/>
        </p:nvSpPr>
        <p:spPr>
          <a:xfrm>
            <a:off x="502919" y="274320"/>
            <a:ext cx="1097280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C1441E"/>
                </a:solidFill>
              </a:defRPr>
            </a:lvl1pPr>
          </a:lstStyle>
          <a:p>
            <a:pPr/>
            <a:r>
              <a:t>DOMAIN 5.5</a:t>
            </a:r>
          </a:p>
        </p:txBody>
      </p:sp>
      <p:sp>
        <p:nvSpPr>
          <p:cNvPr id="799" name="TextBox 7"/>
          <p:cNvSpPr txBox="1"/>
          <p:nvPr/>
        </p:nvSpPr>
        <p:spPr>
          <a:xfrm>
            <a:off x="502919" y="502919"/>
            <a:ext cx="1124712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102A43"/>
                </a:solidFill>
              </a:defRPr>
            </a:lvl1pPr>
          </a:lstStyle>
          <a:p>
            <a:pPr/>
            <a:r>
              <a:t>Back-Office Automation — SG&amp;A Run-Rate Reduction</a:t>
            </a:r>
          </a:p>
        </p:txBody>
      </p:sp>
      <p:sp>
        <p:nvSpPr>
          <p:cNvPr id="800" name="Rectangle 8"/>
          <p:cNvSpPr/>
          <p:nvPr/>
        </p:nvSpPr>
        <p:spPr>
          <a:xfrm>
            <a:off x="502919" y="1097280"/>
            <a:ext cx="548641" cy="36577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1" name="Rectangle 9"/>
          <p:cNvSpPr/>
          <p:nvPr/>
        </p:nvSpPr>
        <p:spPr>
          <a:xfrm>
            <a:off x="502919" y="1463039"/>
            <a:ext cx="3657601" cy="21945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2" name="Rectangle 10"/>
          <p:cNvSpPr/>
          <p:nvPr/>
        </p:nvSpPr>
        <p:spPr>
          <a:xfrm>
            <a:off x="502919" y="1463039"/>
            <a:ext cx="164593" cy="2194561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3" name="TextBox 11"/>
          <p:cNvSpPr txBox="1"/>
          <p:nvPr/>
        </p:nvSpPr>
        <p:spPr>
          <a:xfrm>
            <a:off x="868680" y="1600199"/>
            <a:ext cx="320040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102A43"/>
                </a:solidFill>
              </a:defRPr>
            </a:lvl1pPr>
          </a:lstStyle>
          <a:p>
            <a:pPr/>
            <a:r>
              <a:t>Invoice intake &amp; coding</a:t>
            </a:r>
          </a:p>
        </p:txBody>
      </p:sp>
      <p:sp>
        <p:nvSpPr>
          <p:cNvPr id="804" name="TextBox 12"/>
          <p:cNvSpPr txBox="1"/>
          <p:nvPr/>
        </p:nvSpPr>
        <p:spPr>
          <a:xfrm>
            <a:off x="868680" y="2057399"/>
            <a:ext cx="32004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OCR + LLM coder + GL match</a:t>
            </a:r>
          </a:p>
        </p:txBody>
      </p:sp>
      <p:sp>
        <p:nvSpPr>
          <p:cNvPr id="805" name="TextBox 13"/>
          <p:cNvSpPr txBox="1"/>
          <p:nvPr/>
        </p:nvSpPr>
        <p:spPr>
          <a:xfrm>
            <a:off x="868680" y="2743199"/>
            <a:ext cx="320040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C1441E"/>
                </a:solidFill>
              </a:defRPr>
            </a:lvl1pPr>
          </a:lstStyle>
          <a:p>
            <a:pPr/>
            <a:r>
              <a:t>TARGET</a:t>
            </a:r>
          </a:p>
        </p:txBody>
      </p:sp>
      <p:sp>
        <p:nvSpPr>
          <p:cNvPr id="806" name="TextBox 14"/>
          <p:cNvSpPr txBox="1"/>
          <p:nvPr/>
        </p:nvSpPr>
        <p:spPr>
          <a:xfrm>
            <a:off x="868680" y="2971799"/>
            <a:ext cx="3200401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C1441E"/>
                </a:solidFill>
              </a:defRPr>
            </a:lvl1pPr>
          </a:lstStyle>
          <a:p>
            <a:pPr/>
            <a:r>
              <a:t>−70% manual hrs</a:t>
            </a:r>
          </a:p>
        </p:txBody>
      </p:sp>
      <p:sp>
        <p:nvSpPr>
          <p:cNvPr id="807" name="Rectangle 15"/>
          <p:cNvSpPr/>
          <p:nvPr/>
        </p:nvSpPr>
        <p:spPr>
          <a:xfrm>
            <a:off x="4325111" y="1463039"/>
            <a:ext cx="3657601" cy="21945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8" name="Rectangle 16"/>
          <p:cNvSpPr/>
          <p:nvPr/>
        </p:nvSpPr>
        <p:spPr>
          <a:xfrm>
            <a:off x="4325111" y="1463039"/>
            <a:ext cx="164593" cy="2194561"/>
          </a:xfrm>
          <a:prstGeom prst="rect">
            <a:avLst/>
          </a:prstGeom>
          <a:solidFill>
            <a:srgbClr val="1F4D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9" name="TextBox 17"/>
          <p:cNvSpPr txBox="1"/>
          <p:nvPr/>
        </p:nvSpPr>
        <p:spPr>
          <a:xfrm>
            <a:off x="4690871" y="1600199"/>
            <a:ext cx="320040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102A43"/>
                </a:solidFill>
              </a:defRPr>
            </a:lvl1pPr>
          </a:lstStyle>
          <a:p>
            <a:pPr/>
            <a:r>
              <a:t>3-way match</a:t>
            </a:r>
          </a:p>
        </p:txBody>
      </p:sp>
      <p:sp>
        <p:nvSpPr>
          <p:cNvPr id="810" name="TextBox 18"/>
          <p:cNvSpPr txBox="1"/>
          <p:nvPr/>
        </p:nvSpPr>
        <p:spPr>
          <a:xfrm>
            <a:off x="4690871" y="2057399"/>
            <a:ext cx="32004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Tool-calling agent</a:t>
            </a:r>
          </a:p>
        </p:txBody>
      </p:sp>
      <p:sp>
        <p:nvSpPr>
          <p:cNvPr id="811" name="TextBox 19"/>
          <p:cNvSpPr txBox="1"/>
          <p:nvPr/>
        </p:nvSpPr>
        <p:spPr>
          <a:xfrm>
            <a:off x="4690871" y="2743199"/>
            <a:ext cx="320040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C1441E"/>
                </a:solidFill>
              </a:defRPr>
            </a:lvl1pPr>
          </a:lstStyle>
          <a:p>
            <a:pPr/>
            <a:r>
              <a:t>TARGET</a:t>
            </a:r>
          </a:p>
        </p:txBody>
      </p:sp>
      <p:sp>
        <p:nvSpPr>
          <p:cNvPr id="812" name="TextBox 20"/>
          <p:cNvSpPr txBox="1"/>
          <p:nvPr/>
        </p:nvSpPr>
        <p:spPr>
          <a:xfrm>
            <a:off x="4690871" y="2971799"/>
            <a:ext cx="3200401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1F4D2C"/>
                </a:solidFill>
              </a:defRPr>
            </a:lvl1pPr>
          </a:lstStyle>
          <a:p>
            <a:pPr/>
            <a:r>
              <a:t>−60% manual hrs</a:t>
            </a:r>
          </a:p>
        </p:txBody>
      </p:sp>
      <p:sp>
        <p:nvSpPr>
          <p:cNvPr id="813" name="Rectangle 21"/>
          <p:cNvSpPr/>
          <p:nvPr/>
        </p:nvSpPr>
        <p:spPr>
          <a:xfrm>
            <a:off x="8147304" y="1463039"/>
            <a:ext cx="3657601" cy="21945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14" name="Rectangle 22"/>
          <p:cNvSpPr/>
          <p:nvPr/>
        </p:nvSpPr>
        <p:spPr>
          <a:xfrm>
            <a:off x="8147304" y="1463039"/>
            <a:ext cx="164593" cy="2194561"/>
          </a:xfrm>
          <a:prstGeom prst="rect">
            <a:avLst/>
          </a:prstGeom>
          <a:solidFill>
            <a:srgbClr val="E6834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15" name="TextBox 23"/>
          <p:cNvSpPr txBox="1"/>
          <p:nvPr/>
        </p:nvSpPr>
        <p:spPr>
          <a:xfrm>
            <a:off x="8513064" y="1600199"/>
            <a:ext cx="320040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102A43"/>
                </a:solidFill>
              </a:defRPr>
            </a:lvl1pPr>
          </a:lstStyle>
          <a:p>
            <a:pPr/>
            <a:r>
              <a:t>Vendor onboarding</a:t>
            </a:r>
          </a:p>
        </p:txBody>
      </p:sp>
      <p:sp>
        <p:nvSpPr>
          <p:cNvPr id="816" name="TextBox 24"/>
          <p:cNvSpPr txBox="1"/>
          <p:nvPr/>
        </p:nvSpPr>
        <p:spPr>
          <a:xfrm>
            <a:off x="8513064" y="2057399"/>
            <a:ext cx="32004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Plan-and-execute</a:t>
            </a:r>
          </a:p>
        </p:txBody>
      </p:sp>
      <p:sp>
        <p:nvSpPr>
          <p:cNvPr id="817" name="TextBox 25"/>
          <p:cNvSpPr txBox="1"/>
          <p:nvPr/>
        </p:nvSpPr>
        <p:spPr>
          <a:xfrm>
            <a:off x="8513064" y="2743199"/>
            <a:ext cx="320040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C1441E"/>
                </a:solidFill>
              </a:defRPr>
            </a:lvl1pPr>
          </a:lstStyle>
          <a:p>
            <a:pPr/>
            <a:r>
              <a:t>TARGET</a:t>
            </a:r>
          </a:p>
        </p:txBody>
      </p:sp>
      <p:sp>
        <p:nvSpPr>
          <p:cNvPr id="818" name="TextBox 26"/>
          <p:cNvSpPr txBox="1"/>
          <p:nvPr/>
        </p:nvSpPr>
        <p:spPr>
          <a:xfrm>
            <a:off x="8513064" y="2971799"/>
            <a:ext cx="3200401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E6834A"/>
                </a:solidFill>
              </a:defRPr>
            </a:lvl1pPr>
          </a:lstStyle>
          <a:p>
            <a:pPr/>
            <a:r>
              <a:t>−50% cycle time</a:t>
            </a:r>
          </a:p>
        </p:txBody>
      </p:sp>
      <p:sp>
        <p:nvSpPr>
          <p:cNvPr id="819" name="Rectangle 27"/>
          <p:cNvSpPr/>
          <p:nvPr/>
        </p:nvSpPr>
        <p:spPr>
          <a:xfrm>
            <a:off x="502919" y="3822191"/>
            <a:ext cx="3657601" cy="21945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20" name="Rectangle 28"/>
          <p:cNvSpPr/>
          <p:nvPr/>
        </p:nvSpPr>
        <p:spPr>
          <a:xfrm>
            <a:off x="502919" y="3822191"/>
            <a:ext cx="164593" cy="2194561"/>
          </a:xfrm>
          <a:prstGeom prst="rect">
            <a:avLst/>
          </a:prstGeom>
          <a:solidFill>
            <a:srgbClr val="6E8B4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21" name="TextBox 29"/>
          <p:cNvSpPr txBox="1"/>
          <p:nvPr/>
        </p:nvSpPr>
        <p:spPr>
          <a:xfrm>
            <a:off x="868680" y="3959352"/>
            <a:ext cx="320040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102A43"/>
                </a:solidFill>
              </a:defRPr>
            </a:lvl1pPr>
          </a:lstStyle>
          <a:p>
            <a:pPr/>
            <a:r>
              <a:t>HR ticket triage</a:t>
            </a:r>
          </a:p>
        </p:txBody>
      </p:sp>
      <p:sp>
        <p:nvSpPr>
          <p:cNvPr id="822" name="TextBox 30"/>
          <p:cNvSpPr txBox="1"/>
          <p:nvPr/>
        </p:nvSpPr>
        <p:spPr>
          <a:xfrm>
            <a:off x="868680" y="4416552"/>
            <a:ext cx="320040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Classifier + RAG responder</a:t>
            </a:r>
          </a:p>
        </p:txBody>
      </p:sp>
      <p:sp>
        <p:nvSpPr>
          <p:cNvPr id="823" name="TextBox 31"/>
          <p:cNvSpPr txBox="1"/>
          <p:nvPr/>
        </p:nvSpPr>
        <p:spPr>
          <a:xfrm>
            <a:off x="868680" y="5102352"/>
            <a:ext cx="32004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C1441E"/>
                </a:solidFill>
              </a:defRPr>
            </a:lvl1pPr>
          </a:lstStyle>
          <a:p>
            <a:pPr/>
            <a:r>
              <a:t>TARGET</a:t>
            </a:r>
          </a:p>
        </p:txBody>
      </p:sp>
      <p:sp>
        <p:nvSpPr>
          <p:cNvPr id="824" name="TextBox 32"/>
          <p:cNvSpPr txBox="1"/>
          <p:nvPr/>
        </p:nvSpPr>
        <p:spPr>
          <a:xfrm>
            <a:off x="868680" y="5330952"/>
            <a:ext cx="320040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6E8B4F"/>
                </a:solidFill>
              </a:defRPr>
            </a:lvl1pPr>
          </a:lstStyle>
          <a:p>
            <a:pPr/>
            <a:r>
              <a:t>−40% Tier-1</a:t>
            </a:r>
          </a:p>
        </p:txBody>
      </p:sp>
      <p:sp>
        <p:nvSpPr>
          <p:cNvPr id="825" name="Rectangle 33"/>
          <p:cNvSpPr/>
          <p:nvPr/>
        </p:nvSpPr>
        <p:spPr>
          <a:xfrm>
            <a:off x="4325111" y="3822191"/>
            <a:ext cx="3657601" cy="21945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26" name="Rectangle 34"/>
          <p:cNvSpPr/>
          <p:nvPr/>
        </p:nvSpPr>
        <p:spPr>
          <a:xfrm>
            <a:off x="4325111" y="3822191"/>
            <a:ext cx="164593" cy="2194561"/>
          </a:xfrm>
          <a:prstGeom prst="rect">
            <a:avLst/>
          </a:prstGeom>
          <a:solidFill>
            <a:srgbClr val="36454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27" name="TextBox 35"/>
          <p:cNvSpPr txBox="1"/>
          <p:nvPr/>
        </p:nvSpPr>
        <p:spPr>
          <a:xfrm>
            <a:off x="4690871" y="3959352"/>
            <a:ext cx="320040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102A43"/>
                </a:solidFill>
              </a:defRPr>
            </a:lvl1pPr>
          </a:lstStyle>
          <a:p>
            <a:pPr/>
            <a:r>
              <a:t>Month-end close prep</a:t>
            </a:r>
          </a:p>
        </p:txBody>
      </p:sp>
      <p:sp>
        <p:nvSpPr>
          <p:cNvPr id="828" name="TextBox 36"/>
          <p:cNvSpPr txBox="1"/>
          <p:nvPr/>
        </p:nvSpPr>
        <p:spPr>
          <a:xfrm>
            <a:off x="4690871" y="4416552"/>
            <a:ext cx="320040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Schedule + reconcile</a:t>
            </a:r>
          </a:p>
        </p:txBody>
      </p:sp>
      <p:sp>
        <p:nvSpPr>
          <p:cNvPr id="829" name="TextBox 37"/>
          <p:cNvSpPr txBox="1"/>
          <p:nvPr/>
        </p:nvSpPr>
        <p:spPr>
          <a:xfrm>
            <a:off x="4690871" y="5102352"/>
            <a:ext cx="32004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C1441E"/>
                </a:solidFill>
              </a:defRPr>
            </a:lvl1pPr>
          </a:lstStyle>
          <a:p>
            <a:pPr/>
            <a:r>
              <a:t>TARGET</a:t>
            </a:r>
          </a:p>
        </p:txBody>
      </p:sp>
      <p:sp>
        <p:nvSpPr>
          <p:cNvPr id="830" name="TextBox 38"/>
          <p:cNvSpPr txBox="1"/>
          <p:nvPr/>
        </p:nvSpPr>
        <p:spPr>
          <a:xfrm>
            <a:off x="4690871" y="5330952"/>
            <a:ext cx="320040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36454F"/>
                </a:solidFill>
              </a:defRPr>
            </a:lvl1pPr>
          </a:lstStyle>
          <a:p>
            <a:pPr/>
            <a:r>
              <a:t>−2 days cycle</a:t>
            </a:r>
          </a:p>
        </p:txBody>
      </p:sp>
      <p:sp>
        <p:nvSpPr>
          <p:cNvPr id="831" name="Rectangle 39"/>
          <p:cNvSpPr/>
          <p:nvPr/>
        </p:nvSpPr>
        <p:spPr>
          <a:xfrm>
            <a:off x="8147304" y="3822191"/>
            <a:ext cx="3657601" cy="21945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2" name="Rectangle 40"/>
          <p:cNvSpPr/>
          <p:nvPr/>
        </p:nvSpPr>
        <p:spPr>
          <a:xfrm>
            <a:off x="8147304" y="3822191"/>
            <a:ext cx="164593" cy="2194561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3" name="TextBox 41"/>
          <p:cNvSpPr txBox="1"/>
          <p:nvPr/>
        </p:nvSpPr>
        <p:spPr>
          <a:xfrm>
            <a:off x="8513064" y="3959352"/>
            <a:ext cx="320040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102A43"/>
                </a:solidFill>
              </a:defRPr>
            </a:lvl1pPr>
          </a:lstStyle>
          <a:p>
            <a:pPr/>
            <a:r>
              <a:t>Procurement RFx drafting</a:t>
            </a:r>
          </a:p>
        </p:txBody>
      </p:sp>
      <p:sp>
        <p:nvSpPr>
          <p:cNvPr id="834" name="TextBox 42"/>
          <p:cNvSpPr txBox="1"/>
          <p:nvPr/>
        </p:nvSpPr>
        <p:spPr>
          <a:xfrm>
            <a:off x="8513064" y="4416552"/>
            <a:ext cx="320040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Doc-generation agent</a:t>
            </a:r>
          </a:p>
        </p:txBody>
      </p:sp>
      <p:sp>
        <p:nvSpPr>
          <p:cNvPr id="835" name="TextBox 43"/>
          <p:cNvSpPr txBox="1"/>
          <p:nvPr/>
        </p:nvSpPr>
        <p:spPr>
          <a:xfrm>
            <a:off x="8513064" y="5102352"/>
            <a:ext cx="32004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solidFill>
                  <a:srgbClr val="C1441E"/>
                </a:solidFill>
              </a:defRPr>
            </a:lvl1pPr>
          </a:lstStyle>
          <a:p>
            <a:pPr/>
            <a:r>
              <a:t>TARGET</a:t>
            </a:r>
          </a:p>
        </p:txBody>
      </p:sp>
      <p:sp>
        <p:nvSpPr>
          <p:cNvPr id="836" name="TextBox 44"/>
          <p:cNvSpPr txBox="1"/>
          <p:nvPr/>
        </p:nvSpPr>
        <p:spPr>
          <a:xfrm>
            <a:off x="8513064" y="5330952"/>
            <a:ext cx="320040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102A43"/>
                </a:solidFill>
              </a:defRPr>
            </a:lvl1pPr>
          </a:lstStyle>
          <a:p>
            <a:pPr/>
            <a:r>
              <a:t>−30% cycle</a:t>
            </a:r>
          </a:p>
        </p:txBody>
      </p:sp>
      <p:sp>
        <p:nvSpPr>
          <p:cNvPr id="837" name="TextBox 45"/>
          <p:cNvSpPr txBox="1"/>
          <p:nvPr/>
        </p:nvSpPr>
        <p:spPr>
          <a:xfrm>
            <a:off x="502919" y="6400799"/>
            <a:ext cx="109728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6E7780"/>
                </a:solidFill>
              </a:defRPr>
            </a:lvl1pPr>
          </a:lstStyle>
          <a:p>
            <a:pPr/>
            <a:r>
              <a:t>Every back-office agent emits structured audit events; SOX-relevant flows have immutable hashed run logs.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0" name="Rectangle 2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1" name="Rectangle 3"/>
          <p:cNvSpPr/>
          <p:nvPr/>
        </p:nvSpPr>
        <p:spPr>
          <a:xfrm>
            <a:off x="-1" y="6565392"/>
            <a:ext cx="12191697" cy="292609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2" name="TextBox 4"/>
          <p:cNvSpPr txBox="1"/>
          <p:nvPr/>
        </p:nvSpPr>
        <p:spPr>
          <a:xfrm>
            <a:off x="365759" y="6583680"/>
            <a:ext cx="73152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FFFFFF"/>
                </a:solidFill>
              </a:defRPr>
            </a:lvl1pPr>
          </a:lstStyle>
          <a:p>
            <a:pPr/>
            <a:r>
              <a:t>Camping World · Agentic AI Solution Architecture Blueprint v1.0</a:t>
            </a:r>
          </a:p>
        </p:txBody>
      </p:sp>
      <p:sp>
        <p:nvSpPr>
          <p:cNvPr id="843" name="TextBox 5"/>
          <p:cNvSpPr txBox="1"/>
          <p:nvPr/>
        </p:nvSpPr>
        <p:spPr>
          <a:xfrm>
            <a:off x="10332719" y="6583680"/>
            <a:ext cx="18288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/>
            <a:r>
              <a:t>18 / 30</a:t>
            </a:r>
          </a:p>
        </p:txBody>
      </p:sp>
      <p:sp>
        <p:nvSpPr>
          <p:cNvPr id="844" name="TextBox 6"/>
          <p:cNvSpPr txBox="1"/>
          <p:nvPr/>
        </p:nvSpPr>
        <p:spPr>
          <a:xfrm>
            <a:off x="502919" y="274320"/>
            <a:ext cx="1097280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C1441E"/>
                </a:solidFill>
              </a:defRPr>
            </a:lvl1pPr>
          </a:lstStyle>
          <a:p>
            <a:pPr/>
            <a:r>
              <a:t>SECTION 6 — REFERENCE ARCHITECTURE</a:t>
            </a:r>
          </a:p>
        </p:txBody>
      </p:sp>
      <p:sp>
        <p:nvSpPr>
          <p:cNvPr id="845" name="TextBox 7"/>
          <p:cNvSpPr txBox="1"/>
          <p:nvPr/>
        </p:nvSpPr>
        <p:spPr>
          <a:xfrm>
            <a:off x="502919" y="502919"/>
            <a:ext cx="1124712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102A43"/>
                </a:solidFill>
              </a:defRPr>
            </a:lvl1pPr>
          </a:lstStyle>
          <a:p>
            <a:pPr/>
            <a:r>
              <a:t>Canonical Agent Anatomy</a:t>
            </a:r>
          </a:p>
        </p:txBody>
      </p:sp>
      <p:sp>
        <p:nvSpPr>
          <p:cNvPr id="846" name="Rectangle 8"/>
          <p:cNvSpPr/>
          <p:nvPr/>
        </p:nvSpPr>
        <p:spPr>
          <a:xfrm>
            <a:off x="502919" y="1097280"/>
            <a:ext cx="548641" cy="36577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7" name="Rectangle 9"/>
          <p:cNvSpPr/>
          <p:nvPr/>
        </p:nvSpPr>
        <p:spPr>
          <a:xfrm>
            <a:off x="2286000" y="1417319"/>
            <a:ext cx="7589519" cy="640081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8" name="TextBox 10"/>
          <p:cNvSpPr txBox="1"/>
          <p:nvPr/>
        </p:nvSpPr>
        <p:spPr>
          <a:xfrm>
            <a:off x="2286000" y="1624506"/>
            <a:ext cx="7589519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1E6CB"/>
                </a:solidFill>
              </a:defRPr>
            </a:lvl1pPr>
          </a:lstStyle>
          <a:p>
            <a:pPr/>
            <a:r>
              <a:t>AGENT CONTRACT  ·  goal · inputs · tools · models · risk · SLO · cost · HITL · rollback</a:t>
            </a:r>
          </a:p>
        </p:txBody>
      </p:sp>
      <p:sp>
        <p:nvSpPr>
          <p:cNvPr id="849" name="Rectangle 11"/>
          <p:cNvSpPr/>
          <p:nvPr/>
        </p:nvSpPr>
        <p:spPr>
          <a:xfrm>
            <a:off x="502919" y="2377439"/>
            <a:ext cx="2697482" cy="1280161"/>
          </a:xfrm>
          <a:prstGeom prst="rect">
            <a:avLst/>
          </a:prstGeom>
          <a:solidFill>
            <a:srgbClr val="6E8B4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0" name="TextBox 12"/>
          <p:cNvSpPr txBox="1"/>
          <p:nvPr/>
        </p:nvSpPr>
        <p:spPr>
          <a:xfrm>
            <a:off x="502919" y="2450592"/>
            <a:ext cx="269748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MEMORY</a:t>
            </a:r>
          </a:p>
        </p:txBody>
      </p:sp>
      <p:sp>
        <p:nvSpPr>
          <p:cNvPr id="851" name="TextBox 13"/>
          <p:cNvSpPr txBox="1"/>
          <p:nvPr/>
        </p:nvSpPr>
        <p:spPr>
          <a:xfrm>
            <a:off x="502919" y="2926079"/>
            <a:ext cx="269748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1000">
                <a:solidFill>
                  <a:srgbClr val="F8F3E8"/>
                </a:solidFill>
              </a:defRPr>
            </a:lvl1pPr>
          </a:lstStyle>
          <a:p>
            <a:pPr/>
            <a:r>
              <a:t>Episodic · Semantic · Procedural</a:t>
            </a:r>
          </a:p>
        </p:txBody>
      </p:sp>
      <p:sp>
        <p:nvSpPr>
          <p:cNvPr id="852" name="Rectangle 14"/>
          <p:cNvSpPr/>
          <p:nvPr/>
        </p:nvSpPr>
        <p:spPr>
          <a:xfrm>
            <a:off x="3337559" y="2377439"/>
            <a:ext cx="2697481" cy="1280161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3" name="TextBox 15"/>
          <p:cNvSpPr txBox="1"/>
          <p:nvPr/>
        </p:nvSpPr>
        <p:spPr>
          <a:xfrm>
            <a:off x="3337559" y="2450592"/>
            <a:ext cx="269748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PLANNER</a:t>
            </a:r>
          </a:p>
        </p:txBody>
      </p:sp>
      <p:sp>
        <p:nvSpPr>
          <p:cNvPr id="854" name="TextBox 16"/>
          <p:cNvSpPr txBox="1"/>
          <p:nvPr/>
        </p:nvSpPr>
        <p:spPr>
          <a:xfrm>
            <a:off x="3337559" y="2926079"/>
            <a:ext cx="269748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1000">
                <a:solidFill>
                  <a:srgbClr val="F8F3E8"/>
                </a:solidFill>
              </a:defRPr>
            </a:lvl1pPr>
          </a:lstStyle>
          <a:p>
            <a:pPr/>
            <a:r>
              <a:t>LLM (cost-aware)</a:t>
            </a:r>
          </a:p>
        </p:txBody>
      </p:sp>
      <p:sp>
        <p:nvSpPr>
          <p:cNvPr id="855" name="Rectangle 17"/>
          <p:cNvSpPr/>
          <p:nvPr/>
        </p:nvSpPr>
        <p:spPr>
          <a:xfrm>
            <a:off x="6172199" y="2377439"/>
            <a:ext cx="2697482" cy="1280161"/>
          </a:xfrm>
          <a:prstGeom prst="rect">
            <a:avLst/>
          </a:prstGeom>
          <a:solidFill>
            <a:srgbClr val="E6834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6" name="TextBox 18"/>
          <p:cNvSpPr txBox="1"/>
          <p:nvPr/>
        </p:nvSpPr>
        <p:spPr>
          <a:xfrm>
            <a:off x="6172199" y="2450592"/>
            <a:ext cx="269748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TOOL SELECTOR</a:t>
            </a:r>
          </a:p>
        </p:txBody>
      </p:sp>
      <p:sp>
        <p:nvSpPr>
          <p:cNvPr id="857" name="TextBox 19"/>
          <p:cNvSpPr txBox="1"/>
          <p:nvPr/>
        </p:nvSpPr>
        <p:spPr>
          <a:xfrm>
            <a:off x="6172199" y="2926079"/>
            <a:ext cx="269748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1000">
                <a:solidFill>
                  <a:srgbClr val="F8F3E8"/>
                </a:solidFill>
              </a:defRPr>
            </a:lvl1pPr>
          </a:lstStyle>
          <a:p>
            <a:pPr/>
            <a:r>
              <a:t>MCP registry · Router</a:t>
            </a:r>
          </a:p>
        </p:txBody>
      </p:sp>
      <p:sp>
        <p:nvSpPr>
          <p:cNvPr id="858" name="Rectangle 20"/>
          <p:cNvSpPr/>
          <p:nvPr/>
        </p:nvSpPr>
        <p:spPr>
          <a:xfrm>
            <a:off x="9006840" y="2377439"/>
            <a:ext cx="2697481" cy="1280161"/>
          </a:xfrm>
          <a:prstGeom prst="rect">
            <a:avLst/>
          </a:prstGeom>
          <a:solidFill>
            <a:srgbClr val="1F4D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9" name="TextBox 21"/>
          <p:cNvSpPr txBox="1"/>
          <p:nvPr/>
        </p:nvSpPr>
        <p:spPr>
          <a:xfrm>
            <a:off x="9006840" y="2450592"/>
            <a:ext cx="269748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TOOLS</a:t>
            </a:r>
          </a:p>
        </p:txBody>
      </p:sp>
      <p:sp>
        <p:nvSpPr>
          <p:cNvPr id="860" name="TextBox 22"/>
          <p:cNvSpPr txBox="1"/>
          <p:nvPr/>
        </p:nvSpPr>
        <p:spPr>
          <a:xfrm>
            <a:off x="9006840" y="2926079"/>
            <a:ext cx="269748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1000">
                <a:solidFill>
                  <a:srgbClr val="F8F3E8"/>
                </a:solidFill>
              </a:defRPr>
            </a:lvl1pPr>
          </a:lstStyle>
          <a:p>
            <a:pPr/>
            <a:r>
              <a:t>Domain skills (read/write)</a:t>
            </a:r>
          </a:p>
        </p:txBody>
      </p:sp>
      <p:sp>
        <p:nvSpPr>
          <p:cNvPr id="861" name="Rectangle 23"/>
          <p:cNvSpPr/>
          <p:nvPr/>
        </p:nvSpPr>
        <p:spPr>
          <a:xfrm>
            <a:off x="502919" y="3886200"/>
            <a:ext cx="11247122" cy="914400"/>
          </a:xfrm>
          <a:prstGeom prst="rect">
            <a:avLst/>
          </a:prstGeom>
          <a:solidFill>
            <a:srgbClr val="36454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2" name="TextBox 24"/>
          <p:cNvSpPr txBox="1"/>
          <p:nvPr/>
        </p:nvSpPr>
        <p:spPr>
          <a:xfrm>
            <a:off x="502919" y="3950208"/>
            <a:ext cx="1124712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300">
                <a:solidFill>
                  <a:srgbClr val="F1E6CB"/>
                </a:solidFill>
              </a:defRPr>
            </a:lvl1pPr>
          </a:lstStyle>
          <a:p>
            <a:pPr/>
            <a:r>
              <a:t>CRITIC  ·  GUARDRAILS</a:t>
            </a:r>
          </a:p>
        </p:txBody>
      </p:sp>
      <p:sp>
        <p:nvSpPr>
          <p:cNvPr id="863" name="TextBox 25"/>
          <p:cNvSpPr txBox="1"/>
          <p:nvPr/>
        </p:nvSpPr>
        <p:spPr>
          <a:xfrm>
            <a:off x="502919" y="4370832"/>
            <a:ext cx="1124712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1100">
                <a:solidFill>
                  <a:srgbClr val="FFFFFF"/>
                </a:solidFill>
              </a:defRPr>
            </a:lvl1pPr>
          </a:lstStyle>
          <a:p>
            <a:pPr/>
            <a:r>
              <a:t>Policy · Consent · PII · Hallucination · Cost · Risk classification</a:t>
            </a:r>
          </a:p>
        </p:txBody>
      </p:sp>
      <p:sp>
        <p:nvSpPr>
          <p:cNvPr id="864" name="Rectangle 26"/>
          <p:cNvSpPr/>
          <p:nvPr/>
        </p:nvSpPr>
        <p:spPr>
          <a:xfrm>
            <a:off x="502919" y="4983479"/>
            <a:ext cx="5486401" cy="13716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5" name="TextBox 27"/>
          <p:cNvSpPr txBox="1"/>
          <p:nvPr/>
        </p:nvSpPr>
        <p:spPr>
          <a:xfrm>
            <a:off x="640080" y="5074920"/>
            <a:ext cx="5212080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102A43"/>
                </a:solidFill>
              </a:defRPr>
            </a:lvl1pPr>
          </a:lstStyle>
          <a:p>
            <a:pPr/>
            <a:r>
              <a:t>Side effects (write through Domain APIs only)</a:t>
            </a:r>
          </a:p>
        </p:txBody>
      </p:sp>
      <p:sp>
        <p:nvSpPr>
          <p:cNvPr id="866" name="TextBox 28"/>
          <p:cNvSpPr txBox="1"/>
          <p:nvPr/>
        </p:nvSpPr>
        <p:spPr>
          <a:xfrm>
            <a:off x="640080" y="5440679"/>
            <a:ext cx="521208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Reversible within risk-class window. No agent writes directly to systems of record.</a:t>
            </a:r>
          </a:p>
        </p:txBody>
      </p:sp>
      <p:sp>
        <p:nvSpPr>
          <p:cNvPr id="867" name="Rectangle 29"/>
          <p:cNvSpPr/>
          <p:nvPr/>
        </p:nvSpPr>
        <p:spPr>
          <a:xfrm>
            <a:off x="6263640" y="4983479"/>
            <a:ext cx="5486401" cy="13716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8" name="TextBox 30"/>
          <p:cNvSpPr txBox="1"/>
          <p:nvPr/>
        </p:nvSpPr>
        <p:spPr>
          <a:xfrm>
            <a:off x="6400800" y="5074920"/>
            <a:ext cx="5212080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102A43"/>
                </a:solidFill>
              </a:defRPr>
            </a:lvl1pPr>
          </a:lstStyle>
          <a:p>
            <a:pPr/>
            <a:r>
              <a:t>Run Store · Eval Harness · Feedback Loop</a:t>
            </a:r>
          </a:p>
        </p:txBody>
      </p:sp>
      <p:sp>
        <p:nvSpPr>
          <p:cNvPr id="869" name="TextBox 31"/>
          <p:cNvSpPr txBox="1"/>
          <p:nvPr/>
        </p:nvSpPr>
        <p:spPr>
          <a:xfrm>
            <a:off x="6400800" y="5440679"/>
            <a:ext cx="521208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Every step traced. Every regression detected. Every learning fed back into golden sets.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72" name="Rectangle 2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73" name="Rectangle 3"/>
          <p:cNvSpPr/>
          <p:nvPr/>
        </p:nvSpPr>
        <p:spPr>
          <a:xfrm>
            <a:off x="-1" y="6565392"/>
            <a:ext cx="12191697" cy="292609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74" name="TextBox 4"/>
          <p:cNvSpPr txBox="1"/>
          <p:nvPr/>
        </p:nvSpPr>
        <p:spPr>
          <a:xfrm>
            <a:off x="365759" y="6583680"/>
            <a:ext cx="73152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FFFFFF"/>
                </a:solidFill>
              </a:defRPr>
            </a:lvl1pPr>
          </a:lstStyle>
          <a:p>
            <a:pPr/>
            <a:r>
              <a:t>Camping World · Agentic AI Solution Architecture Blueprint v1.0</a:t>
            </a:r>
          </a:p>
        </p:txBody>
      </p:sp>
      <p:sp>
        <p:nvSpPr>
          <p:cNvPr id="875" name="TextBox 5"/>
          <p:cNvSpPr txBox="1"/>
          <p:nvPr/>
        </p:nvSpPr>
        <p:spPr>
          <a:xfrm>
            <a:off x="10332719" y="6583680"/>
            <a:ext cx="18288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/>
            <a:r>
              <a:t>19 / 30</a:t>
            </a:r>
          </a:p>
        </p:txBody>
      </p:sp>
      <p:sp>
        <p:nvSpPr>
          <p:cNvPr id="876" name="TextBox 6"/>
          <p:cNvSpPr txBox="1"/>
          <p:nvPr/>
        </p:nvSpPr>
        <p:spPr>
          <a:xfrm>
            <a:off x="502919" y="274320"/>
            <a:ext cx="1097280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C1441E"/>
                </a:solidFill>
              </a:defRPr>
            </a:lvl1pPr>
          </a:lstStyle>
          <a:p>
            <a:pPr/>
            <a:r>
              <a:t>SECTION 6.5</a:t>
            </a:r>
          </a:p>
        </p:txBody>
      </p:sp>
      <p:sp>
        <p:nvSpPr>
          <p:cNvPr id="877" name="TextBox 7"/>
          <p:cNvSpPr txBox="1"/>
          <p:nvPr/>
        </p:nvSpPr>
        <p:spPr>
          <a:xfrm>
            <a:off x="502919" y="502919"/>
            <a:ext cx="1124712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102A43"/>
                </a:solidFill>
              </a:defRPr>
            </a:lvl1pPr>
          </a:lstStyle>
          <a:p>
            <a:pPr/>
            <a:r>
              <a:t>Agent Contract — Declarative Spec (example)</a:t>
            </a:r>
          </a:p>
        </p:txBody>
      </p:sp>
      <p:sp>
        <p:nvSpPr>
          <p:cNvPr id="878" name="Rectangle 8"/>
          <p:cNvSpPr/>
          <p:nvPr/>
        </p:nvSpPr>
        <p:spPr>
          <a:xfrm>
            <a:off x="502919" y="1097280"/>
            <a:ext cx="548641" cy="36577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79" name="Rectangle 9"/>
          <p:cNvSpPr/>
          <p:nvPr/>
        </p:nvSpPr>
        <p:spPr>
          <a:xfrm>
            <a:off x="502919" y="1417319"/>
            <a:ext cx="6858001" cy="4937762"/>
          </a:xfrm>
          <a:prstGeom prst="rect">
            <a:avLst/>
          </a:prstGeom>
          <a:solidFill>
            <a:srgbClr val="071B2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0" name="Rectangle 10"/>
          <p:cNvSpPr/>
          <p:nvPr/>
        </p:nvSpPr>
        <p:spPr>
          <a:xfrm>
            <a:off x="502919" y="1417319"/>
            <a:ext cx="6858001" cy="384049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1" name="TextBox 11"/>
          <p:cNvSpPr txBox="1"/>
          <p:nvPr/>
        </p:nvSpPr>
        <p:spPr>
          <a:xfrm>
            <a:off x="685800" y="1496490"/>
            <a:ext cx="640080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service.failure_mode  v1.4.0</a:t>
            </a:r>
          </a:p>
        </p:txBody>
      </p:sp>
      <p:sp>
        <p:nvSpPr>
          <p:cNvPr id="882" name="TextBox 12"/>
          <p:cNvSpPr txBox="1"/>
          <p:nvPr/>
        </p:nvSpPr>
        <p:spPr>
          <a:xfrm>
            <a:off x="822960" y="1874518"/>
            <a:ext cx="6309361" cy="421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F1E6CB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agent: service.failure_mode</a:t>
            </a:r>
          </a:p>
          <a:p>
            <a:pPr>
              <a:defRPr sz="1100">
                <a:solidFill>
                  <a:srgbClr val="F1E6CB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version: 1.4.0</a:t>
            </a:r>
          </a:p>
          <a:p>
            <a:pPr>
              <a:defRPr sz="1100">
                <a:solidFill>
                  <a:srgbClr val="F1E6CB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owner: good_sam.engineering</a:t>
            </a:r>
          </a:p>
          <a:p>
            <a:pPr>
              <a:defRPr sz="1100">
                <a:solidFill>
                  <a:srgbClr val="F1E6CB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goal: |</a:t>
            </a:r>
          </a:p>
          <a:p>
            <a:pPr>
              <a:defRPr sz="1100">
                <a:solidFill>
                  <a:srgbClr val="F1E6CB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Identify VINs likely to fail within 30d</a:t>
            </a:r>
          </a:p>
          <a:p>
            <a:pPr>
              <a:defRPr sz="1100">
                <a:solidFill>
                  <a:srgbClr val="F1E6CB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and trigger booking flow</a:t>
            </a:r>
          </a:p>
          <a:p>
            <a:pPr>
              <a:defRPr sz="1100">
                <a:solidFill>
                  <a:srgbClr val="F1E6CB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tools:</a:t>
            </a:r>
          </a:p>
          <a:p>
            <a:pPr>
              <a:defRPr sz="1100">
                <a:solidFill>
                  <a:srgbClr val="F1E6CB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- resolve_vehicle</a:t>
            </a:r>
          </a:p>
          <a:p>
            <a:pPr>
              <a:defRPr sz="1100">
                <a:solidFill>
                  <a:srgbClr val="F1E6CB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- score_failure_window</a:t>
            </a:r>
          </a:p>
          <a:p>
            <a:pPr>
              <a:defRPr sz="1100">
                <a:solidFill>
                  <a:srgbClr val="F1E6CB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- propose_appointment</a:t>
            </a:r>
          </a:p>
          <a:p>
            <a:pPr>
              <a:defRPr sz="1100">
                <a:solidFill>
                  <a:srgbClr val="F1E6CB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- create_service_ticket</a:t>
            </a:r>
          </a:p>
          <a:p>
            <a:pPr>
              <a:defRPr sz="1100">
                <a:solidFill>
                  <a:srgbClr val="F1E6CB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models:</a:t>
            </a:r>
          </a:p>
          <a:p>
            <a:pPr>
              <a:defRPr sz="1100">
                <a:solidFill>
                  <a:srgbClr val="F1E6CB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primary: claude-sonnet-4-6</a:t>
            </a:r>
          </a:p>
          <a:p>
            <a:pPr>
              <a:defRPr sz="1100">
                <a:solidFill>
                  <a:srgbClr val="F1E6CB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fallback: claude-haiku-4-5</a:t>
            </a:r>
          </a:p>
          <a:p>
            <a:pPr>
              <a:defRPr sz="1100">
                <a:solidFill>
                  <a:srgbClr val="F1E6CB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slo:</a:t>
            </a:r>
          </a:p>
          <a:p>
            <a:pPr>
              <a:defRPr sz="1100">
                <a:solidFill>
                  <a:srgbClr val="F1E6CB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p95_latency_ms: 1200</a:t>
            </a:r>
          </a:p>
          <a:p>
            <a:pPr>
              <a:defRPr sz="1100">
                <a:solidFill>
                  <a:srgbClr val="F1E6CB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precision_min: 0.78</a:t>
            </a:r>
          </a:p>
          <a:p>
            <a:pPr>
              <a:defRPr sz="1100">
                <a:solidFill>
                  <a:srgbClr val="F1E6CB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recall_min:    0.65</a:t>
            </a:r>
          </a:p>
          <a:p>
            <a:pPr>
              <a:defRPr sz="1100">
                <a:solidFill>
                  <a:srgbClr val="F1E6CB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cost_budget_per_call_usd: 0.018</a:t>
            </a:r>
          </a:p>
          <a:p>
            <a:pPr>
              <a:defRPr sz="1100">
                <a:solidFill>
                  <a:srgbClr val="F1E6CB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risk_class: medium</a:t>
            </a:r>
          </a:p>
          <a:p>
            <a:pPr>
              <a:defRPr sz="1100">
                <a:solidFill>
                  <a:srgbClr val="F1E6CB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human_in_the_loop:</a:t>
            </a:r>
          </a:p>
          <a:p>
            <a:pPr>
              <a:defRPr sz="1100">
                <a:solidFill>
                  <a:srgbClr val="F1E6CB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required_above: parts_cost &gt; 500</a:t>
            </a:r>
          </a:p>
          <a:p>
            <a:pPr>
              <a:defRPr sz="1100">
                <a:solidFill>
                  <a:srgbClr val="F1E6CB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           OR safety_critical == true</a:t>
            </a:r>
          </a:p>
          <a:p>
            <a:pPr>
              <a:defRPr sz="1100">
                <a:solidFill>
                  <a:srgbClr val="F1E6CB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rollback:</a:t>
            </a:r>
          </a:p>
          <a:p>
            <a:pPr>
              <a:defRPr sz="1100">
                <a:solidFill>
                  <a:srgbClr val="F1E6CB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reversible_window_hours: 24</a:t>
            </a:r>
          </a:p>
        </p:txBody>
      </p:sp>
      <p:sp>
        <p:nvSpPr>
          <p:cNvPr id="883" name="TextBox 13"/>
          <p:cNvSpPr txBox="1"/>
          <p:nvPr/>
        </p:nvSpPr>
        <p:spPr>
          <a:xfrm>
            <a:off x="7635240" y="1417319"/>
            <a:ext cx="4206241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02A43"/>
                </a:solidFill>
              </a:defRPr>
            </a:lvl1pPr>
          </a:lstStyle>
          <a:p>
            <a:pPr/>
            <a:r>
              <a:t>Why this matters</a:t>
            </a:r>
          </a:p>
        </p:txBody>
      </p:sp>
      <p:sp>
        <p:nvSpPr>
          <p:cNvPr id="884" name="Rectangle 14"/>
          <p:cNvSpPr/>
          <p:nvPr/>
        </p:nvSpPr>
        <p:spPr>
          <a:xfrm>
            <a:off x="7635240" y="1920239"/>
            <a:ext cx="4206241" cy="6400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5" name="Rectangle 15"/>
          <p:cNvSpPr/>
          <p:nvPr/>
        </p:nvSpPr>
        <p:spPr>
          <a:xfrm>
            <a:off x="7635240" y="1920239"/>
            <a:ext cx="64009" cy="640081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6" name="TextBox 16"/>
          <p:cNvSpPr txBox="1"/>
          <p:nvPr/>
        </p:nvSpPr>
        <p:spPr>
          <a:xfrm>
            <a:off x="7818119" y="1984248"/>
            <a:ext cx="393192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102A43"/>
                </a:solidFill>
              </a:defRPr>
            </a:lvl1pPr>
          </a:lstStyle>
          <a:p>
            <a:pPr/>
            <a:r>
              <a:t>Versioned</a:t>
            </a:r>
          </a:p>
        </p:txBody>
      </p:sp>
      <p:sp>
        <p:nvSpPr>
          <p:cNvPr id="887" name="TextBox 17"/>
          <p:cNvSpPr txBox="1"/>
          <p:nvPr/>
        </p:nvSpPr>
        <p:spPr>
          <a:xfrm>
            <a:off x="7818119" y="2249423"/>
            <a:ext cx="39319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Contract is in Git. Rollback = checkout.</a:t>
            </a:r>
          </a:p>
        </p:txBody>
      </p:sp>
      <p:sp>
        <p:nvSpPr>
          <p:cNvPr id="888" name="Rectangle 18"/>
          <p:cNvSpPr/>
          <p:nvPr/>
        </p:nvSpPr>
        <p:spPr>
          <a:xfrm>
            <a:off x="7635240" y="2651760"/>
            <a:ext cx="4206241" cy="6400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9" name="Rectangle 19"/>
          <p:cNvSpPr/>
          <p:nvPr/>
        </p:nvSpPr>
        <p:spPr>
          <a:xfrm>
            <a:off x="7635240" y="2651760"/>
            <a:ext cx="64009" cy="640081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0" name="TextBox 20"/>
          <p:cNvSpPr txBox="1"/>
          <p:nvPr/>
        </p:nvSpPr>
        <p:spPr>
          <a:xfrm>
            <a:off x="7818119" y="2715767"/>
            <a:ext cx="393192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102A43"/>
                </a:solidFill>
              </a:defRPr>
            </a:lvl1pPr>
          </a:lstStyle>
          <a:p>
            <a:pPr/>
            <a:r>
              <a:t>Declarative tools</a:t>
            </a:r>
          </a:p>
        </p:txBody>
      </p:sp>
      <p:sp>
        <p:nvSpPr>
          <p:cNvPr id="891" name="TextBox 21"/>
          <p:cNvSpPr txBox="1"/>
          <p:nvPr/>
        </p:nvSpPr>
        <p:spPr>
          <a:xfrm>
            <a:off x="7818119" y="2980944"/>
            <a:ext cx="393192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Auditors see exactly what an agent can do.</a:t>
            </a:r>
          </a:p>
        </p:txBody>
      </p:sp>
      <p:sp>
        <p:nvSpPr>
          <p:cNvPr id="892" name="Rectangle 22"/>
          <p:cNvSpPr/>
          <p:nvPr/>
        </p:nvSpPr>
        <p:spPr>
          <a:xfrm>
            <a:off x="7635240" y="3383279"/>
            <a:ext cx="4206241" cy="6400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3" name="Rectangle 23"/>
          <p:cNvSpPr/>
          <p:nvPr/>
        </p:nvSpPr>
        <p:spPr>
          <a:xfrm>
            <a:off x="7635240" y="3383279"/>
            <a:ext cx="64009" cy="640081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4" name="TextBox 24"/>
          <p:cNvSpPr txBox="1"/>
          <p:nvPr/>
        </p:nvSpPr>
        <p:spPr>
          <a:xfrm>
            <a:off x="7818119" y="3447288"/>
            <a:ext cx="393192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102A43"/>
                </a:solidFill>
              </a:defRPr>
            </a:lvl1pPr>
          </a:lstStyle>
          <a:p>
            <a:pPr/>
            <a:r>
              <a:t>Cost + SLO are inputs</a:t>
            </a:r>
          </a:p>
        </p:txBody>
      </p:sp>
      <p:sp>
        <p:nvSpPr>
          <p:cNvPr id="895" name="TextBox 25"/>
          <p:cNvSpPr txBox="1"/>
          <p:nvPr/>
        </p:nvSpPr>
        <p:spPr>
          <a:xfrm>
            <a:off x="7818119" y="3712464"/>
            <a:ext cx="393192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Router optimizes against hard constraints.</a:t>
            </a:r>
          </a:p>
        </p:txBody>
      </p:sp>
      <p:sp>
        <p:nvSpPr>
          <p:cNvPr id="896" name="Rectangle 26"/>
          <p:cNvSpPr/>
          <p:nvPr/>
        </p:nvSpPr>
        <p:spPr>
          <a:xfrm>
            <a:off x="7635240" y="4114799"/>
            <a:ext cx="4206241" cy="64008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7" name="Rectangle 27"/>
          <p:cNvSpPr/>
          <p:nvPr/>
        </p:nvSpPr>
        <p:spPr>
          <a:xfrm>
            <a:off x="7635240" y="4114799"/>
            <a:ext cx="64009" cy="640082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8" name="TextBox 28"/>
          <p:cNvSpPr txBox="1"/>
          <p:nvPr/>
        </p:nvSpPr>
        <p:spPr>
          <a:xfrm>
            <a:off x="7818119" y="4178808"/>
            <a:ext cx="393192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102A43"/>
                </a:solidFill>
              </a:defRPr>
            </a:lvl1pPr>
          </a:lstStyle>
          <a:p>
            <a:pPr/>
            <a:r>
              <a:t>Risk-classed</a:t>
            </a:r>
          </a:p>
        </p:txBody>
      </p:sp>
      <p:sp>
        <p:nvSpPr>
          <p:cNvPr id="899" name="TextBox 29"/>
          <p:cNvSpPr txBox="1"/>
          <p:nvPr/>
        </p:nvSpPr>
        <p:spPr>
          <a:xfrm>
            <a:off x="7818119" y="4443984"/>
            <a:ext cx="393192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HITL policy travels with the agent.</a:t>
            </a:r>
          </a:p>
        </p:txBody>
      </p:sp>
      <p:sp>
        <p:nvSpPr>
          <p:cNvPr id="900" name="Rectangle 30"/>
          <p:cNvSpPr/>
          <p:nvPr/>
        </p:nvSpPr>
        <p:spPr>
          <a:xfrm>
            <a:off x="7635240" y="4846320"/>
            <a:ext cx="4206241" cy="6400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1" name="Rectangle 31"/>
          <p:cNvSpPr/>
          <p:nvPr/>
        </p:nvSpPr>
        <p:spPr>
          <a:xfrm>
            <a:off x="7635240" y="4846320"/>
            <a:ext cx="64009" cy="640081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2" name="TextBox 32"/>
          <p:cNvSpPr txBox="1"/>
          <p:nvPr/>
        </p:nvSpPr>
        <p:spPr>
          <a:xfrm>
            <a:off x="7818119" y="4910328"/>
            <a:ext cx="393192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102A43"/>
                </a:solidFill>
              </a:defRPr>
            </a:lvl1pPr>
          </a:lstStyle>
          <a:p>
            <a:pPr/>
            <a:r>
              <a:t>Reversible window</a:t>
            </a:r>
          </a:p>
        </p:txBody>
      </p:sp>
      <p:sp>
        <p:nvSpPr>
          <p:cNvPr id="903" name="TextBox 33"/>
          <p:cNvSpPr txBox="1"/>
          <p:nvPr/>
        </p:nvSpPr>
        <p:spPr>
          <a:xfrm>
            <a:off x="7818119" y="5175503"/>
            <a:ext cx="39319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Bounded blast radius for every action.</a:t>
            </a:r>
          </a:p>
        </p:txBody>
      </p:sp>
      <p:sp>
        <p:nvSpPr>
          <p:cNvPr id="904" name="Rectangle 34"/>
          <p:cNvSpPr/>
          <p:nvPr/>
        </p:nvSpPr>
        <p:spPr>
          <a:xfrm>
            <a:off x="7635240" y="5577840"/>
            <a:ext cx="4206241" cy="6400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5" name="Rectangle 35"/>
          <p:cNvSpPr/>
          <p:nvPr/>
        </p:nvSpPr>
        <p:spPr>
          <a:xfrm>
            <a:off x="7635240" y="5577840"/>
            <a:ext cx="64009" cy="640081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6" name="TextBox 36"/>
          <p:cNvSpPr txBox="1"/>
          <p:nvPr/>
        </p:nvSpPr>
        <p:spPr>
          <a:xfrm>
            <a:off x="7818119" y="5641847"/>
            <a:ext cx="393192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102A43"/>
                </a:solidFill>
              </a:defRPr>
            </a:lvl1pPr>
          </a:lstStyle>
          <a:p>
            <a:pPr/>
            <a:r>
              <a:t>Eval-gated CI</a:t>
            </a:r>
          </a:p>
        </p:txBody>
      </p:sp>
      <p:sp>
        <p:nvSpPr>
          <p:cNvPr id="907" name="TextBox 37"/>
          <p:cNvSpPr txBox="1"/>
          <p:nvPr/>
        </p:nvSpPr>
        <p:spPr>
          <a:xfrm>
            <a:off x="7818119" y="5907023"/>
            <a:ext cx="39319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Promotion requires golden-set pass.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0" name="Rectangle 2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1" name="Rectangle 3"/>
          <p:cNvSpPr/>
          <p:nvPr/>
        </p:nvSpPr>
        <p:spPr>
          <a:xfrm>
            <a:off x="-1" y="6565392"/>
            <a:ext cx="12191697" cy="292609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2" name="TextBox 4"/>
          <p:cNvSpPr txBox="1"/>
          <p:nvPr/>
        </p:nvSpPr>
        <p:spPr>
          <a:xfrm>
            <a:off x="365759" y="6583680"/>
            <a:ext cx="73152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FFFFFF"/>
                </a:solidFill>
              </a:defRPr>
            </a:lvl1pPr>
          </a:lstStyle>
          <a:p>
            <a:pPr/>
            <a:r>
              <a:t>Camping World · Agentic AI Solution Architecture Blueprint v1.0</a:t>
            </a:r>
          </a:p>
        </p:txBody>
      </p:sp>
      <p:sp>
        <p:nvSpPr>
          <p:cNvPr id="913" name="TextBox 5"/>
          <p:cNvSpPr txBox="1"/>
          <p:nvPr/>
        </p:nvSpPr>
        <p:spPr>
          <a:xfrm>
            <a:off x="10332719" y="6583680"/>
            <a:ext cx="18288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/>
            <a:r>
              <a:t>20 / 30</a:t>
            </a:r>
          </a:p>
        </p:txBody>
      </p:sp>
      <p:sp>
        <p:nvSpPr>
          <p:cNvPr id="914" name="TextBox 6"/>
          <p:cNvSpPr txBox="1"/>
          <p:nvPr/>
        </p:nvSpPr>
        <p:spPr>
          <a:xfrm>
            <a:off x="502919" y="274320"/>
            <a:ext cx="1097280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C1441E"/>
                </a:solidFill>
              </a:defRPr>
            </a:lvl1pPr>
          </a:lstStyle>
          <a:p>
            <a:pPr/>
            <a:r>
              <a:t>SECTION 9</a:t>
            </a:r>
          </a:p>
        </p:txBody>
      </p:sp>
      <p:sp>
        <p:nvSpPr>
          <p:cNvPr id="915" name="TextBox 7"/>
          <p:cNvSpPr txBox="1"/>
          <p:nvPr/>
        </p:nvSpPr>
        <p:spPr>
          <a:xfrm>
            <a:off x="502919" y="502919"/>
            <a:ext cx="1124712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102A43"/>
                </a:solidFill>
              </a:defRPr>
            </a:lvl1pPr>
          </a:lstStyle>
          <a:p>
            <a:pPr/>
            <a:r>
              <a:t>Security, Privacy &amp; Responsible AI — Threat Model</a:t>
            </a:r>
          </a:p>
        </p:txBody>
      </p:sp>
      <p:sp>
        <p:nvSpPr>
          <p:cNvPr id="916" name="Rectangle 8"/>
          <p:cNvSpPr/>
          <p:nvPr/>
        </p:nvSpPr>
        <p:spPr>
          <a:xfrm>
            <a:off x="502919" y="1097280"/>
            <a:ext cx="548641" cy="36577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7" name="Rectangle 9"/>
          <p:cNvSpPr/>
          <p:nvPr/>
        </p:nvSpPr>
        <p:spPr>
          <a:xfrm>
            <a:off x="502919" y="1417319"/>
            <a:ext cx="11247122" cy="5943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8" name="Rectangle 10"/>
          <p:cNvSpPr/>
          <p:nvPr/>
        </p:nvSpPr>
        <p:spPr>
          <a:xfrm>
            <a:off x="502919" y="1417319"/>
            <a:ext cx="91441" cy="594361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9" name="TextBox 11"/>
          <p:cNvSpPr txBox="1"/>
          <p:nvPr/>
        </p:nvSpPr>
        <p:spPr>
          <a:xfrm>
            <a:off x="685800" y="1590347"/>
            <a:ext cx="3840480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02A43"/>
                </a:solidFill>
              </a:defRPr>
            </a:lvl1pPr>
          </a:lstStyle>
          <a:p>
            <a:pPr/>
            <a:r>
              <a:t>Prompt injection (member input)</a:t>
            </a:r>
          </a:p>
        </p:txBody>
      </p:sp>
      <p:sp>
        <p:nvSpPr>
          <p:cNvPr id="920" name="TextBox 12"/>
          <p:cNvSpPr txBox="1"/>
          <p:nvPr/>
        </p:nvSpPr>
        <p:spPr>
          <a:xfrm>
            <a:off x="4572000" y="1601645"/>
            <a:ext cx="7132319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100">
                <a:solidFill>
                  <a:srgbClr val="36454F"/>
                </a:solidFill>
              </a:defRPr>
            </a:lvl1pPr>
          </a:lstStyle>
          <a:p>
            <a:pPr/>
            <a:r>
              <a:t>Layered filters · structured tool args · red-team gates</a:t>
            </a:r>
          </a:p>
        </p:txBody>
      </p:sp>
      <p:sp>
        <p:nvSpPr>
          <p:cNvPr id="921" name="Rectangle 13"/>
          <p:cNvSpPr/>
          <p:nvPr/>
        </p:nvSpPr>
        <p:spPr>
          <a:xfrm>
            <a:off x="502919" y="2093976"/>
            <a:ext cx="11247122" cy="5943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22" name="Rectangle 14"/>
          <p:cNvSpPr/>
          <p:nvPr/>
        </p:nvSpPr>
        <p:spPr>
          <a:xfrm>
            <a:off x="502919" y="2093976"/>
            <a:ext cx="91441" cy="594361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23" name="TextBox 15"/>
          <p:cNvSpPr txBox="1"/>
          <p:nvPr/>
        </p:nvSpPr>
        <p:spPr>
          <a:xfrm>
            <a:off x="685800" y="2267003"/>
            <a:ext cx="3840480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02A43"/>
                </a:solidFill>
              </a:defRPr>
            </a:lvl1pPr>
          </a:lstStyle>
          <a:p>
            <a:pPr/>
            <a:r>
              <a:t>Tool abuse (over-privileged)</a:t>
            </a:r>
          </a:p>
        </p:txBody>
      </p:sp>
      <p:sp>
        <p:nvSpPr>
          <p:cNvPr id="924" name="TextBox 16"/>
          <p:cNvSpPr txBox="1"/>
          <p:nvPr/>
        </p:nvSpPr>
        <p:spPr>
          <a:xfrm>
            <a:off x="4572000" y="2278301"/>
            <a:ext cx="7132319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100">
                <a:solidFill>
                  <a:srgbClr val="36454F"/>
                </a:solidFill>
              </a:defRPr>
            </a:lvl1pPr>
          </a:lstStyle>
          <a:p>
            <a:pPr/>
            <a:r>
              <a:t>Least-privilege · signed manifests · per-tool rate limits</a:t>
            </a:r>
          </a:p>
        </p:txBody>
      </p:sp>
      <p:sp>
        <p:nvSpPr>
          <p:cNvPr id="925" name="Rectangle 17"/>
          <p:cNvSpPr/>
          <p:nvPr/>
        </p:nvSpPr>
        <p:spPr>
          <a:xfrm>
            <a:off x="502919" y="2770632"/>
            <a:ext cx="11247122" cy="5943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26" name="Rectangle 18"/>
          <p:cNvSpPr/>
          <p:nvPr/>
        </p:nvSpPr>
        <p:spPr>
          <a:xfrm>
            <a:off x="502919" y="2770632"/>
            <a:ext cx="91441" cy="594361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27" name="TextBox 19"/>
          <p:cNvSpPr txBox="1"/>
          <p:nvPr/>
        </p:nvSpPr>
        <p:spPr>
          <a:xfrm>
            <a:off x="685800" y="2943659"/>
            <a:ext cx="3840480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02A43"/>
                </a:solidFill>
              </a:defRPr>
            </a:lvl1pPr>
          </a:lstStyle>
          <a:p>
            <a:pPr/>
            <a:r>
              <a:t>Data exfiltration via LLM</a:t>
            </a:r>
          </a:p>
        </p:txBody>
      </p:sp>
      <p:sp>
        <p:nvSpPr>
          <p:cNvPr id="928" name="TextBox 20"/>
          <p:cNvSpPr txBox="1"/>
          <p:nvPr/>
        </p:nvSpPr>
        <p:spPr>
          <a:xfrm>
            <a:off x="4572000" y="2954957"/>
            <a:ext cx="7132319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100">
                <a:solidFill>
                  <a:srgbClr val="36454F"/>
                </a:solidFill>
              </a:defRPr>
            </a:lvl1pPr>
          </a:lstStyle>
          <a:p>
            <a:pPr/>
            <a:r>
              <a:t>PII redaction in flight · allow-listed egress · output classifier</a:t>
            </a:r>
          </a:p>
        </p:txBody>
      </p:sp>
      <p:sp>
        <p:nvSpPr>
          <p:cNvPr id="929" name="Rectangle 21"/>
          <p:cNvSpPr/>
          <p:nvPr/>
        </p:nvSpPr>
        <p:spPr>
          <a:xfrm>
            <a:off x="502919" y="3447288"/>
            <a:ext cx="11247122" cy="5943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30" name="Rectangle 22"/>
          <p:cNvSpPr/>
          <p:nvPr/>
        </p:nvSpPr>
        <p:spPr>
          <a:xfrm>
            <a:off x="502919" y="3447288"/>
            <a:ext cx="91441" cy="594361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31" name="TextBox 23"/>
          <p:cNvSpPr txBox="1"/>
          <p:nvPr/>
        </p:nvSpPr>
        <p:spPr>
          <a:xfrm>
            <a:off x="685800" y="3620315"/>
            <a:ext cx="384048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02A43"/>
                </a:solidFill>
              </a:defRPr>
            </a:lvl1pPr>
          </a:lstStyle>
          <a:p>
            <a:pPr/>
            <a:r>
              <a:t>Model supply-chain compromise</a:t>
            </a:r>
          </a:p>
        </p:txBody>
      </p:sp>
      <p:sp>
        <p:nvSpPr>
          <p:cNvPr id="932" name="TextBox 24"/>
          <p:cNvSpPr txBox="1"/>
          <p:nvPr/>
        </p:nvSpPr>
        <p:spPr>
          <a:xfrm>
            <a:off x="4572000" y="3631613"/>
            <a:ext cx="7132319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100">
                <a:solidFill>
                  <a:srgbClr val="36454F"/>
                </a:solidFill>
              </a:defRPr>
            </a:lvl1pPr>
          </a:lstStyle>
          <a:p>
            <a:pPr/>
            <a:r>
              <a:t>Multi-vendor router · eval gates · SBOM for self-hosted</a:t>
            </a:r>
          </a:p>
        </p:txBody>
      </p:sp>
      <p:sp>
        <p:nvSpPr>
          <p:cNvPr id="933" name="Rectangle 25"/>
          <p:cNvSpPr/>
          <p:nvPr/>
        </p:nvSpPr>
        <p:spPr>
          <a:xfrm>
            <a:off x="502919" y="4123944"/>
            <a:ext cx="11247122" cy="5943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34" name="Rectangle 26"/>
          <p:cNvSpPr/>
          <p:nvPr/>
        </p:nvSpPr>
        <p:spPr>
          <a:xfrm>
            <a:off x="502919" y="4123944"/>
            <a:ext cx="91441" cy="594361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35" name="TextBox 27"/>
          <p:cNvSpPr txBox="1"/>
          <p:nvPr/>
        </p:nvSpPr>
        <p:spPr>
          <a:xfrm>
            <a:off x="685800" y="4296971"/>
            <a:ext cx="384048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02A43"/>
                </a:solidFill>
              </a:defRPr>
            </a:lvl1pPr>
          </a:lstStyle>
          <a:p>
            <a:pPr/>
            <a:r>
              <a:t>Drift / regression</a:t>
            </a:r>
          </a:p>
        </p:txBody>
      </p:sp>
      <p:sp>
        <p:nvSpPr>
          <p:cNvPr id="936" name="TextBox 28"/>
          <p:cNvSpPr txBox="1"/>
          <p:nvPr/>
        </p:nvSpPr>
        <p:spPr>
          <a:xfrm>
            <a:off x="4572000" y="4308269"/>
            <a:ext cx="7132319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100">
                <a:solidFill>
                  <a:srgbClr val="36454F"/>
                </a:solidFill>
              </a:defRPr>
            </a:lvl1pPr>
          </a:lstStyle>
          <a:p>
            <a:pPr/>
            <a:r>
              <a:t>Canary + golden eval set · auto-rollback on regression</a:t>
            </a:r>
          </a:p>
        </p:txBody>
      </p:sp>
      <p:sp>
        <p:nvSpPr>
          <p:cNvPr id="937" name="Rectangle 29"/>
          <p:cNvSpPr/>
          <p:nvPr/>
        </p:nvSpPr>
        <p:spPr>
          <a:xfrm>
            <a:off x="502919" y="4800600"/>
            <a:ext cx="11247122" cy="59436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38" name="Rectangle 30"/>
          <p:cNvSpPr/>
          <p:nvPr/>
        </p:nvSpPr>
        <p:spPr>
          <a:xfrm>
            <a:off x="502919" y="4800600"/>
            <a:ext cx="91441" cy="594360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39" name="TextBox 31"/>
          <p:cNvSpPr txBox="1"/>
          <p:nvPr/>
        </p:nvSpPr>
        <p:spPr>
          <a:xfrm>
            <a:off x="685800" y="4973627"/>
            <a:ext cx="3840480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02A43"/>
                </a:solidFill>
              </a:defRPr>
            </a:lvl1pPr>
          </a:lstStyle>
          <a:p>
            <a:pPr/>
            <a:r>
              <a:t>Insider misuse</a:t>
            </a:r>
          </a:p>
        </p:txBody>
      </p:sp>
      <p:sp>
        <p:nvSpPr>
          <p:cNvPr id="940" name="TextBox 32"/>
          <p:cNvSpPr txBox="1"/>
          <p:nvPr/>
        </p:nvSpPr>
        <p:spPr>
          <a:xfrm>
            <a:off x="4572000" y="4984925"/>
            <a:ext cx="7132319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100">
                <a:solidFill>
                  <a:srgbClr val="36454F"/>
                </a:solidFill>
              </a:defRPr>
            </a:lvl1pPr>
          </a:lstStyle>
          <a:p>
            <a:pPr/>
            <a:r>
              <a:t>RBAC + JIT elevation · session capture for high-risk roles</a:t>
            </a:r>
          </a:p>
        </p:txBody>
      </p:sp>
      <p:sp>
        <p:nvSpPr>
          <p:cNvPr id="941" name="Rectangle 33"/>
          <p:cNvSpPr/>
          <p:nvPr/>
        </p:nvSpPr>
        <p:spPr>
          <a:xfrm>
            <a:off x="502919" y="5477255"/>
            <a:ext cx="11247122" cy="5943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2" name="Rectangle 34"/>
          <p:cNvSpPr/>
          <p:nvPr/>
        </p:nvSpPr>
        <p:spPr>
          <a:xfrm>
            <a:off x="502919" y="5477255"/>
            <a:ext cx="91441" cy="594361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3" name="TextBox 35"/>
          <p:cNvSpPr txBox="1"/>
          <p:nvPr/>
        </p:nvSpPr>
        <p:spPr>
          <a:xfrm>
            <a:off x="685800" y="5650283"/>
            <a:ext cx="3840480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02A43"/>
                </a:solidFill>
              </a:defRPr>
            </a:lvl1pPr>
          </a:lstStyle>
          <a:p>
            <a:pPr/>
            <a:r>
              <a:t>Bias / disparate impact</a:t>
            </a:r>
          </a:p>
        </p:txBody>
      </p:sp>
      <p:sp>
        <p:nvSpPr>
          <p:cNvPr id="944" name="TextBox 36"/>
          <p:cNvSpPr txBox="1"/>
          <p:nvPr/>
        </p:nvSpPr>
        <p:spPr>
          <a:xfrm>
            <a:off x="4572000" y="5661581"/>
            <a:ext cx="7132319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100">
                <a:solidFill>
                  <a:srgbClr val="36454F"/>
                </a:solidFill>
              </a:defRPr>
            </a:lvl1pPr>
          </a:lstStyle>
          <a:p>
            <a:pPr/>
            <a:r>
              <a:t>Fairness eval gates · quarterly RAI council review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7" name="Rectangle 2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8" name="Rectangle 3"/>
          <p:cNvSpPr/>
          <p:nvPr/>
        </p:nvSpPr>
        <p:spPr>
          <a:xfrm>
            <a:off x="-1" y="6565392"/>
            <a:ext cx="12191697" cy="292609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9" name="TextBox 4"/>
          <p:cNvSpPr txBox="1"/>
          <p:nvPr/>
        </p:nvSpPr>
        <p:spPr>
          <a:xfrm>
            <a:off x="365759" y="6583680"/>
            <a:ext cx="73152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FFFFFF"/>
                </a:solidFill>
              </a:defRPr>
            </a:lvl1pPr>
          </a:lstStyle>
          <a:p>
            <a:pPr/>
            <a:r>
              <a:t>Camping World · Agentic AI Solution Architecture Blueprint v1.0</a:t>
            </a:r>
          </a:p>
        </p:txBody>
      </p:sp>
      <p:sp>
        <p:nvSpPr>
          <p:cNvPr id="950" name="TextBox 5"/>
          <p:cNvSpPr txBox="1"/>
          <p:nvPr/>
        </p:nvSpPr>
        <p:spPr>
          <a:xfrm>
            <a:off x="10332719" y="6583680"/>
            <a:ext cx="18288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/>
            <a:r>
              <a:t>21 / 30</a:t>
            </a:r>
          </a:p>
        </p:txBody>
      </p:sp>
      <p:sp>
        <p:nvSpPr>
          <p:cNvPr id="951" name="TextBox 6"/>
          <p:cNvSpPr txBox="1"/>
          <p:nvPr/>
        </p:nvSpPr>
        <p:spPr>
          <a:xfrm>
            <a:off x="502919" y="274320"/>
            <a:ext cx="1097280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C1441E"/>
                </a:solidFill>
              </a:defRPr>
            </a:lvl1pPr>
          </a:lstStyle>
          <a:p>
            <a:pPr/>
            <a:r>
              <a:t>SECTION 10 — PROGRESSIVE CAPABILITY ROADMAP</a:t>
            </a:r>
          </a:p>
        </p:txBody>
      </p:sp>
      <p:sp>
        <p:nvSpPr>
          <p:cNvPr id="952" name="TextBox 7"/>
          <p:cNvSpPr txBox="1"/>
          <p:nvPr/>
        </p:nvSpPr>
        <p:spPr>
          <a:xfrm>
            <a:off x="502919" y="502919"/>
            <a:ext cx="1124712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102A43"/>
                </a:solidFill>
              </a:defRPr>
            </a:lvl1pPr>
          </a:lstStyle>
          <a:p>
            <a:pPr/>
            <a:r>
              <a:t>2026 → 2028 Roadmap at a Glance</a:t>
            </a:r>
          </a:p>
        </p:txBody>
      </p:sp>
      <p:sp>
        <p:nvSpPr>
          <p:cNvPr id="953" name="Rectangle 8"/>
          <p:cNvSpPr/>
          <p:nvPr/>
        </p:nvSpPr>
        <p:spPr>
          <a:xfrm>
            <a:off x="502919" y="1097280"/>
            <a:ext cx="548641" cy="36577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4" name="Rectangle 9"/>
          <p:cNvSpPr/>
          <p:nvPr/>
        </p:nvSpPr>
        <p:spPr>
          <a:xfrm>
            <a:off x="502919" y="1828799"/>
            <a:ext cx="2112266" cy="3291842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5" name="TextBox 10"/>
          <p:cNvSpPr txBox="1"/>
          <p:nvPr/>
        </p:nvSpPr>
        <p:spPr>
          <a:xfrm>
            <a:off x="685800" y="2011679"/>
            <a:ext cx="1792224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1E6CB"/>
                </a:solidFill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956" name="TextBox 11"/>
          <p:cNvSpPr txBox="1"/>
          <p:nvPr/>
        </p:nvSpPr>
        <p:spPr>
          <a:xfrm>
            <a:off x="685800" y="2423160"/>
            <a:ext cx="1792224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FOUNDATION</a:t>
            </a:r>
          </a:p>
        </p:txBody>
      </p:sp>
      <p:sp>
        <p:nvSpPr>
          <p:cNvPr id="957" name="TextBox 12"/>
          <p:cNvSpPr txBox="1"/>
          <p:nvPr/>
        </p:nvSpPr>
        <p:spPr>
          <a:xfrm>
            <a:off x="685800" y="3017520"/>
            <a:ext cx="1792224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100">
                <a:solidFill>
                  <a:srgbClr val="F1E6CB"/>
                </a:solidFill>
              </a:defRPr>
            </a:lvl1pPr>
          </a:lstStyle>
          <a:p>
            <a:pPr/>
            <a:r>
              <a:t>2026 Q3–Q4</a:t>
            </a:r>
          </a:p>
        </p:txBody>
      </p:sp>
      <p:sp>
        <p:nvSpPr>
          <p:cNvPr id="958" name="TextBox 13"/>
          <p:cNvSpPr txBox="1"/>
          <p:nvPr/>
        </p:nvSpPr>
        <p:spPr>
          <a:xfrm>
            <a:off x="685800" y="3520440"/>
            <a:ext cx="1792224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Trust the data, instrument the runtime</a:t>
            </a:r>
          </a:p>
        </p:txBody>
      </p:sp>
      <p:sp>
        <p:nvSpPr>
          <p:cNvPr id="959" name="Rectangle 14"/>
          <p:cNvSpPr/>
          <p:nvPr/>
        </p:nvSpPr>
        <p:spPr>
          <a:xfrm>
            <a:off x="2752343" y="1828799"/>
            <a:ext cx="2112266" cy="3291842"/>
          </a:xfrm>
          <a:prstGeom prst="rect">
            <a:avLst/>
          </a:prstGeom>
          <a:solidFill>
            <a:srgbClr val="E6834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0" name="TextBox 15"/>
          <p:cNvSpPr txBox="1"/>
          <p:nvPr/>
        </p:nvSpPr>
        <p:spPr>
          <a:xfrm>
            <a:off x="2935223" y="2011679"/>
            <a:ext cx="1792225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1E6CB"/>
                </a:solidFill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961" name="TextBox 16"/>
          <p:cNvSpPr txBox="1"/>
          <p:nvPr/>
        </p:nvSpPr>
        <p:spPr>
          <a:xfrm>
            <a:off x="2935223" y="2423160"/>
            <a:ext cx="1792225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AUGMENTATION</a:t>
            </a:r>
          </a:p>
        </p:txBody>
      </p:sp>
      <p:sp>
        <p:nvSpPr>
          <p:cNvPr id="962" name="TextBox 17"/>
          <p:cNvSpPr txBox="1"/>
          <p:nvPr/>
        </p:nvSpPr>
        <p:spPr>
          <a:xfrm>
            <a:off x="2935223" y="3017520"/>
            <a:ext cx="1792225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100">
                <a:solidFill>
                  <a:srgbClr val="F1E6CB"/>
                </a:solidFill>
              </a:defRPr>
            </a:lvl1pPr>
          </a:lstStyle>
          <a:p>
            <a:pPr/>
            <a:r>
              <a:t>2027 Q1–Q2</a:t>
            </a:r>
          </a:p>
        </p:txBody>
      </p:sp>
      <p:sp>
        <p:nvSpPr>
          <p:cNvPr id="963" name="TextBox 18"/>
          <p:cNvSpPr txBox="1"/>
          <p:nvPr/>
        </p:nvSpPr>
        <p:spPr>
          <a:xfrm>
            <a:off x="2935223" y="3520440"/>
            <a:ext cx="1792225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Co-pilots beside humans</a:t>
            </a:r>
          </a:p>
        </p:txBody>
      </p:sp>
      <p:sp>
        <p:nvSpPr>
          <p:cNvPr id="964" name="Rectangle 19"/>
          <p:cNvSpPr/>
          <p:nvPr/>
        </p:nvSpPr>
        <p:spPr>
          <a:xfrm>
            <a:off x="5001767" y="1828799"/>
            <a:ext cx="2112265" cy="3291842"/>
          </a:xfrm>
          <a:prstGeom prst="rect">
            <a:avLst/>
          </a:prstGeom>
          <a:solidFill>
            <a:srgbClr val="6E8B4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5" name="TextBox 20"/>
          <p:cNvSpPr txBox="1"/>
          <p:nvPr/>
        </p:nvSpPr>
        <p:spPr>
          <a:xfrm>
            <a:off x="5184647" y="2011679"/>
            <a:ext cx="1792225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1E6CB"/>
                </a:solidFill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966" name="TextBox 21"/>
          <p:cNvSpPr txBox="1"/>
          <p:nvPr/>
        </p:nvSpPr>
        <p:spPr>
          <a:xfrm>
            <a:off x="5184647" y="2423160"/>
            <a:ext cx="1792225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PREDICTIVE LOOP</a:t>
            </a:r>
          </a:p>
        </p:txBody>
      </p:sp>
      <p:sp>
        <p:nvSpPr>
          <p:cNvPr id="967" name="TextBox 22"/>
          <p:cNvSpPr txBox="1"/>
          <p:nvPr/>
        </p:nvSpPr>
        <p:spPr>
          <a:xfrm>
            <a:off x="5184647" y="3017520"/>
            <a:ext cx="1792225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100">
                <a:solidFill>
                  <a:srgbClr val="F1E6CB"/>
                </a:solidFill>
              </a:defRPr>
            </a:lvl1pPr>
          </a:lstStyle>
          <a:p>
            <a:pPr/>
            <a:r>
              <a:t>2027 Q3–Q4</a:t>
            </a:r>
          </a:p>
        </p:txBody>
      </p:sp>
      <p:sp>
        <p:nvSpPr>
          <p:cNvPr id="968" name="TextBox 23"/>
          <p:cNvSpPr txBox="1"/>
          <p:nvPr/>
        </p:nvSpPr>
        <p:spPr>
          <a:xfrm>
            <a:off x="5184647" y="3520440"/>
            <a:ext cx="1792225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Sense + decide closed</a:t>
            </a:r>
          </a:p>
        </p:txBody>
      </p:sp>
      <p:sp>
        <p:nvSpPr>
          <p:cNvPr id="969" name="Rectangle 24"/>
          <p:cNvSpPr/>
          <p:nvPr/>
        </p:nvSpPr>
        <p:spPr>
          <a:xfrm>
            <a:off x="7251192" y="1828799"/>
            <a:ext cx="2112265" cy="3291842"/>
          </a:xfrm>
          <a:prstGeom prst="rect">
            <a:avLst/>
          </a:prstGeom>
          <a:solidFill>
            <a:srgbClr val="1F4D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0" name="TextBox 25"/>
          <p:cNvSpPr txBox="1"/>
          <p:nvPr/>
        </p:nvSpPr>
        <p:spPr>
          <a:xfrm>
            <a:off x="7434071" y="2011679"/>
            <a:ext cx="1792225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1E6CB"/>
                </a:solidFill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971" name="TextBox 26"/>
          <p:cNvSpPr txBox="1"/>
          <p:nvPr/>
        </p:nvSpPr>
        <p:spPr>
          <a:xfrm>
            <a:off x="7434071" y="2423160"/>
            <a:ext cx="1792225" cy="506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AUTONOMOUS WORKFLOWS</a:t>
            </a:r>
          </a:p>
        </p:txBody>
      </p:sp>
      <p:sp>
        <p:nvSpPr>
          <p:cNvPr id="972" name="TextBox 27"/>
          <p:cNvSpPr txBox="1"/>
          <p:nvPr/>
        </p:nvSpPr>
        <p:spPr>
          <a:xfrm>
            <a:off x="7434071" y="3017520"/>
            <a:ext cx="1792225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100">
                <a:solidFill>
                  <a:srgbClr val="F1E6CB"/>
                </a:solidFill>
              </a:defRPr>
            </a:lvl1pPr>
          </a:lstStyle>
          <a:p>
            <a:pPr/>
            <a:r>
              <a:t>2028 Q1–Q2</a:t>
            </a:r>
          </a:p>
        </p:txBody>
      </p:sp>
      <p:sp>
        <p:nvSpPr>
          <p:cNvPr id="973" name="TextBox 28"/>
          <p:cNvSpPr txBox="1"/>
          <p:nvPr/>
        </p:nvSpPr>
        <p:spPr>
          <a:xfrm>
            <a:off x="7434071" y="3520440"/>
            <a:ext cx="1792225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Decide + act closed (HITL gated)</a:t>
            </a:r>
          </a:p>
        </p:txBody>
      </p:sp>
      <p:sp>
        <p:nvSpPr>
          <p:cNvPr id="974" name="Rectangle 29"/>
          <p:cNvSpPr/>
          <p:nvPr/>
        </p:nvSpPr>
        <p:spPr>
          <a:xfrm>
            <a:off x="9500616" y="1828799"/>
            <a:ext cx="2112265" cy="3291842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5" name="TextBox 30"/>
          <p:cNvSpPr txBox="1"/>
          <p:nvPr/>
        </p:nvSpPr>
        <p:spPr>
          <a:xfrm>
            <a:off x="9683495" y="2011679"/>
            <a:ext cx="1792225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1E6CB"/>
                </a:solidFill>
              </a:defRPr>
            </a:lvl1pPr>
          </a:lstStyle>
          <a:p>
            <a:pPr/>
            <a:r>
              <a:t>P5</a:t>
            </a:r>
          </a:p>
        </p:txBody>
      </p:sp>
      <p:sp>
        <p:nvSpPr>
          <p:cNvPr id="976" name="TextBox 31"/>
          <p:cNvSpPr txBox="1"/>
          <p:nvPr/>
        </p:nvSpPr>
        <p:spPr>
          <a:xfrm>
            <a:off x="9683495" y="2423160"/>
            <a:ext cx="1792225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SELF-IMPROVING</a:t>
            </a:r>
          </a:p>
        </p:txBody>
      </p:sp>
      <p:sp>
        <p:nvSpPr>
          <p:cNvPr id="977" name="TextBox 32"/>
          <p:cNvSpPr txBox="1"/>
          <p:nvPr/>
        </p:nvSpPr>
        <p:spPr>
          <a:xfrm>
            <a:off x="9683495" y="3017520"/>
            <a:ext cx="1792225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100">
                <a:solidFill>
                  <a:srgbClr val="F1E6CB"/>
                </a:solidFill>
              </a:defRPr>
            </a:lvl1pPr>
          </a:lstStyle>
          <a:p>
            <a:pPr/>
            <a:r>
              <a:t>2028 Q3–Q4</a:t>
            </a:r>
          </a:p>
        </p:txBody>
      </p:sp>
      <p:sp>
        <p:nvSpPr>
          <p:cNvPr id="978" name="TextBox 33"/>
          <p:cNvSpPr txBox="1"/>
          <p:nvPr/>
        </p:nvSpPr>
        <p:spPr>
          <a:xfrm>
            <a:off x="9683495" y="3520440"/>
            <a:ext cx="1792225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Learn loop closed</a:t>
            </a:r>
          </a:p>
        </p:txBody>
      </p:sp>
      <p:sp>
        <p:nvSpPr>
          <p:cNvPr id="979" name="Rectangle 34"/>
          <p:cNvSpPr/>
          <p:nvPr/>
        </p:nvSpPr>
        <p:spPr>
          <a:xfrm>
            <a:off x="502919" y="1536191"/>
            <a:ext cx="11247122" cy="36577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0" name="Oval 35"/>
          <p:cNvSpPr/>
          <p:nvPr/>
        </p:nvSpPr>
        <p:spPr>
          <a:xfrm>
            <a:off x="1394460" y="1389888"/>
            <a:ext cx="329185" cy="329185"/>
          </a:xfrm>
          <a:prstGeom prst="ellipse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1" name="TextBox 36"/>
          <p:cNvSpPr txBox="1"/>
          <p:nvPr/>
        </p:nvSpPr>
        <p:spPr>
          <a:xfrm>
            <a:off x="1394460" y="1430327"/>
            <a:ext cx="329185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982" name="Oval 37"/>
          <p:cNvSpPr/>
          <p:nvPr/>
        </p:nvSpPr>
        <p:spPr>
          <a:xfrm>
            <a:off x="3643884" y="1389888"/>
            <a:ext cx="329185" cy="329185"/>
          </a:xfrm>
          <a:prstGeom prst="ellipse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3" name="TextBox 38"/>
          <p:cNvSpPr txBox="1"/>
          <p:nvPr/>
        </p:nvSpPr>
        <p:spPr>
          <a:xfrm>
            <a:off x="3643884" y="1430327"/>
            <a:ext cx="329185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984" name="Oval 39"/>
          <p:cNvSpPr/>
          <p:nvPr/>
        </p:nvSpPr>
        <p:spPr>
          <a:xfrm>
            <a:off x="5893308" y="1389888"/>
            <a:ext cx="329185" cy="329185"/>
          </a:xfrm>
          <a:prstGeom prst="ellipse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5" name="TextBox 40"/>
          <p:cNvSpPr txBox="1"/>
          <p:nvPr/>
        </p:nvSpPr>
        <p:spPr>
          <a:xfrm>
            <a:off x="5893308" y="1430327"/>
            <a:ext cx="329185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986" name="Oval 41"/>
          <p:cNvSpPr/>
          <p:nvPr/>
        </p:nvSpPr>
        <p:spPr>
          <a:xfrm>
            <a:off x="8142731" y="1389888"/>
            <a:ext cx="329185" cy="329185"/>
          </a:xfrm>
          <a:prstGeom prst="ellipse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7" name="TextBox 42"/>
          <p:cNvSpPr txBox="1"/>
          <p:nvPr/>
        </p:nvSpPr>
        <p:spPr>
          <a:xfrm>
            <a:off x="8142731" y="1430327"/>
            <a:ext cx="329185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988" name="Oval 43"/>
          <p:cNvSpPr/>
          <p:nvPr/>
        </p:nvSpPr>
        <p:spPr>
          <a:xfrm>
            <a:off x="10392156" y="1389888"/>
            <a:ext cx="329185" cy="329185"/>
          </a:xfrm>
          <a:prstGeom prst="ellipse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9" name="TextBox 44"/>
          <p:cNvSpPr txBox="1"/>
          <p:nvPr/>
        </p:nvSpPr>
        <p:spPr>
          <a:xfrm>
            <a:off x="10392156" y="1430327"/>
            <a:ext cx="329185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990" name="Rectangle 45"/>
          <p:cNvSpPr/>
          <p:nvPr/>
        </p:nvSpPr>
        <p:spPr>
          <a:xfrm>
            <a:off x="502919" y="5349240"/>
            <a:ext cx="11247122" cy="10058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1" name="TextBox 46"/>
          <p:cNvSpPr txBox="1"/>
          <p:nvPr/>
        </p:nvSpPr>
        <p:spPr>
          <a:xfrm>
            <a:off x="685800" y="5413247"/>
            <a:ext cx="1097280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102A43"/>
                </a:solidFill>
              </a:defRPr>
            </a:lvl1pPr>
          </a:lstStyle>
          <a:p>
            <a:pPr/>
            <a:r>
              <a:t>Capability → Outcome traces</a:t>
            </a:r>
          </a:p>
        </p:txBody>
      </p:sp>
      <p:sp>
        <p:nvSpPr>
          <p:cNvPr id="992" name="TextBox 47"/>
          <p:cNvSpPr txBox="1"/>
          <p:nvPr/>
        </p:nvSpPr>
        <p:spPr>
          <a:xfrm>
            <a:off x="685800" y="5715000"/>
            <a:ext cx="10972800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C1441E"/>
                </a:solidFill>
              </a:defRPr>
            </a:lvl1pPr>
          </a:lstStyle>
          <a:p>
            <a:pPr/>
            <a:r>
              <a:t>ESP attach +18%   ·   ROAS +22%   ·   Lead-to-close +90%   ·   Aged inventory −25%   ·   SG&amp;A −$60M run-rate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5" name="Rectangle 2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6" name="Rectangle 3"/>
          <p:cNvSpPr/>
          <p:nvPr/>
        </p:nvSpPr>
        <p:spPr>
          <a:xfrm>
            <a:off x="-1" y="6565392"/>
            <a:ext cx="12191697" cy="292609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7" name="TextBox 4"/>
          <p:cNvSpPr txBox="1"/>
          <p:nvPr/>
        </p:nvSpPr>
        <p:spPr>
          <a:xfrm>
            <a:off x="365759" y="6583680"/>
            <a:ext cx="73152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FFFFFF"/>
                </a:solidFill>
              </a:defRPr>
            </a:lvl1pPr>
          </a:lstStyle>
          <a:p>
            <a:pPr/>
            <a:r>
              <a:t>Camping World · Agentic AI Solution Architecture Blueprint v1.0</a:t>
            </a:r>
          </a:p>
        </p:txBody>
      </p:sp>
      <p:sp>
        <p:nvSpPr>
          <p:cNvPr id="998" name="TextBox 5"/>
          <p:cNvSpPr txBox="1"/>
          <p:nvPr/>
        </p:nvSpPr>
        <p:spPr>
          <a:xfrm>
            <a:off x="10332719" y="6583680"/>
            <a:ext cx="18288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/>
            <a:r>
              <a:t>22 / 30</a:t>
            </a:r>
          </a:p>
        </p:txBody>
      </p:sp>
      <p:sp>
        <p:nvSpPr>
          <p:cNvPr id="999" name="TextBox 6"/>
          <p:cNvSpPr txBox="1"/>
          <p:nvPr/>
        </p:nvSpPr>
        <p:spPr>
          <a:xfrm>
            <a:off x="502919" y="274320"/>
            <a:ext cx="1097280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C1441E"/>
                </a:solidFill>
              </a:defRPr>
            </a:lvl1pPr>
          </a:lstStyle>
          <a:p>
            <a:pPr/>
            <a:r>
              <a:t>PHASE 1 · 2026 Q3–Q4</a:t>
            </a:r>
          </a:p>
        </p:txBody>
      </p:sp>
      <p:sp>
        <p:nvSpPr>
          <p:cNvPr id="1000" name="TextBox 7"/>
          <p:cNvSpPr txBox="1"/>
          <p:nvPr/>
        </p:nvSpPr>
        <p:spPr>
          <a:xfrm>
            <a:off x="502919" y="502919"/>
            <a:ext cx="1124712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102A43"/>
                </a:solidFill>
              </a:defRPr>
            </a:lvl1pPr>
          </a:lstStyle>
          <a:p>
            <a:pPr/>
            <a:r>
              <a:t>P1 — Foundation</a:t>
            </a:r>
          </a:p>
        </p:txBody>
      </p:sp>
      <p:sp>
        <p:nvSpPr>
          <p:cNvPr id="1001" name="Rectangle 8"/>
          <p:cNvSpPr/>
          <p:nvPr/>
        </p:nvSpPr>
        <p:spPr>
          <a:xfrm>
            <a:off x="502919" y="1097280"/>
            <a:ext cx="548641" cy="36577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2" name="Rectangle 9"/>
          <p:cNvSpPr/>
          <p:nvPr/>
        </p:nvSpPr>
        <p:spPr>
          <a:xfrm>
            <a:off x="502919" y="1463039"/>
            <a:ext cx="7772401" cy="48463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3" name="Rectangle 10"/>
          <p:cNvSpPr/>
          <p:nvPr/>
        </p:nvSpPr>
        <p:spPr>
          <a:xfrm>
            <a:off x="502919" y="1463039"/>
            <a:ext cx="164593" cy="4846321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4" name="TextBox 11"/>
          <p:cNvSpPr txBox="1"/>
          <p:nvPr/>
        </p:nvSpPr>
        <p:spPr>
          <a:xfrm>
            <a:off x="777240" y="1554480"/>
            <a:ext cx="7315201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102A43"/>
                </a:solidFill>
              </a:defRPr>
            </a:lvl1pPr>
          </a:lstStyle>
          <a:p>
            <a:pPr/>
            <a:r>
              <a:t>Capability Releases</a:t>
            </a:r>
          </a:p>
        </p:txBody>
      </p:sp>
      <p:sp>
        <p:nvSpPr>
          <p:cNvPr id="1005" name="TextBox 12"/>
          <p:cNvSpPr txBox="1"/>
          <p:nvPr/>
        </p:nvSpPr>
        <p:spPr>
          <a:xfrm>
            <a:off x="777240" y="1920239"/>
            <a:ext cx="457200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C1441E"/>
                </a:solidFill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1006" name="TextBox 13"/>
          <p:cNvSpPr txBox="1"/>
          <p:nvPr/>
        </p:nvSpPr>
        <p:spPr>
          <a:xfrm>
            <a:off x="5577840" y="1920239"/>
            <a:ext cx="118872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C1441E"/>
                </a:solidFill>
              </a:defRPr>
            </a:lvl1pPr>
          </a:lstStyle>
          <a:p>
            <a:pPr/>
            <a:r>
              <a:t>Q-A</a:t>
            </a:r>
          </a:p>
        </p:txBody>
      </p:sp>
      <p:sp>
        <p:nvSpPr>
          <p:cNvPr id="1007" name="TextBox 14"/>
          <p:cNvSpPr txBox="1"/>
          <p:nvPr/>
        </p:nvSpPr>
        <p:spPr>
          <a:xfrm>
            <a:off x="6858000" y="1920239"/>
            <a:ext cx="1371600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C1441E"/>
                </a:solidFill>
              </a:defRPr>
            </a:lvl1pPr>
          </a:lstStyle>
          <a:p>
            <a:pPr/>
            <a:r>
              <a:t>Q-B</a:t>
            </a:r>
          </a:p>
        </p:txBody>
      </p:sp>
      <p:sp>
        <p:nvSpPr>
          <p:cNvPr id="1008" name="TextBox 15"/>
          <p:cNvSpPr txBox="1"/>
          <p:nvPr/>
        </p:nvSpPr>
        <p:spPr>
          <a:xfrm>
            <a:off x="777240" y="2240279"/>
            <a:ext cx="45720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02A43"/>
                </a:solidFill>
              </a:defRPr>
            </a:lvl1pPr>
          </a:lstStyle>
          <a:p>
            <a:pPr/>
            <a:r>
              <a:t>Customer 360 golden record GA</a:t>
            </a:r>
          </a:p>
        </p:txBody>
      </p:sp>
      <p:sp>
        <p:nvSpPr>
          <p:cNvPr id="1009" name="TextBox 16"/>
          <p:cNvSpPr txBox="1"/>
          <p:nvPr/>
        </p:nvSpPr>
        <p:spPr>
          <a:xfrm>
            <a:off x="5577840" y="2240279"/>
            <a:ext cx="1188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GA</a:t>
            </a:r>
          </a:p>
        </p:txBody>
      </p:sp>
      <p:sp>
        <p:nvSpPr>
          <p:cNvPr id="1010" name="Rectangle 18"/>
          <p:cNvSpPr/>
          <p:nvPr/>
        </p:nvSpPr>
        <p:spPr>
          <a:xfrm>
            <a:off x="777240" y="2560320"/>
            <a:ext cx="7315201" cy="329185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1" name="TextBox 19"/>
          <p:cNvSpPr txBox="1"/>
          <p:nvPr/>
        </p:nvSpPr>
        <p:spPr>
          <a:xfrm>
            <a:off x="777240" y="2606039"/>
            <a:ext cx="45720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02A43"/>
                </a:solidFill>
              </a:defRPr>
            </a:lvl1pPr>
          </a:lstStyle>
          <a:p>
            <a:pPr/>
            <a:r>
              <a:t>Vehicle 360 v1</a:t>
            </a:r>
          </a:p>
        </p:txBody>
      </p:sp>
      <p:sp>
        <p:nvSpPr>
          <p:cNvPr id="1012" name="TextBox 20"/>
          <p:cNvSpPr txBox="1"/>
          <p:nvPr/>
        </p:nvSpPr>
        <p:spPr>
          <a:xfrm>
            <a:off x="5577840" y="2606039"/>
            <a:ext cx="1188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Build</a:t>
            </a:r>
          </a:p>
        </p:txBody>
      </p:sp>
      <p:sp>
        <p:nvSpPr>
          <p:cNvPr id="1013" name="TextBox 21"/>
          <p:cNvSpPr txBox="1"/>
          <p:nvPr/>
        </p:nvSpPr>
        <p:spPr>
          <a:xfrm>
            <a:off x="6858000" y="2606039"/>
            <a:ext cx="137160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GA</a:t>
            </a:r>
          </a:p>
        </p:txBody>
      </p:sp>
      <p:sp>
        <p:nvSpPr>
          <p:cNvPr id="1014" name="TextBox 22"/>
          <p:cNvSpPr txBox="1"/>
          <p:nvPr/>
        </p:nvSpPr>
        <p:spPr>
          <a:xfrm>
            <a:off x="777240" y="2971799"/>
            <a:ext cx="45720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02A43"/>
                </a:solidFill>
              </a:defRPr>
            </a:lvl1pPr>
          </a:lstStyle>
          <a:p>
            <a:pPr/>
            <a:r>
              <a:t>Consent Vault (OneTrust)</a:t>
            </a:r>
          </a:p>
        </p:txBody>
      </p:sp>
      <p:sp>
        <p:nvSpPr>
          <p:cNvPr id="1015" name="TextBox 23"/>
          <p:cNvSpPr txBox="1"/>
          <p:nvPr/>
        </p:nvSpPr>
        <p:spPr>
          <a:xfrm>
            <a:off x="5577840" y="2971799"/>
            <a:ext cx="1188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GA</a:t>
            </a:r>
          </a:p>
        </p:txBody>
      </p:sp>
      <p:sp>
        <p:nvSpPr>
          <p:cNvPr id="1016" name="Rectangle 25"/>
          <p:cNvSpPr/>
          <p:nvPr/>
        </p:nvSpPr>
        <p:spPr>
          <a:xfrm>
            <a:off x="777240" y="3291840"/>
            <a:ext cx="7315201" cy="329185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7" name="TextBox 26"/>
          <p:cNvSpPr txBox="1"/>
          <p:nvPr/>
        </p:nvSpPr>
        <p:spPr>
          <a:xfrm>
            <a:off x="777240" y="3337559"/>
            <a:ext cx="45720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02A43"/>
                </a:solidFill>
              </a:defRPr>
            </a:lvl1pPr>
          </a:lstStyle>
          <a:p>
            <a:pPr/>
            <a:r>
              <a:t>Event backbone (Confluent + Debezium)</a:t>
            </a:r>
          </a:p>
        </p:txBody>
      </p:sp>
      <p:sp>
        <p:nvSpPr>
          <p:cNvPr id="1018" name="TextBox 27"/>
          <p:cNvSpPr txBox="1"/>
          <p:nvPr/>
        </p:nvSpPr>
        <p:spPr>
          <a:xfrm>
            <a:off x="5577840" y="3337559"/>
            <a:ext cx="1188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Build</a:t>
            </a:r>
          </a:p>
        </p:txBody>
      </p:sp>
      <p:sp>
        <p:nvSpPr>
          <p:cNvPr id="1019" name="TextBox 28"/>
          <p:cNvSpPr txBox="1"/>
          <p:nvPr/>
        </p:nvSpPr>
        <p:spPr>
          <a:xfrm>
            <a:off x="6858000" y="3337559"/>
            <a:ext cx="137160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GA · 6 topics</a:t>
            </a:r>
          </a:p>
        </p:txBody>
      </p:sp>
      <p:sp>
        <p:nvSpPr>
          <p:cNvPr id="1020" name="TextBox 29"/>
          <p:cNvSpPr txBox="1"/>
          <p:nvPr/>
        </p:nvSpPr>
        <p:spPr>
          <a:xfrm>
            <a:off x="777240" y="3703320"/>
            <a:ext cx="457200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02A43"/>
                </a:solidFill>
              </a:defRPr>
            </a:lvl1pPr>
          </a:lstStyle>
          <a:p>
            <a:pPr/>
            <a:r>
              <a:t>MCP Tool Bus + registry</a:t>
            </a:r>
          </a:p>
        </p:txBody>
      </p:sp>
      <p:sp>
        <p:nvSpPr>
          <p:cNvPr id="1021" name="TextBox 30"/>
          <p:cNvSpPr txBox="1"/>
          <p:nvPr/>
        </p:nvSpPr>
        <p:spPr>
          <a:xfrm>
            <a:off x="5577840" y="3703320"/>
            <a:ext cx="118872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Build</a:t>
            </a:r>
          </a:p>
        </p:txBody>
      </p:sp>
      <p:sp>
        <p:nvSpPr>
          <p:cNvPr id="1022" name="TextBox 31"/>
          <p:cNvSpPr txBox="1"/>
          <p:nvPr/>
        </p:nvSpPr>
        <p:spPr>
          <a:xfrm>
            <a:off x="6858000" y="3703320"/>
            <a:ext cx="1371600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GA · 10 RO tools</a:t>
            </a:r>
          </a:p>
        </p:txBody>
      </p:sp>
      <p:sp>
        <p:nvSpPr>
          <p:cNvPr id="1023" name="Rectangle 32"/>
          <p:cNvSpPr/>
          <p:nvPr/>
        </p:nvSpPr>
        <p:spPr>
          <a:xfrm>
            <a:off x="777240" y="4023359"/>
            <a:ext cx="7315201" cy="329185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4" name="TextBox 33"/>
          <p:cNvSpPr txBox="1"/>
          <p:nvPr/>
        </p:nvSpPr>
        <p:spPr>
          <a:xfrm>
            <a:off x="777240" y="4069079"/>
            <a:ext cx="45720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02A43"/>
                </a:solidFill>
              </a:defRPr>
            </a:lvl1pPr>
          </a:lstStyle>
          <a:p>
            <a:pPr/>
            <a:r>
              <a:t>Run Store + Langfuse traces</a:t>
            </a:r>
          </a:p>
        </p:txBody>
      </p:sp>
      <p:sp>
        <p:nvSpPr>
          <p:cNvPr id="1025" name="TextBox 34"/>
          <p:cNvSpPr txBox="1"/>
          <p:nvPr/>
        </p:nvSpPr>
        <p:spPr>
          <a:xfrm>
            <a:off x="5577840" y="4069079"/>
            <a:ext cx="1188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GA</a:t>
            </a:r>
          </a:p>
        </p:txBody>
      </p:sp>
      <p:sp>
        <p:nvSpPr>
          <p:cNvPr id="1026" name="TextBox 36"/>
          <p:cNvSpPr txBox="1"/>
          <p:nvPr/>
        </p:nvSpPr>
        <p:spPr>
          <a:xfrm>
            <a:off x="777240" y="4434840"/>
            <a:ext cx="457200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02A43"/>
                </a:solidFill>
              </a:defRPr>
            </a:lvl1pPr>
          </a:lstStyle>
          <a:p>
            <a:pPr/>
            <a:r>
              <a:t>Eval Harness + golden sets</a:t>
            </a:r>
          </a:p>
        </p:txBody>
      </p:sp>
      <p:sp>
        <p:nvSpPr>
          <p:cNvPr id="1027" name="TextBox 37"/>
          <p:cNvSpPr txBox="1"/>
          <p:nvPr/>
        </p:nvSpPr>
        <p:spPr>
          <a:xfrm>
            <a:off x="5577840" y="4434840"/>
            <a:ext cx="118872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Build</a:t>
            </a:r>
          </a:p>
        </p:txBody>
      </p:sp>
      <p:sp>
        <p:nvSpPr>
          <p:cNvPr id="1028" name="TextBox 38"/>
          <p:cNvSpPr txBox="1"/>
          <p:nvPr/>
        </p:nvSpPr>
        <p:spPr>
          <a:xfrm>
            <a:off x="6858000" y="4434840"/>
            <a:ext cx="1371600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GA</a:t>
            </a:r>
          </a:p>
        </p:txBody>
      </p:sp>
      <p:sp>
        <p:nvSpPr>
          <p:cNvPr id="1029" name="Rectangle 39"/>
          <p:cNvSpPr/>
          <p:nvPr/>
        </p:nvSpPr>
        <p:spPr>
          <a:xfrm>
            <a:off x="777240" y="4754879"/>
            <a:ext cx="7315201" cy="329185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0" name="TextBox 40"/>
          <p:cNvSpPr txBox="1"/>
          <p:nvPr/>
        </p:nvSpPr>
        <p:spPr>
          <a:xfrm>
            <a:off x="777240" y="4800599"/>
            <a:ext cx="45720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02A43"/>
                </a:solidFill>
              </a:defRPr>
            </a:lvl1pPr>
          </a:lstStyle>
          <a:p>
            <a:pPr/>
            <a:r>
              <a:t>Lead-Gen Chatbot</a:t>
            </a:r>
          </a:p>
        </p:txBody>
      </p:sp>
      <p:sp>
        <p:nvSpPr>
          <p:cNvPr id="1031" name="TextBox 41"/>
          <p:cNvSpPr txBox="1"/>
          <p:nvPr/>
        </p:nvSpPr>
        <p:spPr>
          <a:xfrm>
            <a:off x="5577840" y="4800599"/>
            <a:ext cx="1188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Pilot 50</a:t>
            </a:r>
          </a:p>
        </p:txBody>
      </p:sp>
      <p:sp>
        <p:nvSpPr>
          <p:cNvPr id="1032" name="TextBox 42"/>
          <p:cNvSpPr txBox="1"/>
          <p:nvPr/>
        </p:nvSpPr>
        <p:spPr>
          <a:xfrm>
            <a:off x="6858000" y="4800599"/>
            <a:ext cx="137160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Prod 200+</a:t>
            </a:r>
          </a:p>
        </p:txBody>
      </p:sp>
      <p:sp>
        <p:nvSpPr>
          <p:cNvPr id="1033" name="TextBox 43"/>
          <p:cNvSpPr txBox="1"/>
          <p:nvPr/>
        </p:nvSpPr>
        <p:spPr>
          <a:xfrm>
            <a:off x="777240" y="5166359"/>
            <a:ext cx="45720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02A43"/>
                </a:solidFill>
              </a:defRPr>
            </a:lvl1pPr>
          </a:lstStyle>
          <a:p>
            <a:pPr/>
            <a:r>
              <a:t>AP intake (OCR + LLM coding)</a:t>
            </a:r>
          </a:p>
        </p:txBody>
      </p:sp>
      <p:sp>
        <p:nvSpPr>
          <p:cNvPr id="1034" name="TextBox 44"/>
          <p:cNvSpPr txBox="1"/>
          <p:nvPr/>
        </p:nvSpPr>
        <p:spPr>
          <a:xfrm>
            <a:off x="5577840" y="5166359"/>
            <a:ext cx="1188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Pilot</a:t>
            </a:r>
          </a:p>
        </p:txBody>
      </p:sp>
      <p:sp>
        <p:nvSpPr>
          <p:cNvPr id="1035" name="TextBox 45"/>
          <p:cNvSpPr txBox="1"/>
          <p:nvPr/>
        </p:nvSpPr>
        <p:spPr>
          <a:xfrm>
            <a:off x="6858000" y="5166359"/>
            <a:ext cx="137160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Production</a:t>
            </a:r>
          </a:p>
        </p:txBody>
      </p:sp>
      <p:sp>
        <p:nvSpPr>
          <p:cNvPr id="1036" name="Rectangle 46"/>
          <p:cNvSpPr/>
          <p:nvPr/>
        </p:nvSpPr>
        <p:spPr>
          <a:xfrm>
            <a:off x="777240" y="5486399"/>
            <a:ext cx="7315201" cy="329186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7" name="TextBox 47"/>
          <p:cNvSpPr txBox="1"/>
          <p:nvPr/>
        </p:nvSpPr>
        <p:spPr>
          <a:xfrm>
            <a:off x="777240" y="5532120"/>
            <a:ext cx="457200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02A43"/>
                </a:solidFill>
              </a:defRPr>
            </a:lvl1pPr>
          </a:lstStyle>
          <a:p>
            <a:pPr/>
            <a:r>
              <a:t>RAI Council standing</a:t>
            </a:r>
          </a:p>
        </p:txBody>
      </p:sp>
      <p:sp>
        <p:nvSpPr>
          <p:cNvPr id="1038" name="TextBox 48"/>
          <p:cNvSpPr txBox="1"/>
          <p:nvPr/>
        </p:nvSpPr>
        <p:spPr>
          <a:xfrm>
            <a:off x="5577840" y="5532120"/>
            <a:ext cx="118872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Standup</a:t>
            </a:r>
          </a:p>
        </p:txBody>
      </p:sp>
      <p:sp>
        <p:nvSpPr>
          <p:cNvPr id="1039" name="TextBox 49"/>
          <p:cNvSpPr txBox="1"/>
          <p:nvPr/>
        </p:nvSpPr>
        <p:spPr>
          <a:xfrm>
            <a:off x="6858000" y="5532120"/>
            <a:ext cx="1371600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Q1 review</a:t>
            </a:r>
          </a:p>
        </p:txBody>
      </p:sp>
      <p:sp>
        <p:nvSpPr>
          <p:cNvPr id="1040" name="Rectangle 50"/>
          <p:cNvSpPr/>
          <p:nvPr/>
        </p:nvSpPr>
        <p:spPr>
          <a:xfrm>
            <a:off x="8503919" y="1463039"/>
            <a:ext cx="3246121" cy="4846321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1" name="TextBox 51"/>
          <p:cNvSpPr txBox="1"/>
          <p:nvPr/>
        </p:nvSpPr>
        <p:spPr>
          <a:xfrm>
            <a:off x="8641080" y="1554480"/>
            <a:ext cx="3108961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Exit Criteria</a:t>
            </a:r>
          </a:p>
        </p:txBody>
      </p:sp>
      <p:sp>
        <p:nvSpPr>
          <p:cNvPr id="1042" name="TextBox 52"/>
          <p:cNvSpPr txBox="1"/>
          <p:nvPr/>
        </p:nvSpPr>
        <p:spPr>
          <a:xfrm>
            <a:off x="8641080" y="2011679"/>
            <a:ext cx="3108961" cy="1546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F8F3E8"/>
                </a:solidFill>
              </a:defRPr>
            </a:pPr>
            <a:r>
              <a:t>29M-record golden record served &lt; 300ms p95.</a:t>
            </a:r>
          </a:p>
          <a:p>
            <a:pPr>
              <a:defRPr sz="1100">
                <a:solidFill>
                  <a:srgbClr val="F8F3E8"/>
                </a:solidFill>
              </a:defRPr>
            </a:pPr>
          </a:p>
          <a:p>
            <a:pPr>
              <a:defRPr sz="1100">
                <a:solidFill>
                  <a:srgbClr val="F8F3E8"/>
                </a:solidFill>
              </a:defRPr>
            </a:pPr>
            <a:r>
              <a:t>Vehicle 360 covers ≥ 95% of in-warranty units.</a:t>
            </a:r>
          </a:p>
          <a:p>
            <a:pPr>
              <a:defRPr sz="1100">
                <a:solidFill>
                  <a:srgbClr val="F8F3E8"/>
                </a:solidFill>
              </a:defRPr>
            </a:pPr>
          </a:p>
          <a:p>
            <a:pPr>
              <a:defRPr sz="1100">
                <a:solidFill>
                  <a:srgbClr val="F8F3E8"/>
                </a:solidFill>
              </a:defRPr>
            </a:pPr>
            <a:r>
              <a:t>All production agents emit traces to Run Store.</a:t>
            </a:r>
          </a:p>
          <a:p>
            <a:pPr>
              <a:defRPr sz="1100">
                <a:solidFill>
                  <a:srgbClr val="F8F3E8"/>
                </a:solidFill>
              </a:defRPr>
            </a:pPr>
          </a:p>
          <a:p>
            <a:pPr>
              <a:defRPr sz="1100">
                <a:solidFill>
                  <a:srgbClr val="F8F3E8"/>
                </a:solidFill>
              </a:defRPr>
            </a:pPr>
            <a:r>
              <a:t>Eval Harness gates every CI deploy.</a:t>
            </a:r>
          </a:p>
          <a:p>
            <a:pPr>
              <a:defRPr sz="1100">
                <a:solidFill>
                  <a:srgbClr val="F8F3E8"/>
                </a:solidFill>
              </a:defRPr>
            </a:pPr>
          </a:p>
          <a:p>
            <a:pPr>
              <a:defRPr sz="1100">
                <a:solidFill>
                  <a:srgbClr val="F8F3E8"/>
                </a:solidFill>
              </a:defRPr>
            </a:pPr>
            <a:r>
              <a:t>RAI Council has approved 2 production agents.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5" name="Rectangle 2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6" name="Rectangle 3"/>
          <p:cNvSpPr/>
          <p:nvPr/>
        </p:nvSpPr>
        <p:spPr>
          <a:xfrm>
            <a:off x="-1" y="6565392"/>
            <a:ext cx="12191697" cy="292609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7" name="TextBox 4"/>
          <p:cNvSpPr txBox="1"/>
          <p:nvPr/>
        </p:nvSpPr>
        <p:spPr>
          <a:xfrm>
            <a:off x="365759" y="6583680"/>
            <a:ext cx="73152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FFFFFF"/>
                </a:solidFill>
              </a:defRPr>
            </a:lvl1pPr>
          </a:lstStyle>
          <a:p>
            <a:pPr/>
            <a:r>
              <a:t>Camping World · Agentic AI Solution Architecture Blueprint v1.0</a:t>
            </a:r>
          </a:p>
        </p:txBody>
      </p:sp>
      <p:sp>
        <p:nvSpPr>
          <p:cNvPr id="1048" name="TextBox 5"/>
          <p:cNvSpPr txBox="1"/>
          <p:nvPr/>
        </p:nvSpPr>
        <p:spPr>
          <a:xfrm>
            <a:off x="10332719" y="6583680"/>
            <a:ext cx="18288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/>
            <a:r>
              <a:t>23 / 30</a:t>
            </a:r>
          </a:p>
        </p:txBody>
      </p:sp>
      <p:sp>
        <p:nvSpPr>
          <p:cNvPr id="1049" name="TextBox 6"/>
          <p:cNvSpPr txBox="1"/>
          <p:nvPr/>
        </p:nvSpPr>
        <p:spPr>
          <a:xfrm>
            <a:off x="502919" y="274320"/>
            <a:ext cx="1097280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C1441E"/>
                </a:solidFill>
              </a:defRPr>
            </a:lvl1pPr>
          </a:lstStyle>
          <a:p>
            <a:pPr/>
            <a:r>
              <a:t>PHASE 2 · 2027 Q1–Q2</a:t>
            </a:r>
          </a:p>
        </p:txBody>
      </p:sp>
      <p:sp>
        <p:nvSpPr>
          <p:cNvPr id="1050" name="TextBox 7"/>
          <p:cNvSpPr txBox="1"/>
          <p:nvPr/>
        </p:nvSpPr>
        <p:spPr>
          <a:xfrm>
            <a:off x="502919" y="502919"/>
            <a:ext cx="1124712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102A43"/>
                </a:solidFill>
              </a:defRPr>
            </a:lvl1pPr>
          </a:lstStyle>
          <a:p>
            <a:pPr/>
            <a:r>
              <a:t>P2 — Augmentation</a:t>
            </a:r>
          </a:p>
        </p:txBody>
      </p:sp>
      <p:sp>
        <p:nvSpPr>
          <p:cNvPr id="1051" name="Rectangle 8"/>
          <p:cNvSpPr/>
          <p:nvPr/>
        </p:nvSpPr>
        <p:spPr>
          <a:xfrm>
            <a:off x="502919" y="1097280"/>
            <a:ext cx="548641" cy="36577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2" name="Rectangle 9"/>
          <p:cNvSpPr/>
          <p:nvPr/>
        </p:nvSpPr>
        <p:spPr>
          <a:xfrm>
            <a:off x="502919" y="1463039"/>
            <a:ext cx="7772401" cy="48463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3" name="Rectangle 10"/>
          <p:cNvSpPr/>
          <p:nvPr/>
        </p:nvSpPr>
        <p:spPr>
          <a:xfrm>
            <a:off x="502919" y="1463039"/>
            <a:ext cx="164593" cy="4846321"/>
          </a:xfrm>
          <a:prstGeom prst="rect">
            <a:avLst/>
          </a:prstGeom>
          <a:solidFill>
            <a:srgbClr val="E6834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4" name="TextBox 11"/>
          <p:cNvSpPr txBox="1"/>
          <p:nvPr/>
        </p:nvSpPr>
        <p:spPr>
          <a:xfrm>
            <a:off x="777240" y="1554480"/>
            <a:ext cx="7315201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102A43"/>
                </a:solidFill>
              </a:defRPr>
            </a:lvl1pPr>
          </a:lstStyle>
          <a:p>
            <a:pPr/>
            <a:r>
              <a:t>Capability Releases</a:t>
            </a:r>
          </a:p>
        </p:txBody>
      </p:sp>
      <p:sp>
        <p:nvSpPr>
          <p:cNvPr id="1055" name="TextBox 12"/>
          <p:cNvSpPr txBox="1"/>
          <p:nvPr/>
        </p:nvSpPr>
        <p:spPr>
          <a:xfrm>
            <a:off x="777240" y="1920239"/>
            <a:ext cx="457200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C1441E"/>
                </a:solidFill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1056" name="TextBox 13"/>
          <p:cNvSpPr txBox="1"/>
          <p:nvPr/>
        </p:nvSpPr>
        <p:spPr>
          <a:xfrm>
            <a:off x="5577840" y="1920239"/>
            <a:ext cx="118872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C1441E"/>
                </a:solidFill>
              </a:defRPr>
            </a:lvl1pPr>
          </a:lstStyle>
          <a:p>
            <a:pPr/>
            <a:r>
              <a:t>Q-A</a:t>
            </a:r>
          </a:p>
        </p:txBody>
      </p:sp>
      <p:sp>
        <p:nvSpPr>
          <p:cNvPr id="1057" name="TextBox 14"/>
          <p:cNvSpPr txBox="1"/>
          <p:nvPr/>
        </p:nvSpPr>
        <p:spPr>
          <a:xfrm>
            <a:off x="6858000" y="1920239"/>
            <a:ext cx="1371600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C1441E"/>
                </a:solidFill>
              </a:defRPr>
            </a:lvl1pPr>
          </a:lstStyle>
          <a:p>
            <a:pPr/>
            <a:r>
              <a:t>Q-B</a:t>
            </a:r>
          </a:p>
        </p:txBody>
      </p:sp>
      <p:sp>
        <p:nvSpPr>
          <p:cNvPr id="1058" name="TextBox 15"/>
          <p:cNvSpPr txBox="1"/>
          <p:nvPr/>
        </p:nvSpPr>
        <p:spPr>
          <a:xfrm>
            <a:off x="777240" y="2240279"/>
            <a:ext cx="45720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02A43"/>
                </a:solidFill>
              </a:defRPr>
            </a:lvl1pPr>
          </a:lstStyle>
          <a:p>
            <a:pPr/>
            <a:r>
              <a:t>Sales Co-Pilot (dealership tablet)</a:t>
            </a:r>
          </a:p>
        </p:txBody>
      </p:sp>
      <p:sp>
        <p:nvSpPr>
          <p:cNvPr id="1059" name="TextBox 16"/>
          <p:cNvSpPr txBox="1"/>
          <p:nvPr/>
        </p:nvSpPr>
        <p:spPr>
          <a:xfrm>
            <a:off x="5577840" y="2240279"/>
            <a:ext cx="1188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Pilot 25 stores</a:t>
            </a:r>
          </a:p>
        </p:txBody>
      </p:sp>
      <p:sp>
        <p:nvSpPr>
          <p:cNvPr id="1060" name="TextBox 17"/>
          <p:cNvSpPr txBox="1"/>
          <p:nvPr/>
        </p:nvSpPr>
        <p:spPr>
          <a:xfrm>
            <a:off x="6858000" y="2240279"/>
            <a:ext cx="137160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Rollout 100+</a:t>
            </a:r>
          </a:p>
        </p:txBody>
      </p:sp>
      <p:sp>
        <p:nvSpPr>
          <p:cNvPr id="1061" name="Rectangle 18"/>
          <p:cNvSpPr/>
          <p:nvPr/>
        </p:nvSpPr>
        <p:spPr>
          <a:xfrm>
            <a:off x="777240" y="2560320"/>
            <a:ext cx="7315201" cy="329185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2" name="TextBox 19"/>
          <p:cNvSpPr txBox="1"/>
          <p:nvPr/>
        </p:nvSpPr>
        <p:spPr>
          <a:xfrm>
            <a:off x="777240" y="2606039"/>
            <a:ext cx="45720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02A43"/>
                </a:solidFill>
              </a:defRPr>
            </a:lvl1pPr>
          </a:lstStyle>
          <a:p>
            <a:pPr/>
            <a:r>
              <a:t>Service Scheduler (voice + app)</a:t>
            </a:r>
          </a:p>
        </p:txBody>
      </p:sp>
      <p:sp>
        <p:nvSpPr>
          <p:cNvPr id="1063" name="TextBox 20"/>
          <p:cNvSpPr txBox="1"/>
          <p:nvPr/>
        </p:nvSpPr>
        <p:spPr>
          <a:xfrm>
            <a:off x="5577840" y="2606039"/>
            <a:ext cx="1188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Pilot</a:t>
            </a:r>
          </a:p>
        </p:txBody>
      </p:sp>
      <p:sp>
        <p:nvSpPr>
          <p:cNvPr id="1064" name="TextBox 21"/>
          <p:cNvSpPr txBox="1"/>
          <p:nvPr/>
        </p:nvSpPr>
        <p:spPr>
          <a:xfrm>
            <a:off x="6858000" y="2606039"/>
            <a:ext cx="137160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GA</a:t>
            </a:r>
          </a:p>
        </p:txBody>
      </p:sp>
      <p:sp>
        <p:nvSpPr>
          <p:cNvPr id="1065" name="TextBox 22"/>
          <p:cNvSpPr txBox="1"/>
          <p:nvPr/>
        </p:nvSpPr>
        <p:spPr>
          <a:xfrm>
            <a:off x="777240" y="2971799"/>
            <a:ext cx="45720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02A43"/>
                </a:solidFill>
              </a:defRPr>
            </a:lvl1pPr>
          </a:lstStyle>
          <a:p>
            <a:pPr/>
            <a:r>
              <a:t>Tech Diagnostic Co-Pilot</a:t>
            </a:r>
          </a:p>
        </p:txBody>
      </p:sp>
      <p:sp>
        <p:nvSpPr>
          <p:cNvPr id="1066" name="TextBox 23"/>
          <p:cNvSpPr txBox="1"/>
          <p:nvPr/>
        </p:nvSpPr>
        <p:spPr>
          <a:xfrm>
            <a:off x="5577840" y="2971799"/>
            <a:ext cx="1188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Build</a:t>
            </a:r>
          </a:p>
        </p:txBody>
      </p:sp>
      <p:sp>
        <p:nvSpPr>
          <p:cNvPr id="1067" name="TextBox 24"/>
          <p:cNvSpPr txBox="1"/>
          <p:nvPr/>
        </p:nvSpPr>
        <p:spPr>
          <a:xfrm>
            <a:off x="6858000" y="2971799"/>
            <a:ext cx="137160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Pilot 50 bays</a:t>
            </a:r>
          </a:p>
        </p:txBody>
      </p:sp>
      <p:sp>
        <p:nvSpPr>
          <p:cNvPr id="1068" name="Rectangle 25"/>
          <p:cNvSpPr/>
          <p:nvPr/>
        </p:nvSpPr>
        <p:spPr>
          <a:xfrm>
            <a:off x="777240" y="3291840"/>
            <a:ext cx="7315201" cy="329185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9" name="TextBox 26"/>
          <p:cNvSpPr txBox="1"/>
          <p:nvPr/>
        </p:nvSpPr>
        <p:spPr>
          <a:xfrm>
            <a:off x="777240" y="3337559"/>
            <a:ext cx="45720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02A43"/>
                </a:solidFill>
              </a:defRPr>
            </a:lvl1pPr>
          </a:lstStyle>
          <a:p>
            <a:pPr/>
            <a:r>
              <a:t>Personalization v1 (web + app)</a:t>
            </a:r>
          </a:p>
        </p:txBody>
      </p:sp>
      <p:sp>
        <p:nvSpPr>
          <p:cNvPr id="1070" name="TextBox 27"/>
          <p:cNvSpPr txBox="1"/>
          <p:nvPr/>
        </p:nvSpPr>
        <p:spPr>
          <a:xfrm>
            <a:off x="5577840" y="3337559"/>
            <a:ext cx="1188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GA hero/products</a:t>
            </a:r>
          </a:p>
        </p:txBody>
      </p:sp>
      <p:sp>
        <p:nvSpPr>
          <p:cNvPr id="1071" name="TextBox 28"/>
          <p:cNvSpPr txBox="1"/>
          <p:nvPr/>
        </p:nvSpPr>
        <p:spPr>
          <a:xfrm>
            <a:off x="6858000" y="3337559"/>
            <a:ext cx="137160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Email/SMS GA</a:t>
            </a:r>
          </a:p>
        </p:txBody>
      </p:sp>
      <p:sp>
        <p:nvSpPr>
          <p:cNvPr id="1072" name="TextBox 29"/>
          <p:cNvSpPr txBox="1"/>
          <p:nvPr/>
        </p:nvSpPr>
        <p:spPr>
          <a:xfrm>
            <a:off x="777240" y="3703320"/>
            <a:ext cx="457200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02A43"/>
                </a:solidFill>
              </a:defRPr>
            </a:lvl1pPr>
          </a:lstStyle>
          <a:p>
            <a:pPr/>
            <a:r>
              <a:t>AP 3-way match agent</a:t>
            </a:r>
          </a:p>
        </p:txBody>
      </p:sp>
      <p:sp>
        <p:nvSpPr>
          <p:cNvPr id="1073" name="TextBox 30"/>
          <p:cNvSpPr txBox="1"/>
          <p:nvPr/>
        </p:nvSpPr>
        <p:spPr>
          <a:xfrm>
            <a:off x="5577840" y="3703320"/>
            <a:ext cx="118872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Pilot</a:t>
            </a:r>
          </a:p>
        </p:txBody>
      </p:sp>
      <p:sp>
        <p:nvSpPr>
          <p:cNvPr id="1074" name="TextBox 31"/>
          <p:cNvSpPr txBox="1"/>
          <p:nvPr/>
        </p:nvSpPr>
        <p:spPr>
          <a:xfrm>
            <a:off x="6858000" y="3703320"/>
            <a:ext cx="1371600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Production</a:t>
            </a:r>
          </a:p>
        </p:txBody>
      </p:sp>
      <p:sp>
        <p:nvSpPr>
          <p:cNvPr id="1075" name="Rectangle 32"/>
          <p:cNvSpPr/>
          <p:nvPr/>
        </p:nvSpPr>
        <p:spPr>
          <a:xfrm>
            <a:off x="777240" y="4023359"/>
            <a:ext cx="7315201" cy="329185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6" name="TextBox 33"/>
          <p:cNvSpPr txBox="1"/>
          <p:nvPr/>
        </p:nvSpPr>
        <p:spPr>
          <a:xfrm>
            <a:off x="777240" y="4069079"/>
            <a:ext cx="45720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02A43"/>
                </a:solidFill>
              </a:defRPr>
            </a:lvl1pPr>
          </a:lstStyle>
          <a:p>
            <a:pPr/>
            <a:r>
              <a:t>HR ticket triage agent</a:t>
            </a:r>
          </a:p>
        </p:txBody>
      </p:sp>
      <p:sp>
        <p:nvSpPr>
          <p:cNvPr id="1077" name="TextBox 34"/>
          <p:cNvSpPr txBox="1"/>
          <p:nvPr/>
        </p:nvSpPr>
        <p:spPr>
          <a:xfrm>
            <a:off x="5577840" y="4069079"/>
            <a:ext cx="1188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Pilot</a:t>
            </a:r>
          </a:p>
        </p:txBody>
      </p:sp>
      <p:sp>
        <p:nvSpPr>
          <p:cNvPr id="1078" name="TextBox 35"/>
          <p:cNvSpPr txBox="1"/>
          <p:nvPr/>
        </p:nvSpPr>
        <p:spPr>
          <a:xfrm>
            <a:off x="6858000" y="4069079"/>
            <a:ext cx="137160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Production</a:t>
            </a:r>
          </a:p>
        </p:txBody>
      </p:sp>
      <p:sp>
        <p:nvSpPr>
          <p:cNvPr id="1079" name="TextBox 36"/>
          <p:cNvSpPr txBox="1"/>
          <p:nvPr/>
        </p:nvSpPr>
        <p:spPr>
          <a:xfrm>
            <a:off x="777240" y="4434840"/>
            <a:ext cx="457200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02A43"/>
                </a:solidFill>
              </a:defRPr>
            </a:lvl1pPr>
          </a:lstStyle>
          <a:p>
            <a:pPr/>
            <a:r>
              <a:t>Cost-aware model router</a:t>
            </a:r>
          </a:p>
        </p:txBody>
      </p:sp>
      <p:sp>
        <p:nvSpPr>
          <p:cNvPr id="1080" name="TextBox 37"/>
          <p:cNvSpPr txBox="1"/>
          <p:nvPr/>
        </p:nvSpPr>
        <p:spPr>
          <a:xfrm>
            <a:off x="5577840" y="4434840"/>
            <a:ext cx="118872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GA</a:t>
            </a:r>
          </a:p>
        </p:txBody>
      </p:sp>
      <p:sp>
        <p:nvSpPr>
          <p:cNvPr id="1081" name="TextBox 38"/>
          <p:cNvSpPr txBox="1"/>
          <p:nvPr/>
        </p:nvSpPr>
        <p:spPr>
          <a:xfrm>
            <a:off x="6858000" y="4434840"/>
            <a:ext cx="1371600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Per-agent budgets</a:t>
            </a:r>
          </a:p>
        </p:txBody>
      </p:sp>
      <p:sp>
        <p:nvSpPr>
          <p:cNvPr id="1082" name="Rectangle 39"/>
          <p:cNvSpPr/>
          <p:nvPr/>
        </p:nvSpPr>
        <p:spPr>
          <a:xfrm>
            <a:off x="777240" y="4754879"/>
            <a:ext cx="7315201" cy="329185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3" name="TextBox 40"/>
          <p:cNvSpPr txBox="1"/>
          <p:nvPr/>
        </p:nvSpPr>
        <p:spPr>
          <a:xfrm>
            <a:off x="777240" y="4800599"/>
            <a:ext cx="45720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02A43"/>
                </a:solidFill>
              </a:defRPr>
            </a:lvl1pPr>
          </a:lstStyle>
          <a:p>
            <a:pPr/>
            <a:r>
              <a:t>Multi-vendor LLM (Anthropic + OpenAI + open)</a:t>
            </a:r>
          </a:p>
        </p:txBody>
      </p:sp>
      <p:sp>
        <p:nvSpPr>
          <p:cNvPr id="1084" name="TextBox 41"/>
          <p:cNvSpPr txBox="1"/>
          <p:nvPr/>
        </p:nvSpPr>
        <p:spPr>
          <a:xfrm>
            <a:off x="5577840" y="4800599"/>
            <a:ext cx="1188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GA</a:t>
            </a:r>
          </a:p>
        </p:txBody>
      </p:sp>
      <p:sp>
        <p:nvSpPr>
          <p:cNvPr id="1085" name="Rectangle 43"/>
          <p:cNvSpPr/>
          <p:nvPr/>
        </p:nvSpPr>
        <p:spPr>
          <a:xfrm>
            <a:off x="8503919" y="1463039"/>
            <a:ext cx="3246121" cy="4846321"/>
          </a:xfrm>
          <a:prstGeom prst="rect">
            <a:avLst/>
          </a:prstGeom>
          <a:solidFill>
            <a:srgbClr val="E6834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6" name="TextBox 44"/>
          <p:cNvSpPr txBox="1"/>
          <p:nvPr/>
        </p:nvSpPr>
        <p:spPr>
          <a:xfrm>
            <a:off x="8641080" y="1554480"/>
            <a:ext cx="3108961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Exit Criteria</a:t>
            </a:r>
          </a:p>
        </p:txBody>
      </p:sp>
      <p:sp>
        <p:nvSpPr>
          <p:cNvPr id="1087" name="TextBox 45"/>
          <p:cNvSpPr txBox="1"/>
          <p:nvPr/>
        </p:nvSpPr>
        <p:spPr>
          <a:xfrm>
            <a:off x="8641080" y="2011679"/>
            <a:ext cx="3108961" cy="1546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F8F3E8"/>
                </a:solidFill>
              </a:defRPr>
            </a:pPr>
            <a:r>
              <a:t>Containment rate ≥ 50%.</a:t>
            </a:r>
          </a:p>
          <a:p>
            <a:pPr>
              <a:defRPr sz="1100">
                <a:solidFill>
                  <a:srgbClr val="F8F3E8"/>
                </a:solidFill>
              </a:defRPr>
            </a:pPr>
          </a:p>
          <a:p>
            <a:pPr>
              <a:defRPr sz="1100">
                <a:solidFill>
                  <a:srgbClr val="F8F3E8"/>
                </a:solidFill>
              </a:defRPr>
            </a:pPr>
            <a:r>
              <a:t>Sales Co-Pilot lifts test-drive conversion ≥ 20% in pilot.</a:t>
            </a:r>
          </a:p>
          <a:p>
            <a:pPr>
              <a:defRPr sz="1100">
                <a:solidFill>
                  <a:srgbClr val="F8F3E8"/>
                </a:solidFill>
              </a:defRPr>
            </a:pPr>
          </a:p>
          <a:p>
            <a:pPr>
              <a:defRPr sz="1100">
                <a:solidFill>
                  <a:srgbClr val="F8F3E8"/>
                </a:solidFill>
              </a:defRPr>
            </a:pPr>
            <a:r>
              <a:t>AP cycle time reduced ≥ 50% in pilot stores.</a:t>
            </a:r>
          </a:p>
          <a:p>
            <a:pPr>
              <a:defRPr sz="1100">
                <a:solidFill>
                  <a:srgbClr val="F8F3E8"/>
                </a:solidFill>
              </a:defRPr>
            </a:pPr>
          </a:p>
          <a:p>
            <a:pPr>
              <a:defRPr sz="1100">
                <a:solidFill>
                  <a:srgbClr val="F8F3E8"/>
                </a:solidFill>
              </a:defRPr>
            </a:pPr>
            <a:r>
              <a:t>Personalization measured uplift on hero + product blocks ≥ 8% RPV.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0" name="Rectangle 2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1" name="Rectangle 3"/>
          <p:cNvSpPr/>
          <p:nvPr/>
        </p:nvSpPr>
        <p:spPr>
          <a:xfrm>
            <a:off x="-1" y="6565392"/>
            <a:ext cx="12191697" cy="292609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2" name="TextBox 4"/>
          <p:cNvSpPr txBox="1"/>
          <p:nvPr/>
        </p:nvSpPr>
        <p:spPr>
          <a:xfrm>
            <a:off x="365759" y="6583680"/>
            <a:ext cx="73152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FFFFFF"/>
                </a:solidFill>
              </a:defRPr>
            </a:lvl1pPr>
          </a:lstStyle>
          <a:p>
            <a:pPr/>
            <a:r>
              <a:t>Camping World · Agentic AI Solution Architecture Blueprint v1.0</a:t>
            </a:r>
          </a:p>
        </p:txBody>
      </p:sp>
      <p:sp>
        <p:nvSpPr>
          <p:cNvPr id="1093" name="TextBox 5"/>
          <p:cNvSpPr txBox="1"/>
          <p:nvPr/>
        </p:nvSpPr>
        <p:spPr>
          <a:xfrm>
            <a:off x="10332719" y="6583680"/>
            <a:ext cx="18288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/>
            <a:r>
              <a:t>24 / 30</a:t>
            </a:r>
          </a:p>
        </p:txBody>
      </p:sp>
      <p:sp>
        <p:nvSpPr>
          <p:cNvPr id="1094" name="TextBox 6"/>
          <p:cNvSpPr txBox="1"/>
          <p:nvPr/>
        </p:nvSpPr>
        <p:spPr>
          <a:xfrm>
            <a:off x="502919" y="274320"/>
            <a:ext cx="1097280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C1441E"/>
                </a:solidFill>
              </a:defRPr>
            </a:lvl1pPr>
          </a:lstStyle>
          <a:p>
            <a:pPr/>
            <a:r>
              <a:t>PHASE 3 · 2027 Q3–Q4</a:t>
            </a:r>
          </a:p>
        </p:txBody>
      </p:sp>
      <p:sp>
        <p:nvSpPr>
          <p:cNvPr id="1095" name="TextBox 7"/>
          <p:cNvSpPr txBox="1"/>
          <p:nvPr/>
        </p:nvSpPr>
        <p:spPr>
          <a:xfrm>
            <a:off x="502919" y="502919"/>
            <a:ext cx="1124712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102A43"/>
                </a:solidFill>
              </a:defRPr>
            </a:lvl1pPr>
          </a:lstStyle>
          <a:p>
            <a:pPr/>
            <a:r>
              <a:t>P3 — Predictive Loop</a:t>
            </a:r>
          </a:p>
        </p:txBody>
      </p:sp>
      <p:sp>
        <p:nvSpPr>
          <p:cNvPr id="1096" name="Rectangle 8"/>
          <p:cNvSpPr/>
          <p:nvPr/>
        </p:nvSpPr>
        <p:spPr>
          <a:xfrm>
            <a:off x="502919" y="1097280"/>
            <a:ext cx="548641" cy="36577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7" name="Rectangle 9"/>
          <p:cNvSpPr/>
          <p:nvPr/>
        </p:nvSpPr>
        <p:spPr>
          <a:xfrm>
            <a:off x="502919" y="1463039"/>
            <a:ext cx="7772401" cy="48463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8" name="Rectangle 10"/>
          <p:cNvSpPr/>
          <p:nvPr/>
        </p:nvSpPr>
        <p:spPr>
          <a:xfrm>
            <a:off x="502919" y="1463039"/>
            <a:ext cx="164593" cy="4846321"/>
          </a:xfrm>
          <a:prstGeom prst="rect">
            <a:avLst/>
          </a:prstGeom>
          <a:solidFill>
            <a:srgbClr val="6E8B4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9" name="TextBox 11"/>
          <p:cNvSpPr txBox="1"/>
          <p:nvPr/>
        </p:nvSpPr>
        <p:spPr>
          <a:xfrm>
            <a:off x="777240" y="1554480"/>
            <a:ext cx="7315201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102A43"/>
                </a:solidFill>
              </a:defRPr>
            </a:lvl1pPr>
          </a:lstStyle>
          <a:p>
            <a:pPr/>
            <a:r>
              <a:t>Capability Releases</a:t>
            </a:r>
          </a:p>
        </p:txBody>
      </p:sp>
      <p:sp>
        <p:nvSpPr>
          <p:cNvPr id="1100" name="TextBox 12"/>
          <p:cNvSpPr txBox="1"/>
          <p:nvPr/>
        </p:nvSpPr>
        <p:spPr>
          <a:xfrm>
            <a:off x="777240" y="1920239"/>
            <a:ext cx="457200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C1441E"/>
                </a:solidFill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1101" name="TextBox 13"/>
          <p:cNvSpPr txBox="1"/>
          <p:nvPr/>
        </p:nvSpPr>
        <p:spPr>
          <a:xfrm>
            <a:off x="5577840" y="1920239"/>
            <a:ext cx="118872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C1441E"/>
                </a:solidFill>
              </a:defRPr>
            </a:lvl1pPr>
          </a:lstStyle>
          <a:p>
            <a:pPr/>
            <a:r>
              <a:t>Q-A</a:t>
            </a:r>
          </a:p>
        </p:txBody>
      </p:sp>
      <p:sp>
        <p:nvSpPr>
          <p:cNvPr id="1102" name="TextBox 14"/>
          <p:cNvSpPr txBox="1"/>
          <p:nvPr/>
        </p:nvSpPr>
        <p:spPr>
          <a:xfrm>
            <a:off x="6858000" y="1920239"/>
            <a:ext cx="1371600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C1441E"/>
                </a:solidFill>
              </a:defRPr>
            </a:lvl1pPr>
          </a:lstStyle>
          <a:p>
            <a:pPr/>
            <a:r>
              <a:t>Q-B</a:t>
            </a:r>
          </a:p>
        </p:txBody>
      </p:sp>
      <p:sp>
        <p:nvSpPr>
          <p:cNvPr id="1103" name="TextBox 15"/>
          <p:cNvSpPr txBox="1"/>
          <p:nvPr/>
        </p:nvSpPr>
        <p:spPr>
          <a:xfrm>
            <a:off x="777240" y="2240279"/>
            <a:ext cx="45720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02A43"/>
                </a:solidFill>
              </a:defRPr>
            </a:lvl1pPr>
          </a:lstStyle>
          <a:p>
            <a:pPr/>
            <a:r>
              <a:t>Failure-Mode Agent (predictive service)</a:t>
            </a:r>
          </a:p>
        </p:txBody>
      </p:sp>
      <p:sp>
        <p:nvSpPr>
          <p:cNvPr id="1104" name="TextBox 16"/>
          <p:cNvSpPr txBox="1"/>
          <p:nvPr/>
        </p:nvSpPr>
        <p:spPr>
          <a:xfrm>
            <a:off x="5577840" y="2240279"/>
            <a:ext cx="1188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Pilot 5 regions</a:t>
            </a:r>
          </a:p>
        </p:txBody>
      </p:sp>
      <p:sp>
        <p:nvSpPr>
          <p:cNvPr id="1105" name="TextBox 17"/>
          <p:cNvSpPr txBox="1"/>
          <p:nvPr/>
        </p:nvSpPr>
        <p:spPr>
          <a:xfrm>
            <a:off x="6858000" y="2240279"/>
            <a:ext cx="137160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GA national</a:t>
            </a:r>
          </a:p>
        </p:txBody>
      </p:sp>
      <p:sp>
        <p:nvSpPr>
          <p:cNvPr id="1106" name="Rectangle 18"/>
          <p:cNvSpPr/>
          <p:nvPr/>
        </p:nvSpPr>
        <p:spPr>
          <a:xfrm>
            <a:off x="777240" y="2560320"/>
            <a:ext cx="7315201" cy="329185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7" name="TextBox 19"/>
          <p:cNvSpPr txBox="1"/>
          <p:nvPr/>
        </p:nvSpPr>
        <p:spPr>
          <a:xfrm>
            <a:off x="777240" y="2606039"/>
            <a:ext cx="45720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02A43"/>
                </a:solidFill>
              </a:defRPr>
            </a:lvl1pPr>
          </a:lstStyle>
          <a:p>
            <a:pPr/>
            <a:r>
              <a:t>Service Booking Agent (auto-propose)</a:t>
            </a:r>
          </a:p>
        </p:txBody>
      </p:sp>
      <p:sp>
        <p:nvSpPr>
          <p:cNvPr id="1108" name="TextBox 20"/>
          <p:cNvSpPr txBox="1"/>
          <p:nvPr/>
        </p:nvSpPr>
        <p:spPr>
          <a:xfrm>
            <a:off x="5577840" y="2606039"/>
            <a:ext cx="1188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Pilot</a:t>
            </a:r>
          </a:p>
        </p:txBody>
      </p:sp>
      <p:sp>
        <p:nvSpPr>
          <p:cNvPr id="1109" name="TextBox 21"/>
          <p:cNvSpPr txBox="1"/>
          <p:nvPr/>
        </p:nvSpPr>
        <p:spPr>
          <a:xfrm>
            <a:off x="6858000" y="2606039"/>
            <a:ext cx="137160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GA app + voice</a:t>
            </a:r>
          </a:p>
        </p:txBody>
      </p:sp>
      <p:sp>
        <p:nvSpPr>
          <p:cNvPr id="1110" name="TextBox 22"/>
          <p:cNvSpPr txBox="1"/>
          <p:nvPr/>
        </p:nvSpPr>
        <p:spPr>
          <a:xfrm>
            <a:off x="777240" y="2971799"/>
            <a:ext cx="45720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02A43"/>
                </a:solidFill>
              </a:defRPr>
            </a:lvl1pPr>
          </a:lstStyle>
          <a:p>
            <a:pPr/>
            <a:r>
              <a:t>Inventory Metrology v1 (forecast + aging)</a:t>
            </a:r>
          </a:p>
        </p:txBody>
      </p:sp>
      <p:sp>
        <p:nvSpPr>
          <p:cNvPr id="1111" name="TextBox 23"/>
          <p:cNvSpPr txBox="1"/>
          <p:nvPr/>
        </p:nvSpPr>
        <p:spPr>
          <a:xfrm>
            <a:off x="5577840" y="2971799"/>
            <a:ext cx="1188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Pilot 3 regions</a:t>
            </a:r>
          </a:p>
        </p:txBody>
      </p:sp>
      <p:sp>
        <p:nvSpPr>
          <p:cNvPr id="1112" name="TextBox 24"/>
          <p:cNvSpPr txBox="1"/>
          <p:nvPr/>
        </p:nvSpPr>
        <p:spPr>
          <a:xfrm>
            <a:off x="6858000" y="2971799"/>
            <a:ext cx="137160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GA national</a:t>
            </a:r>
          </a:p>
        </p:txBody>
      </p:sp>
      <p:sp>
        <p:nvSpPr>
          <p:cNvPr id="1113" name="Rectangle 25"/>
          <p:cNvSpPr/>
          <p:nvPr/>
        </p:nvSpPr>
        <p:spPr>
          <a:xfrm>
            <a:off x="777240" y="3291840"/>
            <a:ext cx="7315201" cy="329185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4" name="TextBox 26"/>
          <p:cNvSpPr txBox="1"/>
          <p:nvPr/>
        </p:nvSpPr>
        <p:spPr>
          <a:xfrm>
            <a:off x="777240" y="3337559"/>
            <a:ext cx="45720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02A43"/>
                </a:solidFill>
              </a:defRPr>
            </a:lvl1pPr>
          </a:lstStyle>
          <a:p>
            <a:pPr/>
            <a:r>
              <a:t>Journey Orchestrator (cross-channel)</a:t>
            </a:r>
          </a:p>
        </p:txBody>
      </p:sp>
      <p:sp>
        <p:nvSpPr>
          <p:cNvPr id="1115" name="TextBox 27"/>
          <p:cNvSpPr txBox="1"/>
          <p:nvPr/>
        </p:nvSpPr>
        <p:spPr>
          <a:xfrm>
            <a:off x="5577840" y="3337559"/>
            <a:ext cx="1188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Pilot</a:t>
            </a:r>
          </a:p>
        </p:txBody>
      </p:sp>
      <p:sp>
        <p:nvSpPr>
          <p:cNvPr id="1116" name="TextBox 28"/>
          <p:cNvSpPr txBox="1"/>
          <p:nvPr/>
        </p:nvSpPr>
        <p:spPr>
          <a:xfrm>
            <a:off x="6858000" y="3337559"/>
            <a:ext cx="137160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GA</a:t>
            </a:r>
          </a:p>
        </p:txBody>
      </p:sp>
      <p:sp>
        <p:nvSpPr>
          <p:cNvPr id="1117" name="TextBox 29"/>
          <p:cNvSpPr txBox="1"/>
          <p:nvPr/>
        </p:nvSpPr>
        <p:spPr>
          <a:xfrm>
            <a:off x="777240" y="3703320"/>
            <a:ext cx="457200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02A43"/>
                </a:solidFill>
              </a:defRPr>
            </a:lvl1pPr>
          </a:lstStyle>
          <a:p>
            <a:pPr/>
            <a:r>
              <a:t>Trip-context personalization</a:t>
            </a:r>
          </a:p>
        </p:txBody>
      </p:sp>
      <p:sp>
        <p:nvSpPr>
          <p:cNvPr id="1118" name="TextBox 30"/>
          <p:cNvSpPr txBox="1"/>
          <p:nvPr/>
        </p:nvSpPr>
        <p:spPr>
          <a:xfrm>
            <a:off x="5577840" y="3703320"/>
            <a:ext cx="118872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Build</a:t>
            </a:r>
          </a:p>
        </p:txBody>
      </p:sp>
      <p:sp>
        <p:nvSpPr>
          <p:cNvPr id="1119" name="TextBox 31"/>
          <p:cNvSpPr txBox="1"/>
          <p:nvPr/>
        </p:nvSpPr>
        <p:spPr>
          <a:xfrm>
            <a:off x="6858000" y="3703320"/>
            <a:ext cx="1371600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GA</a:t>
            </a:r>
          </a:p>
        </p:txBody>
      </p:sp>
      <p:sp>
        <p:nvSpPr>
          <p:cNvPr id="1120" name="Rectangle 32"/>
          <p:cNvSpPr/>
          <p:nvPr/>
        </p:nvSpPr>
        <p:spPr>
          <a:xfrm>
            <a:off x="777240" y="4023359"/>
            <a:ext cx="7315201" cy="329185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1" name="TextBox 33"/>
          <p:cNvSpPr txBox="1"/>
          <p:nvPr/>
        </p:nvSpPr>
        <p:spPr>
          <a:xfrm>
            <a:off x="777240" y="4069079"/>
            <a:ext cx="45720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02A43"/>
                </a:solidFill>
              </a:defRPr>
            </a:lvl1pPr>
          </a:lstStyle>
          <a:p>
            <a:pPr/>
            <a:r>
              <a:t>Recall &amp; Campaign Agent</a:t>
            </a:r>
          </a:p>
        </p:txBody>
      </p:sp>
      <p:sp>
        <p:nvSpPr>
          <p:cNvPr id="1122" name="TextBox 34"/>
          <p:cNvSpPr txBox="1"/>
          <p:nvPr/>
        </p:nvSpPr>
        <p:spPr>
          <a:xfrm>
            <a:off x="5577840" y="4069079"/>
            <a:ext cx="1188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Pilot</a:t>
            </a:r>
          </a:p>
        </p:txBody>
      </p:sp>
      <p:sp>
        <p:nvSpPr>
          <p:cNvPr id="1123" name="TextBox 35"/>
          <p:cNvSpPr txBox="1"/>
          <p:nvPr/>
        </p:nvSpPr>
        <p:spPr>
          <a:xfrm>
            <a:off x="6858000" y="4069079"/>
            <a:ext cx="137160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GA</a:t>
            </a:r>
          </a:p>
        </p:txBody>
      </p:sp>
      <p:sp>
        <p:nvSpPr>
          <p:cNvPr id="1124" name="TextBox 36"/>
          <p:cNvSpPr txBox="1"/>
          <p:nvPr/>
        </p:nvSpPr>
        <p:spPr>
          <a:xfrm>
            <a:off x="777240" y="4434840"/>
            <a:ext cx="457200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02A43"/>
                </a:solidFill>
              </a:defRPr>
            </a:lvl1pPr>
          </a:lstStyle>
          <a:p>
            <a:pPr/>
            <a:r>
              <a:t>Eval-as-a-Service (partner alpha)</a:t>
            </a:r>
          </a:p>
        </p:txBody>
      </p:sp>
      <p:sp>
        <p:nvSpPr>
          <p:cNvPr id="1125" name="TextBox 37"/>
          <p:cNvSpPr txBox="1"/>
          <p:nvPr/>
        </p:nvSpPr>
        <p:spPr>
          <a:xfrm>
            <a:off x="5577840" y="4434840"/>
            <a:ext cx="118872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Internal preview</a:t>
            </a:r>
          </a:p>
        </p:txBody>
      </p:sp>
      <p:sp>
        <p:nvSpPr>
          <p:cNvPr id="1126" name="TextBox 38"/>
          <p:cNvSpPr txBox="1"/>
          <p:nvPr/>
        </p:nvSpPr>
        <p:spPr>
          <a:xfrm>
            <a:off x="6858000" y="4434840"/>
            <a:ext cx="1371600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Partner alpha</a:t>
            </a:r>
          </a:p>
        </p:txBody>
      </p:sp>
      <p:sp>
        <p:nvSpPr>
          <p:cNvPr id="1127" name="Rectangle 39"/>
          <p:cNvSpPr/>
          <p:nvPr/>
        </p:nvSpPr>
        <p:spPr>
          <a:xfrm>
            <a:off x="8503919" y="1463039"/>
            <a:ext cx="3246121" cy="4846321"/>
          </a:xfrm>
          <a:prstGeom prst="rect">
            <a:avLst/>
          </a:prstGeom>
          <a:solidFill>
            <a:srgbClr val="6E8B4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8" name="TextBox 40"/>
          <p:cNvSpPr txBox="1"/>
          <p:nvPr/>
        </p:nvSpPr>
        <p:spPr>
          <a:xfrm>
            <a:off x="8641080" y="1554480"/>
            <a:ext cx="3108961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Exit Criteria</a:t>
            </a:r>
          </a:p>
        </p:txBody>
      </p:sp>
      <p:sp>
        <p:nvSpPr>
          <p:cNvPr id="1129" name="TextBox 41"/>
          <p:cNvSpPr txBox="1"/>
          <p:nvPr/>
        </p:nvSpPr>
        <p:spPr>
          <a:xfrm>
            <a:off x="8641080" y="2011679"/>
            <a:ext cx="3108961" cy="1216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F8F3E8"/>
                </a:solidFill>
              </a:defRPr>
            </a:pPr>
            <a:r>
              <a:t>Predictive booking rate reaches 15% nationally.</a:t>
            </a:r>
          </a:p>
          <a:p>
            <a:pPr>
              <a:defRPr sz="1100">
                <a:solidFill>
                  <a:srgbClr val="F8F3E8"/>
                </a:solidFill>
              </a:defRPr>
            </a:pPr>
          </a:p>
          <a:p>
            <a:pPr>
              <a:defRPr sz="1100">
                <a:solidFill>
                  <a:srgbClr val="F8F3E8"/>
                </a:solidFill>
              </a:defRPr>
            </a:pPr>
            <a:r>
              <a:t>Aged inventory &gt; 120 days reduced by ≥ 12%.</a:t>
            </a:r>
          </a:p>
          <a:p>
            <a:pPr>
              <a:defRPr sz="1100">
                <a:solidFill>
                  <a:srgbClr val="F8F3E8"/>
                </a:solidFill>
              </a:defRPr>
            </a:pPr>
          </a:p>
          <a:p>
            <a:pPr>
              <a:defRPr sz="1100">
                <a:solidFill>
                  <a:srgbClr val="F8F3E8"/>
                </a:solidFill>
              </a:defRPr>
            </a:pPr>
            <a:r>
              <a:t>Journey Orchestrator lifts repeat purchase by ≥ 6%.</a:t>
            </a:r>
          </a:p>
          <a:p>
            <a:pPr>
              <a:defRPr sz="1100">
                <a:solidFill>
                  <a:srgbClr val="F8F3E8"/>
                </a:solidFill>
              </a:defRPr>
            </a:pPr>
          </a:p>
          <a:p>
            <a:pPr>
              <a:defRPr sz="1100">
                <a:solidFill>
                  <a:srgbClr val="F8F3E8"/>
                </a:solidFill>
              </a:defRPr>
            </a:pPr>
            <a:r>
              <a:t>ROAS uplift ≥ 12% on personalized cohorts.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2" name="Rectangle 2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3" name="Rectangle 3"/>
          <p:cNvSpPr/>
          <p:nvPr/>
        </p:nvSpPr>
        <p:spPr>
          <a:xfrm>
            <a:off x="-1" y="6565392"/>
            <a:ext cx="12191697" cy="292609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4" name="TextBox 4"/>
          <p:cNvSpPr txBox="1"/>
          <p:nvPr/>
        </p:nvSpPr>
        <p:spPr>
          <a:xfrm>
            <a:off x="365759" y="6583680"/>
            <a:ext cx="73152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FFFFFF"/>
                </a:solidFill>
              </a:defRPr>
            </a:lvl1pPr>
          </a:lstStyle>
          <a:p>
            <a:pPr/>
            <a:r>
              <a:t>Camping World · Agentic AI Solution Architecture Blueprint v1.0</a:t>
            </a:r>
          </a:p>
        </p:txBody>
      </p:sp>
      <p:sp>
        <p:nvSpPr>
          <p:cNvPr id="1135" name="TextBox 5"/>
          <p:cNvSpPr txBox="1"/>
          <p:nvPr/>
        </p:nvSpPr>
        <p:spPr>
          <a:xfrm>
            <a:off x="10332719" y="6583680"/>
            <a:ext cx="18288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/>
            <a:r>
              <a:t>25 / 30</a:t>
            </a:r>
          </a:p>
        </p:txBody>
      </p:sp>
      <p:sp>
        <p:nvSpPr>
          <p:cNvPr id="1136" name="TextBox 6"/>
          <p:cNvSpPr txBox="1"/>
          <p:nvPr/>
        </p:nvSpPr>
        <p:spPr>
          <a:xfrm>
            <a:off x="502919" y="274320"/>
            <a:ext cx="1097280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C1441E"/>
                </a:solidFill>
              </a:defRPr>
            </a:lvl1pPr>
          </a:lstStyle>
          <a:p>
            <a:pPr/>
            <a:r>
              <a:t>PHASE 4 · 2028 Q1–Q2</a:t>
            </a:r>
          </a:p>
        </p:txBody>
      </p:sp>
      <p:sp>
        <p:nvSpPr>
          <p:cNvPr id="1137" name="TextBox 7"/>
          <p:cNvSpPr txBox="1"/>
          <p:nvPr/>
        </p:nvSpPr>
        <p:spPr>
          <a:xfrm>
            <a:off x="502919" y="502919"/>
            <a:ext cx="1124712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102A43"/>
                </a:solidFill>
              </a:defRPr>
            </a:lvl1pPr>
          </a:lstStyle>
          <a:p>
            <a:pPr/>
            <a:r>
              <a:t>P4 — Autonomous Workflows</a:t>
            </a:r>
          </a:p>
        </p:txBody>
      </p:sp>
      <p:sp>
        <p:nvSpPr>
          <p:cNvPr id="1138" name="Rectangle 8"/>
          <p:cNvSpPr/>
          <p:nvPr/>
        </p:nvSpPr>
        <p:spPr>
          <a:xfrm>
            <a:off x="502919" y="1097280"/>
            <a:ext cx="548641" cy="36577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9" name="Rectangle 9"/>
          <p:cNvSpPr/>
          <p:nvPr/>
        </p:nvSpPr>
        <p:spPr>
          <a:xfrm>
            <a:off x="502919" y="1463039"/>
            <a:ext cx="7772401" cy="48463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0" name="Rectangle 10"/>
          <p:cNvSpPr/>
          <p:nvPr/>
        </p:nvSpPr>
        <p:spPr>
          <a:xfrm>
            <a:off x="502919" y="1463039"/>
            <a:ext cx="164593" cy="4846321"/>
          </a:xfrm>
          <a:prstGeom prst="rect">
            <a:avLst/>
          </a:prstGeom>
          <a:solidFill>
            <a:srgbClr val="1F4D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1" name="TextBox 11"/>
          <p:cNvSpPr txBox="1"/>
          <p:nvPr/>
        </p:nvSpPr>
        <p:spPr>
          <a:xfrm>
            <a:off x="777240" y="1554480"/>
            <a:ext cx="7315201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102A43"/>
                </a:solidFill>
              </a:defRPr>
            </a:lvl1pPr>
          </a:lstStyle>
          <a:p>
            <a:pPr/>
            <a:r>
              <a:t>Capability Releases</a:t>
            </a:r>
          </a:p>
        </p:txBody>
      </p:sp>
      <p:sp>
        <p:nvSpPr>
          <p:cNvPr id="1142" name="TextBox 12"/>
          <p:cNvSpPr txBox="1"/>
          <p:nvPr/>
        </p:nvSpPr>
        <p:spPr>
          <a:xfrm>
            <a:off x="777240" y="1920239"/>
            <a:ext cx="457200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C1441E"/>
                </a:solidFill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1143" name="TextBox 13"/>
          <p:cNvSpPr txBox="1"/>
          <p:nvPr/>
        </p:nvSpPr>
        <p:spPr>
          <a:xfrm>
            <a:off x="5577840" y="1920239"/>
            <a:ext cx="118872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C1441E"/>
                </a:solidFill>
              </a:defRPr>
            </a:lvl1pPr>
          </a:lstStyle>
          <a:p>
            <a:pPr/>
            <a:r>
              <a:t>Q-A</a:t>
            </a:r>
          </a:p>
        </p:txBody>
      </p:sp>
      <p:sp>
        <p:nvSpPr>
          <p:cNvPr id="1144" name="TextBox 14"/>
          <p:cNvSpPr txBox="1"/>
          <p:nvPr/>
        </p:nvSpPr>
        <p:spPr>
          <a:xfrm>
            <a:off x="6858000" y="1920239"/>
            <a:ext cx="1371600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C1441E"/>
                </a:solidFill>
              </a:defRPr>
            </a:lvl1pPr>
          </a:lstStyle>
          <a:p>
            <a:pPr/>
            <a:r>
              <a:t>Q-B</a:t>
            </a:r>
          </a:p>
        </p:txBody>
      </p:sp>
      <p:sp>
        <p:nvSpPr>
          <p:cNvPr id="1145" name="TextBox 15"/>
          <p:cNvSpPr txBox="1"/>
          <p:nvPr/>
        </p:nvSpPr>
        <p:spPr>
          <a:xfrm>
            <a:off x="777240" y="2240279"/>
            <a:ext cx="45720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02A43"/>
                </a:solidFill>
              </a:defRPr>
            </a:lvl1pPr>
          </a:lstStyle>
          <a:p>
            <a:pPr/>
            <a:r>
              <a:t>Predictive Service end-to-end (parts + claim pre-stage)</a:t>
            </a:r>
          </a:p>
        </p:txBody>
      </p:sp>
      <p:sp>
        <p:nvSpPr>
          <p:cNvPr id="1146" name="TextBox 16"/>
          <p:cNvSpPr txBox="1"/>
          <p:nvPr/>
        </p:nvSpPr>
        <p:spPr>
          <a:xfrm>
            <a:off x="5577840" y="2240279"/>
            <a:ext cx="1188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Pilot</a:t>
            </a:r>
          </a:p>
        </p:txBody>
      </p:sp>
      <p:sp>
        <p:nvSpPr>
          <p:cNvPr id="1147" name="TextBox 17"/>
          <p:cNvSpPr txBox="1"/>
          <p:nvPr/>
        </p:nvSpPr>
        <p:spPr>
          <a:xfrm>
            <a:off x="6858000" y="2240279"/>
            <a:ext cx="137160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GA</a:t>
            </a:r>
          </a:p>
        </p:txBody>
      </p:sp>
      <p:sp>
        <p:nvSpPr>
          <p:cNvPr id="1148" name="Rectangle 18"/>
          <p:cNvSpPr/>
          <p:nvPr/>
        </p:nvSpPr>
        <p:spPr>
          <a:xfrm>
            <a:off x="777240" y="2560320"/>
            <a:ext cx="7315201" cy="329185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9" name="TextBox 19"/>
          <p:cNvSpPr txBox="1"/>
          <p:nvPr/>
        </p:nvSpPr>
        <p:spPr>
          <a:xfrm>
            <a:off x="777240" y="2606039"/>
            <a:ext cx="45720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02A43"/>
                </a:solidFill>
              </a:defRPr>
            </a:lvl1pPr>
          </a:lstStyle>
          <a:p>
            <a:pPr/>
            <a:r>
              <a:t>Price-Adjustment Agent (HITL ±3%)</a:t>
            </a:r>
          </a:p>
        </p:txBody>
      </p:sp>
      <p:sp>
        <p:nvSpPr>
          <p:cNvPr id="1150" name="TextBox 20"/>
          <p:cNvSpPr txBox="1"/>
          <p:nvPr/>
        </p:nvSpPr>
        <p:spPr>
          <a:xfrm>
            <a:off x="5577840" y="2606039"/>
            <a:ext cx="1188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Pilot</a:t>
            </a:r>
          </a:p>
        </p:txBody>
      </p:sp>
      <p:sp>
        <p:nvSpPr>
          <p:cNvPr id="1151" name="TextBox 21"/>
          <p:cNvSpPr txBox="1"/>
          <p:nvPr/>
        </p:nvSpPr>
        <p:spPr>
          <a:xfrm>
            <a:off x="6858000" y="2606039"/>
            <a:ext cx="137160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GA</a:t>
            </a:r>
          </a:p>
        </p:txBody>
      </p:sp>
      <p:sp>
        <p:nvSpPr>
          <p:cNvPr id="1152" name="TextBox 22"/>
          <p:cNvSpPr txBox="1"/>
          <p:nvPr/>
        </p:nvSpPr>
        <p:spPr>
          <a:xfrm>
            <a:off x="777240" y="2971799"/>
            <a:ext cx="45720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02A43"/>
                </a:solidFill>
              </a:defRPr>
            </a:lvl1pPr>
          </a:lstStyle>
          <a:p>
            <a:pPr/>
            <a:r>
              <a:t>Inter-store Rebalance Agent</a:t>
            </a:r>
          </a:p>
        </p:txBody>
      </p:sp>
      <p:sp>
        <p:nvSpPr>
          <p:cNvPr id="1153" name="TextBox 23"/>
          <p:cNvSpPr txBox="1"/>
          <p:nvPr/>
        </p:nvSpPr>
        <p:spPr>
          <a:xfrm>
            <a:off x="5577840" y="2971799"/>
            <a:ext cx="1188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Pilot</a:t>
            </a:r>
          </a:p>
        </p:txBody>
      </p:sp>
      <p:sp>
        <p:nvSpPr>
          <p:cNvPr id="1154" name="TextBox 24"/>
          <p:cNvSpPr txBox="1"/>
          <p:nvPr/>
        </p:nvSpPr>
        <p:spPr>
          <a:xfrm>
            <a:off x="6858000" y="2971799"/>
            <a:ext cx="137160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GA</a:t>
            </a:r>
          </a:p>
        </p:txBody>
      </p:sp>
      <p:sp>
        <p:nvSpPr>
          <p:cNvPr id="1155" name="Rectangle 25"/>
          <p:cNvSpPr/>
          <p:nvPr/>
        </p:nvSpPr>
        <p:spPr>
          <a:xfrm>
            <a:off x="777240" y="3291840"/>
            <a:ext cx="7315201" cy="329185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6" name="TextBox 26"/>
          <p:cNvSpPr txBox="1"/>
          <p:nvPr/>
        </p:nvSpPr>
        <p:spPr>
          <a:xfrm>
            <a:off x="777240" y="3337559"/>
            <a:ext cx="45720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02A43"/>
                </a:solidFill>
              </a:defRPr>
            </a:lvl1pPr>
          </a:lstStyle>
          <a:p>
            <a:pPr/>
            <a:r>
              <a:t>Finance close acceleration (recon + JE drafts)</a:t>
            </a:r>
          </a:p>
        </p:txBody>
      </p:sp>
      <p:sp>
        <p:nvSpPr>
          <p:cNvPr id="1157" name="TextBox 27"/>
          <p:cNvSpPr txBox="1"/>
          <p:nvPr/>
        </p:nvSpPr>
        <p:spPr>
          <a:xfrm>
            <a:off x="5577840" y="3337559"/>
            <a:ext cx="1188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Pilot</a:t>
            </a:r>
          </a:p>
        </p:txBody>
      </p:sp>
      <p:sp>
        <p:nvSpPr>
          <p:cNvPr id="1158" name="TextBox 28"/>
          <p:cNvSpPr txBox="1"/>
          <p:nvPr/>
        </p:nvSpPr>
        <p:spPr>
          <a:xfrm>
            <a:off x="6858000" y="3337559"/>
            <a:ext cx="137160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GA</a:t>
            </a:r>
          </a:p>
        </p:txBody>
      </p:sp>
      <p:sp>
        <p:nvSpPr>
          <p:cNvPr id="1159" name="TextBox 29"/>
          <p:cNvSpPr txBox="1"/>
          <p:nvPr/>
        </p:nvSpPr>
        <p:spPr>
          <a:xfrm>
            <a:off x="777240" y="3703320"/>
            <a:ext cx="457200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02A43"/>
                </a:solidFill>
              </a:defRPr>
            </a:lvl1pPr>
          </a:lstStyle>
          <a:p>
            <a:pPr/>
            <a:r>
              <a:t>Procurement RFx drafting agent</a:t>
            </a:r>
          </a:p>
        </p:txBody>
      </p:sp>
      <p:sp>
        <p:nvSpPr>
          <p:cNvPr id="1160" name="TextBox 30"/>
          <p:cNvSpPr txBox="1"/>
          <p:nvPr/>
        </p:nvSpPr>
        <p:spPr>
          <a:xfrm>
            <a:off x="5577840" y="3703320"/>
            <a:ext cx="118872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Pilot</a:t>
            </a:r>
          </a:p>
        </p:txBody>
      </p:sp>
      <p:sp>
        <p:nvSpPr>
          <p:cNvPr id="1161" name="TextBox 31"/>
          <p:cNvSpPr txBox="1"/>
          <p:nvPr/>
        </p:nvSpPr>
        <p:spPr>
          <a:xfrm>
            <a:off x="6858000" y="3703320"/>
            <a:ext cx="1371600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GA</a:t>
            </a:r>
          </a:p>
        </p:txBody>
      </p:sp>
      <p:sp>
        <p:nvSpPr>
          <p:cNvPr id="1162" name="Rectangle 32"/>
          <p:cNvSpPr/>
          <p:nvPr/>
        </p:nvSpPr>
        <p:spPr>
          <a:xfrm>
            <a:off x="777240" y="4023359"/>
            <a:ext cx="7315201" cy="329185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3" name="TextBox 33"/>
          <p:cNvSpPr txBox="1"/>
          <p:nvPr/>
        </p:nvSpPr>
        <p:spPr>
          <a:xfrm>
            <a:off x="777240" y="4069079"/>
            <a:ext cx="45720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02A43"/>
                </a:solidFill>
              </a:defRPr>
            </a:lvl1pPr>
          </a:lstStyle>
          <a:p>
            <a:pPr/>
            <a:r>
              <a:t>Cross-channel content personalization</a:t>
            </a:r>
          </a:p>
        </p:txBody>
      </p:sp>
      <p:sp>
        <p:nvSpPr>
          <p:cNvPr id="1164" name="TextBox 34"/>
          <p:cNvSpPr txBox="1"/>
          <p:nvPr/>
        </p:nvSpPr>
        <p:spPr>
          <a:xfrm>
            <a:off x="5577840" y="4069079"/>
            <a:ext cx="1188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GA</a:t>
            </a:r>
          </a:p>
        </p:txBody>
      </p:sp>
      <p:sp>
        <p:nvSpPr>
          <p:cNvPr id="1165" name="TextBox 35"/>
          <p:cNvSpPr txBox="1"/>
          <p:nvPr/>
        </p:nvSpPr>
        <p:spPr>
          <a:xfrm>
            <a:off x="6858000" y="4069079"/>
            <a:ext cx="137160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Optimized</a:t>
            </a:r>
          </a:p>
        </p:txBody>
      </p:sp>
      <p:sp>
        <p:nvSpPr>
          <p:cNvPr id="1166" name="Rectangle 36"/>
          <p:cNvSpPr/>
          <p:nvPr/>
        </p:nvSpPr>
        <p:spPr>
          <a:xfrm>
            <a:off x="8503919" y="1463039"/>
            <a:ext cx="3246121" cy="4846321"/>
          </a:xfrm>
          <a:prstGeom prst="rect">
            <a:avLst/>
          </a:prstGeom>
          <a:solidFill>
            <a:srgbClr val="1F4D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7" name="TextBox 37"/>
          <p:cNvSpPr txBox="1"/>
          <p:nvPr/>
        </p:nvSpPr>
        <p:spPr>
          <a:xfrm>
            <a:off x="8641080" y="1554480"/>
            <a:ext cx="3108961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Exit Criteria</a:t>
            </a:r>
          </a:p>
        </p:txBody>
      </p:sp>
      <p:sp>
        <p:nvSpPr>
          <p:cNvPr id="1168" name="TextBox 38"/>
          <p:cNvSpPr txBox="1"/>
          <p:nvPr/>
        </p:nvSpPr>
        <p:spPr>
          <a:xfrm>
            <a:off x="8641080" y="2011679"/>
            <a:ext cx="3108961" cy="1381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F8F3E8"/>
                </a:solidFill>
              </a:defRPr>
            </a:pPr>
            <a:r>
              <a:t>Predictive booking rate ≥ 30% nationally.</a:t>
            </a:r>
          </a:p>
          <a:p>
            <a:pPr>
              <a:defRPr sz="1100">
                <a:solidFill>
                  <a:srgbClr val="F8F3E8"/>
                </a:solidFill>
              </a:defRPr>
            </a:pPr>
          </a:p>
          <a:p>
            <a:pPr>
              <a:defRPr sz="1100">
                <a:solidFill>
                  <a:srgbClr val="F8F3E8"/>
                </a:solidFill>
              </a:defRPr>
            </a:pPr>
            <a:r>
              <a:t>Aged inventory reduced by ≥ 22% YoY.</a:t>
            </a:r>
          </a:p>
          <a:p>
            <a:pPr>
              <a:defRPr sz="1100">
                <a:solidFill>
                  <a:srgbClr val="F8F3E8"/>
                </a:solidFill>
              </a:defRPr>
            </a:pPr>
          </a:p>
          <a:p>
            <a:pPr>
              <a:defRPr sz="1100">
                <a:solidFill>
                  <a:srgbClr val="F8F3E8"/>
                </a:solidFill>
              </a:defRPr>
            </a:pPr>
            <a:r>
              <a:t>Finance close cycle reduced by ≥ 1.5 days.</a:t>
            </a:r>
          </a:p>
          <a:p>
            <a:pPr>
              <a:defRPr sz="1100">
                <a:solidFill>
                  <a:srgbClr val="F8F3E8"/>
                </a:solidFill>
              </a:defRPr>
            </a:pPr>
          </a:p>
          <a:p>
            <a:pPr>
              <a:defRPr sz="1100">
                <a:solidFill>
                  <a:srgbClr val="F8F3E8"/>
                </a:solidFill>
              </a:defRPr>
            </a:pPr>
            <a:r>
              <a:t>Price agent acts within bounds at ≥ 99.5% policy compliance.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1" name="Rectangle 2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2" name="Rectangle 3"/>
          <p:cNvSpPr/>
          <p:nvPr/>
        </p:nvSpPr>
        <p:spPr>
          <a:xfrm>
            <a:off x="-1" y="6565392"/>
            <a:ext cx="12191697" cy="292609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3" name="TextBox 4"/>
          <p:cNvSpPr txBox="1"/>
          <p:nvPr/>
        </p:nvSpPr>
        <p:spPr>
          <a:xfrm>
            <a:off x="365759" y="6583680"/>
            <a:ext cx="73152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FFFFFF"/>
                </a:solidFill>
              </a:defRPr>
            </a:lvl1pPr>
          </a:lstStyle>
          <a:p>
            <a:pPr/>
            <a:r>
              <a:t>Camping World · Agentic AI Solution Architecture Blueprint v1.0</a:t>
            </a:r>
          </a:p>
        </p:txBody>
      </p:sp>
      <p:sp>
        <p:nvSpPr>
          <p:cNvPr id="1174" name="TextBox 5"/>
          <p:cNvSpPr txBox="1"/>
          <p:nvPr/>
        </p:nvSpPr>
        <p:spPr>
          <a:xfrm>
            <a:off x="10332719" y="6583680"/>
            <a:ext cx="18288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/>
            <a:r>
              <a:t>26 / 30</a:t>
            </a:r>
          </a:p>
        </p:txBody>
      </p:sp>
      <p:sp>
        <p:nvSpPr>
          <p:cNvPr id="1175" name="TextBox 6"/>
          <p:cNvSpPr txBox="1"/>
          <p:nvPr/>
        </p:nvSpPr>
        <p:spPr>
          <a:xfrm>
            <a:off x="502919" y="274320"/>
            <a:ext cx="1097280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C1441E"/>
                </a:solidFill>
              </a:defRPr>
            </a:lvl1pPr>
          </a:lstStyle>
          <a:p>
            <a:pPr/>
            <a:r>
              <a:t>PHASE 5 · 2028 Q3–Q4</a:t>
            </a:r>
          </a:p>
        </p:txBody>
      </p:sp>
      <p:sp>
        <p:nvSpPr>
          <p:cNvPr id="1176" name="TextBox 7"/>
          <p:cNvSpPr txBox="1"/>
          <p:nvPr/>
        </p:nvSpPr>
        <p:spPr>
          <a:xfrm>
            <a:off x="502919" y="502919"/>
            <a:ext cx="1124712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102A43"/>
                </a:solidFill>
              </a:defRPr>
            </a:lvl1pPr>
          </a:lstStyle>
          <a:p>
            <a:pPr/>
            <a:r>
              <a:t>P5 — Self-Improving</a:t>
            </a:r>
          </a:p>
        </p:txBody>
      </p:sp>
      <p:sp>
        <p:nvSpPr>
          <p:cNvPr id="1177" name="Rectangle 8"/>
          <p:cNvSpPr/>
          <p:nvPr/>
        </p:nvSpPr>
        <p:spPr>
          <a:xfrm>
            <a:off x="502919" y="1097280"/>
            <a:ext cx="548641" cy="36577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8" name="Rectangle 9"/>
          <p:cNvSpPr/>
          <p:nvPr/>
        </p:nvSpPr>
        <p:spPr>
          <a:xfrm>
            <a:off x="502919" y="1463039"/>
            <a:ext cx="7772401" cy="48463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9" name="Rectangle 10"/>
          <p:cNvSpPr/>
          <p:nvPr/>
        </p:nvSpPr>
        <p:spPr>
          <a:xfrm>
            <a:off x="502919" y="1463039"/>
            <a:ext cx="164593" cy="4846321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0" name="TextBox 11"/>
          <p:cNvSpPr txBox="1"/>
          <p:nvPr/>
        </p:nvSpPr>
        <p:spPr>
          <a:xfrm>
            <a:off x="777240" y="1554480"/>
            <a:ext cx="7315201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102A43"/>
                </a:solidFill>
              </a:defRPr>
            </a:lvl1pPr>
          </a:lstStyle>
          <a:p>
            <a:pPr/>
            <a:r>
              <a:t>Capability Releases</a:t>
            </a:r>
          </a:p>
        </p:txBody>
      </p:sp>
      <p:sp>
        <p:nvSpPr>
          <p:cNvPr id="1181" name="TextBox 12"/>
          <p:cNvSpPr txBox="1"/>
          <p:nvPr/>
        </p:nvSpPr>
        <p:spPr>
          <a:xfrm>
            <a:off x="777240" y="1920239"/>
            <a:ext cx="457200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C1441E"/>
                </a:solidFill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1182" name="TextBox 13"/>
          <p:cNvSpPr txBox="1"/>
          <p:nvPr/>
        </p:nvSpPr>
        <p:spPr>
          <a:xfrm>
            <a:off x="5577840" y="1920239"/>
            <a:ext cx="118872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C1441E"/>
                </a:solidFill>
              </a:defRPr>
            </a:lvl1pPr>
          </a:lstStyle>
          <a:p>
            <a:pPr/>
            <a:r>
              <a:t>Q-A</a:t>
            </a:r>
          </a:p>
        </p:txBody>
      </p:sp>
      <p:sp>
        <p:nvSpPr>
          <p:cNvPr id="1183" name="TextBox 14"/>
          <p:cNvSpPr txBox="1"/>
          <p:nvPr/>
        </p:nvSpPr>
        <p:spPr>
          <a:xfrm>
            <a:off x="6858000" y="1920239"/>
            <a:ext cx="1371600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C1441E"/>
                </a:solidFill>
              </a:defRPr>
            </a:lvl1pPr>
          </a:lstStyle>
          <a:p>
            <a:pPr/>
            <a:r>
              <a:t>Q-B</a:t>
            </a:r>
          </a:p>
        </p:txBody>
      </p:sp>
      <p:sp>
        <p:nvSpPr>
          <p:cNvPr id="1184" name="TextBox 15"/>
          <p:cNvSpPr txBox="1"/>
          <p:nvPr/>
        </p:nvSpPr>
        <p:spPr>
          <a:xfrm>
            <a:off x="777240" y="2240279"/>
            <a:ext cx="45720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02A43"/>
                </a:solidFill>
              </a:defRPr>
            </a:lvl1pPr>
          </a:lstStyle>
          <a:p>
            <a:pPr/>
            <a:r>
              <a:t>Auto-eval-gated rollouts (any agent)</a:t>
            </a:r>
          </a:p>
        </p:txBody>
      </p:sp>
      <p:sp>
        <p:nvSpPr>
          <p:cNvPr id="1185" name="TextBox 16"/>
          <p:cNvSpPr txBox="1"/>
          <p:nvPr/>
        </p:nvSpPr>
        <p:spPr>
          <a:xfrm>
            <a:off x="5577840" y="2240279"/>
            <a:ext cx="1188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GA</a:t>
            </a:r>
          </a:p>
        </p:txBody>
      </p:sp>
      <p:sp>
        <p:nvSpPr>
          <p:cNvPr id="1186" name="Rectangle 18"/>
          <p:cNvSpPr/>
          <p:nvPr/>
        </p:nvSpPr>
        <p:spPr>
          <a:xfrm>
            <a:off x="777240" y="2560320"/>
            <a:ext cx="7315201" cy="329185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7" name="TextBox 19"/>
          <p:cNvSpPr txBox="1"/>
          <p:nvPr/>
        </p:nvSpPr>
        <p:spPr>
          <a:xfrm>
            <a:off x="777240" y="2606039"/>
            <a:ext cx="45720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02A43"/>
                </a:solidFill>
              </a:defRPr>
            </a:lvl1pPr>
          </a:lstStyle>
          <a:p>
            <a:pPr/>
            <a:r>
              <a:t>Cross-domain agent collaboration (Service↔Inventory↔Member)</a:t>
            </a:r>
          </a:p>
        </p:txBody>
      </p:sp>
      <p:sp>
        <p:nvSpPr>
          <p:cNvPr id="1188" name="TextBox 20"/>
          <p:cNvSpPr txBox="1"/>
          <p:nvPr/>
        </p:nvSpPr>
        <p:spPr>
          <a:xfrm>
            <a:off x="5577840" y="2606039"/>
            <a:ext cx="1188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Pilot</a:t>
            </a:r>
          </a:p>
        </p:txBody>
      </p:sp>
      <p:sp>
        <p:nvSpPr>
          <p:cNvPr id="1189" name="TextBox 21"/>
          <p:cNvSpPr txBox="1"/>
          <p:nvPr/>
        </p:nvSpPr>
        <p:spPr>
          <a:xfrm>
            <a:off x="6858000" y="2606039"/>
            <a:ext cx="137160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GA</a:t>
            </a:r>
          </a:p>
        </p:txBody>
      </p:sp>
      <p:sp>
        <p:nvSpPr>
          <p:cNvPr id="1190" name="TextBox 22"/>
          <p:cNvSpPr txBox="1"/>
          <p:nvPr/>
        </p:nvSpPr>
        <p:spPr>
          <a:xfrm>
            <a:off x="777240" y="2971799"/>
            <a:ext cx="45720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02A43"/>
                </a:solidFill>
              </a:defRPr>
            </a:lvl1pPr>
          </a:lstStyle>
          <a:p>
            <a:pPr/>
            <a:r>
              <a:t>Partner-facing agent SDK + tool packs</a:t>
            </a:r>
          </a:p>
        </p:txBody>
      </p:sp>
      <p:sp>
        <p:nvSpPr>
          <p:cNvPr id="1191" name="TextBox 23"/>
          <p:cNvSpPr txBox="1"/>
          <p:nvPr/>
        </p:nvSpPr>
        <p:spPr>
          <a:xfrm>
            <a:off x="5577840" y="2971799"/>
            <a:ext cx="1188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Alpha</a:t>
            </a:r>
          </a:p>
        </p:txBody>
      </p:sp>
      <p:sp>
        <p:nvSpPr>
          <p:cNvPr id="1192" name="TextBox 24"/>
          <p:cNvSpPr txBox="1"/>
          <p:nvPr/>
        </p:nvSpPr>
        <p:spPr>
          <a:xfrm>
            <a:off x="6858000" y="2971799"/>
            <a:ext cx="137160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GA</a:t>
            </a:r>
          </a:p>
        </p:txBody>
      </p:sp>
      <p:sp>
        <p:nvSpPr>
          <p:cNvPr id="1193" name="Rectangle 25"/>
          <p:cNvSpPr/>
          <p:nvPr/>
        </p:nvSpPr>
        <p:spPr>
          <a:xfrm>
            <a:off x="777240" y="3291840"/>
            <a:ext cx="7315201" cy="329185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4" name="TextBox 26"/>
          <p:cNvSpPr txBox="1"/>
          <p:nvPr/>
        </p:nvSpPr>
        <p:spPr>
          <a:xfrm>
            <a:off x="777240" y="3337559"/>
            <a:ext cx="45720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02A43"/>
                </a:solidFill>
              </a:defRPr>
            </a:lvl1pPr>
          </a:lstStyle>
          <a:p>
            <a:pPr/>
            <a:r>
              <a:t>Continuous fine-tuning loop on golden runs</a:t>
            </a:r>
          </a:p>
        </p:txBody>
      </p:sp>
      <p:sp>
        <p:nvSpPr>
          <p:cNvPr id="1195" name="TextBox 27"/>
          <p:cNvSpPr txBox="1"/>
          <p:nvPr/>
        </p:nvSpPr>
        <p:spPr>
          <a:xfrm>
            <a:off x="5577840" y="3337559"/>
            <a:ext cx="1188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Pilot</a:t>
            </a:r>
          </a:p>
        </p:txBody>
      </p:sp>
      <p:sp>
        <p:nvSpPr>
          <p:cNvPr id="1196" name="TextBox 28"/>
          <p:cNvSpPr txBox="1"/>
          <p:nvPr/>
        </p:nvSpPr>
        <p:spPr>
          <a:xfrm>
            <a:off x="6858000" y="3337559"/>
            <a:ext cx="137160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GA</a:t>
            </a:r>
          </a:p>
        </p:txBody>
      </p:sp>
      <p:sp>
        <p:nvSpPr>
          <p:cNvPr id="1197" name="TextBox 29"/>
          <p:cNvSpPr txBox="1"/>
          <p:nvPr/>
        </p:nvSpPr>
        <p:spPr>
          <a:xfrm>
            <a:off x="777240" y="3703320"/>
            <a:ext cx="457200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02A43"/>
                </a:solidFill>
              </a:defRPr>
            </a:lvl1pPr>
          </a:lstStyle>
          <a:p>
            <a:pPr/>
            <a:r>
              <a:t>Member-facing agent assistant (concierge)</a:t>
            </a:r>
          </a:p>
        </p:txBody>
      </p:sp>
      <p:sp>
        <p:nvSpPr>
          <p:cNvPr id="1198" name="TextBox 30"/>
          <p:cNvSpPr txBox="1"/>
          <p:nvPr/>
        </p:nvSpPr>
        <p:spPr>
          <a:xfrm>
            <a:off x="5577840" y="3703320"/>
            <a:ext cx="118872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Pilot</a:t>
            </a:r>
          </a:p>
        </p:txBody>
      </p:sp>
      <p:sp>
        <p:nvSpPr>
          <p:cNvPr id="1199" name="TextBox 31"/>
          <p:cNvSpPr txBox="1"/>
          <p:nvPr/>
        </p:nvSpPr>
        <p:spPr>
          <a:xfrm>
            <a:off x="6858000" y="3703320"/>
            <a:ext cx="1371600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GA</a:t>
            </a:r>
          </a:p>
        </p:txBody>
      </p:sp>
      <p:sp>
        <p:nvSpPr>
          <p:cNvPr id="1200" name="Rectangle 32"/>
          <p:cNvSpPr/>
          <p:nvPr/>
        </p:nvSpPr>
        <p:spPr>
          <a:xfrm>
            <a:off x="8503919" y="1463039"/>
            <a:ext cx="3246121" cy="4846321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1" name="TextBox 33"/>
          <p:cNvSpPr txBox="1"/>
          <p:nvPr/>
        </p:nvSpPr>
        <p:spPr>
          <a:xfrm>
            <a:off x="8641080" y="1554480"/>
            <a:ext cx="3108961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Exit Criteria</a:t>
            </a:r>
          </a:p>
        </p:txBody>
      </p:sp>
      <p:sp>
        <p:nvSpPr>
          <p:cNvPr id="1202" name="TextBox 34"/>
          <p:cNvSpPr txBox="1"/>
          <p:nvPr/>
        </p:nvSpPr>
        <p:spPr>
          <a:xfrm>
            <a:off x="8641080" y="2011679"/>
            <a:ext cx="3108961" cy="1381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F8F3E8"/>
                </a:solidFill>
              </a:defRPr>
            </a:pPr>
            <a:r>
              <a:t>Cross-domain orchestration delivers ≥ 5% incremental margin in measured cohorts.</a:t>
            </a:r>
          </a:p>
          <a:p>
            <a:pPr>
              <a:defRPr sz="1100">
                <a:solidFill>
                  <a:srgbClr val="F8F3E8"/>
                </a:solidFill>
              </a:defRPr>
            </a:pPr>
          </a:p>
          <a:p>
            <a:pPr>
              <a:defRPr sz="1100">
                <a:solidFill>
                  <a:srgbClr val="F8F3E8"/>
                </a:solidFill>
              </a:defRPr>
            </a:pPr>
            <a:r>
              <a:t>≥ 80% of agent rollouts run with auto-eval gating.</a:t>
            </a:r>
          </a:p>
          <a:p>
            <a:pPr>
              <a:defRPr sz="1100">
                <a:solidFill>
                  <a:srgbClr val="F8F3E8"/>
                </a:solidFill>
              </a:defRPr>
            </a:pPr>
          </a:p>
          <a:p>
            <a:pPr>
              <a:defRPr sz="1100">
                <a:solidFill>
                  <a:srgbClr val="F8F3E8"/>
                </a:solidFill>
              </a:defRPr>
            </a:pPr>
            <a:r>
              <a:t>Partner SDK adopted by ≥ 3 strategic partners.</a:t>
            </a:r>
          </a:p>
          <a:p>
            <a:pPr>
              <a:defRPr sz="1100">
                <a:solidFill>
                  <a:srgbClr val="F8F3E8"/>
                </a:solidFill>
              </a:defRPr>
            </a:pPr>
          </a:p>
          <a:p>
            <a:pPr>
              <a:defRPr sz="1100">
                <a:solidFill>
                  <a:srgbClr val="F8F3E8"/>
                </a:solidFill>
              </a:defRPr>
            </a:pPr>
            <a:r>
              <a:t>Concierge agent in production for top-tier members.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5" name="Rectangle 2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6" name="Rectangle 3"/>
          <p:cNvSpPr/>
          <p:nvPr/>
        </p:nvSpPr>
        <p:spPr>
          <a:xfrm>
            <a:off x="-1" y="6565392"/>
            <a:ext cx="12191697" cy="292609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7" name="TextBox 4"/>
          <p:cNvSpPr txBox="1"/>
          <p:nvPr/>
        </p:nvSpPr>
        <p:spPr>
          <a:xfrm>
            <a:off x="365759" y="6583680"/>
            <a:ext cx="73152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FFFFFF"/>
                </a:solidFill>
              </a:defRPr>
            </a:lvl1pPr>
          </a:lstStyle>
          <a:p>
            <a:pPr/>
            <a:r>
              <a:t>Camping World · Agentic AI Solution Architecture Blueprint v1.0</a:t>
            </a:r>
          </a:p>
        </p:txBody>
      </p:sp>
      <p:sp>
        <p:nvSpPr>
          <p:cNvPr id="1208" name="TextBox 5"/>
          <p:cNvSpPr txBox="1"/>
          <p:nvPr/>
        </p:nvSpPr>
        <p:spPr>
          <a:xfrm>
            <a:off x="10332719" y="6583680"/>
            <a:ext cx="18288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/>
            <a:r>
              <a:t>27 / 30</a:t>
            </a:r>
          </a:p>
        </p:txBody>
      </p:sp>
      <p:sp>
        <p:nvSpPr>
          <p:cNvPr id="1209" name="TextBox 6"/>
          <p:cNvSpPr txBox="1"/>
          <p:nvPr/>
        </p:nvSpPr>
        <p:spPr>
          <a:xfrm>
            <a:off x="502919" y="274320"/>
            <a:ext cx="1097280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C1441E"/>
                </a:solidFill>
              </a:defRPr>
            </a:lvl1pPr>
          </a:lstStyle>
          <a:p>
            <a:pPr/>
            <a:r>
              <a:t>SECTION 11</a:t>
            </a:r>
          </a:p>
        </p:txBody>
      </p:sp>
      <p:sp>
        <p:nvSpPr>
          <p:cNvPr id="1210" name="TextBox 7"/>
          <p:cNvSpPr txBox="1"/>
          <p:nvPr/>
        </p:nvSpPr>
        <p:spPr>
          <a:xfrm>
            <a:off x="502919" y="502919"/>
            <a:ext cx="1124712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102A43"/>
                </a:solidFill>
              </a:defRPr>
            </a:lvl1pPr>
          </a:lstStyle>
          <a:p>
            <a:pPr/>
            <a:r>
              <a:t>KPI Tiers &amp; Value Pacing</a:t>
            </a:r>
          </a:p>
        </p:txBody>
      </p:sp>
      <p:sp>
        <p:nvSpPr>
          <p:cNvPr id="1211" name="Rectangle 8"/>
          <p:cNvSpPr/>
          <p:nvPr/>
        </p:nvSpPr>
        <p:spPr>
          <a:xfrm>
            <a:off x="502919" y="1097280"/>
            <a:ext cx="548641" cy="36577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2" name="Rectangle 9"/>
          <p:cNvSpPr/>
          <p:nvPr/>
        </p:nvSpPr>
        <p:spPr>
          <a:xfrm>
            <a:off x="502919" y="1463039"/>
            <a:ext cx="11247122" cy="18288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3" name="TextBox 10"/>
          <p:cNvSpPr txBox="1"/>
          <p:nvPr/>
        </p:nvSpPr>
        <p:spPr>
          <a:xfrm>
            <a:off x="685800" y="1554480"/>
            <a:ext cx="10972800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102A43"/>
                </a:solidFill>
              </a:defRPr>
            </a:lvl1pPr>
          </a:lstStyle>
          <a:p>
            <a:pPr/>
            <a:r>
              <a:t>KPI Tiers</a:t>
            </a:r>
          </a:p>
        </p:txBody>
      </p:sp>
      <p:sp>
        <p:nvSpPr>
          <p:cNvPr id="1214" name="Rectangle 11"/>
          <p:cNvSpPr/>
          <p:nvPr/>
        </p:nvSpPr>
        <p:spPr>
          <a:xfrm>
            <a:off x="685799" y="1874518"/>
            <a:ext cx="3520442" cy="1280161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5" name="Rectangle 12"/>
          <p:cNvSpPr/>
          <p:nvPr/>
        </p:nvSpPr>
        <p:spPr>
          <a:xfrm>
            <a:off x="685799" y="1874518"/>
            <a:ext cx="91442" cy="1280161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6" name="TextBox 13"/>
          <p:cNvSpPr txBox="1"/>
          <p:nvPr/>
        </p:nvSpPr>
        <p:spPr>
          <a:xfrm>
            <a:off x="868679" y="1920239"/>
            <a:ext cx="329184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102A43"/>
                </a:solidFill>
              </a:defRPr>
            </a:lvl1pPr>
          </a:lstStyle>
          <a:p>
            <a:pPr/>
            <a:r>
              <a:t>Tier 1 — Business Outcome</a:t>
            </a:r>
          </a:p>
        </p:txBody>
      </p:sp>
      <p:sp>
        <p:nvSpPr>
          <p:cNvPr id="1217" name="TextBox 14"/>
          <p:cNvSpPr txBox="1"/>
          <p:nvPr/>
        </p:nvSpPr>
        <p:spPr>
          <a:xfrm>
            <a:off x="868679" y="2240279"/>
            <a:ext cx="329184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ESP attach · ROAS · Aged inv % · SG&amp;A $</a:t>
            </a:r>
          </a:p>
        </p:txBody>
      </p:sp>
      <p:sp>
        <p:nvSpPr>
          <p:cNvPr id="1218" name="TextBox 15"/>
          <p:cNvSpPr txBox="1"/>
          <p:nvPr/>
        </p:nvSpPr>
        <p:spPr>
          <a:xfrm>
            <a:off x="868679" y="2834639"/>
            <a:ext cx="329184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C1441E"/>
                </a:solidFill>
              </a:defRPr>
            </a:lvl1pPr>
          </a:lstStyle>
          <a:p>
            <a:pPr/>
            <a:r>
              <a:t>Owner: Domain VP</a:t>
            </a:r>
          </a:p>
        </p:txBody>
      </p:sp>
      <p:sp>
        <p:nvSpPr>
          <p:cNvPr id="1219" name="Rectangle 16"/>
          <p:cNvSpPr/>
          <p:nvPr/>
        </p:nvSpPr>
        <p:spPr>
          <a:xfrm>
            <a:off x="4389119" y="1874518"/>
            <a:ext cx="3520442" cy="1280161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0" name="Rectangle 17"/>
          <p:cNvSpPr/>
          <p:nvPr/>
        </p:nvSpPr>
        <p:spPr>
          <a:xfrm>
            <a:off x="4389120" y="1874518"/>
            <a:ext cx="91441" cy="1280161"/>
          </a:xfrm>
          <a:prstGeom prst="rect">
            <a:avLst/>
          </a:prstGeom>
          <a:solidFill>
            <a:srgbClr val="E6834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1" name="TextBox 18"/>
          <p:cNvSpPr txBox="1"/>
          <p:nvPr/>
        </p:nvSpPr>
        <p:spPr>
          <a:xfrm>
            <a:off x="4571999" y="1920239"/>
            <a:ext cx="329184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102A43"/>
                </a:solidFill>
              </a:defRPr>
            </a:lvl1pPr>
          </a:lstStyle>
          <a:p>
            <a:pPr/>
            <a:r>
              <a:t>Tier 2 — Capability</a:t>
            </a:r>
          </a:p>
        </p:txBody>
      </p:sp>
      <p:sp>
        <p:nvSpPr>
          <p:cNvPr id="1222" name="TextBox 19"/>
          <p:cNvSpPr txBox="1"/>
          <p:nvPr/>
        </p:nvSpPr>
        <p:spPr>
          <a:xfrm>
            <a:off x="4571999" y="2240279"/>
            <a:ext cx="329184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Containment · Precision · Cycle time · MTTR</a:t>
            </a:r>
          </a:p>
        </p:txBody>
      </p:sp>
      <p:sp>
        <p:nvSpPr>
          <p:cNvPr id="1223" name="TextBox 20"/>
          <p:cNvSpPr txBox="1"/>
          <p:nvPr/>
        </p:nvSpPr>
        <p:spPr>
          <a:xfrm>
            <a:off x="4571999" y="2834639"/>
            <a:ext cx="329184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E6834A"/>
                </a:solidFill>
              </a:defRPr>
            </a:lvl1pPr>
          </a:lstStyle>
          <a:p>
            <a:pPr/>
            <a:r>
              <a:t>Owner: Domain Eng. Lead</a:t>
            </a:r>
          </a:p>
        </p:txBody>
      </p:sp>
      <p:sp>
        <p:nvSpPr>
          <p:cNvPr id="1224" name="Rectangle 21"/>
          <p:cNvSpPr/>
          <p:nvPr/>
        </p:nvSpPr>
        <p:spPr>
          <a:xfrm>
            <a:off x="8092440" y="1874518"/>
            <a:ext cx="3520441" cy="1280161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5" name="Rectangle 22"/>
          <p:cNvSpPr/>
          <p:nvPr/>
        </p:nvSpPr>
        <p:spPr>
          <a:xfrm>
            <a:off x="8092440" y="1874518"/>
            <a:ext cx="91441" cy="1280161"/>
          </a:xfrm>
          <a:prstGeom prst="rect">
            <a:avLst/>
          </a:prstGeom>
          <a:solidFill>
            <a:srgbClr val="1F4D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6" name="TextBox 23"/>
          <p:cNvSpPr txBox="1"/>
          <p:nvPr/>
        </p:nvSpPr>
        <p:spPr>
          <a:xfrm>
            <a:off x="8275319" y="1920239"/>
            <a:ext cx="329184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102A43"/>
                </a:solidFill>
              </a:defRPr>
            </a:lvl1pPr>
          </a:lstStyle>
          <a:p>
            <a:pPr/>
            <a:r>
              <a:t>Tier 3 — Platform Health</a:t>
            </a:r>
          </a:p>
        </p:txBody>
      </p:sp>
      <p:sp>
        <p:nvSpPr>
          <p:cNvPr id="1227" name="TextBox 24"/>
          <p:cNvSpPr txBox="1"/>
          <p:nvPr/>
        </p:nvSpPr>
        <p:spPr>
          <a:xfrm>
            <a:off x="8275319" y="2240279"/>
            <a:ext cx="329184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Trace coverage · eval pass · p95 · $/call · drift</a:t>
            </a:r>
          </a:p>
        </p:txBody>
      </p:sp>
      <p:sp>
        <p:nvSpPr>
          <p:cNvPr id="1228" name="TextBox 25"/>
          <p:cNvSpPr txBox="1"/>
          <p:nvPr/>
        </p:nvSpPr>
        <p:spPr>
          <a:xfrm>
            <a:off x="8275319" y="2834639"/>
            <a:ext cx="329184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1F4D2C"/>
                </a:solidFill>
              </a:defRPr>
            </a:lvl1pPr>
          </a:lstStyle>
          <a:p>
            <a:pPr/>
            <a:r>
              <a:t>Owner: Platform Eng. Lead</a:t>
            </a:r>
          </a:p>
        </p:txBody>
      </p:sp>
      <p:sp>
        <p:nvSpPr>
          <p:cNvPr id="1229" name="Rectangle 26"/>
          <p:cNvSpPr/>
          <p:nvPr/>
        </p:nvSpPr>
        <p:spPr>
          <a:xfrm>
            <a:off x="502919" y="3520440"/>
            <a:ext cx="11247122" cy="28346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0" name="TextBox 27"/>
          <p:cNvSpPr txBox="1"/>
          <p:nvPr/>
        </p:nvSpPr>
        <p:spPr>
          <a:xfrm>
            <a:off x="685800" y="3611879"/>
            <a:ext cx="1097280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102A43"/>
                </a:solidFill>
              </a:defRPr>
            </a:lvl1pPr>
          </a:lstStyle>
          <a:p>
            <a:pPr/>
            <a:r>
              <a:t>Run-Rate Value (cumulative, $M)</a:t>
            </a:r>
          </a:p>
        </p:txBody>
      </p:sp>
      <p:sp>
        <p:nvSpPr>
          <p:cNvPr id="1231" name="Rectangle 28"/>
          <p:cNvSpPr/>
          <p:nvPr/>
        </p:nvSpPr>
        <p:spPr>
          <a:xfrm>
            <a:off x="914400" y="5577840"/>
            <a:ext cx="10058400" cy="18289"/>
          </a:xfrm>
          <a:prstGeom prst="rect">
            <a:avLst/>
          </a:prstGeom>
          <a:solidFill>
            <a:srgbClr val="6E778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2" name="Rectangle 29"/>
          <p:cNvSpPr/>
          <p:nvPr/>
        </p:nvSpPr>
        <p:spPr>
          <a:xfrm>
            <a:off x="2286000" y="5464683"/>
            <a:ext cx="1828800" cy="113158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3" name="TextBox 30"/>
          <p:cNvSpPr txBox="1"/>
          <p:nvPr/>
        </p:nvSpPr>
        <p:spPr>
          <a:xfrm>
            <a:off x="2286000" y="5080634"/>
            <a:ext cx="182880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400">
                <a:solidFill>
                  <a:srgbClr val="C1441E"/>
                </a:solidFill>
              </a:defRPr>
            </a:lvl1pPr>
          </a:lstStyle>
          <a:p>
            <a:pPr/>
            <a:r>
              <a:t>$10–15M</a:t>
            </a:r>
          </a:p>
        </p:txBody>
      </p:sp>
      <p:sp>
        <p:nvSpPr>
          <p:cNvPr id="1234" name="TextBox 31"/>
          <p:cNvSpPr txBox="1"/>
          <p:nvPr/>
        </p:nvSpPr>
        <p:spPr>
          <a:xfrm>
            <a:off x="2286000" y="5632703"/>
            <a:ext cx="182880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102A43"/>
                </a:solidFill>
              </a:defRPr>
            </a:lvl1pPr>
          </a:lstStyle>
          <a:p>
            <a:pPr/>
            <a:r>
              <a:t>2026</a:t>
            </a:r>
          </a:p>
        </p:txBody>
      </p:sp>
      <p:sp>
        <p:nvSpPr>
          <p:cNvPr id="1235" name="Rectangle 32"/>
          <p:cNvSpPr/>
          <p:nvPr/>
        </p:nvSpPr>
        <p:spPr>
          <a:xfrm>
            <a:off x="5486400" y="5106353"/>
            <a:ext cx="1828800" cy="471488"/>
          </a:xfrm>
          <a:prstGeom prst="rect">
            <a:avLst/>
          </a:prstGeom>
          <a:solidFill>
            <a:srgbClr val="E6834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6" name="TextBox 33"/>
          <p:cNvSpPr txBox="1"/>
          <p:nvPr/>
        </p:nvSpPr>
        <p:spPr>
          <a:xfrm>
            <a:off x="5486400" y="4722305"/>
            <a:ext cx="182880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400">
                <a:solidFill>
                  <a:srgbClr val="E6834A"/>
                </a:solidFill>
              </a:defRPr>
            </a:lvl1pPr>
          </a:lstStyle>
          <a:p>
            <a:pPr/>
            <a:r>
              <a:t>$45–60M</a:t>
            </a:r>
          </a:p>
        </p:txBody>
      </p:sp>
      <p:sp>
        <p:nvSpPr>
          <p:cNvPr id="1237" name="TextBox 34"/>
          <p:cNvSpPr txBox="1"/>
          <p:nvPr/>
        </p:nvSpPr>
        <p:spPr>
          <a:xfrm>
            <a:off x="5486400" y="5632703"/>
            <a:ext cx="182880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102A43"/>
                </a:solidFill>
              </a:defRPr>
            </a:lvl1pPr>
          </a:lstStyle>
          <a:p>
            <a:pPr/>
            <a:r>
              <a:t>2027</a:t>
            </a:r>
          </a:p>
        </p:txBody>
      </p:sp>
      <p:sp>
        <p:nvSpPr>
          <p:cNvPr id="1238" name="Rectangle 35"/>
          <p:cNvSpPr/>
          <p:nvPr/>
        </p:nvSpPr>
        <p:spPr>
          <a:xfrm>
            <a:off x="8686800" y="4257674"/>
            <a:ext cx="1828800" cy="1320167"/>
          </a:xfrm>
          <a:prstGeom prst="rect">
            <a:avLst/>
          </a:prstGeom>
          <a:solidFill>
            <a:srgbClr val="1F4D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9" name="TextBox 36"/>
          <p:cNvSpPr txBox="1"/>
          <p:nvPr/>
        </p:nvSpPr>
        <p:spPr>
          <a:xfrm>
            <a:off x="8686800" y="3873627"/>
            <a:ext cx="182880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400">
                <a:solidFill>
                  <a:srgbClr val="1F4D2C"/>
                </a:solidFill>
              </a:defRPr>
            </a:lvl1pPr>
          </a:lstStyle>
          <a:p>
            <a:pPr/>
            <a:r>
              <a:t>$120–160M</a:t>
            </a:r>
          </a:p>
        </p:txBody>
      </p:sp>
      <p:sp>
        <p:nvSpPr>
          <p:cNvPr id="1240" name="TextBox 37"/>
          <p:cNvSpPr txBox="1"/>
          <p:nvPr/>
        </p:nvSpPr>
        <p:spPr>
          <a:xfrm>
            <a:off x="8686800" y="5632703"/>
            <a:ext cx="182880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102A43"/>
                </a:solidFill>
              </a:defRPr>
            </a:lvl1pPr>
          </a:lstStyle>
          <a:p>
            <a:pPr/>
            <a:r>
              <a:t>2028</a:t>
            </a:r>
          </a:p>
        </p:txBody>
      </p:sp>
      <p:sp>
        <p:nvSpPr>
          <p:cNvPr id="1241" name="TextBox 38"/>
          <p:cNvSpPr txBox="1"/>
          <p:nvPr/>
        </p:nvSpPr>
        <p:spPr>
          <a:xfrm>
            <a:off x="685800" y="5989320"/>
            <a:ext cx="10972800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Source mix:  AP automation + chatbot containment (’26)  →  Sales Co-Pilot + personalization + AP/HR (’27)  →  Predictive Service + price/rebalance + cross-domain (’28)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4" name="Rectangle 2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5" name="Rectangle 3"/>
          <p:cNvSpPr/>
          <p:nvPr/>
        </p:nvSpPr>
        <p:spPr>
          <a:xfrm>
            <a:off x="-1" y="6565392"/>
            <a:ext cx="12191697" cy="292609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6" name="TextBox 4"/>
          <p:cNvSpPr txBox="1"/>
          <p:nvPr/>
        </p:nvSpPr>
        <p:spPr>
          <a:xfrm>
            <a:off x="365759" y="6583680"/>
            <a:ext cx="73152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FFFFFF"/>
                </a:solidFill>
              </a:defRPr>
            </a:lvl1pPr>
          </a:lstStyle>
          <a:p>
            <a:pPr/>
            <a:r>
              <a:t>Camping World · Agentic AI Solution Architecture Blueprint v1.0</a:t>
            </a:r>
          </a:p>
        </p:txBody>
      </p:sp>
      <p:sp>
        <p:nvSpPr>
          <p:cNvPr id="1247" name="TextBox 5"/>
          <p:cNvSpPr txBox="1"/>
          <p:nvPr/>
        </p:nvSpPr>
        <p:spPr>
          <a:xfrm>
            <a:off x="10332719" y="6583680"/>
            <a:ext cx="18288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/>
            <a:r>
              <a:t>28 / 30</a:t>
            </a:r>
          </a:p>
        </p:txBody>
      </p:sp>
      <p:sp>
        <p:nvSpPr>
          <p:cNvPr id="1248" name="TextBox 6"/>
          <p:cNvSpPr txBox="1"/>
          <p:nvPr/>
        </p:nvSpPr>
        <p:spPr>
          <a:xfrm>
            <a:off x="502919" y="274320"/>
            <a:ext cx="1097280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C1441E"/>
                </a:solidFill>
              </a:defRPr>
            </a:lvl1pPr>
          </a:lstStyle>
          <a:p>
            <a:pPr/>
            <a:r>
              <a:t>SECTION 12</a:t>
            </a:r>
          </a:p>
        </p:txBody>
      </p:sp>
      <p:sp>
        <p:nvSpPr>
          <p:cNvPr id="1249" name="TextBox 7"/>
          <p:cNvSpPr txBox="1"/>
          <p:nvPr/>
        </p:nvSpPr>
        <p:spPr>
          <a:xfrm>
            <a:off x="502919" y="502919"/>
            <a:ext cx="1124712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102A43"/>
                </a:solidFill>
              </a:defRPr>
            </a:lvl1pPr>
          </a:lstStyle>
          <a:p>
            <a:pPr/>
            <a:r>
              <a:t>Top Risks &amp; Mitigations</a:t>
            </a:r>
          </a:p>
        </p:txBody>
      </p:sp>
      <p:sp>
        <p:nvSpPr>
          <p:cNvPr id="1250" name="Rectangle 8"/>
          <p:cNvSpPr/>
          <p:nvPr/>
        </p:nvSpPr>
        <p:spPr>
          <a:xfrm>
            <a:off x="502919" y="1097280"/>
            <a:ext cx="548641" cy="36577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1" name="Rectangle 9"/>
          <p:cNvSpPr/>
          <p:nvPr/>
        </p:nvSpPr>
        <p:spPr>
          <a:xfrm>
            <a:off x="502919" y="1417319"/>
            <a:ext cx="11247122" cy="4206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2" name="Rectangle 10"/>
          <p:cNvSpPr/>
          <p:nvPr/>
        </p:nvSpPr>
        <p:spPr>
          <a:xfrm>
            <a:off x="502919" y="1417319"/>
            <a:ext cx="91441" cy="420625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3" name="TextBox 11"/>
          <p:cNvSpPr txBox="1"/>
          <p:nvPr/>
        </p:nvSpPr>
        <p:spPr>
          <a:xfrm>
            <a:off x="685800" y="1523922"/>
            <a:ext cx="457200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102A43"/>
                </a:solidFill>
              </a:defRPr>
            </a:lvl1pPr>
          </a:lstStyle>
          <a:p>
            <a:pPr/>
            <a:r>
              <a:t>LLM vendor pricing volatility</a:t>
            </a:r>
          </a:p>
        </p:txBody>
      </p:sp>
      <p:sp>
        <p:nvSpPr>
          <p:cNvPr id="1254" name="Rounded Rectangle 12"/>
          <p:cNvSpPr/>
          <p:nvPr/>
        </p:nvSpPr>
        <p:spPr>
          <a:xfrm>
            <a:off x="5349240" y="1508760"/>
            <a:ext cx="457201" cy="237745"/>
          </a:xfrm>
          <a:prstGeom prst="roundRect">
            <a:avLst>
              <a:gd name="adj" fmla="val 16667"/>
            </a:avLst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5" name="TextBox 13"/>
          <p:cNvSpPr txBox="1"/>
          <p:nvPr/>
        </p:nvSpPr>
        <p:spPr>
          <a:xfrm>
            <a:off x="5349240" y="1524674"/>
            <a:ext cx="45720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H/M</a:t>
            </a:r>
          </a:p>
        </p:txBody>
      </p:sp>
      <p:sp>
        <p:nvSpPr>
          <p:cNvPr id="1256" name="TextBox 14"/>
          <p:cNvSpPr txBox="1"/>
          <p:nvPr/>
        </p:nvSpPr>
        <p:spPr>
          <a:xfrm>
            <a:off x="5943599" y="1522520"/>
            <a:ext cx="576072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Multi-vendor router · per-call budgets · open-weight fallback</a:t>
            </a:r>
          </a:p>
        </p:txBody>
      </p:sp>
      <p:sp>
        <p:nvSpPr>
          <p:cNvPr id="1257" name="Rectangle 15"/>
          <p:cNvSpPr/>
          <p:nvPr/>
        </p:nvSpPr>
        <p:spPr>
          <a:xfrm>
            <a:off x="502919" y="1892807"/>
            <a:ext cx="11247122" cy="4206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8" name="Rectangle 16"/>
          <p:cNvSpPr/>
          <p:nvPr/>
        </p:nvSpPr>
        <p:spPr>
          <a:xfrm>
            <a:off x="502919" y="1892807"/>
            <a:ext cx="91441" cy="420625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9" name="TextBox 17"/>
          <p:cNvSpPr txBox="1"/>
          <p:nvPr/>
        </p:nvSpPr>
        <p:spPr>
          <a:xfrm>
            <a:off x="685800" y="1999410"/>
            <a:ext cx="457200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102A43"/>
                </a:solidFill>
              </a:defRPr>
            </a:lvl1pPr>
          </a:lstStyle>
          <a:p>
            <a:pPr/>
            <a:r>
              <a:t>Data quality regressions in C360</a:t>
            </a:r>
          </a:p>
        </p:txBody>
      </p:sp>
      <p:sp>
        <p:nvSpPr>
          <p:cNvPr id="1260" name="Rounded Rectangle 18"/>
          <p:cNvSpPr/>
          <p:nvPr/>
        </p:nvSpPr>
        <p:spPr>
          <a:xfrm>
            <a:off x="5349240" y="1984248"/>
            <a:ext cx="457201" cy="237745"/>
          </a:xfrm>
          <a:prstGeom prst="roundRect">
            <a:avLst>
              <a:gd name="adj" fmla="val 16667"/>
            </a:avLst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1" name="TextBox 19"/>
          <p:cNvSpPr txBox="1"/>
          <p:nvPr/>
        </p:nvSpPr>
        <p:spPr>
          <a:xfrm>
            <a:off x="5349240" y="2000162"/>
            <a:ext cx="45720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M/H</a:t>
            </a:r>
          </a:p>
        </p:txBody>
      </p:sp>
      <p:sp>
        <p:nvSpPr>
          <p:cNvPr id="1262" name="TextBox 20"/>
          <p:cNvSpPr txBox="1"/>
          <p:nvPr/>
        </p:nvSpPr>
        <p:spPr>
          <a:xfrm>
            <a:off x="5943599" y="1998008"/>
            <a:ext cx="576072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DQ gates · data contracts · last-good rollback</a:t>
            </a:r>
          </a:p>
        </p:txBody>
      </p:sp>
      <p:sp>
        <p:nvSpPr>
          <p:cNvPr id="1263" name="Rectangle 21"/>
          <p:cNvSpPr/>
          <p:nvPr/>
        </p:nvSpPr>
        <p:spPr>
          <a:xfrm>
            <a:off x="502919" y="2368295"/>
            <a:ext cx="11247122" cy="4206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4" name="Rectangle 22"/>
          <p:cNvSpPr/>
          <p:nvPr/>
        </p:nvSpPr>
        <p:spPr>
          <a:xfrm>
            <a:off x="502919" y="2368295"/>
            <a:ext cx="91441" cy="420625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5" name="TextBox 23"/>
          <p:cNvSpPr txBox="1"/>
          <p:nvPr/>
        </p:nvSpPr>
        <p:spPr>
          <a:xfrm>
            <a:off x="685800" y="2474898"/>
            <a:ext cx="457200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102A43"/>
                </a:solidFill>
              </a:defRPr>
            </a:lvl1pPr>
          </a:lstStyle>
          <a:p>
            <a:pPr/>
            <a:r>
              <a:t>Agent overstep (autonomous error)</a:t>
            </a:r>
          </a:p>
        </p:txBody>
      </p:sp>
      <p:sp>
        <p:nvSpPr>
          <p:cNvPr id="1266" name="Rounded Rectangle 24"/>
          <p:cNvSpPr/>
          <p:nvPr/>
        </p:nvSpPr>
        <p:spPr>
          <a:xfrm>
            <a:off x="5349240" y="2459735"/>
            <a:ext cx="457201" cy="237745"/>
          </a:xfrm>
          <a:prstGeom prst="roundRect">
            <a:avLst>
              <a:gd name="adj" fmla="val 16667"/>
            </a:avLst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7" name="TextBox 25"/>
          <p:cNvSpPr txBox="1"/>
          <p:nvPr/>
        </p:nvSpPr>
        <p:spPr>
          <a:xfrm>
            <a:off x="5349240" y="2475650"/>
            <a:ext cx="45720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M/H</a:t>
            </a:r>
          </a:p>
        </p:txBody>
      </p:sp>
      <p:sp>
        <p:nvSpPr>
          <p:cNvPr id="1268" name="TextBox 26"/>
          <p:cNvSpPr txBox="1"/>
          <p:nvPr/>
        </p:nvSpPr>
        <p:spPr>
          <a:xfrm>
            <a:off x="5943599" y="2473496"/>
            <a:ext cx="576072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HITL by risk class · reversible window · Run Store replay</a:t>
            </a:r>
          </a:p>
        </p:txBody>
      </p:sp>
      <p:sp>
        <p:nvSpPr>
          <p:cNvPr id="1269" name="Rectangle 27"/>
          <p:cNvSpPr/>
          <p:nvPr/>
        </p:nvSpPr>
        <p:spPr>
          <a:xfrm>
            <a:off x="502919" y="2843783"/>
            <a:ext cx="11247122" cy="4206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0" name="Rectangle 28"/>
          <p:cNvSpPr/>
          <p:nvPr/>
        </p:nvSpPr>
        <p:spPr>
          <a:xfrm>
            <a:off x="502919" y="2843783"/>
            <a:ext cx="91441" cy="420625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1" name="TextBox 29"/>
          <p:cNvSpPr txBox="1"/>
          <p:nvPr/>
        </p:nvSpPr>
        <p:spPr>
          <a:xfrm>
            <a:off x="685800" y="2950386"/>
            <a:ext cx="457200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102A43"/>
                </a:solidFill>
              </a:defRPr>
            </a:lvl1pPr>
          </a:lstStyle>
          <a:p>
            <a:pPr/>
            <a:r>
              <a:t>Prompt-injection (member content)</a:t>
            </a:r>
          </a:p>
        </p:txBody>
      </p:sp>
      <p:sp>
        <p:nvSpPr>
          <p:cNvPr id="1272" name="Rounded Rectangle 30"/>
          <p:cNvSpPr/>
          <p:nvPr/>
        </p:nvSpPr>
        <p:spPr>
          <a:xfrm>
            <a:off x="5349240" y="2935223"/>
            <a:ext cx="457201" cy="237745"/>
          </a:xfrm>
          <a:prstGeom prst="roundRect">
            <a:avLst>
              <a:gd name="adj" fmla="val 16667"/>
            </a:avLst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3" name="TextBox 31"/>
          <p:cNvSpPr txBox="1"/>
          <p:nvPr/>
        </p:nvSpPr>
        <p:spPr>
          <a:xfrm>
            <a:off x="5349240" y="2951138"/>
            <a:ext cx="45720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H/M</a:t>
            </a:r>
          </a:p>
        </p:txBody>
      </p:sp>
      <p:sp>
        <p:nvSpPr>
          <p:cNvPr id="1274" name="TextBox 32"/>
          <p:cNvSpPr txBox="1"/>
          <p:nvPr/>
        </p:nvSpPr>
        <p:spPr>
          <a:xfrm>
            <a:off x="5943599" y="2948984"/>
            <a:ext cx="576072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Layered filters · structured tool args · red-team gates</a:t>
            </a:r>
          </a:p>
        </p:txBody>
      </p:sp>
      <p:sp>
        <p:nvSpPr>
          <p:cNvPr id="1275" name="Rectangle 33"/>
          <p:cNvSpPr/>
          <p:nvPr/>
        </p:nvSpPr>
        <p:spPr>
          <a:xfrm>
            <a:off x="502919" y="3319271"/>
            <a:ext cx="11247122" cy="4206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6" name="Rectangle 34"/>
          <p:cNvSpPr/>
          <p:nvPr/>
        </p:nvSpPr>
        <p:spPr>
          <a:xfrm>
            <a:off x="502919" y="3319271"/>
            <a:ext cx="91441" cy="420625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7" name="TextBox 35"/>
          <p:cNvSpPr txBox="1"/>
          <p:nvPr/>
        </p:nvSpPr>
        <p:spPr>
          <a:xfrm>
            <a:off x="685800" y="3425873"/>
            <a:ext cx="457200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102A43"/>
                </a:solidFill>
              </a:defRPr>
            </a:lvl1pPr>
          </a:lstStyle>
          <a:p>
            <a:pPr/>
            <a:r>
              <a:t>Talent gap (agentic engineering)</a:t>
            </a:r>
          </a:p>
        </p:txBody>
      </p:sp>
      <p:sp>
        <p:nvSpPr>
          <p:cNvPr id="1278" name="Rounded Rectangle 36"/>
          <p:cNvSpPr/>
          <p:nvPr/>
        </p:nvSpPr>
        <p:spPr>
          <a:xfrm>
            <a:off x="5349240" y="3410711"/>
            <a:ext cx="457201" cy="237745"/>
          </a:xfrm>
          <a:prstGeom prst="roundRect">
            <a:avLst>
              <a:gd name="adj" fmla="val 16667"/>
            </a:avLst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9" name="TextBox 37"/>
          <p:cNvSpPr txBox="1"/>
          <p:nvPr/>
        </p:nvSpPr>
        <p:spPr>
          <a:xfrm>
            <a:off x="5349240" y="3426626"/>
            <a:ext cx="45720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H/M</a:t>
            </a:r>
          </a:p>
        </p:txBody>
      </p:sp>
      <p:sp>
        <p:nvSpPr>
          <p:cNvPr id="1280" name="TextBox 38"/>
          <p:cNvSpPr txBox="1"/>
          <p:nvPr/>
        </p:nvSpPr>
        <p:spPr>
          <a:xfrm>
            <a:off x="5943599" y="3424472"/>
            <a:ext cx="576072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Internal academy · vendor partnership · reusable platform</a:t>
            </a:r>
          </a:p>
        </p:txBody>
      </p:sp>
      <p:sp>
        <p:nvSpPr>
          <p:cNvPr id="1281" name="Rectangle 39"/>
          <p:cNvSpPr/>
          <p:nvPr/>
        </p:nvSpPr>
        <p:spPr>
          <a:xfrm>
            <a:off x="502919" y="3794759"/>
            <a:ext cx="11247122" cy="4206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2" name="Rectangle 40"/>
          <p:cNvSpPr/>
          <p:nvPr/>
        </p:nvSpPr>
        <p:spPr>
          <a:xfrm>
            <a:off x="502919" y="3794759"/>
            <a:ext cx="91441" cy="420625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3" name="TextBox 41"/>
          <p:cNvSpPr txBox="1"/>
          <p:nvPr/>
        </p:nvSpPr>
        <p:spPr>
          <a:xfrm>
            <a:off x="685800" y="3901362"/>
            <a:ext cx="457200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102A43"/>
                </a:solidFill>
              </a:defRPr>
            </a:lvl1pPr>
          </a:lstStyle>
          <a:p>
            <a:pPr/>
            <a:r>
              <a:t>Regulatory shift (state AI laws)</a:t>
            </a:r>
          </a:p>
        </p:txBody>
      </p:sp>
      <p:sp>
        <p:nvSpPr>
          <p:cNvPr id="1284" name="Rounded Rectangle 42"/>
          <p:cNvSpPr/>
          <p:nvPr/>
        </p:nvSpPr>
        <p:spPr>
          <a:xfrm>
            <a:off x="5349240" y="3886200"/>
            <a:ext cx="457201" cy="237744"/>
          </a:xfrm>
          <a:prstGeom prst="roundRect">
            <a:avLst>
              <a:gd name="adj" fmla="val 16667"/>
            </a:avLst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5" name="TextBox 43"/>
          <p:cNvSpPr txBox="1"/>
          <p:nvPr/>
        </p:nvSpPr>
        <p:spPr>
          <a:xfrm>
            <a:off x="5349240" y="3902114"/>
            <a:ext cx="45720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M/M</a:t>
            </a:r>
          </a:p>
        </p:txBody>
      </p:sp>
      <p:sp>
        <p:nvSpPr>
          <p:cNvPr id="1286" name="TextBox 44"/>
          <p:cNvSpPr txBox="1"/>
          <p:nvPr/>
        </p:nvSpPr>
        <p:spPr>
          <a:xfrm>
            <a:off x="5943599" y="3899960"/>
            <a:ext cx="576072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Policy-as-code · consent-by-design · RAI Council</a:t>
            </a:r>
          </a:p>
        </p:txBody>
      </p:sp>
      <p:sp>
        <p:nvSpPr>
          <p:cNvPr id="1287" name="Rectangle 45"/>
          <p:cNvSpPr/>
          <p:nvPr/>
        </p:nvSpPr>
        <p:spPr>
          <a:xfrm>
            <a:off x="502919" y="4270247"/>
            <a:ext cx="11247122" cy="4206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8" name="Rectangle 46"/>
          <p:cNvSpPr/>
          <p:nvPr/>
        </p:nvSpPr>
        <p:spPr>
          <a:xfrm>
            <a:off x="502919" y="4270247"/>
            <a:ext cx="91441" cy="420625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9" name="TextBox 47"/>
          <p:cNvSpPr txBox="1"/>
          <p:nvPr/>
        </p:nvSpPr>
        <p:spPr>
          <a:xfrm>
            <a:off x="685800" y="4376850"/>
            <a:ext cx="457200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102A43"/>
                </a:solidFill>
              </a:defRPr>
            </a:lvl1pPr>
          </a:lstStyle>
          <a:p>
            <a:pPr/>
            <a:r>
              <a:t>Legacy DMS coupling</a:t>
            </a:r>
          </a:p>
        </p:txBody>
      </p:sp>
      <p:sp>
        <p:nvSpPr>
          <p:cNvPr id="1290" name="Rounded Rectangle 48"/>
          <p:cNvSpPr/>
          <p:nvPr/>
        </p:nvSpPr>
        <p:spPr>
          <a:xfrm>
            <a:off x="5349240" y="4361688"/>
            <a:ext cx="457201" cy="237745"/>
          </a:xfrm>
          <a:prstGeom prst="roundRect">
            <a:avLst>
              <a:gd name="adj" fmla="val 16667"/>
            </a:avLst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1" name="TextBox 49"/>
          <p:cNvSpPr txBox="1"/>
          <p:nvPr/>
        </p:nvSpPr>
        <p:spPr>
          <a:xfrm>
            <a:off x="5349240" y="4377602"/>
            <a:ext cx="45720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H/M</a:t>
            </a:r>
          </a:p>
        </p:txBody>
      </p:sp>
      <p:sp>
        <p:nvSpPr>
          <p:cNvPr id="1292" name="TextBox 50"/>
          <p:cNvSpPr txBox="1"/>
          <p:nvPr/>
        </p:nvSpPr>
        <p:spPr>
          <a:xfrm>
            <a:off x="5943599" y="4375448"/>
            <a:ext cx="576072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Anti-corruption layer · CDC outbox · strangler</a:t>
            </a:r>
          </a:p>
        </p:txBody>
      </p:sp>
      <p:sp>
        <p:nvSpPr>
          <p:cNvPr id="1293" name="Rectangle 51"/>
          <p:cNvSpPr/>
          <p:nvPr/>
        </p:nvSpPr>
        <p:spPr>
          <a:xfrm>
            <a:off x="502919" y="4745735"/>
            <a:ext cx="11247122" cy="4206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4" name="Rectangle 52"/>
          <p:cNvSpPr/>
          <p:nvPr/>
        </p:nvSpPr>
        <p:spPr>
          <a:xfrm>
            <a:off x="502919" y="4745735"/>
            <a:ext cx="91441" cy="420625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5" name="TextBox 53"/>
          <p:cNvSpPr txBox="1"/>
          <p:nvPr/>
        </p:nvSpPr>
        <p:spPr>
          <a:xfrm>
            <a:off x="685800" y="4852338"/>
            <a:ext cx="457200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102A43"/>
                </a:solidFill>
              </a:defRPr>
            </a:lvl1pPr>
          </a:lstStyle>
          <a:p>
            <a:pPr/>
            <a:r>
              <a:t>Change fatigue at the dealership</a:t>
            </a:r>
          </a:p>
        </p:txBody>
      </p:sp>
      <p:sp>
        <p:nvSpPr>
          <p:cNvPr id="1296" name="Rounded Rectangle 54"/>
          <p:cNvSpPr/>
          <p:nvPr/>
        </p:nvSpPr>
        <p:spPr>
          <a:xfrm>
            <a:off x="5349240" y="4837176"/>
            <a:ext cx="457201" cy="237745"/>
          </a:xfrm>
          <a:prstGeom prst="roundRect">
            <a:avLst>
              <a:gd name="adj" fmla="val 16667"/>
            </a:avLst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7" name="TextBox 55"/>
          <p:cNvSpPr txBox="1"/>
          <p:nvPr/>
        </p:nvSpPr>
        <p:spPr>
          <a:xfrm>
            <a:off x="5349240" y="4853090"/>
            <a:ext cx="45720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M/M</a:t>
            </a:r>
          </a:p>
        </p:txBody>
      </p:sp>
      <p:sp>
        <p:nvSpPr>
          <p:cNvPr id="1298" name="TextBox 56"/>
          <p:cNvSpPr txBox="1"/>
          <p:nvPr/>
        </p:nvSpPr>
        <p:spPr>
          <a:xfrm>
            <a:off x="5943599" y="4850936"/>
            <a:ext cx="576072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Co-Pilot framing · 90-day pilots · training pathways</a:t>
            </a:r>
          </a:p>
        </p:txBody>
      </p:sp>
      <p:sp>
        <p:nvSpPr>
          <p:cNvPr id="1299" name="Rectangle 57"/>
          <p:cNvSpPr/>
          <p:nvPr/>
        </p:nvSpPr>
        <p:spPr>
          <a:xfrm>
            <a:off x="502919" y="5221223"/>
            <a:ext cx="11247122" cy="4206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0" name="Rectangle 58"/>
          <p:cNvSpPr/>
          <p:nvPr/>
        </p:nvSpPr>
        <p:spPr>
          <a:xfrm>
            <a:off x="502919" y="5221223"/>
            <a:ext cx="91441" cy="420625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1" name="TextBox 59"/>
          <p:cNvSpPr txBox="1"/>
          <p:nvPr/>
        </p:nvSpPr>
        <p:spPr>
          <a:xfrm>
            <a:off x="685799" y="5309537"/>
            <a:ext cx="457200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102A43"/>
                </a:solidFill>
              </a:defRPr>
            </a:lvl1pPr>
          </a:lstStyle>
          <a:p>
            <a:pPr/>
            <a:r>
              <a:t>Over-fitting to short-term cost takeout</a:t>
            </a:r>
          </a:p>
        </p:txBody>
      </p:sp>
      <p:sp>
        <p:nvSpPr>
          <p:cNvPr id="1302" name="Rounded Rectangle 60"/>
          <p:cNvSpPr/>
          <p:nvPr/>
        </p:nvSpPr>
        <p:spPr>
          <a:xfrm>
            <a:off x="5349240" y="5312664"/>
            <a:ext cx="457201" cy="237745"/>
          </a:xfrm>
          <a:prstGeom prst="roundRect">
            <a:avLst>
              <a:gd name="adj" fmla="val 16667"/>
            </a:avLst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3" name="TextBox 61"/>
          <p:cNvSpPr txBox="1"/>
          <p:nvPr/>
        </p:nvSpPr>
        <p:spPr>
          <a:xfrm>
            <a:off x="5349240" y="5328578"/>
            <a:ext cx="45720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M/H</a:t>
            </a:r>
          </a:p>
        </p:txBody>
      </p:sp>
      <p:sp>
        <p:nvSpPr>
          <p:cNvPr id="1304" name="TextBox 62"/>
          <p:cNvSpPr txBox="1"/>
          <p:nvPr/>
        </p:nvSpPr>
        <p:spPr>
          <a:xfrm>
            <a:off x="5943599" y="5326424"/>
            <a:ext cx="576072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Tiered KPIs · investment guardrails reviewed quarterly</a:t>
            </a:r>
          </a:p>
        </p:txBody>
      </p:sp>
      <p:sp>
        <p:nvSpPr>
          <p:cNvPr id="1305" name="Rectangle 63"/>
          <p:cNvSpPr/>
          <p:nvPr/>
        </p:nvSpPr>
        <p:spPr>
          <a:xfrm>
            <a:off x="502919" y="5696711"/>
            <a:ext cx="11247122" cy="4206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6" name="Rectangle 64"/>
          <p:cNvSpPr/>
          <p:nvPr/>
        </p:nvSpPr>
        <p:spPr>
          <a:xfrm>
            <a:off x="502919" y="5696711"/>
            <a:ext cx="91441" cy="420625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7" name="TextBox 65"/>
          <p:cNvSpPr txBox="1"/>
          <p:nvPr/>
        </p:nvSpPr>
        <p:spPr>
          <a:xfrm>
            <a:off x="685800" y="5803314"/>
            <a:ext cx="457200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102A43"/>
                </a:solidFill>
              </a:defRPr>
            </a:lvl1pPr>
          </a:lstStyle>
          <a:p>
            <a:pPr/>
            <a:r>
              <a:t>Incident — agent makes high-profile mistake</a:t>
            </a:r>
          </a:p>
        </p:txBody>
      </p:sp>
      <p:sp>
        <p:nvSpPr>
          <p:cNvPr id="1308" name="Rounded Rectangle 66"/>
          <p:cNvSpPr/>
          <p:nvPr/>
        </p:nvSpPr>
        <p:spPr>
          <a:xfrm>
            <a:off x="5349240" y="5788152"/>
            <a:ext cx="457201" cy="237745"/>
          </a:xfrm>
          <a:prstGeom prst="roundRect">
            <a:avLst>
              <a:gd name="adj" fmla="val 16667"/>
            </a:avLst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9" name="TextBox 67"/>
          <p:cNvSpPr txBox="1"/>
          <p:nvPr/>
        </p:nvSpPr>
        <p:spPr>
          <a:xfrm>
            <a:off x="5349240" y="5804066"/>
            <a:ext cx="45720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L/H</a:t>
            </a:r>
          </a:p>
        </p:txBody>
      </p:sp>
      <p:sp>
        <p:nvSpPr>
          <p:cNvPr id="1310" name="TextBox 68"/>
          <p:cNvSpPr txBox="1"/>
          <p:nvPr/>
        </p:nvSpPr>
        <p:spPr>
          <a:xfrm>
            <a:off x="5943599" y="5801912"/>
            <a:ext cx="576072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000">
                <a:solidFill>
                  <a:srgbClr val="36454F"/>
                </a:solidFill>
              </a:defRPr>
            </a:lvl1pPr>
          </a:lstStyle>
          <a:p>
            <a:pPr/>
            <a:r>
              <a:t>Pre-built incident playbook · rapid rollback</a:t>
            </a:r>
          </a:p>
        </p:txBody>
      </p:sp>
      <p:sp>
        <p:nvSpPr>
          <p:cNvPr id="1311" name="TextBox 69"/>
          <p:cNvSpPr txBox="1"/>
          <p:nvPr/>
        </p:nvSpPr>
        <p:spPr>
          <a:xfrm>
            <a:off x="502919" y="6355079"/>
            <a:ext cx="1097280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900">
                <a:solidFill>
                  <a:srgbClr val="6E7780"/>
                </a:solidFill>
              </a:defRPr>
            </a:lvl1pPr>
          </a:lstStyle>
          <a:p>
            <a:pPr/>
            <a:r>
              <a:t>Severity = Likelihood / Impact (L · M · H).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3E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4" name="Rectangle 2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5" name="Rectangle 3"/>
          <p:cNvSpPr/>
          <p:nvPr/>
        </p:nvSpPr>
        <p:spPr>
          <a:xfrm>
            <a:off x="-1" y="6565392"/>
            <a:ext cx="12191697" cy="292609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6" name="TextBox 4"/>
          <p:cNvSpPr txBox="1"/>
          <p:nvPr/>
        </p:nvSpPr>
        <p:spPr>
          <a:xfrm>
            <a:off x="365759" y="6583680"/>
            <a:ext cx="73152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FFFFFF"/>
                </a:solidFill>
              </a:defRPr>
            </a:lvl1pPr>
          </a:lstStyle>
          <a:p>
            <a:pPr/>
            <a:r>
              <a:t>Camping World · Agentic AI Solution Architecture Blueprint v1.0</a:t>
            </a:r>
          </a:p>
        </p:txBody>
      </p:sp>
      <p:sp>
        <p:nvSpPr>
          <p:cNvPr id="1317" name="TextBox 5"/>
          <p:cNvSpPr txBox="1"/>
          <p:nvPr/>
        </p:nvSpPr>
        <p:spPr>
          <a:xfrm>
            <a:off x="10332719" y="6583680"/>
            <a:ext cx="182880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/>
            <a:r>
              <a:t>29 / 30</a:t>
            </a:r>
          </a:p>
        </p:txBody>
      </p:sp>
      <p:sp>
        <p:nvSpPr>
          <p:cNvPr id="1318" name="TextBox 6"/>
          <p:cNvSpPr txBox="1"/>
          <p:nvPr/>
        </p:nvSpPr>
        <p:spPr>
          <a:xfrm>
            <a:off x="502919" y="274320"/>
            <a:ext cx="1097280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C1441E"/>
                </a:solidFill>
              </a:defRPr>
            </a:lvl1pPr>
          </a:lstStyle>
          <a:p>
            <a:pPr/>
            <a:r>
              <a:t>APPENDIX</a:t>
            </a:r>
          </a:p>
        </p:txBody>
      </p:sp>
      <p:sp>
        <p:nvSpPr>
          <p:cNvPr id="1319" name="TextBox 7"/>
          <p:cNvSpPr txBox="1"/>
          <p:nvPr/>
        </p:nvSpPr>
        <p:spPr>
          <a:xfrm>
            <a:off x="502919" y="502919"/>
            <a:ext cx="1124712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102A43"/>
                </a:solidFill>
              </a:defRPr>
            </a:lvl1pPr>
          </a:lstStyle>
          <a:p>
            <a:pPr/>
            <a:r>
              <a:t>Component Catalog — Agents</a:t>
            </a:r>
          </a:p>
        </p:txBody>
      </p:sp>
      <p:sp>
        <p:nvSpPr>
          <p:cNvPr id="1320" name="Rectangle 8"/>
          <p:cNvSpPr/>
          <p:nvPr/>
        </p:nvSpPr>
        <p:spPr>
          <a:xfrm>
            <a:off x="502919" y="1097280"/>
            <a:ext cx="548641" cy="36577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1" name="Rectangle 9"/>
          <p:cNvSpPr/>
          <p:nvPr/>
        </p:nvSpPr>
        <p:spPr>
          <a:xfrm>
            <a:off x="502919" y="1417319"/>
            <a:ext cx="3657601" cy="7132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2" name="Rectangle 10"/>
          <p:cNvSpPr/>
          <p:nvPr/>
        </p:nvSpPr>
        <p:spPr>
          <a:xfrm>
            <a:off x="502919" y="1417319"/>
            <a:ext cx="91441" cy="713233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3" name="TextBox 11"/>
          <p:cNvSpPr txBox="1"/>
          <p:nvPr/>
        </p:nvSpPr>
        <p:spPr>
          <a:xfrm>
            <a:off x="685800" y="1453896"/>
            <a:ext cx="237744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02A43"/>
                </a:solidFill>
              </a:defRPr>
            </a:lvl1pPr>
          </a:lstStyle>
          <a:p>
            <a:pPr/>
            <a:r>
              <a:t>Lead-Gen Chatbot</a:t>
            </a:r>
          </a:p>
        </p:txBody>
      </p:sp>
      <p:sp>
        <p:nvSpPr>
          <p:cNvPr id="1324" name="TextBox 12"/>
          <p:cNvSpPr txBox="1"/>
          <p:nvPr/>
        </p:nvSpPr>
        <p:spPr>
          <a:xfrm>
            <a:off x="685800" y="1783079"/>
            <a:ext cx="2377440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900">
                <a:solidFill>
                  <a:srgbClr val="36454F"/>
                </a:solidFill>
              </a:defRPr>
            </a:lvl1pPr>
          </a:lstStyle>
          <a:p>
            <a:pPr/>
            <a:r>
              <a:t>Sales/CX</a:t>
            </a:r>
          </a:p>
        </p:txBody>
      </p:sp>
      <p:sp>
        <p:nvSpPr>
          <p:cNvPr id="1325" name="Oval 13"/>
          <p:cNvSpPr/>
          <p:nvPr/>
        </p:nvSpPr>
        <p:spPr>
          <a:xfrm>
            <a:off x="3383279" y="1490472"/>
            <a:ext cx="274321" cy="274321"/>
          </a:xfrm>
          <a:prstGeom prst="ellipse">
            <a:avLst/>
          </a:prstGeom>
          <a:solidFill>
            <a:srgbClr val="6E8B4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6" name="TextBox 14"/>
          <p:cNvSpPr txBox="1"/>
          <p:nvPr/>
        </p:nvSpPr>
        <p:spPr>
          <a:xfrm>
            <a:off x="3383279" y="1513376"/>
            <a:ext cx="2743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L</a:t>
            </a:r>
          </a:p>
        </p:txBody>
      </p:sp>
      <p:sp>
        <p:nvSpPr>
          <p:cNvPr id="1327" name="Rounded Rectangle 15"/>
          <p:cNvSpPr/>
          <p:nvPr/>
        </p:nvSpPr>
        <p:spPr>
          <a:xfrm>
            <a:off x="3730752" y="1490472"/>
            <a:ext cx="329185" cy="274321"/>
          </a:xfrm>
          <a:prstGeom prst="roundRect">
            <a:avLst>
              <a:gd name="adj" fmla="val 16667"/>
            </a:avLst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8" name="TextBox 16"/>
          <p:cNvSpPr txBox="1"/>
          <p:nvPr/>
        </p:nvSpPr>
        <p:spPr>
          <a:xfrm>
            <a:off x="3730752" y="1524675"/>
            <a:ext cx="329185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1329" name="Rectangle 17"/>
          <p:cNvSpPr/>
          <p:nvPr/>
        </p:nvSpPr>
        <p:spPr>
          <a:xfrm>
            <a:off x="502919" y="2185416"/>
            <a:ext cx="3657601" cy="7132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0" name="Rectangle 18"/>
          <p:cNvSpPr/>
          <p:nvPr/>
        </p:nvSpPr>
        <p:spPr>
          <a:xfrm>
            <a:off x="502919" y="2185416"/>
            <a:ext cx="91441" cy="713233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1" name="TextBox 19"/>
          <p:cNvSpPr txBox="1"/>
          <p:nvPr/>
        </p:nvSpPr>
        <p:spPr>
          <a:xfrm>
            <a:off x="685800" y="2221992"/>
            <a:ext cx="237744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02A43"/>
                </a:solidFill>
              </a:defRPr>
            </a:lvl1pPr>
          </a:lstStyle>
          <a:p>
            <a:pPr/>
            <a:r>
              <a:t>AP Intake Agent</a:t>
            </a:r>
          </a:p>
        </p:txBody>
      </p:sp>
      <p:sp>
        <p:nvSpPr>
          <p:cNvPr id="1332" name="TextBox 20"/>
          <p:cNvSpPr txBox="1"/>
          <p:nvPr/>
        </p:nvSpPr>
        <p:spPr>
          <a:xfrm>
            <a:off x="685800" y="2551176"/>
            <a:ext cx="237744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900">
                <a:solidFill>
                  <a:srgbClr val="36454F"/>
                </a:solidFill>
              </a:defRPr>
            </a:lvl1pPr>
          </a:lstStyle>
          <a:p>
            <a:pPr/>
            <a:r>
              <a:t>Finance</a:t>
            </a:r>
          </a:p>
        </p:txBody>
      </p:sp>
      <p:sp>
        <p:nvSpPr>
          <p:cNvPr id="1333" name="Oval 21"/>
          <p:cNvSpPr/>
          <p:nvPr/>
        </p:nvSpPr>
        <p:spPr>
          <a:xfrm>
            <a:off x="3383279" y="2258567"/>
            <a:ext cx="274321" cy="274321"/>
          </a:xfrm>
          <a:prstGeom prst="ellipse">
            <a:avLst/>
          </a:prstGeom>
          <a:solidFill>
            <a:srgbClr val="E6834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4" name="TextBox 22"/>
          <p:cNvSpPr txBox="1"/>
          <p:nvPr/>
        </p:nvSpPr>
        <p:spPr>
          <a:xfrm>
            <a:off x="3383279" y="2281472"/>
            <a:ext cx="2743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M</a:t>
            </a:r>
          </a:p>
        </p:txBody>
      </p:sp>
      <p:sp>
        <p:nvSpPr>
          <p:cNvPr id="1335" name="Rounded Rectangle 23"/>
          <p:cNvSpPr/>
          <p:nvPr/>
        </p:nvSpPr>
        <p:spPr>
          <a:xfrm>
            <a:off x="3730752" y="2258567"/>
            <a:ext cx="329185" cy="274321"/>
          </a:xfrm>
          <a:prstGeom prst="roundRect">
            <a:avLst>
              <a:gd name="adj" fmla="val 16667"/>
            </a:avLst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6" name="TextBox 24"/>
          <p:cNvSpPr txBox="1"/>
          <p:nvPr/>
        </p:nvSpPr>
        <p:spPr>
          <a:xfrm>
            <a:off x="3730752" y="2292771"/>
            <a:ext cx="329185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1337" name="Rectangle 25"/>
          <p:cNvSpPr/>
          <p:nvPr/>
        </p:nvSpPr>
        <p:spPr>
          <a:xfrm>
            <a:off x="502919" y="2953511"/>
            <a:ext cx="3657601" cy="7132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8" name="Rectangle 26"/>
          <p:cNvSpPr/>
          <p:nvPr/>
        </p:nvSpPr>
        <p:spPr>
          <a:xfrm>
            <a:off x="502919" y="2953511"/>
            <a:ext cx="91441" cy="713233"/>
          </a:xfrm>
          <a:prstGeom prst="rect">
            <a:avLst/>
          </a:prstGeom>
          <a:solidFill>
            <a:srgbClr val="E6834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9" name="TextBox 27"/>
          <p:cNvSpPr txBox="1"/>
          <p:nvPr/>
        </p:nvSpPr>
        <p:spPr>
          <a:xfrm>
            <a:off x="685800" y="2990088"/>
            <a:ext cx="237744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02A43"/>
                </a:solidFill>
              </a:defRPr>
            </a:lvl1pPr>
          </a:lstStyle>
          <a:p>
            <a:pPr/>
            <a:r>
              <a:t>HR Triage Agent</a:t>
            </a:r>
          </a:p>
        </p:txBody>
      </p:sp>
      <p:sp>
        <p:nvSpPr>
          <p:cNvPr id="1340" name="TextBox 28"/>
          <p:cNvSpPr txBox="1"/>
          <p:nvPr/>
        </p:nvSpPr>
        <p:spPr>
          <a:xfrm>
            <a:off x="685800" y="3319271"/>
            <a:ext cx="2377440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900">
                <a:solidFill>
                  <a:srgbClr val="36454F"/>
                </a:solidFill>
              </a:defRPr>
            </a:lvl1pPr>
          </a:lstStyle>
          <a:p>
            <a:pPr/>
            <a:r>
              <a:t>HR</a:t>
            </a:r>
          </a:p>
        </p:txBody>
      </p:sp>
      <p:sp>
        <p:nvSpPr>
          <p:cNvPr id="1341" name="Oval 29"/>
          <p:cNvSpPr/>
          <p:nvPr/>
        </p:nvSpPr>
        <p:spPr>
          <a:xfrm>
            <a:off x="3383279" y="3026664"/>
            <a:ext cx="274321" cy="274321"/>
          </a:xfrm>
          <a:prstGeom prst="ellipse">
            <a:avLst/>
          </a:prstGeom>
          <a:solidFill>
            <a:srgbClr val="6E8B4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42" name="TextBox 30"/>
          <p:cNvSpPr txBox="1"/>
          <p:nvPr/>
        </p:nvSpPr>
        <p:spPr>
          <a:xfrm>
            <a:off x="3383279" y="3049568"/>
            <a:ext cx="2743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L</a:t>
            </a:r>
          </a:p>
        </p:txBody>
      </p:sp>
      <p:sp>
        <p:nvSpPr>
          <p:cNvPr id="1343" name="Rounded Rectangle 31"/>
          <p:cNvSpPr/>
          <p:nvPr/>
        </p:nvSpPr>
        <p:spPr>
          <a:xfrm>
            <a:off x="3730752" y="3026664"/>
            <a:ext cx="329185" cy="274321"/>
          </a:xfrm>
          <a:prstGeom prst="roundRect">
            <a:avLst>
              <a:gd name="adj" fmla="val 16667"/>
            </a:avLst>
          </a:prstGeom>
          <a:solidFill>
            <a:srgbClr val="E6834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44" name="TextBox 32"/>
          <p:cNvSpPr txBox="1"/>
          <p:nvPr/>
        </p:nvSpPr>
        <p:spPr>
          <a:xfrm>
            <a:off x="3730752" y="3060867"/>
            <a:ext cx="329185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1345" name="Rectangle 33"/>
          <p:cNvSpPr/>
          <p:nvPr/>
        </p:nvSpPr>
        <p:spPr>
          <a:xfrm>
            <a:off x="502919" y="3721608"/>
            <a:ext cx="3657601" cy="7132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46" name="Rectangle 34"/>
          <p:cNvSpPr/>
          <p:nvPr/>
        </p:nvSpPr>
        <p:spPr>
          <a:xfrm>
            <a:off x="502919" y="3721608"/>
            <a:ext cx="91441" cy="713233"/>
          </a:xfrm>
          <a:prstGeom prst="rect">
            <a:avLst/>
          </a:prstGeom>
          <a:solidFill>
            <a:srgbClr val="E6834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47" name="TextBox 35"/>
          <p:cNvSpPr txBox="1"/>
          <p:nvPr/>
        </p:nvSpPr>
        <p:spPr>
          <a:xfrm>
            <a:off x="685800" y="3758184"/>
            <a:ext cx="237744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02A43"/>
                </a:solidFill>
              </a:defRPr>
            </a:lvl1pPr>
          </a:lstStyle>
          <a:p>
            <a:pPr/>
            <a:r>
              <a:t>Sales Co-Pilot</a:t>
            </a:r>
          </a:p>
        </p:txBody>
      </p:sp>
      <p:sp>
        <p:nvSpPr>
          <p:cNvPr id="1348" name="TextBox 36"/>
          <p:cNvSpPr txBox="1"/>
          <p:nvPr/>
        </p:nvSpPr>
        <p:spPr>
          <a:xfrm>
            <a:off x="685800" y="4087367"/>
            <a:ext cx="2377440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900">
                <a:solidFill>
                  <a:srgbClr val="36454F"/>
                </a:solidFill>
              </a:defRPr>
            </a:lvl1pPr>
          </a:lstStyle>
          <a:p>
            <a:pPr/>
            <a:r>
              <a:t>Sales</a:t>
            </a:r>
          </a:p>
        </p:txBody>
      </p:sp>
      <p:sp>
        <p:nvSpPr>
          <p:cNvPr id="1349" name="Oval 37"/>
          <p:cNvSpPr/>
          <p:nvPr/>
        </p:nvSpPr>
        <p:spPr>
          <a:xfrm>
            <a:off x="3383279" y="3794759"/>
            <a:ext cx="274321" cy="274321"/>
          </a:xfrm>
          <a:prstGeom prst="ellipse">
            <a:avLst/>
          </a:prstGeom>
          <a:solidFill>
            <a:srgbClr val="E6834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0" name="TextBox 38"/>
          <p:cNvSpPr txBox="1"/>
          <p:nvPr/>
        </p:nvSpPr>
        <p:spPr>
          <a:xfrm>
            <a:off x="3383279" y="3817664"/>
            <a:ext cx="2743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M</a:t>
            </a:r>
          </a:p>
        </p:txBody>
      </p:sp>
      <p:sp>
        <p:nvSpPr>
          <p:cNvPr id="1351" name="Rounded Rectangle 39"/>
          <p:cNvSpPr/>
          <p:nvPr/>
        </p:nvSpPr>
        <p:spPr>
          <a:xfrm>
            <a:off x="3730752" y="3794759"/>
            <a:ext cx="329185" cy="274321"/>
          </a:xfrm>
          <a:prstGeom prst="roundRect">
            <a:avLst>
              <a:gd name="adj" fmla="val 16667"/>
            </a:avLst>
          </a:prstGeom>
          <a:solidFill>
            <a:srgbClr val="E6834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2" name="TextBox 40"/>
          <p:cNvSpPr txBox="1"/>
          <p:nvPr/>
        </p:nvSpPr>
        <p:spPr>
          <a:xfrm>
            <a:off x="3730752" y="3828963"/>
            <a:ext cx="329185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1353" name="Rectangle 41"/>
          <p:cNvSpPr/>
          <p:nvPr/>
        </p:nvSpPr>
        <p:spPr>
          <a:xfrm>
            <a:off x="502919" y="4489703"/>
            <a:ext cx="3657601" cy="7132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4" name="Rectangle 42"/>
          <p:cNvSpPr/>
          <p:nvPr/>
        </p:nvSpPr>
        <p:spPr>
          <a:xfrm>
            <a:off x="502919" y="4489703"/>
            <a:ext cx="91441" cy="713233"/>
          </a:xfrm>
          <a:prstGeom prst="rect">
            <a:avLst/>
          </a:prstGeom>
          <a:solidFill>
            <a:srgbClr val="E6834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5" name="TextBox 43"/>
          <p:cNvSpPr txBox="1"/>
          <p:nvPr/>
        </p:nvSpPr>
        <p:spPr>
          <a:xfrm>
            <a:off x="685800" y="4526279"/>
            <a:ext cx="237744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02A43"/>
                </a:solidFill>
              </a:defRPr>
            </a:lvl1pPr>
          </a:lstStyle>
          <a:p>
            <a:pPr/>
            <a:r>
              <a:t>Service Scheduler</a:t>
            </a:r>
          </a:p>
        </p:txBody>
      </p:sp>
      <p:sp>
        <p:nvSpPr>
          <p:cNvPr id="1356" name="TextBox 44"/>
          <p:cNvSpPr txBox="1"/>
          <p:nvPr/>
        </p:nvSpPr>
        <p:spPr>
          <a:xfrm>
            <a:off x="685800" y="4855464"/>
            <a:ext cx="237744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900">
                <a:solidFill>
                  <a:srgbClr val="36454F"/>
                </a:solidFill>
              </a:defRPr>
            </a:lvl1pPr>
          </a:lstStyle>
          <a:p>
            <a:pPr/>
            <a:r>
              <a:t>Service</a:t>
            </a:r>
          </a:p>
        </p:txBody>
      </p:sp>
      <p:sp>
        <p:nvSpPr>
          <p:cNvPr id="1357" name="Oval 45"/>
          <p:cNvSpPr/>
          <p:nvPr/>
        </p:nvSpPr>
        <p:spPr>
          <a:xfrm>
            <a:off x="3383279" y="4562855"/>
            <a:ext cx="274321" cy="274321"/>
          </a:xfrm>
          <a:prstGeom prst="ellipse">
            <a:avLst/>
          </a:prstGeom>
          <a:solidFill>
            <a:srgbClr val="6E8B4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8" name="TextBox 46"/>
          <p:cNvSpPr txBox="1"/>
          <p:nvPr/>
        </p:nvSpPr>
        <p:spPr>
          <a:xfrm>
            <a:off x="3383279" y="4585760"/>
            <a:ext cx="2743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L</a:t>
            </a:r>
          </a:p>
        </p:txBody>
      </p:sp>
      <p:sp>
        <p:nvSpPr>
          <p:cNvPr id="1359" name="Rounded Rectangle 47"/>
          <p:cNvSpPr/>
          <p:nvPr/>
        </p:nvSpPr>
        <p:spPr>
          <a:xfrm>
            <a:off x="3730752" y="4562855"/>
            <a:ext cx="329185" cy="274321"/>
          </a:xfrm>
          <a:prstGeom prst="roundRect">
            <a:avLst>
              <a:gd name="adj" fmla="val 16667"/>
            </a:avLst>
          </a:prstGeom>
          <a:solidFill>
            <a:srgbClr val="E6834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0" name="TextBox 48"/>
          <p:cNvSpPr txBox="1"/>
          <p:nvPr/>
        </p:nvSpPr>
        <p:spPr>
          <a:xfrm>
            <a:off x="3730752" y="4597059"/>
            <a:ext cx="329185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1361" name="Rectangle 49"/>
          <p:cNvSpPr/>
          <p:nvPr/>
        </p:nvSpPr>
        <p:spPr>
          <a:xfrm>
            <a:off x="502919" y="5257800"/>
            <a:ext cx="3657601" cy="7132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2" name="Rectangle 50"/>
          <p:cNvSpPr/>
          <p:nvPr/>
        </p:nvSpPr>
        <p:spPr>
          <a:xfrm>
            <a:off x="502919" y="5257800"/>
            <a:ext cx="91441" cy="713232"/>
          </a:xfrm>
          <a:prstGeom prst="rect">
            <a:avLst/>
          </a:prstGeom>
          <a:solidFill>
            <a:srgbClr val="E6834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3" name="TextBox 51"/>
          <p:cNvSpPr txBox="1"/>
          <p:nvPr/>
        </p:nvSpPr>
        <p:spPr>
          <a:xfrm>
            <a:off x="685800" y="5294376"/>
            <a:ext cx="237744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02A43"/>
                </a:solidFill>
              </a:defRPr>
            </a:lvl1pPr>
          </a:lstStyle>
          <a:p>
            <a:pPr/>
            <a:r>
              <a:t>Tech Diagnostic Co-Pilot</a:t>
            </a:r>
          </a:p>
        </p:txBody>
      </p:sp>
      <p:sp>
        <p:nvSpPr>
          <p:cNvPr id="1364" name="TextBox 52"/>
          <p:cNvSpPr txBox="1"/>
          <p:nvPr/>
        </p:nvSpPr>
        <p:spPr>
          <a:xfrm>
            <a:off x="685800" y="5623559"/>
            <a:ext cx="2377440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900">
                <a:solidFill>
                  <a:srgbClr val="36454F"/>
                </a:solidFill>
              </a:defRPr>
            </a:lvl1pPr>
          </a:lstStyle>
          <a:p>
            <a:pPr/>
            <a:r>
              <a:t>Service</a:t>
            </a:r>
          </a:p>
        </p:txBody>
      </p:sp>
      <p:sp>
        <p:nvSpPr>
          <p:cNvPr id="1365" name="Oval 53"/>
          <p:cNvSpPr/>
          <p:nvPr/>
        </p:nvSpPr>
        <p:spPr>
          <a:xfrm>
            <a:off x="3383279" y="5330952"/>
            <a:ext cx="274321" cy="274321"/>
          </a:xfrm>
          <a:prstGeom prst="ellipse">
            <a:avLst/>
          </a:prstGeom>
          <a:solidFill>
            <a:srgbClr val="6E8B4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6" name="TextBox 54"/>
          <p:cNvSpPr txBox="1"/>
          <p:nvPr/>
        </p:nvSpPr>
        <p:spPr>
          <a:xfrm>
            <a:off x="3383279" y="5353856"/>
            <a:ext cx="2743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L</a:t>
            </a:r>
          </a:p>
        </p:txBody>
      </p:sp>
      <p:sp>
        <p:nvSpPr>
          <p:cNvPr id="1367" name="Rounded Rectangle 55"/>
          <p:cNvSpPr/>
          <p:nvPr/>
        </p:nvSpPr>
        <p:spPr>
          <a:xfrm>
            <a:off x="3730752" y="5330952"/>
            <a:ext cx="329185" cy="274321"/>
          </a:xfrm>
          <a:prstGeom prst="roundRect">
            <a:avLst>
              <a:gd name="adj" fmla="val 16667"/>
            </a:avLst>
          </a:prstGeom>
          <a:solidFill>
            <a:srgbClr val="E6834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8" name="TextBox 56"/>
          <p:cNvSpPr txBox="1"/>
          <p:nvPr/>
        </p:nvSpPr>
        <p:spPr>
          <a:xfrm>
            <a:off x="3730752" y="5365155"/>
            <a:ext cx="329185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1369" name="Rectangle 57"/>
          <p:cNvSpPr/>
          <p:nvPr/>
        </p:nvSpPr>
        <p:spPr>
          <a:xfrm>
            <a:off x="4215384" y="1417319"/>
            <a:ext cx="3657601" cy="7132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0" name="Rectangle 58"/>
          <p:cNvSpPr/>
          <p:nvPr/>
        </p:nvSpPr>
        <p:spPr>
          <a:xfrm>
            <a:off x="4215384" y="1417319"/>
            <a:ext cx="91441" cy="713233"/>
          </a:xfrm>
          <a:prstGeom prst="rect">
            <a:avLst/>
          </a:prstGeom>
          <a:solidFill>
            <a:srgbClr val="E6834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1" name="TextBox 59"/>
          <p:cNvSpPr txBox="1"/>
          <p:nvPr/>
        </p:nvSpPr>
        <p:spPr>
          <a:xfrm>
            <a:off x="4398264" y="1453896"/>
            <a:ext cx="237744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02A43"/>
                </a:solidFill>
              </a:defRPr>
            </a:lvl1pPr>
          </a:lstStyle>
          <a:p>
            <a:pPr/>
            <a:r>
              <a:t>Personalization Agent</a:t>
            </a:r>
          </a:p>
        </p:txBody>
      </p:sp>
      <p:sp>
        <p:nvSpPr>
          <p:cNvPr id="1372" name="TextBox 60"/>
          <p:cNvSpPr txBox="1"/>
          <p:nvPr/>
        </p:nvSpPr>
        <p:spPr>
          <a:xfrm>
            <a:off x="4398264" y="1783079"/>
            <a:ext cx="237744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900">
                <a:solidFill>
                  <a:srgbClr val="36454F"/>
                </a:solidFill>
              </a:defRPr>
            </a:lvl1pPr>
          </a:lstStyle>
          <a:p>
            <a:pPr/>
            <a:r>
              <a:t>Marketing</a:t>
            </a:r>
          </a:p>
        </p:txBody>
      </p:sp>
      <p:sp>
        <p:nvSpPr>
          <p:cNvPr id="1373" name="Oval 61"/>
          <p:cNvSpPr/>
          <p:nvPr/>
        </p:nvSpPr>
        <p:spPr>
          <a:xfrm>
            <a:off x="7095743" y="1490472"/>
            <a:ext cx="274321" cy="274321"/>
          </a:xfrm>
          <a:prstGeom prst="ellipse">
            <a:avLst/>
          </a:prstGeom>
          <a:solidFill>
            <a:srgbClr val="6E8B4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4" name="TextBox 62"/>
          <p:cNvSpPr txBox="1"/>
          <p:nvPr/>
        </p:nvSpPr>
        <p:spPr>
          <a:xfrm>
            <a:off x="7095743" y="1513376"/>
            <a:ext cx="2743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L</a:t>
            </a:r>
          </a:p>
        </p:txBody>
      </p:sp>
      <p:sp>
        <p:nvSpPr>
          <p:cNvPr id="1375" name="Rounded Rectangle 63"/>
          <p:cNvSpPr/>
          <p:nvPr/>
        </p:nvSpPr>
        <p:spPr>
          <a:xfrm>
            <a:off x="7443216" y="1490472"/>
            <a:ext cx="329185" cy="274321"/>
          </a:xfrm>
          <a:prstGeom prst="roundRect">
            <a:avLst>
              <a:gd name="adj" fmla="val 16667"/>
            </a:avLst>
          </a:prstGeom>
          <a:solidFill>
            <a:srgbClr val="E6834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6" name="TextBox 64"/>
          <p:cNvSpPr txBox="1"/>
          <p:nvPr/>
        </p:nvSpPr>
        <p:spPr>
          <a:xfrm>
            <a:off x="7443216" y="1524675"/>
            <a:ext cx="329185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1377" name="Rectangle 65"/>
          <p:cNvSpPr/>
          <p:nvPr/>
        </p:nvSpPr>
        <p:spPr>
          <a:xfrm>
            <a:off x="4215384" y="2185416"/>
            <a:ext cx="3657601" cy="7132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8" name="Rectangle 66"/>
          <p:cNvSpPr/>
          <p:nvPr/>
        </p:nvSpPr>
        <p:spPr>
          <a:xfrm>
            <a:off x="4215384" y="2185416"/>
            <a:ext cx="91441" cy="713233"/>
          </a:xfrm>
          <a:prstGeom prst="rect">
            <a:avLst/>
          </a:prstGeom>
          <a:solidFill>
            <a:srgbClr val="6E8B4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9" name="TextBox 67"/>
          <p:cNvSpPr txBox="1"/>
          <p:nvPr/>
        </p:nvSpPr>
        <p:spPr>
          <a:xfrm>
            <a:off x="4398264" y="2221992"/>
            <a:ext cx="237744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02A43"/>
                </a:solidFill>
              </a:defRPr>
            </a:lvl1pPr>
          </a:lstStyle>
          <a:p>
            <a:pPr/>
            <a:r>
              <a:t>Failure-Mode Agent</a:t>
            </a:r>
          </a:p>
        </p:txBody>
      </p:sp>
      <p:sp>
        <p:nvSpPr>
          <p:cNvPr id="1380" name="TextBox 68"/>
          <p:cNvSpPr txBox="1"/>
          <p:nvPr/>
        </p:nvSpPr>
        <p:spPr>
          <a:xfrm>
            <a:off x="4398264" y="2551176"/>
            <a:ext cx="237744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900">
                <a:solidFill>
                  <a:srgbClr val="36454F"/>
                </a:solidFill>
              </a:defRPr>
            </a:lvl1pPr>
          </a:lstStyle>
          <a:p>
            <a:pPr/>
            <a:r>
              <a:t>Service</a:t>
            </a:r>
          </a:p>
        </p:txBody>
      </p:sp>
      <p:sp>
        <p:nvSpPr>
          <p:cNvPr id="1381" name="Oval 69"/>
          <p:cNvSpPr/>
          <p:nvPr/>
        </p:nvSpPr>
        <p:spPr>
          <a:xfrm>
            <a:off x="7095743" y="2258567"/>
            <a:ext cx="274321" cy="274321"/>
          </a:xfrm>
          <a:prstGeom prst="ellipse">
            <a:avLst/>
          </a:prstGeom>
          <a:solidFill>
            <a:srgbClr val="E6834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2" name="TextBox 70"/>
          <p:cNvSpPr txBox="1"/>
          <p:nvPr/>
        </p:nvSpPr>
        <p:spPr>
          <a:xfrm>
            <a:off x="7095743" y="2281472"/>
            <a:ext cx="2743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M</a:t>
            </a:r>
          </a:p>
        </p:txBody>
      </p:sp>
      <p:sp>
        <p:nvSpPr>
          <p:cNvPr id="1383" name="Rounded Rectangle 71"/>
          <p:cNvSpPr/>
          <p:nvPr/>
        </p:nvSpPr>
        <p:spPr>
          <a:xfrm>
            <a:off x="7443216" y="2258567"/>
            <a:ext cx="329185" cy="274321"/>
          </a:xfrm>
          <a:prstGeom prst="roundRect">
            <a:avLst>
              <a:gd name="adj" fmla="val 16667"/>
            </a:avLst>
          </a:prstGeom>
          <a:solidFill>
            <a:srgbClr val="6E8B4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4" name="TextBox 72"/>
          <p:cNvSpPr txBox="1"/>
          <p:nvPr/>
        </p:nvSpPr>
        <p:spPr>
          <a:xfrm>
            <a:off x="7443216" y="2292771"/>
            <a:ext cx="329185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1385" name="Rectangle 73"/>
          <p:cNvSpPr/>
          <p:nvPr/>
        </p:nvSpPr>
        <p:spPr>
          <a:xfrm>
            <a:off x="4215384" y="2953511"/>
            <a:ext cx="3657601" cy="7132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6" name="Rectangle 74"/>
          <p:cNvSpPr/>
          <p:nvPr/>
        </p:nvSpPr>
        <p:spPr>
          <a:xfrm>
            <a:off x="4215384" y="2953511"/>
            <a:ext cx="91441" cy="713233"/>
          </a:xfrm>
          <a:prstGeom prst="rect">
            <a:avLst/>
          </a:prstGeom>
          <a:solidFill>
            <a:srgbClr val="6E8B4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7" name="TextBox 75"/>
          <p:cNvSpPr txBox="1"/>
          <p:nvPr/>
        </p:nvSpPr>
        <p:spPr>
          <a:xfrm>
            <a:off x="4398264" y="2990088"/>
            <a:ext cx="237744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02A43"/>
                </a:solidFill>
              </a:defRPr>
            </a:lvl1pPr>
          </a:lstStyle>
          <a:p>
            <a:pPr/>
            <a:r>
              <a:t>Service Booking Agent</a:t>
            </a:r>
          </a:p>
        </p:txBody>
      </p:sp>
      <p:sp>
        <p:nvSpPr>
          <p:cNvPr id="1388" name="TextBox 76"/>
          <p:cNvSpPr txBox="1"/>
          <p:nvPr/>
        </p:nvSpPr>
        <p:spPr>
          <a:xfrm>
            <a:off x="4398264" y="3319271"/>
            <a:ext cx="237744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900">
                <a:solidFill>
                  <a:srgbClr val="36454F"/>
                </a:solidFill>
              </a:defRPr>
            </a:lvl1pPr>
          </a:lstStyle>
          <a:p>
            <a:pPr/>
            <a:r>
              <a:t>Service</a:t>
            </a:r>
          </a:p>
        </p:txBody>
      </p:sp>
      <p:sp>
        <p:nvSpPr>
          <p:cNvPr id="1389" name="Oval 77"/>
          <p:cNvSpPr/>
          <p:nvPr/>
        </p:nvSpPr>
        <p:spPr>
          <a:xfrm>
            <a:off x="7095743" y="3026664"/>
            <a:ext cx="274321" cy="274321"/>
          </a:xfrm>
          <a:prstGeom prst="ellipse">
            <a:avLst/>
          </a:prstGeom>
          <a:solidFill>
            <a:srgbClr val="6E8B4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0" name="TextBox 78"/>
          <p:cNvSpPr txBox="1"/>
          <p:nvPr/>
        </p:nvSpPr>
        <p:spPr>
          <a:xfrm>
            <a:off x="7095743" y="3049568"/>
            <a:ext cx="2743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L</a:t>
            </a:r>
          </a:p>
        </p:txBody>
      </p:sp>
      <p:sp>
        <p:nvSpPr>
          <p:cNvPr id="1391" name="Rounded Rectangle 79"/>
          <p:cNvSpPr/>
          <p:nvPr/>
        </p:nvSpPr>
        <p:spPr>
          <a:xfrm>
            <a:off x="7443216" y="3026664"/>
            <a:ext cx="329185" cy="274321"/>
          </a:xfrm>
          <a:prstGeom prst="roundRect">
            <a:avLst>
              <a:gd name="adj" fmla="val 16667"/>
            </a:avLst>
          </a:prstGeom>
          <a:solidFill>
            <a:srgbClr val="6E8B4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2" name="TextBox 80"/>
          <p:cNvSpPr txBox="1"/>
          <p:nvPr/>
        </p:nvSpPr>
        <p:spPr>
          <a:xfrm>
            <a:off x="7443216" y="3060867"/>
            <a:ext cx="329185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1393" name="Rectangle 81"/>
          <p:cNvSpPr/>
          <p:nvPr/>
        </p:nvSpPr>
        <p:spPr>
          <a:xfrm>
            <a:off x="4215384" y="3721608"/>
            <a:ext cx="3657601" cy="7132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4" name="Rectangle 82"/>
          <p:cNvSpPr/>
          <p:nvPr/>
        </p:nvSpPr>
        <p:spPr>
          <a:xfrm>
            <a:off x="4215384" y="3721608"/>
            <a:ext cx="91441" cy="713233"/>
          </a:xfrm>
          <a:prstGeom prst="rect">
            <a:avLst/>
          </a:prstGeom>
          <a:solidFill>
            <a:srgbClr val="6E8B4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5" name="TextBox 83"/>
          <p:cNvSpPr txBox="1"/>
          <p:nvPr/>
        </p:nvSpPr>
        <p:spPr>
          <a:xfrm>
            <a:off x="4398264" y="3758184"/>
            <a:ext cx="237744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02A43"/>
                </a:solidFill>
              </a:defRPr>
            </a:lvl1pPr>
          </a:lstStyle>
          <a:p>
            <a:pPr/>
            <a:r>
              <a:t>Inventory Forecast Agent</a:t>
            </a:r>
          </a:p>
        </p:txBody>
      </p:sp>
      <p:sp>
        <p:nvSpPr>
          <p:cNvPr id="1396" name="TextBox 84"/>
          <p:cNvSpPr txBox="1"/>
          <p:nvPr/>
        </p:nvSpPr>
        <p:spPr>
          <a:xfrm>
            <a:off x="4398264" y="4087367"/>
            <a:ext cx="237744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900">
                <a:solidFill>
                  <a:srgbClr val="36454F"/>
                </a:solidFill>
              </a:defRPr>
            </a:lvl1pPr>
          </a:lstStyle>
          <a:p>
            <a:pPr/>
            <a:r>
              <a:t>Inventory</a:t>
            </a:r>
          </a:p>
        </p:txBody>
      </p:sp>
      <p:sp>
        <p:nvSpPr>
          <p:cNvPr id="1397" name="Oval 85"/>
          <p:cNvSpPr/>
          <p:nvPr/>
        </p:nvSpPr>
        <p:spPr>
          <a:xfrm>
            <a:off x="7095743" y="3794759"/>
            <a:ext cx="274321" cy="274321"/>
          </a:xfrm>
          <a:prstGeom prst="ellipse">
            <a:avLst/>
          </a:prstGeom>
          <a:solidFill>
            <a:srgbClr val="6E8B4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8" name="TextBox 86"/>
          <p:cNvSpPr txBox="1"/>
          <p:nvPr/>
        </p:nvSpPr>
        <p:spPr>
          <a:xfrm>
            <a:off x="7095743" y="3817664"/>
            <a:ext cx="2743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L</a:t>
            </a:r>
          </a:p>
        </p:txBody>
      </p:sp>
      <p:sp>
        <p:nvSpPr>
          <p:cNvPr id="1399" name="Rounded Rectangle 87"/>
          <p:cNvSpPr/>
          <p:nvPr/>
        </p:nvSpPr>
        <p:spPr>
          <a:xfrm>
            <a:off x="7443216" y="3794759"/>
            <a:ext cx="329185" cy="274321"/>
          </a:xfrm>
          <a:prstGeom prst="roundRect">
            <a:avLst>
              <a:gd name="adj" fmla="val 16667"/>
            </a:avLst>
          </a:prstGeom>
          <a:solidFill>
            <a:srgbClr val="6E8B4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0" name="TextBox 88"/>
          <p:cNvSpPr txBox="1"/>
          <p:nvPr/>
        </p:nvSpPr>
        <p:spPr>
          <a:xfrm>
            <a:off x="7443216" y="3828963"/>
            <a:ext cx="329185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1401" name="Rectangle 89"/>
          <p:cNvSpPr/>
          <p:nvPr/>
        </p:nvSpPr>
        <p:spPr>
          <a:xfrm>
            <a:off x="4215384" y="4489703"/>
            <a:ext cx="3657601" cy="7132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2" name="Rectangle 90"/>
          <p:cNvSpPr/>
          <p:nvPr/>
        </p:nvSpPr>
        <p:spPr>
          <a:xfrm>
            <a:off x="4215384" y="4489703"/>
            <a:ext cx="91441" cy="713233"/>
          </a:xfrm>
          <a:prstGeom prst="rect">
            <a:avLst/>
          </a:prstGeom>
          <a:solidFill>
            <a:srgbClr val="6E8B4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3" name="TextBox 91"/>
          <p:cNvSpPr txBox="1"/>
          <p:nvPr/>
        </p:nvSpPr>
        <p:spPr>
          <a:xfrm>
            <a:off x="4398264" y="4526279"/>
            <a:ext cx="237744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02A43"/>
                </a:solidFill>
              </a:defRPr>
            </a:lvl1pPr>
          </a:lstStyle>
          <a:p>
            <a:pPr/>
            <a:r>
              <a:t>Aging Risk Scorer</a:t>
            </a:r>
          </a:p>
        </p:txBody>
      </p:sp>
      <p:sp>
        <p:nvSpPr>
          <p:cNvPr id="1404" name="TextBox 92"/>
          <p:cNvSpPr txBox="1"/>
          <p:nvPr/>
        </p:nvSpPr>
        <p:spPr>
          <a:xfrm>
            <a:off x="4398264" y="4855464"/>
            <a:ext cx="237744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900">
                <a:solidFill>
                  <a:srgbClr val="36454F"/>
                </a:solidFill>
              </a:defRPr>
            </a:lvl1pPr>
          </a:lstStyle>
          <a:p>
            <a:pPr/>
            <a:r>
              <a:t>Inventory</a:t>
            </a:r>
          </a:p>
        </p:txBody>
      </p:sp>
      <p:sp>
        <p:nvSpPr>
          <p:cNvPr id="1405" name="Oval 93"/>
          <p:cNvSpPr/>
          <p:nvPr/>
        </p:nvSpPr>
        <p:spPr>
          <a:xfrm>
            <a:off x="7095743" y="4562855"/>
            <a:ext cx="274321" cy="274321"/>
          </a:xfrm>
          <a:prstGeom prst="ellipse">
            <a:avLst/>
          </a:prstGeom>
          <a:solidFill>
            <a:srgbClr val="6E8B4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6" name="TextBox 94"/>
          <p:cNvSpPr txBox="1"/>
          <p:nvPr/>
        </p:nvSpPr>
        <p:spPr>
          <a:xfrm>
            <a:off x="7095743" y="4585760"/>
            <a:ext cx="2743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L</a:t>
            </a:r>
          </a:p>
        </p:txBody>
      </p:sp>
      <p:sp>
        <p:nvSpPr>
          <p:cNvPr id="1407" name="Rounded Rectangle 95"/>
          <p:cNvSpPr/>
          <p:nvPr/>
        </p:nvSpPr>
        <p:spPr>
          <a:xfrm>
            <a:off x="7443216" y="4562855"/>
            <a:ext cx="329185" cy="274321"/>
          </a:xfrm>
          <a:prstGeom prst="roundRect">
            <a:avLst>
              <a:gd name="adj" fmla="val 16667"/>
            </a:avLst>
          </a:prstGeom>
          <a:solidFill>
            <a:srgbClr val="6E8B4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8" name="TextBox 96"/>
          <p:cNvSpPr txBox="1"/>
          <p:nvPr/>
        </p:nvSpPr>
        <p:spPr>
          <a:xfrm>
            <a:off x="7443216" y="4597059"/>
            <a:ext cx="329185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1409" name="Rectangle 97"/>
          <p:cNvSpPr/>
          <p:nvPr/>
        </p:nvSpPr>
        <p:spPr>
          <a:xfrm>
            <a:off x="4215384" y="5257800"/>
            <a:ext cx="3657601" cy="7132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0" name="Rectangle 98"/>
          <p:cNvSpPr/>
          <p:nvPr/>
        </p:nvSpPr>
        <p:spPr>
          <a:xfrm>
            <a:off x="4215384" y="5257800"/>
            <a:ext cx="91441" cy="713232"/>
          </a:xfrm>
          <a:prstGeom prst="rect">
            <a:avLst/>
          </a:prstGeom>
          <a:solidFill>
            <a:srgbClr val="6E8B4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1" name="TextBox 99"/>
          <p:cNvSpPr txBox="1"/>
          <p:nvPr/>
        </p:nvSpPr>
        <p:spPr>
          <a:xfrm>
            <a:off x="4398264" y="5294376"/>
            <a:ext cx="237744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02A43"/>
                </a:solidFill>
              </a:defRPr>
            </a:lvl1pPr>
          </a:lstStyle>
          <a:p>
            <a:pPr/>
            <a:r>
              <a:t>Journey Orchestrator</a:t>
            </a:r>
          </a:p>
        </p:txBody>
      </p:sp>
      <p:sp>
        <p:nvSpPr>
          <p:cNvPr id="1412" name="TextBox 100"/>
          <p:cNvSpPr txBox="1"/>
          <p:nvPr/>
        </p:nvSpPr>
        <p:spPr>
          <a:xfrm>
            <a:off x="4398264" y="5623559"/>
            <a:ext cx="237744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900">
                <a:solidFill>
                  <a:srgbClr val="36454F"/>
                </a:solidFill>
              </a:defRPr>
            </a:lvl1pPr>
          </a:lstStyle>
          <a:p>
            <a:pPr/>
            <a:r>
              <a:t>Marketing</a:t>
            </a:r>
          </a:p>
        </p:txBody>
      </p:sp>
      <p:sp>
        <p:nvSpPr>
          <p:cNvPr id="1413" name="Oval 101"/>
          <p:cNvSpPr/>
          <p:nvPr/>
        </p:nvSpPr>
        <p:spPr>
          <a:xfrm>
            <a:off x="7095743" y="5330952"/>
            <a:ext cx="274321" cy="274321"/>
          </a:xfrm>
          <a:prstGeom prst="ellipse">
            <a:avLst/>
          </a:prstGeom>
          <a:solidFill>
            <a:srgbClr val="E6834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4" name="TextBox 102"/>
          <p:cNvSpPr txBox="1"/>
          <p:nvPr/>
        </p:nvSpPr>
        <p:spPr>
          <a:xfrm>
            <a:off x="7095743" y="5353856"/>
            <a:ext cx="2743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M</a:t>
            </a:r>
          </a:p>
        </p:txBody>
      </p:sp>
      <p:sp>
        <p:nvSpPr>
          <p:cNvPr id="1415" name="Rounded Rectangle 103"/>
          <p:cNvSpPr/>
          <p:nvPr/>
        </p:nvSpPr>
        <p:spPr>
          <a:xfrm>
            <a:off x="7443216" y="5330952"/>
            <a:ext cx="329185" cy="274321"/>
          </a:xfrm>
          <a:prstGeom prst="roundRect">
            <a:avLst>
              <a:gd name="adj" fmla="val 16667"/>
            </a:avLst>
          </a:prstGeom>
          <a:solidFill>
            <a:srgbClr val="6E8B4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6" name="TextBox 104"/>
          <p:cNvSpPr txBox="1"/>
          <p:nvPr/>
        </p:nvSpPr>
        <p:spPr>
          <a:xfrm>
            <a:off x="7443216" y="5365155"/>
            <a:ext cx="329185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1417" name="Rectangle 105"/>
          <p:cNvSpPr/>
          <p:nvPr/>
        </p:nvSpPr>
        <p:spPr>
          <a:xfrm>
            <a:off x="7927847" y="1417319"/>
            <a:ext cx="3657601" cy="7132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8" name="Rectangle 106"/>
          <p:cNvSpPr/>
          <p:nvPr/>
        </p:nvSpPr>
        <p:spPr>
          <a:xfrm>
            <a:off x="7927847" y="1417319"/>
            <a:ext cx="91441" cy="713233"/>
          </a:xfrm>
          <a:prstGeom prst="rect">
            <a:avLst/>
          </a:prstGeom>
          <a:solidFill>
            <a:srgbClr val="6E8B4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9" name="TextBox 107"/>
          <p:cNvSpPr txBox="1"/>
          <p:nvPr/>
        </p:nvSpPr>
        <p:spPr>
          <a:xfrm>
            <a:off x="8110728" y="1453896"/>
            <a:ext cx="237744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02A43"/>
                </a:solidFill>
              </a:defRPr>
            </a:lvl1pPr>
          </a:lstStyle>
          <a:p>
            <a:pPr/>
            <a:r>
              <a:t>Recall &amp; Campaign Agent</a:t>
            </a:r>
          </a:p>
        </p:txBody>
      </p:sp>
      <p:sp>
        <p:nvSpPr>
          <p:cNvPr id="1420" name="TextBox 108"/>
          <p:cNvSpPr txBox="1"/>
          <p:nvPr/>
        </p:nvSpPr>
        <p:spPr>
          <a:xfrm>
            <a:off x="8110728" y="1783079"/>
            <a:ext cx="237744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900">
                <a:solidFill>
                  <a:srgbClr val="36454F"/>
                </a:solidFill>
              </a:defRPr>
            </a:lvl1pPr>
          </a:lstStyle>
          <a:p>
            <a:pPr/>
            <a:r>
              <a:t>Service</a:t>
            </a:r>
          </a:p>
        </p:txBody>
      </p:sp>
      <p:sp>
        <p:nvSpPr>
          <p:cNvPr id="1421" name="Oval 109"/>
          <p:cNvSpPr/>
          <p:nvPr/>
        </p:nvSpPr>
        <p:spPr>
          <a:xfrm>
            <a:off x="10808207" y="1490472"/>
            <a:ext cx="274321" cy="274321"/>
          </a:xfrm>
          <a:prstGeom prst="ellipse">
            <a:avLst/>
          </a:prstGeom>
          <a:solidFill>
            <a:srgbClr val="6E8B4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2" name="TextBox 110"/>
          <p:cNvSpPr txBox="1"/>
          <p:nvPr/>
        </p:nvSpPr>
        <p:spPr>
          <a:xfrm>
            <a:off x="10808207" y="1513376"/>
            <a:ext cx="2743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L</a:t>
            </a:r>
          </a:p>
        </p:txBody>
      </p:sp>
      <p:sp>
        <p:nvSpPr>
          <p:cNvPr id="1423" name="Rounded Rectangle 111"/>
          <p:cNvSpPr/>
          <p:nvPr/>
        </p:nvSpPr>
        <p:spPr>
          <a:xfrm>
            <a:off x="11155680" y="1490472"/>
            <a:ext cx="329185" cy="274321"/>
          </a:xfrm>
          <a:prstGeom prst="roundRect">
            <a:avLst>
              <a:gd name="adj" fmla="val 16667"/>
            </a:avLst>
          </a:prstGeom>
          <a:solidFill>
            <a:srgbClr val="6E8B4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4" name="TextBox 112"/>
          <p:cNvSpPr txBox="1"/>
          <p:nvPr/>
        </p:nvSpPr>
        <p:spPr>
          <a:xfrm>
            <a:off x="11155680" y="1524675"/>
            <a:ext cx="329185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1425" name="Rectangle 113"/>
          <p:cNvSpPr/>
          <p:nvPr/>
        </p:nvSpPr>
        <p:spPr>
          <a:xfrm>
            <a:off x="7927847" y="2185416"/>
            <a:ext cx="3657601" cy="7132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6" name="Rectangle 114"/>
          <p:cNvSpPr/>
          <p:nvPr/>
        </p:nvSpPr>
        <p:spPr>
          <a:xfrm>
            <a:off x="7927847" y="2185416"/>
            <a:ext cx="91441" cy="713233"/>
          </a:xfrm>
          <a:prstGeom prst="rect">
            <a:avLst/>
          </a:prstGeom>
          <a:solidFill>
            <a:srgbClr val="1F4D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7" name="TextBox 115"/>
          <p:cNvSpPr txBox="1"/>
          <p:nvPr/>
        </p:nvSpPr>
        <p:spPr>
          <a:xfrm>
            <a:off x="8110728" y="2221992"/>
            <a:ext cx="237744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02A43"/>
                </a:solidFill>
              </a:defRPr>
            </a:lvl1pPr>
          </a:lstStyle>
          <a:p>
            <a:pPr/>
            <a:r>
              <a:t>Price-Adjustment Agent</a:t>
            </a:r>
          </a:p>
        </p:txBody>
      </p:sp>
      <p:sp>
        <p:nvSpPr>
          <p:cNvPr id="1428" name="TextBox 116"/>
          <p:cNvSpPr txBox="1"/>
          <p:nvPr/>
        </p:nvSpPr>
        <p:spPr>
          <a:xfrm>
            <a:off x="8110728" y="2551176"/>
            <a:ext cx="237744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900">
                <a:solidFill>
                  <a:srgbClr val="36454F"/>
                </a:solidFill>
              </a:defRPr>
            </a:lvl1pPr>
          </a:lstStyle>
          <a:p>
            <a:pPr/>
            <a:r>
              <a:t>Inventory</a:t>
            </a:r>
          </a:p>
        </p:txBody>
      </p:sp>
      <p:sp>
        <p:nvSpPr>
          <p:cNvPr id="1429" name="Oval 117"/>
          <p:cNvSpPr/>
          <p:nvPr/>
        </p:nvSpPr>
        <p:spPr>
          <a:xfrm>
            <a:off x="10808207" y="2258567"/>
            <a:ext cx="274321" cy="274321"/>
          </a:xfrm>
          <a:prstGeom prst="ellipse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0" name="TextBox 118"/>
          <p:cNvSpPr txBox="1"/>
          <p:nvPr/>
        </p:nvSpPr>
        <p:spPr>
          <a:xfrm>
            <a:off x="10808207" y="2281472"/>
            <a:ext cx="2743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H</a:t>
            </a:r>
          </a:p>
        </p:txBody>
      </p:sp>
      <p:sp>
        <p:nvSpPr>
          <p:cNvPr id="1431" name="Rounded Rectangle 119"/>
          <p:cNvSpPr/>
          <p:nvPr/>
        </p:nvSpPr>
        <p:spPr>
          <a:xfrm>
            <a:off x="11155680" y="2258567"/>
            <a:ext cx="329185" cy="274321"/>
          </a:xfrm>
          <a:prstGeom prst="roundRect">
            <a:avLst>
              <a:gd name="adj" fmla="val 16667"/>
            </a:avLst>
          </a:prstGeom>
          <a:solidFill>
            <a:srgbClr val="1F4D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2" name="TextBox 120"/>
          <p:cNvSpPr txBox="1"/>
          <p:nvPr/>
        </p:nvSpPr>
        <p:spPr>
          <a:xfrm>
            <a:off x="11155680" y="2292771"/>
            <a:ext cx="329185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1433" name="Rectangle 121"/>
          <p:cNvSpPr/>
          <p:nvPr/>
        </p:nvSpPr>
        <p:spPr>
          <a:xfrm>
            <a:off x="7927847" y="2953511"/>
            <a:ext cx="3657601" cy="7132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4" name="Rectangle 122"/>
          <p:cNvSpPr/>
          <p:nvPr/>
        </p:nvSpPr>
        <p:spPr>
          <a:xfrm>
            <a:off x="7927847" y="2953511"/>
            <a:ext cx="91441" cy="713233"/>
          </a:xfrm>
          <a:prstGeom prst="rect">
            <a:avLst/>
          </a:prstGeom>
          <a:solidFill>
            <a:srgbClr val="1F4D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5" name="TextBox 123"/>
          <p:cNvSpPr txBox="1"/>
          <p:nvPr/>
        </p:nvSpPr>
        <p:spPr>
          <a:xfrm>
            <a:off x="8110728" y="2990088"/>
            <a:ext cx="237744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02A43"/>
                </a:solidFill>
              </a:defRPr>
            </a:lvl1pPr>
          </a:lstStyle>
          <a:p>
            <a:pPr/>
            <a:r>
              <a:t>Rebalance Agent</a:t>
            </a:r>
          </a:p>
        </p:txBody>
      </p:sp>
      <p:sp>
        <p:nvSpPr>
          <p:cNvPr id="1436" name="TextBox 124"/>
          <p:cNvSpPr txBox="1"/>
          <p:nvPr/>
        </p:nvSpPr>
        <p:spPr>
          <a:xfrm>
            <a:off x="8110728" y="3319271"/>
            <a:ext cx="237744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900">
                <a:solidFill>
                  <a:srgbClr val="36454F"/>
                </a:solidFill>
              </a:defRPr>
            </a:lvl1pPr>
          </a:lstStyle>
          <a:p>
            <a:pPr/>
            <a:r>
              <a:t>Inventory</a:t>
            </a:r>
          </a:p>
        </p:txBody>
      </p:sp>
      <p:sp>
        <p:nvSpPr>
          <p:cNvPr id="1437" name="Oval 125"/>
          <p:cNvSpPr/>
          <p:nvPr/>
        </p:nvSpPr>
        <p:spPr>
          <a:xfrm>
            <a:off x="10808207" y="3026664"/>
            <a:ext cx="274321" cy="274321"/>
          </a:xfrm>
          <a:prstGeom prst="ellipse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8" name="TextBox 126"/>
          <p:cNvSpPr txBox="1"/>
          <p:nvPr/>
        </p:nvSpPr>
        <p:spPr>
          <a:xfrm>
            <a:off x="10808207" y="3049568"/>
            <a:ext cx="2743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H</a:t>
            </a:r>
          </a:p>
        </p:txBody>
      </p:sp>
      <p:sp>
        <p:nvSpPr>
          <p:cNvPr id="1439" name="Rounded Rectangle 127"/>
          <p:cNvSpPr/>
          <p:nvPr/>
        </p:nvSpPr>
        <p:spPr>
          <a:xfrm>
            <a:off x="11155680" y="3026664"/>
            <a:ext cx="329185" cy="274321"/>
          </a:xfrm>
          <a:prstGeom prst="roundRect">
            <a:avLst>
              <a:gd name="adj" fmla="val 16667"/>
            </a:avLst>
          </a:prstGeom>
          <a:solidFill>
            <a:srgbClr val="1F4D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0" name="TextBox 128"/>
          <p:cNvSpPr txBox="1"/>
          <p:nvPr/>
        </p:nvSpPr>
        <p:spPr>
          <a:xfrm>
            <a:off x="11155680" y="3060867"/>
            <a:ext cx="329185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1441" name="Rectangle 129"/>
          <p:cNvSpPr/>
          <p:nvPr/>
        </p:nvSpPr>
        <p:spPr>
          <a:xfrm>
            <a:off x="7927847" y="3721608"/>
            <a:ext cx="3657601" cy="7132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2" name="Rectangle 130"/>
          <p:cNvSpPr/>
          <p:nvPr/>
        </p:nvSpPr>
        <p:spPr>
          <a:xfrm>
            <a:off x="7927847" y="3721608"/>
            <a:ext cx="91441" cy="713233"/>
          </a:xfrm>
          <a:prstGeom prst="rect">
            <a:avLst/>
          </a:prstGeom>
          <a:solidFill>
            <a:srgbClr val="1F4D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3" name="TextBox 131"/>
          <p:cNvSpPr txBox="1"/>
          <p:nvPr/>
        </p:nvSpPr>
        <p:spPr>
          <a:xfrm>
            <a:off x="8110728" y="3758184"/>
            <a:ext cx="237744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02A43"/>
                </a:solidFill>
              </a:defRPr>
            </a:lvl1pPr>
          </a:lstStyle>
          <a:p>
            <a:pPr/>
            <a:r>
              <a:t>Finance Close Agent</a:t>
            </a:r>
          </a:p>
        </p:txBody>
      </p:sp>
      <p:sp>
        <p:nvSpPr>
          <p:cNvPr id="1444" name="TextBox 132"/>
          <p:cNvSpPr txBox="1"/>
          <p:nvPr/>
        </p:nvSpPr>
        <p:spPr>
          <a:xfrm>
            <a:off x="8110728" y="4087367"/>
            <a:ext cx="237744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900">
                <a:solidFill>
                  <a:srgbClr val="36454F"/>
                </a:solidFill>
              </a:defRPr>
            </a:lvl1pPr>
          </a:lstStyle>
          <a:p>
            <a:pPr/>
            <a:r>
              <a:t>Finance</a:t>
            </a:r>
          </a:p>
        </p:txBody>
      </p:sp>
      <p:sp>
        <p:nvSpPr>
          <p:cNvPr id="1445" name="Oval 133"/>
          <p:cNvSpPr/>
          <p:nvPr/>
        </p:nvSpPr>
        <p:spPr>
          <a:xfrm>
            <a:off x="10808207" y="3794759"/>
            <a:ext cx="274321" cy="274321"/>
          </a:xfrm>
          <a:prstGeom prst="ellipse">
            <a:avLst/>
          </a:prstGeom>
          <a:solidFill>
            <a:srgbClr val="E6834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6" name="TextBox 134"/>
          <p:cNvSpPr txBox="1"/>
          <p:nvPr/>
        </p:nvSpPr>
        <p:spPr>
          <a:xfrm>
            <a:off x="10808207" y="3817664"/>
            <a:ext cx="2743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M</a:t>
            </a:r>
          </a:p>
        </p:txBody>
      </p:sp>
      <p:sp>
        <p:nvSpPr>
          <p:cNvPr id="1447" name="Rounded Rectangle 135"/>
          <p:cNvSpPr/>
          <p:nvPr/>
        </p:nvSpPr>
        <p:spPr>
          <a:xfrm>
            <a:off x="11155680" y="3794759"/>
            <a:ext cx="329185" cy="274321"/>
          </a:xfrm>
          <a:prstGeom prst="roundRect">
            <a:avLst>
              <a:gd name="adj" fmla="val 16667"/>
            </a:avLst>
          </a:prstGeom>
          <a:solidFill>
            <a:srgbClr val="1F4D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8" name="TextBox 136"/>
          <p:cNvSpPr txBox="1"/>
          <p:nvPr/>
        </p:nvSpPr>
        <p:spPr>
          <a:xfrm>
            <a:off x="11155680" y="3828963"/>
            <a:ext cx="329185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1449" name="Rectangle 137"/>
          <p:cNvSpPr/>
          <p:nvPr/>
        </p:nvSpPr>
        <p:spPr>
          <a:xfrm>
            <a:off x="7927847" y="4489703"/>
            <a:ext cx="3657601" cy="7132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0" name="Rectangle 138"/>
          <p:cNvSpPr/>
          <p:nvPr/>
        </p:nvSpPr>
        <p:spPr>
          <a:xfrm>
            <a:off x="7927847" y="4489703"/>
            <a:ext cx="91441" cy="713233"/>
          </a:xfrm>
          <a:prstGeom prst="rect">
            <a:avLst/>
          </a:prstGeom>
          <a:solidFill>
            <a:srgbClr val="1F4D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1" name="TextBox 139"/>
          <p:cNvSpPr txBox="1"/>
          <p:nvPr/>
        </p:nvSpPr>
        <p:spPr>
          <a:xfrm>
            <a:off x="8110728" y="4526279"/>
            <a:ext cx="237744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02A43"/>
                </a:solidFill>
              </a:defRPr>
            </a:lvl1pPr>
          </a:lstStyle>
          <a:p>
            <a:pPr/>
            <a:r>
              <a:t>RFx Drafting Agent</a:t>
            </a:r>
          </a:p>
        </p:txBody>
      </p:sp>
      <p:sp>
        <p:nvSpPr>
          <p:cNvPr id="1452" name="TextBox 140"/>
          <p:cNvSpPr txBox="1"/>
          <p:nvPr/>
        </p:nvSpPr>
        <p:spPr>
          <a:xfrm>
            <a:off x="8110728" y="4855464"/>
            <a:ext cx="237744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900">
                <a:solidFill>
                  <a:srgbClr val="36454F"/>
                </a:solidFill>
              </a:defRPr>
            </a:lvl1pPr>
          </a:lstStyle>
          <a:p>
            <a:pPr/>
            <a:r>
              <a:t>Procurement</a:t>
            </a:r>
          </a:p>
        </p:txBody>
      </p:sp>
      <p:sp>
        <p:nvSpPr>
          <p:cNvPr id="1453" name="Oval 141"/>
          <p:cNvSpPr/>
          <p:nvPr/>
        </p:nvSpPr>
        <p:spPr>
          <a:xfrm>
            <a:off x="10808207" y="4562855"/>
            <a:ext cx="274321" cy="274321"/>
          </a:xfrm>
          <a:prstGeom prst="ellipse">
            <a:avLst/>
          </a:prstGeom>
          <a:solidFill>
            <a:srgbClr val="E6834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4" name="TextBox 142"/>
          <p:cNvSpPr txBox="1"/>
          <p:nvPr/>
        </p:nvSpPr>
        <p:spPr>
          <a:xfrm>
            <a:off x="10808207" y="4585760"/>
            <a:ext cx="2743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M</a:t>
            </a:r>
          </a:p>
        </p:txBody>
      </p:sp>
      <p:sp>
        <p:nvSpPr>
          <p:cNvPr id="1455" name="Rounded Rectangle 143"/>
          <p:cNvSpPr/>
          <p:nvPr/>
        </p:nvSpPr>
        <p:spPr>
          <a:xfrm>
            <a:off x="11155680" y="4562855"/>
            <a:ext cx="329185" cy="274321"/>
          </a:xfrm>
          <a:prstGeom prst="roundRect">
            <a:avLst>
              <a:gd name="adj" fmla="val 16667"/>
            </a:avLst>
          </a:prstGeom>
          <a:solidFill>
            <a:srgbClr val="1F4D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6" name="TextBox 144"/>
          <p:cNvSpPr txBox="1"/>
          <p:nvPr/>
        </p:nvSpPr>
        <p:spPr>
          <a:xfrm>
            <a:off x="11155680" y="4597059"/>
            <a:ext cx="329185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1457" name="Rectangle 145"/>
          <p:cNvSpPr/>
          <p:nvPr/>
        </p:nvSpPr>
        <p:spPr>
          <a:xfrm>
            <a:off x="7927847" y="5257800"/>
            <a:ext cx="3657601" cy="7132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8" name="Rectangle 146"/>
          <p:cNvSpPr/>
          <p:nvPr/>
        </p:nvSpPr>
        <p:spPr>
          <a:xfrm>
            <a:off x="7927847" y="5257800"/>
            <a:ext cx="91441" cy="713232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9" name="TextBox 147"/>
          <p:cNvSpPr txBox="1"/>
          <p:nvPr/>
        </p:nvSpPr>
        <p:spPr>
          <a:xfrm>
            <a:off x="8110728" y="5294376"/>
            <a:ext cx="237744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02A43"/>
                </a:solidFill>
              </a:defRPr>
            </a:lvl1pPr>
          </a:lstStyle>
          <a:p>
            <a:pPr/>
            <a:r>
              <a:t>Member Concierge Agent</a:t>
            </a:r>
          </a:p>
        </p:txBody>
      </p:sp>
      <p:sp>
        <p:nvSpPr>
          <p:cNvPr id="1460" name="TextBox 148"/>
          <p:cNvSpPr txBox="1"/>
          <p:nvPr/>
        </p:nvSpPr>
        <p:spPr>
          <a:xfrm>
            <a:off x="8110728" y="5623559"/>
            <a:ext cx="237744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900">
                <a:solidFill>
                  <a:srgbClr val="36454F"/>
                </a:solidFill>
              </a:defRPr>
            </a:lvl1pPr>
          </a:lstStyle>
          <a:p>
            <a:pPr/>
            <a:r>
              <a:t>Membership</a:t>
            </a:r>
          </a:p>
        </p:txBody>
      </p:sp>
      <p:sp>
        <p:nvSpPr>
          <p:cNvPr id="1461" name="Oval 149"/>
          <p:cNvSpPr/>
          <p:nvPr/>
        </p:nvSpPr>
        <p:spPr>
          <a:xfrm>
            <a:off x="10808207" y="5330952"/>
            <a:ext cx="274321" cy="274321"/>
          </a:xfrm>
          <a:prstGeom prst="ellipse">
            <a:avLst/>
          </a:prstGeom>
          <a:solidFill>
            <a:srgbClr val="E6834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2" name="TextBox 150"/>
          <p:cNvSpPr txBox="1"/>
          <p:nvPr/>
        </p:nvSpPr>
        <p:spPr>
          <a:xfrm>
            <a:off x="10808207" y="5353856"/>
            <a:ext cx="2743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M</a:t>
            </a:r>
          </a:p>
        </p:txBody>
      </p:sp>
      <p:sp>
        <p:nvSpPr>
          <p:cNvPr id="1463" name="Rounded Rectangle 151"/>
          <p:cNvSpPr/>
          <p:nvPr/>
        </p:nvSpPr>
        <p:spPr>
          <a:xfrm>
            <a:off x="11155680" y="5330952"/>
            <a:ext cx="329185" cy="274321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4" name="TextBox 152"/>
          <p:cNvSpPr txBox="1"/>
          <p:nvPr/>
        </p:nvSpPr>
        <p:spPr>
          <a:xfrm>
            <a:off x="11155680" y="5365155"/>
            <a:ext cx="329185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P5</a:t>
            </a:r>
          </a:p>
        </p:txBody>
      </p:sp>
      <p:sp>
        <p:nvSpPr>
          <p:cNvPr id="1465" name="TextBox 153"/>
          <p:cNvSpPr txBox="1"/>
          <p:nvPr/>
        </p:nvSpPr>
        <p:spPr>
          <a:xfrm>
            <a:off x="502919" y="6263640"/>
            <a:ext cx="1124712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900">
                <a:solidFill>
                  <a:srgbClr val="6E7780"/>
                </a:solidFill>
              </a:defRPr>
            </a:lvl1pPr>
          </a:lstStyle>
          <a:p>
            <a:pPr/>
            <a:r>
              <a:t>Risk:  L = Low (read-only or draft only) · M = Medium (reversible writes, HITL above thresholds) · H = High (HITL by default)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071B2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8" name="Rectangle 2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9" name="Rectangle 3"/>
          <p:cNvSpPr/>
          <p:nvPr/>
        </p:nvSpPr>
        <p:spPr>
          <a:xfrm>
            <a:off x="-1" y="6565392"/>
            <a:ext cx="12191697" cy="292609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0" name="TextBox 4"/>
          <p:cNvSpPr txBox="1"/>
          <p:nvPr/>
        </p:nvSpPr>
        <p:spPr>
          <a:xfrm>
            <a:off x="502919" y="731519"/>
            <a:ext cx="1097280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C1441E"/>
                </a:solidFill>
              </a:defRPr>
            </a:lvl1pPr>
          </a:lstStyle>
          <a:p>
            <a:pPr/>
            <a:r>
              <a:t>WHAT GOOD LOOKS LIKE BY 2028</a:t>
            </a:r>
          </a:p>
        </p:txBody>
      </p:sp>
      <p:sp>
        <p:nvSpPr>
          <p:cNvPr id="1471" name="TextBox 5"/>
          <p:cNvSpPr txBox="1"/>
          <p:nvPr/>
        </p:nvSpPr>
        <p:spPr>
          <a:xfrm>
            <a:off x="502919" y="1097280"/>
            <a:ext cx="10972801" cy="497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An agentic platform — owned, observable, accountable.</a:t>
            </a:r>
          </a:p>
        </p:txBody>
      </p:sp>
      <p:sp>
        <p:nvSpPr>
          <p:cNvPr id="1472" name="Rectangle 6"/>
          <p:cNvSpPr/>
          <p:nvPr/>
        </p:nvSpPr>
        <p:spPr>
          <a:xfrm>
            <a:off x="502919" y="2560320"/>
            <a:ext cx="3657601" cy="2468881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3" name="Rectangle 7"/>
          <p:cNvSpPr/>
          <p:nvPr/>
        </p:nvSpPr>
        <p:spPr>
          <a:xfrm>
            <a:off x="502919" y="2560320"/>
            <a:ext cx="3657601" cy="502920"/>
          </a:xfrm>
          <a:prstGeom prst="rect">
            <a:avLst/>
          </a:prstGeom>
          <a:solidFill>
            <a:srgbClr val="C1441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4" name="TextBox 8"/>
          <p:cNvSpPr txBox="1"/>
          <p:nvPr/>
        </p:nvSpPr>
        <p:spPr>
          <a:xfrm>
            <a:off x="685800" y="2696771"/>
            <a:ext cx="338328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FOR THE MEMBER</a:t>
            </a:r>
          </a:p>
        </p:txBody>
      </p:sp>
      <p:sp>
        <p:nvSpPr>
          <p:cNvPr id="1475" name="TextBox 9"/>
          <p:cNvSpPr txBox="1"/>
          <p:nvPr/>
        </p:nvSpPr>
        <p:spPr>
          <a:xfrm>
            <a:off x="685800" y="3200400"/>
            <a:ext cx="3383280" cy="629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F1E6CB"/>
                </a:solidFill>
              </a:defRPr>
            </a:lvl1pPr>
          </a:lstStyle>
          <a:p>
            <a:pPr/>
            <a:r>
              <a:t>Anticipated service before failure. Tailored offers that respect consent. A concierge who knows their unit, their trip, and their ESP.</a:t>
            </a:r>
          </a:p>
        </p:txBody>
      </p:sp>
      <p:sp>
        <p:nvSpPr>
          <p:cNvPr id="1476" name="Rectangle 10"/>
          <p:cNvSpPr/>
          <p:nvPr/>
        </p:nvSpPr>
        <p:spPr>
          <a:xfrm>
            <a:off x="4297679" y="2560320"/>
            <a:ext cx="3657601" cy="2468881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7" name="Rectangle 11"/>
          <p:cNvSpPr/>
          <p:nvPr/>
        </p:nvSpPr>
        <p:spPr>
          <a:xfrm>
            <a:off x="4297679" y="2560320"/>
            <a:ext cx="3657601" cy="502920"/>
          </a:xfrm>
          <a:prstGeom prst="rect">
            <a:avLst/>
          </a:prstGeom>
          <a:solidFill>
            <a:srgbClr val="E6834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8" name="TextBox 12"/>
          <p:cNvSpPr txBox="1"/>
          <p:nvPr/>
        </p:nvSpPr>
        <p:spPr>
          <a:xfrm>
            <a:off x="4480559" y="2696771"/>
            <a:ext cx="338328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FOR THE OPERATOR</a:t>
            </a:r>
          </a:p>
        </p:txBody>
      </p:sp>
      <p:sp>
        <p:nvSpPr>
          <p:cNvPr id="1479" name="TextBox 13"/>
          <p:cNvSpPr txBox="1"/>
          <p:nvPr/>
        </p:nvSpPr>
        <p:spPr>
          <a:xfrm>
            <a:off x="4480559" y="3200400"/>
            <a:ext cx="3383281" cy="629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F1E6CB"/>
                </a:solidFill>
              </a:defRPr>
            </a:lvl1pPr>
          </a:lstStyle>
          <a:p>
            <a:pPr/>
            <a:r>
              <a:t>Advisor co-pilots in every dealership and bay. SG&amp;A automated where the work is repetitive. Inventory tuned daily, not quarterly.</a:t>
            </a:r>
          </a:p>
        </p:txBody>
      </p:sp>
      <p:sp>
        <p:nvSpPr>
          <p:cNvPr id="1480" name="Rectangle 14"/>
          <p:cNvSpPr/>
          <p:nvPr/>
        </p:nvSpPr>
        <p:spPr>
          <a:xfrm>
            <a:off x="8092440" y="2560320"/>
            <a:ext cx="3657601" cy="2468881"/>
          </a:xfrm>
          <a:prstGeom prst="rect">
            <a:avLst/>
          </a:prstGeom>
          <a:solidFill>
            <a:srgbClr val="102A4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1" name="Rectangle 15"/>
          <p:cNvSpPr/>
          <p:nvPr/>
        </p:nvSpPr>
        <p:spPr>
          <a:xfrm>
            <a:off x="8092440" y="2560320"/>
            <a:ext cx="3657601" cy="502920"/>
          </a:xfrm>
          <a:prstGeom prst="rect">
            <a:avLst/>
          </a:prstGeom>
          <a:solidFill>
            <a:srgbClr val="6E8B4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2" name="TextBox 16"/>
          <p:cNvSpPr txBox="1"/>
          <p:nvPr/>
        </p:nvSpPr>
        <p:spPr>
          <a:xfrm>
            <a:off x="8275319" y="2696771"/>
            <a:ext cx="338328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FOR THE CTO OFFICE</a:t>
            </a:r>
          </a:p>
        </p:txBody>
      </p:sp>
      <p:sp>
        <p:nvSpPr>
          <p:cNvPr id="1483" name="TextBox 17"/>
          <p:cNvSpPr txBox="1"/>
          <p:nvPr/>
        </p:nvSpPr>
        <p:spPr>
          <a:xfrm>
            <a:off x="8275319" y="3200400"/>
            <a:ext cx="3383281" cy="629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F1E6CB"/>
                </a:solidFill>
              </a:defRPr>
            </a:lvl1pPr>
          </a:lstStyle>
          <a:p>
            <a:pPr/>
            <a:r>
              <a:t>A composable platform with clear contracts, owned core components, and a trust fabric that scales with autonomy.</a:t>
            </a:r>
          </a:p>
        </p:txBody>
      </p:sp>
      <p:sp>
        <p:nvSpPr>
          <p:cNvPr id="1484" name="TextBox 18"/>
          <p:cNvSpPr txBox="1"/>
          <p:nvPr/>
        </p:nvSpPr>
        <p:spPr>
          <a:xfrm>
            <a:off x="502919" y="5394959"/>
            <a:ext cx="1097280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C1441E"/>
                </a:solidFill>
              </a:defRPr>
            </a:lvl1pPr>
          </a:lstStyle>
          <a:p>
            <a:pPr/>
            <a:r>
              <a:t>NEXT 90 DAYS</a:t>
            </a:r>
          </a:p>
        </p:txBody>
      </p:sp>
      <p:sp>
        <p:nvSpPr>
          <p:cNvPr id="1485" name="TextBox 19"/>
          <p:cNvSpPr txBox="1"/>
          <p:nvPr/>
        </p:nvSpPr>
        <p:spPr>
          <a:xfrm>
            <a:off x="502919" y="5760720"/>
            <a:ext cx="10972801" cy="438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1.  Charter the RAI Council and Platform Eng. team    2.  Stand up Run Store + Eval Harness    3.  Approve Phase-1 architecture for build (Customer 360 GA + 2 production agents).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
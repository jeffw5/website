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15"/>
  </p:notesMasterIdLst>
  <p:handoutMasterIdLst>
    <p:handoutMasterId r:id="rId16"/>
  </p:handoutMasterIdLst>
  <p:sldIdLst>
    <p:sldId id="259" r:id="rId2"/>
    <p:sldId id="285" r:id="rId3"/>
    <p:sldId id="290" r:id="rId4"/>
    <p:sldId id="291" r:id="rId5"/>
    <p:sldId id="292" r:id="rId6"/>
    <p:sldId id="293" r:id="rId7"/>
    <p:sldId id="294" r:id="rId8"/>
    <p:sldId id="297" r:id="rId9"/>
    <p:sldId id="286" r:id="rId10"/>
    <p:sldId id="295" r:id="rId11"/>
    <p:sldId id="288" r:id="rId12"/>
    <p:sldId id="296" r:id="rId13"/>
    <p:sldId id="28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774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009900"/>
    <a:srgbClr val="00C49E"/>
    <a:srgbClr val="F25413"/>
    <a:srgbClr val="252E33"/>
    <a:srgbClr val="3F4E56"/>
    <a:srgbClr val="000000"/>
    <a:srgbClr val="FFFF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97" d="100"/>
          <a:sy n="97" d="100"/>
        </p:scale>
        <p:origin x="-808" y="-96"/>
      </p:cViewPr>
      <p:guideLst>
        <p:guide orient="horz" pos="1774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printerSettings" Target="printerSettings/printerSettings1.bin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dirty="0" smtClean="0"/>
              <a:t>Business Architecture Guild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02DA1F-A37C-41D2-82C0-7922EAA70BF9}" type="datetimeFigureOut">
              <a:rPr lang="en-US" smtClean="0"/>
              <a:pPr/>
              <a:t>9/9/14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smtClean="0"/>
              <a:t>Copyright 2012 @ Business Architecture Guild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3447DD-8410-4B48-BF9F-010B3E13D3F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066447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dirty="0" smtClean="0"/>
              <a:t>Business Architecture Guild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978605-75FF-4090-82E1-8992D952D785}" type="datetimeFigureOut">
              <a:rPr lang="en-US" smtClean="0"/>
              <a:pPr/>
              <a:t>9/9/14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smtClean="0"/>
              <a:t>Copyright 2012 @ Business Architecture Guild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7F5204-EB12-4271-A49D-308523C9B9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09127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F4E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-1190" y="3523787"/>
            <a:ext cx="9146380" cy="365760"/>
          </a:xfrm>
          <a:prstGeom prst="rect">
            <a:avLst/>
          </a:prstGeom>
          <a:solidFill>
            <a:srgbClr val="00C4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/>
          <p:cNvSpPr/>
          <p:nvPr userDrawn="1"/>
        </p:nvSpPr>
        <p:spPr>
          <a:xfrm>
            <a:off x="0" y="3523129"/>
            <a:ext cx="1463040" cy="365760"/>
          </a:xfrm>
          <a:prstGeom prst="rect">
            <a:avLst/>
          </a:prstGeom>
          <a:solidFill>
            <a:srgbClr val="F254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itle 1"/>
          <p:cNvSpPr>
            <a:spLocks noGrp="1"/>
          </p:cNvSpPr>
          <p:nvPr>
            <p:ph type="ctrTitle"/>
          </p:nvPr>
        </p:nvSpPr>
        <p:spPr>
          <a:xfrm>
            <a:off x="457200" y="2798081"/>
            <a:ext cx="8229600" cy="615553"/>
          </a:xfrm>
          <a:noFill/>
        </p:spPr>
        <p:txBody>
          <a:bodyPr wrap="none" lIns="91440" tIns="0" rIns="91440" bIns="0" anchor="b">
            <a:spAutoFit/>
          </a:bodyPr>
          <a:lstStyle>
            <a:lvl1pPr algn="ctr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9" name="Text Placeholder 38"/>
          <p:cNvSpPr>
            <a:spLocks noGrp="1"/>
          </p:cNvSpPr>
          <p:nvPr>
            <p:ph type="body" sz="quarter" idx="11" hasCustomPrompt="1"/>
          </p:nvPr>
        </p:nvSpPr>
        <p:spPr>
          <a:xfrm>
            <a:off x="1463040" y="3515231"/>
            <a:ext cx="6217920" cy="369332"/>
          </a:xfrm>
          <a:noFill/>
        </p:spPr>
        <p:txBody>
          <a:bodyPr wrap="none" anchor="ctr" anchorCtr="0">
            <a:spAutoFit/>
          </a:bodyPr>
          <a:lstStyle>
            <a:lvl1pPr algn="ctr">
              <a:defRPr sz="1800" b="0" spc="300" baseline="0">
                <a:solidFill>
                  <a:srgbClr val="252E33"/>
                </a:solidFill>
              </a:defRPr>
            </a:lvl1pPr>
            <a:lvl2pPr marL="0" indent="0">
              <a:buNone/>
              <a:defRPr/>
            </a:lvl2pPr>
            <a:lvl3pPr marL="237744" indent="0">
              <a:buNone/>
              <a:defRPr/>
            </a:lvl3pPr>
            <a:lvl4pPr marL="466344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SUBTITLE STYLE</a:t>
            </a:r>
          </a:p>
        </p:txBody>
      </p:sp>
      <p:sp>
        <p:nvSpPr>
          <p:cNvPr id="52" name="Date Placeholder 5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913EAD0-FE42-479E-BFD1-82A4FA54F9B8}" type="datetime1">
              <a:rPr lang="en-US" smtClean="0"/>
              <a:pPr/>
              <a:t>9/9/14</a:t>
            </a:fld>
            <a:endParaRPr lang="en-US" dirty="0"/>
          </a:p>
        </p:txBody>
      </p:sp>
      <p:sp>
        <p:nvSpPr>
          <p:cNvPr id="53" name="Footer Placeholder 52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smtClean="0"/>
              <a:t>Copyright 2014</a:t>
            </a:r>
            <a:endParaRPr lang="en-US" dirty="0"/>
          </a:p>
        </p:txBody>
      </p:sp>
      <p:sp>
        <p:nvSpPr>
          <p:cNvPr id="56" name="Slide Number Placeholder 5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9" name="Rectangle 58"/>
          <p:cNvSpPr/>
          <p:nvPr userDrawn="1"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ectangle 60"/>
          <p:cNvSpPr/>
          <p:nvPr userDrawn="1"/>
        </p:nvSpPr>
        <p:spPr>
          <a:xfrm>
            <a:off x="4723130" y="534126"/>
            <a:ext cx="4206240" cy="18288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2" name="Picture 3" descr="C:\Users\rou6\Documents\1_ILLUSTRATION\STA ppt\guild\BAGuild_Logo_DarkBG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32"/>
          <a:stretch/>
        </p:blipFill>
        <p:spPr bwMode="auto">
          <a:xfrm>
            <a:off x="4723130" y="170063"/>
            <a:ext cx="4206240" cy="515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1912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00628"/>
            <a:ext cx="8229600" cy="357984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pPr/>
              <a:t>9/9/14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smtClean="0"/>
              <a:t>Copyright 2014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24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C4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/>
          <p:cNvSpPr/>
          <p:nvPr userDrawn="1"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23D1F-8B6B-46FD-90B9-289ACA433332}" type="datetime1">
              <a:rPr lang="en-US" smtClean="0"/>
              <a:pPr/>
              <a:t>9/9/14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Copyright 2014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5" name="Text Placeholder 38"/>
          <p:cNvSpPr>
            <a:spLocks noGrp="1"/>
          </p:cNvSpPr>
          <p:nvPr>
            <p:ph type="body" sz="quarter" idx="13" hasCustomPrompt="1"/>
          </p:nvPr>
        </p:nvSpPr>
        <p:spPr>
          <a:xfrm>
            <a:off x="1463040" y="3515226"/>
            <a:ext cx="6217920" cy="369332"/>
          </a:xfrm>
          <a:noFill/>
        </p:spPr>
        <p:txBody>
          <a:bodyPr wrap="none" anchor="ctr" anchorCtr="0">
            <a:spAutoFit/>
          </a:bodyPr>
          <a:lstStyle>
            <a:lvl1pPr algn="ctr">
              <a:defRPr sz="1800" b="0" spc="300" baseline="0">
                <a:solidFill>
                  <a:srgbClr val="252E33"/>
                </a:solidFill>
              </a:defRPr>
            </a:lvl1pPr>
            <a:lvl2pPr marL="0" indent="0">
              <a:buNone/>
              <a:defRPr/>
            </a:lvl2pPr>
            <a:lvl3pPr marL="237744" indent="0">
              <a:buNone/>
              <a:defRPr/>
            </a:lvl3pPr>
            <a:lvl4pPr marL="466344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SUBTITLE STYLE</a:t>
            </a:r>
          </a:p>
        </p:txBody>
      </p:sp>
      <p:sp>
        <p:nvSpPr>
          <p:cNvPr id="36" name="Title 35"/>
          <p:cNvSpPr>
            <a:spLocks noGrp="1"/>
          </p:cNvSpPr>
          <p:nvPr>
            <p:ph type="title"/>
          </p:nvPr>
        </p:nvSpPr>
        <p:spPr>
          <a:xfrm>
            <a:off x="520314" y="2798076"/>
            <a:ext cx="8103373" cy="615553"/>
          </a:xfrm>
          <a:noFill/>
        </p:spPr>
        <p:txBody>
          <a:bodyPr vert="horz" wrap="none" lIns="91440" tIns="0" rIns="91440" bIns="0" rtlCol="0" anchor="b">
            <a:spAutoFit/>
          </a:bodyPr>
          <a:lstStyle>
            <a:lvl1pPr>
              <a:defRPr lang="en-US" sz="4000" b="1" dirty="0">
                <a:solidFill>
                  <a:srgbClr val="252E33"/>
                </a:solidFill>
              </a:defRPr>
            </a:lvl1pPr>
          </a:lstStyle>
          <a:p>
            <a:pPr marL="0" lvl="0" algn="ctr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 userDrawn="1"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/>
          <p:cNvSpPr/>
          <p:nvPr userDrawn="1"/>
        </p:nvSpPr>
        <p:spPr>
          <a:xfrm>
            <a:off x="0" y="548102"/>
            <a:ext cx="9144000" cy="137160"/>
          </a:xfrm>
          <a:prstGeom prst="rect">
            <a:avLst/>
          </a:prstGeom>
          <a:solidFill>
            <a:srgbClr val="F254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/>
          <p:cNvSpPr/>
          <p:nvPr userDrawn="1"/>
        </p:nvSpPr>
        <p:spPr>
          <a:xfrm>
            <a:off x="4723130" y="534126"/>
            <a:ext cx="4206240" cy="18288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4" name="Picture 3" descr="C:\Users\rou6\Documents\1_ILLUSTRATION\STA ppt\guild\BAGuild_Logo_DarkBG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32"/>
          <a:stretch/>
        </p:blipFill>
        <p:spPr bwMode="auto">
          <a:xfrm>
            <a:off x="4723130" y="170063"/>
            <a:ext cx="4206240" cy="515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3290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pPr/>
              <a:t>9/9/14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Copyright 2014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811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pPr/>
              <a:t>9/9/14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Copyright 2014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72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pPr/>
              <a:t>9/9/14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Copyright 2014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523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pPr/>
              <a:t>9/9/14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Copyright 2014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203200" y="927100"/>
            <a:ext cx="8077200" cy="12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629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3F4E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65759"/>
            <a:ext cx="685800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300" y="6440697"/>
            <a:ext cx="681277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92FE3BD-E6E5-415F-8D6E-D2B3F7C63698}" type="datetime1">
              <a:rPr lang="en-US" smtClean="0"/>
              <a:pPr/>
              <a:t>9/9/14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94182" y="6440697"/>
            <a:ext cx="187552" cy="184666"/>
          </a:xfrm>
          <a:prstGeom prst="rect">
            <a:avLst/>
          </a:prstGeom>
          <a:ln w="19050">
            <a:noFill/>
          </a:ln>
        </p:spPr>
        <p:txBody>
          <a:bodyPr vert="horz" wrap="none" lIns="0" tIns="0" rIns="0" bIns="0" rtlCol="0" anchor="ctr">
            <a:spAutoFit/>
          </a:bodyPr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7" name="Picture 3" descr="C:\Users\rou6\Documents\1_ILLUSTRATION\STA ppt\guild\BAGuild_Logo_LightBG.png"/>
          <p:cNvPicPr>
            <a:picLocks noChangeAspect="1" noChangeArrowheads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-2867"/>
          <a:stretch/>
        </p:blipFill>
        <p:spPr bwMode="auto">
          <a:xfrm>
            <a:off x="2971800" y="5969851"/>
            <a:ext cx="3200400" cy="430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rou6\Documents\1_ILLUSTRATION\STA ppt\guild\BAGuild_Badge_NoLetters.png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320" y="304053"/>
            <a:ext cx="640080" cy="686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09800" y="6395870"/>
            <a:ext cx="4724400" cy="274320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 smtClean="0"/>
              <a:t>Copyright 2014</a:t>
            </a: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228600" y="958850"/>
            <a:ext cx="8686800" cy="27432"/>
          </a:xfrm>
          <a:prstGeom prst="rect">
            <a:avLst/>
          </a:prstGeom>
          <a:solidFill>
            <a:srgbClr val="3F4E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677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</p:sldLayoutIdLst>
  <p:timing>
    <p:tnLst>
      <p:par>
        <p:cTn xmlns:p14="http://schemas.microsoft.com/office/powerpoint/2010/main" id="1" dur="indefinite" restart="never" nodeType="tmRoot"/>
      </p:par>
    </p:tnLst>
  </p:timing>
  <p:hf hdr="0"/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://www.businessarchitectureguild.org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omg.org/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8.emf"/><Relationship Id="rId6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businessarchitectureguild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256019" y="1548215"/>
            <a:ext cx="6223948" cy="1231106"/>
          </a:xfrm>
        </p:spPr>
        <p:txBody>
          <a:bodyPr/>
          <a:lstStyle/>
          <a:p>
            <a:r>
              <a:rPr lang="en-US" dirty="0"/>
              <a:t>Standardizing </a:t>
            </a:r>
            <a:r>
              <a:rPr lang="en-US" dirty="0" smtClean="0"/>
              <a:t>Business</a:t>
            </a:r>
            <a:br>
              <a:rPr lang="en-US" dirty="0" smtClean="0"/>
            </a:br>
            <a:r>
              <a:rPr lang="en-US" dirty="0" smtClean="0"/>
              <a:t>Architecture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1744799" y="3515231"/>
            <a:ext cx="5654433" cy="369332"/>
          </a:xfrm>
        </p:spPr>
        <p:txBody>
          <a:bodyPr/>
          <a:lstStyle/>
          <a:p>
            <a:r>
              <a:rPr lang="en-US" dirty="0" smtClean="0"/>
              <a:t>Austin, Texas, USA - September 15, 2014</a:t>
            </a:r>
            <a:endParaRPr lang="en-US" dirty="0"/>
          </a:p>
        </p:txBody>
      </p:sp>
      <p:sp>
        <p:nvSpPr>
          <p:cNvPr id="6" name="Content Placeholder 1"/>
          <p:cNvSpPr txBox="1">
            <a:spLocks/>
          </p:cNvSpPr>
          <p:nvPr/>
        </p:nvSpPr>
        <p:spPr>
          <a:xfrm>
            <a:off x="668215" y="4368800"/>
            <a:ext cx="8229600" cy="184349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ts val="8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3736" indent="-173736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2336" indent="-164592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0936" indent="-164592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9536" indent="-173736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73736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53312" indent="-164592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81912" indent="-164592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92224" indent="-164592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>
                <a:solidFill>
                  <a:schemeClr val="bg1"/>
                </a:solidFill>
              </a:rPr>
              <a:t>William Ulrich, Business Architecture Guild &amp; TSG, Inc.</a:t>
            </a:r>
          </a:p>
          <a:p>
            <a:pPr algn="ctr"/>
            <a:r>
              <a:rPr lang="en-US" dirty="0" smtClean="0">
                <a:solidFill>
                  <a:schemeClr val="bg1"/>
                </a:solidFill>
              </a:rPr>
              <a:t>Janice Lewis, Pfizer</a:t>
            </a:r>
          </a:p>
          <a:p>
            <a:pPr algn="ctr"/>
            <a:r>
              <a:rPr lang="en-US" dirty="0" smtClean="0">
                <a:solidFill>
                  <a:schemeClr val="bg1"/>
                </a:solidFill>
                <a:hlinkClick r:id="rId2"/>
              </a:rPr>
              <a:t>www.businessarchitectureguild.org</a:t>
            </a:r>
            <a:endParaRPr lang="en-US" dirty="0" smtClean="0">
              <a:solidFill>
                <a:schemeClr val="bg1"/>
              </a:solidFill>
            </a:endParaRP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0155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84496" y="1441822"/>
            <a:ext cx="8229600" cy="357984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Why standardization?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What is standardization?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Path to phased standardization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Long-term game plan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pPr/>
              <a:t>9/9/14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smtClean="0"/>
              <a:t>Copyright 2014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81000" y="365759"/>
            <a:ext cx="7222524" cy="548640"/>
          </a:xfrm>
        </p:spPr>
        <p:txBody>
          <a:bodyPr/>
          <a:lstStyle/>
          <a:p>
            <a:r>
              <a:rPr lang="en-US" dirty="0" smtClean="0"/>
              <a:t>Standardizing business architecture?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5357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84496" y="1441822"/>
            <a:ext cx="8229600" cy="3579849"/>
          </a:xfrm>
        </p:spPr>
        <p:txBody>
          <a:bodyPr/>
          <a:lstStyle/>
          <a:p>
            <a:pPr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Too many misaligned business architecture perspectives cause confusion, implementation slowdown and justification challenges</a:t>
            </a: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Tool vendor solutions do not fully align to standard mapping approaches, confusing teams and slowing deployments</a:t>
            </a: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Tool interchange makes sharing business architecture information across tools challenging </a:t>
            </a: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Executives sense that business architecture is not ready for prime time as no consistent deployment approach is in place</a:t>
            </a: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Lack of standardization harms progress towards a maturity industry</a:t>
            </a: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pPr/>
              <a:t>9/9/14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smtClean="0"/>
              <a:t>Copyright 2014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Standardization?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1048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84496" y="1441822"/>
            <a:ext cx="8229600" cy="4250524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Consistency of blueprint perspectives, including shared set of practice oriented principles</a:t>
            </a:r>
          </a:p>
          <a:p>
            <a:pPr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Agreed approach as to how all of the parts of business architecture align, with cross-mappings an essential aspect of the discipline</a:t>
            </a:r>
          </a:p>
          <a:p>
            <a:pPr lvl="2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For example, value stream / capability cross-mapping provides insights not achieved from value streams or a capability map alone</a:t>
            </a:r>
          </a:p>
          <a:p>
            <a:pPr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/>
              <a:t>An aligned body of knowledge with tool vendor solutions</a:t>
            </a:r>
          </a:p>
          <a:p>
            <a:pPr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A basis for formalizing artifact relationships that enables automation and dissemination of business architecture – the “metamodel”</a:t>
            </a:r>
          </a:p>
          <a:p>
            <a:pPr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A fully packaged standard, including metamodel, that has been passed officially by an international standards body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pPr/>
              <a:t>9/9/14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smtClean="0"/>
              <a:t>Copyright 2014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81000" y="324569"/>
            <a:ext cx="6858000" cy="548640"/>
          </a:xfrm>
        </p:spPr>
        <p:txBody>
          <a:bodyPr/>
          <a:lstStyle/>
          <a:p>
            <a:r>
              <a:rPr lang="en-US" dirty="0" smtClean="0"/>
              <a:t>What is standardization?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8317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84496" y="1244110"/>
            <a:ext cx="8229600" cy="4250524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Formalize the discipline in a body of knowledge (i.e., BIZBOK® Guide)</a:t>
            </a:r>
          </a:p>
          <a:p>
            <a:pPr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Build collaborative consensus on approach through practice and practitioner contributions, including scenario development</a:t>
            </a:r>
          </a:p>
          <a:p>
            <a:pPr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Incorporate alignment to related disciplines, including BPM and requirements analysis</a:t>
            </a:r>
          </a:p>
          <a:p>
            <a:pPr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Build third party vendor support</a:t>
            </a:r>
          </a:p>
          <a:p>
            <a:pPr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Assemble artifacts and relationships into a formal metamodel</a:t>
            </a:r>
          </a:p>
          <a:p>
            <a:pPr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Package metamodel for submission to standards body*</a:t>
            </a:r>
          </a:p>
          <a:p>
            <a:pPr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Establish evolutionary path to build upon the standard long-term</a:t>
            </a:r>
          </a:p>
          <a:p>
            <a:pPr>
              <a:spcBef>
                <a:spcPts val="1800"/>
              </a:spcBef>
              <a:buFont typeface="Arial" panose="020B0604020202020204" pitchFamily="34" charset="0"/>
              <a:buChar char="•"/>
            </a:pPr>
            <a:endParaRPr lang="en-US" dirty="0" smtClean="0"/>
          </a:p>
          <a:p>
            <a:pPr>
              <a:spcBef>
                <a:spcPts val="1800"/>
              </a:spcBef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pPr/>
              <a:t>9/9/14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smtClean="0"/>
              <a:t>Copyright 2014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81000" y="308093"/>
            <a:ext cx="6858000" cy="548640"/>
          </a:xfrm>
        </p:spPr>
        <p:txBody>
          <a:bodyPr/>
          <a:lstStyle/>
          <a:p>
            <a:r>
              <a:rPr lang="en-US" dirty="0"/>
              <a:t>Path </a:t>
            </a:r>
            <a:r>
              <a:rPr lang="en-US" dirty="0" smtClean="0"/>
              <a:t>to Business architecture </a:t>
            </a:r>
            <a:r>
              <a:rPr lang="en-US" dirty="0"/>
              <a:t>standardization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321" y="5652110"/>
            <a:ext cx="822136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*</a:t>
            </a:r>
            <a:r>
              <a:rPr lang="en-US" sz="1050" dirty="0"/>
              <a:t> The </a:t>
            </a:r>
            <a:r>
              <a:rPr lang="en-US" sz="1050" dirty="0">
                <a:hlinkClick r:id="rId2"/>
              </a:rPr>
              <a:t>Object Management Group</a:t>
            </a:r>
            <a:r>
              <a:rPr lang="en-US" sz="1050" dirty="0"/>
              <a:t> (OMG®) is an international, open membership, not-for-profit </a:t>
            </a:r>
            <a:r>
              <a:rPr lang="en-US" sz="1050" b="1" dirty="0"/>
              <a:t>technology standards</a:t>
            </a:r>
            <a:r>
              <a:rPr lang="en-US" sz="1050" dirty="0"/>
              <a:t> consortium</a:t>
            </a:r>
            <a:r>
              <a:rPr lang="en-US" sz="1050" dirty="0" smtClean="0"/>
              <a:t>. </a:t>
            </a:r>
            <a:r>
              <a:rPr lang="en-US" sz="1050" dirty="0" smtClean="0">
                <a:hlinkClick r:id="rId2"/>
              </a:rPr>
              <a:t>www.omg.org</a:t>
            </a:r>
            <a:r>
              <a:rPr lang="en-US" sz="1050" dirty="0" smtClean="0"/>
              <a:t> 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2072410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pPr/>
              <a:t>9/9/14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Copyright 2014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1000" y="209237"/>
            <a:ext cx="6858000" cy="548640"/>
          </a:xfrm>
        </p:spPr>
        <p:txBody>
          <a:bodyPr/>
          <a:lstStyle/>
          <a:p>
            <a:r>
              <a:rPr lang="en-US" dirty="0" smtClean="0"/>
              <a:t>Sample Business architecture metamodel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29" y="1129356"/>
            <a:ext cx="8452097" cy="44641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79459" y="6642227"/>
            <a:ext cx="528381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smtClean="0">
                <a:solidFill>
                  <a:schemeClr val="bg1"/>
                </a:solidFill>
              </a:rPr>
              <a:t>Source: A Guide to the Business Architecture Body of Knowledge™ </a:t>
            </a:r>
            <a:r>
              <a:rPr lang="en-US" sz="1050" dirty="0">
                <a:solidFill>
                  <a:schemeClr val="bg1"/>
                </a:solidFill>
              </a:rPr>
              <a:t>(</a:t>
            </a:r>
            <a:r>
              <a:rPr lang="en-US" sz="1050" dirty="0" smtClean="0">
                <a:solidFill>
                  <a:schemeClr val="bg1"/>
                </a:solidFill>
              </a:rPr>
              <a:t>BIZBOK®) Version 4.0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1321" y="5594444"/>
            <a:ext cx="82213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*</a:t>
            </a:r>
            <a:r>
              <a:rPr lang="en-US" sz="1200" dirty="0"/>
              <a:t> </a:t>
            </a:r>
            <a:r>
              <a:rPr lang="en-US" sz="1200" dirty="0" smtClean="0"/>
              <a:t>Source: A Guide to the Business Architecture Body of Knowledge™ (BIZBOK® Guide), V4.0, Part 5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31445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436" y="1037422"/>
            <a:ext cx="1044511" cy="1044511"/>
          </a:xfr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pPr/>
              <a:t>9/9/14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smtClean="0"/>
              <a:t>Copyright 2014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80999" y="233951"/>
            <a:ext cx="7892217" cy="548640"/>
          </a:xfrm>
        </p:spPr>
        <p:txBody>
          <a:bodyPr/>
          <a:lstStyle/>
          <a:p>
            <a:r>
              <a:rPr lang="en-US" dirty="0" smtClean="0"/>
              <a:t>What value does standardization provide? 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4435" y="2221321"/>
            <a:ext cx="2286515" cy="120766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908552" y="1523673"/>
            <a:ext cx="3039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Tool-to-tool interchange via business architecture metadata</a:t>
            </a:r>
            <a:endParaRPr lang="en-US" sz="1600" dirty="0"/>
          </a:p>
        </p:txBody>
      </p:sp>
      <p:sp>
        <p:nvSpPr>
          <p:cNvPr id="11" name="Left-Right Arrow 10"/>
          <p:cNvSpPr/>
          <p:nvPr/>
        </p:nvSpPr>
        <p:spPr>
          <a:xfrm rot="19290171">
            <a:off x="5513687" y="1881165"/>
            <a:ext cx="1153297" cy="290040"/>
          </a:xfrm>
          <a:prstGeom prst="leftRightArrow">
            <a:avLst/>
          </a:prstGeom>
          <a:solidFill>
            <a:srgbClr val="F254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Content Placeholder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70107" y="983872"/>
            <a:ext cx="1044511" cy="1044511"/>
          </a:xfrm>
          <a:prstGeom prst="rect">
            <a:avLst/>
          </a:prstGeom>
        </p:spPr>
      </p:pic>
      <p:sp>
        <p:nvSpPr>
          <p:cNvPr id="13" name="Left-Right Arrow 12"/>
          <p:cNvSpPr/>
          <p:nvPr/>
        </p:nvSpPr>
        <p:spPr>
          <a:xfrm rot="2309829" flipH="1">
            <a:off x="2230930" y="1877043"/>
            <a:ext cx="1153297" cy="290040"/>
          </a:xfrm>
          <a:prstGeom prst="leftRightArrow">
            <a:avLst/>
          </a:prstGeom>
          <a:solidFill>
            <a:srgbClr val="F254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own Arrow 13"/>
          <p:cNvSpPr/>
          <p:nvPr/>
        </p:nvSpPr>
        <p:spPr>
          <a:xfrm rot="18617467">
            <a:off x="5940136" y="2712653"/>
            <a:ext cx="231129" cy="1022638"/>
          </a:xfrm>
          <a:prstGeom prst="downArrow">
            <a:avLst/>
          </a:prstGeom>
          <a:solidFill>
            <a:srgbClr val="F254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Down Arrow 15"/>
          <p:cNvSpPr/>
          <p:nvPr/>
        </p:nvSpPr>
        <p:spPr>
          <a:xfrm rot="2982533" flipH="1">
            <a:off x="2657364" y="2725010"/>
            <a:ext cx="231129" cy="1022638"/>
          </a:xfrm>
          <a:prstGeom prst="downArrow">
            <a:avLst/>
          </a:prstGeom>
          <a:solidFill>
            <a:srgbClr val="F254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716" y="3191885"/>
            <a:ext cx="1915957" cy="175081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41" y="3191885"/>
            <a:ext cx="1915957" cy="175081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953859" y="3447207"/>
            <a:ext cx="30391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Consistency of artifact relationships ensures that tool based results easily align to best practices and industry body of knowledge</a:t>
            </a:r>
            <a:endParaRPr lang="en-US" sz="1600" dirty="0"/>
          </a:p>
        </p:txBody>
      </p:sp>
      <p:sp>
        <p:nvSpPr>
          <p:cNvPr id="20" name="TextBox 19"/>
          <p:cNvSpPr txBox="1"/>
          <p:nvPr/>
        </p:nvSpPr>
        <p:spPr>
          <a:xfrm>
            <a:off x="537522" y="5079053"/>
            <a:ext cx="82213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Consider the challenges of using a tool that does not enable the artifact input and blueprint production required for basic or extended business architecture perspectives, including automatic generation of standard mappings and cross-mappings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84092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pPr/>
              <a:t>9/9/14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smtClean="0"/>
              <a:t>Copyright 2014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80999" y="233951"/>
            <a:ext cx="7892217" cy="548640"/>
          </a:xfrm>
        </p:spPr>
        <p:txBody>
          <a:bodyPr/>
          <a:lstStyle/>
          <a:p>
            <a:r>
              <a:rPr lang="en-US" dirty="0" smtClean="0"/>
              <a:t>What value does standardization provide? </a:t>
            </a:r>
            <a:endParaRPr lang="en-US" dirty="0"/>
          </a:p>
        </p:txBody>
      </p:sp>
      <p:sp>
        <p:nvSpPr>
          <p:cNvPr id="13" name="Left-Right Arrow 12"/>
          <p:cNvSpPr/>
          <p:nvPr/>
        </p:nvSpPr>
        <p:spPr>
          <a:xfrm flipH="1">
            <a:off x="2626220" y="1269887"/>
            <a:ext cx="3748224" cy="722451"/>
          </a:xfrm>
          <a:prstGeom prst="leftRightArrow">
            <a:avLst>
              <a:gd name="adj1" fmla="val 64706"/>
              <a:gd name="adj2" fmla="val 45588"/>
            </a:avLst>
          </a:prstGeom>
          <a:solidFill>
            <a:schemeClr val="accent3">
              <a:lumMod val="40000"/>
              <a:lumOff val="60000"/>
              <a:alpha val="99000"/>
            </a:schemeClr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cs typeface="Calibri"/>
              </a:rPr>
              <a:t>Consistent Modeling</a:t>
            </a:r>
          </a:p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cs typeface="Calibri"/>
              </a:rPr>
              <a:t>Uniform Handoffs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66" y="1112692"/>
            <a:ext cx="1519365" cy="1291461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833" y="1117144"/>
            <a:ext cx="1519365" cy="129146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300" y="3984674"/>
            <a:ext cx="2362901" cy="1761543"/>
          </a:xfrm>
          <a:prstGeom prst="rect">
            <a:avLst/>
          </a:prstGeom>
        </p:spPr>
      </p:pic>
      <p:grpSp>
        <p:nvGrpSpPr>
          <p:cNvPr id="24" name="Group 23"/>
          <p:cNvGrpSpPr/>
          <p:nvPr/>
        </p:nvGrpSpPr>
        <p:grpSpPr>
          <a:xfrm>
            <a:off x="404455" y="4183909"/>
            <a:ext cx="3106842" cy="1382185"/>
            <a:chOff x="491614" y="3474140"/>
            <a:chExt cx="3635485" cy="1531643"/>
          </a:xfrm>
        </p:grpSpPr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1614" y="3474140"/>
              <a:ext cx="3635485" cy="1531643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85221" y="3735632"/>
              <a:ext cx="1089269" cy="995381"/>
            </a:xfrm>
            <a:prstGeom prst="rect">
              <a:avLst/>
            </a:prstGeom>
          </p:spPr>
        </p:pic>
      </p:grpSp>
      <p:sp>
        <p:nvSpPr>
          <p:cNvPr id="28" name="Left-Right Arrow 27"/>
          <p:cNvSpPr/>
          <p:nvPr/>
        </p:nvSpPr>
        <p:spPr>
          <a:xfrm rot="19988590">
            <a:off x="2762369" y="2855787"/>
            <a:ext cx="3574761" cy="635058"/>
          </a:xfrm>
          <a:prstGeom prst="leftRightArrow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Left-Right Arrow 28"/>
          <p:cNvSpPr/>
          <p:nvPr/>
        </p:nvSpPr>
        <p:spPr>
          <a:xfrm rot="1674573">
            <a:off x="2758634" y="2902722"/>
            <a:ext cx="3575171" cy="635058"/>
          </a:xfrm>
          <a:prstGeom prst="leftRightArrow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8395" y="2502875"/>
            <a:ext cx="2499057" cy="1319924"/>
          </a:xfrm>
          <a:prstGeom prst="rect">
            <a:avLst/>
          </a:prstGeom>
        </p:spPr>
      </p:pic>
      <p:sp>
        <p:nvSpPr>
          <p:cNvPr id="31" name="Left-Right Arrow 30"/>
          <p:cNvSpPr/>
          <p:nvPr/>
        </p:nvSpPr>
        <p:spPr>
          <a:xfrm flipH="1">
            <a:off x="3610906" y="4634931"/>
            <a:ext cx="2642005" cy="722451"/>
          </a:xfrm>
          <a:prstGeom prst="leftRightArrow">
            <a:avLst>
              <a:gd name="adj1" fmla="val 64706"/>
              <a:gd name="adj2" fmla="val 45588"/>
            </a:avLst>
          </a:prstGeom>
          <a:solidFill>
            <a:schemeClr val="accent3">
              <a:lumMod val="40000"/>
              <a:lumOff val="60000"/>
              <a:alpha val="99000"/>
            </a:schemeClr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cs typeface="Calibri"/>
              </a:rPr>
              <a:t>Collaboration </a:t>
            </a:r>
            <a:r>
              <a:rPr 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cs typeface="Calibri"/>
              </a:rPr>
              <a:t>within</a:t>
            </a:r>
            <a:endParaRPr lang="en-US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Calibri"/>
              <a:cs typeface="Calibri"/>
            </a:endParaRPr>
          </a:p>
          <a:p>
            <a:pPr algn="ctr"/>
            <a:r>
              <a:rPr 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cs typeface="Calibri"/>
              </a:rPr>
              <a:t>Value Chains 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35" name="Right Arrow 34"/>
          <p:cNvSpPr/>
          <p:nvPr/>
        </p:nvSpPr>
        <p:spPr>
          <a:xfrm rot="5400000">
            <a:off x="566501" y="2608741"/>
            <a:ext cx="1930077" cy="1344785"/>
          </a:xfrm>
          <a:prstGeom prst="rightArrow">
            <a:avLst/>
          </a:prstGeom>
          <a:solidFill>
            <a:srgbClr val="91DFFB"/>
          </a:solidFill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262626"/>
                </a:solidFill>
                <a:latin typeface="Calibri"/>
                <a:cs typeface="Calibri"/>
              </a:rPr>
              <a:t>Agile, Adaptable, </a:t>
            </a:r>
            <a:r>
              <a:rPr lang="en-US" sz="1400" dirty="0" smtClean="0">
                <a:solidFill>
                  <a:srgbClr val="262626"/>
                </a:solidFill>
                <a:latin typeface="Calibri"/>
                <a:cs typeface="Calibri"/>
              </a:rPr>
              <a:t>Cooperative</a:t>
            </a:r>
            <a:endParaRPr lang="en-US" sz="1400" dirty="0">
              <a:solidFill>
                <a:srgbClr val="262626"/>
              </a:solidFill>
              <a:latin typeface="Calibri"/>
              <a:cs typeface="Calibri"/>
            </a:endParaRPr>
          </a:p>
        </p:txBody>
      </p:sp>
      <p:sp>
        <p:nvSpPr>
          <p:cNvPr id="36" name="Right Arrow 35"/>
          <p:cNvSpPr/>
          <p:nvPr/>
        </p:nvSpPr>
        <p:spPr>
          <a:xfrm rot="5400000">
            <a:off x="6426384" y="2541742"/>
            <a:ext cx="1945504" cy="1344785"/>
          </a:xfrm>
          <a:prstGeom prst="rightArrow">
            <a:avLst/>
          </a:prstGeom>
          <a:solidFill>
            <a:srgbClr val="91DFFB"/>
          </a:solidFill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262626"/>
                </a:solidFill>
                <a:latin typeface="Calibri"/>
                <a:cs typeface="Calibri"/>
              </a:rPr>
              <a:t>Interoperable, Collaborative</a:t>
            </a:r>
            <a:endParaRPr lang="en-US" sz="1400" dirty="0">
              <a:solidFill>
                <a:srgbClr val="262626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6951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Straight Connector 41"/>
          <p:cNvCxnSpPr/>
          <p:nvPr/>
        </p:nvCxnSpPr>
        <p:spPr>
          <a:xfrm>
            <a:off x="7725644" y="1966677"/>
            <a:ext cx="0" cy="1023006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5045477"/>
            <a:ext cx="8229600" cy="362427"/>
          </a:xfrm>
        </p:spPr>
        <p:txBody>
          <a:bodyPr>
            <a:normAutofit fontScale="850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Note timeline is not entirely predictable due to numerous third parties involved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pPr/>
              <a:t>9/9/14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smtClean="0"/>
              <a:t>Copyright 2014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81000" y="299855"/>
            <a:ext cx="6858000" cy="548640"/>
          </a:xfrm>
        </p:spPr>
        <p:txBody>
          <a:bodyPr/>
          <a:lstStyle/>
          <a:p>
            <a:r>
              <a:rPr lang="en-US" dirty="0" smtClean="0"/>
              <a:t>pathway to business architecture standardization</a:t>
            </a:r>
            <a:endParaRPr lang="en-US" dirty="0"/>
          </a:p>
        </p:txBody>
      </p:sp>
      <p:sp>
        <p:nvSpPr>
          <p:cNvPr id="7" name="Right Arrow 6"/>
          <p:cNvSpPr/>
          <p:nvPr/>
        </p:nvSpPr>
        <p:spPr>
          <a:xfrm>
            <a:off x="192852" y="2672666"/>
            <a:ext cx="8676933" cy="548640"/>
          </a:xfrm>
          <a:prstGeom prst="rightArrow">
            <a:avLst/>
          </a:prstGeom>
          <a:solidFill>
            <a:srgbClr val="F254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20455" y="3399199"/>
            <a:ext cx="16147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smtClean="0"/>
              <a:t>Early attempts to formalize metamodel – lacking formally defined discipline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912" y="2823289"/>
            <a:ext cx="85338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2009-</a:t>
            </a:r>
            <a:r>
              <a:rPr lang="en-US" sz="1200" b="1" dirty="0" smtClean="0"/>
              <a:t>--------------</a:t>
            </a:r>
            <a:r>
              <a:rPr lang="en-US" sz="1200" b="1" dirty="0"/>
              <a:t>-</a:t>
            </a:r>
            <a:r>
              <a:rPr lang="en-US" sz="1200" b="1" dirty="0" smtClean="0"/>
              <a:t>--2010</a:t>
            </a:r>
            <a:r>
              <a:rPr lang="en-US" sz="1200" b="1" dirty="0"/>
              <a:t>-</a:t>
            </a:r>
            <a:r>
              <a:rPr lang="en-US" sz="1200" b="1" dirty="0" smtClean="0"/>
              <a:t>--------------</a:t>
            </a:r>
            <a:r>
              <a:rPr lang="en-US" sz="1200" b="1" dirty="0"/>
              <a:t>-</a:t>
            </a:r>
            <a:r>
              <a:rPr lang="en-US" sz="1200" b="1" dirty="0" smtClean="0"/>
              <a:t>-2011------------------------------</a:t>
            </a:r>
            <a:r>
              <a:rPr lang="en-US" sz="1200" b="1" dirty="0"/>
              <a:t>--</a:t>
            </a:r>
            <a:r>
              <a:rPr lang="en-US" sz="1200" b="1" dirty="0" smtClean="0"/>
              <a:t>---2014---------</a:t>
            </a:r>
            <a:r>
              <a:rPr lang="en-US" sz="1200" dirty="0" smtClean="0"/>
              <a:t>------</a:t>
            </a:r>
            <a:r>
              <a:rPr lang="en-US" sz="1200" b="1" dirty="0" smtClean="0"/>
              <a:t>----</a:t>
            </a:r>
            <a:r>
              <a:rPr lang="en-US" sz="1200" dirty="0" smtClean="0"/>
              <a:t>----------</a:t>
            </a:r>
            <a:r>
              <a:rPr lang="en-US" sz="1200" b="1" dirty="0"/>
              <a:t>2015-</a:t>
            </a:r>
            <a:r>
              <a:rPr lang="en-US" sz="1200" dirty="0" smtClean="0"/>
              <a:t>------</a:t>
            </a:r>
            <a:r>
              <a:rPr lang="en-US" sz="1200" b="1" dirty="0" smtClean="0"/>
              <a:t>----</a:t>
            </a:r>
            <a:r>
              <a:rPr lang="en-US" sz="1200" dirty="0" smtClean="0"/>
              <a:t>-----------</a:t>
            </a:r>
            <a:r>
              <a:rPr lang="en-US" sz="1200" dirty="0"/>
              <a:t>-</a:t>
            </a:r>
            <a:r>
              <a:rPr lang="en-US" sz="1200" dirty="0" smtClean="0"/>
              <a:t>-</a:t>
            </a:r>
            <a:r>
              <a:rPr lang="en-US" sz="1200" b="1" dirty="0" smtClean="0"/>
              <a:t>2016</a:t>
            </a:r>
            <a:r>
              <a:rPr lang="en-US" sz="1200" b="1" dirty="0"/>
              <a:t>-</a:t>
            </a:r>
            <a:r>
              <a:rPr lang="en-US" sz="1200" dirty="0" smtClean="0"/>
              <a:t>----</a:t>
            </a:r>
            <a:r>
              <a:rPr lang="en-US" sz="1200" b="1" dirty="0" smtClean="0"/>
              <a:t>----</a:t>
            </a:r>
            <a:r>
              <a:rPr lang="en-US" sz="1200" dirty="0" smtClean="0"/>
              <a:t>----------</a:t>
            </a:r>
            <a:r>
              <a:rPr lang="en-US" sz="1200" dirty="0"/>
              <a:t>-</a:t>
            </a:r>
            <a:r>
              <a:rPr lang="en-US" sz="1200" b="1" dirty="0" smtClean="0"/>
              <a:t>2017</a:t>
            </a:r>
          </a:p>
          <a:p>
            <a:endParaRPr lang="en-US" sz="1200" b="1" dirty="0"/>
          </a:p>
        </p:txBody>
      </p:sp>
      <p:cxnSp>
        <p:nvCxnSpPr>
          <p:cNvPr id="20" name="Straight Connector 19"/>
          <p:cNvCxnSpPr/>
          <p:nvPr/>
        </p:nvCxnSpPr>
        <p:spPr>
          <a:xfrm>
            <a:off x="1157748" y="3091518"/>
            <a:ext cx="0" cy="357052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861746" y="1992716"/>
            <a:ext cx="28091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smtClean="0"/>
              <a:t>Formalization of business architecture discipline in BIZBOK® V1.0–4.0</a:t>
            </a:r>
            <a:endParaRPr lang="en-US" sz="1100" b="1" dirty="0"/>
          </a:p>
        </p:txBody>
      </p:sp>
      <p:cxnSp>
        <p:nvCxnSpPr>
          <p:cNvPr id="27" name="Straight Connector 26"/>
          <p:cNvCxnSpPr/>
          <p:nvPr/>
        </p:nvCxnSpPr>
        <p:spPr>
          <a:xfrm>
            <a:off x="4660034" y="3080119"/>
            <a:ext cx="0" cy="357052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407170" y="4089388"/>
            <a:ext cx="17426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smtClean="0"/>
              <a:t>Metamodel scenario creation, packaging</a:t>
            </a:r>
            <a:endParaRPr lang="en-US" sz="11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3748500" y="3389079"/>
            <a:ext cx="132571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smtClean="0"/>
              <a:t>Metamodel v1.0 released in BIZBOK® 4.0</a:t>
            </a:r>
            <a:endParaRPr lang="en-US" sz="11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6838285" y="4097626"/>
            <a:ext cx="169280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smtClean="0"/>
              <a:t>Follow-up effort to standardize business / IT architecture alignment</a:t>
            </a:r>
            <a:endParaRPr lang="en-US" sz="1100" b="1" dirty="0"/>
          </a:p>
        </p:txBody>
      </p:sp>
      <p:cxnSp>
        <p:nvCxnSpPr>
          <p:cNvPr id="32" name="Straight Connector 31"/>
          <p:cNvCxnSpPr/>
          <p:nvPr/>
        </p:nvCxnSpPr>
        <p:spPr>
          <a:xfrm>
            <a:off x="6070578" y="3088821"/>
            <a:ext cx="0" cy="357052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5283126" y="3096172"/>
            <a:ext cx="0" cy="1023006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H="1" flipV="1">
            <a:off x="3262184" y="2356022"/>
            <a:ext cx="8229" cy="220622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7634398" y="3084030"/>
            <a:ext cx="0" cy="1084561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346320" y="3361730"/>
            <a:ext cx="17629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smtClean="0"/>
              <a:t>RFC packaging / delivery to OMG standards process</a:t>
            </a:r>
            <a:endParaRPr lang="en-US" sz="1100" b="1" dirty="0"/>
          </a:p>
        </p:txBody>
      </p:sp>
      <p:sp>
        <p:nvSpPr>
          <p:cNvPr id="11" name="Right Brace 10"/>
          <p:cNvSpPr/>
          <p:nvPr/>
        </p:nvSpPr>
        <p:spPr>
          <a:xfrm rot="16200000" flipV="1">
            <a:off x="3165214" y="1912087"/>
            <a:ext cx="210398" cy="1557084"/>
          </a:xfrm>
          <a:prstGeom prst="rightBrac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5795282" y="2031314"/>
            <a:ext cx="17031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smtClean="0"/>
              <a:t>Targeted timeline for OMG standard passage</a:t>
            </a:r>
            <a:endParaRPr lang="en-US" sz="1100" b="1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6783152" y="2433909"/>
            <a:ext cx="0" cy="357052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614951" y="1574109"/>
            <a:ext cx="17031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smtClean="0"/>
              <a:t>Submission of OMG standard to ISO</a:t>
            </a:r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8700661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Business Architecture Guild Metamodel team is a collaborative team of Guild members that includes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 smtClean="0"/>
              <a:t>Expert practitioners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 smtClean="0"/>
              <a:t>Companies with business architecture deployments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 smtClean="0"/>
              <a:t>Vendors with mutual interest in achieving business architecture standardization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pPr/>
              <a:t>9/9/14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Who is driving </a:t>
            </a:r>
            <a:r>
              <a:rPr lang="en-US" smtClean="0"/>
              <a:t>this effort?</a:t>
            </a:r>
            <a:r>
              <a:rPr lang="en-US" dirty="0" smtClean="0"/>
              <a:t>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630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pPr/>
              <a:t>9/9/14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smtClean="0"/>
              <a:t>Copyright 2014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81000" y="275141"/>
            <a:ext cx="6858000" cy="548640"/>
          </a:xfrm>
        </p:spPr>
        <p:txBody>
          <a:bodyPr/>
          <a:lstStyle/>
          <a:p>
            <a:r>
              <a:rPr lang="en-US" dirty="0" smtClean="0"/>
              <a:t>Sample Scenarios for Testing the business architecture standard</a:t>
            </a:r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349216"/>
              </p:ext>
            </p:extLst>
          </p:nvPr>
        </p:nvGraphicFramePr>
        <p:xfrm>
          <a:off x="419210" y="1175078"/>
          <a:ext cx="7940571" cy="45579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4068794"/>
                <a:gridCol w="1224920"/>
                <a:gridCol w="2646857"/>
              </a:tblGrid>
              <a:tr h="411755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Scenarios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Status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Available</a:t>
                      </a:r>
                      <a:r>
                        <a:rPr lang="en-US" b="0" baseline="0" dirty="0" smtClean="0"/>
                        <a:t> Opportunities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75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  <a:cs typeface="Calibri"/>
                        </a:rPr>
                        <a:t>Shift to Customer-Centric Business Model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  <a:cs typeface="Calibri"/>
                        </a:rPr>
                        <a:t>Open</a:t>
                      </a:r>
                      <a:endParaRPr lang="en-US" sz="1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75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  <a:cs typeface="Calibri"/>
                        </a:rPr>
                        <a:t>Business Capability Outsourcing, 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  <a:cs typeface="Calibri"/>
                        </a:rPr>
                        <a:t>Open</a:t>
                      </a:r>
                      <a:endParaRPr lang="en-US" sz="1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75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  <a:cs typeface="Calibri"/>
                        </a:rPr>
                        <a:t>Supply Chain Streamlining, 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  <a:cs typeface="Calibri"/>
                        </a:rPr>
                        <a:t>Open</a:t>
                      </a:r>
                      <a:endParaRPr lang="en-US" sz="1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75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  <a:cs typeface="Calibri"/>
                        </a:rPr>
                        <a:t>Compliance 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  <a:cs typeface="Calibri"/>
                        </a:rPr>
                        <a:t>Open</a:t>
                      </a:r>
                      <a:endParaRPr lang="en-US" sz="1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75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  <a:cs typeface="Calibri"/>
                        </a:rPr>
                        <a:t>Strategy Development and Execution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  <a:cs typeface="Calibri"/>
                        </a:rPr>
                        <a:t>Open</a:t>
                      </a:r>
                      <a:endParaRPr lang="en-US" sz="1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193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  <a:cs typeface="Calibri"/>
                        </a:rPr>
                        <a:t>Driving Requirements from Business Architecture 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  <a:cs typeface="Calibri"/>
                        </a:rPr>
                        <a:t>Open</a:t>
                      </a:r>
                      <a:endParaRPr lang="en-US" sz="1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193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  <a:cs typeface="Calibri"/>
                        </a:rPr>
                        <a:t>Leveraging Business Architecture for Software Testing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  <a:cs typeface="Calibri"/>
                        </a:rPr>
                        <a:t>In progress</a:t>
                      </a:r>
                      <a:endParaRPr lang="en-US" sz="1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  <a:cs typeface="Calibri"/>
                        </a:rPr>
                        <a:t>Paula</a:t>
                      </a:r>
                      <a:endParaRPr lang="en-US" sz="1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75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  <a:cs typeface="Calibri"/>
                        </a:rPr>
                        <a:t>Operational Cost Reduction 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  <a:cs typeface="Calibri"/>
                        </a:rPr>
                        <a:t>Open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75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  <a:cs typeface="Calibri"/>
                        </a:rPr>
                        <a:t>Change Management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  <a:cs typeface="Calibri"/>
                        </a:rPr>
                        <a:t>In progress</a:t>
                      </a:r>
                      <a:endParaRPr lang="en-US" sz="1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  <a:cs typeface="Calibri"/>
                        </a:rPr>
                        <a:t>Janice</a:t>
                      </a:r>
                      <a:endParaRPr lang="en-US" sz="1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41404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pPr/>
              <a:t>9/9/14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Standardization </a:t>
            </a:r>
            <a:r>
              <a:rPr lang="en-US" dirty="0" err="1" smtClean="0"/>
              <a:t>MetaModel</a:t>
            </a:r>
            <a:r>
              <a:rPr lang="en-US" dirty="0" smtClean="0"/>
              <a:t> Team</a:t>
            </a:r>
            <a:br>
              <a:rPr lang="en-US" dirty="0" smtClean="0"/>
            </a:br>
            <a:r>
              <a:rPr lang="en-US" sz="1600" dirty="0" smtClean="0"/>
              <a:t>Lead: Jeff Wallk</a:t>
            </a:r>
            <a:endParaRPr lang="en-US" sz="16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054008"/>
              </p:ext>
            </p:extLst>
          </p:nvPr>
        </p:nvGraphicFramePr>
        <p:xfrm>
          <a:off x="121202" y="1089749"/>
          <a:ext cx="4980732" cy="4881066"/>
        </p:xfrm>
        <a:graphic>
          <a:graphicData uri="http://schemas.openxmlformats.org/drawingml/2006/table">
            <a:tbl>
              <a:tblPr/>
              <a:tblGrid>
                <a:gridCol w="3952032"/>
                <a:gridCol w="1028700"/>
              </a:tblGrid>
              <a:tr h="319984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effectLst/>
                          <a:latin typeface="Calibri"/>
                        </a:rPr>
                        <a:t>Scenario  Development</a:t>
                      </a:r>
                      <a:endParaRPr lang="en-US" sz="1200" b="1" dirty="0">
                        <a:effectLst/>
                        <a:latin typeface="Calibri"/>
                      </a:endParaRP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effectLst/>
                          <a:latin typeface="Calibri"/>
                        </a:rPr>
                        <a:t>Lead</a:t>
                      </a:r>
                      <a:r>
                        <a:rPr lang="en-US" sz="1200" b="1" baseline="0" dirty="0" smtClean="0">
                          <a:effectLst/>
                          <a:latin typeface="Calibri"/>
                        </a:rPr>
                        <a:t> / Team</a:t>
                      </a:r>
                      <a:endParaRPr lang="en-US" sz="1200" b="1" dirty="0">
                        <a:effectLst/>
                        <a:latin typeface="Calibri"/>
                      </a:endParaRP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984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Calibri"/>
                        </a:rPr>
                        <a:t>Driving Requirements from Business Architecture (and Software Testing)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Calibri"/>
                        </a:rPr>
                        <a:t>Paula </a:t>
                      </a:r>
                      <a:r>
                        <a:rPr lang="en-US" sz="1000" dirty="0" err="1">
                          <a:effectLst/>
                          <a:latin typeface="Calibri"/>
                        </a:rPr>
                        <a:t>Mihalek</a:t>
                      </a:r>
                      <a:endParaRPr lang="en-US" sz="1000" dirty="0">
                        <a:effectLst/>
                        <a:latin typeface="Calibri"/>
                      </a:endParaRP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984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Shift to Customer-Centric Business Model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Paula Mihalek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984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Business Capability Outsourcing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Steve Hunter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984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Supply Chain Streamlining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Calibri"/>
                        </a:rPr>
                        <a:t>Steve Hunter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984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Compliance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Steve Hunter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984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Operational Cost Reduction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Janice Lewis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984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Change Management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Janice Lewis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984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Strategy Development and Execution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Calibri"/>
                        </a:rPr>
                        <a:t>Karrie </a:t>
                      </a:r>
                      <a:r>
                        <a:rPr lang="en-US" sz="1000" dirty="0" smtClean="0">
                          <a:effectLst/>
                          <a:latin typeface="Calibri"/>
                        </a:rPr>
                        <a:t>Austin, Olga Romeos</a:t>
                      </a:r>
                      <a:endParaRPr lang="en-US" sz="1000" dirty="0">
                        <a:effectLst/>
                        <a:latin typeface="Calibri"/>
                      </a:endParaRP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984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Investment Analysis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OPEN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984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Merger and Acquisition Analysis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OPEN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984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New Product / Service Rollout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OPEN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984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Globalization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OPEN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984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Divestiture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OPEN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984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Joint Venture Development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Calibri"/>
                        </a:rPr>
                        <a:t>OPEN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101930" y="1080651"/>
            <a:ext cx="1309254" cy="489412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Glossary and Modeling Team</a:t>
            </a:r>
          </a:p>
          <a:p>
            <a:pPr algn="ctr"/>
            <a:endParaRPr lang="en-US" sz="1200" b="1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(Alain Picard &amp; Jeffrey Wallk)</a:t>
            </a:r>
            <a:endParaRPr lang="en-US" sz="12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11184" y="1080651"/>
            <a:ext cx="1309254" cy="489412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Publishing Team</a:t>
            </a:r>
          </a:p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ctr"/>
            <a:endParaRPr lang="en-US" sz="12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Alain Picard &amp; Jeffrey Wallk)</a:t>
            </a:r>
          </a:p>
          <a:p>
            <a:pPr algn="ctr"/>
            <a:endParaRPr lang="en-US" sz="12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20438" y="1080651"/>
            <a:ext cx="1309254" cy="489412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Review Team</a:t>
            </a:r>
          </a:p>
          <a:p>
            <a:pPr algn="ctr"/>
            <a:endParaRPr lang="en-US" sz="12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1200" b="1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(Select members of Guild Board)</a:t>
            </a:r>
            <a:endParaRPr lang="en-US" sz="12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195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586892"/>
            <a:ext cx="8229600" cy="1843492"/>
          </a:xfrm>
        </p:spPr>
        <p:txBody>
          <a:bodyPr/>
          <a:lstStyle/>
          <a:p>
            <a:pPr algn="ctr"/>
            <a:r>
              <a:rPr lang="en-US" dirty="0" smtClean="0"/>
              <a:t>William Ulrich, Business Architecture Guild &amp; TSG, Inc.</a:t>
            </a:r>
          </a:p>
          <a:p>
            <a:pPr algn="ctr"/>
            <a:r>
              <a:rPr lang="en-US" dirty="0"/>
              <a:t>Janice Lewis, Pfizer</a:t>
            </a:r>
          </a:p>
          <a:p>
            <a:pPr algn="ctr"/>
            <a:r>
              <a:rPr lang="en-US" dirty="0" smtClean="0">
                <a:hlinkClick r:id="rId2"/>
              </a:rPr>
              <a:t>www.businessarchitectureguild.org</a:t>
            </a:r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pPr/>
              <a:t>9/9/14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smtClean="0"/>
              <a:t>Copyright 2014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81000" y="250427"/>
            <a:ext cx="6858000" cy="548640"/>
          </a:xfrm>
        </p:spPr>
        <p:txBody>
          <a:bodyPr/>
          <a:lstStyle/>
          <a:p>
            <a:r>
              <a:rPr lang="en-US" dirty="0" smtClean="0"/>
              <a:t>Standardization: questions / discussion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2951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1_Angles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Angl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>
    <a:spDef>
      <a:spPr>
        <a:solidFill>
          <a:srgbClr val="F2541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3199</TotalTime>
  <Words>979</Words>
  <Application>Microsoft Macintosh PowerPoint</Application>
  <PresentationFormat>On-screen Show (4:3)</PresentationFormat>
  <Paragraphs>168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1_Angles</vt:lpstr>
      <vt:lpstr>Standardizing Business Architecture</vt:lpstr>
      <vt:lpstr>Standardizing business architecture?</vt:lpstr>
      <vt:lpstr>Why Standardization?</vt:lpstr>
      <vt:lpstr>What is standardization? </vt:lpstr>
      <vt:lpstr>Path to Business architecture standardization</vt:lpstr>
      <vt:lpstr>Sample Business architecture metamodel</vt:lpstr>
      <vt:lpstr>What value does standardization provide? </vt:lpstr>
      <vt:lpstr>What value does standardization provide? </vt:lpstr>
      <vt:lpstr>pathway to business architecture standardization</vt:lpstr>
      <vt:lpstr>Who is driving this effort? </vt:lpstr>
      <vt:lpstr>Sample Scenarios for Testing the business architecture standard</vt:lpstr>
      <vt:lpstr>Standardization MetaModel Team Lead: Jeff Wallk</vt:lpstr>
      <vt:lpstr>Standardization: questions / discussion</vt:lpstr>
    </vt:vector>
  </TitlesOfParts>
  <Company>Toshiba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kathy</dc:creator>
  <cp:lastModifiedBy>jeffrey wallk</cp:lastModifiedBy>
  <cp:revision>305</cp:revision>
  <dcterms:created xsi:type="dcterms:W3CDTF">2012-10-06T17:50:46Z</dcterms:created>
  <dcterms:modified xsi:type="dcterms:W3CDTF">2014-09-10T01:36:05Z</dcterms:modified>
</cp:coreProperties>
</file>
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2"/>
  </p:notesMasterIdLst>
  <p:handoutMasterIdLst>
    <p:handoutMasterId r:id="rId13"/>
  </p:handoutMasterIdLst>
  <p:sldIdLst>
    <p:sldId id="571" r:id="rId5"/>
    <p:sldId id="600" r:id="rId6"/>
    <p:sldId id="594" r:id="rId7"/>
    <p:sldId id="595" r:id="rId8"/>
    <p:sldId id="610" r:id="rId9"/>
    <p:sldId id="611" r:id="rId10"/>
    <p:sldId id="61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AAA77F-5A81-451D-A09F-FEE62173B26E}">
          <p14:sldIdLst>
            <p14:sldId id="571"/>
            <p14:sldId id="600"/>
            <p14:sldId id="594"/>
            <p14:sldId id="595"/>
            <p14:sldId id="610"/>
            <p14:sldId id="611"/>
            <p14:sldId id="6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BB3D"/>
    <a:srgbClr val="80A6D0"/>
    <a:srgbClr val="BAA9D1"/>
    <a:srgbClr val="F8CE1B"/>
    <a:srgbClr val="297D1B"/>
    <a:srgbClr val="034EA2"/>
    <a:srgbClr val="4987C7"/>
    <a:srgbClr val="E7E6E6"/>
    <a:srgbClr val="06A1DC"/>
    <a:srgbClr val="2E65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3420" autoAdjust="0"/>
  </p:normalViewPr>
  <p:slideViewPr>
    <p:cSldViewPr snapToGrid="0">
      <p:cViewPr varScale="1">
        <p:scale>
          <a:sx n="106" d="100"/>
          <a:sy n="106" d="100"/>
        </p:scale>
        <p:origin x="1140" y="114"/>
      </p:cViewPr>
      <p:guideLst/>
    </p:cSldViewPr>
  </p:slideViewPr>
  <p:notesTextViewPr>
    <p:cViewPr>
      <p:scale>
        <a:sx n="1" d="1"/>
        <a:sy n="1" d="1"/>
      </p:scale>
      <p:origin x="0" y="0"/>
    </p:cViewPr>
  </p:notesTextViewPr>
  <p:sorterViewPr>
    <p:cViewPr>
      <p:scale>
        <a:sx n="200" d="100"/>
        <a:sy n="200" d="100"/>
      </p:scale>
      <p:origin x="0" y="-748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CE62A8-7E94-49BC-8621-12A0497BD095}" type="datetimeFigureOut">
              <a:rPr lang="en-US" smtClean="0"/>
              <a:t>1/6/2021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713C2D-6DAD-4B2F-8BAD-E2E60092FD75}" type="slidenum">
              <a:rPr lang="en-US" smtClean="0"/>
              <a:t>‹#›</a:t>
            </a:fld>
            <a:endParaRPr lang="en-US"/>
          </a:p>
        </p:txBody>
      </p:sp>
    </p:spTree>
    <p:extLst>
      <p:ext uri="{BB962C8B-B14F-4D97-AF65-F5344CB8AC3E}">
        <p14:creationId xmlns:p14="http://schemas.microsoft.com/office/powerpoint/2010/main" val="14259175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35B27-FC83-4C74-B3EA-562A0BFAF1DA}" type="datetimeFigureOut">
              <a:rPr lang="en-US" smtClean="0"/>
              <a:t>1/6/2021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AEB4F-9A24-4AB5-A444-3ADB622784C7}" type="slidenum">
              <a:rPr lang="en-US" smtClean="0"/>
              <a:t>‹#›</a:t>
            </a:fld>
            <a:endParaRPr lang="en-US"/>
          </a:p>
        </p:txBody>
      </p:sp>
    </p:spTree>
    <p:extLst>
      <p:ext uri="{BB962C8B-B14F-4D97-AF65-F5344CB8AC3E}">
        <p14:creationId xmlns:p14="http://schemas.microsoft.com/office/powerpoint/2010/main" val="27761436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Dan Isaacs - Digital Twin Consortium (privately):    4:03 PM</a:t>
            </a:r>
          </a:p>
          <a:p>
            <a:r>
              <a:rPr lang="en-GB" dirty="0"/>
              <a:t>HI Dan, any particular objectives you'd like to see today? Or carry on as normal?</a:t>
            </a:r>
          </a:p>
          <a:p>
            <a:r>
              <a:rPr lang="en-GB" dirty="0"/>
              <a:t>from Dan Isaacs - Digital Twin Consortium (privately):    4:06 PM</a:t>
            </a:r>
          </a:p>
          <a:p>
            <a:r>
              <a:rPr lang="en-GB" dirty="0"/>
              <a:t>not at this point other than </a:t>
            </a:r>
            <a:r>
              <a:rPr lang="en-GB" dirty="0" err="1"/>
              <a:t>disuss</a:t>
            </a:r>
            <a:r>
              <a:rPr lang="en-GB" dirty="0"/>
              <a:t> the stack expanded in context of graph/mesh</a:t>
            </a:r>
          </a:p>
          <a:p>
            <a:r>
              <a:rPr lang="en-GB" dirty="0"/>
              <a:t>from Dan Isaacs - Digital Twin Consortium to everyone:    4:24 PM</a:t>
            </a:r>
          </a:p>
          <a:p>
            <a:r>
              <a:rPr lang="en-GB" dirty="0"/>
              <a:t>An API describes all the valid messages that one program can accept. It says nothing about the proper ordering of these messages, or their interaction with other programs.</a:t>
            </a:r>
          </a:p>
          <a:p>
            <a:r>
              <a:rPr lang="en-GB" dirty="0"/>
              <a:t>Protocols sit on top of APIs. A protocol describes the valid sequence of messages that flow between the APIs of multiple parties to accomplish some higher-level task</a:t>
            </a:r>
          </a:p>
          <a:p>
            <a:r>
              <a:rPr lang="en-GB" dirty="0"/>
              <a:t>from Dan Isaacs - Digital Twin Consortium (privately):    4:24 PM</a:t>
            </a:r>
          </a:p>
          <a:p>
            <a:r>
              <a:rPr lang="en-GB" dirty="0"/>
              <a:t>Just put a description from the web on differences</a:t>
            </a:r>
          </a:p>
          <a:p>
            <a:r>
              <a:rPr lang="en-GB" dirty="0"/>
              <a:t>from Dan Isaacs - Digital Twin Consortium (privately):    4:26 PM</a:t>
            </a:r>
          </a:p>
          <a:p>
            <a:r>
              <a:rPr lang="en-GB" dirty="0"/>
              <a:t>so interesting points as </a:t>
            </a:r>
            <a:r>
              <a:rPr lang="en-GB" dirty="0" err="1"/>
              <a:t>i</a:t>
            </a:r>
            <a:r>
              <a:rPr lang="en-GB" dirty="0"/>
              <a:t> can see the opposite being true also</a:t>
            </a:r>
          </a:p>
          <a:p>
            <a:r>
              <a:rPr lang="en-GB" dirty="0"/>
              <a:t>from Sean Olcott to everyone:    4:37 PM</a:t>
            </a:r>
          </a:p>
          <a:p>
            <a:r>
              <a:rPr lang="en-GB" dirty="0"/>
              <a:t>In definition: A representational model is a digital model consisting of persisted information.</a:t>
            </a:r>
          </a:p>
          <a:p>
            <a:r>
              <a:rPr lang="en-GB" dirty="0"/>
              <a:t>A simulation model is an executable digital model (of a process) consisting of reference data and computational algorithms which (when executed or “run”) take representational models as input and produce representational models as output.</a:t>
            </a:r>
          </a:p>
          <a:p>
            <a:endParaRPr lang="en-GB" dirty="0"/>
          </a:p>
          <a:p>
            <a:r>
              <a:rPr lang="en-GB" dirty="0"/>
              <a:t>from Sean Olcott to everyone:    4:38 PM</a:t>
            </a:r>
          </a:p>
          <a:p>
            <a:r>
              <a:rPr lang="en-GB" dirty="0"/>
              <a:t>A representational model is a digital model consisting of persisted information.</a:t>
            </a:r>
          </a:p>
          <a:p>
            <a:r>
              <a:rPr lang="en-GB" dirty="0"/>
              <a:t>A simulation model is an executable digital model (of a process) consisting of reference data and computational algorithms which (when executed or “run”) take representational models as input and produce representational models as output.</a:t>
            </a:r>
          </a:p>
          <a:p>
            <a:endParaRPr lang="en-GB" dirty="0"/>
          </a:p>
          <a:p>
            <a:r>
              <a:rPr lang="en-GB" dirty="0"/>
              <a:t>from Sean Olcott to everyone:    4:54 PM</a:t>
            </a:r>
          </a:p>
          <a:p>
            <a:r>
              <a:rPr lang="en-GB" dirty="0"/>
              <a:t>In current draft of definition: To synchronize (in the context of a digital twin) means to cause the virtual representation to more-closely match the real-world or cause the real-world to more-closely match the virtual representation of a desired state.</a:t>
            </a:r>
          </a:p>
          <a:p>
            <a:r>
              <a:rPr lang="en-GB" dirty="0"/>
              <a:t>Real-to-virtual synchronization is the process of mirroring the real world in the virtual representation.</a:t>
            </a:r>
          </a:p>
          <a:p>
            <a:r>
              <a:rPr lang="en-GB" dirty="0"/>
              <a:t>Virtual-to-real synchronization is a process of mirroring the virtual representation into the real world.</a:t>
            </a:r>
          </a:p>
          <a:p>
            <a:r>
              <a:rPr lang="en-GB" dirty="0"/>
              <a:t>A real-to-virtual synchronization mechanism is a means by which the virtual representation is synchronized with the real-world as a result of observations made of the real-world. </a:t>
            </a:r>
          </a:p>
          <a:p>
            <a:r>
              <a:rPr lang="en-GB" dirty="0"/>
              <a:t>A virtual-to-real synchronization mechanism is a means by which the real world is changed to match an intended state depicted in the virtual representation.</a:t>
            </a:r>
          </a:p>
          <a:p>
            <a:r>
              <a:rPr lang="en-GB" dirty="0"/>
              <a:t>Synchronization frequency is the frequency with which synchronization occurs.</a:t>
            </a:r>
          </a:p>
          <a:p>
            <a:r>
              <a:rPr lang="en-GB" dirty="0"/>
              <a:t>Synchronizing fidelity is a characterization of the degree of detail and accuracy of the digital twin.</a:t>
            </a:r>
          </a:p>
          <a:p>
            <a:r>
              <a:rPr lang="en-GB" dirty="0"/>
              <a:t>from Chafia Aouissi to everyone:    4:54 PM</a:t>
            </a:r>
          </a:p>
          <a:p>
            <a:r>
              <a:rPr lang="en-GB" dirty="0"/>
              <a:t>I've to drop. Thank you everyone. Great discussions.</a:t>
            </a:r>
          </a:p>
        </p:txBody>
      </p:sp>
      <p:sp>
        <p:nvSpPr>
          <p:cNvPr id="4" name="Slide Number Placeholder 3"/>
          <p:cNvSpPr>
            <a:spLocks noGrp="1"/>
          </p:cNvSpPr>
          <p:nvPr>
            <p:ph type="sldNum" sz="quarter" idx="5"/>
          </p:nvPr>
        </p:nvSpPr>
        <p:spPr/>
        <p:txBody>
          <a:bodyPr/>
          <a:lstStyle/>
          <a:p>
            <a:fld id="{518AEB4F-9A24-4AB5-A444-3ADB622784C7}" type="slidenum">
              <a:rPr lang="en-US" smtClean="0"/>
              <a:t>2</a:t>
            </a:fld>
            <a:endParaRPr lang="en-US"/>
          </a:p>
        </p:txBody>
      </p:sp>
    </p:spTree>
    <p:extLst>
      <p:ext uri="{BB962C8B-B14F-4D97-AF65-F5344CB8AC3E}">
        <p14:creationId xmlns:p14="http://schemas.microsoft.com/office/powerpoint/2010/main" val="2571941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b="0" dirty="0"/>
          </a:p>
        </p:txBody>
      </p:sp>
      <p:sp>
        <p:nvSpPr>
          <p:cNvPr id="4" name="Slide Number Placeholder 3"/>
          <p:cNvSpPr>
            <a:spLocks noGrp="1"/>
          </p:cNvSpPr>
          <p:nvPr>
            <p:ph type="sldNum" sz="quarter" idx="5"/>
          </p:nvPr>
        </p:nvSpPr>
        <p:spPr/>
        <p:txBody>
          <a:bodyPr/>
          <a:lstStyle/>
          <a:p>
            <a:fld id="{518AEB4F-9A24-4AB5-A444-3ADB622784C7}" type="slidenum">
              <a:rPr lang="en-US" smtClean="0"/>
              <a:t>3</a:t>
            </a:fld>
            <a:endParaRPr lang="en-US"/>
          </a:p>
        </p:txBody>
      </p:sp>
    </p:spTree>
    <p:extLst>
      <p:ext uri="{BB962C8B-B14F-4D97-AF65-F5344CB8AC3E}">
        <p14:creationId xmlns:p14="http://schemas.microsoft.com/office/powerpoint/2010/main" val="1617809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518AEB4F-9A24-4AB5-A444-3ADB622784C7}" type="slidenum">
              <a:rPr lang="en-US" smtClean="0"/>
              <a:t>4</a:t>
            </a:fld>
            <a:endParaRPr lang="en-US"/>
          </a:p>
        </p:txBody>
      </p:sp>
    </p:spTree>
    <p:extLst>
      <p:ext uri="{BB962C8B-B14F-4D97-AF65-F5344CB8AC3E}">
        <p14:creationId xmlns:p14="http://schemas.microsoft.com/office/powerpoint/2010/main" val="717943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8AEB4F-9A24-4AB5-A444-3ADB622784C7}" type="slidenum">
              <a:rPr lang="en-US" smtClean="0"/>
              <a:t>5</a:t>
            </a:fld>
            <a:endParaRPr lang="en-US"/>
          </a:p>
        </p:txBody>
      </p:sp>
    </p:spTree>
    <p:extLst>
      <p:ext uri="{BB962C8B-B14F-4D97-AF65-F5344CB8AC3E}">
        <p14:creationId xmlns:p14="http://schemas.microsoft.com/office/powerpoint/2010/main" val="2540141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i="1" dirty="0">
                <a:highlight>
                  <a:srgbClr val="FFFF00"/>
                </a:highlight>
              </a:rPr>
              <a:t>Note: I’ve not included the concept of “assurance” as it should be encapsulated by the other 5</a:t>
            </a:r>
            <a:endParaRPr lang="en-GB" b="0" dirty="0"/>
          </a:p>
        </p:txBody>
      </p:sp>
      <p:sp>
        <p:nvSpPr>
          <p:cNvPr id="4" name="Slide Number Placeholder 3"/>
          <p:cNvSpPr>
            <a:spLocks noGrp="1"/>
          </p:cNvSpPr>
          <p:nvPr>
            <p:ph type="sldNum" sz="quarter" idx="5"/>
          </p:nvPr>
        </p:nvSpPr>
        <p:spPr/>
        <p:txBody>
          <a:bodyPr/>
          <a:lstStyle/>
          <a:p>
            <a:fld id="{518AEB4F-9A24-4AB5-A444-3ADB622784C7}" type="slidenum">
              <a:rPr lang="en-US" smtClean="0"/>
              <a:t>6</a:t>
            </a:fld>
            <a:endParaRPr lang="en-US"/>
          </a:p>
        </p:txBody>
      </p:sp>
    </p:spTree>
    <p:extLst>
      <p:ext uri="{BB962C8B-B14F-4D97-AF65-F5344CB8AC3E}">
        <p14:creationId xmlns:p14="http://schemas.microsoft.com/office/powerpoint/2010/main" val="1433360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34EA2"/>
        </a:solidFill>
        <a:effectLst/>
      </p:bgPr>
    </p:bg>
    <p:spTree>
      <p:nvGrpSpPr>
        <p:cNvPr id="1" name=""/>
        <p:cNvGrpSpPr/>
        <p:nvPr/>
      </p:nvGrpSpPr>
      <p:grpSpPr>
        <a:xfrm>
          <a:off x="0" y="0"/>
          <a:ext cx="0" cy="0"/>
          <a:chOff x="0" y="0"/>
          <a:chExt cx="0" cy="0"/>
        </a:xfrm>
      </p:grpSpPr>
      <p:sp>
        <p:nvSpPr>
          <p:cNvPr id="20" name="Oval 19"/>
          <p:cNvSpPr/>
          <p:nvPr/>
        </p:nvSpPr>
        <p:spPr>
          <a:xfrm>
            <a:off x="838200" y="869568"/>
            <a:ext cx="798369" cy="798369"/>
          </a:xfrm>
          <a:prstGeom prst="ellipse">
            <a:avLst/>
          </a:prstGeom>
          <a:solidFill>
            <a:srgbClr val="00C45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Oval 20"/>
          <p:cNvSpPr/>
          <p:nvPr/>
        </p:nvSpPr>
        <p:spPr>
          <a:xfrm>
            <a:off x="509784" y="3296098"/>
            <a:ext cx="453127" cy="453127"/>
          </a:xfrm>
          <a:prstGeom prst="ellipse">
            <a:avLst/>
          </a:prstGeom>
          <a:solidFill>
            <a:schemeClr val="accent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48006" y="1409612"/>
            <a:ext cx="2151485" cy="2151485"/>
          </a:xfrm>
          <a:prstGeom prst="ellipse">
            <a:avLst/>
          </a:prstGeom>
          <a:solidFill>
            <a:schemeClr val="bg2">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10007316" y="3075143"/>
            <a:ext cx="927969" cy="927969"/>
          </a:xfrm>
          <a:prstGeom prst="ellipse">
            <a:avLst/>
          </a:prstGeom>
          <a:solidFill>
            <a:schemeClr val="accent2">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Freeform 14"/>
          <p:cNvSpPr/>
          <p:nvPr userDrawn="1"/>
        </p:nvSpPr>
        <p:spPr>
          <a:xfrm flipH="1">
            <a:off x="10007316" y="2790662"/>
            <a:ext cx="2186006" cy="3789321"/>
          </a:xfrm>
          <a:custGeom>
            <a:avLst/>
            <a:gdLst>
              <a:gd name="connsiteX0" fmla="*/ 372517 w 2795044"/>
              <a:gd name="connsiteY0" fmla="*/ 0 h 4845054"/>
              <a:gd name="connsiteX1" fmla="*/ 2795044 w 2795044"/>
              <a:gd name="connsiteY1" fmla="*/ 2422527 h 4845054"/>
              <a:gd name="connsiteX2" fmla="*/ 372517 w 2795044"/>
              <a:gd name="connsiteY2" fmla="*/ 4845054 h 4845054"/>
              <a:gd name="connsiteX3" fmla="*/ 124828 w 2795044"/>
              <a:gd name="connsiteY3" fmla="*/ 4832547 h 4845054"/>
              <a:gd name="connsiteX4" fmla="*/ 0 w 2795044"/>
              <a:gd name="connsiteY4" fmla="*/ 4813496 h 4845054"/>
              <a:gd name="connsiteX5" fmla="*/ 0 w 2795044"/>
              <a:gd name="connsiteY5" fmla="*/ 31558 h 4845054"/>
              <a:gd name="connsiteX6" fmla="*/ 124828 w 2795044"/>
              <a:gd name="connsiteY6" fmla="*/ 12507 h 4845054"/>
              <a:gd name="connsiteX7" fmla="*/ 372517 w 2795044"/>
              <a:gd name="connsiteY7" fmla="*/ 0 h 4845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95044" h="4845054">
                <a:moveTo>
                  <a:pt x="372517" y="0"/>
                </a:moveTo>
                <a:cubicBezTo>
                  <a:pt x="1710442" y="0"/>
                  <a:pt x="2795044" y="1084602"/>
                  <a:pt x="2795044" y="2422527"/>
                </a:cubicBezTo>
                <a:cubicBezTo>
                  <a:pt x="2795044" y="3760452"/>
                  <a:pt x="1710442" y="4845054"/>
                  <a:pt x="372517" y="4845054"/>
                </a:cubicBezTo>
                <a:cubicBezTo>
                  <a:pt x="288897" y="4845054"/>
                  <a:pt x="206266" y="4840818"/>
                  <a:pt x="124828" y="4832547"/>
                </a:cubicBezTo>
                <a:lnTo>
                  <a:pt x="0" y="4813496"/>
                </a:lnTo>
                <a:lnTo>
                  <a:pt x="0" y="31558"/>
                </a:lnTo>
                <a:lnTo>
                  <a:pt x="124828" y="12507"/>
                </a:lnTo>
                <a:cubicBezTo>
                  <a:pt x="206266" y="4237"/>
                  <a:pt x="288897" y="0"/>
                  <a:pt x="372517" y="0"/>
                </a:cubicBezTo>
                <a:close/>
              </a:path>
            </a:pathLst>
          </a:custGeom>
          <a:solidFill>
            <a:srgbClr val="326FB4">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userDrawn="1"/>
        </p:nvSpPr>
        <p:spPr>
          <a:xfrm>
            <a:off x="10955042" y="5680502"/>
            <a:ext cx="611654" cy="611654"/>
          </a:xfrm>
          <a:prstGeom prst="ellipse">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userDrawn="1"/>
        </p:nvSpPr>
        <p:spPr>
          <a:xfrm>
            <a:off x="9618604" y="4844787"/>
            <a:ext cx="1735196" cy="1735196"/>
          </a:xfrm>
          <a:prstGeom prst="ellipse">
            <a:avLst/>
          </a:prstGeom>
          <a:solidFill>
            <a:schemeClr val="bg1">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9078FF-B56D-488A-B93D-8C50531D031C}"/>
              </a:ext>
            </a:extLst>
          </p:cNvPr>
          <p:cNvSpPr>
            <a:spLocks noGrp="1"/>
          </p:cNvSpPr>
          <p:nvPr userDrawn="1">
            <p:ph type="ctrTitle"/>
          </p:nvPr>
        </p:nvSpPr>
        <p:spPr>
          <a:xfrm>
            <a:off x="1426886" y="2953883"/>
            <a:ext cx="9144000" cy="1303596"/>
          </a:xfrm>
        </p:spPr>
        <p:txBody>
          <a:bodyPr anchor="ctr"/>
          <a:lstStyle>
            <a:lvl1pPr algn="ctr">
              <a:defRPr sz="6000" b="1">
                <a:solidFill>
                  <a:schemeClr val="accent4"/>
                </a:solidFill>
                <a:latin typeface="+mj-lt"/>
              </a:defRPr>
            </a:lvl1pPr>
          </a:lstStyle>
          <a:p>
            <a:r>
              <a:rPr lang="en-US"/>
              <a:t>Click to edit Master title style</a:t>
            </a:r>
          </a:p>
        </p:txBody>
      </p:sp>
      <p:sp>
        <p:nvSpPr>
          <p:cNvPr id="3" name="Subtitle 2">
            <a:extLst>
              <a:ext uri="{FF2B5EF4-FFF2-40B4-BE49-F238E27FC236}">
                <a16:creationId xmlns:a16="http://schemas.microsoft.com/office/drawing/2014/main" id="{CBF1E494-4736-4125-A498-B42E1E98C495}"/>
              </a:ext>
            </a:extLst>
          </p:cNvPr>
          <p:cNvSpPr>
            <a:spLocks noGrp="1"/>
          </p:cNvSpPr>
          <p:nvPr userDrawn="1">
            <p:ph type="subTitle" idx="1"/>
          </p:nvPr>
        </p:nvSpPr>
        <p:spPr>
          <a:xfrm>
            <a:off x="1524000" y="5057750"/>
            <a:ext cx="9144000" cy="456778"/>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2800" y="655207"/>
            <a:ext cx="5486400" cy="1674951"/>
          </a:xfrm>
          <a:prstGeom prst="rect">
            <a:avLst/>
          </a:prstGeom>
        </p:spPr>
      </p:pic>
      <p:sp>
        <p:nvSpPr>
          <p:cNvPr id="19" name="Oval 18"/>
          <p:cNvSpPr/>
          <p:nvPr/>
        </p:nvSpPr>
        <p:spPr>
          <a:xfrm>
            <a:off x="1256256" y="1086534"/>
            <a:ext cx="1186508" cy="1186508"/>
          </a:xfrm>
          <a:prstGeom prst="ellipse">
            <a:avLst/>
          </a:prstGeom>
          <a:solidFill>
            <a:schemeClr val="accent1">
              <a:lumMod val="40000"/>
              <a:lumOff val="60000"/>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176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61AD11D-63D7-4763-A80B-DDB59C13DEA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3" name="Content Placeholder 2">
            <a:extLst>
              <a:ext uri="{FF2B5EF4-FFF2-40B4-BE49-F238E27FC236}">
                <a16:creationId xmlns:a16="http://schemas.microsoft.com/office/drawing/2014/main" id="{05627BE2-6929-463D-9A0E-27E9460EA21E}"/>
              </a:ext>
            </a:extLst>
          </p:cNvPr>
          <p:cNvSpPr>
            <a:spLocks noGrp="1"/>
          </p:cNvSpPr>
          <p:nvPr userDrawn="1">
            <p:ph idx="1"/>
          </p:nvPr>
        </p:nvSpPr>
        <p:spPr/>
        <p:txBody>
          <a:bodyPr/>
          <a:lstStyle>
            <a:lvl1pPr>
              <a:buClr>
                <a:srgbClr val="F7941D"/>
              </a:buClr>
              <a:buSzPct val="100000"/>
              <a:defRPr/>
            </a:lvl1pPr>
            <a:lvl2pPr>
              <a:buClr>
                <a:schemeClr val="tx2"/>
              </a:buClr>
              <a:defRPr>
                <a:solidFill>
                  <a:schemeClr val="tx1"/>
                </a:solidFill>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Date Placeholder 35"/>
          <p:cNvSpPr>
            <a:spLocks noGrp="1"/>
          </p:cNvSpPr>
          <p:nvPr userDrawn="1">
            <p:ph type="dt" sz="half" idx="14"/>
          </p:nvPr>
        </p:nvSpPr>
        <p:spPr/>
        <p:txBody>
          <a:bodyPr/>
          <a:lstStyle/>
          <a:p>
            <a:fld id="{E86231B4-8799-4095-A9F6-88F13DCCFFE2}" type="datetime1">
              <a:rPr lang="en-US" smtClean="0"/>
              <a:t>1/6/2021</a:t>
            </a:fld>
            <a:endParaRPr lang="en-US"/>
          </a:p>
        </p:txBody>
      </p:sp>
      <p:sp>
        <p:nvSpPr>
          <p:cNvPr id="37" name="Footer Placeholder 36"/>
          <p:cNvSpPr>
            <a:spLocks noGrp="1"/>
          </p:cNvSpPr>
          <p:nvPr userDrawn="1">
            <p:ph type="ftr" sz="quarter" idx="15"/>
          </p:nvPr>
        </p:nvSpPr>
        <p:spPr/>
        <p:txBody>
          <a:bodyPr/>
          <a:lstStyle/>
          <a:p>
            <a:endParaRPr lang="en-US"/>
          </a:p>
        </p:txBody>
      </p:sp>
      <p:sp>
        <p:nvSpPr>
          <p:cNvPr id="38" name="Slide Number Placeholder 37"/>
          <p:cNvSpPr>
            <a:spLocks noGrp="1"/>
          </p:cNvSpPr>
          <p:nvPr userDrawn="1">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23" name="Rectangle 22">
            <a:extLst>
              <a:ext uri="{FF2B5EF4-FFF2-40B4-BE49-F238E27FC236}">
                <a16:creationId xmlns:a16="http://schemas.microsoft.com/office/drawing/2014/main" id="{09E65EE2-5635-4C5D-8131-361B9802D922}"/>
              </a:ext>
            </a:extLst>
          </p:cNvPr>
          <p:cNvSpPr/>
          <p:nvPr userDrawn="1"/>
        </p:nvSpPr>
        <p:spPr>
          <a:xfrm>
            <a:off x="0" y="0"/>
            <a:ext cx="12192000" cy="1346200"/>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C66519-DD0B-4374-8217-6D6F8CC25061}"/>
              </a:ext>
            </a:extLst>
          </p:cNvPr>
          <p:cNvSpPr>
            <a:spLocks noGrp="1"/>
          </p:cNvSpPr>
          <p:nvPr>
            <p:ph type="title"/>
          </p:nvPr>
        </p:nvSpPr>
        <p:spPr>
          <a:xfrm>
            <a:off x="836676" y="61277"/>
            <a:ext cx="10515600" cy="1325563"/>
          </a:xfrm>
        </p:spPr>
        <p:txBody>
          <a:bodyPr>
            <a:normAutofit/>
          </a:bodyPr>
          <a:lstStyle>
            <a:lvl1pPr>
              <a:defRPr sz="4800">
                <a:solidFill>
                  <a:schemeClr val="bg1"/>
                </a:solidFill>
                <a:latin typeface="+mn-lt"/>
              </a:defRPr>
            </a:lvl1pPr>
          </a:lstStyle>
          <a:p>
            <a:r>
              <a:rPr lang="en-US"/>
              <a:t>Click to edit Master title style</a:t>
            </a:r>
          </a:p>
        </p:txBody>
      </p:sp>
      <p:cxnSp>
        <p:nvCxnSpPr>
          <p:cNvPr id="39" name="Straight Connector 38">
            <a:extLst>
              <a:ext uri="{FF2B5EF4-FFF2-40B4-BE49-F238E27FC236}">
                <a16:creationId xmlns:a16="http://schemas.microsoft.com/office/drawing/2014/main" id="{E3262A37-01F5-45C4-82F5-49C70BA04B38}"/>
              </a:ext>
            </a:extLst>
          </p:cNvPr>
          <p:cNvCxnSpPr/>
          <p:nvPr userDrawn="1"/>
        </p:nvCxnSpPr>
        <p:spPr>
          <a:xfrm>
            <a:off x="0" y="1378373"/>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905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61AD11D-63D7-4763-A80B-DDB59C13DEA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36" name="Date Placeholder 35"/>
          <p:cNvSpPr>
            <a:spLocks noGrp="1"/>
          </p:cNvSpPr>
          <p:nvPr userDrawn="1">
            <p:ph type="dt" sz="half" idx="14"/>
          </p:nvPr>
        </p:nvSpPr>
        <p:spPr/>
        <p:txBody>
          <a:bodyPr/>
          <a:lstStyle/>
          <a:p>
            <a:fld id="{6BF04978-D66A-441D-AAA4-8DA7AE7C797C}" type="datetime1">
              <a:rPr lang="en-US" smtClean="0"/>
              <a:t>1/6/2021</a:t>
            </a:fld>
            <a:endParaRPr lang="en-US"/>
          </a:p>
        </p:txBody>
      </p:sp>
      <p:sp>
        <p:nvSpPr>
          <p:cNvPr id="37" name="Footer Placeholder 36"/>
          <p:cNvSpPr>
            <a:spLocks noGrp="1"/>
          </p:cNvSpPr>
          <p:nvPr userDrawn="1">
            <p:ph type="ftr" sz="quarter" idx="15"/>
          </p:nvPr>
        </p:nvSpPr>
        <p:spPr/>
        <p:txBody>
          <a:bodyPr/>
          <a:lstStyle/>
          <a:p>
            <a:endParaRPr lang="en-US"/>
          </a:p>
        </p:txBody>
      </p:sp>
      <p:sp>
        <p:nvSpPr>
          <p:cNvPr id="38" name="Slide Number Placeholder 37"/>
          <p:cNvSpPr>
            <a:spLocks noGrp="1"/>
          </p:cNvSpPr>
          <p:nvPr userDrawn="1">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23" name="Rectangle 22">
            <a:extLst>
              <a:ext uri="{FF2B5EF4-FFF2-40B4-BE49-F238E27FC236}">
                <a16:creationId xmlns:a16="http://schemas.microsoft.com/office/drawing/2014/main" id="{09E65EE2-5635-4C5D-8131-361B9802D922}"/>
              </a:ext>
            </a:extLst>
          </p:cNvPr>
          <p:cNvSpPr/>
          <p:nvPr userDrawn="1"/>
        </p:nvSpPr>
        <p:spPr>
          <a:xfrm>
            <a:off x="0" y="0"/>
            <a:ext cx="12192000" cy="1346200"/>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C66519-DD0B-4374-8217-6D6F8CC25061}"/>
              </a:ext>
            </a:extLst>
          </p:cNvPr>
          <p:cNvSpPr>
            <a:spLocks noGrp="1"/>
          </p:cNvSpPr>
          <p:nvPr>
            <p:ph type="title"/>
          </p:nvPr>
        </p:nvSpPr>
        <p:spPr>
          <a:xfrm>
            <a:off x="836676" y="61277"/>
            <a:ext cx="10515600" cy="1325563"/>
          </a:xfrm>
        </p:spPr>
        <p:txBody>
          <a:bodyPr>
            <a:normAutofit/>
          </a:bodyPr>
          <a:lstStyle>
            <a:lvl1pPr>
              <a:defRPr sz="4800">
                <a:solidFill>
                  <a:schemeClr val="bg1"/>
                </a:solidFill>
                <a:latin typeface="+mn-lt"/>
              </a:defRPr>
            </a:lvl1pPr>
          </a:lstStyle>
          <a:p>
            <a:r>
              <a:rPr lang="en-US"/>
              <a:t>Click to edit Master title style</a:t>
            </a:r>
          </a:p>
        </p:txBody>
      </p:sp>
      <p:cxnSp>
        <p:nvCxnSpPr>
          <p:cNvPr id="39" name="Straight Connector 38">
            <a:extLst>
              <a:ext uri="{FF2B5EF4-FFF2-40B4-BE49-F238E27FC236}">
                <a16:creationId xmlns:a16="http://schemas.microsoft.com/office/drawing/2014/main" id="{E3262A37-01F5-45C4-82F5-49C70BA04B38}"/>
              </a:ext>
            </a:extLst>
          </p:cNvPr>
          <p:cNvCxnSpPr/>
          <p:nvPr userDrawn="1"/>
        </p:nvCxnSpPr>
        <p:spPr>
          <a:xfrm>
            <a:off x="0" y="1378373"/>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04E22E8B-D220-416C-95A4-73AFE090E045}"/>
              </a:ext>
            </a:extLst>
          </p:cNvPr>
          <p:cNvSpPr>
            <a:spLocks noGrp="1"/>
          </p:cNvSpPr>
          <p:nvPr>
            <p:ph sz="half" idx="1"/>
          </p:nvPr>
        </p:nvSpPr>
        <p:spPr>
          <a:xfrm>
            <a:off x="838200" y="1825625"/>
            <a:ext cx="5181600" cy="4351338"/>
          </a:xfrm>
        </p:spPr>
        <p:txBody>
          <a:bodyPr/>
          <a:lstStyle>
            <a:lvl1pPr>
              <a:buClr>
                <a:schemeClr val="accent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C57709D6-DEC3-41F8-8E5B-526AAA18C7B4}"/>
              </a:ext>
            </a:extLst>
          </p:cNvPr>
          <p:cNvSpPr>
            <a:spLocks noGrp="1"/>
          </p:cNvSpPr>
          <p:nvPr>
            <p:ph sz="half" idx="2"/>
          </p:nvPr>
        </p:nvSpPr>
        <p:spPr>
          <a:xfrm>
            <a:off x="6172200" y="1825625"/>
            <a:ext cx="5181600" cy="4351338"/>
          </a:xfrm>
        </p:spPr>
        <p:txBody>
          <a:bodyPr/>
          <a:lstStyle>
            <a:lvl1pPr>
              <a:buClr>
                <a:schemeClr val="accent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91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1">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02A70AB-C5E0-4182-A412-7EBB0125DC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5" name="Date Placeholder 35">
            <a:extLst>
              <a:ext uri="{FF2B5EF4-FFF2-40B4-BE49-F238E27FC236}">
                <a16:creationId xmlns:a16="http://schemas.microsoft.com/office/drawing/2014/main" id="{B1F121D8-051A-4F4C-8623-98F1260A1CBD}"/>
              </a:ext>
            </a:extLst>
          </p:cNvPr>
          <p:cNvSpPr>
            <a:spLocks noGrp="1"/>
          </p:cNvSpPr>
          <p:nvPr>
            <p:ph type="dt" sz="half" idx="14"/>
          </p:nvPr>
        </p:nvSpPr>
        <p:spPr>
          <a:xfrm>
            <a:off x="838200" y="6356350"/>
            <a:ext cx="2743200" cy="365125"/>
          </a:xfrm>
        </p:spPr>
        <p:txBody>
          <a:bodyPr/>
          <a:lstStyle/>
          <a:p>
            <a:fld id="{A44A6C12-8802-481D-B329-FC58F760DE11}" type="datetime1">
              <a:rPr lang="en-US" smtClean="0"/>
              <a:t>1/6/2021</a:t>
            </a:fld>
            <a:endParaRPr lang="en-US"/>
          </a:p>
        </p:txBody>
      </p:sp>
      <p:sp>
        <p:nvSpPr>
          <p:cNvPr id="26" name="Footer Placeholder 36">
            <a:extLst>
              <a:ext uri="{FF2B5EF4-FFF2-40B4-BE49-F238E27FC236}">
                <a16:creationId xmlns:a16="http://schemas.microsoft.com/office/drawing/2014/main" id="{1186F3A4-02DF-438F-A96D-5A616B66F437}"/>
              </a:ext>
            </a:extLst>
          </p:cNvPr>
          <p:cNvSpPr>
            <a:spLocks noGrp="1"/>
          </p:cNvSpPr>
          <p:nvPr>
            <p:ph type="ftr" sz="quarter" idx="15"/>
          </p:nvPr>
        </p:nvSpPr>
        <p:spPr>
          <a:xfrm>
            <a:off x="4038600" y="6356350"/>
            <a:ext cx="4114800" cy="365125"/>
          </a:xfrm>
        </p:spPr>
        <p:txBody>
          <a:bodyPr/>
          <a:lstStyle/>
          <a:p>
            <a:endParaRPr lang="en-US"/>
          </a:p>
        </p:txBody>
      </p:sp>
      <p:sp>
        <p:nvSpPr>
          <p:cNvPr id="27" name="Slide Number Placeholder 37">
            <a:extLst>
              <a:ext uri="{FF2B5EF4-FFF2-40B4-BE49-F238E27FC236}">
                <a16:creationId xmlns:a16="http://schemas.microsoft.com/office/drawing/2014/main" id="{26D0D916-9988-4506-B1D2-26E3A5CCB704}"/>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28" name="Rectangle 27">
            <a:extLst>
              <a:ext uri="{FF2B5EF4-FFF2-40B4-BE49-F238E27FC236}">
                <a16:creationId xmlns:a16="http://schemas.microsoft.com/office/drawing/2014/main" id="{6646629B-6672-4286-BBEA-840A6FEB26A3}"/>
              </a:ext>
            </a:extLst>
          </p:cNvPr>
          <p:cNvSpPr/>
          <p:nvPr userDrawn="1"/>
        </p:nvSpPr>
        <p:spPr>
          <a:xfrm>
            <a:off x="0" y="0"/>
            <a:ext cx="12192000" cy="1346200"/>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74B3FB89-5D9E-417F-A1E7-0A30E7CE1CD1}"/>
              </a:ext>
            </a:extLst>
          </p:cNvPr>
          <p:cNvCxnSpPr/>
          <p:nvPr userDrawn="1"/>
        </p:nvCxnSpPr>
        <p:spPr>
          <a:xfrm>
            <a:off x="0" y="1378373"/>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6B16A2E2-2E87-4BDD-9654-AFD356C4C63D}"/>
              </a:ext>
            </a:extLst>
          </p:cNvPr>
          <p:cNvSpPr>
            <a:spLocks noGrp="1"/>
          </p:cNvSpPr>
          <p:nvPr>
            <p:ph type="title"/>
          </p:nvPr>
        </p:nvSpPr>
        <p:spPr>
          <a:xfrm>
            <a:off x="836676" y="61277"/>
            <a:ext cx="10515600" cy="1325563"/>
          </a:xfrm>
        </p:spPr>
        <p:txBody>
          <a:bodyPr>
            <a:normAutofit/>
          </a:bodyPr>
          <a:lstStyle>
            <a:lvl1pPr>
              <a:defRPr sz="4800">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2808277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Break">
    <p:bg>
      <p:bgPr>
        <a:solidFill>
          <a:srgbClr val="034EA2"/>
        </a:solidFill>
        <a:effectLst/>
      </p:bgPr>
    </p:bg>
    <p:spTree>
      <p:nvGrpSpPr>
        <p:cNvPr id="1" name=""/>
        <p:cNvGrpSpPr/>
        <p:nvPr/>
      </p:nvGrpSpPr>
      <p:grpSpPr>
        <a:xfrm>
          <a:off x="0" y="0"/>
          <a:ext cx="0" cy="0"/>
          <a:chOff x="0" y="0"/>
          <a:chExt cx="0" cy="0"/>
        </a:xfrm>
      </p:grpSpPr>
      <p:grpSp>
        <p:nvGrpSpPr>
          <p:cNvPr id="11" name="Group 10"/>
          <p:cNvGrpSpPr/>
          <p:nvPr userDrawn="1"/>
        </p:nvGrpSpPr>
        <p:grpSpPr>
          <a:xfrm>
            <a:off x="295743" y="278648"/>
            <a:ext cx="1058839" cy="1469212"/>
            <a:chOff x="295743" y="278648"/>
            <a:chExt cx="1058839" cy="1469212"/>
          </a:xfrm>
        </p:grpSpPr>
        <p:sp>
          <p:nvSpPr>
            <p:cNvPr id="5" name="Oval 4"/>
            <p:cNvSpPr/>
            <p:nvPr userDrawn="1"/>
          </p:nvSpPr>
          <p:spPr>
            <a:xfrm rot="21430362">
              <a:off x="295743" y="1385061"/>
              <a:ext cx="362799" cy="362799"/>
            </a:xfrm>
            <a:prstGeom prst="ellipse">
              <a:avLst/>
            </a:prstGeom>
            <a:solidFill>
              <a:srgbClr val="F8961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userDrawn="1"/>
          </p:nvSpPr>
          <p:spPr>
            <a:xfrm rot="21030870">
              <a:off x="446702" y="1120454"/>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userDrawn="1"/>
          </p:nvSpPr>
          <p:spPr>
            <a:xfrm rot="21030870">
              <a:off x="554603" y="861630"/>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userDrawn="1"/>
          </p:nvSpPr>
          <p:spPr>
            <a:xfrm rot="21030870">
              <a:off x="723951" y="613612"/>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rot="21030870">
              <a:off x="939994" y="415759"/>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userDrawn="1"/>
          </p:nvSpPr>
          <p:spPr>
            <a:xfrm rot="21030870">
              <a:off x="1216373" y="278648"/>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userDrawn="1"/>
        </p:nvGrpSpPr>
        <p:grpSpPr>
          <a:xfrm rot="10800000">
            <a:off x="10752161" y="5069700"/>
            <a:ext cx="1058839" cy="1469212"/>
            <a:chOff x="295743" y="278648"/>
            <a:chExt cx="1058839" cy="1469212"/>
          </a:xfrm>
        </p:grpSpPr>
        <p:sp>
          <p:nvSpPr>
            <p:cNvPr id="13" name="Oval 12"/>
            <p:cNvSpPr/>
            <p:nvPr userDrawn="1"/>
          </p:nvSpPr>
          <p:spPr>
            <a:xfrm rot="21430362">
              <a:off x="295743" y="1385061"/>
              <a:ext cx="362799" cy="362799"/>
            </a:xfrm>
            <a:prstGeom prst="ellipse">
              <a:avLst/>
            </a:prstGeom>
            <a:solidFill>
              <a:srgbClr val="F8961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rot="21030870">
              <a:off x="446702" y="1120454"/>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rot="21030870">
              <a:off x="554603" y="861630"/>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userDrawn="1"/>
          </p:nvSpPr>
          <p:spPr>
            <a:xfrm rot="21030870">
              <a:off x="723951" y="613612"/>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userDrawn="1"/>
          </p:nvSpPr>
          <p:spPr>
            <a:xfrm rot="21030870">
              <a:off x="939994" y="415759"/>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userDrawn="1"/>
          </p:nvSpPr>
          <p:spPr>
            <a:xfrm rot="21030870">
              <a:off x="1216373" y="278648"/>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itle 22">
            <a:extLst>
              <a:ext uri="{FF2B5EF4-FFF2-40B4-BE49-F238E27FC236}">
                <a16:creationId xmlns:a16="http://schemas.microsoft.com/office/drawing/2014/main" id="{69618F3F-2ABF-4459-9284-29700F025895}"/>
              </a:ext>
            </a:extLst>
          </p:cNvPr>
          <p:cNvSpPr>
            <a:spLocks noGrp="1"/>
          </p:cNvSpPr>
          <p:nvPr>
            <p:ph type="title" hasCustomPrompt="1"/>
          </p:nvPr>
        </p:nvSpPr>
        <p:spPr>
          <a:xfrm>
            <a:off x="838200" y="2766219"/>
            <a:ext cx="10515600" cy="1325563"/>
          </a:xfrm>
        </p:spPr>
        <p:txBody>
          <a:bodyPr>
            <a:normAutofit/>
          </a:bodyPr>
          <a:lstStyle>
            <a:lvl1pPr algn="ctr">
              <a:defRPr sz="5400">
                <a:solidFill>
                  <a:schemeClr val="bg1"/>
                </a:solidFill>
                <a:latin typeface="+mn-lt"/>
              </a:defRPr>
            </a:lvl1pPr>
          </a:lstStyle>
          <a:p>
            <a:r>
              <a:rPr lang="en-US"/>
              <a:t>Section break</a:t>
            </a:r>
          </a:p>
        </p:txBody>
      </p:sp>
    </p:spTree>
    <p:extLst>
      <p:ext uri="{BB962C8B-B14F-4D97-AF65-F5344CB8AC3E}">
        <p14:creationId xmlns:p14="http://schemas.microsoft.com/office/powerpoint/2010/main" val="2739154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_withPageNumber">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02A70AB-C5E0-4182-A412-7EBB0125DC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5" name="Date Placeholder 35">
            <a:extLst>
              <a:ext uri="{FF2B5EF4-FFF2-40B4-BE49-F238E27FC236}">
                <a16:creationId xmlns:a16="http://schemas.microsoft.com/office/drawing/2014/main" id="{B1F121D8-051A-4F4C-8623-98F1260A1CBD}"/>
              </a:ext>
            </a:extLst>
          </p:cNvPr>
          <p:cNvSpPr>
            <a:spLocks noGrp="1"/>
          </p:cNvSpPr>
          <p:nvPr>
            <p:ph type="dt" sz="half" idx="14"/>
          </p:nvPr>
        </p:nvSpPr>
        <p:spPr>
          <a:xfrm>
            <a:off x="838200" y="6356350"/>
            <a:ext cx="2743200" cy="365125"/>
          </a:xfrm>
        </p:spPr>
        <p:txBody>
          <a:bodyPr/>
          <a:lstStyle/>
          <a:p>
            <a:fld id="{9E9D4424-898E-4C95-B84F-5235E02059BA}" type="datetime1">
              <a:rPr lang="en-US" smtClean="0"/>
              <a:t>1/6/2021</a:t>
            </a:fld>
            <a:endParaRPr lang="en-US"/>
          </a:p>
        </p:txBody>
      </p:sp>
      <p:sp>
        <p:nvSpPr>
          <p:cNvPr id="26" name="Footer Placeholder 36">
            <a:extLst>
              <a:ext uri="{FF2B5EF4-FFF2-40B4-BE49-F238E27FC236}">
                <a16:creationId xmlns:a16="http://schemas.microsoft.com/office/drawing/2014/main" id="{1186F3A4-02DF-438F-A96D-5A616B66F437}"/>
              </a:ext>
            </a:extLst>
          </p:cNvPr>
          <p:cNvSpPr>
            <a:spLocks noGrp="1"/>
          </p:cNvSpPr>
          <p:nvPr>
            <p:ph type="ftr" sz="quarter" idx="15"/>
          </p:nvPr>
        </p:nvSpPr>
        <p:spPr>
          <a:xfrm>
            <a:off x="4038600" y="6356350"/>
            <a:ext cx="4114800" cy="365125"/>
          </a:xfrm>
        </p:spPr>
        <p:txBody>
          <a:bodyPr/>
          <a:lstStyle/>
          <a:p>
            <a:endParaRPr lang="en-US"/>
          </a:p>
        </p:txBody>
      </p:sp>
      <p:sp>
        <p:nvSpPr>
          <p:cNvPr id="27" name="Slide Number Placeholder 37">
            <a:extLst>
              <a:ext uri="{FF2B5EF4-FFF2-40B4-BE49-F238E27FC236}">
                <a16:creationId xmlns:a16="http://schemas.microsoft.com/office/drawing/2014/main" id="{26D0D916-9988-4506-B1D2-26E3A5CCB704}"/>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Tree>
    <p:extLst>
      <p:ext uri="{BB962C8B-B14F-4D97-AF65-F5344CB8AC3E}">
        <p14:creationId xmlns:p14="http://schemas.microsoft.com/office/powerpoint/2010/main" val="1331043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777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Blu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9591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Blue_withPageNumber">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ED7FD18C-E25E-43A2-9CAD-6DEC223C29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3" name="Slide Number Placeholder 37">
            <a:extLst>
              <a:ext uri="{FF2B5EF4-FFF2-40B4-BE49-F238E27FC236}">
                <a16:creationId xmlns:a16="http://schemas.microsoft.com/office/drawing/2014/main" id="{1E9C6EF1-F1DE-473D-AC0B-94E59E3AE521}"/>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5" name="Date Placeholder 35">
            <a:extLst>
              <a:ext uri="{FF2B5EF4-FFF2-40B4-BE49-F238E27FC236}">
                <a16:creationId xmlns:a16="http://schemas.microsoft.com/office/drawing/2014/main" id="{2CA6F28B-C080-48F0-8D75-94208B11E046}"/>
              </a:ext>
            </a:extLst>
          </p:cNvPr>
          <p:cNvSpPr>
            <a:spLocks noGrp="1"/>
          </p:cNvSpPr>
          <p:nvPr>
            <p:ph type="dt" sz="half" idx="14"/>
          </p:nvPr>
        </p:nvSpPr>
        <p:spPr>
          <a:xfrm>
            <a:off x="838200" y="6356350"/>
            <a:ext cx="2743200" cy="365125"/>
          </a:xfrm>
        </p:spPr>
        <p:txBody>
          <a:bodyPr/>
          <a:lstStyle/>
          <a:p>
            <a:fld id="{331BDA9A-DF2E-49C1-95A2-4F5F4AA1116C}" type="datetime1">
              <a:rPr lang="en-US" smtClean="0"/>
              <a:t>1/6/2021</a:t>
            </a:fld>
            <a:endParaRPr lang="en-US"/>
          </a:p>
        </p:txBody>
      </p:sp>
      <p:sp>
        <p:nvSpPr>
          <p:cNvPr id="6" name="Footer Placeholder 36">
            <a:extLst>
              <a:ext uri="{FF2B5EF4-FFF2-40B4-BE49-F238E27FC236}">
                <a16:creationId xmlns:a16="http://schemas.microsoft.com/office/drawing/2014/main" id="{69397C78-A924-4CC3-B931-B736F5C071F4}"/>
              </a:ext>
            </a:extLst>
          </p:cNvPr>
          <p:cNvSpPr>
            <a:spLocks noGrp="1"/>
          </p:cNvSpPr>
          <p:nvPr>
            <p:ph type="ftr" sz="quarter" idx="15"/>
          </p:nvPr>
        </p:nvSpPr>
        <p:spPr>
          <a:xfrm>
            <a:off x="4038600" y="6356350"/>
            <a:ext cx="4114800" cy="365125"/>
          </a:xfrm>
        </p:spPr>
        <p:txBody>
          <a:bodyPr/>
          <a:lstStyle/>
          <a:p>
            <a:endParaRPr lang="en-US"/>
          </a:p>
        </p:txBody>
      </p:sp>
    </p:spTree>
    <p:extLst>
      <p:ext uri="{BB962C8B-B14F-4D97-AF65-F5344CB8AC3E}">
        <p14:creationId xmlns:p14="http://schemas.microsoft.com/office/powerpoint/2010/main" val="159167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D65528-1CB3-436D-BB16-1DD1A82B5B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F0B96C-5600-4F30-B2E5-48AD4116C0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57794E-6D1B-4566-A546-EF2F0A7B0F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06C1EE-673C-4BF7-B8EE-4F142CE073E2}" type="datetime1">
              <a:rPr lang="en-US" smtClean="0"/>
              <a:t>1/6/2021</a:t>
            </a:fld>
            <a:endParaRPr lang="en-US"/>
          </a:p>
        </p:txBody>
      </p:sp>
      <p:sp>
        <p:nvSpPr>
          <p:cNvPr id="5" name="Footer Placeholder 4">
            <a:extLst>
              <a:ext uri="{FF2B5EF4-FFF2-40B4-BE49-F238E27FC236}">
                <a16:creationId xmlns:a16="http://schemas.microsoft.com/office/drawing/2014/main" id="{E845911E-2B9C-415D-B821-8DAD7C7F7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72706F-717A-4858-B886-4D5755F5EC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358FA9-F386-4A12-B482-464C32CE5754}" type="slidenum">
              <a:rPr lang="en-US" smtClean="0"/>
              <a:t>‹#›</a:t>
            </a:fld>
            <a:endParaRPr lang="en-US"/>
          </a:p>
        </p:txBody>
      </p:sp>
    </p:spTree>
    <p:extLst>
      <p:ext uri="{BB962C8B-B14F-4D97-AF65-F5344CB8AC3E}">
        <p14:creationId xmlns:p14="http://schemas.microsoft.com/office/powerpoint/2010/main" val="1034123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2" r:id="rId4"/>
    <p:sldLayoutId id="2147483655" r:id="rId5"/>
    <p:sldLayoutId id="2147483664" r:id="rId6"/>
    <p:sldLayoutId id="2147483653" r:id="rId7"/>
    <p:sldLayoutId id="2147483654" r:id="rId8"/>
    <p:sldLayoutId id="2147483663"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platform-stacks@engage.digitaltwinconsortium.or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4.png"/><Relationship Id="rId4" Type="http://schemas.openxmlformats.org/officeDocument/2006/relationships/image" Target="../media/image3.png"/><Relationship Id="rId1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80E8-6D23-490F-9781-2C14A2F0A6A5}"/>
              </a:ext>
            </a:extLst>
          </p:cNvPr>
          <p:cNvSpPr>
            <a:spLocks noGrp="1"/>
          </p:cNvSpPr>
          <p:nvPr>
            <p:ph type="ctrTitle"/>
          </p:nvPr>
        </p:nvSpPr>
        <p:spPr/>
        <p:txBody>
          <a:bodyPr/>
          <a:lstStyle/>
          <a:p>
            <a:r>
              <a:rPr lang="en-GB"/>
              <a:t>Platform Stacks Tiger Team</a:t>
            </a:r>
          </a:p>
        </p:txBody>
      </p:sp>
      <p:sp>
        <p:nvSpPr>
          <p:cNvPr id="3" name="Subtitle 2">
            <a:extLst>
              <a:ext uri="{FF2B5EF4-FFF2-40B4-BE49-F238E27FC236}">
                <a16:creationId xmlns:a16="http://schemas.microsoft.com/office/drawing/2014/main" id="{BB57D60E-80D1-41B3-B111-3CEAEC2D581F}"/>
              </a:ext>
            </a:extLst>
          </p:cNvPr>
          <p:cNvSpPr>
            <a:spLocks noGrp="1"/>
          </p:cNvSpPr>
          <p:nvPr>
            <p:ph type="subTitle" idx="1"/>
          </p:nvPr>
        </p:nvSpPr>
        <p:spPr>
          <a:xfrm>
            <a:off x="696286" y="4615941"/>
            <a:ext cx="10799428" cy="1709358"/>
          </a:xfrm>
        </p:spPr>
        <p:txBody>
          <a:bodyPr>
            <a:normAutofit fontScale="92500"/>
          </a:bodyPr>
          <a:lstStyle/>
          <a:p>
            <a:r>
              <a:rPr lang="en-GB" sz="3600" b="1" dirty="0"/>
              <a:t>Email: </a:t>
            </a:r>
            <a:r>
              <a:rPr lang="en-GB" sz="3600" b="1" dirty="0">
                <a:solidFill>
                  <a:schemeClr val="accent4"/>
                </a:solidFill>
                <a:hlinkClick r:id="rId2">
                  <a:extLst>
                    <a:ext uri="{A12FA001-AC4F-418D-AE19-62706E023703}">
                      <ahyp:hlinkClr xmlns:ahyp="http://schemas.microsoft.com/office/drawing/2018/hyperlinkcolor" val="tx"/>
                    </a:ext>
                  </a:extLst>
                </a:hlinkClick>
              </a:rPr>
              <a:t>platform-stacks@engage.digitaltwinconsortium.org</a:t>
            </a:r>
            <a:endParaRPr lang="en-GB" sz="3600" b="1" dirty="0">
              <a:solidFill>
                <a:schemeClr val="accent4"/>
              </a:solidFill>
            </a:endParaRPr>
          </a:p>
          <a:p>
            <a:endParaRPr lang="en-GB" sz="3600" b="1" dirty="0"/>
          </a:p>
          <a:p>
            <a:r>
              <a:rPr lang="en-GB" dirty="0"/>
              <a:t>9</a:t>
            </a:r>
            <a:r>
              <a:rPr lang="en-GB" baseline="30000" dirty="0"/>
              <a:t>th</a:t>
            </a:r>
            <a:r>
              <a:rPr lang="en-GB" dirty="0"/>
              <a:t> December 2020</a:t>
            </a:r>
          </a:p>
        </p:txBody>
      </p:sp>
    </p:spTree>
    <p:extLst>
      <p:ext uri="{BB962C8B-B14F-4D97-AF65-F5344CB8AC3E}">
        <p14:creationId xmlns:p14="http://schemas.microsoft.com/office/powerpoint/2010/main" val="1487251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638898-5A01-4AD4-BA1B-28D31CDE2D92}"/>
              </a:ext>
            </a:extLst>
          </p:cNvPr>
          <p:cNvSpPr>
            <a:spLocks noGrp="1"/>
          </p:cNvSpPr>
          <p:nvPr>
            <p:ph idx="1"/>
          </p:nvPr>
        </p:nvSpPr>
        <p:spPr/>
        <p:txBody>
          <a:bodyPr>
            <a:normAutofit/>
          </a:bodyPr>
          <a:lstStyle/>
          <a:p>
            <a:pPr>
              <a:lnSpc>
                <a:spcPct val="120000"/>
              </a:lnSpc>
            </a:pPr>
            <a:r>
              <a:rPr lang="en-GB" dirty="0"/>
              <a:t>Abstract Stack</a:t>
            </a:r>
          </a:p>
          <a:p>
            <a:pPr lvl="1">
              <a:lnSpc>
                <a:spcPct val="120000"/>
              </a:lnSpc>
            </a:pPr>
            <a:r>
              <a:rPr lang="en-GB" dirty="0"/>
              <a:t>Rationale</a:t>
            </a:r>
          </a:p>
          <a:p>
            <a:pPr>
              <a:lnSpc>
                <a:spcPct val="120000"/>
              </a:lnSpc>
            </a:pPr>
            <a:r>
              <a:rPr lang="en-GB" dirty="0"/>
              <a:t>Expanded Traditional Stack</a:t>
            </a:r>
          </a:p>
          <a:p>
            <a:pPr>
              <a:lnSpc>
                <a:spcPct val="120000"/>
              </a:lnSpc>
            </a:pPr>
            <a:r>
              <a:rPr lang="en-GB" dirty="0"/>
              <a:t>Mesh View</a:t>
            </a:r>
          </a:p>
          <a:p>
            <a:pPr lvl="1">
              <a:lnSpc>
                <a:spcPct val="120000"/>
              </a:lnSpc>
            </a:pPr>
            <a:r>
              <a:rPr lang="en-GB" dirty="0"/>
              <a:t>Simplified</a:t>
            </a:r>
          </a:p>
          <a:p>
            <a:pPr lvl="1">
              <a:lnSpc>
                <a:spcPct val="120000"/>
              </a:lnSpc>
            </a:pPr>
            <a:r>
              <a:rPr lang="en-GB" dirty="0"/>
              <a:t>Expanded</a:t>
            </a:r>
          </a:p>
        </p:txBody>
      </p:sp>
      <p:sp>
        <p:nvSpPr>
          <p:cNvPr id="4" name="Title 3">
            <a:extLst>
              <a:ext uri="{FF2B5EF4-FFF2-40B4-BE49-F238E27FC236}">
                <a16:creationId xmlns:a16="http://schemas.microsoft.com/office/drawing/2014/main" id="{3CCCEE84-F0F8-4CC1-AA59-55E371D4B534}"/>
              </a:ext>
            </a:extLst>
          </p:cNvPr>
          <p:cNvSpPr>
            <a:spLocks noGrp="1"/>
          </p:cNvSpPr>
          <p:nvPr>
            <p:ph type="title"/>
          </p:nvPr>
        </p:nvSpPr>
        <p:spPr/>
        <p:txBody>
          <a:bodyPr/>
          <a:lstStyle/>
          <a:p>
            <a:r>
              <a:rPr lang="en-GB" dirty="0"/>
              <a:t>Outline</a:t>
            </a:r>
          </a:p>
        </p:txBody>
      </p:sp>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4198D5AE-3414-4FEF-87C4-B864F93A2AC4}"/>
                  </a:ext>
                </a:extLst>
              </p:cNvPr>
              <p:cNvGraphicFramePr>
                <a:graphicFrameLocks noChangeAspect="1"/>
              </p:cNvGraphicFramePr>
              <p:nvPr>
                <p:extLst>
                  <p:ext uri="{D42A27DB-BD31-4B8C-83A1-F6EECF244321}">
                    <p14:modId xmlns:p14="http://schemas.microsoft.com/office/powerpoint/2010/main" val="1769085571"/>
                  </p:ext>
                </p:extLst>
              </p:nvPr>
            </p:nvGraphicFramePr>
            <p:xfrm>
              <a:off x="5753100" y="1469390"/>
              <a:ext cx="3048000" cy="1714500"/>
            </p:xfrm>
            <a:graphic>
              <a:graphicData uri="http://schemas.microsoft.com/office/powerpoint/2016/slidezoom">
                <pslz:sldZm>
                  <pslz:sldZmObj sldId="594" cId="2801634504">
                    <pslz:zmPr id="{C4CC8E06-73BA-4B88-B8D8-46D5C8770814}"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4198D5AE-3414-4FEF-87C4-B864F93A2AC4}"/>
                  </a:ext>
                </a:extLst>
              </p:cNvPr>
              <p:cNvPicPr>
                <a:picLocks noGrp="1" noRot="1" noChangeAspect="1" noMove="1" noResize="1" noEditPoints="1" noAdjustHandles="1" noChangeArrowheads="1" noChangeShapeType="1"/>
              </p:cNvPicPr>
              <p:nvPr/>
            </p:nvPicPr>
            <p:blipFill>
              <a:blip r:embed="rId4"/>
              <a:stretch>
                <a:fillRect/>
              </a:stretch>
            </p:blipFill>
            <p:spPr>
              <a:xfrm>
                <a:off x="5753100" y="146939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510AF9CC-2CC5-4624-A09A-80DFFF37796D}"/>
                  </a:ext>
                </a:extLst>
              </p:cNvPr>
              <p:cNvGraphicFramePr>
                <a:graphicFrameLocks noChangeAspect="1"/>
              </p:cNvGraphicFramePr>
              <p:nvPr>
                <p:extLst>
                  <p:ext uri="{D42A27DB-BD31-4B8C-83A1-F6EECF244321}">
                    <p14:modId xmlns:p14="http://schemas.microsoft.com/office/powerpoint/2010/main" val="3834173984"/>
                  </p:ext>
                </p:extLst>
              </p:nvPr>
            </p:nvGraphicFramePr>
            <p:xfrm>
              <a:off x="9000259" y="1482090"/>
              <a:ext cx="3048000" cy="1714500"/>
            </p:xfrm>
            <a:graphic>
              <a:graphicData uri="http://schemas.microsoft.com/office/powerpoint/2016/slidezoom">
                <pslz:sldZm>
                  <pslz:sldZmObj sldId="595" cId="3163374429">
                    <pslz:zmPr id="{B7AD5F41-6409-4579-BA12-A88F26512CB4}"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510AF9CC-2CC5-4624-A09A-80DFFF37796D}"/>
                  </a:ext>
                </a:extLst>
              </p:cNvPr>
              <p:cNvPicPr>
                <a:picLocks noGrp="1" noRot="1" noChangeAspect="1" noMove="1" noResize="1" noEditPoints="1" noAdjustHandles="1" noChangeArrowheads="1" noChangeShapeType="1"/>
              </p:cNvPicPr>
              <p:nvPr/>
            </p:nvPicPr>
            <p:blipFill>
              <a:blip r:embed="rId6"/>
              <a:stretch>
                <a:fillRect/>
              </a:stretch>
            </p:blipFill>
            <p:spPr>
              <a:xfrm>
                <a:off x="9000259" y="148209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F1ADAF67-1B30-46C3-94B8-18FAEA1F6149}"/>
                  </a:ext>
                </a:extLst>
              </p:cNvPr>
              <p:cNvGraphicFramePr>
                <a:graphicFrameLocks noChangeAspect="1"/>
              </p:cNvGraphicFramePr>
              <p:nvPr>
                <p:extLst>
                  <p:ext uri="{D42A27DB-BD31-4B8C-83A1-F6EECF244321}">
                    <p14:modId xmlns:p14="http://schemas.microsoft.com/office/powerpoint/2010/main" val="4041749461"/>
                  </p:ext>
                </p:extLst>
              </p:nvPr>
            </p:nvGraphicFramePr>
            <p:xfrm>
              <a:off x="5753100" y="5031212"/>
              <a:ext cx="3048000" cy="1714500"/>
            </p:xfrm>
            <a:graphic>
              <a:graphicData uri="http://schemas.microsoft.com/office/powerpoint/2016/slidezoom">
                <pslz:sldZm>
                  <pslz:sldZmObj sldId="599" cId="386937277">
                    <pslz:zmPr id="{74FBE9EF-E36F-4528-8046-D954D7B14DF7}"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4" name="Slide Zoom 13">
                <a:extLst>
                  <a:ext uri="{FF2B5EF4-FFF2-40B4-BE49-F238E27FC236}">
                    <a16:creationId xmlns:a16="http://schemas.microsoft.com/office/drawing/2014/main" id="{F1ADAF67-1B30-46C3-94B8-18FAEA1F6149}"/>
                  </a:ext>
                </a:extLst>
              </p:cNvPr>
              <p:cNvPicPr>
                <a:picLocks noGrp="1" noRot="1" noChangeAspect="1" noMove="1" noResize="1" noEditPoints="1" noAdjustHandles="1" noChangeArrowheads="1" noChangeShapeType="1"/>
              </p:cNvPicPr>
              <p:nvPr/>
            </p:nvPicPr>
            <p:blipFill>
              <a:blip r:embed="rId12"/>
              <a:stretch>
                <a:fillRect/>
              </a:stretch>
            </p:blipFill>
            <p:spPr>
              <a:xfrm>
                <a:off x="5753100" y="5031212"/>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F9E2703D-AC6A-46E6-8D4D-5866FCB44AE2}"/>
                  </a:ext>
                </a:extLst>
              </p:cNvPr>
              <p:cNvGraphicFramePr>
                <a:graphicFrameLocks noChangeAspect="1"/>
              </p:cNvGraphicFramePr>
              <p:nvPr>
                <p:extLst>
                  <p:ext uri="{D42A27DB-BD31-4B8C-83A1-F6EECF244321}">
                    <p14:modId xmlns:p14="http://schemas.microsoft.com/office/powerpoint/2010/main" val="91116455"/>
                  </p:ext>
                </p:extLst>
              </p:nvPr>
            </p:nvGraphicFramePr>
            <p:xfrm>
              <a:off x="9000259" y="5032164"/>
              <a:ext cx="3048000" cy="1714500"/>
            </p:xfrm>
            <a:graphic>
              <a:graphicData uri="http://schemas.microsoft.com/office/powerpoint/2016/slidezoom">
                <pslz:sldZm>
                  <pslz:sldZmObj sldId="609" cId="972669289">
                    <pslz:zmPr id="{C525846E-D151-46EA-B673-BAE883C07668}" transitionDur="100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6" name="Slide Zoom 15">
                <a:extLst>
                  <a:ext uri="{FF2B5EF4-FFF2-40B4-BE49-F238E27FC236}">
                    <a16:creationId xmlns:a16="http://schemas.microsoft.com/office/drawing/2014/main" id="{F9E2703D-AC6A-46E6-8D4D-5866FCB44AE2}"/>
                  </a:ext>
                </a:extLst>
              </p:cNvPr>
              <p:cNvPicPr>
                <a:picLocks noGrp="1" noRot="1" noChangeAspect="1" noMove="1" noResize="1" noEditPoints="1" noAdjustHandles="1" noChangeArrowheads="1" noChangeShapeType="1"/>
              </p:cNvPicPr>
              <p:nvPr/>
            </p:nvPicPr>
            <p:blipFill>
              <a:blip r:embed="rId14"/>
              <a:stretch>
                <a:fillRect/>
              </a:stretch>
            </p:blipFill>
            <p:spPr>
              <a:xfrm>
                <a:off x="9000259" y="5032164"/>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040429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85E5D8-B7BA-4674-8B0E-E7046B4BADE4}"/>
              </a:ext>
            </a:extLst>
          </p:cNvPr>
          <p:cNvSpPr>
            <a:spLocks noGrp="1"/>
          </p:cNvSpPr>
          <p:nvPr>
            <p:ph type="sldNum" sz="quarter" idx="16"/>
          </p:nvPr>
        </p:nvSpPr>
        <p:spPr/>
        <p:txBody>
          <a:bodyPr/>
          <a:lstStyle/>
          <a:p>
            <a:fld id="{EA358FA9-F386-4A12-B482-464C32CE5754}" type="slidenum">
              <a:rPr lang="en-US" smtClean="0"/>
              <a:pPr/>
              <a:t>3</a:t>
            </a:fld>
            <a:endParaRPr lang="en-US"/>
          </a:p>
        </p:txBody>
      </p:sp>
      <p:sp>
        <p:nvSpPr>
          <p:cNvPr id="20" name="Title 19">
            <a:extLst>
              <a:ext uri="{FF2B5EF4-FFF2-40B4-BE49-F238E27FC236}">
                <a16:creationId xmlns:a16="http://schemas.microsoft.com/office/drawing/2014/main" id="{B664BB96-2538-4D1C-8050-F3C1F4F3DBEC}"/>
              </a:ext>
            </a:extLst>
          </p:cNvPr>
          <p:cNvSpPr>
            <a:spLocks noGrp="1"/>
          </p:cNvSpPr>
          <p:nvPr>
            <p:ph type="title"/>
          </p:nvPr>
        </p:nvSpPr>
        <p:spPr/>
        <p:txBody>
          <a:bodyPr/>
          <a:lstStyle/>
          <a:p>
            <a:r>
              <a:rPr lang="en-GB" dirty="0"/>
              <a:t>Abstract Stack</a:t>
            </a:r>
          </a:p>
        </p:txBody>
      </p:sp>
      <p:sp>
        <p:nvSpPr>
          <p:cNvPr id="37" name="Rectangle 36">
            <a:extLst>
              <a:ext uri="{FF2B5EF4-FFF2-40B4-BE49-F238E27FC236}">
                <a16:creationId xmlns:a16="http://schemas.microsoft.com/office/drawing/2014/main" id="{0A89561F-5530-4BFC-8CF8-6B1E1E2B2088}"/>
              </a:ext>
            </a:extLst>
          </p:cNvPr>
          <p:cNvSpPr/>
          <p:nvPr/>
        </p:nvSpPr>
        <p:spPr>
          <a:xfrm>
            <a:off x="1113904" y="1951347"/>
            <a:ext cx="5846618" cy="4770127"/>
          </a:xfrm>
          <a:prstGeom prst="rect">
            <a:avLst/>
          </a:prstGeom>
          <a:noFill/>
          <a:ln>
            <a:solidFill>
              <a:schemeClr val="bg2">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b="1" dirty="0">
                <a:solidFill>
                  <a:schemeClr val="tx1">
                    <a:lumMod val="65000"/>
                    <a:lumOff val="35000"/>
                  </a:schemeClr>
                </a:solidFill>
              </a:rPr>
              <a:t>Systems of Digital Twins / etc.</a:t>
            </a:r>
          </a:p>
          <a:p>
            <a:r>
              <a:rPr lang="en-GB" dirty="0">
                <a:solidFill>
                  <a:schemeClr val="tx1">
                    <a:lumMod val="65000"/>
                    <a:lumOff val="35000"/>
                  </a:schemeClr>
                </a:solidFill>
              </a:rPr>
              <a:t>…</a:t>
            </a:r>
          </a:p>
        </p:txBody>
      </p:sp>
      <p:sp>
        <p:nvSpPr>
          <p:cNvPr id="36" name="Rectangle 35">
            <a:extLst>
              <a:ext uri="{FF2B5EF4-FFF2-40B4-BE49-F238E27FC236}">
                <a16:creationId xmlns:a16="http://schemas.microsoft.com/office/drawing/2014/main" id="{279603BF-E99B-475F-BE84-3D58E1DAACF2}"/>
              </a:ext>
            </a:extLst>
          </p:cNvPr>
          <p:cNvSpPr/>
          <p:nvPr/>
        </p:nvSpPr>
        <p:spPr>
          <a:xfrm>
            <a:off x="1577753" y="3007152"/>
            <a:ext cx="4774874" cy="3084552"/>
          </a:xfrm>
          <a:prstGeom prst="rect">
            <a:avLst/>
          </a:prstGeom>
          <a:solidFill>
            <a:schemeClr val="bg1">
              <a:alpha val="50000"/>
            </a:schemeClr>
          </a:solidFill>
        </p:spPr>
        <p:style>
          <a:lnRef idx="2">
            <a:schemeClr val="accent2"/>
          </a:lnRef>
          <a:fillRef idx="1">
            <a:schemeClr val="lt1"/>
          </a:fillRef>
          <a:effectRef idx="0">
            <a:schemeClr val="accent2"/>
          </a:effectRef>
          <a:fontRef idx="minor">
            <a:schemeClr val="dk1"/>
          </a:fontRef>
        </p:style>
        <p:txBody>
          <a:bodyPr rtlCol="0" anchor="t"/>
          <a:lstStyle/>
          <a:p>
            <a:r>
              <a:rPr lang="en-GB" b="1" dirty="0"/>
              <a:t>Digital</a:t>
            </a:r>
          </a:p>
          <a:p>
            <a:r>
              <a:rPr lang="en-GB" b="1" dirty="0"/>
              <a:t>Twin</a:t>
            </a:r>
          </a:p>
          <a:p>
            <a:r>
              <a:rPr lang="en-GB" b="1" dirty="0"/>
              <a:t>System</a:t>
            </a:r>
          </a:p>
        </p:txBody>
      </p:sp>
      <p:sp>
        <p:nvSpPr>
          <p:cNvPr id="24" name="Trapezoid 23">
            <a:extLst>
              <a:ext uri="{FF2B5EF4-FFF2-40B4-BE49-F238E27FC236}">
                <a16:creationId xmlns:a16="http://schemas.microsoft.com/office/drawing/2014/main" id="{A8190C7B-1BB8-4C07-B07C-AEA6D8AF8EF0}"/>
              </a:ext>
            </a:extLst>
          </p:cNvPr>
          <p:cNvSpPr/>
          <p:nvPr/>
        </p:nvSpPr>
        <p:spPr>
          <a:xfrm>
            <a:off x="1760300" y="5649744"/>
            <a:ext cx="4225844" cy="853918"/>
          </a:xfrm>
          <a:prstGeom prst="trapezoid">
            <a:avLst>
              <a:gd name="adj" fmla="val 3408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000" dirty="0"/>
              <a:t>IT/OT Platform</a:t>
            </a:r>
          </a:p>
        </p:txBody>
      </p:sp>
      <p:sp>
        <p:nvSpPr>
          <p:cNvPr id="27" name="Trapezoid 26">
            <a:extLst>
              <a:ext uri="{FF2B5EF4-FFF2-40B4-BE49-F238E27FC236}">
                <a16:creationId xmlns:a16="http://schemas.microsoft.com/office/drawing/2014/main" id="{97CA6D57-AA81-440B-A6A9-D83DEC07C718}"/>
              </a:ext>
            </a:extLst>
          </p:cNvPr>
          <p:cNvSpPr/>
          <p:nvPr/>
        </p:nvSpPr>
        <p:spPr>
          <a:xfrm>
            <a:off x="2143371" y="4629766"/>
            <a:ext cx="3512684" cy="853918"/>
          </a:xfrm>
          <a:prstGeom prst="trapezoid">
            <a:avLst>
              <a:gd name="adj" fmla="val 49225"/>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2000" dirty="0">
                <a:solidFill>
                  <a:schemeClr val="tx1"/>
                </a:solidFill>
              </a:rPr>
              <a:t>Digital Twin</a:t>
            </a:r>
          </a:p>
        </p:txBody>
      </p:sp>
      <p:sp>
        <p:nvSpPr>
          <p:cNvPr id="28" name="Trapezoid 27">
            <a:extLst>
              <a:ext uri="{FF2B5EF4-FFF2-40B4-BE49-F238E27FC236}">
                <a16:creationId xmlns:a16="http://schemas.microsoft.com/office/drawing/2014/main" id="{23EB24DF-E372-412D-A077-73ABFF50854C}"/>
              </a:ext>
            </a:extLst>
          </p:cNvPr>
          <p:cNvSpPr/>
          <p:nvPr/>
        </p:nvSpPr>
        <p:spPr>
          <a:xfrm>
            <a:off x="2591243" y="3609788"/>
            <a:ext cx="2589789" cy="853918"/>
          </a:xfrm>
          <a:prstGeom prst="trapezoid">
            <a:avLst>
              <a:gd name="adj" fmla="val 6133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000" dirty="0"/>
              <a:t>Service Interfaces</a:t>
            </a:r>
          </a:p>
        </p:txBody>
      </p:sp>
      <p:sp>
        <p:nvSpPr>
          <p:cNvPr id="35" name="Freeform: Shape 34">
            <a:extLst>
              <a:ext uri="{FF2B5EF4-FFF2-40B4-BE49-F238E27FC236}">
                <a16:creationId xmlns:a16="http://schemas.microsoft.com/office/drawing/2014/main" id="{EDBC575E-70A7-4A9E-8314-4D2CE6DE924F}"/>
              </a:ext>
            </a:extLst>
          </p:cNvPr>
          <p:cNvSpPr/>
          <p:nvPr/>
        </p:nvSpPr>
        <p:spPr>
          <a:xfrm>
            <a:off x="1974864" y="2589810"/>
            <a:ext cx="3842631" cy="853918"/>
          </a:xfrm>
          <a:custGeom>
            <a:avLst/>
            <a:gdLst>
              <a:gd name="connsiteX0" fmla="*/ 0 w 4313804"/>
              <a:gd name="connsiteY0" fmla="*/ 0 h 958623"/>
              <a:gd name="connsiteX1" fmla="*/ 4313804 w 4313804"/>
              <a:gd name="connsiteY1" fmla="*/ 0 h 958623"/>
              <a:gd name="connsiteX2" fmla="*/ 3130719 w 4313804"/>
              <a:gd name="connsiteY2" fmla="*/ 958623 h 958623"/>
              <a:gd name="connsiteX3" fmla="*/ 1183085 w 4313804"/>
              <a:gd name="connsiteY3" fmla="*/ 958623 h 958623"/>
            </a:gdLst>
            <a:ahLst/>
            <a:cxnLst>
              <a:cxn ang="0">
                <a:pos x="connsiteX0" y="connsiteY0"/>
              </a:cxn>
              <a:cxn ang="0">
                <a:pos x="connsiteX1" y="connsiteY1"/>
              </a:cxn>
              <a:cxn ang="0">
                <a:pos x="connsiteX2" y="connsiteY2"/>
              </a:cxn>
              <a:cxn ang="0">
                <a:pos x="connsiteX3" y="connsiteY3"/>
              </a:cxn>
            </a:cxnLst>
            <a:rect l="l" t="t" r="r" b="b"/>
            <a:pathLst>
              <a:path w="4313804" h="958623">
                <a:moveTo>
                  <a:pt x="0" y="0"/>
                </a:moveTo>
                <a:lnTo>
                  <a:pt x="4313804" y="0"/>
                </a:lnTo>
                <a:lnTo>
                  <a:pt x="3130719" y="958623"/>
                </a:lnTo>
                <a:lnTo>
                  <a:pt x="1183085" y="958623"/>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sz="2000" dirty="0"/>
              <a:t>Applications &amp;</a:t>
            </a:r>
          </a:p>
          <a:p>
            <a:pPr algn="ctr"/>
            <a:r>
              <a:rPr lang="en-GB" sz="2000" dirty="0"/>
              <a:t>Services</a:t>
            </a:r>
          </a:p>
        </p:txBody>
      </p:sp>
      <p:sp>
        <p:nvSpPr>
          <p:cNvPr id="31" name="Rectangle 30">
            <a:extLst>
              <a:ext uri="{FF2B5EF4-FFF2-40B4-BE49-F238E27FC236}">
                <a16:creationId xmlns:a16="http://schemas.microsoft.com/office/drawing/2014/main" id="{DCAE8AD7-9C40-494A-8F59-FEBAF10670BC}"/>
              </a:ext>
            </a:extLst>
          </p:cNvPr>
          <p:cNvSpPr/>
          <p:nvPr/>
        </p:nvSpPr>
        <p:spPr>
          <a:xfrm>
            <a:off x="7080735" y="1951347"/>
            <a:ext cx="1244115" cy="4770128"/>
          </a:xfrm>
          <a:prstGeom prst="rect">
            <a:avLst/>
          </a:prstGeom>
          <a:gradFill flip="none" rotWithShape="1">
            <a:gsLst>
              <a:gs pos="17000">
                <a:schemeClr val="tx1">
                  <a:lumMod val="75000"/>
                  <a:lumOff val="25000"/>
                </a:schemeClr>
              </a:gs>
              <a:gs pos="100000">
                <a:schemeClr val="bg1"/>
              </a:gs>
            </a:gsLst>
            <a:lin ang="0" scaled="1"/>
            <a:tileRect/>
          </a:gradFill>
          <a:ln>
            <a:noFill/>
          </a:ln>
        </p:spPr>
        <p:style>
          <a:lnRef idx="2">
            <a:schemeClr val="dk1">
              <a:shade val="50000"/>
            </a:schemeClr>
          </a:lnRef>
          <a:fillRef idx="1">
            <a:schemeClr val="dk1"/>
          </a:fillRef>
          <a:effectRef idx="0">
            <a:schemeClr val="dk1"/>
          </a:effectRef>
          <a:fontRef idx="minor">
            <a:schemeClr val="lt1"/>
          </a:fontRef>
        </p:style>
        <p:txBody>
          <a:bodyPr vert="vert" rtlCol="0" anchor="b"/>
          <a:lstStyle/>
          <a:p>
            <a:pPr algn="ctr"/>
            <a:r>
              <a:rPr lang="en-GB" sz="2000" dirty="0"/>
              <a:t>Real-world</a:t>
            </a:r>
          </a:p>
          <a:p>
            <a:pPr algn="ctr"/>
            <a:r>
              <a:rPr lang="en-GB" sz="2000" dirty="0"/>
              <a:t>(</a:t>
            </a:r>
            <a:r>
              <a:rPr lang="en-GB" sz="1600" i="1" dirty="0"/>
              <a:t>entities, processes, and their interactions</a:t>
            </a:r>
            <a:r>
              <a:rPr lang="en-GB" sz="2000" dirty="0"/>
              <a:t>)</a:t>
            </a:r>
          </a:p>
        </p:txBody>
      </p:sp>
      <p:sp>
        <p:nvSpPr>
          <p:cNvPr id="32" name="Rectangle: Rounded Corners 31">
            <a:extLst>
              <a:ext uri="{FF2B5EF4-FFF2-40B4-BE49-F238E27FC236}">
                <a16:creationId xmlns:a16="http://schemas.microsoft.com/office/drawing/2014/main" id="{7786E4AE-F0BD-47CD-AD0E-E9F9E6FED4DF}"/>
              </a:ext>
            </a:extLst>
          </p:cNvPr>
          <p:cNvSpPr/>
          <p:nvPr/>
        </p:nvSpPr>
        <p:spPr>
          <a:xfrm>
            <a:off x="5900122" y="2589810"/>
            <a:ext cx="853918" cy="289387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vert="vert" rtlCol="0" anchor="ctr"/>
          <a:lstStyle/>
          <a:p>
            <a:pPr algn="ctr"/>
            <a:r>
              <a:rPr lang="en-GB" sz="2000" dirty="0"/>
              <a:t>Synchronisation Mechanisms</a:t>
            </a:r>
            <a:endParaRPr lang="en-GB" sz="1600" dirty="0"/>
          </a:p>
        </p:txBody>
      </p:sp>
      <p:sp>
        <p:nvSpPr>
          <p:cNvPr id="33" name="Rectangle 32">
            <a:extLst>
              <a:ext uri="{FF2B5EF4-FFF2-40B4-BE49-F238E27FC236}">
                <a16:creationId xmlns:a16="http://schemas.microsoft.com/office/drawing/2014/main" id="{9E417A31-49F3-4870-A3A9-DDD20C624487}"/>
              </a:ext>
            </a:extLst>
          </p:cNvPr>
          <p:cNvSpPr/>
          <p:nvPr/>
        </p:nvSpPr>
        <p:spPr>
          <a:xfrm>
            <a:off x="115940" y="1951347"/>
            <a:ext cx="853918" cy="477012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vert270" rtlCol="0" anchor="ctr"/>
          <a:lstStyle/>
          <a:p>
            <a:pPr algn="ctr"/>
            <a:r>
              <a:rPr lang="en-GB" sz="2000" dirty="0"/>
              <a:t>Security, Trust, &amp; Governance</a:t>
            </a:r>
          </a:p>
        </p:txBody>
      </p:sp>
    </p:spTree>
    <p:extLst>
      <p:ext uri="{BB962C8B-B14F-4D97-AF65-F5344CB8AC3E}">
        <p14:creationId xmlns:p14="http://schemas.microsoft.com/office/powerpoint/2010/main" val="2801634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2E07D0-D82C-48BF-A87E-5BAB21DA49EC}"/>
              </a:ext>
            </a:extLst>
          </p:cNvPr>
          <p:cNvSpPr>
            <a:spLocks noChangeAspect="1"/>
          </p:cNvSpPr>
          <p:nvPr/>
        </p:nvSpPr>
        <p:spPr>
          <a:xfrm>
            <a:off x="11030857" y="6168571"/>
            <a:ext cx="1161143" cy="689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itle 19">
            <a:extLst>
              <a:ext uri="{FF2B5EF4-FFF2-40B4-BE49-F238E27FC236}">
                <a16:creationId xmlns:a16="http://schemas.microsoft.com/office/drawing/2014/main" id="{B664BB96-2538-4D1C-8050-F3C1F4F3DBEC}"/>
              </a:ext>
            </a:extLst>
          </p:cNvPr>
          <p:cNvSpPr>
            <a:spLocks noGrp="1"/>
          </p:cNvSpPr>
          <p:nvPr>
            <p:ph type="title"/>
          </p:nvPr>
        </p:nvSpPr>
        <p:spPr>
          <a:xfrm>
            <a:off x="145143" y="61277"/>
            <a:ext cx="11207133" cy="1325563"/>
          </a:xfrm>
        </p:spPr>
        <p:txBody>
          <a:bodyPr/>
          <a:lstStyle/>
          <a:p>
            <a:r>
              <a:rPr lang="en-GB" dirty="0"/>
              <a:t>Abstract Stack Rationale</a:t>
            </a:r>
          </a:p>
        </p:txBody>
      </p:sp>
      <p:sp>
        <p:nvSpPr>
          <p:cNvPr id="7" name="TextBox 6">
            <a:extLst>
              <a:ext uri="{FF2B5EF4-FFF2-40B4-BE49-F238E27FC236}">
                <a16:creationId xmlns:a16="http://schemas.microsoft.com/office/drawing/2014/main" id="{9D065C07-9AD0-4351-99E6-180BA0E96A53}"/>
              </a:ext>
            </a:extLst>
          </p:cNvPr>
          <p:cNvSpPr txBox="1"/>
          <p:nvPr/>
        </p:nvSpPr>
        <p:spPr>
          <a:xfrm>
            <a:off x="0" y="1386841"/>
            <a:ext cx="12192000" cy="5471160"/>
          </a:xfrm>
          <a:prstGeom prst="rect">
            <a:avLst/>
          </a:prstGeom>
          <a:noFill/>
        </p:spPr>
        <p:txBody>
          <a:bodyPr wrap="square" lIns="36000" tIns="36000" rIns="36000" bIns="36000" rtlCol="0" anchor="ctr">
            <a:normAutofit fontScale="85000" lnSpcReduction="20000"/>
          </a:bodyPr>
          <a:lstStyle/>
          <a:p>
            <a:pPr algn="just">
              <a:defRPr/>
            </a:pPr>
            <a:r>
              <a:rPr lang="en-GB" sz="1600" dirty="0"/>
              <a:t>A </a:t>
            </a:r>
            <a:r>
              <a:rPr lang="en-GB" sz="1600" b="1" u="sng" dirty="0"/>
              <a:t>Digital Twin System</a:t>
            </a:r>
            <a:r>
              <a:rPr lang="en-GB" sz="1600" b="1" dirty="0"/>
              <a:t> </a:t>
            </a:r>
            <a:r>
              <a:rPr lang="en-GB" sz="1600" dirty="0"/>
              <a:t>is comprised of Digital Twins, the IT/OT system they run on and the required APIs and protocols for integration and use within other systems and applications. This in turn facilitates the creation of </a:t>
            </a:r>
            <a:r>
              <a:rPr lang="en-GB" sz="1600" b="1" u="sng" dirty="0"/>
              <a:t>Systems of Systems</a:t>
            </a:r>
            <a:r>
              <a:rPr lang="en-GB" sz="1600" dirty="0"/>
              <a:t> (shown as </a:t>
            </a:r>
            <a:r>
              <a:rPr lang="en-GB" sz="1600" b="1" u="sng" dirty="0"/>
              <a:t>Systems of Digital Twins</a:t>
            </a:r>
            <a:r>
              <a:rPr lang="en-GB" sz="1600" dirty="0"/>
              <a:t>) approach to integrating Digital Twins for meaningful use cases. The practical approach to describing these concepts is primarily in terms of federations of Digital Twin Systems where both the larger System of Systems and the individual DT are valid DTs. The Digital Twin System may not always include the Applications &amp; Services when implemented within a </a:t>
            </a:r>
            <a:r>
              <a:rPr lang="en-GB" sz="1600" dirty="0" err="1"/>
              <a:t>SoS</a:t>
            </a:r>
            <a:r>
              <a:rPr lang="en-GB" sz="1600" dirty="0"/>
              <a:t> solution.</a:t>
            </a:r>
            <a:endParaRPr lang="en-GB" sz="1600" dirty="0">
              <a:solidFill>
                <a:srgbClr val="FF0000"/>
              </a:solidFill>
            </a:endParaRPr>
          </a:p>
          <a:p>
            <a:pPr algn="just">
              <a:defRPr/>
            </a:pPr>
            <a:endParaRPr lang="en-GB" sz="1600" dirty="0">
              <a:solidFill>
                <a:srgbClr val="FF0000"/>
              </a:solidFill>
            </a:endParaRPr>
          </a:p>
          <a:p>
            <a:pPr algn="just">
              <a:defRPr/>
            </a:pPr>
            <a:r>
              <a:rPr lang="en-GB" sz="1600" b="1" u="sng" dirty="0"/>
              <a:t>Data</a:t>
            </a:r>
            <a:r>
              <a:rPr lang="en-GB" sz="1600" dirty="0"/>
              <a:t> is also all around the system but not explicitly shown within the stack diagram but is pulled out in the mesh view to indicate the flow of data between different parts of the system.</a:t>
            </a:r>
            <a:endParaRPr lang="en-GB" sz="1600" b="1" u="sng" dirty="0"/>
          </a:p>
          <a:p>
            <a:pPr algn="just"/>
            <a:endParaRPr lang="en-GB" sz="1600" b="1" dirty="0"/>
          </a:p>
          <a:p>
            <a:pPr algn="just"/>
            <a:r>
              <a:rPr lang="en-GB" sz="1600" b="1" dirty="0"/>
              <a:t>Horizontally (</a:t>
            </a:r>
            <a:r>
              <a:rPr lang="en-GB" sz="1600" i="1" dirty="0"/>
              <a:t>bottom up</a:t>
            </a:r>
            <a:r>
              <a:rPr lang="en-GB" sz="1600" b="1" dirty="0"/>
              <a:t>)</a:t>
            </a:r>
            <a:endParaRPr lang="en-GB" sz="1600" b="1" dirty="0">
              <a:solidFill>
                <a:schemeClr val="accent2"/>
              </a:solidFill>
            </a:endParaRPr>
          </a:p>
          <a:p>
            <a:pPr marL="628650" lvl="1" indent="-171450" algn="just">
              <a:buFont typeface="Arial" panose="020B0604020202020204" pitchFamily="34" charset="0"/>
              <a:buChar char="•"/>
            </a:pPr>
            <a:r>
              <a:rPr lang="en-GB" sz="1600" b="0" dirty="0">
                <a:solidFill>
                  <a:schemeClr val="accent5"/>
                </a:solidFill>
              </a:rPr>
              <a:t>As per the definition all Digital Twins must run/exist on an </a:t>
            </a:r>
            <a:r>
              <a:rPr lang="en-GB" sz="1600" b="1" u="sng" dirty="0">
                <a:solidFill>
                  <a:schemeClr val="accent5"/>
                </a:solidFill>
              </a:rPr>
              <a:t>IT/OT Platform</a:t>
            </a:r>
            <a:r>
              <a:rPr lang="en-GB" sz="1600" b="1" dirty="0">
                <a:solidFill>
                  <a:schemeClr val="accent5"/>
                </a:solidFill>
              </a:rPr>
              <a:t> </a:t>
            </a:r>
            <a:r>
              <a:rPr lang="en-GB" sz="1600" b="0" dirty="0">
                <a:solidFill>
                  <a:schemeClr val="accent5"/>
                </a:solidFill>
              </a:rPr>
              <a:t>of some form. This provides the base layer for computation, connectivity, data storage etc. This can mostly be considered as </a:t>
            </a:r>
            <a:r>
              <a:rPr lang="en-GB" sz="1600" b="1" u="sng" dirty="0">
                <a:solidFill>
                  <a:schemeClr val="accent5"/>
                </a:solidFill>
              </a:rPr>
              <a:t>enabling technologies</a:t>
            </a:r>
            <a:r>
              <a:rPr lang="en-GB" sz="1600" b="1" dirty="0">
                <a:solidFill>
                  <a:schemeClr val="accent5"/>
                </a:solidFill>
              </a:rPr>
              <a:t> </a:t>
            </a:r>
            <a:r>
              <a:rPr lang="en-GB" sz="1600" dirty="0">
                <a:solidFill>
                  <a:schemeClr val="accent5"/>
                </a:solidFill>
              </a:rPr>
              <a:t>as suggested by Gartner’s Digital Twin reference model</a:t>
            </a:r>
            <a:endParaRPr lang="en-GB" sz="1600" b="1" u="sng" dirty="0">
              <a:solidFill>
                <a:schemeClr val="accent5"/>
              </a:solidFill>
            </a:endParaRPr>
          </a:p>
          <a:p>
            <a:pPr marL="628650" lvl="1" indent="-171450" algn="just">
              <a:buFont typeface="Arial" panose="020B0604020202020204" pitchFamily="34" charset="0"/>
              <a:buChar char="•"/>
            </a:pPr>
            <a:r>
              <a:rPr lang="en-GB" sz="1600" b="1" u="sng" dirty="0">
                <a:solidFill>
                  <a:schemeClr val="accent4"/>
                </a:solidFill>
              </a:rPr>
              <a:t>Digital Twins</a:t>
            </a:r>
            <a:r>
              <a:rPr lang="en-GB" sz="1600" b="0" dirty="0">
                <a:solidFill>
                  <a:schemeClr val="accent4"/>
                </a:solidFill>
              </a:rPr>
              <a:t> then run on/use that IT/OT platform, this includes all types of twins and the appropriate breakdown of their parts. </a:t>
            </a:r>
            <a:r>
              <a:rPr lang="en-GB" sz="1600" dirty="0">
                <a:solidFill>
                  <a:schemeClr val="accent4"/>
                </a:solidFill>
              </a:rPr>
              <a:t>Specifically this includes digital models (reference and simulation) and their supporting data</a:t>
            </a:r>
            <a:endParaRPr lang="en-GB" sz="1600" b="0" dirty="0">
              <a:solidFill>
                <a:schemeClr val="accent4"/>
              </a:solidFill>
            </a:endParaRPr>
          </a:p>
          <a:p>
            <a:pPr marL="628650" lvl="1" indent="-171450" algn="just">
              <a:buFont typeface="Arial" panose="020B0604020202020204" pitchFamily="34" charset="0"/>
              <a:buChar char="•"/>
            </a:pPr>
            <a:r>
              <a:rPr lang="en-GB" sz="1600" b="0" dirty="0">
                <a:solidFill>
                  <a:schemeClr val="accent2"/>
                </a:solidFill>
              </a:rPr>
              <a:t>Above the Digital Twins are the  “standardised” </a:t>
            </a:r>
            <a:r>
              <a:rPr lang="en-GB" sz="1600" b="1" u="sng" dirty="0">
                <a:solidFill>
                  <a:schemeClr val="accent2"/>
                </a:solidFill>
              </a:rPr>
              <a:t>service interfaces</a:t>
            </a:r>
            <a:r>
              <a:rPr lang="en-GB" sz="1600" b="1" dirty="0">
                <a:solidFill>
                  <a:schemeClr val="accent2"/>
                </a:solidFill>
              </a:rPr>
              <a:t> </a:t>
            </a:r>
            <a:r>
              <a:rPr lang="en-GB" sz="1600" dirty="0">
                <a:solidFill>
                  <a:schemeClr val="accent2"/>
                </a:solidFill>
              </a:rPr>
              <a:t>(i.e. integrations, APIs, and protocols) </a:t>
            </a:r>
            <a:r>
              <a:rPr lang="en-GB" sz="1600" b="0" dirty="0">
                <a:solidFill>
                  <a:schemeClr val="accent2"/>
                </a:solidFill>
              </a:rPr>
              <a:t>for use within particular domains or with other Twins.</a:t>
            </a:r>
          </a:p>
          <a:p>
            <a:pPr marL="1085850" lvl="2" indent="-171450" algn="just">
              <a:buFont typeface="Arial" panose="020B0604020202020204" pitchFamily="34" charset="0"/>
              <a:buChar char="•"/>
            </a:pPr>
            <a:r>
              <a:rPr lang="en-GB" sz="1600" b="0" dirty="0">
                <a:solidFill>
                  <a:schemeClr val="accent2"/>
                </a:solidFill>
              </a:rPr>
              <a:t>An API describes all the valid messages that one program can accept. It says nothing about the proper ordering of these messages, or their interaction with other programs. Protocols sit on top of APIs. A protocol describes the valid sequence of messages that flow between the APIs of multiple parties to accomplish some higher-level task. Services interfaces summarise these concepts.</a:t>
            </a:r>
          </a:p>
          <a:p>
            <a:pPr marL="628650" lvl="1" indent="-171450" algn="just">
              <a:buFont typeface="Arial" panose="020B0604020202020204" pitchFamily="34" charset="0"/>
              <a:buChar char="•"/>
            </a:pPr>
            <a:r>
              <a:rPr lang="en-GB" sz="1600" b="0" dirty="0">
                <a:solidFill>
                  <a:schemeClr val="accent1"/>
                </a:solidFill>
              </a:rPr>
              <a:t>At the top of the abstract stack are the </a:t>
            </a:r>
            <a:r>
              <a:rPr lang="en-GB" sz="1600" b="1" u="sng" dirty="0">
                <a:solidFill>
                  <a:schemeClr val="accent1"/>
                </a:solidFill>
              </a:rPr>
              <a:t>applications, services and systems</a:t>
            </a:r>
            <a:r>
              <a:rPr lang="en-GB" sz="1600" b="0" dirty="0">
                <a:solidFill>
                  <a:schemeClr val="accent1"/>
                </a:solidFill>
              </a:rPr>
              <a:t> that either feed into, work with, or make use of the twins</a:t>
            </a:r>
            <a:endParaRPr lang="en-GB" sz="1600" b="1" dirty="0">
              <a:solidFill>
                <a:schemeClr val="accent1"/>
              </a:solidFill>
            </a:endParaRPr>
          </a:p>
          <a:p>
            <a:pPr marL="171450" indent="-171450" algn="just">
              <a:buFont typeface="Arial" panose="020B0604020202020204" pitchFamily="34" charset="0"/>
              <a:buChar char="•"/>
            </a:pPr>
            <a:endParaRPr lang="en-GB" sz="1600" b="1" dirty="0"/>
          </a:p>
          <a:p>
            <a:pPr algn="just"/>
            <a:r>
              <a:rPr lang="en-GB" sz="1600" b="1" dirty="0"/>
              <a:t>Vertically (</a:t>
            </a:r>
            <a:r>
              <a:rPr lang="en-GB" sz="1600" i="1" dirty="0"/>
              <a:t>left-right</a:t>
            </a:r>
            <a:r>
              <a:rPr lang="en-GB" sz="1600" b="1" dirty="0"/>
              <a:t>)</a:t>
            </a:r>
          </a:p>
          <a:p>
            <a:pPr marL="628650" lvl="1" indent="-171450" algn="just">
              <a:buFont typeface="Arial" panose="020B0604020202020204" pitchFamily="34" charset="0"/>
              <a:buChar char="•"/>
            </a:pPr>
            <a:r>
              <a:rPr lang="en-GB" sz="1600" b="0" dirty="0">
                <a:solidFill>
                  <a:schemeClr val="accent6"/>
                </a:solidFill>
              </a:rPr>
              <a:t>The aspects of </a:t>
            </a:r>
            <a:r>
              <a:rPr lang="en-GB" sz="1600" b="1" u="sng" dirty="0">
                <a:solidFill>
                  <a:schemeClr val="accent6"/>
                </a:solidFill>
              </a:rPr>
              <a:t>privacy, security, trust, safety, and governance</a:t>
            </a:r>
            <a:r>
              <a:rPr lang="en-GB" sz="1600" b="0" dirty="0">
                <a:solidFill>
                  <a:schemeClr val="accent6"/>
                </a:solidFill>
              </a:rPr>
              <a:t> should be considered at all layers of the architecture including the physical world which provides the context for everything else</a:t>
            </a:r>
          </a:p>
          <a:p>
            <a:pPr marL="628650" lvl="1" indent="-171450" algn="just">
              <a:buFont typeface="Arial" panose="020B0604020202020204" pitchFamily="34" charset="0"/>
              <a:buChar char="•"/>
            </a:pPr>
            <a:r>
              <a:rPr lang="en-GB" sz="1600" b="1" u="sng" dirty="0">
                <a:solidFill>
                  <a:schemeClr val="accent3"/>
                </a:solidFill>
              </a:rPr>
              <a:t>Synchronisation Mechanisms</a:t>
            </a:r>
            <a:r>
              <a:rPr lang="en-GB" sz="1600" dirty="0">
                <a:solidFill>
                  <a:schemeClr val="accent3"/>
                </a:solidFill>
              </a:rPr>
              <a:t> </a:t>
            </a:r>
            <a:r>
              <a:rPr lang="en-GB" sz="1600" b="0" dirty="0">
                <a:solidFill>
                  <a:schemeClr val="accent3"/>
                </a:solidFill>
              </a:rPr>
              <a:t>are a central tenet of Digital Twins and is also defined as a vertical concept from a perspective of ingress, egress, and interoperability. This is indicated between the physical world and the software world’s as it is also the means for synchronising data between the Digital Twin and the real world. These can occur at any layer but would make use of the IT/OT platform. Note: the synchronisation mechanisms is primarily referring to the synchronisation with the real world and not the interactions within the system itself. It is envisaged that synchronisation could however occur between 2 or more Digital Twin Systems as part of large </a:t>
            </a:r>
            <a:r>
              <a:rPr lang="en-GB" sz="1600" b="0" dirty="0" err="1">
                <a:solidFill>
                  <a:schemeClr val="accent3"/>
                </a:solidFill>
              </a:rPr>
              <a:t>SoS</a:t>
            </a:r>
            <a:r>
              <a:rPr lang="en-GB" sz="1600" b="0" dirty="0">
                <a:solidFill>
                  <a:schemeClr val="accent3"/>
                </a:solidFill>
              </a:rPr>
              <a:t> approach (this would likely be similar to the concepts of co-simulation).</a:t>
            </a:r>
          </a:p>
          <a:p>
            <a:pPr marL="628650" lvl="1" indent="-171450" algn="just">
              <a:buFont typeface="Arial" panose="020B0604020202020204" pitchFamily="34" charset="0"/>
              <a:buChar char="•"/>
            </a:pPr>
            <a:r>
              <a:rPr lang="en-GB" sz="1600" b="0" dirty="0"/>
              <a:t>The </a:t>
            </a:r>
            <a:r>
              <a:rPr lang="en-GB" sz="1600" b="1" u="sng" dirty="0"/>
              <a:t>Physical world or real world</a:t>
            </a:r>
            <a:r>
              <a:rPr lang="en-GB" sz="1600" b="0" dirty="0"/>
              <a:t> exists both as the context in which a digital twin operates (and so is the context for the IT/OT platforms) but stretches across the stack and as it is connected to the Digital Twin. It must be noted that scope of this architecture does NOT include IoT systems, physical security considerations, etc.</a:t>
            </a:r>
          </a:p>
        </p:txBody>
      </p:sp>
    </p:spTree>
    <p:extLst>
      <p:ext uri="{BB962C8B-B14F-4D97-AF65-F5344CB8AC3E}">
        <p14:creationId xmlns:p14="http://schemas.microsoft.com/office/powerpoint/2010/main" val="316337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CF68CF-ADE7-462B-B500-21BD4C49B201}"/>
              </a:ext>
            </a:extLst>
          </p:cNvPr>
          <p:cNvSpPr>
            <a:spLocks noGrp="1"/>
          </p:cNvSpPr>
          <p:nvPr>
            <p:ph type="title"/>
          </p:nvPr>
        </p:nvSpPr>
        <p:spPr/>
        <p:txBody>
          <a:bodyPr/>
          <a:lstStyle/>
          <a:p>
            <a:r>
              <a:rPr lang="en-GB" dirty="0"/>
              <a:t>Expanded Stack</a:t>
            </a:r>
          </a:p>
        </p:txBody>
      </p:sp>
      <p:sp>
        <p:nvSpPr>
          <p:cNvPr id="21" name="Rectangle 20">
            <a:extLst>
              <a:ext uri="{FF2B5EF4-FFF2-40B4-BE49-F238E27FC236}">
                <a16:creationId xmlns:a16="http://schemas.microsoft.com/office/drawing/2014/main" id="{C140E1C3-5830-40C6-B70B-1D5E41D78435}"/>
              </a:ext>
            </a:extLst>
          </p:cNvPr>
          <p:cNvSpPr/>
          <p:nvPr/>
        </p:nvSpPr>
        <p:spPr>
          <a:xfrm>
            <a:off x="1429791" y="1493517"/>
            <a:ext cx="9742516" cy="4942793"/>
          </a:xfrm>
          <a:prstGeom prst="rect">
            <a:avLst/>
          </a:prstGeom>
          <a:noFill/>
          <a:ln>
            <a:solidFill>
              <a:schemeClr val="bg2">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400" b="1" dirty="0">
                <a:solidFill>
                  <a:schemeClr val="tx1">
                    <a:lumMod val="65000"/>
                    <a:lumOff val="35000"/>
                  </a:schemeClr>
                </a:solidFill>
              </a:rPr>
              <a:t>Systems of Digital Twins / etc.</a:t>
            </a:r>
          </a:p>
          <a:p>
            <a:r>
              <a:rPr lang="en-GB" sz="1400" dirty="0">
                <a:solidFill>
                  <a:schemeClr val="tx1">
                    <a:lumMod val="65000"/>
                    <a:lumOff val="35000"/>
                  </a:schemeClr>
                </a:solidFill>
              </a:rPr>
              <a:t>…</a:t>
            </a:r>
          </a:p>
        </p:txBody>
      </p:sp>
      <p:sp>
        <p:nvSpPr>
          <p:cNvPr id="18" name="Rectangle 17">
            <a:extLst>
              <a:ext uri="{FF2B5EF4-FFF2-40B4-BE49-F238E27FC236}">
                <a16:creationId xmlns:a16="http://schemas.microsoft.com/office/drawing/2014/main" id="{E167438A-69E2-421F-A4FC-56B91D2BDA98}"/>
              </a:ext>
            </a:extLst>
          </p:cNvPr>
          <p:cNvSpPr/>
          <p:nvPr/>
        </p:nvSpPr>
        <p:spPr>
          <a:xfrm>
            <a:off x="1667967" y="2507530"/>
            <a:ext cx="8333219" cy="3795616"/>
          </a:xfrm>
          <a:prstGeom prst="rect">
            <a:avLst/>
          </a:prstGeom>
          <a:solidFill>
            <a:schemeClr val="bg1">
              <a:alpha val="50000"/>
            </a:schemeClr>
          </a:solidFill>
          <a:ln>
            <a:prstDash val="lgDash"/>
          </a:ln>
        </p:spPr>
        <p:style>
          <a:lnRef idx="2">
            <a:schemeClr val="accent2"/>
          </a:lnRef>
          <a:fillRef idx="1">
            <a:schemeClr val="lt1"/>
          </a:fillRef>
          <a:effectRef idx="0">
            <a:schemeClr val="accent2"/>
          </a:effectRef>
          <a:fontRef idx="minor">
            <a:schemeClr val="dk1"/>
          </a:fontRef>
        </p:style>
        <p:txBody>
          <a:bodyPr rtlCol="0" anchor="t"/>
          <a:lstStyle/>
          <a:p>
            <a:r>
              <a:rPr lang="en-GB" sz="1400" b="1" dirty="0"/>
              <a:t>Digital</a:t>
            </a:r>
          </a:p>
          <a:p>
            <a:r>
              <a:rPr lang="en-GB" sz="1400" b="1" dirty="0"/>
              <a:t>Twin</a:t>
            </a:r>
          </a:p>
          <a:p>
            <a:r>
              <a:rPr lang="en-GB" sz="1400" b="1" dirty="0"/>
              <a:t>System</a:t>
            </a:r>
          </a:p>
        </p:txBody>
      </p:sp>
      <p:sp>
        <p:nvSpPr>
          <p:cNvPr id="14" name="Rectangle 13">
            <a:extLst>
              <a:ext uri="{FF2B5EF4-FFF2-40B4-BE49-F238E27FC236}">
                <a16:creationId xmlns:a16="http://schemas.microsoft.com/office/drawing/2014/main" id="{92F6FC07-31DA-416D-9EFA-7AB3D83C13F7}"/>
              </a:ext>
            </a:extLst>
          </p:cNvPr>
          <p:cNvSpPr/>
          <p:nvPr/>
        </p:nvSpPr>
        <p:spPr>
          <a:xfrm>
            <a:off x="11355775" y="1742093"/>
            <a:ext cx="670482" cy="44731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 rtlCol="0" anchor="ctr"/>
          <a:lstStyle/>
          <a:p>
            <a:pPr algn="ctr"/>
            <a:r>
              <a:rPr lang="en-GB" dirty="0"/>
              <a:t>Real World</a:t>
            </a:r>
          </a:p>
        </p:txBody>
      </p:sp>
      <p:sp>
        <p:nvSpPr>
          <p:cNvPr id="15" name="Rectangle: Rounded Corners 14">
            <a:extLst>
              <a:ext uri="{FF2B5EF4-FFF2-40B4-BE49-F238E27FC236}">
                <a16:creationId xmlns:a16="http://schemas.microsoft.com/office/drawing/2014/main" id="{06113A7C-2E1C-4F63-8DCD-C4B76588050B}"/>
              </a:ext>
            </a:extLst>
          </p:cNvPr>
          <p:cNvSpPr/>
          <p:nvPr/>
        </p:nvSpPr>
        <p:spPr>
          <a:xfrm>
            <a:off x="9482718" y="2127855"/>
            <a:ext cx="671199" cy="278682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vert="vert" rtlCol="0" anchor="ctr"/>
          <a:lstStyle/>
          <a:p>
            <a:pPr algn="ctr"/>
            <a:r>
              <a:rPr lang="en-GB" sz="1600" dirty="0"/>
              <a:t>Synchronisation Mechanisms</a:t>
            </a:r>
            <a:endParaRPr lang="en-GB" sz="1200" dirty="0"/>
          </a:p>
        </p:txBody>
      </p:sp>
      <p:sp>
        <p:nvSpPr>
          <p:cNvPr id="19" name="Rectangle 18">
            <a:extLst>
              <a:ext uri="{FF2B5EF4-FFF2-40B4-BE49-F238E27FC236}">
                <a16:creationId xmlns:a16="http://schemas.microsoft.com/office/drawing/2014/main" id="{6AB2AE10-3C13-4AE6-8568-A5D090B95602}"/>
              </a:ext>
            </a:extLst>
          </p:cNvPr>
          <p:cNvSpPr/>
          <p:nvPr/>
        </p:nvSpPr>
        <p:spPr>
          <a:xfrm rot="5400000">
            <a:off x="9073911" y="3419295"/>
            <a:ext cx="3219892" cy="67048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a:t>Management &amp; Automation</a:t>
            </a:r>
          </a:p>
        </p:txBody>
      </p:sp>
      <p:grpSp>
        <p:nvGrpSpPr>
          <p:cNvPr id="44" name="Group 43">
            <a:extLst>
              <a:ext uri="{FF2B5EF4-FFF2-40B4-BE49-F238E27FC236}">
                <a16:creationId xmlns:a16="http://schemas.microsoft.com/office/drawing/2014/main" id="{AF2BF5DF-0D1D-4EB3-AE26-48E0ED459B05}"/>
              </a:ext>
            </a:extLst>
          </p:cNvPr>
          <p:cNvGrpSpPr/>
          <p:nvPr/>
        </p:nvGrpSpPr>
        <p:grpSpPr>
          <a:xfrm>
            <a:off x="4896421" y="2144590"/>
            <a:ext cx="4410970" cy="740853"/>
            <a:chOff x="629510" y="1532633"/>
            <a:chExt cx="6180561" cy="1058105"/>
          </a:xfrm>
        </p:grpSpPr>
        <p:sp>
          <p:nvSpPr>
            <p:cNvPr id="13" name="Rectangle 12">
              <a:extLst>
                <a:ext uri="{FF2B5EF4-FFF2-40B4-BE49-F238E27FC236}">
                  <a16:creationId xmlns:a16="http://schemas.microsoft.com/office/drawing/2014/main" id="{5E5AB748-2ECE-4302-9C07-CDCCC25B2600}"/>
                </a:ext>
              </a:extLst>
            </p:cNvPr>
            <p:cNvSpPr/>
            <p:nvPr/>
          </p:nvSpPr>
          <p:spPr>
            <a:xfrm>
              <a:off x="629510" y="1532633"/>
              <a:ext cx="6180561"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Applications</a:t>
              </a:r>
            </a:p>
          </p:txBody>
        </p:sp>
        <p:grpSp>
          <p:nvGrpSpPr>
            <p:cNvPr id="24" name="Group 23">
              <a:extLst>
                <a:ext uri="{FF2B5EF4-FFF2-40B4-BE49-F238E27FC236}">
                  <a16:creationId xmlns:a16="http://schemas.microsoft.com/office/drawing/2014/main" id="{9C709877-F284-429A-8A2C-B86BA1A16912}"/>
                </a:ext>
              </a:extLst>
            </p:cNvPr>
            <p:cNvGrpSpPr/>
            <p:nvPr/>
          </p:nvGrpSpPr>
          <p:grpSpPr>
            <a:xfrm>
              <a:off x="629510" y="2122738"/>
              <a:ext cx="6180561" cy="468000"/>
              <a:chOff x="159748" y="2687193"/>
              <a:chExt cx="6180561" cy="958623"/>
            </a:xfrm>
          </p:grpSpPr>
          <p:sp>
            <p:nvSpPr>
              <p:cNvPr id="22" name="Rectangle 21">
                <a:extLst>
                  <a:ext uri="{FF2B5EF4-FFF2-40B4-BE49-F238E27FC236}">
                    <a16:creationId xmlns:a16="http://schemas.microsoft.com/office/drawing/2014/main" id="{C702B25B-9FC9-46AF-A849-C4F62FC7D4EB}"/>
                  </a:ext>
                </a:extLst>
              </p:cNvPr>
              <p:cNvSpPr/>
              <p:nvPr/>
            </p:nvSpPr>
            <p:spPr>
              <a:xfrm>
                <a:off x="3593100" y="2687193"/>
                <a:ext cx="2747209" cy="9586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Services</a:t>
                </a:r>
              </a:p>
            </p:txBody>
          </p:sp>
          <p:sp>
            <p:nvSpPr>
              <p:cNvPr id="23" name="Rectangle 22">
                <a:extLst>
                  <a:ext uri="{FF2B5EF4-FFF2-40B4-BE49-F238E27FC236}">
                    <a16:creationId xmlns:a16="http://schemas.microsoft.com/office/drawing/2014/main" id="{2AED7BB0-AE0F-47B9-8203-FC32C09095E7}"/>
                  </a:ext>
                </a:extLst>
              </p:cNvPr>
              <p:cNvSpPr/>
              <p:nvPr/>
            </p:nvSpPr>
            <p:spPr>
              <a:xfrm>
                <a:off x="159748" y="2687193"/>
                <a:ext cx="1716676" cy="958623"/>
              </a:xfrm>
              <a:prstGeom prst="rect">
                <a:avLst/>
              </a:prstGeom>
              <a:solidFill>
                <a:srgbClr val="80A6D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fontScale="85000" lnSpcReduction="20000"/>
              </a:bodyPr>
              <a:lstStyle/>
              <a:p>
                <a:pPr algn="ctr"/>
                <a:r>
                  <a:rPr lang="en-GB" sz="1200" dirty="0"/>
                  <a:t>Visualisation / Render Services</a:t>
                </a:r>
              </a:p>
            </p:txBody>
          </p:sp>
          <p:sp>
            <p:nvSpPr>
              <p:cNvPr id="25" name="Rectangle 24">
                <a:extLst>
                  <a:ext uri="{FF2B5EF4-FFF2-40B4-BE49-F238E27FC236}">
                    <a16:creationId xmlns:a16="http://schemas.microsoft.com/office/drawing/2014/main" id="{D21B8919-DD7F-4926-BDC3-CF0B1CB38B5C}"/>
                  </a:ext>
                </a:extLst>
              </p:cNvPr>
              <p:cNvSpPr/>
              <p:nvPr/>
            </p:nvSpPr>
            <p:spPr>
              <a:xfrm>
                <a:off x="1876424" y="2687193"/>
                <a:ext cx="1716676" cy="958623"/>
              </a:xfrm>
              <a:prstGeom prst="rect">
                <a:avLst/>
              </a:prstGeom>
              <a:solidFill>
                <a:srgbClr val="80A6D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Analytics</a:t>
                </a:r>
              </a:p>
            </p:txBody>
          </p:sp>
        </p:grpSp>
      </p:grpSp>
      <p:sp>
        <p:nvSpPr>
          <p:cNvPr id="11" name="Rectangle 10">
            <a:extLst>
              <a:ext uri="{FF2B5EF4-FFF2-40B4-BE49-F238E27FC236}">
                <a16:creationId xmlns:a16="http://schemas.microsoft.com/office/drawing/2014/main" id="{514F35A3-BF4A-4929-A834-50A8579648DA}"/>
              </a:ext>
            </a:extLst>
          </p:cNvPr>
          <p:cNvSpPr/>
          <p:nvPr/>
        </p:nvSpPr>
        <p:spPr>
          <a:xfrm>
            <a:off x="4896421" y="3774734"/>
            <a:ext cx="4410969" cy="32767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solidFill>
                  <a:schemeClr val="tx1"/>
                </a:solidFill>
              </a:rPr>
              <a:t>Computational Simulation Models</a:t>
            </a:r>
            <a:endParaRPr lang="en-GB" dirty="0">
              <a:solidFill>
                <a:schemeClr val="tx1"/>
              </a:solidFill>
            </a:endParaRPr>
          </a:p>
        </p:txBody>
      </p:sp>
      <p:sp>
        <p:nvSpPr>
          <p:cNvPr id="12" name="Rectangle 11">
            <a:extLst>
              <a:ext uri="{FF2B5EF4-FFF2-40B4-BE49-F238E27FC236}">
                <a16:creationId xmlns:a16="http://schemas.microsoft.com/office/drawing/2014/main" id="{0CE07454-07D4-4EB9-8C90-D2F273469E98}"/>
              </a:ext>
            </a:extLst>
          </p:cNvPr>
          <p:cNvSpPr/>
          <p:nvPr/>
        </p:nvSpPr>
        <p:spPr>
          <a:xfrm>
            <a:off x="4896421" y="2970937"/>
            <a:ext cx="4410970" cy="32767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t>Service Interfaces</a:t>
            </a:r>
          </a:p>
        </p:txBody>
      </p:sp>
      <p:sp>
        <p:nvSpPr>
          <p:cNvPr id="26" name="Rectangle 25">
            <a:extLst>
              <a:ext uri="{FF2B5EF4-FFF2-40B4-BE49-F238E27FC236}">
                <a16:creationId xmlns:a16="http://schemas.microsoft.com/office/drawing/2014/main" id="{84BE0E7E-6CC5-4693-A9D6-CF22491B3275}"/>
              </a:ext>
            </a:extLst>
          </p:cNvPr>
          <p:cNvSpPr/>
          <p:nvPr/>
        </p:nvSpPr>
        <p:spPr>
          <a:xfrm>
            <a:off x="4896421" y="4187908"/>
            <a:ext cx="4410969" cy="32767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solidFill>
                  <a:schemeClr val="tx1"/>
                </a:solidFill>
              </a:rPr>
              <a:t>Digital Representational Models</a:t>
            </a:r>
          </a:p>
        </p:txBody>
      </p:sp>
      <p:grpSp>
        <p:nvGrpSpPr>
          <p:cNvPr id="42" name="Group 41">
            <a:extLst>
              <a:ext uri="{FF2B5EF4-FFF2-40B4-BE49-F238E27FC236}">
                <a16:creationId xmlns:a16="http://schemas.microsoft.com/office/drawing/2014/main" id="{FE3B6A74-87B4-4088-B149-6A2104E1704C}"/>
              </a:ext>
            </a:extLst>
          </p:cNvPr>
          <p:cNvGrpSpPr/>
          <p:nvPr/>
        </p:nvGrpSpPr>
        <p:grpSpPr>
          <a:xfrm>
            <a:off x="4896420" y="4601076"/>
            <a:ext cx="4952750" cy="1567201"/>
            <a:chOff x="629509" y="4483158"/>
            <a:chExt cx="6939692" cy="2238316"/>
          </a:xfrm>
        </p:grpSpPr>
        <p:sp>
          <p:nvSpPr>
            <p:cNvPr id="29" name="Rectangle 28">
              <a:extLst>
                <a:ext uri="{FF2B5EF4-FFF2-40B4-BE49-F238E27FC236}">
                  <a16:creationId xmlns:a16="http://schemas.microsoft.com/office/drawing/2014/main" id="{1D431EE3-5975-42E0-9C6C-38FD00EE58FC}"/>
                </a:ext>
              </a:extLst>
            </p:cNvPr>
            <p:cNvSpPr/>
            <p:nvPr/>
          </p:nvSpPr>
          <p:spPr>
            <a:xfrm>
              <a:off x="629511" y="4483158"/>
              <a:ext cx="6180560" cy="468000"/>
            </a:xfrm>
            <a:prstGeom prst="rect">
              <a:avLst/>
            </a:prstGeom>
            <a:solidFill>
              <a:srgbClr val="97BB3D"/>
            </a:solidFill>
            <a:ln>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t>Software Platform / Tooling Stack</a:t>
              </a:r>
            </a:p>
          </p:txBody>
        </p:sp>
        <p:sp>
          <p:nvSpPr>
            <p:cNvPr id="30" name="Rectangle 29">
              <a:extLst>
                <a:ext uri="{FF2B5EF4-FFF2-40B4-BE49-F238E27FC236}">
                  <a16:creationId xmlns:a16="http://schemas.microsoft.com/office/drawing/2014/main" id="{A363EDFA-A50C-4533-9031-B8ECAB2D90CC}"/>
                </a:ext>
              </a:extLst>
            </p:cNvPr>
            <p:cNvSpPr/>
            <p:nvPr/>
          </p:nvSpPr>
          <p:spPr>
            <a:xfrm>
              <a:off x="629511" y="5663368"/>
              <a:ext cx="6939690"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Orchestration</a:t>
              </a:r>
            </a:p>
          </p:txBody>
        </p:sp>
        <p:grpSp>
          <p:nvGrpSpPr>
            <p:cNvPr id="33" name="Group 32">
              <a:extLst>
                <a:ext uri="{FF2B5EF4-FFF2-40B4-BE49-F238E27FC236}">
                  <a16:creationId xmlns:a16="http://schemas.microsoft.com/office/drawing/2014/main" id="{2577598F-2F3E-4771-9B7F-D16E766E0884}"/>
                </a:ext>
              </a:extLst>
            </p:cNvPr>
            <p:cNvGrpSpPr/>
            <p:nvPr/>
          </p:nvGrpSpPr>
          <p:grpSpPr>
            <a:xfrm>
              <a:off x="629511" y="6253474"/>
              <a:ext cx="6939690" cy="468000"/>
              <a:chOff x="150538" y="6620027"/>
              <a:chExt cx="6180560" cy="468000"/>
            </a:xfrm>
          </p:grpSpPr>
          <p:sp>
            <p:nvSpPr>
              <p:cNvPr id="5" name="Rectangle 4">
                <a:extLst>
                  <a:ext uri="{FF2B5EF4-FFF2-40B4-BE49-F238E27FC236}">
                    <a16:creationId xmlns:a16="http://schemas.microsoft.com/office/drawing/2014/main" id="{B9F67726-FE16-4DB2-8AFB-0C88F6383006}"/>
                  </a:ext>
                </a:extLst>
              </p:cNvPr>
              <p:cNvSpPr/>
              <p:nvPr/>
            </p:nvSpPr>
            <p:spPr>
              <a:xfrm>
                <a:off x="150538" y="6620027"/>
                <a:ext cx="1980000"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Compute</a:t>
                </a:r>
              </a:p>
            </p:txBody>
          </p:sp>
          <p:sp>
            <p:nvSpPr>
              <p:cNvPr id="31" name="Rectangle 30">
                <a:extLst>
                  <a:ext uri="{FF2B5EF4-FFF2-40B4-BE49-F238E27FC236}">
                    <a16:creationId xmlns:a16="http://schemas.microsoft.com/office/drawing/2014/main" id="{D175A914-8444-4BDD-9AC5-45408C39AE1D}"/>
                  </a:ext>
                </a:extLst>
              </p:cNvPr>
              <p:cNvSpPr/>
              <p:nvPr/>
            </p:nvSpPr>
            <p:spPr>
              <a:xfrm>
                <a:off x="2250818" y="6620027"/>
                <a:ext cx="1980000"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t>Networking</a:t>
                </a:r>
              </a:p>
            </p:txBody>
          </p:sp>
          <p:sp>
            <p:nvSpPr>
              <p:cNvPr id="32" name="Rectangle 31">
                <a:extLst>
                  <a:ext uri="{FF2B5EF4-FFF2-40B4-BE49-F238E27FC236}">
                    <a16:creationId xmlns:a16="http://schemas.microsoft.com/office/drawing/2014/main" id="{2075ED5E-CC35-4855-BD54-E5D81A4EB31F}"/>
                  </a:ext>
                </a:extLst>
              </p:cNvPr>
              <p:cNvSpPr/>
              <p:nvPr/>
            </p:nvSpPr>
            <p:spPr>
              <a:xfrm>
                <a:off x="4351098" y="6620027"/>
                <a:ext cx="1980000"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Data Storage</a:t>
                </a:r>
              </a:p>
            </p:txBody>
          </p:sp>
        </p:grpSp>
        <p:sp>
          <p:nvSpPr>
            <p:cNvPr id="27" name="Rectangle 26">
              <a:extLst>
                <a:ext uri="{FF2B5EF4-FFF2-40B4-BE49-F238E27FC236}">
                  <a16:creationId xmlns:a16="http://schemas.microsoft.com/office/drawing/2014/main" id="{74BA2354-4D10-4743-8FDA-185F8C885B26}"/>
                </a:ext>
              </a:extLst>
            </p:cNvPr>
            <p:cNvSpPr/>
            <p:nvPr/>
          </p:nvSpPr>
          <p:spPr>
            <a:xfrm>
              <a:off x="629509" y="5073263"/>
              <a:ext cx="6207015"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Platform APIs</a:t>
              </a:r>
            </a:p>
          </p:txBody>
        </p:sp>
      </p:grpSp>
      <p:sp>
        <p:nvSpPr>
          <p:cNvPr id="2" name="Trapezoid 1">
            <a:extLst>
              <a:ext uri="{FF2B5EF4-FFF2-40B4-BE49-F238E27FC236}">
                <a16:creationId xmlns:a16="http://schemas.microsoft.com/office/drawing/2014/main" id="{A25DDC20-890A-4C15-B6E7-90DEDCDF504F}"/>
              </a:ext>
            </a:extLst>
          </p:cNvPr>
          <p:cNvSpPr/>
          <p:nvPr/>
        </p:nvSpPr>
        <p:spPr>
          <a:xfrm>
            <a:off x="1747963" y="4600433"/>
            <a:ext cx="2958807" cy="1567844"/>
          </a:xfrm>
          <a:prstGeom prst="trapezoid">
            <a:avLst>
              <a:gd name="adj" fmla="val 34085"/>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600" dirty="0"/>
              <a:t>IT/OT Platform</a:t>
            </a:r>
          </a:p>
        </p:txBody>
      </p:sp>
      <p:sp>
        <p:nvSpPr>
          <p:cNvPr id="7" name="Trapezoid 6">
            <a:extLst>
              <a:ext uri="{FF2B5EF4-FFF2-40B4-BE49-F238E27FC236}">
                <a16:creationId xmlns:a16="http://schemas.microsoft.com/office/drawing/2014/main" id="{1C2CD08A-5E5B-4A35-BE4E-08D59E2FE4C2}"/>
              </a:ext>
            </a:extLst>
          </p:cNvPr>
          <p:cNvSpPr/>
          <p:nvPr/>
        </p:nvSpPr>
        <p:spPr>
          <a:xfrm>
            <a:off x="2294863" y="3384111"/>
            <a:ext cx="1865006" cy="1131476"/>
          </a:xfrm>
          <a:prstGeom prst="trapezoid">
            <a:avLst>
              <a:gd name="adj" fmla="val 30664"/>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GB" sz="1600" dirty="0">
                <a:solidFill>
                  <a:schemeClr val="tx1"/>
                </a:solidFill>
              </a:rPr>
              <a:t>Digital Twin</a:t>
            </a:r>
          </a:p>
        </p:txBody>
      </p:sp>
      <p:sp>
        <p:nvSpPr>
          <p:cNvPr id="8" name="Trapezoid 7">
            <a:extLst>
              <a:ext uri="{FF2B5EF4-FFF2-40B4-BE49-F238E27FC236}">
                <a16:creationId xmlns:a16="http://schemas.microsoft.com/office/drawing/2014/main" id="{95D44DCF-7200-47C7-96D2-E4E6EE6640EC}"/>
              </a:ext>
            </a:extLst>
          </p:cNvPr>
          <p:cNvSpPr/>
          <p:nvPr/>
        </p:nvSpPr>
        <p:spPr>
          <a:xfrm>
            <a:off x="2633116" y="2970937"/>
            <a:ext cx="1186752" cy="327679"/>
          </a:xfrm>
          <a:prstGeom prst="trapezoid">
            <a:avLst>
              <a:gd name="adj" fmla="val 73654"/>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100" dirty="0"/>
              <a:t>Service Interfaces</a:t>
            </a:r>
          </a:p>
        </p:txBody>
      </p:sp>
      <p:sp>
        <p:nvSpPr>
          <p:cNvPr id="9" name="Freeform: Shape 8">
            <a:extLst>
              <a:ext uri="{FF2B5EF4-FFF2-40B4-BE49-F238E27FC236}">
                <a16:creationId xmlns:a16="http://schemas.microsoft.com/office/drawing/2014/main" id="{51E0D087-CB6D-4B21-BDE7-C9B1E8FAF07D}"/>
              </a:ext>
            </a:extLst>
          </p:cNvPr>
          <p:cNvSpPr/>
          <p:nvPr/>
        </p:nvSpPr>
        <p:spPr>
          <a:xfrm>
            <a:off x="1747963" y="2145234"/>
            <a:ext cx="2958807" cy="740209"/>
          </a:xfrm>
          <a:custGeom>
            <a:avLst/>
            <a:gdLst>
              <a:gd name="connsiteX0" fmla="*/ 0 w 4313804"/>
              <a:gd name="connsiteY0" fmla="*/ 0 h 958623"/>
              <a:gd name="connsiteX1" fmla="*/ 4313804 w 4313804"/>
              <a:gd name="connsiteY1" fmla="*/ 0 h 958623"/>
              <a:gd name="connsiteX2" fmla="*/ 3130719 w 4313804"/>
              <a:gd name="connsiteY2" fmla="*/ 958623 h 958623"/>
              <a:gd name="connsiteX3" fmla="*/ 1183085 w 4313804"/>
              <a:gd name="connsiteY3" fmla="*/ 958623 h 958623"/>
              <a:gd name="connsiteX0" fmla="*/ 0 w 4313804"/>
              <a:gd name="connsiteY0" fmla="*/ 0 h 958623"/>
              <a:gd name="connsiteX1" fmla="*/ 4313804 w 4313804"/>
              <a:gd name="connsiteY1" fmla="*/ 0 h 958623"/>
              <a:gd name="connsiteX2" fmla="*/ 3130719 w 4313804"/>
              <a:gd name="connsiteY2" fmla="*/ 958623 h 958623"/>
              <a:gd name="connsiteX3" fmla="*/ 1617391 w 4313804"/>
              <a:gd name="connsiteY3" fmla="*/ 958623 h 958623"/>
              <a:gd name="connsiteX4" fmla="*/ 0 w 4313804"/>
              <a:gd name="connsiteY4" fmla="*/ 0 h 958623"/>
              <a:gd name="connsiteX0" fmla="*/ 0 w 4313804"/>
              <a:gd name="connsiteY0" fmla="*/ 0 h 958623"/>
              <a:gd name="connsiteX1" fmla="*/ 4313804 w 4313804"/>
              <a:gd name="connsiteY1" fmla="*/ 0 h 958623"/>
              <a:gd name="connsiteX2" fmla="*/ 3130719 w 4313804"/>
              <a:gd name="connsiteY2" fmla="*/ 958623 h 958623"/>
              <a:gd name="connsiteX3" fmla="*/ 1617391 w 4313804"/>
              <a:gd name="connsiteY3" fmla="*/ 958623 h 958623"/>
              <a:gd name="connsiteX4" fmla="*/ 0 w 4313804"/>
              <a:gd name="connsiteY4" fmla="*/ 0 h 958623"/>
              <a:gd name="connsiteX0" fmla="*/ 0 w 4313804"/>
              <a:gd name="connsiteY0" fmla="*/ 0 h 958623"/>
              <a:gd name="connsiteX1" fmla="*/ 4313804 w 4313804"/>
              <a:gd name="connsiteY1" fmla="*/ 0 h 958623"/>
              <a:gd name="connsiteX2" fmla="*/ 2527877 w 4313804"/>
              <a:gd name="connsiteY2" fmla="*/ 958623 h 958623"/>
              <a:gd name="connsiteX3" fmla="*/ 1617391 w 4313804"/>
              <a:gd name="connsiteY3" fmla="*/ 958623 h 958623"/>
              <a:gd name="connsiteX4" fmla="*/ 0 w 4313804"/>
              <a:gd name="connsiteY4" fmla="*/ 0 h 958623"/>
              <a:gd name="connsiteX0" fmla="*/ 0 w 4313804"/>
              <a:gd name="connsiteY0" fmla="*/ 0 h 958623"/>
              <a:gd name="connsiteX1" fmla="*/ 4313804 w 4313804"/>
              <a:gd name="connsiteY1" fmla="*/ 0 h 958623"/>
              <a:gd name="connsiteX2" fmla="*/ 2644556 w 4313804"/>
              <a:gd name="connsiteY2" fmla="*/ 958623 h 958623"/>
              <a:gd name="connsiteX3" fmla="*/ 1617391 w 4313804"/>
              <a:gd name="connsiteY3" fmla="*/ 958623 h 958623"/>
              <a:gd name="connsiteX4" fmla="*/ 0 w 4313804"/>
              <a:gd name="connsiteY4" fmla="*/ 0 h 958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804" h="958623">
                <a:moveTo>
                  <a:pt x="0" y="0"/>
                </a:moveTo>
                <a:lnTo>
                  <a:pt x="4313804" y="0"/>
                </a:lnTo>
                <a:lnTo>
                  <a:pt x="2644556" y="958623"/>
                </a:lnTo>
                <a:lnTo>
                  <a:pt x="1617391" y="958623"/>
                </a:lnTo>
                <a:lnTo>
                  <a:pt x="0" y="0"/>
                </a:lnTo>
                <a:close/>
              </a:path>
            </a:pathLst>
          </a:cu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GB" sz="1600" dirty="0"/>
              <a:t>Applications</a:t>
            </a:r>
          </a:p>
          <a:p>
            <a:pPr algn="ctr"/>
            <a:r>
              <a:rPr lang="en-GB" sz="1600" dirty="0"/>
              <a:t>&amp; Services</a:t>
            </a:r>
          </a:p>
        </p:txBody>
      </p:sp>
      <p:grpSp>
        <p:nvGrpSpPr>
          <p:cNvPr id="28" name="Group 27">
            <a:extLst>
              <a:ext uri="{FF2B5EF4-FFF2-40B4-BE49-F238E27FC236}">
                <a16:creationId xmlns:a16="http://schemas.microsoft.com/office/drawing/2014/main" id="{400FFF78-E205-485F-922D-A8A00DDFDCA6}"/>
              </a:ext>
            </a:extLst>
          </p:cNvPr>
          <p:cNvGrpSpPr/>
          <p:nvPr/>
        </p:nvGrpSpPr>
        <p:grpSpPr>
          <a:xfrm rot="10800000">
            <a:off x="151885" y="1848979"/>
            <a:ext cx="962012" cy="4231179"/>
            <a:chOff x="10193669" y="1662545"/>
            <a:chExt cx="962012" cy="4231179"/>
          </a:xfrm>
        </p:grpSpPr>
        <p:sp>
          <p:nvSpPr>
            <p:cNvPr id="6" name="Rectangle 5">
              <a:extLst>
                <a:ext uri="{FF2B5EF4-FFF2-40B4-BE49-F238E27FC236}">
                  <a16:creationId xmlns:a16="http://schemas.microsoft.com/office/drawing/2014/main" id="{8F5C0E68-DE14-4A5E-BE0F-DB41D89498FD}"/>
                </a:ext>
              </a:extLst>
            </p:cNvPr>
            <p:cNvSpPr/>
            <p:nvPr/>
          </p:nvSpPr>
          <p:spPr>
            <a:xfrm>
              <a:off x="10193669" y="1662545"/>
              <a:ext cx="962012" cy="423117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vert" rtlCol="0" anchor="t"/>
            <a:lstStyle/>
            <a:p>
              <a:pPr algn="ctr"/>
              <a:r>
                <a:rPr lang="en-GB" sz="1600" dirty="0"/>
                <a:t>Security, Trust, &amp; Governance</a:t>
              </a:r>
            </a:p>
          </p:txBody>
        </p:sp>
        <p:grpSp>
          <p:nvGrpSpPr>
            <p:cNvPr id="41" name="Group 40">
              <a:extLst>
                <a:ext uri="{FF2B5EF4-FFF2-40B4-BE49-F238E27FC236}">
                  <a16:creationId xmlns:a16="http://schemas.microsoft.com/office/drawing/2014/main" id="{F57B2A09-CD6D-4FCA-9552-50A85E5E105B}"/>
                </a:ext>
              </a:extLst>
            </p:cNvPr>
            <p:cNvGrpSpPr/>
            <p:nvPr/>
          </p:nvGrpSpPr>
          <p:grpSpPr>
            <a:xfrm>
              <a:off x="10271543" y="1735927"/>
              <a:ext cx="493436" cy="4099608"/>
              <a:chOff x="9423142" y="1738230"/>
              <a:chExt cx="608932" cy="5676634"/>
            </a:xfrm>
          </p:grpSpPr>
          <p:sp>
            <p:nvSpPr>
              <p:cNvPr id="46" name="Rectangle 45">
                <a:extLst>
                  <a:ext uri="{FF2B5EF4-FFF2-40B4-BE49-F238E27FC236}">
                    <a16:creationId xmlns:a16="http://schemas.microsoft.com/office/drawing/2014/main" id="{5953B080-507D-4B47-9761-1AFD11E5F7F9}"/>
                  </a:ext>
                </a:extLst>
              </p:cNvPr>
              <p:cNvSpPr/>
              <p:nvPr/>
            </p:nvSpPr>
            <p:spPr>
              <a:xfrm>
                <a:off x="9423142" y="1738230"/>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Privacy</a:t>
                </a:r>
              </a:p>
            </p:txBody>
          </p:sp>
          <p:sp>
            <p:nvSpPr>
              <p:cNvPr id="47" name="Rectangle 46">
                <a:extLst>
                  <a:ext uri="{FF2B5EF4-FFF2-40B4-BE49-F238E27FC236}">
                    <a16:creationId xmlns:a16="http://schemas.microsoft.com/office/drawing/2014/main" id="{FF6E8F0A-AEF7-4B33-B07F-0E8AB5FA8D8D}"/>
                  </a:ext>
                </a:extLst>
              </p:cNvPr>
              <p:cNvSpPr/>
              <p:nvPr/>
            </p:nvSpPr>
            <p:spPr>
              <a:xfrm>
                <a:off x="9423142" y="2889477"/>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Security</a:t>
                </a:r>
              </a:p>
            </p:txBody>
          </p:sp>
          <p:sp>
            <p:nvSpPr>
              <p:cNvPr id="48" name="Rectangle 47">
                <a:extLst>
                  <a:ext uri="{FF2B5EF4-FFF2-40B4-BE49-F238E27FC236}">
                    <a16:creationId xmlns:a16="http://schemas.microsoft.com/office/drawing/2014/main" id="{7817AD0B-3858-4D52-B830-4E347657EF84}"/>
                  </a:ext>
                </a:extLst>
              </p:cNvPr>
              <p:cNvSpPr/>
              <p:nvPr/>
            </p:nvSpPr>
            <p:spPr>
              <a:xfrm>
                <a:off x="9423142" y="4040725"/>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Safety</a:t>
                </a:r>
              </a:p>
            </p:txBody>
          </p:sp>
          <p:sp>
            <p:nvSpPr>
              <p:cNvPr id="49" name="Rectangle 48">
                <a:extLst>
                  <a:ext uri="{FF2B5EF4-FFF2-40B4-BE49-F238E27FC236}">
                    <a16:creationId xmlns:a16="http://schemas.microsoft.com/office/drawing/2014/main" id="{BE4450DB-3FD6-4ACD-B458-42AC322F2773}"/>
                  </a:ext>
                </a:extLst>
              </p:cNvPr>
              <p:cNvSpPr/>
              <p:nvPr/>
            </p:nvSpPr>
            <p:spPr>
              <a:xfrm>
                <a:off x="9423142" y="5191971"/>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Resilience</a:t>
                </a:r>
              </a:p>
            </p:txBody>
          </p:sp>
          <p:sp>
            <p:nvSpPr>
              <p:cNvPr id="50" name="Rectangle 49">
                <a:extLst>
                  <a:ext uri="{FF2B5EF4-FFF2-40B4-BE49-F238E27FC236}">
                    <a16:creationId xmlns:a16="http://schemas.microsoft.com/office/drawing/2014/main" id="{A461CC2F-18BC-4C03-9A3B-1464F010DC2A}"/>
                  </a:ext>
                </a:extLst>
              </p:cNvPr>
              <p:cNvSpPr/>
              <p:nvPr/>
            </p:nvSpPr>
            <p:spPr>
              <a:xfrm>
                <a:off x="9423142" y="6343218"/>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Reliability</a:t>
                </a:r>
              </a:p>
            </p:txBody>
          </p:sp>
        </p:grpSp>
      </p:grpSp>
      <p:sp>
        <p:nvSpPr>
          <p:cNvPr id="51" name="Rectangle 10">
            <a:extLst>
              <a:ext uri="{FF2B5EF4-FFF2-40B4-BE49-F238E27FC236}">
                <a16:creationId xmlns:a16="http://schemas.microsoft.com/office/drawing/2014/main" id="{514F35A3-BF4A-4929-A834-50A8579648DA}"/>
              </a:ext>
            </a:extLst>
          </p:cNvPr>
          <p:cNvSpPr/>
          <p:nvPr/>
        </p:nvSpPr>
        <p:spPr>
          <a:xfrm>
            <a:off x="4905860" y="3360880"/>
            <a:ext cx="4410969" cy="32767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solidFill>
                  <a:schemeClr val="tx1"/>
                </a:solidFill>
              </a:rPr>
              <a:t>Digital Twin Interaction/Integration Functions </a:t>
            </a:r>
            <a:endParaRPr lang="en-GB" dirty="0">
              <a:solidFill>
                <a:schemeClr val="tx1"/>
              </a:solidFill>
            </a:endParaRPr>
          </a:p>
        </p:txBody>
      </p:sp>
    </p:spTree>
    <p:extLst>
      <p:ext uri="{BB962C8B-B14F-4D97-AF65-F5344CB8AC3E}">
        <p14:creationId xmlns:p14="http://schemas.microsoft.com/office/powerpoint/2010/main" val="239133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2E07D0-D82C-48BF-A87E-5BAB21DA49EC}"/>
              </a:ext>
            </a:extLst>
          </p:cNvPr>
          <p:cNvSpPr>
            <a:spLocks noChangeAspect="1"/>
          </p:cNvSpPr>
          <p:nvPr/>
        </p:nvSpPr>
        <p:spPr>
          <a:xfrm>
            <a:off x="11030857" y="6168571"/>
            <a:ext cx="1161143" cy="689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itle 19">
            <a:extLst>
              <a:ext uri="{FF2B5EF4-FFF2-40B4-BE49-F238E27FC236}">
                <a16:creationId xmlns:a16="http://schemas.microsoft.com/office/drawing/2014/main" id="{B664BB96-2538-4D1C-8050-F3C1F4F3DBEC}"/>
              </a:ext>
            </a:extLst>
          </p:cNvPr>
          <p:cNvSpPr>
            <a:spLocks noGrp="1"/>
          </p:cNvSpPr>
          <p:nvPr>
            <p:ph type="title"/>
          </p:nvPr>
        </p:nvSpPr>
        <p:spPr/>
        <p:txBody>
          <a:bodyPr>
            <a:normAutofit/>
          </a:bodyPr>
          <a:lstStyle/>
          <a:p>
            <a:r>
              <a:rPr lang="en-GB" dirty="0"/>
              <a:t>Expanded Stack Rationale</a:t>
            </a:r>
          </a:p>
        </p:txBody>
      </p:sp>
      <p:sp>
        <p:nvSpPr>
          <p:cNvPr id="7" name="TextBox 6">
            <a:extLst>
              <a:ext uri="{FF2B5EF4-FFF2-40B4-BE49-F238E27FC236}">
                <a16:creationId xmlns:a16="http://schemas.microsoft.com/office/drawing/2014/main" id="{9D065C07-9AD0-4351-99E6-180BA0E96A53}"/>
              </a:ext>
            </a:extLst>
          </p:cNvPr>
          <p:cNvSpPr txBox="1"/>
          <p:nvPr/>
        </p:nvSpPr>
        <p:spPr>
          <a:xfrm>
            <a:off x="0" y="1386841"/>
            <a:ext cx="12192000" cy="5471160"/>
          </a:xfrm>
          <a:prstGeom prst="rect">
            <a:avLst/>
          </a:prstGeom>
          <a:noFill/>
        </p:spPr>
        <p:txBody>
          <a:bodyPr wrap="square" lIns="36000" tIns="36000" rIns="36000" bIns="36000" rtlCol="0" anchor="ctr">
            <a:normAutofit fontScale="85000" lnSpcReduction="10000"/>
          </a:bodyPr>
          <a:lstStyle/>
          <a:p>
            <a:pPr marL="171450" indent="-171450">
              <a:buFont typeface="Arial" panose="020B0604020202020204" pitchFamily="34" charset="0"/>
              <a:buChar char="•"/>
            </a:pPr>
            <a:r>
              <a:rPr lang="en-GB" sz="2000" dirty="0">
                <a:solidFill>
                  <a:schemeClr val="accent5"/>
                </a:solidFill>
              </a:rPr>
              <a:t>The </a:t>
            </a:r>
            <a:r>
              <a:rPr lang="en-GB" sz="2000" b="1" u="sng" dirty="0">
                <a:solidFill>
                  <a:schemeClr val="accent5"/>
                </a:solidFill>
              </a:rPr>
              <a:t>IT/OT platform</a:t>
            </a:r>
            <a:r>
              <a:rPr lang="en-GB" sz="2000" dirty="0">
                <a:solidFill>
                  <a:schemeClr val="accent5"/>
                </a:solidFill>
              </a:rPr>
              <a:t> consists of 5 primary elements:</a:t>
            </a:r>
          </a:p>
          <a:p>
            <a:pPr marL="628650" lvl="1" indent="-171450">
              <a:buFont typeface="Arial" panose="020B0604020202020204" pitchFamily="34" charset="0"/>
              <a:buChar char="•"/>
            </a:pPr>
            <a:r>
              <a:rPr lang="en-GB" sz="2000" b="1" u="sng" dirty="0">
                <a:solidFill>
                  <a:schemeClr val="accent5"/>
                </a:solidFill>
              </a:rPr>
              <a:t>Compute</a:t>
            </a:r>
            <a:endParaRPr lang="en-GB" sz="2000" dirty="0">
              <a:solidFill>
                <a:schemeClr val="accent5"/>
              </a:solidFill>
            </a:endParaRPr>
          </a:p>
          <a:p>
            <a:pPr marL="628650" lvl="1" indent="-171450">
              <a:buFont typeface="Arial" panose="020B0604020202020204" pitchFamily="34" charset="0"/>
              <a:buChar char="•"/>
            </a:pPr>
            <a:r>
              <a:rPr lang="en-GB" sz="2000" b="1" u="sng" dirty="0">
                <a:solidFill>
                  <a:schemeClr val="accent5"/>
                </a:solidFill>
              </a:rPr>
              <a:t>Networking</a:t>
            </a:r>
            <a:r>
              <a:rPr lang="en-GB" sz="2000" dirty="0">
                <a:solidFill>
                  <a:schemeClr val="accent5"/>
                </a:solidFill>
              </a:rPr>
              <a:t> including Communication and Connectivity</a:t>
            </a:r>
          </a:p>
          <a:p>
            <a:pPr marL="628650" lvl="1" indent="-171450">
              <a:buFont typeface="Arial" panose="020B0604020202020204" pitchFamily="34" charset="0"/>
              <a:buChar char="•"/>
            </a:pPr>
            <a:r>
              <a:rPr lang="en-GB" sz="2000" b="1" u="sng" dirty="0">
                <a:solidFill>
                  <a:schemeClr val="accent5"/>
                </a:solidFill>
              </a:rPr>
              <a:t>Data storage</a:t>
            </a:r>
            <a:r>
              <a:rPr lang="en-GB" sz="2000" dirty="0">
                <a:solidFill>
                  <a:schemeClr val="accent5"/>
                </a:solidFill>
              </a:rPr>
              <a:t> (e.g. databases, warehousing)</a:t>
            </a:r>
          </a:p>
          <a:p>
            <a:pPr marL="628650" lvl="1" indent="-171450">
              <a:buFont typeface="Arial" panose="020B0604020202020204" pitchFamily="34" charset="0"/>
              <a:buChar char="•"/>
            </a:pPr>
            <a:r>
              <a:rPr lang="en-GB" sz="2000" b="1" u="sng" dirty="0">
                <a:solidFill>
                  <a:schemeClr val="accent5"/>
                </a:solidFill>
              </a:rPr>
              <a:t>Orchestration</a:t>
            </a:r>
            <a:r>
              <a:rPr lang="en-GB" sz="2000" dirty="0">
                <a:solidFill>
                  <a:schemeClr val="accent5"/>
                </a:solidFill>
              </a:rPr>
              <a:t>, and the required software applications</a:t>
            </a:r>
          </a:p>
          <a:p>
            <a:pPr marL="628650" lvl="1" indent="-171450">
              <a:buFont typeface="Arial" panose="020B0604020202020204" pitchFamily="34" charset="0"/>
              <a:buChar char="•"/>
            </a:pPr>
            <a:r>
              <a:rPr lang="en-GB" sz="2000" dirty="0">
                <a:solidFill>
                  <a:schemeClr val="accent5"/>
                </a:solidFill>
              </a:rPr>
              <a:t>There is also often an </a:t>
            </a:r>
            <a:r>
              <a:rPr lang="en-GB" sz="2000" b="1" u="sng" dirty="0">
                <a:solidFill>
                  <a:schemeClr val="accent5"/>
                </a:solidFill>
              </a:rPr>
              <a:t>API layer</a:t>
            </a:r>
            <a:r>
              <a:rPr lang="en-GB" sz="2000" dirty="0">
                <a:solidFill>
                  <a:schemeClr val="accent5"/>
                </a:solidFill>
              </a:rPr>
              <a:t> for managing the IT/OT platform</a:t>
            </a:r>
            <a:endParaRPr lang="en-GB" sz="2000" i="1" dirty="0">
              <a:solidFill>
                <a:schemeClr val="accent5"/>
              </a:solidFill>
            </a:endParaRPr>
          </a:p>
          <a:p>
            <a:pPr marL="171450" indent="-171450">
              <a:buFont typeface="Arial" panose="020B0604020202020204" pitchFamily="34" charset="0"/>
              <a:buChar char="•"/>
            </a:pPr>
            <a:r>
              <a:rPr lang="en-GB" sz="2000" dirty="0">
                <a:solidFill>
                  <a:srgbClr val="92D050"/>
                </a:solidFill>
              </a:rPr>
              <a:t>The </a:t>
            </a:r>
            <a:r>
              <a:rPr lang="en-GB" sz="2000" b="1" u="sng" dirty="0">
                <a:solidFill>
                  <a:srgbClr val="92D050"/>
                </a:solidFill>
              </a:rPr>
              <a:t>software applications</a:t>
            </a:r>
            <a:r>
              <a:rPr lang="en-GB" sz="2000" dirty="0">
                <a:solidFill>
                  <a:srgbClr val="92D050"/>
                </a:solidFill>
              </a:rPr>
              <a:t> themselves sit between the IT/OT layer and the Digital Twin as they are often specific to a modelling or simulation tool and within a given domain</a:t>
            </a:r>
            <a:endParaRPr lang="en-GB" sz="2000" dirty="0">
              <a:solidFill>
                <a:schemeClr val="accent5"/>
              </a:solidFill>
            </a:endParaRPr>
          </a:p>
          <a:p>
            <a:pPr marL="171450" indent="-171450">
              <a:buFont typeface="Arial" panose="020B0604020202020204" pitchFamily="34" charset="0"/>
              <a:buChar char="•"/>
            </a:pPr>
            <a:r>
              <a:rPr lang="en-GB" sz="2000" b="0" dirty="0">
                <a:solidFill>
                  <a:schemeClr val="accent4"/>
                </a:solidFill>
              </a:rPr>
              <a:t>Digital Twins are then separated into:</a:t>
            </a:r>
          </a:p>
          <a:p>
            <a:pPr marL="628650" lvl="1" indent="-171450">
              <a:buFont typeface="Arial" panose="020B0604020202020204" pitchFamily="34" charset="0"/>
              <a:buChar char="•"/>
            </a:pPr>
            <a:r>
              <a:rPr lang="en-GB" sz="2000" dirty="0">
                <a:solidFill>
                  <a:schemeClr val="accent4"/>
                </a:solidFill>
              </a:rPr>
              <a:t>R</a:t>
            </a:r>
            <a:r>
              <a:rPr lang="en-GB" sz="2000" b="0" dirty="0">
                <a:solidFill>
                  <a:schemeClr val="accent4"/>
                </a:solidFill>
              </a:rPr>
              <a:t>epresentational </a:t>
            </a:r>
            <a:r>
              <a:rPr lang="en-GB" sz="2000" b="1" u="sng" dirty="0">
                <a:solidFill>
                  <a:schemeClr val="accent4"/>
                </a:solidFill>
              </a:rPr>
              <a:t>models</a:t>
            </a:r>
            <a:r>
              <a:rPr lang="en-GB" sz="2000" b="0" dirty="0">
                <a:solidFill>
                  <a:schemeClr val="accent4"/>
                </a:solidFill>
              </a:rPr>
              <a:t> and functional </a:t>
            </a:r>
            <a:r>
              <a:rPr lang="en-GB" sz="2000" b="1" u="sng" dirty="0">
                <a:solidFill>
                  <a:schemeClr val="accent4"/>
                </a:solidFill>
              </a:rPr>
              <a:t>simulations</a:t>
            </a:r>
            <a:r>
              <a:rPr lang="en-GB" sz="2000" dirty="0">
                <a:solidFill>
                  <a:schemeClr val="accent4"/>
                </a:solidFill>
              </a:rPr>
              <a:t> (these could also be described as predictive or computational models)</a:t>
            </a:r>
          </a:p>
          <a:p>
            <a:pPr marL="628650" lvl="1" indent="-171450">
              <a:buFont typeface="Arial" panose="020B0604020202020204" pitchFamily="34" charset="0"/>
              <a:buChar char="•"/>
            </a:pPr>
            <a:r>
              <a:rPr lang="en-GB" sz="2000" b="0" dirty="0">
                <a:solidFill>
                  <a:schemeClr val="accent4"/>
                </a:solidFill>
              </a:rPr>
              <a:t>Digital Twin Interaction/Integration Functions provide a framework to combine various types of digital twins in an integrated digital world and an unified layer to expose Service Interfaces</a:t>
            </a:r>
            <a:endParaRPr lang="en-GB" sz="2000" b="0" dirty="0">
              <a:solidFill>
                <a:schemeClr val="tx1">
                  <a:lumMod val="65000"/>
                  <a:lumOff val="35000"/>
                </a:schemeClr>
              </a:solidFill>
            </a:endParaRPr>
          </a:p>
          <a:p>
            <a:pPr marL="171450" indent="-171450">
              <a:buFont typeface="Arial" panose="020B0604020202020204" pitchFamily="34" charset="0"/>
              <a:buChar char="•"/>
            </a:pPr>
            <a:r>
              <a:rPr lang="en-GB" sz="2000" b="0" dirty="0">
                <a:solidFill>
                  <a:schemeClr val="accent2"/>
                </a:solidFill>
              </a:rPr>
              <a:t>The </a:t>
            </a:r>
            <a:r>
              <a:rPr lang="en-GB" sz="2000" b="1" u="sng" dirty="0">
                <a:solidFill>
                  <a:schemeClr val="accent2"/>
                </a:solidFill>
              </a:rPr>
              <a:t>Service Interfaces</a:t>
            </a:r>
            <a:r>
              <a:rPr lang="en-GB" sz="2000" b="0" dirty="0">
                <a:solidFill>
                  <a:schemeClr val="accent2"/>
                </a:solidFill>
              </a:rPr>
              <a:t> are an opportunity to begin to define a level of standardisation for interoperability between Digital Twin Systems but currently would be specific to a given technology stack or domain.</a:t>
            </a:r>
          </a:p>
          <a:p>
            <a:pPr marL="171450" indent="-171450">
              <a:buFont typeface="Arial" panose="020B0604020202020204" pitchFamily="34" charset="0"/>
              <a:buChar char="•"/>
            </a:pPr>
            <a:r>
              <a:rPr lang="en-GB" sz="2000" b="1" u="sng" dirty="0">
                <a:solidFill>
                  <a:schemeClr val="accent1"/>
                </a:solidFill>
              </a:rPr>
              <a:t>Application Services</a:t>
            </a:r>
            <a:r>
              <a:rPr lang="en-GB" sz="2000" dirty="0">
                <a:solidFill>
                  <a:schemeClr val="accent1"/>
                </a:solidFill>
              </a:rPr>
              <a:t> include visualisation/rendering services as well as analytics</a:t>
            </a:r>
            <a:endParaRPr lang="en-GB" sz="2000" dirty="0">
              <a:solidFill>
                <a:schemeClr val="tx1">
                  <a:lumMod val="65000"/>
                  <a:lumOff val="35000"/>
                </a:schemeClr>
              </a:solidFill>
            </a:endParaRPr>
          </a:p>
          <a:p>
            <a:pPr marL="171450" indent="-171450">
              <a:buFont typeface="Arial" panose="020B0604020202020204" pitchFamily="34" charset="0"/>
              <a:buChar char="•"/>
            </a:pPr>
            <a:r>
              <a:rPr lang="en-GB" sz="2000" b="0" dirty="0">
                <a:solidFill>
                  <a:schemeClr val="accent1"/>
                </a:solidFill>
              </a:rPr>
              <a:t>Applications will be driven by case studies</a:t>
            </a:r>
          </a:p>
          <a:p>
            <a:pPr marL="171450" indent="-171450">
              <a:buFont typeface="Arial" panose="020B0604020202020204" pitchFamily="34" charset="0"/>
              <a:buChar char="•"/>
            </a:pPr>
            <a:r>
              <a:rPr lang="en-GB" sz="2000" b="0" dirty="0">
                <a:solidFill>
                  <a:schemeClr val="accent6"/>
                </a:solidFill>
              </a:rPr>
              <a:t>The </a:t>
            </a:r>
            <a:r>
              <a:rPr lang="en-GB" sz="2000" b="1" u="sng" dirty="0">
                <a:solidFill>
                  <a:schemeClr val="accent6"/>
                </a:solidFill>
              </a:rPr>
              <a:t>Security &amp; Trustworthiness</a:t>
            </a:r>
            <a:r>
              <a:rPr lang="en-GB" sz="2000" b="0" dirty="0">
                <a:solidFill>
                  <a:schemeClr val="accent6"/>
                </a:solidFill>
              </a:rPr>
              <a:t> vertical block is split as per the IIC guidance into 5 sub-blocks: privacy, security,</a:t>
            </a:r>
            <a:r>
              <a:rPr lang="en-GB" sz="2000" dirty="0">
                <a:solidFill>
                  <a:schemeClr val="accent6"/>
                </a:solidFill>
              </a:rPr>
              <a:t> safety, resilience, and reliability</a:t>
            </a:r>
            <a:endParaRPr lang="en-GB" sz="2000" b="0" dirty="0">
              <a:highlight>
                <a:srgbClr val="FFFF00"/>
              </a:highlight>
            </a:endParaRPr>
          </a:p>
          <a:p>
            <a:pPr marL="171450" indent="-171450">
              <a:buFont typeface="Arial" panose="020B0604020202020204" pitchFamily="34" charset="0"/>
              <a:buChar char="•"/>
            </a:pPr>
            <a:r>
              <a:rPr lang="en-GB" sz="2000" b="1" u="sng" dirty="0">
                <a:solidFill>
                  <a:schemeClr val="accent3"/>
                </a:solidFill>
              </a:rPr>
              <a:t>Synchronisation Mechanisms</a:t>
            </a:r>
            <a:r>
              <a:rPr lang="en-GB" sz="2000" dirty="0">
                <a:solidFill>
                  <a:schemeClr val="accent3"/>
                </a:solidFill>
              </a:rPr>
              <a:t> as previously defined this is to facilitate the integration with the real world and specifically the incorporation of real-world data into the Digital Twin and realise the effects of the Digital Twin on the real-world</a:t>
            </a:r>
          </a:p>
          <a:p>
            <a:pPr marL="171450" indent="-171450">
              <a:buFont typeface="Arial" panose="020B0604020202020204" pitchFamily="34" charset="0"/>
              <a:buChar char="•"/>
            </a:pPr>
            <a:r>
              <a:rPr lang="en-GB" sz="2000" b="1" u="sng" dirty="0">
                <a:solidFill>
                  <a:schemeClr val="accent2"/>
                </a:solidFill>
              </a:rPr>
              <a:t>Management &amp; Automation</a:t>
            </a:r>
            <a:r>
              <a:rPr lang="en-GB" sz="2000" b="0" dirty="0">
                <a:solidFill>
                  <a:schemeClr val="accent2"/>
                </a:solidFill>
              </a:rPr>
              <a:t> will include both the business processes as well as the technologies for managing the entire stack. This is likely to initially be specific to a given domain but is particularly important when considering a </a:t>
            </a:r>
            <a:r>
              <a:rPr lang="en-GB" sz="2000" b="0" dirty="0" err="1">
                <a:solidFill>
                  <a:schemeClr val="accent2"/>
                </a:solidFill>
              </a:rPr>
              <a:t>SoS</a:t>
            </a:r>
            <a:r>
              <a:rPr lang="en-GB" sz="2000" b="0" dirty="0">
                <a:solidFill>
                  <a:schemeClr val="accent2"/>
                </a:solidFill>
              </a:rPr>
              <a:t> approach. The various lifecycles (both domain specific and that of the Digital Twin itself) will define the structure.</a:t>
            </a:r>
          </a:p>
        </p:txBody>
      </p:sp>
    </p:spTree>
    <p:extLst>
      <p:ext uri="{BB962C8B-B14F-4D97-AF65-F5344CB8AC3E}">
        <p14:creationId xmlns:p14="http://schemas.microsoft.com/office/powerpoint/2010/main" val="2860072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C1E7B5-A871-4674-99E2-D93AC9CB31FC}"/>
              </a:ext>
            </a:extLst>
          </p:cNvPr>
          <p:cNvSpPr>
            <a:spLocks noGrp="1"/>
          </p:cNvSpPr>
          <p:nvPr>
            <p:ph type="sldNum" sz="quarter" idx="16"/>
          </p:nvPr>
        </p:nvSpPr>
        <p:spPr/>
        <p:txBody>
          <a:bodyPr/>
          <a:lstStyle/>
          <a:p>
            <a:fld id="{EA358FA9-F386-4A12-B482-464C32CE5754}" type="slidenum">
              <a:rPr lang="en-US" smtClean="0"/>
              <a:pPr/>
              <a:t>7</a:t>
            </a:fld>
            <a:endParaRPr lang="en-US"/>
          </a:p>
        </p:txBody>
      </p:sp>
      <p:sp>
        <p:nvSpPr>
          <p:cNvPr id="4" name="Title 3">
            <a:extLst>
              <a:ext uri="{FF2B5EF4-FFF2-40B4-BE49-F238E27FC236}">
                <a16:creationId xmlns:a16="http://schemas.microsoft.com/office/drawing/2014/main" id="{D92AE15D-A85F-447F-83BD-515FD5075B29}"/>
              </a:ext>
            </a:extLst>
          </p:cNvPr>
          <p:cNvSpPr>
            <a:spLocks noGrp="1"/>
          </p:cNvSpPr>
          <p:nvPr>
            <p:ph type="title"/>
          </p:nvPr>
        </p:nvSpPr>
        <p:spPr/>
        <p:txBody>
          <a:bodyPr/>
          <a:lstStyle/>
          <a:p>
            <a:r>
              <a:rPr lang="en-GB" dirty="0"/>
              <a:t>Mesh Perspective</a:t>
            </a:r>
          </a:p>
        </p:txBody>
      </p:sp>
      <p:grpSp>
        <p:nvGrpSpPr>
          <p:cNvPr id="27" name="IT / OT Platform">
            <a:extLst>
              <a:ext uri="{FF2B5EF4-FFF2-40B4-BE49-F238E27FC236}">
                <a16:creationId xmlns:a16="http://schemas.microsoft.com/office/drawing/2014/main" id="{CC9984A4-B174-4738-81A6-781B8695DF81}"/>
              </a:ext>
            </a:extLst>
          </p:cNvPr>
          <p:cNvGrpSpPr/>
          <p:nvPr/>
        </p:nvGrpSpPr>
        <p:grpSpPr>
          <a:xfrm>
            <a:off x="3575723" y="4871795"/>
            <a:ext cx="3598623" cy="1732204"/>
            <a:chOff x="6455694" y="3438605"/>
            <a:chExt cx="5377985" cy="2588704"/>
          </a:xfrm>
        </p:grpSpPr>
        <p:sp>
          <p:nvSpPr>
            <p:cNvPr id="25" name="IT Platform [back]">
              <a:extLst>
                <a:ext uri="{FF2B5EF4-FFF2-40B4-BE49-F238E27FC236}">
                  <a16:creationId xmlns:a16="http://schemas.microsoft.com/office/drawing/2014/main" id="{12BBA008-FA5B-4F30-8E43-BD92F3FB4C83}"/>
                </a:ext>
              </a:extLst>
            </p:cNvPr>
            <p:cNvSpPr/>
            <p:nvPr/>
          </p:nvSpPr>
          <p:spPr>
            <a:xfrm rot="10800000">
              <a:off x="6455695" y="3438605"/>
              <a:ext cx="5377984" cy="2588703"/>
            </a:xfrm>
            <a:prstGeom prst="cube">
              <a:avLst>
                <a:gd name="adj" fmla="val 8664"/>
              </a:avLst>
            </a:prstGeom>
            <a:ln>
              <a:solidFill>
                <a:schemeClr val="accent5">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rtlCol="0" anchor="t">
              <a:normAutofit/>
            </a:bodyPr>
            <a:lstStyle/>
            <a:p>
              <a:endParaRPr lang="en-GB" sz="1400" b="1" dirty="0"/>
            </a:p>
          </p:txBody>
        </p:sp>
        <p:sp>
          <p:nvSpPr>
            <p:cNvPr id="14" name="Cube 13">
              <a:extLst>
                <a:ext uri="{FF2B5EF4-FFF2-40B4-BE49-F238E27FC236}">
                  <a16:creationId xmlns:a16="http://schemas.microsoft.com/office/drawing/2014/main" id="{040987B7-C392-4D0E-BDF9-18B6B7A8C5F2}"/>
                </a:ext>
              </a:extLst>
            </p:cNvPr>
            <p:cNvSpPr/>
            <p:nvPr/>
          </p:nvSpPr>
          <p:spPr>
            <a:xfrm>
              <a:off x="6544093" y="49724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400" dirty="0"/>
                <a:t>Compute</a:t>
              </a:r>
            </a:p>
          </p:txBody>
        </p:sp>
        <p:sp>
          <p:nvSpPr>
            <p:cNvPr id="15" name="Cube 14">
              <a:extLst>
                <a:ext uri="{FF2B5EF4-FFF2-40B4-BE49-F238E27FC236}">
                  <a16:creationId xmlns:a16="http://schemas.microsoft.com/office/drawing/2014/main" id="{67F2F7E7-B2B4-4893-9113-FD8AFB63F2A8}"/>
                </a:ext>
              </a:extLst>
            </p:cNvPr>
            <p:cNvSpPr/>
            <p:nvPr/>
          </p:nvSpPr>
          <p:spPr>
            <a:xfrm>
              <a:off x="8272817" y="49724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400" dirty="0"/>
                <a:t>Networking</a:t>
              </a:r>
            </a:p>
          </p:txBody>
        </p:sp>
        <p:sp>
          <p:nvSpPr>
            <p:cNvPr id="16" name="Cube 15">
              <a:extLst>
                <a:ext uri="{FF2B5EF4-FFF2-40B4-BE49-F238E27FC236}">
                  <a16:creationId xmlns:a16="http://schemas.microsoft.com/office/drawing/2014/main" id="{05FBA573-C5E1-472E-9160-16F12FF9A534}"/>
                </a:ext>
              </a:extLst>
            </p:cNvPr>
            <p:cNvSpPr/>
            <p:nvPr/>
          </p:nvSpPr>
          <p:spPr>
            <a:xfrm>
              <a:off x="10001541" y="49724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400" dirty="0"/>
                <a:t>Data Storage</a:t>
              </a:r>
            </a:p>
          </p:txBody>
        </p:sp>
        <p:sp>
          <p:nvSpPr>
            <p:cNvPr id="17" name="Cube 16">
              <a:extLst>
                <a:ext uri="{FF2B5EF4-FFF2-40B4-BE49-F238E27FC236}">
                  <a16:creationId xmlns:a16="http://schemas.microsoft.com/office/drawing/2014/main" id="{46C810FC-19E0-48F6-8A81-455CFA764782}"/>
                </a:ext>
              </a:extLst>
            </p:cNvPr>
            <p:cNvSpPr/>
            <p:nvPr/>
          </p:nvSpPr>
          <p:spPr>
            <a:xfrm>
              <a:off x="10001541" y="3967620"/>
              <a:ext cx="1674392" cy="954000"/>
            </a:xfrm>
            <a:prstGeom prst="cube">
              <a:avLst/>
            </a:prstGeom>
            <a:solidFill>
              <a:srgbClr val="97BB3D"/>
            </a:solidFill>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fontScale="85000" lnSpcReduction="20000"/>
            </a:bodyPr>
            <a:lstStyle/>
            <a:p>
              <a:pPr algn="ctr"/>
              <a:r>
                <a:rPr lang="en-GB" sz="1400" dirty="0"/>
                <a:t>Software Platform / Tooling Stack</a:t>
              </a:r>
            </a:p>
          </p:txBody>
        </p:sp>
        <p:sp>
          <p:nvSpPr>
            <p:cNvPr id="12" name="Cube 11">
              <a:extLst>
                <a:ext uri="{FF2B5EF4-FFF2-40B4-BE49-F238E27FC236}">
                  <a16:creationId xmlns:a16="http://schemas.microsoft.com/office/drawing/2014/main" id="{BDEF16F5-9A30-4FF7-8B13-71F0ADB34451}"/>
                </a:ext>
              </a:extLst>
            </p:cNvPr>
            <p:cNvSpPr/>
            <p:nvPr/>
          </p:nvSpPr>
          <p:spPr>
            <a:xfrm>
              <a:off x="8272817" y="39676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400" dirty="0"/>
                <a:t>Platform APIs</a:t>
              </a:r>
            </a:p>
          </p:txBody>
        </p:sp>
        <p:sp>
          <p:nvSpPr>
            <p:cNvPr id="13" name="Cube 12">
              <a:extLst>
                <a:ext uri="{FF2B5EF4-FFF2-40B4-BE49-F238E27FC236}">
                  <a16:creationId xmlns:a16="http://schemas.microsoft.com/office/drawing/2014/main" id="{79CC785F-EF2C-41C3-9C3A-A676EB0FAFD0}"/>
                </a:ext>
              </a:extLst>
            </p:cNvPr>
            <p:cNvSpPr/>
            <p:nvPr/>
          </p:nvSpPr>
          <p:spPr>
            <a:xfrm>
              <a:off x="6544093" y="39676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200" dirty="0"/>
                <a:t>Orchestration</a:t>
              </a:r>
            </a:p>
          </p:txBody>
        </p:sp>
        <p:sp>
          <p:nvSpPr>
            <p:cNvPr id="24" name="IT Platform [front]">
              <a:extLst>
                <a:ext uri="{FF2B5EF4-FFF2-40B4-BE49-F238E27FC236}">
                  <a16:creationId xmlns:a16="http://schemas.microsoft.com/office/drawing/2014/main" id="{46A43DE0-DA4F-44B2-9722-F2B7C4E1F012}"/>
                </a:ext>
              </a:extLst>
            </p:cNvPr>
            <p:cNvSpPr/>
            <p:nvPr/>
          </p:nvSpPr>
          <p:spPr>
            <a:xfrm>
              <a:off x="6455694" y="3438606"/>
              <a:ext cx="5377984" cy="2588703"/>
            </a:xfrm>
            <a:prstGeom prst="cube">
              <a:avLst>
                <a:gd name="adj" fmla="val 8664"/>
              </a:avLst>
            </a:prstGeom>
            <a:noFill/>
            <a:ln>
              <a:solidFill>
                <a:schemeClr val="accent5">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bg1"/>
                  </a:solidFill>
                </a:rPr>
                <a:t>IT / OT Platform</a:t>
              </a:r>
            </a:p>
          </p:txBody>
        </p:sp>
      </p:grpSp>
      <p:grpSp>
        <p:nvGrpSpPr>
          <p:cNvPr id="37" name="Digital Twin">
            <a:extLst>
              <a:ext uri="{FF2B5EF4-FFF2-40B4-BE49-F238E27FC236}">
                <a16:creationId xmlns:a16="http://schemas.microsoft.com/office/drawing/2014/main" id="{323989C8-81D1-4308-B30F-A2BF9F7B212F}"/>
              </a:ext>
            </a:extLst>
          </p:cNvPr>
          <p:cNvGrpSpPr/>
          <p:nvPr/>
        </p:nvGrpSpPr>
        <p:grpSpPr>
          <a:xfrm>
            <a:off x="496339" y="4871795"/>
            <a:ext cx="2428022" cy="1732205"/>
            <a:chOff x="0" y="4269295"/>
            <a:chExt cx="3628572" cy="2588705"/>
          </a:xfrm>
        </p:grpSpPr>
        <p:sp>
          <p:nvSpPr>
            <p:cNvPr id="29" name="Digital Twin [back]">
              <a:extLst>
                <a:ext uri="{FF2B5EF4-FFF2-40B4-BE49-F238E27FC236}">
                  <a16:creationId xmlns:a16="http://schemas.microsoft.com/office/drawing/2014/main" id="{66086264-CD71-4788-90BA-B644EC35105C}"/>
                </a:ext>
              </a:extLst>
            </p:cNvPr>
            <p:cNvSpPr/>
            <p:nvPr/>
          </p:nvSpPr>
          <p:spPr>
            <a:xfrm rot="10800000">
              <a:off x="1" y="4269295"/>
              <a:ext cx="3628571" cy="2588703"/>
            </a:xfrm>
            <a:prstGeom prst="cube">
              <a:avLst>
                <a:gd name="adj" fmla="val 8664"/>
              </a:avLst>
            </a:prstGeom>
            <a:ln/>
          </p:spPr>
          <p:style>
            <a:lnRef idx="1">
              <a:schemeClr val="accent4"/>
            </a:lnRef>
            <a:fillRef idx="2">
              <a:schemeClr val="accent4"/>
            </a:fillRef>
            <a:effectRef idx="1">
              <a:schemeClr val="accent4"/>
            </a:effectRef>
            <a:fontRef idx="minor">
              <a:schemeClr val="dk1"/>
            </a:fontRef>
          </p:style>
          <p:txBody>
            <a:bodyPr lIns="0" tIns="0" rIns="0" bIns="0" rtlCol="0" anchor="t">
              <a:normAutofit/>
            </a:bodyPr>
            <a:lstStyle/>
            <a:p>
              <a:endParaRPr lang="en-GB" sz="1400" b="1" dirty="0"/>
            </a:p>
          </p:txBody>
        </p:sp>
        <p:sp>
          <p:nvSpPr>
            <p:cNvPr id="30" name="Cube 29">
              <a:extLst>
                <a:ext uri="{FF2B5EF4-FFF2-40B4-BE49-F238E27FC236}">
                  <a16:creationId xmlns:a16="http://schemas.microsoft.com/office/drawing/2014/main" id="{EDC216BB-7E18-49A6-BCBD-761014E5EA5C}"/>
                </a:ext>
              </a:extLst>
            </p:cNvPr>
            <p:cNvSpPr/>
            <p:nvPr/>
          </p:nvSpPr>
          <p:spPr>
            <a:xfrm>
              <a:off x="88399" y="5803111"/>
              <a:ext cx="1674392" cy="954000"/>
            </a:xfrm>
            <a:prstGeom prst="cub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normAutofit/>
            </a:bodyPr>
            <a:lstStyle/>
            <a:p>
              <a:pPr algn="ctr"/>
              <a:r>
                <a:rPr lang="en-GB" sz="1100" dirty="0">
                  <a:solidFill>
                    <a:schemeClr val="tx1"/>
                  </a:solidFill>
                </a:rPr>
                <a:t>Digital Representations</a:t>
              </a:r>
            </a:p>
          </p:txBody>
        </p:sp>
        <p:sp>
          <p:nvSpPr>
            <p:cNvPr id="31" name="Cube 30">
              <a:extLst>
                <a:ext uri="{FF2B5EF4-FFF2-40B4-BE49-F238E27FC236}">
                  <a16:creationId xmlns:a16="http://schemas.microsoft.com/office/drawing/2014/main" id="{8D5A14C1-B687-4A3F-8B6D-1ADCEB6B8671}"/>
                </a:ext>
              </a:extLst>
            </p:cNvPr>
            <p:cNvSpPr/>
            <p:nvPr/>
          </p:nvSpPr>
          <p:spPr>
            <a:xfrm>
              <a:off x="1817123" y="5803111"/>
              <a:ext cx="1674392" cy="954000"/>
            </a:xfrm>
            <a:prstGeom prst="cub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normAutofit/>
            </a:bodyPr>
            <a:lstStyle/>
            <a:p>
              <a:pPr algn="ctr"/>
              <a:r>
                <a:rPr lang="en-GB" sz="1400" dirty="0">
                  <a:solidFill>
                    <a:schemeClr val="tx1"/>
                  </a:solidFill>
                </a:rPr>
                <a:t>Computational Simulation</a:t>
              </a:r>
            </a:p>
          </p:txBody>
        </p:sp>
        <p:sp>
          <p:nvSpPr>
            <p:cNvPr id="35" name="Cube 34">
              <a:extLst>
                <a:ext uri="{FF2B5EF4-FFF2-40B4-BE49-F238E27FC236}">
                  <a16:creationId xmlns:a16="http://schemas.microsoft.com/office/drawing/2014/main" id="{F14AA6BA-C379-4888-8CB6-D2FA25D07F3F}"/>
                </a:ext>
              </a:extLst>
            </p:cNvPr>
            <p:cNvSpPr/>
            <p:nvPr/>
          </p:nvSpPr>
          <p:spPr>
            <a:xfrm>
              <a:off x="88399" y="4798311"/>
              <a:ext cx="1674392" cy="954000"/>
            </a:xfrm>
            <a:prstGeom prst="cub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normAutofit/>
            </a:bodyPr>
            <a:lstStyle/>
            <a:p>
              <a:pPr algn="ctr"/>
              <a:r>
                <a:rPr lang="en-GB" sz="1400" dirty="0">
                  <a:solidFill>
                    <a:schemeClr val="tx1"/>
                  </a:solidFill>
                </a:rPr>
                <a:t>Integration Functions</a:t>
              </a:r>
            </a:p>
          </p:txBody>
        </p:sp>
        <p:sp>
          <p:nvSpPr>
            <p:cNvPr id="60" name="Cube 59">
              <a:extLst>
                <a:ext uri="{FF2B5EF4-FFF2-40B4-BE49-F238E27FC236}">
                  <a16:creationId xmlns:a16="http://schemas.microsoft.com/office/drawing/2014/main" id="{D91D2CE0-4813-4881-9BCF-F58BC54BDC98}"/>
                </a:ext>
              </a:extLst>
            </p:cNvPr>
            <p:cNvSpPr/>
            <p:nvPr/>
          </p:nvSpPr>
          <p:spPr>
            <a:xfrm>
              <a:off x="1817123" y="4792211"/>
              <a:ext cx="1674392" cy="954000"/>
            </a:xfrm>
            <a:prstGeom prst="cub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normAutofit/>
            </a:bodyPr>
            <a:lstStyle/>
            <a:p>
              <a:pPr algn="ctr"/>
              <a:r>
                <a:rPr lang="en-GB" sz="1400" dirty="0">
                  <a:solidFill>
                    <a:schemeClr val="tx1"/>
                  </a:solidFill>
                </a:rPr>
                <a:t>Interaction Functions</a:t>
              </a:r>
            </a:p>
          </p:txBody>
        </p:sp>
        <p:sp>
          <p:nvSpPr>
            <p:cNvPr id="36" name="Digital Twin [front]">
              <a:extLst>
                <a:ext uri="{FF2B5EF4-FFF2-40B4-BE49-F238E27FC236}">
                  <a16:creationId xmlns:a16="http://schemas.microsoft.com/office/drawing/2014/main" id="{3D5A592A-A3F1-4A85-8145-453746EE38E9}"/>
                </a:ext>
              </a:extLst>
            </p:cNvPr>
            <p:cNvSpPr/>
            <p:nvPr/>
          </p:nvSpPr>
          <p:spPr>
            <a:xfrm>
              <a:off x="0" y="4269297"/>
              <a:ext cx="3628571" cy="2588703"/>
            </a:xfrm>
            <a:prstGeom prst="cube">
              <a:avLst>
                <a:gd name="adj" fmla="val 8664"/>
              </a:avLst>
            </a:prstGeom>
            <a:noFill/>
            <a:ln>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tx1"/>
                  </a:solidFill>
                </a:rPr>
                <a:t>Digital Twin</a:t>
              </a:r>
            </a:p>
          </p:txBody>
        </p:sp>
      </p:grpSp>
      <p:sp>
        <p:nvSpPr>
          <p:cNvPr id="19" name="Cube 18">
            <a:extLst>
              <a:ext uri="{FF2B5EF4-FFF2-40B4-BE49-F238E27FC236}">
                <a16:creationId xmlns:a16="http://schemas.microsoft.com/office/drawing/2014/main" id="{35A10406-9D83-426C-B01A-24AD7892A343}"/>
              </a:ext>
            </a:extLst>
          </p:cNvPr>
          <p:cNvSpPr/>
          <p:nvPr/>
        </p:nvSpPr>
        <p:spPr>
          <a:xfrm>
            <a:off x="6053944" y="3797689"/>
            <a:ext cx="1120402" cy="638359"/>
          </a:xfrm>
          <a:prstGeom prst="cub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normAutofit fontScale="92500"/>
          </a:bodyPr>
          <a:lstStyle/>
          <a:p>
            <a:pPr algn="ctr"/>
            <a:r>
              <a:rPr lang="en-GB" sz="1400" dirty="0"/>
              <a:t>Management &amp; Automation</a:t>
            </a:r>
          </a:p>
        </p:txBody>
      </p:sp>
      <p:grpSp>
        <p:nvGrpSpPr>
          <p:cNvPr id="39" name="Service Interfaces">
            <a:extLst>
              <a:ext uri="{FF2B5EF4-FFF2-40B4-BE49-F238E27FC236}">
                <a16:creationId xmlns:a16="http://schemas.microsoft.com/office/drawing/2014/main" id="{4B468E14-3768-425A-A677-B1505E90DCE9}"/>
              </a:ext>
            </a:extLst>
          </p:cNvPr>
          <p:cNvGrpSpPr/>
          <p:nvPr/>
        </p:nvGrpSpPr>
        <p:grpSpPr>
          <a:xfrm>
            <a:off x="496339" y="1629739"/>
            <a:ext cx="2428022" cy="1732205"/>
            <a:chOff x="0" y="4269295"/>
            <a:chExt cx="3628572" cy="2588705"/>
          </a:xfrm>
        </p:grpSpPr>
        <p:sp>
          <p:nvSpPr>
            <p:cNvPr id="40" name="Sync [back]">
              <a:extLst>
                <a:ext uri="{FF2B5EF4-FFF2-40B4-BE49-F238E27FC236}">
                  <a16:creationId xmlns:a16="http://schemas.microsoft.com/office/drawing/2014/main" id="{E83E77C9-C27C-46F7-8916-56543193B9BE}"/>
                </a:ext>
              </a:extLst>
            </p:cNvPr>
            <p:cNvSpPr/>
            <p:nvPr/>
          </p:nvSpPr>
          <p:spPr>
            <a:xfrm rot="10800000">
              <a:off x="1" y="4269295"/>
              <a:ext cx="3628571" cy="2588703"/>
            </a:xfrm>
            <a:prstGeom prst="cube">
              <a:avLst>
                <a:gd name="adj" fmla="val 8664"/>
              </a:avLst>
            </a:prstGeom>
            <a:ln/>
          </p:spPr>
          <p:style>
            <a:lnRef idx="1">
              <a:schemeClr val="accent2"/>
            </a:lnRef>
            <a:fillRef idx="2">
              <a:schemeClr val="accent2"/>
            </a:fillRef>
            <a:effectRef idx="1">
              <a:schemeClr val="accent2"/>
            </a:effectRef>
            <a:fontRef idx="minor">
              <a:schemeClr val="dk1"/>
            </a:fontRef>
          </p:style>
          <p:txBody>
            <a:bodyPr lIns="0" tIns="0" rIns="0" bIns="0" rtlCol="0" anchor="t">
              <a:normAutofit/>
            </a:bodyPr>
            <a:lstStyle/>
            <a:p>
              <a:endParaRPr lang="en-GB" sz="1400" b="1" dirty="0">
                <a:solidFill>
                  <a:schemeClr val="bg1"/>
                </a:solidFill>
              </a:endParaRPr>
            </a:p>
          </p:txBody>
        </p:sp>
        <p:sp>
          <p:nvSpPr>
            <p:cNvPr id="41" name="Cube 40">
              <a:extLst>
                <a:ext uri="{FF2B5EF4-FFF2-40B4-BE49-F238E27FC236}">
                  <a16:creationId xmlns:a16="http://schemas.microsoft.com/office/drawing/2014/main" id="{4AFF2A06-C73D-400E-8AE8-395818268524}"/>
                </a:ext>
              </a:extLst>
            </p:cNvPr>
            <p:cNvSpPr/>
            <p:nvPr/>
          </p:nvSpPr>
          <p:spPr>
            <a:xfrm>
              <a:off x="88399" y="5803111"/>
              <a:ext cx="1674392" cy="954000"/>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normAutofit fontScale="85000" lnSpcReduction="20000"/>
            </a:bodyPr>
            <a:lstStyle/>
            <a:p>
              <a:pPr algn="ctr"/>
              <a:r>
                <a:rPr lang="en-GB" sz="1400" dirty="0">
                  <a:solidFill>
                    <a:schemeClr val="bg1"/>
                  </a:solidFill>
                </a:rPr>
                <a:t>Model / Simulation Interoperability</a:t>
              </a:r>
            </a:p>
          </p:txBody>
        </p:sp>
        <p:sp>
          <p:nvSpPr>
            <p:cNvPr id="42" name="Cube 41">
              <a:extLst>
                <a:ext uri="{FF2B5EF4-FFF2-40B4-BE49-F238E27FC236}">
                  <a16:creationId xmlns:a16="http://schemas.microsoft.com/office/drawing/2014/main" id="{C1C2C67C-AD89-4C7E-A841-8F2F5826DF0D}"/>
                </a:ext>
              </a:extLst>
            </p:cNvPr>
            <p:cNvSpPr/>
            <p:nvPr/>
          </p:nvSpPr>
          <p:spPr>
            <a:xfrm>
              <a:off x="1817123" y="5803111"/>
              <a:ext cx="1674392" cy="954000"/>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normAutofit/>
            </a:bodyPr>
            <a:lstStyle/>
            <a:p>
              <a:pPr algn="ctr"/>
              <a:r>
                <a:rPr lang="en-GB" sz="1400" dirty="0">
                  <a:solidFill>
                    <a:schemeClr val="bg1"/>
                  </a:solidFill>
                </a:rPr>
                <a:t>Model Integration</a:t>
              </a:r>
            </a:p>
          </p:txBody>
        </p:sp>
        <p:sp>
          <p:nvSpPr>
            <p:cNvPr id="43" name="Cube 42">
              <a:extLst>
                <a:ext uri="{FF2B5EF4-FFF2-40B4-BE49-F238E27FC236}">
                  <a16:creationId xmlns:a16="http://schemas.microsoft.com/office/drawing/2014/main" id="{43054F30-9222-4BC5-A23D-B2F2598703E2}"/>
                </a:ext>
              </a:extLst>
            </p:cNvPr>
            <p:cNvSpPr/>
            <p:nvPr/>
          </p:nvSpPr>
          <p:spPr>
            <a:xfrm>
              <a:off x="88399" y="4798311"/>
              <a:ext cx="1674392" cy="954000"/>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normAutofit/>
            </a:bodyPr>
            <a:lstStyle/>
            <a:p>
              <a:pPr algn="ctr"/>
              <a:r>
                <a:rPr lang="en-GB" sz="1400" dirty="0">
                  <a:solidFill>
                    <a:schemeClr val="bg1"/>
                  </a:solidFill>
                </a:rPr>
                <a:t>Data Integration</a:t>
              </a:r>
            </a:p>
          </p:txBody>
        </p:sp>
        <p:sp>
          <p:nvSpPr>
            <p:cNvPr id="45" name="Cube 44">
              <a:extLst>
                <a:ext uri="{FF2B5EF4-FFF2-40B4-BE49-F238E27FC236}">
                  <a16:creationId xmlns:a16="http://schemas.microsoft.com/office/drawing/2014/main" id="{9F56C6D6-93C1-4FA1-8BD0-1E973EBDCC86}"/>
                </a:ext>
              </a:extLst>
            </p:cNvPr>
            <p:cNvSpPr/>
            <p:nvPr/>
          </p:nvSpPr>
          <p:spPr>
            <a:xfrm>
              <a:off x="1817123" y="4792046"/>
              <a:ext cx="1674392" cy="954000"/>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normAutofit/>
            </a:bodyPr>
            <a:lstStyle/>
            <a:p>
              <a:pPr algn="ctr"/>
              <a:r>
                <a:rPr lang="en-GB" sz="1400" dirty="0">
                  <a:solidFill>
                    <a:schemeClr val="bg1"/>
                  </a:solidFill>
                </a:rPr>
                <a:t>Protocols</a:t>
              </a:r>
            </a:p>
          </p:txBody>
        </p:sp>
        <p:sp>
          <p:nvSpPr>
            <p:cNvPr id="44" name="Sync [front]">
              <a:extLst>
                <a:ext uri="{FF2B5EF4-FFF2-40B4-BE49-F238E27FC236}">
                  <a16:creationId xmlns:a16="http://schemas.microsoft.com/office/drawing/2014/main" id="{3CEB2CF3-0E30-4461-BD1B-139733F193F0}"/>
                </a:ext>
              </a:extLst>
            </p:cNvPr>
            <p:cNvSpPr/>
            <p:nvPr/>
          </p:nvSpPr>
          <p:spPr>
            <a:xfrm>
              <a:off x="0" y="4269297"/>
              <a:ext cx="3628571" cy="2588703"/>
            </a:xfrm>
            <a:prstGeom prst="cube">
              <a:avLst>
                <a:gd name="adj" fmla="val 8664"/>
              </a:avLst>
            </a:prstGeom>
            <a:noFill/>
            <a:ln>
              <a:solidFill>
                <a:schemeClr val="accent2">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tx1"/>
                  </a:solidFill>
                </a:rPr>
                <a:t>Service Interfaces</a:t>
              </a:r>
            </a:p>
          </p:txBody>
        </p:sp>
      </p:grpSp>
      <p:grpSp>
        <p:nvGrpSpPr>
          <p:cNvPr id="46" name="Synchronisation">
            <a:extLst>
              <a:ext uri="{FF2B5EF4-FFF2-40B4-BE49-F238E27FC236}">
                <a16:creationId xmlns:a16="http://schemas.microsoft.com/office/drawing/2014/main" id="{5D373924-B8FF-402F-AA6A-F867941B5081}"/>
              </a:ext>
            </a:extLst>
          </p:cNvPr>
          <p:cNvGrpSpPr/>
          <p:nvPr/>
        </p:nvGrpSpPr>
        <p:grpSpPr>
          <a:xfrm>
            <a:off x="2526255" y="3587302"/>
            <a:ext cx="2428021" cy="1031020"/>
            <a:chOff x="0" y="4269294"/>
            <a:chExt cx="3628571" cy="1540814"/>
          </a:xfrm>
        </p:grpSpPr>
        <p:sp>
          <p:nvSpPr>
            <p:cNvPr id="47" name="Digital Twin [back]">
              <a:extLst>
                <a:ext uri="{FF2B5EF4-FFF2-40B4-BE49-F238E27FC236}">
                  <a16:creationId xmlns:a16="http://schemas.microsoft.com/office/drawing/2014/main" id="{4077D992-139F-4B7A-A969-4DBBC9616B05}"/>
                </a:ext>
              </a:extLst>
            </p:cNvPr>
            <p:cNvSpPr/>
            <p:nvPr/>
          </p:nvSpPr>
          <p:spPr>
            <a:xfrm rot="10800000">
              <a:off x="0" y="4269294"/>
              <a:ext cx="3628571" cy="1540811"/>
            </a:xfrm>
            <a:prstGeom prst="cube">
              <a:avLst>
                <a:gd name="adj" fmla="val 14059"/>
              </a:avLst>
            </a:prstGeom>
            <a:ln/>
          </p:spPr>
          <p:style>
            <a:lnRef idx="1">
              <a:schemeClr val="accent3"/>
            </a:lnRef>
            <a:fillRef idx="2">
              <a:schemeClr val="accent3"/>
            </a:fillRef>
            <a:effectRef idx="1">
              <a:schemeClr val="accent3"/>
            </a:effectRef>
            <a:fontRef idx="minor">
              <a:schemeClr val="dk1"/>
            </a:fontRef>
          </p:style>
          <p:txBody>
            <a:bodyPr lIns="0" tIns="0" rIns="0" bIns="0" rtlCol="0" anchor="t">
              <a:normAutofit/>
            </a:bodyPr>
            <a:lstStyle/>
            <a:p>
              <a:endParaRPr lang="en-GB" sz="1400" b="1" dirty="0">
                <a:solidFill>
                  <a:schemeClr val="bg1"/>
                </a:solidFill>
              </a:endParaRPr>
            </a:p>
          </p:txBody>
        </p:sp>
        <p:sp>
          <p:nvSpPr>
            <p:cNvPr id="50" name="Cube 49">
              <a:extLst>
                <a:ext uri="{FF2B5EF4-FFF2-40B4-BE49-F238E27FC236}">
                  <a16:creationId xmlns:a16="http://schemas.microsoft.com/office/drawing/2014/main" id="{2D5AB39E-7535-4FEF-B9FA-DDF8B40704C3}"/>
                </a:ext>
              </a:extLst>
            </p:cNvPr>
            <p:cNvSpPr/>
            <p:nvPr/>
          </p:nvSpPr>
          <p:spPr>
            <a:xfrm>
              <a:off x="88399" y="4798311"/>
              <a:ext cx="1674392" cy="954000"/>
            </a:xfrm>
            <a:prstGeom prst="cube">
              <a:avLst/>
            </a:prstGeom>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normAutofit/>
            </a:bodyPr>
            <a:lstStyle/>
            <a:p>
              <a:pPr algn="ctr"/>
              <a:r>
                <a:rPr lang="en-GB" sz="1400" dirty="0">
                  <a:solidFill>
                    <a:schemeClr val="bg1"/>
                  </a:solidFill>
                </a:rPr>
                <a:t>Real </a:t>
              </a:r>
              <a:r>
                <a:rPr lang="en-GB" sz="1400" dirty="0">
                  <a:solidFill>
                    <a:schemeClr val="bg1"/>
                  </a:solidFill>
                  <a:sym typeface="Wingdings" panose="05000000000000000000" pitchFamily="2" charset="2"/>
                </a:rPr>
                <a:t> Virtual</a:t>
              </a:r>
              <a:endParaRPr lang="en-GB" sz="1400" dirty="0">
                <a:solidFill>
                  <a:schemeClr val="bg1"/>
                </a:solidFill>
              </a:endParaRPr>
            </a:p>
          </p:txBody>
        </p:sp>
        <p:sp>
          <p:nvSpPr>
            <p:cNvPr id="51" name="Cube 50">
              <a:extLst>
                <a:ext uri="{FF2B5EF4-FFF2-40B4-BE49-F238E27FC236}">
                  <a16:creationId xmlns:a16="http://schemas.microsoft.com/office/drawing/2014/main" id="{4C40B3D8-3651-4F79-8CD6-7D32966DDA94}"/>
                </a:ext>
              </a:extLst>
            </p:cNvPr>
            <p:cNvSpPr/>
            <p:nvPr/>
          </p:nvSpPr>
          <p:spPr>
            <a:xfrm>
              <a:off x="1817123" y="4792046"/>
              <a:ext cx="1674392" cy="954000"/>
            </a:xfrm>
            <a:prstGeom prst="cube">
              <a:avLst/>
            </a:prstGeom>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normAutofit/>
            </a:bodyPr>
            <a:lstStyle/>
            <a:p>
              <a:pPr algn="ctr"/>
              <a:r>
                <a:rPr lang="en-GB" sz="1400" dirty="0">
                  <a:solidFill>
                    <a:schemeClr val="bg1"/>
                  </a:solidFill>
                </a:rPr>
                <a:t>Virtual </a:t>
              </a:r>
              <a:r>
                <a:rPr lang="en-GB" sz="1400" dirty="0">
                  <a:solidFill>
                    <a:schemeClr val="bg1"/>
                  </a:solidFill>
                  <a:sym typeface="Wingdings" panose="05000000000000000000" pitchFamily="2" charset="2"/>
                </a:rPr>
                <a:t> Real</a:t>
              </a:r>
              <a:endParaRPr lang="en-GB" sz="1400" dirty="0">
                <a:solidFill>
                  <a:schemeClr val="bg1"/>
                </a:solidFill>
              </a:endParaRPr>
            </a:p>
          </p:txBody>
        </p:sp>
        <p:sp>
          <p:nvSpPr>
            <p:cNvPr id="52" name="Digital Twin [front]">
              <a:extLst>
                <a:ext uri="{FF2B5EF4-FFF2-40B4-BE49-F238E27FC236}">
                  <a16:creationId xmlns:a16="http://schemas.microsoft.com/office/drawing/2014/main" id="{8F2544EE-7B5C-429B-9C11-6F3B4AFE1E04}"/>
                </a:ext>
              </a:extLst>
            </p:cNvPr>
            <p:cNvSpPr/>
            <p:nvPr/>
          </p:nvSpPr>
          <p:spPr>
            <a:xfrm>
              <a:off x="0" y="4269297"/>
              <a:ext cx="3628571" cy="1540811"/>
            </a:xfrm>
            <a:prstGeom prst="cube">
              <a:avLst>
                <a:gd name="adj" fmla="val 14658"/>
              </a:avLst>
            </a:prstGeom>
            <a:noFill/>
            <a:ln>
              <a:solidFill>
                <a:schemeClr val="accent3">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bg1"/>
                  </a:solidFill>
                </a:rPr>
                <a:t>Synchronisation Mechanisms</a:t>
              </a:r>
            </a:p>
          </p:txBody>
        </p:sp>
      </p:grpSp>
      <p:grpSp>
        <p:nvGrpSpPr>
          <p:cNvPr id="53" name="Apps &amp; Services">
            <a:extLst>
              <a:ext uri="{FF2B5EF4-FFF2-40B4-BE49-F238E27FC236}">
                <a16:creationId xmlns:a16="http://schemas.microsoft.com/office/drawing/2014/main" id="{3189B2BE-B038-4039-9EBC-150E40A122C4}"/>
              </a:ext>
            </a:extLst>
          </p:cNvPr>
          <p:cNvGrpSpPr/>
          <p:nvPr/>
        </p:nvGrpSpPr>
        <p:grpSpPr>
          <a:xfrm>
            <a:off x="4746325" y="1629739"/>
            <a:ext cx="2428022" cy="1732205"/>
            <a:chOff x="0" y="4269295"/>
            <a:chExt cx="3628572" cy="2588705"/>
          </a:xfrm>
        </p:grpSpPr>
        <p:sp>
          <p:nvSpPr>
            <p:cNvPr id="54" name="Apps [back]">
              <a:extLst>
                <a:ext uri="{FF2B5EF4-FFF2-40B4-BE49-F238E27FC236}">
                  <a16:creationId xmlns:a16="http://schemas.microsoft.com/office/drawing/2014/main" id="{D0590563-DFAC-4C59-BB70-F6927530D57F}"/>
                </a:ext>
              </a:extLst>
            </p:cNvPr>
            <p:cNvSpPr/>
            <p:nvPr/>
          </p:nvSpPr>
          <p:spPr>
            <a:xfrm rot="10800000">
              <a:off x="1" y="4269295"/>
              <a:ext cx="3628571" cy="2588703"/>
            </a:xfrm>
            <a:prstGeom prst="cube">
              <a:avLst>
                <a:gd name="adj" fmla="val 8664"/>
              </a:avLst>
            </a:prstGeom>
            <a:ln/>
          </p:spPr>
          <p:style>
            <a:lnRef idx="1">
              <a:schemeClr val="accent1"/>
            </a:lnRef>
            <a:fillRef idx="2">
              <a:schemeClr val="accent1"/>
            </a:fillRef>
            <a:effectRef idx="1">
              <a:schemeClr val="accent1"/>
            </a:effectRef>
            <a:fontRef idx="minor">
              <a:schemeClr val="dk1"/>
            </a:fontRef>
          </p:style>
          <p:txBody>
            <a:bodyPr lIns="0" tIns="0" rIns="0" bIns="0" rtlCol="0" anchor="t">
              <a:normAutofit/>
            </a:bodyPr>
            <a:lstStyle/>
            <a:p>
              <a:endParaRPr lang="en-GB" sz="1400" b="1" dirty="0">
                <a:solidFill>
                  <a:schemeClr val="bg1"/>
                </a:solidFill>
              </a:endParaRPr>
            </a:p>
          </p:txBody>
        </p:sp>
        <p:sp>
          <p:nvSpPr>
            <p:cNvPr id="55" name="Cube 54">
              <a:extLst>
                <a:ext uri="{FF2B5EF4-FFF2-40B4-BE49-F238E27FC236}">
                  <a16:creationId xmlns:a16="http://schemas.microsoft.com/office/drawing/2014/main" id="{46439E53-3A5A-446B-9AB0-08802482E17F}"/>
                </a:ext>
              </a:extLst>
            </p:cNvPr>
            <p:cNvSpPr/>
            <p:nvPr/>
          </p:nvSpPr>
          <p:spPr>
            <a:xfrm>
              <a:off x="88399" y="5803111"/>
              <a:ext cx="1674392" cy="954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400" dirty="0">
                  <a:solidFill>
                    <a:schemeClr val="bg1"/>
                  </a:solidFill>
                </a:rPr>
                <a:t>User Interfaces</a:t>
              </a:r>
            </a:p>
          </p:txBody>
        </p:sp>
        <p:sp>
          <p:nvSpPr>
            <p:cNvPr id="56" name="Cube 55">
              <a:extLst>
                <a:ext uri="{FF2B5EF4-FFF2-40B4-BE49-F238E27FC236}">
                  <a16:creationId xmlns:a16="http://schemas.microsoft.com/office/drawing/2014/main" id="{583680BC-2D06-4C2B-97E7-CF0E3ECDE85C}"/>
                </a:ext>
              </a:extLst>
            </p:cNvPr>
            <p:cNvSpPr/>
            <p:nvPr/>
          </p:nvSpPr>
          <p:spPr>
            <a:xfrm>
              <a:off x="1817123" y="5803111"/>
              <a:ext cx="1674392" cy="954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400" dirty="0">
                  <a:solidFill>
                    <a:schemeClr val="bg1"/>
                  </a:solidFill>
                </a:rPr>
                <a:t>Visualisation</a:t>
              </a:r>
            </a:p>
          </p:txBody>
        </p:sp>
        <p:sp>
          <p:nvSpPr>
            <p:cNvPr id="57" name="Cube 56">
              <a:extLst>
                <a:ext uri="{FF2B5EF4-FFF2-40B4-BE49-F238E27FC236}">
                  <a16:creationId xmlns:a16="http://schemas.microsoft.com/office/drawing/2014/main" id="{4F940463-C342-4644-B0E8-498DE108F2A7}"/>
                </a:ext>
              </a:extLst>
            </p:cNvPr>
            <p:cNvSpPr/>
            <p:nvPr/>
          </p:nvSpPr>
          <p:spPr>
            <a:xfrm>
              <a:off x="88399" y="4798311"/>
              <a:ext cx="1674392" cy="954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400" dirty="0">
                  <a:solidFill>
                    <a:schemeClr val="bg1"/>
                  </a:solidFill>
                </a:rPr>
                <a:t>Rendering</a:t>
              </a:r>
            </a:p>
          </p:txBody>
        </p:sp>
        <p:sp>
          <p:nvSpPr>
            <p:cNvPr id="58" name="Cube 57">
              <a:extLst>
                <a:ext uri="{FF2B5EF4-FFF2-40B4-BE49-F238E27FC236}">
                  <a16:creationId xmlns:a16="http://schemas.microsoft.com/office/drawing/2014/main" id="{CF9CC8DE-A6FE-474A-96F4-8BC193461303}"/>
                </a:ext>
              </a:extLst>
            </p:cNvPr>
            <p:cNvSpPr/>
            <p:nvPr/>
          </p:nvSpPr>
          <p:spPr>
            <a:xfrm>
              <a:off x="1817123" y="4792046"/>
              <a:ext cx="1674392" cy="954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400" dirty="0">
                  <a:solidFill>
                    <a:schemeClr val="bg1"/>
                  </a:solidFill>
                </a:rPr>
                <a:t>Analytics</a:t>
              </a:r>
            </a:p>
          </p:txBody>
        </p:sp>
        <p:sp>
          <p:nvSpPr>
            <p:cNvPr id="59" name="Apps [front]">
              <a:extLst>
                <a:ext uri="{FF2B5EF4-FFF2-40B4-BE49-F238E27FC236}">
                  <a16:creationId xmlns:a16="http://schemas.microsoft.com/office/drawing/2014/main" id="{D71D0F78-122C-4E56-B2C7-D52FC7643E0D}"/>
                </a:ext>
              </a:extLst>
            </p:cNvPr>
            <p:cNvSpPr/>
            <p:nvPr/>
          </p:nvSpPr>
          <p:spPr>
            <a:xfrm>
              <a:off x="0" y="4269297"/>
              <a:ext cx="3628571" cy="2588703"/>
            </a:xfrm>
            <a:prstGeom prst="cube">
              <a:avLst>
                <a:gd name="adj" fmla="val 8664"/>
              </a:avLst>
            </a:prstGeom>
            <a:noFill/>
            <a:ln>
              <a:solidFill>
                <a:schemeClr val="accent1">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bg1"/>
                  </a:solidFill>
                </a:rPr>
                <a:t>Applications &amp; Services</a:t>
              </a:r>
            </a:p>
          </p:txBody>
        </p:sp>
      </p:grpSp>
      <p:sp>
        <p:nvSpPr>
          <p:cNvPr id="23" name="Cube 22">
            <a:extLst>
              <a:ext uri="{FF2B5EF4-FFF2-40B4-BE49-F238E27FC236}">
                <a16:creationId xmlns:a16="http://schemas.microsoft.com/office/drawing/2014/main" id="{F6F58164-BE69-4135-8C5B-43975165507D}"/>
              </a:ext>
            </a:extLst>
          </p:cNvPr>
          <p:cNvSpPr/>
          <p:nvPr/>
        </p:nvSpPr>
        <p:spPr>
          <a:xfrm>
            <a:off x="496339" y="3797689"/>
            <a:ext cx="1120402" cy="638359"/>
          </a:xfrm>
          <a:prstGeom prst="cub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normAutofit fontScale="85000" lnSpcReduction="10000"/>
          </a:bodyPr>
          <a:lstStyle/>
          <a:p>
            <a:pPr algn="ctr"/>
            <a:r>
              <a:rPr lang="en-GB" sz="1400" dirty="0"/>
              <a:t>Security, Trust, &amp; Governance</a:t>
            </a:r>
          </a:p>
        </p:txBody>
      </p:sp>
      <p:sp>
        <p:nvSpPr>
          <p:cNvPr id="63" name="Arrow: Left-Right 62">
            <a:extLst>
              <a:ext uri="{FF2B5EF4-FFF2-40B4-BE49-F238E27FC236}">
                <a16:creationId xmlns:a16="http://schemas.microsoft.com/office/drawing/2014/main" id="{948D387D-E5B7-4AFE-BC05-3F78FEBF3098}"/>
              </a:ext>
            </a:extLst>
          </p:cNvPr>
          <p:cNvSpPr/>
          <p:nvPr/>
        </p:nvSpPr>
        <p:spPr>
          <a:xfrm>
            <a:off x="3036772" y="2177614"/>
            <a:ext cx="1597141" cy="636455"/>
          </a:xfrm>
          <a:prstGeom prst="leftRightArrow">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normAutofit/>
          </a:bodyPr>
          <a:lstStyle/>
          <a:p>
            <a:pPr algn="ctr"/>
            <a:endParaRPr lang="en-GB"/>
          </a:p>
        </p:txBody>
      </p:sp>
    </p:spTree>
    <p:extLst>
      <p:ext uri="{BB962C8B-B14F-4D97-AF65-F5344CB8AC3E}">
        <p14:creationId xmlns:p14="http://schemas.microsoft.com/office/powerpoint/2010/main" val="3928218956"/>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546A"/>
      </a:dk2>
      <a:lt2>
        <a:srgbClr val="E7E6E6"/>
      </a:lt2>
      <a:accent1>
        <a:srgbClr val="034EA2"/>
      </a:accent1>
      <a:accent2>
        <a:srgbClr val="F7941D"/>
      </a:accent2>
      <a:accent3>
        <a:srgbClr val="7554A3"/>
      </a:accent3>
      <a:accent4>
        <a:srgbClr val="F8CE1B"/>
      </a:accent4>
      <a:accent5>
        <a:srgbClr val="1D7B65"/>
      </a:accent5>
      <a:accent6>
        <a:srgbClr val="BB362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594AA914E87A4793C81F9A752B084B" ma:contentTypeVersion="13" ma:contentTypeDescription="Create a new document." ma:contentTypeScope="" ma:versionID="111c2798393764bffa2ff7eef02833b9">
  <xsd:schema xmlns:xsd="http://www.w3.org/2001/XMLSchema" xmlns:xs="http://www.w3.org/2001/XMLSchema" xmlns:p="http://schemas.microsoft.com/office/2006/metadata/properties" xmlns:ns3="86a69738-2b33-4f9e-b752-0456aeb03f4f" xmlns:ns4="8913e304-20d0-4aa7-92bd-e5234ee41d1d" targetNamespace="http://schemas.microsoft.com/office/2006/metadata/properties" ma:root="true" ma:fieldsID="044f40d475cbc26b9184940a1085890b" ns3:_="" ns4:_="">
    <xsd:import namespace="86a69738-2b33-4f9e-b752-0456aeb03f4f"/>
    <xsd:import namespace="8913e304-20d0-4aa7-92bd-e5234ee41d1d"/>
    <xsd:element name="properties">
      <xsd:complexType>
        <xsd:sequence>
          <xsd:element name="documentManagement">
            <xsd:complexType>
              <xsd:all>
                <xsd:element ref="ns3:SharedWithUsers" minOccurs="0"/>
                <xsd:element ref="ns3:SharingHintHash" minOccurs="0"/>
                <xsd:element ref="ns3:SharedWithDetails" minOccurs="0"/>
                <xsd:element ref="ns4:MediaServiceMetadata" minOccurs="0"/>
                <xsd:element ref="ns4:MediaServiceFastMetadata" minOccurs="0"/>
                <xsd:element ref="ns4:MediaServiceAutoTags" minOccurs="0"/>
                <xsd:element ref="ns4:MediaServiceDateTaken"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a69738-2b33-4f9e-b752-0456aeb03f4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13e304-20d0-4aa7-92bd-e5234ee41d1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description="" ma:internalName="MediaServiceAutoTags" ma:readOnly="true">
      <xsd:simpleType>
        <xsd:restriction base="dms:Text"/>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482B15-EC3A-4FEE-9A5F-D339C02E7B24}">
  <ds:schemaRefs>
    <ds:schemaRef ds:uri="86a69738-2b33-4f9e-b752-0456aeb03f4f"/>
    <ds:schemaRef ds:uri="8913e304-20d0-4aa7-92bd-e5234ee41d1d"/>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8755B5-31EE-4A14-80B3-381FA40CCAFA}">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855B438D-894B-4E19-B30B-40143FFA588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2174</TotalTime>
  <Words>1633</Words>
  <Application>Microsoft Office PowerPoint</Application>
  <PresentationFormat>Widescreen</PresentationFormat>
  <Paragraphs>158</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Platform Stacks Tiger Team</vt:lpstr>
      <vt:lpstr>Outline</vt:lpstr>
      <vt:lpstr>Abstract Stack</vt:lpstr>
      <vt:lpstr>Abstract Stack Rationale</vt:lpstr>
      <vt:lpstr>Expanded Stack</vt:lpstr>
      <vt:lpstr>Expanded Stack Rationale</vt:lpstr>
      <vt:lpstr>Mesh Perspective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Maureen Robusto</dc:creator>
  <cp:lastModifiedBy>David McKee</cp:lastModifiedBy>
  <cp:revision>10</cp:revision>
  <dcterms:created xsi:type="dcterms:W3CDTF">2019-10-15T13:54:59Z</dcterms:created>
  <dcterms:modified xsi:type="dcterms:W3CDTF">2021-01-06T16:20:27Z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0x010100A1594AA914E87A4793C81F9A752B084B</vt:lpwstr>
  </property>
</Properties>
</file>
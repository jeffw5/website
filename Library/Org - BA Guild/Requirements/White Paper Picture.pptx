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  <p:sldMasterId id="2147483851" r:id="rId2"/>
  </p:sldMasterIdLst>
  <p:sldIdLst>
    <p:sldId id="257" r:id="rId3"/>
  </p:sldIdLst>
  <p:sldSz cx="9144000" cy="6858000" type="letter"/>
  <p:notesSz cx="7102475" cy="10234613"/>
  <p:defaultTextStyle>
    <a:defPPr>
      <a:defRPr lang="en-US"/>
    </a:defPPr>
    <a:lvl1pPr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1pPr>
    <a:lvl2pPr marL="319088" indent="138113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2pPr>
    <a:lvl3pPr marL="639763" indent="274638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3pPr>
    <a:lvl4pPr marL="962025" indent="409575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4pPr>
    <a:lvl5pPr marL="1282700" indent="546100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5pPr>
    <a:lvl6pPr marL="22860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6pPr>
    <a:lvl7pPr marL="27432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7pPr>
    <a:lvl8pPr marL="32004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8pPr>
    <a:lvl9pPr marL="36576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-1568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664" y="360182"/>
            <a:ext cx="5577527" cy="4602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841" y="1397000"/>
            <a:ext cx="8657167" cy="4804833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097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155674"/>
            <a:ext cx="7772400" cy="523220"/>
          </a:xfrm>
        </p:spPr>
        <p:txBody>
          <a:bodyPr anchor="t"/>
          <a:lstStyle>
            <a:lvl1pPr algn="l">
              <a:defRPr sz="2800" b="1" cap="all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655495"/>
            <a:ext cx="7772400" cy="1500187"/>
          </a:xfrm>
          <a:prstGeom prst="rect">
            <a:avLst/>
          </a:prstGeom>
        </p:spPr>
        <p:txBody>
          <a:bodyPr lIns="91402" tIns="45702" rIns="91402" bIns="45702" anchor="b"/>
          <a:lstStyle>
            <a:lvl1pPr marL="0" indent="0">
              <a:buNone/>
              <a:defRPr sz="4000">
                <a:solidFill>
                  <a:srgbClr val="552200"/>
                </a:solidFill>
              </a:defRPr>
            </a:lvl1pPr>
            <a:lvl2pPr marL="457011" indent="0">
              <a:buNone/>
              <a:defRPr sz="1800"/>
            </a:lvl2pPr>
            <a:lvl3pPr marL="914024" indent="0">
              <a:buNone/>
              <a:defRPr sz="1600"/>
            </a:lvl3pPr>
            <a:lvl4pPr marL="1371040" indent="0">
              <a:buNone/>
              <a:defRPr sz="1400"/>
            </a:lvl4pPr>
            <a:lvl5pPr marL="1828052" indent="0">
              <a:buNone/>
              <a:defRPr sz="1400"/>
            </a:lvl5pPr>
            <a:lvl6pPr marL="2285064" indent="0">
              <a:buNone/>
              <a:defRPr sz="1400"/>
            </a:lvl6pPr>
            <a:lvl7pPr marL="2742079" indent="0">
              <a:buNone/>
              <a:defRPr sz="1400"/>
            </a:lvl7pPr>
            <a:lvl8pPr marL="3199088" indent="0">
              <a:buNone/>
              <a:defRPr sz="1400"/>
            </a:lvl8pPr>
            <a:lvl9pPr marL="3656104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14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Whi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veg logo v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25" y="606425"/>
            <a:ext cx="5413375" cy="12176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8"/>
          <p:cNvSpPr>
            <a:spLocks noChangeArrowheads="1"/>
          </p:cNvSpPr>
          <p:nvPr userDrawn="1"/>
        </p:nvSpPr>
        <p:spPr bwMode="auto">
          <a:xfrm>
            <a:off x="0" y="5959475"/>
            <a:ext cx="3070225" cy="8985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l">
              <a:buFontTx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1" y="2955405"/>
            <a:ext cx="5570525" cy="553998"/>
          </a:xfrm>
        </p:spPr>
        <p:txBody>
          <a:bodyPr/>
          <a:lstStyle>
            <a:lvl1pPr algn="l">
              <a:defRPr sz="3000" b="1">
                <a:solidFill>
                  <a:srgbClr val="5522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1" y="3959353"/>
            <a:ext cx="5570525" cy="1773936"/>
          </a:xfrm>
          <a:prstGeom prst="rect">
            <a:avLst/>
          </a:prstGeom>
        </p:spPr>
        <p:txBody>
          <a:bodyPr lIns="91402" tIns="45702" rIns="91402" bIns="45702">
            <a:normAutofit/>
          </a:bodyPr>
          <a:lstStyle>
            <a:lvl1pPr marL="0" indent="0" algn="l">
              <a:buNone/>
              <a:defRPr sz="1600" b="1">
                <a:solidFill>
                  <a:srgbClr val="7F7F7F"/>
                </a:solidFill>
                <a:latin typeface="Arial" pitchFamily="34" charset="0"/>
                <a:cs typeface="Arial" pitchFamily="34" charset="0"/>
              </a:defRPr>
            </a:lvl1pPr>
            <a:lvl2pPr marL="457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0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10909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68301" y="1670050"/>
            <a:ext cx="4061196" cy="4425950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0"/>
          </p:nvPr>
        </p:nvSpPr>
        <p:spPr>
          <a:xfrm>
            <a:off x="4548256" y="1670050"/>
            <a:ext cx="4138551" cy="4425950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498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19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664" y="360182"/>
            <a:ext cx="5577527" cy="460221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841" y="1397000"/>
            <a:ext cx="8657167" cy="4804833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097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1730375"/>
            <a:ext cx="9144000" cy="215900"/>
          </a:xfrm>
          <a:prstGeom prst="rect">
            <a:avLst/>
          </a:prstGeom>
          <a:gradFill rotWithShape="0">
            <a:gsLst>
              <a:gs pos="0">
                <a:srgbClr val="E8E8E8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2" tIns="45702" rIns="91402" bIns="45702" anchor="ctr">
            <a:spAutoFit/>
          </a:bodyPr>
          <a:lstStyle/>
          <a:p>
            <a:endParaRPr lang="en-US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38238" y="349250"/>
            <a:ext cx="71580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02" tIns="45702" rIns="91402" bIns="45702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8" name="Rectangle 7"/>
          <p:cNvSpPr>
            <a:spLocks noChangeArrowheads="1"/>
          </p:cNvSpPr>
          <p:nvPr/>
        </p:nvSpPr>
        <p:spPr bwMode="auto">
          <a:xfrm>
            <a:off x="8458200" y="6397625"/>
            <a:ext cx="685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02" rIns="0" bIns="45702" anchor="ctr"/>
          <a:lstStyle/>
          <a:p>
            <a:pPr>
              <a:buFontTx/>
              <a:buNone/>
            </a:pPr>
            <a:fld id="{FD8812A5-7706-AF45-9670-B8F2030C16DF}" type="slidenum">
              <a:rPr lang="en-US" sz="2000">
                <a:solidFill>
                  <a:srgbClr val="552200"/>
                </a:solidFill>
              </a:rPr>
              <a:pPr>
                <a:buFontTx/>
                <a:buNone/>
              </a:pPr>
              <a:t>‹#›</a:t>
            </a:fld>
            <a:endParaRPr lang="en-US" sz="2000">
              <a:solidFill>
                <a:srgbClr val="552200"/>
              </a:solidFill>
            </a:endParaRPr>
          </a:p>
        </p:txBody>
      </p:sp>
      <p:sp>
        <p:nvSpPr>
          <p:cNvPr id="1029" name="Content Placeholder 2"/>
          <p:cNvSpPr txBox="1">
            <a:spLocks/>
          </p:cNvSpPr>
          <p:nvPr/>
        </p:nvSpPr>
        <p:spPr bwMode="auto">
          <a:xfrm>
            <a:off x="368300" y="1670050"/>
            <a:ext cx="8318500" cy="4425950"/>
          </a:xfrm>
          <a:prstGeom prst="rect">
            <a:avLst/>
          </a:prstGeom>
          <a:noFill/>
          <a:ln>
            <a:noFill/>
          </a:ln>
          <a:extLst/>
        </p:spPr>
        <p:txBody>
          <a:bodyPr lIns="91402" tIns="45702" rIns="91402" bIns="45702"/>
          <a:lstStyle>
            <a:lvl1pPr marL="342900" indent="-3429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itchFamily="2" charset="2"/>
              <a:buChar char="q"/>
              <a:defRPr/>
            </a:pPr>
            <a:endParaRPr lang="en-US" sz="1400" b="0" dirty="0" smtClean="0">
              <a:solidFill>
                <a:srgbClr val="262626"/>
              </a:solidFill>
              <a:ea typeface="ＭＳ Ｐゴシック" pitchFamily="34" charset="-128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0" y="1033995"/>
            <a:ext cx="9144000" cy="1076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02" tIns="45702" rIns="91402" bIns="45702" anchor="ctr">
            <a:spAutoFit/>
          </a:bodyPr>
          <a:lstStyle/>
          <a:p>
            <a:pPr>
              <a:defRPr/>
            </a:pPr>
            <a:endParaRPr lang="en-US" sz="100" dirty="0">
              <a:solidFill>
                <a:schemeClr val="bg1"/>
              </a:solidFill>
            </a:endParaRPr>
          </a:p>
        </p:txBody>
      </p:sp>
      <p:pic>
        <p:nvPicPr>
          <p:cNvPr id="1033" name="Picture 3" descr="veg logo v5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96025"/>
            <a:ext cx="2449513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50" r:id="rId3"/>
    <p:sldLayoutId id="2147483848" r:id="rId4"/>
    <p:sldLayoutId id="2147483849" r:id="rId5"/>
  </p:sldLayoutIdLst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+mj-lt"/>
          <a:ea typeface="ＭＳ Ｐゴシック" pitchFamily="-106" charset="-128"/>
          <a:cs typeface="ＭＳ Ｐゴシック" pitchFamily="-106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5pPr>
      <a:lvl6pPr marL="457011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6pPr>
      <a:lvl7pPr marL="914024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7pPr>
      <a:lvl8pPr marL="1371040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8pPr>
      <a:lvl9pPr marL="1828052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9pPr>
    </p:titleStyle>
    <p:bodyStyle>
      <a:lvl1pPr marL="339725" indent="-339725" algn="l" rtl="0" eaLnBrk="1" fontAlgn="base" hangingPunct="1">
        <a:spcBef>
          <a:spcPct val="20000"/>
        </a:spcBef>
        <a:spcAft>
          <a:spcPct val="0"/>
        </a:spcAft>
        <a:buFont typeface="Wingdings" charset="0"/>
        <a:buChar char="•"/>
        <a:defRPr sz="1600" b="1">
          <a:solidFill>
            <a:schemeClr val="tx1"/>
          </a:solidFill>
          <a:latin typeface="+mn-lt"/>
          <a:ea typeface="ＭＳ Ｐゴシック" pitchFamily="-106" charset="-128"/>
          <a:cs typeface="ＭＳ Ｐゴシック" pitchFamily="-106" charset="-128"/>
        </a:defRPr>
      </a:lvl1pPr>
      <a:lvl2pPr marL="739775" indent="-280988" algn="l" rtl="0" eaLnBrk="1" fontAlgn="base" hangingPunct="1">
        <a:spcBef>
          <a:spcPct val="20000"/>
        </a:spcBef>
        <a:spcAft>
          <a:spcPct val="0"/>
        </a:spcAft>
        <a:buClr>
          <a:srgbClr val="FD9712"/>
        </a:buClr>
        <a:buFont typeface="Wingdings" charset="0"/>
        <a:buChar char="§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2pPr>
      <a:lvl3pPr marL="1138238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charset="0"/>
        <a:buChar char="•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3pPr>
      <a:lvl4pPr marL="1597025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Arial" charset="0"/>
        <a:buChar char="»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4pPr>
      <a:lvl5pPr marL="2054225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charset="0"/>
        <a:buChar char="•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5pPr>
      <a:lvl6pPr marL="2513573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6pPr>
      <a:lvl7pPr marL="2970584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7pPr>
      <a:lvl8pPr marL="3427598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8pPr>
      <a:lvl9pPr marL="3884609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11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2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040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052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06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079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088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10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-382255"/>
            <a:ext cx="7886700" cy="682986"/>
          </a:xfrm>
        </p:spPr>
        <p:txBody>
          <a:bodyPr>
            <a:noAutofit/>
          </a:bodyPr>
          <a:lstStyle/>
          <a:p>
            <a:r>
              <a:rPr lang="en-US" sz="2000" dirty="0" smtClean="0"/>
              <a:t>Business Architecture Aligns POV across an organization and between organizations (verticals &amp; horizontals)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776" y="7865178"/>
            <a:ext cx="8473195" cy="104252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200" dirty="0" smtClean="0"/>
              <a:t>Requirements are framed by the strategy they implement, seen through stakeholder value perspective (value stream) and what the business has the ability to do to deliver that value (capability)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200" dirty="0" smtClean="0"/>
              <a:t>Requirements are additionally bound by investment, project and stakeholder focus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200" dirty="0" smtClean="0"/>
              <a:t>Other perspectives for framing, such as product and service, may be exposed using business architecture</a:t>
            </a:r>
            <a:endParaRPr lang="en-US" sz="1200" dirty="0"/>
          </a:p>
        </p:txBody>
      </p:sp>
      <p:sp>
        <p:nvSpPr>
          <p:cNvPr id="4" name="Rectangle 3"/>
          <p:cNvSpPr/>
          <p:nvPr/>
        </p:nvSpPr>
        <p:spPr>
          <a:xfrm>
            <a:off x="1267265" y="1687238"/>
            <a:ext cx="1147334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Strategy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92365" y="3223886"/>
            <a:ext cx="1201363" cy="11042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Requirement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57044" y="3757392"/>
            <a:ext cx="1097492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Internal</a:t>
            </a:r>
          </a:p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Stakeholder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62138" y="1793030"/>
            <a:ext cx="1201363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Value Stream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34729" y="2702605"/>
            <a:ext cx="1086947" cy="7212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Capability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41708" y="2261597"/>
            <a:ext cx="1201363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Value Stream Stage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4163501" y="2195270"/>
            <a:ext cx="378207" cy="2989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11" name="Right Arrow 10"/>
          <p:cNvSpPr/>
          <p:nvPr/>
        </p:nvSpPr>
        <p:spPr>
          <a:xfrm>
            <a:off x="5754448" y="2656030"/>
            <a:ext cx="480281" cy="3104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12" name="Right Arrow 11"/>
          <p:cNvSpPr/>
          <p:nvPr/>
        </p:nvSpPr>
        <p:spPr>
          <a:xfrm>
            <a:off x="2414599" y="1870835"/>
            <a:ext cx="546410" cy="3047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16" name="Right Arrow 15"/>
          <p:cNvSpPr/>
          <p:nvPr/>
        </p:nvSpPr>
        <p:spPr>
          <a:xfrm>
            <a:off x="7321676" y="3145912"/>
            <a:ext cx="464012" cy="3030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17" name="Rectangle 16"/>
          <p:cNvSpPr/>
          <p:nvPr/>
        </p:nvSpPr>
        <p:spPr>
          <a:xfrm>
            <a:off x="2833723" y="983717"/>
            <a:ext cx="1532308" cy="2049436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400" b="0" i="1" dirty="0" smtClean="0">
                <a:solidFill>
                  <a:srgbClr val="000000"/>
                </a:solidFill>
              </a:rPr>
              <a:t>Customer Perspective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77519" y="983717"/>
            <a:ext cx="1358201" cy="2773673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400" b="0" i="1" dirty="0" smtClean="0">
                <a:solidFill>
                  <a:srgbClr val="000000"/>
                </a:solidFill>
              </a:rPr>
              <a:t>What an Organization Provides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  <p:sp>
        <p:nvSpPr>
          <p:cNvPr id="23" name="Down Arrow 22"/>
          <p:cNvSpPr/>
          <p:nvPr/>
        </p:nvSpPr>
        <p:spPr>
          <a:xfrm flipV="1">
            <a:off x="5069287" y="2947395"/>
            <a:ext cx="274320" cy="80999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24" name="Right Arrow 23"/>
          <p:cNvSpPr/>
          <p:nvPr/>
        </p:nvSpPr>
        <p:spPr>
          <a:xfrm>
            <a:off x="5754536" y="3997258"/>
            <a:ext cx="2031153" cy="2707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25" name="Rectangle 24"/>
          <p:cNvSpPr/>
          <p:nvPr/>
        </p:nvSpPr>
        <p:spPr>
          <a:xfrm>
            <a:off x="7577581" y="983717"/>
            <a:ext cx="1689737" cy="2049436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400" b="0" i="1" dirty="0">
                <a:solidFill>
                  <a:srgbClr val="000000"/>
                </a:solidFill>
              </a:rPr>
              <a:t>Investment &amp; Solution</a:t>
            </a:r>
          </a:p>
          <a:p>
            <a:pPr>
              <a:buNone/>
            </a:pPr>
            <a:r>
              <a:rPr lang="en-US" sz="1400" b="0" i="1" dirty="0">
                <a:solidFill>
                  <a:srgbClr val="000000"/>
                </a:solidFill>
              </a:rPr>
              <a:t>Perspective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7012" y="2100127"/>
            <a:ext cx="1086947" cy="7307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Initiative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28" name="Down Arrow 27"/>
          <p:cNvSpPr/>
          <p:nvPr/>
        </p:nvSpPr>
        <p:spPr>
          <a:xfrm>
            <a:off x="8272737" y="2830924"/>
            <a:ext cx="274320" cy="3929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29" name="Rectangle 28"/>
          <p:cNvSpPr/>
          <p:nvPr/>
        </p:nvSpPr>
        <p:spPr>
          <a:xfrm>
            <a:off x="1002551" y="983717"/>
            <a:ext cx="1702550" cy="2049435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400" b="0" i="1" dirty="0">
                <a:solidFill>
                  <a:srgbClr val="000000"/>
                </a:solidFill>
              </a:rPr>
              <a:t>Strategic Perspective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61378" y="983717"/>
            <a:ext cx="1494631" cy="3910802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400" b="0" i="1" dirty="0" smtClean="0">
                <a:solidFill>
                  <a:srgbClr val="000000"/>
                </a:solidFill>
              </a:rPr>
              <a:t>Internal Stakeholder   </a:t>
            </a:r>
          </a:p>
          <a:p>
            <a:pPr>
              <a:buNone/>
            </a:pPr>
            <a:r>
              <a:rPr lang="en-US" sz="1100" b="0" i="1" dirty="0" smtClean="0">
                <a:solidFill>
                  <a:srgbClr val="000000"/>
                </a:solidFill>
              </a:rPr>
              <a:t>(X-Functional) </a:t>
            </a:r>
            <a:r>
              <a:rPr lang="en-US" sz="1400" b="0" i="1" dirty="0" smtClean="0">
                <a:solidFill>
                  <a:srgbClr val="000000"/>
                </a:solidFill>
              </a:rPr>
              <a:t>Perspective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5747911" y="2246168"/>
            <a:ext cx="2103441" cy="2386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34" name="Right Arrow 33"/>
          <p:cNvSpPr/>
          <p:nvPr/>
        </p:nvSpPr>
        <p:spPr>
          <a:xfrm>
            <a:off x="7321676" y="2681089"/>
            <a:ext cx="529675" cy="2462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35" name="Rectangle 34"/>
          <p:cNvSpPr/>
          <p:nvPr/>
        </p:nvSpPr>
        <p:spPr>
          <a:xfrm>
            <a:off x="1208251" y="3737821"/>
            <a:ext cx="1307154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Business Entity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71195" y="3145911"/>
            <a:ext cx="1702550" cy="1748607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>
              <a:buNone/>
            </a:pPr>
            <a:r>
              <a:rPr lang="en-US" sz="1400" b="0" i="1" dirty="0">
                <a:solidFill>
                  <a:srgbClr val="000000"/>
                </a:solidFill>
              </a:rPr>
              <a:t>BU &amp; LOB Perspective</a:t>
            </a:r>
          </a:p>
        </p:txBody>
      </p:sp>
      <p:sp>
        <p:nvSpPr>
          <p:cNvPr id="37" name="Down Arrow 36"/>
          <p:cNvSpPr/>
          <p:nvPr/>
        </p:nvSpPr>
        <p:spPr>
          <a:xfrm flipV="1">
            <a:off x="1732913" y="2373036"/>
            <a:ext cx="274320" cy="13647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38" name="Right Arrow 37"/>
          <p:cNvSpPr/>
          <p:nvPr/>
        </p:nvSpPr>
        <p:spPr>
          <a:xfrm>
            <a:off x="2515404" y="4000934"/>
            <a:ext cx="2141640" cy="2670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39" name="Rectangle 38"/>
          <p:cNvSpPr/>
          <p:nvPr/>
        </p:nvSpPr>
        <p:spPr>
          <a:xfrm>
            <a:off x="-2329754" y="1331332"/>
            <a:ext cx="1582673" cy="3810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Customer Needs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-2329754" y="1795032"/>
            <a:ext cx="1582673" cy="3810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Compliance Needs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-2329754" y="2259230"/>
            <a:ext cx="1582673" cy="5716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Business</a:t>
            </a:r>
          </a:p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Stakeholder Needs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43" name="Right Arrow 42"/>
          <p:cNvSpPr/>
          <p:nvPr/>
        </p:nvSpPr>
        <p:spPr>
          <a:xfrm>
            <a:off x="817198" y="1886268"/>
            <a:ext cx="425166" cy="3047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44" name="Rectangle 43"/>
          <p:cNvSpPr/>
          <p:nvPr/>
        </p:nvSpPr>
        <p:spPr>
          <a:xfrm>
            <a:off x="-2527632" y="983717"/>
            <a:ext cx="1945538" cy="2049435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None/>
            </a:pPr>
            <a:r>
              <a:rPr lang="en-US" sz="1400" b="0" i="1" dirty="0" smtClean="0">
                <a:solidFill>
                  <a:srgbClr val="000000"/>
                </a:solidFill>
              </a:rPr>
              <a:t>Customer Perspective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-240350" y="1761350"/>
            <a:ext cx="1057547" cy="5349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Desired Outcomes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46" name="Right Arrow 45"/>
          <p:cNvSpPr/>
          <p:nvPr/>
        </p:nvSpPr>
        <p:spPr>
          <a:xfrm>
            <a:off x="-747081" y="1862634"/>
            <a:ext cx="506731" cy="304722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47" name="Rectangle 46"/>
          <p:cNvSpPr/>
          <p:nvPr/>
        </p:nvSpPr>
        <p:spPr>
          <a:xfrm>
            <a:off x="-527273" y="983717"/>
            <a:ext cx="1453479" cy="2049435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None/>
            </a:pPr>
            <a:r>
              <a:rPr lang="en-US" sz="1400" b="0" i="1" dirty="0" smtClean="0">
                <a:solidFill>
                  <a:srgbClr val="000000"/>
                </a:solidFill>
              </a:rPr>
              <a:t>What a Customer Wants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589428" y="3145912"/>
            <a:ext cx="1689737" cy="1748607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>
              <a:buNone/>
            </a:pPr>
            <a:r>
              <a:rPr lang="en-US" sz="1400" b="0" i="1" dirty="0" smtClean="0">
                <a:solidFill>
                  <a:srgbClr val="000000"/>
                </a:solidFill>
              </a:rPr>
              <a:t>Value (Capability) Gap Perspective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  <p:sp>
        <p:nvSpPr>
          <p:cNvPr id="50" name="Right Arrow 49"/>
          <p:cNvSpPr/>
          <p:nvPr/>
        </p:nvSpPr>
        <p:spPr>
          <a:xfrm>
            <a:off x="-2527634" y="300725"/>
            <a:ext cx="5232735" cy="539484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/>
              <a:t>WHY</a:t>
            </a:r>
            <a:endParaRPr lang="en-US" sz="1800" dirty="0"/>
          </a:p>
        </p:txBody>
      </p:sp>
      <p:sp>
        <p:nvSpPr>
          <p:cNvPr id="51" name="Right Arrow 50"/>
          <p:cNvSpPr/>
          <p:nvPr/>
        </p:nvSpPr>
        <p:spPr>
          <a:xfrm>
            <a:off x="2826144" y="300725"/>
            <a:ext cx="6441173" cy="539484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/>
              <a:t>WHAT</a:t>
            </a:r>
            <a:endParaRPr lang="en-US" sz="1800" dirty="0"/>
          </a:p>
        </p:txBody>
      </p:sp>
      <p:sp>
        <p:nvSpPr>
          <p:cNvPr id="53" name="Left Arrow 52"/>
          <p:cNvSpPr/>
          <p:nvPr/>
        </p:nvSpPr>
        <p:spPr>
          <a:xfrm>
            <a:off x="-2329754" y="6858000"/>
            <a:ext cx="11473754" cy="539484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/>
              <a:t>HOW</a:t>
            </a:r>
            <a:endParaRPr lang="en-US" sz="1800" dirty="0"/>
          </a:p>
        </p:txBody>
      </p:sp>
      <p:sp>
        <p:nvSpPr>
          <p:cNvPr id="54" name="Rectangle 53"/>
          <p:cNvSpPr/>
          <p:nvPr/>
        </p:nvSpPr>
        <p:spPr>
          <a:xfrm>
            <a:off x="971196" y="5022196"/>
            <a:ext cx="8296122" cy="1704485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>
              <a:buNone/>
            </a:pPr>
            <a:r>
              <a:rPr lang="en-US" sz="1400" b="0" i="1" dirty="0" smtClean="0">
                <a:solidFill>
                  <a:srgbClr val="000000"/>
                </a:solidFill>
              </a:rPr>
              <a:t>Execution Delivery Perspective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792365" y="5558682"/>
            <a:ext cx="1201364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Solution Architecture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56" name="Down Arrow 55"/>
          <p:cNvSpPr/>
          <p:nvPr/>
        </p:nvSpPr>
        <p:spPr>
          <a:xfrm>
            <a:off x="8287977" y="4904448"/>
            <a:ext cx="274320" cy="65423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57" name="Rectangle 56"/>
          <p:cNvSpPr/>
          <p:nvPr/>
        </p:nvSpPr>
        <p:spPr>
          <a:xfrm>
            <a:off x="4657044" y="5558681"/>
            <a:ext cx="1201364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Solution Delivery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58" name="Down Arrow 57"/>
          <p:cNvSpPr/>
          <p:nvPr/>
        </p:nvSpPr>
        <p:spPr>
          <a:xfrm rot="5400000">
            <a:off x="6684888" y="4953725"/>
            <a:ext cx="274320" cy="19272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59" name="Rectangle 58"/>
          <p:cNvSpPr/>
          <p:nvPr/>
        </p:nvSpPr>
        <p:spPr>
          <a:xfrm>
            <a:off x="1208250" y="5558682"/>
            <a:ext cx="1617894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Product &amp; Service Portfolio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60" name="Down Arrow 59"/>
          <p:cNvSpPr/>
          <p:nvPr/>
        </p:nvSpPr>
        <p:spPr>
          <a:xfrm rot="5400000">
            <a:off x="3595892" y="5018036"/>
            <a:ext cx="274320" cy="17986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61" name="Rectangle 60"/>
          <p:cNvSpPr/>
          <p:nvPr/>
        </p:nvSpPr>
        <p:spPr>
          <a:xfrm>
            <a:off x="-2329755" y="5558681"/>
            <a:ext cx="1582673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Product &amp; Service Delivery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-2329755" y="3925070"/>
            <a:ext cx="1582673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Product &amp; Service Support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63" name="Down Arrow 62"/>
          <p:cNvSpPr/>
          <p:nvPr/>
        </p:nvSpPr>
        <p:spPr>
          <a:xfrm rot="5400000">
            <a:off x="93425" y="4939699"/>
            <a:ext cx="274320" cy="19553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64" name="Down Arrow 63"/>
          <p:cNvSpPr/>
          <p:nvPr/>
        </p:nvSpPr>
        <p:spPr>
          <a:xfrm flipV="1">
            <a:off x="-1687312" y="4610870"/>
            <a:ext cx="274320" cy="9316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65" name="Down Arrow 64"/>
          <p:cNvSpPr/>
          <p:nvPr/>
        </p:nvSpPr>
        <p:spPr>
          <a:xfrm flipV="1">
            <a:off x="-1672072" y="2830924"/>
            <a:ext cx="274320" cy="10818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66" name="Rectangle 65"/>
          <p:cNvSpPr/>
          <p:nvPr/>
        </p:nvSpPr>
        <p:spPr>
          <a:xfrm>
            <a:off x="-2523347" y="3146061"/>
            <a:ext cx="3340544" cy="3580619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>
              <a:buNone/>
            </a:pPr>
            <a:r>
              <a:rPr lang="en-US" sz="1400" b="0" i="1" dirty="0" smtClean="0">
                <a:solidFill>
                  <a:srgbClr val="000000"/>
                </a:solidFill>
              </a:rPr>
              <a:t>Operations Perspective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6939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VISIA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VISIA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iagram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2</TotalTime>
  <Words>159</Words>
  <Application>Microsoft Macintosh PowerPoint</Application>
  <PresentationFormat>Letter Paper (8.5x11 in)</PresentationFormat>
  <Paragraphs>39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Default Theme</vt:lpstr>
      <vt:lpstr>Diagram Master</vt:lpstr>
      <vt:lpstr>Business Architecture Aligns POV across an organization and between organizations (verticals &amp; horizontals)</vt:lpstr>
    </vt:vector>
  </TitlesOfParts>
  <Company>The Value Enablement Group, LLC.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Architecture Aligns POV across an organization and between organizations (verticals &amp; horizontals)</dc:title>
  <dc:creator>jeffrey wallk</dc:creator>
  <cp:lastModifiedBy>jeffrey wallk</cp:lastModifiedBy>
  <cp:revision>1</cp:revision>
  <dcterms:created xsi:type="dcterms:W3CDTF">2014-03-14T21:54:49Z</dcterms:created>
  <dcterms:modified xsi:type="dcterms:W3CDTF">2014-03-14T21:57:07Z</dcterms:modified>
</cp:coreProperties>
</file>
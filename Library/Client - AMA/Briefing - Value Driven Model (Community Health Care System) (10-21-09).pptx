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diagrams/quickStyle1.xml" ContentType="application/vnd.openxmlformats-officedocument.drawingml.diagramStyl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36"/>
  </p:notesMasterIdLst>
  <p:handoutMasterIdLst>
    <p:handoutMasterId r:id="rId37"/>
  </p:handoutMasterIdLst>
  <p:sldIdLst>
    <p:sldId id="257" r:id="rId2"/>
    <p:sldId id="258" r:id="rId3"/>
    <p:sldId id="259" r:id="rId4"/>
    <p:sldId id="260" r:id="rId5"/>
    <p:sldId id="263" r:id="rId6"/>
    <p:sldId id="262" r:id="rId7"/>
    <p:sldId id="261" r:id="rId8"/>
    <p:sldId id="264" r:id="rId9"/>
    <p:sldId id="265" r:id="rId10"/>
    <p:sldId id="266" r:id="rId11"/>
    <p:sldId id="267" r:id="rId12"/>
    <p:sldId id="294" r:id="rId13"/>
    <p:sldId id="296" r:id="rId14"/>
    <p:sldId id="297" r:id="rId15"/>
    <p:sldId id="298" r:id="rId16"/>
    <p:sldId id="299" r:id="rId17"/>
    <p:sldId id="268" r:id="rId18"/>
    <p:sldId id="271" r:id="rId19"/>
    <p:sldId id="269" r:id="rId20"/>
    <p:sldId id="275" r:id="rId21"/>
    <p:sldId id="272" r:id="rId22"/>
    <p:sldId id="278" r:id="rId23"/>
    <p:sldId id="279" r:id="rId24"/>
    <p:sldId id="280" r:id="rId25"/>
    <p:sldId id="281" r:id="rId26"/>
    <p:sldId id="282" r:id="rId27"/>
    <p:sldId id="276" r:id="rId28"/>
    <p:sldId id="273" r:id="rId29"/>
    <p:sldId id="270" r:id="rId30"/>
    <p:sldId id="274" r:id="rId31"/>
    <p:sldId id="277" r:id="rId32"/>
    <p:sldId id="283" r:id="rId33"/>
    <p:sldId id="284" r:id="rId34"/>
    <p:sldId id="285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23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 smtClean="0"/>
            <a:t>Technology</a:t>
          </a:r>
          <a:endParaRPr lang="en-US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 smtClean="0"/>
            <a:t>Ideas</a:t>
          </a:r>
          <a:endParaRPr lang="en-US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/>
            <a:t>Priorities</a:t>
          </a:r>
          <a:endParaRPr lang="en-US" b="1" dirty="0"/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490E2C61-C33A-4448-A33A-6642C8861194}" type="presOf" srcId="{39749F21-8792-4349-A6A7-BF01EB94F789}" destId="{0B61870B-E2AE-47B9-90BE-64D52B77842D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06E89DFE-EDE4-4624-B737-723BC7DA5173}" type="presOf" srcId="{42874977-2580-429E-9A3F-5B0A5A2948AF}" destId="{F96B2562-BEBF-42CE-9FF0-1BBD38426426}" srcOrd="0" destOrd="0" presId="urn:microsoft.com/office/officeart/2005/8/layout/funnel1"/>
    <dgm:cxn modelId="{D97AF5D1-2A52-4D07-9081-786DE956420D}" type="presOf" srcId="{973D7B39-D5D2-4B89-A3E7-1C0B9FD794DD}" destId="{3260B18C-0F12-415C-B2B5-B0D612D38936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F571051D-B23C-4836-B73D-DF4033DF7382}" type="presOf" srcId="{CAE624CA-334A-4EB5-BD8E-55849449CB58}" destId="{1700B4C8-12E4-4D00-876C-94377F786E85}" srcOrd="0" destOrd="0" presId="urn:microsoft.com/office/officeart/2005/8/layout/funnel1"/>
    <dgm:cxn modelId="{625FFAD0-711A-4542-96B5-FB6CCDBE2C01}" type="presOf" srcId="{E20769C5-73DC-4E8A-913F-24C08F2848CC}" destId="{D7B10E75-58CC-4807-BD47-EBDD0F301C5F}" srcOrd="0" destOrd="0" presId="urn:microsoft.com/office/officeart/2005/8/layout/funnel1"/>
    <dgm:cxn modelId="{4E67F654-8F5C-4743-ABF2-6DC7AB8780FA}" type="presParOf" srcId="{D7B10E75-58CC-4807-BD47-EBDD0F301C5F}" destId="{E1C58007-ADFE-400C-A7E7-0C16929F4834}" srcOrd="0" destOrd="0" presId="urn:microsoft.com/office/officeart/2005/8/layout/funnel1"/>
    <dgm:cxn modelId="{7F6DB434-1487-4215-BF67-03EB8DDB73B2}" type="presParOf" srcId="{D7B10E75-58CC-4807-BD47-EBDD0F301C5F}" destId="{BE474BB7-A5E2-4490-A567-03B382957073}" srcOrd="1" destOrd="0" presId="urn:microsoft.com/office/officeart/2005/8/layout/funnel1"/>
    <dgm:cxn modelId="{FEDF1178-DC43-44DC-BB29-8B0A2CC3350F}" type="presParOf" srcId="{D7B10E75-58CC-4807-BD47-EBDD0F301C5F}" destId="{0B61870B-E2AE-47B9-90BE-64D52B77842D}" srcOrd="2" destOrd="0" presId="urn:microsoft.com/office/officeart/2005/8/layout/funnel1"/>
    <dgm:cxn modelId="{040EC6EA-C7CE-4117-925C-392B0D8B99EE}" type="presParOf" srcId="{D7B10E75-58CC-4807-BD47-EBDD0F301C5F}" destId="{3260B18C-0F12-415C-B2B5-B0D612D38936}" srcOrd="3" destOrd="0" presId="urn:microsoft.com/office/officeart/2005/8/layout/funnel1"/>
    <dgm:cxn modelId="{7EA42B8D-7271-4F86-8680-0DA3C2019567}" type="presParOf" srcId="{D7B10E75-58CC-4807-BD47-EBDD0F301C5F}" destId="{F96B2562-BEBF-42CE-9FF0-1BBD38426426}" srcOrd="4" destOrd="0" presId="urn:microsoft.com/office/officeart/2005/8/layout/funnel1"/>
    <dgm:cxn modelId="{8C8DC08A-389B-4C1A-975F-8436B6D29707}" type="presParOf" srcId="{D7B10E75-58CC-4807-BD47-EBDD0F301C5F}" destId="{1700B4C8-12E4-4D00-876C-94377F786E85}" srcOrd="5" destOrd="0" presId="urn:microsoft.com/office/officeart/2005/8/layout/funnel1"/>
    <dgm:cxn modelId="{44B49570-1315-4E6A-B24E-991A2C758C19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Concept Development</a:t>
          </a:r>
          <a:endParaRPr lang="en-US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Transitioning</a:t>
          </a:r>
        </a:p>
        <a:p>
          <a:r>
            <a:rPr lang="en-US" dirty="0" smtClean="0"/>
            <a:t>To </a:t>
          </a:r>
        </a:p>
        <a:p>
          <a:r>
            <a:rPr lang="en-US" dirty="0" smtClean="0"/>
            <a:t>Portfolio</a:t>
          </a:r>
          <a:endParaRPr lang="en-US" dirty="0"/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Execution</a:t>
          </a:r>
        </a:p>
        <a:p>
          <a:r>
            <a:rPr lang="en-US" dirty="0" smtClean="0"/>
            <a:t>Thru</a:t>
          </a:r>
        </a:p>
        <a:p>
          <a:r>
            <a:rPr lang="en-US" dirty="0" smtClean="0"/>
            <a:t>Value Release</a:t>
          </a:r>
          <a:endParaRPr lang="en-US" dirty="0"/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8A55EF5B-8C67-4B8A-8514-3843ED9059C1}" type="presOf" srcId="{56F0B946-F863-43B5-9AE7-3ED2571CC1F7}" destId="{D195289F-4E10-4B57-8C58-6BB3CB9CCF4B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A52C508F-74E7-41E6-9214-191E411FD660}" type="presOf" srcId="{F75D5E40-C0EA-4FAA-9275-3C70938E00EE}" destId="{EDBBB759-F01A-4C3B-A1A8-D2C8F1E5A578}" srcOrd="0" destOrd="0" presId="urn:microsoft.com/office/officeart/2005/8/layout/hProcess9"/>
    <dgm:cxn modelId="{6E8C6130-546E-4AF3-9F23-D291F6A30929}" type="presOf" srcId="{5DCEAD6A-2995-470E-B294-EFE25C7FA270}" destId="{0564D69C-C697-46C9-AFEA-F63178C739BD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44D9569D-8D1A-48D3-8959-4D06CD25E990}" type="presOf" srcId="{673AE5C1-39E1-47D6-9713-8CA9BE6EA1DA}" destId="{F6218397-5286-4BF9-91BC-3A8217C085AF}" srcOrd="0" destOrd="0" presId="urn:microsoft.com/office/officeart/2005/8/layout/hProcess9"/>
    <dgm:cxn modelId="{B2AF846B-759F-4FB8-A51F-8C4742668938}" type="presParOf" srcId="{F6218397-5286-4BF9-91BC-3A8217C085AF}" destId="{57B6F08F-F180-42E5-86EE-1F47EC70A8B7}" srcOrd="0" destOrd="0" presId="urn:microsoft.com/office/officeart/2005/8/layout/hProcess9"/>
    <dgm:cxn modelId="{054E860A-9F55-408B-9A66-E701BC808BFA}" type="presParOf" srcId="{F6218397-5286-4BF9-91BC-3A8217C085AF}" destId="{ED339E6A-99DE-44B5-8942-676116993976}" srcOrd="1" destOrd="0" presId="urn:microsoft.com/office/officeart/2005/8/layout/hProcess9"/>
    <dgm:cxn modelId="{B66212DF-6006-4678-B74A-BF2FB01541F9}" type="presParOf" srcId="{ED339E6A-99DE-44B5-8942-676116993976}" destId="{D195289F-4E10-4B57-8C58-6BB3CB9CCF4B}" srcOrd="0" destOrd="0" presId="urn:microsoft.com/office/officeart/2005/8/layout/hProcess9"/>
    <dgm:cxn modelId="{7AECA144-9825-4E0B-82EF-FE9F650B755B}" type="presParOf" srcId="{ED339E6A-99DE-44B5-8942-676116993976}" destId="{B5A6657B-DFA9-42AD-BD72-82BAEBF8B87E}" srcOrd="1" destOrd="0" presId="urn:microsoft.com/office/officeart/2005/8/layout/hProcess9"/>
    <dgm:cxn modelId="{9E9E3CD5-6EAA-4612-8A31-A0B809D16FA1}" type="presParOf" srcId="{ED339E6A-99DE-44B5-8942-676116993976}" destId="{EDBBB759-F01A-4C3B-A1A8-D2C8F1E5A578}" srcOrd="2" destOrd="0" presId="urn:microsoft.com/office/officeart/2005/8/layout/hProcess9"/>
    <dgm:cxn modelId="{640F3EA1-A391-40DD-B768-24789349AEA0}" type="presParOf" srcId="{ED339E6A-99DE-44B5-8942-676116993976}" destId="{7E687DF4-201B-4FB8-B89C-9863D30313FA}" srcOrd="3" destOrd="0" presId="urn:microsoft.com/office/officeart/2005/8/layout/hProcess9"/>
    <dgm:cxn modelId="{1DD2FDB3-F181-4E2A-9DB7-6E81C6B5AF65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417CDC-9B3A-41AC-A68E-E0C6538CA504}" type="doc">
      <dgm:prSet loTypeId="urn:microsoft.com/office/officeart/2005/8/layout/pyramid2" loCatId="list" qsTypeId="urn:microsoft.com/office/officeart/2005/8/quickstyle/3d2" qsCatId="3D" csTypeId="urn:microsoft.com/office/officeart/2005/8/colors/accent1_2" csCatId="accent1" phldr="1"/>
      <dgm:spPr/>
    </dgm:pt>
    <dgm:pt modelId="{191EE3EC-BB60-4377-95CE-6E6D00913C3A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Patients</a:t>
          </a:r>
        </a:p>
        <a:p>
          <a:r>
            <a:rPr lang="en-US" sz="1600" dirty="0" smtClean="0"/>
            <a:t>(Drugs, Devices, Information)</a:t>
          </a:r>
          <a:endParaRPr lang="en-US" sz="1600" dirty="0"/>
        </a:p>
      </dgm:t>
    </dgm:pt>
    <dgm:pt modelId="{3D42F666-0AC1-48EA-B662-A2637E04720E}" type="parTrans" cxnId="{4A43FAB6-8196-4282-85FB-B7DA60189965}">
      <dgm:prSet/>
      <dgm:spPr/>
      <dgm:t>
        <a:bodyPr/>
        <a:lstStyle/>
        <a:p>
          <a:endParaRPr lang="en-US"/>
        </a:p>
      </dgm:t>
    </dgm:pt>
    <dgm:pt modelId="{270EBC4A-3809-4540-A8C6-5524DC656566}" type="sibTrans" cxnId="{4A43FAB6-8196-4282-85FB-B7DA60189965}">
      <dgm:prSet/>
      <dgm:spPr/>
      <dgm:t>
        <a:bodyPr/>
        <a:lstStyle/>
        <a:p>
          <a:endParaRPr lang="en-US"/>
        </a:p>
      </dgm:t>
    </dgm:pt>
    <dgm:pt modelId="{8073C779-336E-46C9-860C-3C4F4AECF67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Practitioners</a:t>
          </a:r>
        </a:p>
        <a:p>
          <a:r>
            <a:rPr lang="en-US" sz="1600" dirty="0" smtClean="0"/>
            <a:t>(Physicians, Nurses, Caretakers)</a:t>
          </a:r>
        </a:p>
      </dgm:t>
    </dgm:pt>
    <dgm:pt modelId="{D18E08F7-BE13-423C-87FA-86610643765B}" type="parTrans" cxnId="{81E2B122-2507-4BB7-BF7D-71765D73ACB2}">
      <dgm:prSet/>
      <dgm:spPr/>
      <dgm:t>
        <a:bodyPr/>
        <a:lstStyle/>
        <a:p>
          <a:endParaRPr lang="en-US"/>
        </a:p>
      </dgm:t>
    </dgm:pt>
    <dgm:pt modelId="{48F132AB-0353-48BF-9CBD-9B16492A0344}" type="sibTrans" cxnId="{81E2B122-2507-4BB7-BF7D-71765D73ACB2}">
      <dgm:prSet/>
      <dgm:spPr/>
      <dgm:t>
        <a:bodyPr/>
        <a:lstStyle/>
        <a:p>
          <a:endParaRPr lang="en-US"/>
        </a:p>
      </dgm:t>
    </dgm:pt>
    <dgm:pt modelId="{1492EAF2-D809-4557-BCF4-56061EA4F8E2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Providers</a:t>
          </a:r>
        </a:p>
        <a:p>
          <a:r>
            <a:rPr lang="en-US" sz="1600" dirty="0" smtClean="0"/>
            <a:t>(Drugs, Devices, Information)</a:t>
          </a:r>
          <a:endParaRPr lang="en-US" sz="1600" b="1" dirty="0" smtClean="0"/>
        </a:p>
      </dgm:t>
    </dgm:pt>
    <dgm:pt modelId="{183B7E30-9B71-4473-8BFB-DAAC4ADB2067}" type="parTrans" cxnId="{2D51AA2C-141E-439A-8FFF-1FEAB01AA1C1}">
      <dgm:prSet/>
      <dgm:spPr/>
      <dgm:t>
        <a:bodyPr/>
        <a:lstStyle/>
        <a:p>
          <a:endParaRPr lang="en-US"/>
        </a:p>
      </dgm:t>
    </dgm:pt>
    <dgm:pt modelId="{099E7165-6B32-4034-A1B3-509FF272EE67}" type="sibTrans" cxnId="{2D51AA2C-141E-439A-8FFF-1FEAB01AA1C1}">
      <dgm:prSet/>
      <dgm:spPr/>
      <dgm:t>
        <a:bodyPr/>
        <a:lstStyle/>
        <a:p>
          <a:endParaRPr lang="en-US"/>
        </a:p>
      </dgm:t>
    </dgm:pt>
    <dgm:pt modelId="{2EEF81A0-E70C-4C7C-B4B0-9EE9E25D31EE}" type="pres">
      <dgm:prSet presAssocID="{AF417CDC-9B3A-41AC-A68E-E0C6538CA504}" presName="compositeShape" presStyleCnt="0">
        <dgm:presLayoutVars>
          <dgm:dir/>
          <dgm:resizeHandles/>
        </dgm:presLayoutVars>
      </dgm:prSet>
      <dgm:spPr/>
    </dgm:pt>
    <dgm:pt modelId="{C17817A9-C4DE-49BF-8C1D-4124E047DFB9}" type="pres">
      <dgm:prSet presAssocID="{AF417CDC-9B3A-41AC-A68E-E0C6538CA504}" presName="pyramid" presStyleLbl="node1" presStyleIdx="0" presStyleCnt="1"/>
      <dgm:spPr/>
    </dgm:pt>
    <dgm:pt modelId="{97D661A3-DA34-4970-9A0D-34E97679DFC9}" type="pres">
      <dgm:prSet presAssocID="{AF417CDC-9B3A-41AC-A68E-E0C6538CA504}" presName="theList" presStyleCnt="0"/>
      <dgm:spPr/>
    </dgm:pt>
    <dgm:pt modelId="{2D970AC9-46C8-4548-96E5-DA10D684460C}" type="pres">
      <dgm:prSet presAssocID="{191EE3EC-BB60-4377-95CE-6E6D00913C3A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EF443-F792-497B-BD71-3BD6E3ACADF1}" type="pres">
      <dgm:prSet presAssocID="{191EE3EC-BB60-4377-95CE-6E6D00913C3A}" presName="aSpace" presStyleCnt="0"/>
      <dgm:spPr/>
    </dgm:pt>
    <dgm:pt modelId="{4BA2D08E-3F37-4C9B-AF1A-AF070EDB1AF8}" type="pres">
      <dgm:prSet presAssocID="{8073C779-336E-46C9-860C-3C4F4AECF67F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BBD7D-9B64-4267-B8C1-9603A80ED08A}" type="pres">
      <dgm:prSet presAssocID="{8073C779-336E-46C9-860C-3C4F4AECF67F}" presName="aSpace" presStyleCnt="0"/>
      <dgm:spPr/>
    </dgm:pt>
    <dgm:pt modelId="{14F6B660-5636-4F93-AFFF-4992B4D5718E}" type="pres">
      <dgm:prSet presAssocID="{1492EAF2-D809-4557-BCF4-56061EA4F8E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ECE6D-C2CC-44A0-8C2D-5AFED59F01F4}" type="pres">
      <dgm:prSet presAssocID="{1492EAF2-D809-4557-BCF4-56061EA4F8E2}" presName="aSpace" presStyleCnt="0"/>
      <dgm:spPr/>
    </dgm:pt>
  </dgm:ptLst>
  <dgm:cxnLst>
    <dgm:cxn modelId="{F3F77E9D-4641-4E2A-B1AB-8F87025D892B}" type="presOf" srcId="{191EE3EC-BB60-4377-95CE-6E6D00913C3A}" destId="{2D970AC9-46C8-4548-96E5-DA10D684460C}" srcOrd="0" destOrd="0" presId="urn:microsoft.com/office/officeart/2005/8/layout/pyramid2"/>
    <dgm:cxn modelId="{81E2B122-2507-4BB7-BF7D-71765D73ACB2}" srcId="{AF417CDC-9B3A-41AC-A68E-E0C6538CA504}" destId="{8073C779-336E-46C9-860C-3C4F4AECF67F}" srcOrd="1" destOrd="0" parTransId="{D18E08F7-BE13-423C-87FA-86610643765B}" sibTransId="{48F132AB-0353-48BF-9CBD-9B16492A0344}"/>
    <dgm:cxn modelId="{22F5D3BD-212F-4665-BC90-E8C7D03B20EC}" type="presOf" srcId="{AF417CDC-9B3A-41AC-A68E-E0C6538CA504}" destId="{2EEF81A0-E70C-4C7C-B4B0-9EE9E25D31EE}" srcOrd="0" destOrd="0" presId="urn:microsoft.com/office/officeart/2005/8/layout/pyramid2"/>
    <dgm:cxn modelId="{02C90BD2-4C58-4BEA-9F89-73D36872B87E}" type="presOf" srcId="{8073C779-336E-46C9-860C-3C4F4AECF67F}" destId="{4BA2D08E-3F37-4C9B-AF1A-AF070EDB1AF8}" srcOrd="0" destOrd="0" presId="urn:microsoft.com/office/officeart/2005/8/layout/pyramid2"/>
    <dgm:cxn modelId="{2D51AA2C-141E-439A-8FFF-1FEAB01AA1C1}" srcId="{AF417CDC-9B3A-41AC-A68E-E0C6538CA504}" destId="{1492EAF2-D809-4557-BCF4-56061EA4F8E2}" srcOrd="2" destOrd="0" parTransId="{183B7E30-9B71-4473-8BFB-DAAC4ADB2067}" sibTransId="{099E7165-6B32-4034-A1B3-509FF272EE67}"/>
    <dgm:cxn modelId="{4A43FAB6-8196-4282-85FB-B7DA60189965}" srcId="{AF417CDC-9B3A-41AC-A68E-E0C6538CA504}" destId="{191EE3EC-BB60-4377-95CE-6E6D00913C3A}" srcOrd="0" destOrd="0" parTransId="{3D42F666-0AC1-48EA-B662-A2637E04720E}" sibTransId="{270EBC4A-3809-4540-A8C6-5524DC656566}"/>
    <dgm:cxn modelId="{D16693EE-11E5-4C9B-9FAC-EF99CC6C5CB9}" type="presOf" srcId="{1492EAF2-D809-4557-BCF4-56061EA4F8E2}" destId="{14F6B660-5636-4F93-AFFF-4992B4D5718E}" srcOrd="0" destOrd="0" presId="urn:microsoft.com/office/officeart/2005/8/layout/pyramid2"/>
    <dgm:cxn modelId="{E9CEEDBF-6CF3-4ABC-AF3A-B77DF27604D3}" type="presParOf" srcId="{2EEF81A0-E70C-4C7C-B4B0-9EE9E25D31EE}" destId="{C17817A9-C4DE-49BF-8C1D-4124E047DFB9}" srcOrd="0" destOrd="0" presId="urn:microsoft.com/office/officeart/2005/8/layout/pyramid2"/>
    <dgm:cxn modelId="{AABBC780-F8F9-48C3-A81C-EA19BEB9A8B2}" type="presParOf" srcId="{2EEF81A0-E70C-4C7C-B4B0-9EE9E25D31EE}" destId="{97D661A3-DA34-4970-9A0D-34E97679DFC9}" srcOrd="1" destOrd="0" presId="urn:microsoft.com/office/officeart/2005/8/layout/pyramid2"/>
    <dgm:cxn modelId="{17212DF4-BA04-4072-ABD9-EC1F45096A49}" type="presParOf" srcId="{97D661A3-DA34-4970-9A0D-34E97679DFC9}" destId="{2D970AC9-46C8-4548-96E5-DA10D684460C}" srcOrd="0" destOrd="0" presId="urn:microsoft.com/office/officeart/2005/8/layout/pyramid2"/>
    <dgm:cxn modelId="{ADA94218-C292-49B4-9606-2D2D211AFB46}" type="presParOf" srcId="{97D661A3-DA34-4970-9A0D-34E97679DFC9}" destId="{CA9EF443-F792-497B-BD71-3BD6E3ACADF1}" srcOrd="1" destOrd="0" presId="urn:microsoft.com/office/officeart/2005/8/layout/pyramid2"/>
    <dgm:cxn modelId="{DAC9ACD6-A7D4-404C-8042-193AFABA41C9}" type="presParOf" srcId="{97D661A3-DA34-4970-9A0D-34E97679DFC9}" destId="{4BA2D08E-3F37-4C9B-AF1A-AF070EDB1AF8}" srcOrd="2" destOrd="0" presId="urn:microsoft.com/office/officeart/2005/8/layout/pyramid2"/>
    <dgm:cxn modelId="{E7920D39-477D-4BBB-9461-B02B621087DC}" type="presParOf" srcId="{97D661A3-DA34-4970-9A0D-34E97679DFC9}" destId="{C68BBD7D-9B64-4267-B8C1-9603A80ED08A}" srcOrd="3" destOrd="0" presId="urn:microsoft.com/office/officeart/2005/8/layout/pyramid2"/>
    <dgm:cxn modelId="{87AC03C1-02CF-4E7C-A82D-40109E185282}" type="presParOf" srcId="{97D661A3-DA34-4970-9A0D-34E97679DFC9}" destId="{14F6B660-5636-4F93-AFFF-4992B4D5718E}" srcOrd="4" destOrd="0" presId="urn:microsoft.com/office/officeart/2005/8/layout/pyramid2"/>
    <dgm:cxn modelId="{6B15C767-F4FE-4EF1-B642-10E3CC66A543}" type="presParOf" srcId="{97D661A3-DA34-4970-9A0D-34E97679DFC9}" destId="{28EECE6D-C2CC-44A0-8C2D-5AFED59F01F4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/>
      <dgm:spPr/>
      <dgm:t>
        <a:bodyPr/>
        <a:lstStyle/>
        <a:p>
          <a:r>
            <a:rPr lang="en-US" b="1" dirty="0" smtClean="0"/>
            <a:t>Open</a:t>
          </a:r>
        </a:p>
        <a:p>
          <a:r>
            <a:rPr lang="en-US" b="1" dirty="0" smtClean="0"/>
            <a:t>Innovation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 dirty="0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 smtClean="0"/>
            <a:t>Centrally Managed</a:t>
          </a:r>
        </a:p>
        <a:p>
          <a:r>
            <a:rPr lang="en-US" b="1" dirty="0" smtClean="0"/>
            <a:t>IP</a:t>
          </a:r>
          <a:endParaRPr lang="en-US" b="1" dirty="0"/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 dirty="0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 smtClean="0"/>
            <a:t>Shared Revenue</a:t>
          </a:r>
        </a:p>
        <a:p>
          <a:r>
            <a:rPr lang="en-US" b="1" dirty="0" smtClean="0"/>
            <a:t>Model</a:t>
          </a:r>
          <a:endParaRPr lang="en-US" b="1" dirty="0"/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 dirty="0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 smtClean="0"/>
            <a:t>Results Driven</a:t>
          </a:r>
        </a:p>
        <a:p>
          <a:r>
            <a:rPr lang="en-US" b="1" dirty="0" smtClean="0"/>
            <a:t>Prioritization</a:t>
          </a:r>
          <a:endParaRPr lang="en-US" b="1" dirty="0"/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 dirty="0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 smtClean="0"/>
            <a:t>Collaborative</a:t>
          </a:r>
          <a:endParaRPr lang="en-US" b="1" dirty="0"/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 dirty="0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14FF0-C3D4-4067-9A96-DAE7F230A6B3}" type="pres">
      <dgm:prSet presAssocID="{D6F595D2-470C-401C-A533-3E80B84244AA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7AFC6E7-B973-46CA-8BED-AD11916A26C6}" type="pres">
      <dgm:prSet presAssocID="{D6F595D2-470C-401C-A533-3E80B84244AA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113D7-D3E7-4CB9-BC98-536F54DAF21C}" type="pres">
      <dgm:prSet presAssocID="{ACC9FE0A-FD41-47FD-A639-30E1D7390D3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F38FA08F-FE08-42BB-8EE8-5C1C65DF85EB}" type="pres">
      <dgm:prSet presAssocID="{ACC9FE0A-FD41-47FD-A639-30E1D7390D3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EA10-55B7-4FA2-B1AF-880978BD726E}" type="pres">
      <dgm:prSet presAssocID="{55E28E46-380A-467B-AE34-589B0252C611}" presName="sibTrans" presStyleLbl="sibTrans2D1" presStyleIdx="2" presStyleCnt="5"/>
      <dgm:spPr/>
      <dgm:t>
        <a:bodyPr/>
        <a:lstStyle/>
        <a:p>
          <a:endParaRPr lang="en-US"/>
        </a:p>
      </dgm:t>
    </dgm:pt>
    <dgm:pt modelId="{A2460FAC-F0F1-4820-B573-16079F413D80}" type="pres">
      <dgm:prSet presAssocID="{55E28E46-380A-467B-AE34-589B0252C61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D0551F-936B-4658-B33F-A836AF1BBB65}" type="pres">
      <dgm:prSet presAssocID="{45C84ECF-EE1B-4B49-8EF8-7CAEF2A5F7D7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EDE08A-D6E8-4108-896E-C113DB47C979}" type="pres">
      <dgm:prSet presAssocID="{45C84ECF-EE1B-4B49-8EF8-7CAEF2A5F7D7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E6119-54FA-4530-870F-778E283C0BD5}" type="pres">
      <dgm:prSet presAssocID="{73A865D5-5B91-4B22-BA06-C26D9BCB2EE5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BE7C2DC-A3D5-4950-9D16-A38DF0EA4010}" type="pres">
      <dgm:prSet presAssocID="{73A865D5-5B91-4B22-BA06-C26D9BCB2EE5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DE01DF16-D307-4929-AA67-0A1DAA24C660}" type="presOf" srcId="{73A865D5-5B91-4B22-BA06-C26D9BCB2EE5}" destId="{DBE7C2DC-A3D5-4950-9D16-A38DF0EA4010}" srcOrd="1" destOrd="0" presId="urn:microsoft.com/office/officeart/2005/8/layout/cycle2"/>
    <dgm:cxn modelId="{064A5AD7-0B3E-4F3B-B67C-C5AA92EF90A7}" type="presOf" srcId="{45C84ECF-EE1B-4B49-8EF8-7CAEF2A5F7D7}" destId="{A7D0551F-936B-4658-B33F-A836AF1BBB65}" srcOrd="0" destOrd="0" presId="urn:microsoft.com/office/officeart/2005/8/layout/cycle2"/>
    <dgm:cxn modelId="{CFE596FC-AD55-4082-BC97-825B433E70E3}" type="presOf" srcId="{D9EF2CA6-CB89-4C75-A47A-2A8DFD1700AB}" destId="{C6CB6EE8-F817-48B1-A2A4-7074F5E20ADC}" srcOrd="0" destOrd="0" presId="urn:microsoft.com/office/officeart/2005/8/layout/cycle2"/>
    <dgm:cxn modelId="{30130C2E-97F9-4D2D-8C58-A897B5A8C518}" type="presOf" srcId="{55E28E46-380A-467B-AE34-589B0252C611}" destId="{A2460FAC-F0F1-4820-B573-16079F413D80}" srcOrd="1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B9F83A82-BDB3-4224-AB66-88E4C7B38940}" type="presOf" srcId="{F1CE9FE8-D255-4002-AFE1-7D2B290D77A4}" destId="{0BB1AB6A-657E-4BE7-B826-04310CB87FD6}" srcOrd="0" destOrd="0" presId="urn:microsoft.com/office/officeart/2005/8/layout/cycle2"/>
    <dgm:cxn modelId="{63E9316B-824D-4351-A42B-1C47CB1C9B16}" type="presOf" srcId="{45C84ECF-EE1B-4B49-8EF8-7CAEF2A5F7D7}" destId="{DBEDE08A-D6E8-4108-896E-C113DB47C979}" srcOrd="1" destOrd="0" presId="urn:microsoft.com/office/officeart/2005/8/layout/cycle2"/>
    <dgm:cxn modelId="{43B29F65-9E20-4B23-B33A-3EE7977B8C9F}" type="presOf" srcId="{6C9C8D6C-34E9-4C0C-BCBD-DFB9CDC55631}" destId="{DEEF388A-0A0E-4C93-AF3E-70FF1B41590B}" srcOrd="0" destOrd="0" presId="urn:microsoft.com/office/officeart/2005/8/layout/cycle2"/>
    <dgm:cxn modelId="{5545FB24-FB31-41F2-BB6D-ECC8AF8D9F7F}" type="presOf" srcId="{ACC9FE0A-FD41-47FD-A639-30E1D7390D3C}" destId="{F38FA08F-FE08-42BB-8EE8-5C1C65DF85EB}" srcOrd="1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C08AC52B-5593-4C08-8226-CC9F723901B2}" type="presOf" srcId="{D6F595D2-470C-401C-A533-3E80B84244AA}" destId="{E7314FF0-C3D4-4067-9A96-DAE7F230A6B3}" srcOrd="0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589A9093-956C-4DD3-94FA-2DC7DF8DFB1B}" type="presOf" srcId="{2D59D820-0CB4-4E1F-92BB-95FFDD082F73}" destId="{225F2983-0321-4A3D-86C7-7E3CCDC569BC}" srcOrd="0" destOrd="0" presId="urn:microsoft.com/office/officeart/2005/8/layout/cycle2"/>
    <dgm:cxn modelId="{36E5634F-F499-498F-9D77-8F6C0E81E9F3}" type="presOf" srcId="{73A865D5-5B91-4B22-BA06-C26D9BCB2EE5}" destId="{C25E6119-54FA-4530-870F-778E283C0BD5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47A3D9E3-4AEE-4AF2-9640-F5A38E8FF48C}" type="presOf" srcId="{723CC3D7-5D8F-4BE3-AE6D-CE228595E268}" destId="{C3DD57C0-4A46-47E8-A3EB-683924E5F05E}" srcOrd="0" destOrd="0" presId="urn:microsoft.com/office/officeart/2005/8/layout/cycle2"/>
    <dgm:cxn modelId="{9322BB9F-6DF7-431C-83ED-9EA3F3C4966F}" type="presOf" srcId="{ACC9FE0A-FD41-47FD-A639-30E1D7390D3C}" destId="{3D2113D7-D3E7-4CB9-BC98-536F54DAF21C}" srcOrd="0" destOrd="0" presId="urn:microsoft.com/office/officeart/2005/8/layout/cycle2"/>
    <dgm:cxn modelId="{E9F25458-8F06-4051-9893-07DA5C82F131}" type="presOf" srcId="{55E28E46-380A-467B-AE34-589B0252C611}" destId="{3B18EA10-55B7-4FA2-B1AF-880978BD726E}" srcOrd="0" destOrd="0" presId="urn:microsoft.com/office/officeart/2005/8/layout/cycle2"/>
    <dgm:cxn modelId="{34D69A7B-14D3-450D-AFD2-D51B05D9D658}" type="presOf" srcId="{D6F595D2-470C-401C-A533-3E80B84244AA}" destId="{07AFC6E7-B973-46CA-8BED-AD11916A26C6}" srcOrd="1" destOrd="0" presId="urn:microsoft.com/office/officeart/2005/8/layout/cycle2"/>
    <dgm:cxn modelId="{78D0E338-D31D-4CD9-8F28-6E60FFCA1C12}" type="presOf" srcId="{6C0CCD30-116E-48B1-9F0C-6D8A7EE2F2A8}" destId="{A7C42B21-429E-4C68-A376-78D2C78D89EA}" srcOrd="0" destOrd="0" presId="urn:microsoft.com/office/officeart/2005/8/layout/cycle2"/>
    <dgm:cxn modelId="{97A48963-1898-45E7-B00D-EEAD71FF2916}" type="presParOf" srcId="{DEEF388A-0A0E-4C93-AF3E-70FF1B41590B}" destId="{C6CB6EE8-F817-48B1-A2A4-7074F5E20ADC}" srcOrd="0" destOrd="0" presId="urn:microsoft.com/office/officeart/2005/8/layout/cycle2"/>
    <dgm:cxn modelId="{1B2545E6-D5DB-48DB-BCB8-12AF57918054}" type="presParOf" srcId="{DEEF388A-0A0E-4C93-AF3E-70FF1B41590B}" destId="{E7314FF0-C3D4-4067-9A96-DAE7F230A6B3}" srcOrd="1" destOrd="0" presId="urn:microsoft.com/office/officeart/2005/8/layout/cycle2"/>
    <dgm:cxn modelId="{D95387BB-75CD-46CF-AEFB-AEFF9B16293D}" type="presParOf" srcId="{E7314FF0-C3D4-4067-9A96-DAE7F230A6B3}" destId="{07AFC6E7-B973-46CA-8BED-AD11916A26C6}" srcOrd="0" destOrd="0" presId="urn:microsoft.com/office/officeart/2005/8/layout/cycle2"/>
    <dgm:cxn modelId="{D7F2C596-8E86-463A-996C-C2538106AD95}" type="presParOf" srcId="{DEEF388A-0A0E-4C93-AF3E-70FF1B41590B}" destId="{0BB1AB6A-657E-4BE7-B826-04310CB87FD6}" srcOrd="2" destOrd="0" presId="urn:microsoft.com/office/officeart/2005/8/layout/cycle2"/>
    <dgm:cxn modelId="{1A6D09A5-A9F2-49B5-BE40-E45755F8628B}" type="presParOf" srcId="{DEEF388A-0A0E-4C93-AF3E-70FF1B41590B}" destId="{3D2113D7-D3E7-4CB9-BC98-536F54DAF21C}" srcOrd="3" destOrd="0" presId="urn:microsoft.com/office/officeart/2005/8/layout/cycle2"/>
    <dgm:cxn modelId="{0C8382DA-A5E3-46C8-9AFA-BAB7962A1725}" type="presParOf" srcId="{3D2113D7-D3E7-4CB9-BC98-536F54DAF21C}" destId="{F38FA08F-FE08-42BB-8EE8-5C1C65DF85EB}" srcOrd="0" destOrd="0" presId="urn:microsoft.com/office/officeart/2005/8/layout/cycle2"/>
    <dgm:cxn modelId="{4B0BB361-6095-49D8-83EB-B21E3447F3C4}" type="presParOf" srcId="{DEEF388A-0A0E-4C93-AF3E-70FF1B41590B}" destId="{A7C42B21-429E-4C68-A376-78D2C78D89EA}" srcOrd="4" destOrd="0" presId="urn:microsoft.com/office/officeart/2005/8/layout/cycle2"/>
    <dgm:cxn modelId="{5708D611-4079-4E55-ABB7-3E168B13E909}" type="presParOf" srcId="{DEEF388A-0A0E-4C93-AF3E-70FF1B41590B}" destId="{3B18EA10-55B7-4FA2-B1AF-880978BD726E}" srcOrd="5" destOrd="0" presId="urn:microsoft.com/office/officeart/2005/8/layout/cycle2"/>
    <dgm:cxn modelId="{AC1037CF-9924-45AE-A41E-CE030CF5926B}" type="presParOf" srcId="{3B18EA10-55B7-4FA2-B1AF-880978BD726E}" destId="{A2460FAC-F0F1-4820-B573-16079F413D80}" srcOrd="0" destOrd="0" presId="urn:microsoft.com/office/officeart/2005/8/layout/cycle2"/>
    <dgm:cxn modelId="{BBB69424-5D7D-445E-8396-E496273BC0B3}" type="presParOf" srcId="{DEEF388A-0A0E-4C93-AF3E-70FF1B41590B}" destId="{225F2983-0321-4A3D-86C7-7E3CCDC569BC}" srcOrd="6" destOrd="0" presId="urn:microsoft.com/office/officeart/2005/8/layout/cycle2"/>
    <dgm:cxn modelId="{4D974A35-ACB3-42E7-8C81-98661BFAB265}" type="presParOf" srcId="{DEEF388A-0A0E-4C93-AF3E-70FF1B41590B}" destId="{A7D0551F-936B-4658-B33F-A836AF1BBB65}" srcOrd="7" destOrd="0" presId="urn:microsoft.com/office/officeart/2005/8/layout/cycle2"/>
    <dgm:cxn modelId="{51A7194C-6626-437E-B528-280BBB4AEA8A}" type="presParOf" srcId="{A7D0551F-936B-4658-B33F-A836AF1BBB65}" destId="{DBEDE08A-D6E8-4108-896E-C113DB47C979}" srcOrd="0" destOrd="0" presId="urn:microsoft.com/office/officeart/2005/8/layout/cycle2"/>
    <dgm:cxn modelId="{FC5D6B62-6C45-48D1-85A9-88AF58BA7689}" type="presParOf" srcId="{DEEF388A-0A0E-4C93-AF3E-70FF1B41590B}" destId="{C3DD57C0-4A46-47E8-A3EB-683924E5F05E}" srcOrd="8" destOrd="0" presId="urn:microsoft.com/office/officeart/2005/8/layout/cycle2"/>
    <dgm:cxn modelId="{1CE98EDB-5ACF-4CB7-A873-A281F4887595}" type="presParOf" srcId="{DEEF388A-0A0E-4C93-AF3E-70FF1B41590B}" destId="{C25E6119-54FA-4530-870F-778E283C0BD5}" srcOrd="9" destOrd="0" presId="urn:microsoft.com/office/officeart/2005/8/layout/cycle2"/>
    <dgm:cxn modelId="{84C7601A-2D2F-4729-9F10-06FFDD35836D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Priorities</a:t>
          </a:r>
          <a:endParaRPr lang="en-US" sz="1800" b="1" kern="1200" dirty="0"/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Resources</a:t>
          </a:r>
          <a:endParaRPr lang="en-US" sz="800" b="1" kern="1200" dirty="0"/>
        </a:p>
      </dsp:txBody>
      <dsp:txXfrm>
        <a:off x="1409318" y="1459560"/>
        <a:ext cx="771525" cy="771525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Ideas</a:t>
          </a:r>
          <a:endParaRPr lang="en-US" sz="800" b="1" kern="1200" dirty="0"/>
        </a:p>
      </dsp:txBody>
      <dsp:txXfrm>
        <a:off x="857249" y="880745"/>
        <a:ext cx="771525" cy="771525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Technology</a:t>
          </a:r>
          <a:endParaRPr lang="en-US" sz="800" b="1" kern="1200" dirty="0"/>
        </a:p>
      </dsp:txBody>
      <dsp:txXfrm>
        <a:off x="1645920" y="694207"/>
        <a:ext cx="771525" cy="771525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457210" y="0"/>
          <a:ext cx="3562350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14201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Development</a:t>
          </a:r>
          <a:endParaRPr lang="en-US" sz="1300" kern="1200" dirty="0"/>
        </a:p>
      </dsp:txBody>
      <dsp:txXfrm>
        <a:off x="142019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5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Transitioning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Portfolio</a:t>
          </a:r>
          <a:endParaRPr lang="en-US" sz="1300" kern="1200" dirty="0"/>
        </a:p>
      </dsp:txBody>
      <dsp:txXfrm>
        <a:off x="1466850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79168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Execution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Thru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Value Release</a:t>
          </a:r>
          <a:endParaRPr lang="en-US" sz="1300" kern="1200" dirty="0"/>
        </a:p>
      </dsp:txBody>
      <dsp:txXfrm>
        <a:off x="2791680" y="701040"/>
        <a:ext cx="1257300" cy="93472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7817A9-C4DE-49BF-8C1D-4124E047DFB9}">
      <dsp:nvSpPr>
        <dsp:cNvPr id="0" name=""/>
        <dsp:cNvSpPr/>
      </dsp:nvSpPr>
      <dsp:spPr>
        <a:xfrm>
          <a:off x="530859" y="0"/>
          <a:ext cx="4775200" cy="47752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970AC9-46C8-4548-96E5-DA10D684460C}">
      <dsp:nvSpPr>
        <dsp:cNvPr id="0" name=""/>
        <dsp:cNvSpPr/>
      </dsp:nvSpPr>
      <dsp:spPr>
        <a:xfrm>
          <a:off x="2918459" y="480084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Patients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kern="1200" dirty="0"/>
        </a:p>
      </dsp:txBody>
      <dsp:txXfrm>
        <a:off x="2918459" y="480084"/>
        <a:ext cx="3103880" cy="1130379"/>
      </dsp:txXfrm>
    </dsp:sp>
    <dsp:sp modelId="{4BA2D08E-3F37-4C9B-AF1A-AF070EDB1AF8}">
      <dsp:nvSpPr>
        <dsp:cNvPr id="0" name=""/>
        <dsp:cNvSpPr/>
      </dsp:nvSpPr>
      <dsp:spPr>
        <a:xfrm>
          <a:off x="2918459" y="1751761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Practitioners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(Physicians, Nurses, Caretakers)</a:t>
          </a:r>
        </a:p>
      </dsp:txBody>
      <dsp:txXfrm>
        <a:off x="2918459" y="1751761"/>
        <a:ext cx="3103880" cy="1130379"/>
      </dsp:txXfrm>
    </dsp:sp>
    <dsp:sp modelId="{14F6B660-5636-4F93-AFFF-4992B4D5718E}">
      <dsp:nvSpPr>
        <dsp:cNvPr id="0" name=""/>
        <dsp:cNvSpPr/>
      </dsp:nvSpPr>
      <dsp:spPr>
        <a:xfrm>
          <a:off x="2918459" y="3023438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Providers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b="1" kern="1200" dirty="0" smtClean="0"/>
        </a:p>
      </dsp:txBody>
      <dsp:txXfrm>
        <a:off x="2918459" y="3023438"/>
        <a:ext cx="3103880" cy="113037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Open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Innovation</a:t>
          </a:r>
        </a:p>
      </dsp:txBody>
      <dsp:txXfrm>
        <a:off x="2057396" y="0"/>
        <a:ext cx="1188950" cy="1188950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2144603">
        <a:off x="3212635" y="913462"/>
        <a:ext cx="322428" cy="401270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Centrally Managed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IP</a:t>
          </a:r>
          <a:endParaRPr lang="en-US" sz="1100" b="1" kern="1200" dirty="0"/>
        </a:p>
      </dsp:txBody>
      <dsp:txXfrm>
        <a:off x="3516165" y="1049907"/>
        <a:ext cx="1188950" cy="1188950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6480000">
        <a:off x="3679885" y="2283802"/>
        <a:ext cx="315608" cy="401270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Shared Revenue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Model</a:t>
          </a:r>
          <a:endParaRPr lang="en-US" sz="1100" b="1" kern="1200" dirty="0"/>
        </a:p>
      </dsp:txBody>
      <dsp:txXfrm>
        <a:off x="2964743" y="2747008"/>
        <a:ext cx="1188950" cy="1188950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0800000">
        <a:off x="2518128" y="3140848"/>
        <a:ext cx="315608" cy="401270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Results Driven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Prioritization</a:t>
          </a:r>
          <a:endParaRPr lang="en-US" sz="1100" b="1" kern="1200" dirty="0"/>
        </a:p>
      </dsp:txBody>
      <dsp:txXfrm>
        <a:off x="1180305" y="2747008"/>
        <a:ext cx="1188950" cy="1188950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5120000">
        <a:off x="1344026" y="2300792"/>
        <a:ext cx="315608" cy="401270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Collaborative</a:t>
          </a:r>
          <a:endParaRPr lang="en-US" sz="1100" b="1" kern="1200" dirty="0"/>
        </a:p>
      </dsp:txBody>
      <dsp:txXfrm>
        <a:off x="628884" y="1049907"/>
        <a:ext cx="1188950" cy="1188950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9421124">
        <a:off x="1775828" y="923980"/>
        <a:ext cx="309460" cy="40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347140-79BA-44C2-966E-3D995EF9B3C7}" type="datetime1">
              <a:rPr lang="en-US"/>
              <a:pPr>
                <a:defRPr/>
              </a:pPr>
              <a:t>10/19/2009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F31CA9-ABA2-45A0-8971-9BA979F5DB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A89CF229-051E-44A0-AED0-AB7D973A544D}" type="datetime1">
              <a:rPr lang="en-US"/>
              <a:pPr>
                <a:defRPr/>
              </a:pPr>
              <a:t>10/19/2009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FD0D5BCA-53DE-40D7-88FF-9A853F2B8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7E5C65-64F1-4049-AE92-FA2E53E14397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4896CF4-488A-41FE-89EE-F12C6274F5C9}" type="slidenum">
              <a:rPr lang="en-US" smtClean="0">
                <a:latin typeface="Calibri" pitchFamily="34" charset="0"/>
              </a:rPr>
              <a:pPr/>
              <a:t>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7A9113F-2F94-4594-BE53-337EE24E764A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31FE449-512E-446D-9FD2-0937C4AF98E5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78294C3-0A58-4253-894B-84789C8A91FB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6C6AE83-DC6E-41CB-9D6E-BCC6A3784D8A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986F05-1EDE-4D1C-BE16-1499BFA378C8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33A10DD-286B-47FC-AE97-C31F121AEFFA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BFA7F81-8BB6-4E2A-A012-375F8A5C6CF0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274B0F9-29B1-405B-8DF4-E9653E2A8FE3}" type="slidenum">
              <a:rPr lang="en-US" smtClean="0">
                <a:latin typeface="Calibri" pitchFamily="34" charset="0"/>
              </a:rPr>
              <a:pPr/>
              <a:t>11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D7FFDB9-164D-4235-8459-B61E2F989745}" type="slidenum">
              <a:rPr lang="en-US" smtClean="0">
                <a:latin typeface="Calibri" pitchFamily="34" charset="0"/>
              </a:rPr>
              <a:pPr/>
              <a:t>17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61E2EEE-8562-4970-B500-589968DAA019}" type="slidenum">
              <a:rPr lang="en-US" smtClean="0">
                <a:latin typeface="Calibri" pitchFamily="34" charset="0"/>
              </a:rPr>
              <a:pPr/>
              <a:t>18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4D4A282-50C0-46DF-A4D0-C794E1A5D468}" type="slidenum">
              <a:rPr lang="en-US" smtClean="0">
                <a:latin typeface="Calibri" pitchFamily="34" charset="0"/>
              </a:rPr>
              <a:pPr/>
              <a:t>19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0A0881B-C403-431D-BEFE-6F6156F0EE9C}" type="slidenum">
              <a:rPr lang="en-US" smtClean="0">
                <a:latin typeface="Calibri" pitchFamily="34" charset="0"/>
              </a:rPr>
              <a:pPr/>
              <a:t>20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9CB1830-A8E4-40C0-BCC3-CB6A30D734DB}" type="slidenum">
              <a:rPr lang="en-US" smtClean="0">
                <a:latin typeface="Calibri" pitchFamily="34" charset="0"/>
              </a:rPr>
              <a:pPr/>
              <a:t>21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BD51345-3BD7-44D8-9581-3330624B3138}" type="slidenum">
              <a:rPr lang="en-US" smtClean="0">
                <a:latin typeface="Calibri" pitchFamily="34" charset="0"/>
              </a:rPr>
              <a:pPr/>
              <a:t>22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974811F-251F-4444-A5F3-4039B4129D8E}" type="slidenum">
              <a:rPr lang="en-US" smtClean="0">
                <a:latin typeface="Calibri" pitchFamily="34" charset="0"/>
              </a:rPr>
              <a:pPr/>
              <a:t>23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84BA7CE-B9F0-4651-BF41-14A79197EE6A}" type="slidenum">
              <a:rPr lang="en-US" smtClean="0">
                <a:latin typeface="Calibri" pitchFamily="34" charset="0"/>
              </a:rPr>
              <a:pPr/>
              <a:t>24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836614-4DBA-42B0-9DFB-6814ED9AA4B1}" type="slidenum">
              <a:rPr lang="en-US" smtClean="0">
                <a:latin typeface="Calibri" pitchFamily="34" charset="0"/>
              </a:rPr>
              <a:pPr/>
              <a:t>25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5FFF89-C41C-48AE-B365-F379EE202F81}" type="slidenum">
              <a:rPr lang="en-US" smtClean="0">
                <a:latin typeface="Calibri" pitchFamily="34" charset="0"/>
              </a:rPr>
              <a:pPr/>
              <a:t>26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43E9E66-DE55-469C-BF94-31E7B008C2AF}" type="slidenum">
              <a:rPr lang="en-US" smtClean="0">
                <a:latin typeface="Calibri" pitchFamily="34" charset="0"/>
              </a:rPr>
              <a:pPr/>
              <a:t>27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DF5B4E5-F26D-41E2-B832-7E86140F3804}" type="slidenum">
              <a:rPr lang="en-US" smtClean="0">
                <a:latin typeface="Calibri" pitchFamily="34" charset="0"/>
              </a:rPr>
              <a:pPr/>
              <a:t>28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63683C-D983-4395-8A30-257DB34E8B42}" type="slidenum">
              <a:rPr lang="en-US" smtClean="0">
                <a:latin typeface="Calibri" pitchFamily="34" charset="0"/>
              </a:rPr>
              <a:pPr/>
              <a:t>29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43F6C93-7BD2-4622-84C2-920EAF47F360}" type="slidenum">
              <a:rPr lang="en-US" smtClean="0">
                <a:latin typeface="Calibri" pitchFamily="34" charset="0"/>
              </a:rPr>
              <a:pPr/>
              <a:t>30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1AF67C-D2CD-4594-AF10-4A5A19833DD6}" type="slidenum">
              <a:rPr lang="en-US" smtClean="0">
                <a:latin typeface="Calibri" pitchFamily="34" charset="0"/>
              </a:rPr>
              <a:pPr/>
              <a:t>31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533C093-98A2-497E-A32A-7228F825A0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619C600-E42E-42B5-8C11-E2681EF9B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5333FBA-B604-4A19-AF4C-FE5CE305D4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C3AFA8F-E374-424E-8897-63D82F048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31ACDC2-793E-49E7-A07E-490389CA9D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5EF8F8A-121D-478D-8DC8-40D20FA2F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FD2E986-2655-48CA-9C2D-1CAD5AAAFF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B89C67D-C690-42E0-B8FE-C50BF455C9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7D3935B-5676-4021-B1C1-BB1D149F3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A651EE9-E5B5-4D0A-9A98-E24B486F2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 smtClean="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79560137-D3E2-4CFA-89E1-5A9B0FC26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828800"/>
            <a:ext cx="65532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Value-Driven </a:t>
            </a:r>
            <a:r>
              <a:rPr lang="en-US" b="1" dirty="0" smtClean="0">
                <a:ea typeface="ＭＳ Ｐゴシック" pitchFamily="34" charset="-128"/>
              </a:rPr>
              <a:t/>
            </a:r>
            <a:br>
              <a:rPr lang="en-US" b="1" dirty="0" smtClean="0">
                <a:ea typeface="ＭＳ Ｐゴシック" pitchFamily="34" charset="-128"/>
              </a:rPr>
            </a:br>
            <a:r>
              <a:rPr lang="en-US" b="1" dirty="0" smtClean="0">
                <a:ea typeface="ＭＳ Ｐゴシック" pitchFamily="34" charset="-128"/>
              </a:rPr>
              <a:t>Model for Healthcare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50292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eorgia" pitchFamily="18" charset="0"/>
              </a:rPr>
              <a:t>Where Value is Measured in the eyes of the patient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Georgia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4191000"/>
            <a:ext cx="2286000" cy="206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3276600"/>
            <a:ext cx="341947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Outline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Challenges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Opportunities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Needs of the providers, practitioners, and patients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Measuring </a:t>
            </a:r>
            <a:r>
              <a:rPr lang="en-US" sz="2400" dirty="0" smtClean="0">
                <a:ea typeface="ＭＳ Ｐゴシック" pitchFamily="34" charset="-128"/>
              </a:rPr>
              <a:t>Value to Get Results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Enabling Value-Driven Healthcare</a:t>
            </a:r>
            <a:endParaRPr lang="en-US" sz="2400" dirty="0" smtClean="0">
              <a:ea typeface="ＭＳ Ｐゴシック" pitchFamily="34" charset="-128"/>
            </a:endParaRP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Engaging providers, practitioners, and patients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Towards </a:t>
            </a:r>
            <a:r>
              <a:rPr lang="en-US" sz="2400" dirty="0" smtClean="0">
                <a:ea typeface="ＭＳ Ｐゴシック" pitchFamily="34" charset="-128"/>
              </a:rPr>
              <a:t>a Collaborative Healthcare Model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Evolving the current business </a:t>
            </a:r>
            <a:r>
              <a:rPr lang="en-US" sz="2400" dirty="0" smtClean="0">
                <a:ea typeface="ＭＳ Ｐゴシック" pitchFamily="34" charset="-128"/>
              </a:rPr>
              <a:t>model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990600" y="41910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Current Challenges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Escalating costs.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Fragmented funding models.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Reimbursement tied to results NOT value.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More difficult than ever to drive innovation &amp; change. 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Healthcare is fractionalized across the continuum of care.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The government is trying to lead healthcare reform.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Practitioners worry about quality, timeliness, and effort of care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Patients worry about quality of care, loss of control, and cost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Providers worry about loss of control and revenue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F18AE9-87B7-41A0-90B5-F6919EB11277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Opportunities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Hospitals can drive healthcare reform through the experiences they </a:t>
            </a:r>
            <a:r>
              <a:rPr lang="en-US" sz="2400" dirty="0" smtClean="0">
                <a:ea typeface="ＭＳ Ｐゴシック" pitchFamily="34" charset="-128"/>
              </a:rPr>
              <a:t>deliver (one patient at a time).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for unifying </a:t>
            </a:r>
            <a:r>
              <a:rPr lang="en-US" sz="2400" dirty="0" smtClean="0">
                <a:ea typeface="ＭＳ Ｐゴシック" pitchFamily="34" charset="-128"/>
              </a:rPr>
              <a:t>the departments across the hospital  </a:t>
            </a:r>
            <a:r>
              <a:rPr lang="en-US" sz="2400" dirty="0" smtClean="0">
                <a:ea typeface="ＭＳ Ｐゴシック" pitchFamily="34" charset="-128"/>
              </a:rPr>
              <a:t>to provide guidance and direction for </a:t>
            </a:r>
            <a:r>
              <a:rPr lang="en-US" sz="2400" dirty="0" smtClean="0">
                <a:ea typeface="ＭＳ Ｐゴシック" pitchFamily="34" charset="-128"/>
              </a:rPr>
              <a:t>change. 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to encourage collaboration and cooperation to solve the healthcare needs </a:t>
            </a:r>
            <a:r>
              <a:rPr lang="en-US" sz="2400" dirty="0" smtClean="0">
                <a:ea typeface="ＭＳ Ｐゴシック" pitchFamily="34" charset="-128"/>
              </a:rPr>
              <a:t>across the continuum of care (w/in &amp; w/out the hospital).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to create </a:t>
            </a:r>
            <a:r>
              <a:rPr lang="en-US" sz="2400" dirty="0" smtClean="0">
                <a:ea typeface="ＭＳ Ｐゴシック" pitchFamily="34" charset="-128"/>
              </a:rPr>
              <a:t>a holistic system </a:t>
            </a:r>
            <a:r>
              <a:rPr lang="en-US" sz="2400" dirty="0" smtClean="0">
                <a:ea typeface="ＭＳ Ｐゴシック" pitchFamily="34" charset="-128"/>
              </a:rPr>
              <a:t>of healthcare guided by consistent value-driven metrics (outcomes</a:t>
            </a:r>
            <a:r>
              <a:rPr lang="en-US" sz="2400" dirty="0" smtClean="0">
                <a:ea typeface="ＭＳ Ｐゴシック" pitchFamily="34" charset="-128"/>
              </a:rPr>
              <a:t>) to measure &amp; ensure consistency, quality, and efficiency.</a:t>
            </a:r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E199AC-4B39-46FF-BBB4-9FF13CE7AF8A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functional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emotional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28BC0F-7FCC-4C0D-B59A-1ECE33374A11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smtClean="0">
                <a:ea typeface="ＭＳ Ｐゴシック" pitchFamily="34" charset="-128"/>
              </a:rPr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FABA20-1920-4BCB-B908-34E946FA2692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sz="240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smtClean="0">
                <a:ea typeface="ＭＳ Ｐゴシック" pitchFamily="34" charset="-128"/>
              </a:rPr>
              <a:t>To understand how to identify, measure and deliver value throughout the healthcare value network.</a:t>
            </a:r>
          </a:p>
          <a:p>
            <a:r>
              <a:rPr lang="en-US" sz="2400" smtClean="0">
                <a:ea typeface="ＭＳ Ｐゴシック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CF806-9896-4191-878C-38E7A74B3923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Opportunity to enable Value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Innovate current business model to address the needs of the patients, practitioners, and the providers (3Ps).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Use a disciplined process to capture and assess the needs of the 3Ps in a quantifiable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Provide a centralized repository of unbiased needs of the 3Ps to identify opportunities for measuring &amp; creating value in </a:t>
            </a:r>
            <a:r>
              <a:rPr lang="en-US" sz="2400" dirty="0" smtClean="0">
                <a:ea typeface="ＭＳ Ｐゴシック" pitchFamily="34" charset="-128"/>
              </a:rPr>
              <a:t>the healthcare  system.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Guide </a:t>
            </a:r>
            <a:r>
              <a:rPr lang="en-US" sz="2400" dirty="0" smtClean="0">
                <a:ea typeface="ＭＳ Ｐゴシック" pitchFamily="34" charset="-128"/>
              </a:rPr>
              <a:t>(and possibly drive) innovation in healthcare to create new value, while reducing the overall costs for the 3Ps.</a:t>
            </a:r>
          </a:p>
          <a:p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A2FC3F-F860-419C-888D-47746C067A7D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Creating a Platform for Enabling Value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Defining &amp; delivering the prescription for healthcare reform should come from within healthcare (not the government).</a:t>
            </a:r>
          </a:p>
          <a:p>
            <a:r>
              <a:rPr lang="en-US" sz="2400" dirty="0" smtClean="0">
                <a:ea typeface="ＭＳ Ｐゴシック" pitchFamily="34" charset="-128"/>
              </a:rPr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Providing the practitioners with a consistent set of benchmarks for measuring the value they deliver to patients.</a:t>
            </a:r>
          </a:p>
          <a:p>
            <a:r>
              <a:rPr lang="en-US" sz="2400" dirty="0" smtClean="0">
                <a:ea typeface="ＭＳ Ｐゴシック" pitchFamily="34" charset="-128"/>
              </a:rPr>
              <a:t>Driving open innovation among providers to create a more efficient process for guiding and creating value.</a:t>
            </a:r>
          </a:p>
          <a:p>
            <a:r>
              <a:rPr lang="en-US" sz="2400" dirty="0" smtClean="0">
                <a:ea typeface="ＭＳ Ｐゴシック" pitchFamily="34" charset="-128"/>
              </a:rPr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4D0B7A-FA34-4285-B95E-08643A61BC2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smtClean="0">
                <a:ea typeface="ＭＳ Ｐゴシック" pitchFamily="34" charset="-128"/>
              </a:rPr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5AE87B-C7CD-4CE0-BD71-356332624545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Federated Portfolio of  Jobs &amp; Outcomes</a:t>
            </a:r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Value Measurement Platform for Healthcare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8" name="Flowchart: Magnetic Disk 7"/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Jobs</a:t>
            </a:r>
          </a:p>
        </p:txBody>
      </p:sp>
      <p:sp>
        <p:nvSpPr>
          <p:cNvPr id="10" name="Flowchart: Process 9"/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Domains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Prevention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Diagnostics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Treatment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Maintenance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1" name="Down Arrow 20"/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543" name="TextBox 22"/>
          <p:cNvSpPr txBox="1">
            <a:spLocks noChangeArrowheads="1"/>
          </p:cNvSpPr>
          <p:nvPr/>
        </p:nvSpPr>
        <p:spPr bwMode="auto">
          <a:xfrm>
            <a:off x="3124200" y="3276600"/>
            <a:ext cx="2590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b="1"/>
              <a:t>(Patients &amp; Practitioners)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Value is measured through Outcomes =&gt; Outcomes are used to enable value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D7CAB2-5D3D-4698-A39C-10854640785E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focus is on Results-Driven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Laboratories</a:t>
            </a:r>
          </a:p>
          <a:p>
            <a:pPr lvl="1"/>
            <a:r>
              <a:rPr lang="en-US" sz="2000" dirty="0" smtClean="0"/>
              <a:t>Reducing Turn Around Times and Errors</a:t>
            </a:r>
          </a:p>
          <a:p>
            <a:r>
              <a:rPr lang="en-US" sz="2400" dirty="0" smtClean="0"/>
              <a:t>Emergency Departments</a:t>
            </a:r>
          </a:p>
          <a:p>
            <a:pPr lvl="1"/>
            <a:r>
              <a:rPr lang="en-US" sz="2000" dirty="0" smtClean="0"/>
              <a:t>Reducing diversions, improving flow</a:t>
            </a:r>
          </a:p>
          <a:p>
            <a:r>
              <a:rPr lang="en-US" sz="2400" dirty="0" smtClean="0"/>
              <a:t>Outpatient Cancer Treatment</a:t>
            </a:r>
          </a:p>
          <a:p>
            <a:pPr lvl="1"/>
            <a:r>
              <a:rPr lang="en-US" sz="2000" dirty="0" smtClean="0"/>
              <a:t>Reducing patient delays, increasing capacity</a:t>
            </a:r>
          </a:p>
          <a:p>
            <a:r>
              <a:rPr lang="en-US" sz="2400" dirty="0" smtClean="0"/>
              <a:t>Operating Rooms</a:t>
            </a:r>
          </a:p>
          <a:p>
            <a:pPr lvl="1"/>
            <a:r>
              <a:rPr lang="en-US" sz="2000" dirty="0" smtClean="0"/>
              <a:t>Reducing changeover times, increasing utilization</a:t>
            </a:r>
          </a:p>
          <a:p>
            <a:r>
              <a:rPr lang="en-US" sz="2400" dirty="0" smtClean="0"/>
              <a:t>Pharmacies</a:t>
            </a:r>
          </a:p>
          <a:p>
            <a:pPr lvl="1"/>
            <a:r>
              <a:rPr lang="en-US" sz="2000" dirty="0" smtClean="0"/>
              <a:t>Reducing errors, improving response</a:t>
            </a:r>
          </a:p>
          <a:p>
            <a:r>
              <a:rPr lang="en-US" sz="2400" dirty="0" smtClean="0"/>
              <a:t>Food Service</a:t>
            </a:r>
          </a:p>
          <a:p>
            <a:pPr lvl="1"/>
            <a:r>
              <a:rPr lang="en-US" sz="2000" dirty="0" smtClean="0"/>
              <a:t>Reducing wasted food, improving quality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Desired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97000"/>
          <a:ext cx="8305800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5943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Desired Outcome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Defects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the wrong label is placed on a patient’s fluid sample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Overproduction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blood is drawn from patients when they are sleeping (i.e. during 4am shifts)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time required to retrieve inventory.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number of handoffs between staff for inventory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number of handoffs between staff for information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Desired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8001000" y="2057400"/>
            <a:ext cx="5621338" cy="4235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6350" algn="l" eaLnBrk="1" hangingPunct="1">
              <a:spcBef>
                <a:spcPct val="40000"/>
              </a:spcBef>
            </a:pPr>
            <a:endParaRPr lang="en-US" sz="2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97000"/>
          <a:ext cx="8305800" cy="45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5943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Desired Outcome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Efficiency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time required to fill a centrifuge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Inventory Mgmt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supply on hand for inventory (i.e. 50 weeks of supply)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distance a </a:t>
                      </a:r>
                      <a:r>
                        <a:rPr lang="en-US" sz="2000" i="0" dirty="0" err="1" smtClean="0"/>
                        <a:t>pharma</a:t>
                      </a:r>
                      <a:r>
                        <a:rPr lang="en-US" sz="2000" i="0" dirty="0" smtClean="0"/>
                        <a:t> Technician needs to walk to retrieve a printout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Inventory Mgmt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expired inventory is retrieved (i.e. Date/Time stamp is not used)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Human Potential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ideas are not considered when submitted by staff (i.e. Med Techs, RN’s ideas for improvement are often ignored)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from Results-Driven to Value-Driven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228600" y="1371600"/>
            <a:ext cx="3962400" cy="4800600"/>
          </a:xfrm>
          <a:prstGeom prst="rect">
            <a:avLst/>
          </a:prstGeom>
          <a:ln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 eaLnBrk="0" hangingPunct="0">
              <a:spcBef>
                <a:spcPct val="20000"/>
              </a:spcBef>
              <a:tabLst>
                <a:tab pos="6003925" algn="l"/>
              </a:tabLst>
            </a:pPr>
            <a:r>
              <a:rPr lang="en-US" sz="2800" dirty="0" smtClean="0">
                <a:solidFill>
                  <a:schemeClr val="tx1"/>
                </a:solidFill>
                <a:ea typeface="ＭＳ Ｐゴシック" pitchFamily="-110" charset="-128"/>
              </a:rPr>
              <a:t>Batch </a:t>
            </a:r>
            <a:r>
              <a:rPr lang="en-US" sz="2800" dirty="0" smtClean="0">
                <a:solidFill>
                  <a:schemeClr val="tx1"/>
                </a:solidFill>
                <a:ea typeface="ＭＳ Ｐゴシック" pitchFamily="-110" charset="-128"/>
              </a:rPr>
              <a:t>Thinking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	</a:t>
            </a:r>
            <a:r>
              <a:rPr kumimoji="0" lang="en-US" sz="2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Utilization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Keep expensive assets heavily utilized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Machines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Doctors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Queue Patients up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Convenience for staff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 bwMode="auto">
          <a:xfrm>
            <a:off x="4495800" y="1371600"/>
            <a:ext cx="4267200" cy="480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r>
              <a:rPr lang="en-US" sz="2800" dirty="0" smtClean="0">
                <a:solidFill>
                  <a:schemeClr val="tx1"/>
                </a:solidFill>
                <a:latin typeface="+mn-lt"/>
                <a:ea typeface="ＭＳ Ｐゴシック" pitchFamily="-110" charset="-128"/>
                <a:cs typeface="+mn-cs"/>
              </a:rPr>
              <a:t>Patient Flow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endParaRPr lang="en-US" sz="2800" dirty="0" smtClean="0">
              <a:solidFill>
                <a:schemeClr val="tx1"/>
              </a:solidFill>
              <a:latin typeface="+mn-lt"/>
              <a:ea typeface="ＭＳ Ｐゴシック" pitchFamily="-110" charset="-128"/>
              <a:cs typeface="+mn-cs"/>
            </a:endParaRPr>
          </a:p>
          <a:p>
            <a:pPr marL="800100" lvl="1" indent="-342900" eaLnBrk="0" hangingPunct="0">
              <a:spcBef>
                <a:spcPct val="20000"/>
              </a:spcBef>
              <a:tabLst>
                <a:tab pos="6003925" algn="l"/>
              </a:tabLst>
            </a:pPr>
            <a:r>
              <a:rPr lang="en-US" sz="2800" u="sng" dirty="0" smtClean="0">
                <a:solidFill>
                  <a:schemeClr val="tx1"/>
                </a:solidFill>
                <a:latin typeface="+mn-lt"/>
                <a:ea typeface="ＭＳ Ｐゴシック" pitchFamily="-110" charset="-128"/>
                <a:cs typeface="+mn-cs"/>
              </a:rPr>
              <a:t>Desired Outcomes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tabLst>
                <a:tab pos="6003925" algn="l"/>
              </a:tabLst>
              <a:defRPr/>
            </a:pPr>
            <a:r>
              <a:rPr lang="en-US" sz="2400" dirty="0" smtClean="0">
                <a:solidFill>
                  <a:schemeClr val="tx1"/>
                </a:solidFill>
                <a:ea typeface="ＭＳ Ｐゴシック" pitchFamily="-110" charset="-128"/>
              </a:rPr>
              <a:t>Minimize the amount of time that patients are left waiting in corridors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tabLst>
                <a:tab pos="6003925" algn="l"/>
              </a:tabLst>
              <a:defRPr/>
            </a:pPr>
            <a:r>
              <a:rPr lang="en-US" sz="2400" dirty="0" smtClean="0">
                <a:solidFill>
                  <a:schemeClr val="tx1"/>
                </a:solidFill>
                <a:ea typeface="ＭＳ Ｐゴシック" pitchFamily="-110" charset="-128"/>
              </a:rPr>
              <a:t>Minimize the likelihood that staff are rushing procedures (i.e. due to batch loading of orders)</a:t>
            </a:r>
            <a:endParaRPr lang="en-US" sz="2000" dirty="0" smtClean="0">
              <a:solidFill>
                <a:schemeClr val="tx1"/>
              </a:solidFill>
              <a:ea typeface="ＭＳ Ｐゴシック" pitchFamily="-110" charset="-128"/>
            </a:endParaRPr>
          </a:p>
          <a:p>
            <a:pPr marL="800100" lvl="1" indent="-342900" eaLnBrk="0" hangingPunct="0">
              <a:spcBef>
                <a:spcPct val="20000"/>
              </a:spcBef>
              <a:tabLst>
                <a:tab pos="6003925" algn="l"/>
              </a:tabLst>
            </a:pPr>
            <a:endParaRPr lang="en-US" sz="2800" u="sng" dirty="0" smtClean="0">
              <a:latin typeface="+mn-lt"/>
              <a:ea typeface="ＭＳ Ｐゴシック" pitchFamily="-110" charset="-128"/>
              <a:cs typeface="+mn-cs"/>
            </a:endParaRPr>
          </a:p>
          <a:p>
            <a:pPr marL="1257300" lvl="2" indent="-342900" eaLnBrk="0" hangingPunct="0">
              <a:spcBef>
                <a:spcPct val="20000"/>
              </a:spcBef>
              <a:tabLst>
                <a:tab pos="6003925" algn="l"/>
              </a:tabLst>
            </a:pPr>
            <a:endParaRPr kumimoji="0" lang="en-US" sz="2000" b="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3733800" y="3581400"/>
            <a:ext cx="1249362" cy="6096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Drive LEAN with Value-Driven Measurement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4860" y="4038600"/>
            <a:ext cx="1452739" cy="2209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609600" y="1373188"/>
            <a:ext cx="8305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Specify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in the eyes of the 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customer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+mj-lt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Identify the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 stream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eliminate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waste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Make value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flow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at the pull of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the customer.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Involve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Empower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employees.</a:t>
            </a:r>
          </a:p>
          <a:p>
            <a:pPr marL="533400" lvl="0" indent="-533400" eaLnBrk="0" hangingPunct="0">
              <a:spcBef>
                <a:spcPct val="20000"/>
              </a:spcBef>
              <a:buClr>
                <a:srgbClr val="001C67"/>
              </a:buClr>
              <a:buFont typeface="Arial" charset="0"/>
              <a:buAutoNum type="arabicPeriod" startAt="2"/>
            </a:pPr>
            <a:r>
              <a:rPr lang="en-US" sz="2400" dirty="0" smtClean="0">
                <a:solidFill>
                  <a:srgbClr val="E12800"/>
                </a:solidFill>
                <a:ea typeface="ＭＳ Ｐゴシック" pitchFamily="-110" charset="-128"/>
              </a:rPr>
              <a:t>Continuously</a:t>
            </a:r>
            <a:r>
              <a:rPr lang="en-US" sz="2400" dirty="0" smtClean="0">
                <a:ea typeface="ＭＳ Ｐゴシック" pitchFamily="-110" charset="-128"/>
              </a:rPr>
              <a:t> improve in the</a:t>
            </a:r>
            <a:r>
              <a:rPr lang="en-US" sz="2400" dirty="0" smtClean="0">
                <a:ea typeface="ＭＳ Ｐゴシック" pitchFamily="-110" charset="-128"/>
              </a:rPr>
              <a:t> </a:t>
            </a:r>
            <a:r>
              <a:rPr lang="en-US" sz="2800" dirty="0" smtClean="0">
                <a:ea typeface="ＭＳ Ｐゴシック" pitchFamily="-110" charset="-128"/>
              </a:rPr>
              <a:t/>
            </a:r>
            <a:br>
              <a:rPr lang="en-US" sz="2800" dirty="0" smtClean="0">
                <a:ea typeface="ＭＳ Ｐゴシック" pitchFamily="-110" charset="-128"/>
              </a:rPr>
            </a:br>
            <a:r>
              <a:rPr lang="en-US" sz="2800" dirty="0" smtClean="0">
                <a:ea typeface="ＭＳ Ｐゴシック" pitchFamily="-110" charset="-128"/>
              </a:rPr>
              <a:t>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pursuit of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perfection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1371600"/>
            <a:ext cx="15430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AutoShape 4"/>
          <p:cNvSpPr>
            <a:spLocks noChangeArrowheads="1"/>
          </p:cNvSpPr>
          <p:nvPr/>
        </p:nvSpPr>
        <p:spPr bwMode="auto">
          <a:xfrm rot="5400000">
            <a:off x="7604919" y="3444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 rot="5400000">
            <a:off x="2651919" y="2301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Measuring Value </a:t>
            </a:r>
            <a:r>
              <a:rPr lang="en-US" dirty="0" smtClean="0">
                <a:ea typeface="ＭＳ Ｐゴシック" pitchFamily="34" charset="-128"/>
              </a:rPr>
              <a:t>in </a:t>
            </a:r>
            <a:r>
              <a:rPr lang="en-US" dirty="0" smtClean="0">
                <a:ea typeface="ＭＳ Ｐゴシック" pitchFamily="34" charset="-128"/>
              </a:rPr>
              <a:t>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value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capturing customer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  <a:r>
              <a:rPr lang="en-US" dirty="0" smtClean="0">
                <a:ea typeface="ＭＳ Ｐゴシック" pitchFamily="34" charset="-128"/>
              </a:rPr>
              <a:t> needs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innovation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The focus is on Patients and Practitioners in the Healthcare Value Network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D071FE-0C5C-4C40-8F9E-461310803699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Value 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Compliance</a:t>
            </a:r>
          </a:p>
          <a:p>
            <a:pPr algn="ctr">
              <a:defRPr/>
            </a:pPr>
            <a:r>
              <a:rPr lang="en-US" b="1" dirty="0"/>
              <a:t>Rules</a:t>
            </a:r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Efficient value delivery for transforming healthcare and driving value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52EE7C-D1BB-4342-8CB2-A7ADE19F3E4F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>
                <a:ea typeface="ＭＳ Ｐゴシック" pitchFamily="34" charset="-128"/>
              </a:rPr>
              <a:t>Build an innovation portfolio to drive value by: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outcomes that can be used by the 3 Ps to measure value.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opportunities (IP)*.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Leveraging open innovation to create a portfolio of ideas to address unmet needs.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Engaging innovators in a collaborative effort to create new products and services to solve the most important needs in healthcare.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Aligning sustainable value delivery within a system of healthcare.</a:t>
            </a:r>
            <a:endParaRPr lang="en-US" smtClean="0">
              <a:ea typeface="ＭＳ Ｐゴシック" pitchFamily="34" charset="-128"/>
            </a:endParaRPr>
          </a:p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68592-426A-4888-8F33-B6BD683468F5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Identifying priorities for healthcare upfront can: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risks for investments in new products and services.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Focus 3</a:t>
            </a:r>
            <a:r>
              <a:rPr lang="en-US" baseline="30000" smtClean="0">
                <a:ea typeface="ＭＳ Ｐゴシック" pitchFamily="34" charset="-128"/>
              </a:rPr>
              <a:t>rd</a:t>
            </a:r>
            <a:r>
              <a:rPr lang="en-US" smtClean="0">
                <a:ea typeface="ＭＳ Ｐゴシック" pitchFamily="34" charset="-128"/>
              </a:rPr>
              <a:t> party resources more efficiently.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costs associated with investment planning.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cycle time for new products &amp; services addressing the most important needs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00C14B-F9EE-4AF8-B5E7-10287E774CB4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Using a managed IP model will: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Encourage open innovation to leverage mindshare across all disciplines to solve the healthcare needs.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Promote collaboration instead of competition for new products &amp; services to: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Bring new efficiencies to research and development.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Reduce the costs and cycle time.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Level the intellectual capital (IC) playing field for all providers and innovators.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711AF4-3D6D-4E49-AA8E-D710619B72F1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practitioners with a consistent set of metrics for measuring value with precision: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realm of healthcare locations (hospitals, clinics, alternate site, and home)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breadth of healthcare practitioners (physicians, nurses, pharmacists, specialists, etc.)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flow of patients and the care they receive across the continuum of healthcare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Provides </a:t>
            </a:r>
            <a:r>
              <a:rPr lang="en-US" dirty="0" smtClean="0">
                <a:ea typeface="ＭＳ Ｐゴシック" pitchFamily="34" charset="-128"/>
              </a:rPr>
              <a:t>hospitals </a:t>
            </a:r>
            <a:r>
              <a:rPr lang="en-US" dirty="0" smtClean="0">
                <a:ea typeface="ＭＳ Ｐゴシック" pitchFamily="34" charset="-128"/>
              </a:rPr>
              <a:t>with a consistent benchmark for evaluating healthcare products and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B04EEB-753D-4E21-8E55-47CF3295635D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patients with a consistent benchmark for selecting products, services, and practitioners to meet their healthcare needs.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consistent outcomes and quality of care from prevention to support (continuum of care) for all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80A846-F1D6-468E-976C-2478B76101D5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229600" cy="4830762"/>
          </a:xfrm>
        </p:spPr>
        <p:txBody>
          <a:bodyPr/>
          <a:lstStyle/>
          <a:p>
            <a:pPr lvl="1">
              <a:buFont typeface="Arial" charset="0"/>
              <a:buNone/>
            </a:pP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The intellectual property (IP) repository will provide the healthcare organization with a unique value proposition to draw additional participants from across the healthcare value network (including patients) to enable value  drive revenue potential.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0DAD16-4E29-4945-ABD4-4B8421011624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Access to the information in the intellectual property (IP) repository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practitioners so they can more efficiently and effectively review and select products and services that can help them meet the patient outcomes.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patients so they can review value-driven measures about providers, practitioners, products and services to make informed choices about their healthcare needs.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A719FD-D417-4ABB-B35B-8AA2282BC2FC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Access to the information in the intellectual property (IP) repository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providers so they can optimize their IC processes to deliver more efficient and effective value to practitioners and patients.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</a:t>
            </a:r>
            <a:r>
              <a:rPr lang="en-US" dirty="0" smtClean="0">
                <a:ea typeface="ＭＳ Ｐゴシック" pitchFamily="34" charset="-128"/>
              </a:rPr>
              <a:t>investors </a:t>
            </a:r>
            <a:r>
              <a:rPr lang="en-US" dirty="0" smtClean="0">
                <a:ea typeface="ＭＳ Ｐゴシック" pitchFamily="34" charset="-128"/>
              </a:rPr>
              <a:t>from private and public sectors who are interested in leveraging information to optimize care for their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F43604A-A4FD-4508-ACF4-9CF942A948B4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7E461B-F34E-465F-A881-C96A75D9CD29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828800" y="1371600"/>
          <a:ext cx="65532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2895600" y="53340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/>
              <a:t>Healthcare Collaborative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deliver value to Patients &amp; Practitioners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Reducing Costs &amp; Driving Value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382000" cy="483076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Today…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Participants in the healthcare value network create value based on their own perceived understanding of customer needs.</a:t>
            </a:r>
          </a:p>
          <a:p>
            <a:r>
              <a:rPr lang="en-US" dirty="0" smtClean="0">
                <a:ea typeface="ＭＳ Ｐゴシック" pitchFamily="34" charset="-128"/>
              </a:rPr>
              <a:t>Tomorrow…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A unified model of healthcare will be able to: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dirty="0" smtClean="0">
                <a:ea typeface="ＭＳ Ｐゴシック" pitchFamily="34" charset="-128"/>
              </a:rPr>
              <a:t>Understand customer needs throughout healthcare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Guide providers to build the right products &amp; services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Deliver value to customers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  <a:r>
              <a:rPr lang="en-US" dirty="0" smtClean="0">
                <a:ea typeface="ＭＳ Ｐゴシック" pitchFamily="34" charset="-128"/>
              </a:rPr>
              <a:t> throughout the healthcare continuum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7E1118-0852-4AC8-91A9-217F90E4AFFC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34821" name="TextBox 4"/>
          <p:cNvSpPr txBox="1">
            <a:spLocks noChangeArrowheads="1"/>
          </p:cNvSpPr>
          <p:nvPr/>
        </p:nvSpPr>
        <p:spPr bwMode="auto">
          <a:xfrm>
            <a:off x="3429000" y="5867400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* Practitioners &amp; Patients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 New Business Model for Creating Value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9050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5845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1752600" cy="3886200"/>
          </a:xfrm>
        </p:spPr>
        <p:txBody>
          <a:bodyPr/>
          <a:lstStyle/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new value creation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Repositioned for leading healthcare change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Relevant to all Providers, Practitioners, and Patients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thought leadership for guiding change and 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239000" y="1752600"/>
            <a:ext cx="1752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Orchestrates a unified value network for delivering efficient, affordable, and accessible healthcare to meet the unmet needs of customers </a:t>
            </a:r>
          </a:p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Ensures value can be measured, improved,  and sustained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8452C3-ACE9-4913-8DB0-E9737BF101E4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38600" y="3200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Value-Driven Model for Healthcare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3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2000" b="1" dirty="0" smtClean="0"/>
                <a:t>Healthcare Collaborative Model</a:t>
              </a:r>
              <a:endParaRPr lang="en-US" sz="2000" b="1" dirty="0"/>
            </a:p>
          </p:txBody>
        </p:sp>
      </p:grpSp>
      <p:grpSp>
        <p:nvGrpSpPr>
          <p:cNvPr id="5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Advocacy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Groups</a:t>
              </a:r>
              <a:endParaRPr lang="en-US" sz="1300" b="1" dirty="0"/>
            </a:p>
          </p:txBody>
        </p:sp>
      </p:grpSp>
      <p:grpSp>
        <p:nvGrpSpPr>
          <p:cNvPr id="8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Disciplines</a:t>
              </a:r>
            </a:p>
          </p:txBody>
        </p:sp>
      </p:grpSp>
      <p:grpSp>
        <p:nvGrpSpPr>
          <p:cNvPr id="11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Providers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(Products &amp; Services)</a:t>
              </a:r>
            </a:p>
          </p:txBody>
        </p:sp>
      </p:grpSp>
      <p:grpSp>
        <p:nvGrpSpPr>
          <p:cNvPr id="14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Institutions</a:t>
              </a:r>
            </a:p>
          </p:txBody>
        </p:sp>
      </p:grpSp>
      <p:grpSp>
        <p:nvGrpSpPr>
          <p:cNvPr id="17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Government Bodies</a:t>
              </a:r>
            </a:p>
          </p:txBody>
        </p:sp>
      </p:grpSp>
      <p:sp>
        <p:nvSpPr>
          <p:cNvPr id="25" name="Pentagon 24"/>
          <p:cNvSpPr/>
          <p:nvPr/>
        </p:nvSpPr>
        <p:spPr>
          <a:xfrm>
            <a:off x="381000" y="5562600"/>
            <a:ext cx="7543800" cy="609600"/>
          </a:xfrm>
          <a:prstGeom prst="homePlate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Driving Innovation</a:t>
            </a:r>
          </a:p>
        </p:txBody>
      </p:sp>
      <p:sp>
        <p:nvSpPr>
          <p:cNvPr id="28" name="Pentagon 27"/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Enabling Value</a:t>
            </a:r>
          </a:p>
        </p:txBody>
      </p:sp>
      <p:sp>
        <p:nvSpPr>
          <p:cNvPr id="36876" name="TextBox 31"/>
          <p:cNvSpPr txBox="1">
            <a:spLocks noChangeArrowheads="1"/>
          </p:cNvSpPr>
          <p:nvPr/>
        </p:nvSpPr>
        <p:spPr bwMode="auto">
          <a:xfrm>
            <a:off x="2133600" y="3581400"/>
            <a:ext cx="4800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68275" indent="-168275">
              <a:buFont typeface="Arial" charset="0"/>
              <a:buChar char="•"/>
            </a:pPr>
            <a:r>
              <a:rPr lang="en-US" b="1" i="1"/>
              <a:t>Advocacy Body for: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enablement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capture &amp; measurement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Collaboration  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Unification &amp; cooperation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Reform &amp; Sustainable Innovation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B566B6-6DF2-461A-B07E-570C7A606BB9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Prepared by 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Jeffrey Wallk (Managing Partner)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Helene </a:t>
            </a:r>
            <a:r>
              <a:rPr lang="en-US" dirty="0" err="1" smtClean="0">
                <a:ea typeface="ＭＳ Ｐゴシック" pitchFamily="34" charset="-128"/>
              </a:rPr>
              <a:t>Sigman</a:t>
            </a:r>
            <a:r>
              <a:rPr lang="en-US" dirty="0" smtClean="0">
                <a:ea typeface="ＭＳ Ｐゴシック" pitchFamily="34" charset="-128"/>
              </a:rPr>
              <a:t> (Principle Consultant</a:t>
            </a:r>
            <a:r>
              <a:rPr lang="en-US" dirty="0" smtClean="0">
                <a:ea typeface="ＭＳ Ｐゴシック" pitchFamily="34" charset="-128"/>
              </a:rPr>
              <a:t>)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P.K. Rastogi, </a:t>
            </a:r>
            <a:r>
              <a:rPr lang="en-US" dirty="0" err="1" smtClean="0">
                <a:ea typeface="ＭＳ Ｐゴシック" pitchFamily="34" charset="-128"/>
              </a:rPr>
              <a:t>Phd</a:t>
            </a:r>
            <a:r>
              <a:rPr lang="en-US" dirty="0" smtClean="0">
                <a:ea typeface="ＭＳ Ｐゴシック" pitchFamily="34" charset="-128"/>
              </a:rPr>
              <a:t> (Strategic Partner)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39EC71-A283-4AC2-9E01-2218A6BF410B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30425"/>
            <a:ext cx="6248400" cy="2365375"/>
          </a:xfrm>
        </p:spPr>
        <p:txBody>
          <a:bodyPr/>
          <a:lstStyle/>
          <a:p>
            <a:pPr algn="l"/>
            <a:r>
              <a:rPr lang="en-US" sz="3200" b="1" i="1" dirty="0" smtClean="0">
                <a:solidFill>
                  <a:schemeClr val="tx2">
                    <a:lumMod val="75000"/>
                  </a:schemeClr>
                </a:solidFill>
              </a:rPr>
              <a:t>Management Consulting firm dedicated to helping clients identify &amp; create sustainable value for their customers &amp; stakeholders.</a:t>
            </a:r>
            <a:endParaRPr lang="en-US" sz="3200" b="1" i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Services</a:t>
            </a:r>
          </a:p>
        </p:txBody>
      </p:sp>
      <p:sp>
        <p:nvSpPr>
          <p:cNvPr id="4" name="AutoShape 71"/>
          <p:cNvSpPr>
            <a:spLocks noChangeArrowheads="1"/>
          </p:cNvSpPr>
          <p:nvPr/>
        </p:nvSpPr>
        <p:spPr bwMode="auto">
          <a:xfrm>
            <a:off x="381000" y="1296988"/>
            <a:ext cx="19812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0070C0"/>
                </a:solidFill>
                <a:cs typeface="Times New Roman" pitchFamily="18" charset="0"/>
              </a:rPr>
              <a:t>Enabling 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Institutionalize Customer Focus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Portfolio Mgmt for Customer Needs, Ideas, &amp; opportunities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into the ideation pipeline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Aligning Value Platforms with Technology Platforms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5" name="AutoShape 71"/>
          <p:cNvSpPr>
            <a:spLocks noChangeArrowheads="1"/>
          </p:cNvSpPr>
          <p:nvPr/>
        </p:nvSpPr>
        <p:spPr bwMode="auto">
          <a:xfrm>
            <a:off x="4572000" y="1296988"/>
            <a:ext cx="1981200" cy="3735387"/>
          </a:xfrm>
          <a:prstGeom prst="flowChartAlternateProcess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A45200"/>
                </a:solidFill>
                <a:cs typeface="Times New Roman" pitchFamily="18" charset="0"/>
              </a:rPr>
              <a:t>Enabling Operational Excellence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Model-driven outcomes (beyond BPM)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Infuse Quality &amp; continuous learning into all processes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Make technology transparent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&amp; productivity thru an outcome focus</a:t>
            </a:r>
          </a:p>
        </p:txBody>
      </p:sp>
      <p:sp>
        <p:nvSpPr>
          <p:cNvPr id="6" name="AutoShape 71"/>
          <p:cNvSpPr>
            <a:spLocks noChangeArrowheads="1"/>
          </p:cNvSpPr>
          <p:nvPr/>
        </p:nvSpPr>
        <p:spPr bwMode="auto">
          <a:xfrm>
            <a:off x="6629400" y="1296988"/>
            <a:ext cx="21336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cs typeface="Times New Roman" pitchFamily="18" charset="0"/>
              </a:rPr>
              <a:t>Enabling Business Models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Profiling risk to create opportunity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Collaboration as a core competency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disruptive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Fail </a:t>
            </a:r>
            <a:r>
              <a:rPr lang="en-US" sz="1400" dirty="0" smtClean="0">
                <a:cs typeface="Times New Roman" pitchFamily="18" charset="0"/>
              </a:rPr>
              <a:t>Fast Forward </a:t>
            </a:r>
            <a:r>
              <a:rPr lang="en-US" sz="1400" dirty="0">
                <a:cs typeface="Times New Roman" pitchFamily="18" charset="0"/>
              </a:rPr>
              <a:t>to achieve growth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Embracing change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for sustainable value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7" name="AutoShape 71"/>
          <p:cNvSpPr>
            <a:spLocks noChangeArrowheads="1"/>
          </p:cNvSpPr>
          <p:nvPr/>
        </p:nvSpPr>
        <p:spPr bwMode="auto">
          <a:xfrm>
            <a:off x="2438400" y="1295400"/>
            <a:ext cx="2057400" cy="3735388"/>
          </a:xfrm>
          <a:prstGeom prst="flowChartAlternateProcess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4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4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7030A0"/>
                </a:solidFill>
                <a:cs typeface="Times New Roman" pitchFamily="18" charset="0"/>
              </a:rPr>
              <a:t>Enabling Adaptation &amp; Agility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 products &amp; services for agility and adaptability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reuse of assets thru holistic portfolio Mgmt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Quality to enable change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Optimize Platforms  Change Mgmt Platform for sustainable value</a:t>
            </a:r>
          </a:p>
        </p:txBody>
      </p:sp>
      <p:sp>
        <p:nvSpPr>
          <p:cNvPr id="8" name="AutoShape 71"/>
          <p:cNvSpPr>
            <a:spLocks noChangeArrowheads="1"/>
          </p:cNvSpPr>
          <p:nvPr/>
        </p:nvSpPr>
        <p:spPr bwMode="auto">
          <a:xfrm>
            <a:off x="381000" y="5106988"/>
            <a:ext cx="8382000" cy="1295400"/>
          </a:xfrm>
          <a:prstGeom prst="flowChartAlternateProcess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2"/>
                </a:solidFill>
                <a:cs typeface="Times New Roman" pitchFamily="18" charset="0"/>
              </a:rPr>
              <a:t>Enabling  Knowledge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data to enhance knowledge capture (explicit &amp; tacit information)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Integrating information and insights to enable knowledge consumption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Designing platforms for sustainable learning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FH AUGSBURG_V3.PPT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BA439A8-4C49-4635-BBC1-7DBC44860E27}" type="slidenum">
              <a:rPr lang="de-DE"/>
              <a:pPr>
                <a:defRPr/>
              </a:pPr>
              <a:t>34</a:t>
            </a:fld>
            <a:endParaRPr lang="de-DE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Expertise</a:t>
            </a: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6172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Technical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31115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Operational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4" name="Rectangle 6"/>
          <p:cNvSpPr>
            <a:spLocks noChangeArrowheads="1"/>
          </p:cNvSpPr>
          <p:nvPr/>
        </p:nvSpPr>
        <p:spPr bwMode="auto">
          <a:xfrm>
            <a:off x="76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Strategic</a:t>
            </a:r>
            <a:endParaRPr lang="en-GB" altLang="en-GB" sz="2400" b="1" dirty="0"/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228600" y="1912938"/>
            <a:ext cx="2590800" cy="14065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Change Management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Strategic Planning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Business Model Innovation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Enterprise Architecture</a:t>
            </a:r>
            <a:endParaRPr lang="en-GB" altLang="en-GB" sz="1400" b="1" dirty="0"/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3278188" y="4648200"/>
            <a:ext cx="2590800" cy="97948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  <a:buClr>
                <a:srgbClr val="0099FF"/>
              </a:buClr>
            </a:pPr>
            <a:r>
              <a:rPr lang="en-GB" altLang="en-GB" sz="1600" b="1" dirty="0" smtClean="0"/>
              <a:t>Quality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600" b="1" dirty="0"/>
              <a:t> </a:t>
            </a:r>
            <a:r>
              <a:rPr lang="en-GB" altLang="en-GB" sz="1400" b="1" dirty="0" smtClean="0"/>
              <a:t>Six Sigma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Lean &amp; Kaizen</a:t>
            </a:r>
            <a:endParaRPr lang="en-GB" altLang="en-GB" sz="1400" b="1" dirty="0"/>
          </a:p>
        </p:txBody>
      </p:sp>
      <p:sp>
        <p:nvSpPr>
          <p:cNvPr id="23563" name="Rectangle 9"/>
          <p:cNvSpPr>
            <a:spLocks noChangeArrowheads="1"/>
          </p:cNvSpPr>
          <p:nvPr/>
        </p:nvSpPr>
        <p:spPr bwMode="auto">
          <a:xfrm>
            <a:off x="6324600" y="3481387"/>
            <a:ext cx="2590800" cy="2005013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Infrastructure Services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Technology Platforms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Alignment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Optimization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Service Level Management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Agile Delivery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Adaptable Design</a:t>
            </a:r>
            <a:endParaRPr lang="en-GB" altLang="en-GB" sz="1400" b="1" dirty="0"/>
          </a:p>
        </p:txBody>
      </p:sp>
      <p:sp>
        <p:nvSpPr>
          <p:cNvPr id="23564" name="Rectangle 10"/>
          <p:cNvSpPr>
            <a:spLocks noChangeArrowheads="1"/>
          </p:cNvSpPr>
          <p:nvPr/>
        </p:nvSpPr>
        <p:spPr bwMode="auto">
          <a:xfrm>
            <a:off x="228600" y="3463925"/>
            <a:ext cx="2590800" cy="20224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92075" indent="-92075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Product Marketing</a:t>
            </a:r>
            <a:endParaRPr lang="en-GB" altLang="en-GB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100" b="1" dirty="0"/>
              <a:t> </a:t>
            </a:r>
            <a:r>
              <a:rPr lang="en-GB" altLang="en-GB" sz="1400" b="1" dirty="0" smtClean="0"/>
              <a:t>Customer Focus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Market Assessment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Value Platforms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Investment Planning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Product Roadmaps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  <a:endParaRPr lang="en-GB" altLang="en-GB" sz="1400" b="1" dirty="0"/>
          </a:p>
        </p:txBody>
      </p:sp>
      <p:sp>
        <p:nvSpPr>
          <p:cNvPr id="23565" name="Rectangle 11"/>
          <p:cNvSpPr>
            <a:spLocks noChangeArrowheads="1"/>
          </p:cNvSpPr>
          <p:nvPr/>
        </p:nvSpPr>
        <p:spPr bwMode="auto">
          <a:xfrm>
            <a:off x="3263900" y="1912938"/>
            <a:ext cx="2590800" cy="8731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/>
              <a:t>Concept Development</a:t>
            </a:r>
            <a:endParaRPr lang="en-GB" altLang="en-GB" sz="16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Driving Innovation</a:t>
            </a:r>
            <a:endParaRPr lang="en-GB" altLang="en-GB" sz="14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Continuous Improvement</a:t>
            </a:r>
            <a:endParaRPr lang="en-GB" altLang="en-GB" sz="1400" b="1" dirty="0"/>
          </a:p>
        </p:txBody>
      </p:sp>
      <p:sp>
        <p:nvSpPr>
          <p:cNvPr id="23566" name="Rectangle 12"/>
          <p:cNvSpPr>
            <a:spLocks noChangeArrowheads="1"/>
          </p:cNvSpPr>
          <p:nvPr/>
        </p:nvSpPr>
        <p:spPr bwMode="auto">
          <a:xfrm>
            <a:off x="3263900" y="2871788"/>
            <a:ext cx="2590800" cy="17002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Portfolio Management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Prioritization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Resource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Product Design - Testing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Execution Management</a:t>
            </a:r>
            <a:endParaRPr lang="en-GB" altLang="en-GB" sz="1400" b="1" dirty="0"/>
          </a:p>
        </p:txBody>
      </p:sp>
      <p:sp>
        <p:nvSpPr>
          <p:cNvPr id="23567" name="Rectangle 13"/>
          <p:cNvSpPr>
            <a:spLocks noChangeArrowheads="1"/>
          </p:cNvSpPr>
          <p:nvPr/>
        </p:nvSpPr>
        <p:spPr bwMode="auto">
          <a:xfrm>
            <a:off x="6324600" y="1912938"/>
            <a:ext cx="2590800" cy="14398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Business Services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Process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Metric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Integration Platforms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Knowledge Management </a:t>
            </a:r>
            <a:endParaRPr lang="en-GB" altLang="en-GB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9933</TotalTime>
  <Words>2207</Words>
  <Application>Microsoft Office PowerPoint</Application>
  <PresentationFormat>On-screen Show (4:3)</PresentationFormat>
  <Paragraphs>396</Paragraphs>
  <Slides>34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VEG</vt:lpstr>
      <vt:lpstr>Value-Driven  Model for Healthcare </vt:lpstr>
      <vt:lpstr>Outline</vt:lpstr>
      <vt:lpstr>Current Challenges</vt:lpstr>
      <vt:lpstr>Opportunities</vt:lpstr>
      <vt:lpstr>Needs of the Patients</vt:lpstr>
      <vt:lpstr>Needs of the Practitioners</vt:lpstr>
      <vt:lpstr>Needs of the Providers</vt:lpstr>
      <vt:lpstr>Opportunity to enable Value</vt:lpstr>
      <vt:lpstr>Creating a Platform for Enabling Value</vt:lpstr>
      <vt:lpstr>Moving from Assumptions to Implementation</vt:lpstr>
      <vt:lpstr>Value Measurement Platform for Healthcare</vt:lpstr>
      <vt:lpstr>Current focus is on Results-Driven Healthcare</vt:lpstr>
      <vt:lpstr>Examples of Desired Outcomes</vt:lpstr>
      <vt:lpstr>Examples of Desired Outcomes</vt:lpstr>
      <vt:lpstr>Moving from Results-Driven to Value-Driven</vt:lpstr>
      <vt:lpstr>Drive LEAN with Value-Driven Measurement</vt:lpstr>
      <vt:lpstr>Measuring Value in Healthcare</vt:lpstr>
      <vt:lpstr>Enabling Value for Healthcare</vt:lpstr>
      <vt:lpstr>Enabling Value for Healthcare</vt:lpstr>
      <vt:lpstr>Engaging Providers &amp; Innovators</vt:lpstr>
      <vt:lpstr>Engaging Providers &amp; Innovators</vt:lpstr>
      <vt:lpstr>Engaging Practitioners &amp; Patients</vt:lpstr>
      <vt:lpstr>Engaging Practitioners &amp; Patients</vt:lpstr>
      <vt:lpstr>Towards a Collaborative Healthcare Model</vt:lpstr>
      <vt:lpstr>Towards a Collaborative Healthcare Model</vt:lpstr>
      <vt:lpstr>Towards a Collaborative Healthcare Model</vt:lpstr>
      <vt:lpstr>Towards a Collaborative Healthcare Model</vt:lpstr>
      <vt:lpstr>Reducing Costs &amp; Driving Value</vt:lpstr>
      <vt:lpstr>A New Business Model for Creating Value</vt:lpstr>
      <vt:lpstr>Towards a Value-Driven Model for Healthcare</vt:lpstr>
      <vt:lpstr>Thank You</vt:lpstr>
      <vt:lpstr>Management Consulting firm dedicated to helping clients identify &amp; create sustainable value for their customers &amp; stakeholders.</vt:lpstr>
      <vt:lpstr>Our Services</vt:lpstr>
      <vt:lpstr>Our Expertise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203</cp:revision>
  <dcterms:created xsi:type="dcterms:W3CDTF">2009-06-09T11:36:35Z</dcterms:created>
  <dcterms:modified xsi:type="dcterms:W3CDTF">2009-10-21T15:25:33Z</dcterms:modified>
</cp:coreProperties>
</file>
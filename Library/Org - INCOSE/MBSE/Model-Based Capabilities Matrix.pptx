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540" y="258571"/>
            <a:ext cx="11424919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3410" y="1151187"/>
            <a:ext cx="11365179" cy="4578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27355" y="6683674"/>
            <a:ext cx="133350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incose.org/IW2021" TargetMode="External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hyperlink" Target="mailto:Albert.c.hoheb@aero.org" TargetMode="Externa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aerospace.org/mbca" TargetMode="Externa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jpg"/><Relationship Id="rId6" Type="http://schemas.openxmlformats.org/officeDocument/2006/relationships/image" Target="../media/image7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Albert.c.hoheb@aero.org" TargetMode="External"/><Relationship Id="rId3" Type="http://schemas.openxmlformats.org/officeDocument/2006/relationships/hyperlink" Target="mailto:misak.zetilyan@aero.org" TargetMode="External"/><Relationship Id="rId4" Type="http://schemas.openxmlformats.org/officeDocument/2006/relationships/hyperlink" Target="mailto:jfnallon@outlook.com" TargetMode="External"/><Relationship Id="rId5" Type="http://schemas.openxmlformats.org/officeDocument/2006/relationships/image" Target="../media/image8.png"/><Relationship Id="rId6" Type="http://schemas.openxmlformats.org/officeDocument/2006/relationships/image" Target="../media/image9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8404" y="6435039"/>
            <a:ext cx="27266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0">
                <a:solidFill>
                  <a:srgbClr val="414042"/>
                </a:solidFill>
                <a:latin typeface="Arial"/>
                <a:cs typeface="Arial"/>
                <a:hlinkClick r:id="rId2"/>
              </a:rPr>
              <a:t>www.incose.org/IW2021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26109" y="5479885"/>
            <a:ext cx="3136900" cy="139700"/>
            <a:chOff x="326109" y="5479885"/>
            <a:chExt cx="3136900" cy="139700"/>
          </a:xfrm>
        </p:grpSpPr>
        <p:sp>
          <p:nvSpPr>
            <p:cNvPr id="4" name="object 4"/>
            <p:cNvSpPr/>
            <p:nvPr/>
          </p:nvSpPr>
          <p:spPr>
            <a:xfrm>
              <a:off x="326109" y="5479885"/>
              <a:ext cx="3136548" cy="13960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59663" y="5532120"/>
              <a:ext cx="3072765" cy="0"/>
            </a:xfrm>
            <a:custGeom>
              <a:avLst/>
              <a:gdLst/>
              <a:ahLst/>
              <a:cxnLst/>
              <a:rect l="l" t="t" r="r" b="b"/>
              <a:pathLst>
                <a:path w="3072765" h="0">
                  <a:moveTo>
                    <a:pt x="0" y="0"/>
                  </a:moveTo>
                  <a:lnTo>
                    <a:pt x="3072511" y="0"/>
                  </a:lnTo>
                </a:path>
              </a:pathLst>
            </a:custGeom>
            <a:ln w="76200">
              <a:solidFill>
                <a:srgbClr val="0070C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3453441" y="579229"/>
            <a:ext cx="4980216" cy="17630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99110" y="2292807"/>
            <a:ext cx="5521960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0" i="0">
                <a:solidFill>
                  <a:srgbClr val="0070CE"/>
                </a:solidFill>
                <a:latin typeface="Arial"/>
                <a:cs typeface="Arial"/>
              </a:rPr>
              <a:t>Round Robin</a:t>
            </a:r>
            <a:r>
              <a:rPr dirty="0" sz="4800" spc="-45" b="0" i="0">
                <a:solidFill>
                  <a:srgbClr val="0070CE"/>
                </a:solidFill>
                <a:latin typeface="Arial"/>
                <a:cs typeface="Arial"/>
              </a:rPr>
              <a:t> </a:t>
            </a:r>
            <a:r>
              <a:rPr dirty="0" sz="4800" b="0" i="0">
                <a:solidFill>
                  <a:srgbClr val="0070CE"/>
                </a:solidFill>
                <a:latin typeface="Arial"/>
                <a:cs typeface="Arial"/>
              </a:rPr>
              <a:t>topics:</a:t>
            </a:r>
            <a:endParaRPr sz="4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9110" y="3578097"/>
            <a:ext cx="9400540" cy="1671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0070CE"/>
                </a:solidFill>
                <a:latin typeface="Arial"/>
                <a:cs typeface="Arial"/>
              </a:rPr>
              <a:t>Model </a:t>
            </a:r>
            <a:r>
              <a:rPr dirty="0" sz="3600" spc="-5">
                <a:solidFill>
                  <a:srgbClr val="0070CE"/>
                </a:solidFill>
                <a:latin typeface="Arial"/>
                <a:cs typeface="Arial"/>
              </a:rPr>
              <a:t>Based </a:t>
            </a:r>
            <a:r>
              <a:rPr dirty="0" sz="3600">
                <a:solidFill>
                  <a:srgbClr val="0070CE"/>
                </a:solidFill>
                <a:latin typeface="Arial"/>
                <a:cs typeface="Arial"/>
              </a:rPr>
              <a:t>Capabilities Matrix –</a:t>
            </a:r>
            <a:r>
              <a:rPr dirty="0" sz="3600" spc="-80">
                <a:solidFill>
                  <a:srgbClr val="0070CE"/>
                </a:solidFill>
                <a:latin typeface="Arial"/>
                <a:cs typeface="Arial"/>
              </a:rPr>
              <a:t> </a:t>
            </a:r>
            <a:r>
              <a:rPr dirty="0" sz="3600">
                <a:solidFill>
                  <a:srgbClr val="0070CE"/>
                </a:solidFill>
                <a:latin typeface="Arial"/>
                <a:cs typeface="Arial"/>
              </a:rPr>
              <a:t>Evolution</a:t>
            </a:r>
            <a:endParaRPr sz="3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3600">
                <a:solidFill>
                  <a:srgbClr val="0070CE"/>
                </a:solidFill>
                <a:latin typeface="Arial"/>
                <a:cs typeface="Arial"/>
              </a:rPr>
              <a:t>Model </a:t>
            </a:r>
            <a:r>
              <a:rPr dirty="0" sz="3600" spc="-5">
                <a:solidFill>
                  <a:srgbClr val="0070CE"/>
                </a:solidFill>
                <a:latin typeface="Arial"/>
                <a:cs typeface="Arial"/>
              </a:rPr>
              <a:t>Portfolio </a:t>
            </a:r>
            <a:r>
              <a:rPr dirty="0" sz="3600">
                <a:solidFill>
                  <a:srgbClr val="0070CE"/>
                </a:solidFill>
                <a:latin typeface="Arial"/>
                <a:cs typeface="Arial"/>
              </a:rPr>
              <a:t>Management </a:t>
            </a:r>
            <a:r>
              <a:rPr dirty="0" sz="3600" spc="-5">
                <a:solidFill>
                  <a:srgbClr val="0070CE"/>
                </a:solidFill>
                <a:latin typeface="Arial"/>
                <a:cs typeface="Arial"/>
              </a:rPr>
              <a:t>Guide </a:t>
            </a:r>
            <a:r>
              <a:rPr dirty="0" sz="3600">
                <a:solidFill>
                  <a:srgbClr val="0070CE"/>
                </a:solidFill>
                <a:latin typeface="Arial"/>
                <a:cs typeface="Arial"/>
              </a:rPr>
              <a:t>-</a:t>
            </a:r>
            <a:r>
              <a:rPr dirty="0" sz="3600" spc="-220">
                <a:solidFill>
                  <a:srgbClr val="0070CE"/>
                </a:solidFill>
                <a:latin typeface="Arial"/>
                <a:cs typeface="Arial"/>
              </a:rPr>
              <a:t> </a:t>
            </a:r>
            <a:r>
              <a:rPr dirty="0" sz="3600" spc="-5">
                <a:solidFill>
                  <a:srgbClr val="0070CE"/>
                </a:solidFill>
                <a:latin typeface="Arial"/>
                <a:cs typeface="Arial"/>
              </a:rPr>
              <a:t>Adoption</a:t>
            </a:r>
            <a:endParaRPr sz="3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24447" y="5793740"/>
            <a:ext cx="537845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Al </a:t>
            </a:r>
            <a:r>
              <a:rPr dirty="0" sz="1800" spc="-10">
                <a:latin typeface="Arial"/>
                <a:cs typeface="Arial"/>
              </a:rPr>
              <a:t>Hoheb </a:t>
            </a:r>
            <a:r>
              <a:rPr dirty="0" sz="1800" spc="-5">
                <a:latin typeface="Arial"/>
                <a:cs typeface="Arial"/>
              </a:rPr>
              <a:t>(Project </a:t>
            </a:r>
            <a:r>
              <a:rPr dirty="0" sz="1800" spc="-10">
                <a:latin typeface="Arial"/>
                <a:cs typeface="Arial"/>
              </a:rPr>
              <a:t>Lead), </a:t>
            </a:r>
            <a:r>
              <a:rPr dirty="0" sz="1800">
                <a:latin typeface="Arial"/>
                <a:cs typeface="Arial"/>
              </a:rPr>
              <a:t>The </a:t>
            </a:r>
            <a:r>
              <a:rPr dirty="0" sz="1800" spc="-5">
                <a:latin typeface="Arial"/>
                <a:cs typeface="Arial"/>
              </a:rPr>
              <a:t>Aerospace</a:t>
            </a:r>
            <a:r>
              <a:rPr dirty="0" sz="1800" spc="-9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Corporation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heavy" sz="1800" spc="-5">
                <a:solidFill>
                  <a:srgbClr val="5E89B3"/>
                </a:solidFill>
                <a:uFill>
                  <a:solidFill>
                    <a:srgbClr val="5E89B3"/>
                  </a:solidFill>
                </a:uFill>
                <a:latin typeface="Arial"/>
                <a:cs typeface="Arial"/>
                <a:hlinkClick r:id="rId5"/>
              </a:rPr>
              <a:t>Albert.c.hoheb@aero.org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58571"/>
            <a:ext cx="673354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Model-Based Capabilities </a:t>
            </a:r>
            <a:r>
              <a:rPr dirty="0" spc="-10"/>
              <a:t>Matrix</a:t>
            </a:r>
            <a:r>
              <a:rPr dirty="0" spc="-35"/>
              <a:t> </a:t>
            </a:r>
            <a:r>
              <a:rPr dirty="0" spc="-5"/>
              <a:t>Assessments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64232" y="1171778"/>
            <a:ext cx="3716020" cy="1397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SzPct val="130555"/>
              <a:buChar char="•"/>
              <a:tabLst>
                <a:tab pos="185420" algn="l"/>
              </a:tabLst>
            </a:pPr>
            <a:r>
              <a:rPr dirty="0" u="heavy" sz="1800" spc="-5">
                <a:solidFill>
                  <a:srgbClr val="5E89B4"/>
                </a:solidFill>
                <a:uFill>
                  <a:solidFill>
                    <a:srgbClr val="5E89B4"/>
                  </a:solidFill>
                </a:uFill>
                <a:latin typeface="Arial"/>
                <a:cs typeface="Arial"/>
                <a:hlinkClick r:id="rId2"/>
              </a:rPr>
              <a:t>https://aerospace.org/mbca </a:t>
            </a:r>
            <a:r>
              <a:rPr dirty="0" sz="1800" spc="-5">
                <a:latin typeface="Arial"/>
                <a:cs typeface="Arial"/>
              </a:rPr>
              <a:t> provides an on-line assessment as  a corporate service </a:t>
            </a:r>
            <a:r>
              <a:rPr dirty="0" sz="1800">
                <a:latin typeface="Arial"/>
                <a:cs typeface="Arial"/>
              </a:rPr>
              <a:t>to </a:t>
            </a:r>
            <a:r>
              <a:rPr dirty="0" sz="1800" spc="-10">
                <a:latin typeface="Arial"/>
                <a:cs typeface="Arial"/>
              </a:rPr>
              <a:t>anyone </a:t>
            </a:r>
            <a:r>
              <a:rPr dirty="0" sz="1800">
                <a:latin typeface="Arial"/>
                <a:cs typeface="Arial"/>
              </a:rPr>
              <a:t>for  </a:t>
            </a:r>
            <a:r>
              <a:rPr dirty="0" sz="1800" spc="-5">
                <a:latin typeface="Arial"/>
                <a:cs typeface="Arial"/>
              </a:rPr>
              <a:t>free, </a:t>
            </a:r>
            <a:r>
              <a:rPr dirty="0" sz="1800" spc="-25">
                <a:latin typeface="Arial"/>
                <a:cs typeface="Arial"/>
              </a:rPr>
              <a:t>we </a:t>
            </a:r>
            <a:r>
              <a:rPr dirty="0" sz="1800" spc="-5">
                <a:latin typeface="Arial"/>
                <a:cs typeface="Arial"/>
              </a:rPr>
              <a:t>have access </a:t>
            </a:r>
            <a:r>
              <a:rPr dirty="0" sz="1800">
                <a:latin typeface="Arial"/>
                <a:cs typeface="Arial"/>
              </a:rPr>
              <a:t>to the </a:t>
            </a:r>
            <a:r>
              <a:rPr dirty="0" sz="1800" spc="-5">
                <a:latin typeface="Arial"/>
                <a:cs typeface="Arial"/>
              </a:rPr>
              <a:t>data  </a:t>
            </a:r>
            <a:r>
              <a:rPr dirty="0" sz="1800">
                <a:latin typeface="Arial"/>
                <a:cs typeface="Arial"/>
              </a:rPr>
              <a:t>for</a:t>
            </a:r>
            <a:r>
              <a:rPr dirty="0" sz="1800" spc="-5">
                <a:latin typeface="Arial"/>
                <a:cs typeface="Arial"/>
              </a:rPr>
              <a:t> benchmarking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53183" y="2692907"/>
            <a:ext cx="8651875" cy="3545204"/>
            <a:chOff x="1853183" y="2692907"/>
            <a:chExt cx="8651875" cy="3545204"/>
          </a:xfrm>
        </p:grpSpPr>
        <p:sp>
          <p:nvSpPr>
            <p:cNvPr id="5" name="object 5"/>
            <p:cNvSpPr/>
            <p:nvPr/>
          </p:nvSpPr>
          <p:spPr>
            <a:xfrm>
              <a:off x="6810755" y="2692907"/>
              <a:ext cx="2112263" cy="271424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578851" y="4038599"/>
              <a:ext cx="2926079" cy="199796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853183" y="3002279"/>
              <a:ext cx="3032760" cy="28239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523232" y="4626863"/>
              <a:ext cx="3311652" cy="161086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120127" y="4418964"/>
              <a:ext cx="384175" cy="372745"/>
            </a:xfrm>
            <a:custGeom>
              <a:avLst/>
              <a:gdLst/>
              <a:ahLst/>
              <a:cxnLst/>
              <a:rect l="l" t="t" r="r" b="b"/>
              <a:pathLst>
                <a:path w="384175" h="372745">
                  <a:moveTo>
                    <a:pt x="279019" y="0"/>
                  </a:moveTo>
                  <a:lnTo>
                    <a:pt x="60578" y="202692"/>
                  </a:lnTo>
                  <a:lnTo>
                    <a:pt x="8127" y="146050"/>
                  </a:lnTo>
                  <a:lnTo>
                    <a:pt x="0" y="364363"/>
                  </a:lnTo>
                  <a:lnTo>
                    <a:pt x="218186" y="372491"/>
                  </a:lnTo>
                  <a:lnTo>
                    <a:pt x="165607" y="315849"/>
                  </a:lnTo>
                  <a:lnTo>
                    <a:pt x="384048" y="113157"/>
                  </a:lnTo>
                  <a:lnTo>
                    <a:pt x="2790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120127" y="4418964"/>
              <a:ext cx="384175" cy="372745"/>
            </a:xfrm>
            <a:custGeom>
              <a:avLst/>
              <a:gdLst/>
              <a:ahLst/>
              <a:cxnLst/>
              <a:rect l="l" t="t" r="r" b="b"/>
              <a:pathLst>
                <a:path w="384175" h="372745">
                  <a:moveTo>
                    <a:pt x="8127" y="146050"/>
                  </a:moveTo>
                  <a:lnTo>
                    <a:pt x="60578" y="202692"/>
                  </a:lnTo>
                  <a:lnTo>
                    <a:pt x="279019" y="0"/>
                  </a:lnTo>
                  <a:lnTo>
                    <a:pt x="384048" y="113157"/>
                  </a:lnTo>
                  <a:lnTo>
                    <a:pt x="165607" y="315849"/>
                  </a:lnTo>
                  <a:lnTo>
                    <a:pt x="218186" y="372491"/>
                  </a:lnTo>
                  <a:lnTo>
                    <a:pt x="0" y="364363"/>
                  </a:lnTo>
                  <a:lnTo>
                    <a:pt x="8127" y="14605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655185" y="4479162"/>
              <a:ext cx="420370" cy="358140"/>
            </a:xfrm>
            <a:custGeom>
              <a:avLst/>
              <a:gdLst/>
              <a:ahLst/>
              <a:cxnLst/>
              <a:rect l="l" t="t" r="r" b="b"/>
              <a:pathLst>
                <a:path w="420370" h="358139">
                  <a:moveTo>
                    <a:pt x="85343" y="0"/>
                  </a:moveTo>
                  <a:lnTo>
                    <a:pt x="0" y="128778"/>
                  </a:lnTo>
                  <a:lnTo>
                    <a:pt x="248538" y="293369"/>
                  </a:lnTo>
                  <a:lnTo>
                    <a:pt x="205866" y="357759"/>
                  </a:lnTo>
                  <a:lnTo>
                    <a:pt x="419988" y="314198"/>
                  </a:lnTo>
                  <a:lnTo>
                    <a:pt x="376427" y="100203"/>
                  </a:lnTo>
                  <a:lnTo>
                    <a:pt x="333755" y="164592"/>
                  </a:lnTo>
                  <a:lnTo>
                    <a:pt x="853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655185" y="4479162"/>
              <a:ext cx="420370" cy="358140"/>
            </a:xfrm>
            <a:custGeom>
              <a:avLst/>
              <a:gdLst/>
              <a:ahLst/>
              <a:cxnLst/>
              <a:rect l="l" t="t" r="r" b="b"/>
              <a:pathLst>
                <a:path w="420370" h="358139">
                  <a:moveTo>
                    <a:pt x="205866" y="357759"/>
                  </a:moveTo>
                  <a:lnTo>
                    <a:pt x="248538" y="293369"/>
                  </a:lnTo>
                  <a:lnTo>
                    <a:pt x="0" y="128778"/>
                  </a:lnTo>
                  <a:lnTo>
                    <a:pt x="85343" y="0"/>
                  </a:lnTo>
                  <a:lnTo>
                    <a:pt x="333755" y="164592"/>
                  </a:lnTo>
                  <a:lnTo>
                    <a:pt x="376427" y="100203"/>
                  </a:lnTo>
                  <a:lnTo>
                    <a:pt x="419988" y="314198"/>
                  </a:lnTo>
                  <a:lnTo>
                    <a:pt x="205866" y="35775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5186171" y="3151632"/>
            <a:ext cx="1304925" cy="81534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40640" rIns="0" bIns="0" rtlCol="0" vert="horz">
            <a:spAutoFit/>
          </a:bodyPr>
          <a:lstStyle/>
          <a:p>
            <a:pPr marL="264160">
              <a:lnSpc>
                <a:spcPct val="100000"/>
              </a:lnSpc>
              <a:spcBef>
                <a:spcPts val="320"/>
              </a:spcBef>
            </a:pPr>
            <a:r>
              <a:rPr dirty="0" u="heavy" sz="140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Users</a:t>
            </a:r>
            <a:endParaRPr sz="1400">
              <a:latin typeface="Arial"/>
              <a:cs typeface="Arial"/>
            </a:endParaRPr>
          </a:p>
          <a:p>
            <a:pPr marL="436245" indent="-172720">
              <a:lnSpc>
                <a:spcPct val="100000"/>
              </a:lnSpc>
              <a:spcBef>
                <a:spcPts val="15"/>
              </a:spcBef>
              <a:buChar char="•"/>
              <a:tabLst>
                <a:tab pos="436880" algn="l"/>
              </a:tabLst>
            </a:pPr>
            <a:r>
              <a:rPr dirty="0" sz="1100">
                <a:latin typeface="Arial"/>
                <a:cs typeface="Arial"/>
              </a:rPr>
              <a:t>Government</a:t>
            </a:r>
            <a:endParaRPr sz="1100">
              <a:latin typeface="Arial"/>
              <a:cs typeface="Arial"/>
            </a:endParaRPr>
          </a:p>
          <a:p>
            <a:pPr marL="436245" indent="-172720">
              <a:lnSpc>
                <a:spcPct val="100000"/>
              </a:lnSpc>
              <a:buChar char="•"/>
              <a:tabLst>
                <a:tab pos="436880" algn="l"/>
              </a:tabLst>
            </a:pPr>
            <a:r>
              <a:rPr dirty="0" sz="1100">
                <a:latin typeface="Arial"/>
                <a:cs typeface="Arial"/>
              </a:rPr>
              <a:t>Industry</a:t>
            </a:r>
            <a:endParaRPr sz="1100">
              <a:latin typeface="Arial"/>
              <a:cs typeface="Arial"/>
            </a:endParaRPr>
          </a:p>
          <a:p>
            <a:pPr marL="436245" indent="-172720">
              <a:lnSpc>
                <a:spcPct val="100000"/>
              </a:lnSpc>
              <a:buChar char="•"/>
              <a:tabLst>
                <a:tab pos="436880" algn="l"/>
              </a:tabLst>
            </a:pPr>
            <a:r>
              <a:rPr dirty="0" sz="1100">
                <a:latin typeface="Arial"/>
                <a:cs typeface="Arial"/>
              </a:rPr>
              <a:t>Commercial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2</a:t>
            </a:fld>
          </a:p>
        </p:txBody>
      </p:sp>
      <p:sp>
        <p:nvSpPr>
          <p:cNvPr id="14" name="object 14"/>
          <p:cNvSpPr txBox="1"/>
          <p:nvPr/>
        </p:nvSpPr>
        <p:spPr>
          <a:xfrm>
            <a:off x="6095491" y="1171778"/>
            <a:ext cx="3777615" cy="1397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0"/>
              </a:spcBef>
              <a:buSzPct val="130555"/>
              <a:buChar char="•"/>
              <a:tabLst>
                <a:tab pos="189865" algn="l"/>
              </a:tabLst>
            </a:pPr>
            <a:r>
              <a:rPr dirty="0" sz="1800">
                <a:latin typeface="Arial"/>
                <a:cs typeface="Arial"/>
              </a:rPr>
              <a:t>Al </a:t>
            </a:r>
            <a:r>
              <a:rPr dirty="0" sz="1800" spc="-10">
                <a:latin typeface="Arial"/>
                <a:cs typeface="Arial"/>
              </a:rPr>
              <a:t>Hoheb, </a:t>
            </a:r>
            <a:r>
              <a:rPr dirty="0" sz="1800" spc="-5">
                <a:latin typeface="Arial"/>
                <a:cs typeface="Arial"/>
              </a:rPr>
              <a:t>Aerospace, Joe Hale,  </a:t>
            </a:r>
            <a:r>
              <a:rPr dirty="0" sz="1800">
                <a:latin typeface="Arial"/>
                <a:cs typeface="Arial"/>
              </a:rPr>
              <a:t>NASA/MSFC </a:t>
            </a:r>
            <a:r>
              <a:rPr dirty="0" sz="1800" spc="-5">
                <a:latin typeface="Arial"/>
                <a:cs typeface="Arial"/>
              </a:rPr>
              <a:t>(retired), developed  and published </a:t>
            </a:r>
            <a:r>
              <a:rPr dirty="0" sz="1800">
                <a:latin typeface="Arial"/>
                <a:cs typeface="Arial"/>
              </a:rPr>
              <a:t>the </a:t>
            </a:r>
            <a:r>
              <a:rPr dirty="0" sz="1800" spc="-5">
                <a:latin typeface="Arial"/>
                <a:cs typeface="Arial"/>
              </a:rPr>
              <a:t>Model-Based  Capabilities </a:t>
            </a:r>
            <a:r>
              <a:rPr dirty="0" sz="1800">
                <a:latin typeface="Arial"/>
                <a:cs typeface="Arial"/>
              </a:rPr>
              <a:t>Matrix </a:t>
            </a:r>
            <a:r>
              <a:rPr dirty="0" sz="1800" spc="-5">
                <a:latin typeface="Arial"/>
                <a:cs typeface="Arial"/>
              </a:rPr>
              <a:t>assessment tool  and </a:t>
            </a:r>
            <a:r>
              <a:rPr dirty="0" sz="1800">
                <a:latin typeface="Arial"/>
                <a:cs typeface="Arial"/>
              </a:rPr>
              <a:t>User’s </a:t>
            </a:r>
            <a:r>
              <a:rPr dirty="0" sz="1800" spc="-5">
                <a:latin typeface="Arial"/>
                <a:cs typeface="Arial"/>
              </a:rPr>
              <a:t>Guide through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INCOSE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58571"/>
            <a:ext cx="799084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Model-Based Capabilities </a:t>
            </a:r>
            <a:r>
              <a:rPr dirty="0" spc="-10"/>
              <a:t>Matrix </a:t>
            </a:r>
            <a:r>
              <a:rPr dirty="0"/>
              <a:t>– </a:t>
            </a:r>
            <a:r>
              <a:rPr dirty="0" spc="-5"/>
              <a:t>Evolution</a:t>
            </a:r>
            <a:r>
              <a:rPr dirty="0" spc="70"/>
              <a:t> </a:t>
            </a:r>
            <a:r>
              <a:rPr dirty="0" spc="-10"/>
              <a:t>Workshop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2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413410" y="1230629"/>
            <a:ext cx="10817225" cy="32689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0"/>
              </a:spcBef>
              <a:buSzPct val="130555"/>
              <a:buChar char="•"/>
              <a:tabLst>
                <a:tab pos="185420" algn="l"/>
              </a:tabLst>
            </a:pPr>
            <a:r>
              <a:rPr dirty="0" sz="1800">
                <a:latin typeface="Arial"/>
                <a:cs typeface="Arial"/>
              </a:rPr>
              <a:t>The </a:t>
            </a:r>
            <a:r>
              <a:rPr dirty="0" sz="1800" spc="-5">
                <a:latin typeface="Arial"/>
                <a:cs typeface="Arial"/>
              </a:rPr>
              <a:t>Model-Based Capabilities </a:t>
            </a:r>
            <a:r>
              <a:rPr dirty="0" sz="1800">
                <a:latin typeface="Arial"/>
                <a:cs typeface="Arial"/>
              </a:rPr>
              <a:t>Matrix (MBCM) </a:t>
            </a:r>
            <a:r>
              <a:rPr dirty="0" sz="1800" spc="-5">
                <a:latin typeface="Arial"/>
                <a:cs typeface="Arial"/>
              </a:rPr>
              <a:t>and </a:t>
            </a:r>
            <a:r>
              <a:rPr dirty="0" sz="1800">
                <a:latin typeface="Arial"/>
                <a:cs typeface="Arial"/>
              </a:rPr>
              <a:t>User’s </a:t>
            </a:r>
            <a:r>
              <a:rPr dirty="0" sz="1800" spc="-5">
                <a:latin typeface="Arial"/>
                <a:cs typeface="Arial"/>
              </a:rPr>
              <a:t>Guide </a:t>
            </a:r>
            <a:r>
              <a:rPr dirty="0" sz="1800" spc="-15">
                <a:latin typeface="Arial"/>
                <a:cs typeface="Arial"/>
              </a:rPr>
              <a:t>was </a:t>
            </a:r>
            <a:r>
              <a:rPr dirty="0" sz="1800">
                <a:latin typeface="Arial"/>
                <a:cs typeface="Arial"/>
              </a:rPr>
              <a:t>INCOSE </a:t>
            </a:r>
            <a:r>
              <a:rPr dirty="0" sz="1800" spc="-10">
                <a:latin typeface="Arial"/>
                <a:cs typeface="Arial"/>
              </a:rPr>
              <a:t>published </a:t>
            </a:r>
            <a:r>
              <a:rPr dirty="0" sz="1800" spc="-5">
                <a:latin typeface="Arial"/>
                <a:cs typeface="Arial"/>
              </a:rPr>
              <a:t>in January </a:t>
            </a:r>
            <a:r>
              <a:rPr dirty="0" sz="1800" spc="-10">
                <a:latin typeface="Arial"/>
                <a:cs typeface="Arial"/>
              </a:rPr>
              <a:t>2020  </a:t>
            </a:r>
            <a:r>
              <a:rPr dirty="0" sz="1800" spc="-5">
                <a:latin typeface="Arial"/>
                <a:cs typeface="Arial"/>
              </a:rPr>
              <a:t>and are available </a:t>
            </a:r>
            <a:r>
              <a:rPr dirty="0" sz="1800">
                <a:latin typeface="Arial"/>
                <a:cs typeface="Arial"/>
              </a:rPr>
              <a:t>from the </a:t>
            </a:r>
            <a:r>
              <a:rPr dirty="0" sz="1800" spc="-5">
                <a:latin typeface="Arial"/>
                <a:cs typeface="Arial"/>
              </a:rPr>
              <a:t>INCOSE</a:t>
            </a:r>
            <a:r>
              <a:rPr dirty="0" sz="1800" spc="1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Store</a:t>
            </a:r>
            <a:endParaRPr sz="1800">
              <a:latin typeface="Arial"/>
              <a:cs typeface="Arial"/>
            </a:endParaRPr>
          </a:p>
          <a:p>
            <a:pPr marL="184785" indent="-172720">
              <a:lnSpc>
                <a:spcPct val="100000"/>
              </a:lnSpc>
              <a:spcBef>
                <a:spcPts val="430"/>
              </a:spcBef>
              <a:buSzPct val="130555"/>
              <a:buChar char="•"/>
              <a:tabLst>
                <a:tab pos="185420" algn="l"/>
              </a:tabLst>
            </a:pPr>
            <a:r>
              <a:rPr dirty="0" sz="1800">
                <a:latin typeface="Arial"/>
                <a:cs typeface="Arial"/>
              </a:rPr>
              <a:t>The </a:t>
            </a:r>
            <a:r>
              <a:rPr dirty="0" sz="1800" spc="-5">
                <a:latin typeface="Arial"/>
                <a:cs typeface="Arial"/>
              </a:rPr>
              <a:t>materials have been extensively used since late</a:t>
            </a:r>
            <a:r>
              <a:rPr dirty="0" sz="1800" spc="6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2018</a:t>
            </a:r>
            <a:endParaRPr sz="1800">
              <a:latin typeface="Arial"/>
              <a:cs typeface="Arial"/>
            </a:endParaRPr>
          </a:p>
          <a:p>
            <a:pPr lvl="1" marL="530860" indent="-229235">
              <a:lnSpc>
                <a:spcPct val="100000"/>
              </a:lnSpc>
              <a:spcBef>
                <a:spcPts val="395"/>
              </a:spcBef>
              <a:buFont typeface="Arial"/>
              <a:buChar char="–"/>
              <a:tabLst>
                <a:tab pos="530860" algn="l"/>
              </a:tabLst>
            </a:pPr>
            <a:r>
              <a:rPr dirty="0" sz="1600" spc="-5" i="1">
                <a:latin typeface="Arial"/>
                <a:cs typeface="Arial"/>
              </a:rPr>
              <a:t>Extensively used </a:t>
            </a:r>
            <a:r>
              <a:rPr dirty="0" sz="1600" i="1">
                <a:latin typeface="Arial"/>
                <a:cs typeface="Arial"/>
              </a:rPr>
              <a:t>as-is </a:t>
            </a:r>
            <a:r>
              <a:rPr dirty="0" sz="1600" spc="-10" i="1">
                <a:latin typeface="Arial"/>
                <a:cs typeface="Arial"/>
              </a:rPr>
              <a:t>and </a:t>
            </a:r>
            <a:r>
              <a:rPr dirty="0" sz="1600" spc="-5" i="1">
                <a:latin typeface="Arial"/>
                <a:cs typeface="Arial"/>
              </a:rPr>
              <a:t>also tailored by </a:t>
            </a:r>
            <a:r>
              <a:rPr dirty="0" sz="1600" spc="-10" i="1">
                <a:latin typeface="Arial"/>
                <a:cs typeface="Arial"/>
              </a:rPr>
              <a:t>gov’t and</a:t>
            </a:r>
            <a:r>
              <a:rPr dirty="0" sz="1600" spc="20" i="1">
                <a:latin typeface="Arial"/>
                <a:cs typeface="Arial"/>
              </a:rPr>
              <a:t> </a:t>
            </a:r>
            <a:r>
              <a:rPr dirty="0" sz="1600" spc="-5" i="1">
                <a:latin typeface="Arial"/>
                <a:cs typeface="Arial"/>
              </a:rPr>
              <a:t>industry</a:t>
            </a:r>
            <a:endParaRPr sz="1600">
              <a:latin typeface="Arial"/>
              <a:cs typeface="Arial"/>
            </a:endParaRPr>
          </a:p>
          <a:p>
            <a:pPr lvl="1" marL="530860" marR="493395" indent="-228600">
              <a:lnSpc>
                <a:spcPct val="100000"/>
              </a:lnSpc>
              <a:spcBef>
                <a:spcPts val="385"/>
              </a:spcBef>
              <a:buFont typeface="Arial"/>
              <a:buChar char="–"/>
              <a:tabLst>
                <a:tab pos="530860" algn="l"/>
              </a:tabLst>
            </a:pPr>
            <a:r>
              <a:rPr dirty="0" sz="1600" spc="-5" i="1">
                <a:latin typeface="Arial"/>
                <a:cs typeface="Arial"/>
              </a:rPr>
              <a:t>Spawned INCOSE – SERC SE </a:t>
            </a:r>
            <a:r>
              <a:rPr dirty="0" sz="1600" spc="-20" i="1">
                <a:latin typeface="Arial"/>
                <a:cs typeface="Arial"/>
              </a:rPr>
              <a:t>Survey, </a:t>
            </a:r>
            <a:r>
              <a:rPr dirty="0" sz="1600" spc="-10" i="1">
                <a:latin typeface="Arial"/>
                <a:cs typeface="Arial"/>
              </a:rPr>
              <a:t>AFMC </a:t>
            </a:r>
            <a:r>
              <a:rPr dirty="0" sz="1600" spc="-5" i="1">
                <a:latin typeface="Arial"/>
                <a:cs typeface="Arial"/>
              </a:rPr>
              <a:t>Digital </a:t>
            </a:r>
            <a:r>
              <a:rPr dirty="0" sz="1600" spc="-10" i="1">
                <a:latin typeface="Arial"/>
                <a:cs typeface="Arial"/>
              </a:rPr>
              <a:t>Campaign </a:t>
            </a:r>
            <a:r>
              <a:rPr dirty="0" sz="1600" spc="-5" i="1">
                <a:latin typeface="Arial"/>
                <a:cs typeface="Arial"/>
              </a:rPr>
              <a:t>“Digital </a:t>
            </a:r>
            <a:r>
              <a:rPr dirty="0" sz="1600" spc="-10" i="1">
                <a:latin typeface="Arial"/>
                <a:cs typeface="Arial"/>
              </a:rPr>
              <a:t>Maturity </a:t>
            </a:r>
            <a:r>
              <a:rPr dirty="0" sz="1600" spc="-5" i="1">
                <a:latin typeface="Arial"/>
                <a:cs typeface="Arial"/>
              </a:rPr>
              <a:t>Metrics” </a:t>
            </a:r>
            <a:r>
              <a:rPr dirty="0" sz="1600" spc="-10" i="1">
                <a:latin typeface="Arial"/>
                <a:cs typeface="Arial"/>
              </a:rPr>
              <a:t>program </a:t>
            </a:r>
            <a:r>
              <a:rPr dirty="0" sz="1600" spc="-5" i="1">
                <a:latin typeface="Arial"/>
                <a:cs typeface="Arial"/>
              </a:rPr>
              <a:t>for the </a:t>
            </a:r>
            <a:r>
              <a:rPr dirty="0" sz="1600" spc="-75" i="1">
                <a:latin typeface="Arial"/>
                <a:cs typeface="Arial"/>
              </a:rPr>
              <a:t>AF,  </a:t>
            </a:r>
            <a:r>
              <a:rPr dirty="0" sz="1600" spc="-5" i="1">
                <a:latin typeface="Arial"/>
                <a:cs typeface="Arial"/>
              </a:rPr>
              <a:t>versions adopted by USN and</a:t>
            </a:r>
            <a:r>
              <a:rPr dirty="0" sz="1600" spc="10" i="1">
                <a:latin typeface="Arial"/>
                <a:cs typeface="Arial"/>
              </a:rPr>
              <a:t> </a:t>
            </a:r>
            <a:r>
              <a:rPr dirty="0" sz="1600" spc="-5" i="1">
                <a:latin typeface="Arial"/>
                <a:cs typeface="Arial"/>
              </a:rPr>
              <a:t>NASA</a:t>
            </a:r>
            <a:endParaRPr sz="1600">
              <a:latin typeface="Arial"/>
              <a:cs typeface="Arial"/>
            </a:endParaRPr>
          </a:p>
          <a:p>
            <a:pPr marL="184785" marR="452120" indent="-172720">
              <a:lnSpc>
                <a:spcPct val="100000"/>
              </a:lnSpc>
              <a:spcBef>
                <a:spcPts val="425"/>
              </a:spcBef>
              <a:buSzPct val="130555"/>
              <a:buChar char="•"/>
              <a:tabLst>
                <a:tab pos="185420" algn="l"/>
              </a:tabLst>
            </a:pPr>
            <a:r>
              <a:rPr dirty="0" sz="1800">
                <a:latin typeface="Arial"/>
                <a:cs typeface="Arial"/>
              </a:rPr>
              <a:t>After </a:t>
            </a:r>
            <a:r>
              <a:rPr dirty="0" sz="1800" spc="-5">
                <a:latin typeface="Arial"/>
                <a:cs typeface="Arial"/>
              </a:rPr>
              <a:t>one </a:t>
            </a:r>
            <a:r>
              <a:rPr dirty="0" sz="1800" spc="-10">
                <a:latin typeface="Arial"/>
                <a:cs typeface="Arial"/>
              </a:rPr>
              <a:t>year </a:t>
            </a:r>
            <a:r>
              <a:rPr dirty="0" sz="1800">
                <a:latin typeface="Arial"/>
                <a:cs typeface="Arial"/>
              </a:rPr>
              <a:t>of </a:t>
            </a:r>
            <a:r>
              <a:rPr dirty="0" sz="1800" spc="-5">
                <a:latin typeface="Arial"/>
                <a:cs typeface="Arial"/>
              </a:rPr>
              <a:t>use </a:t>
            </a:r>
            <a:r>
              <a:rPr dirty="0" sz="1800" spc="-15">
                <a:latin typeface="Arial"/>
                <a:cs typeface="Arial"/>
              </a:rPr>
              <a:t>with </a:t>
            </a:r>
            <a:r>
              <a:rPr dirty="0" sz="1800">
                <a:latin typeface="Arial"/>
                <a:cs typeface="Arial"/>
              </a:rPr>
              <a:t>the </a:t>
            </a:r>
            <a:r>
              <a:rPr dirty="0" sz="1800" spc="-5">
                <a:latin typeface="Arial"/>
                <a:cs typeface="Arial"/>
              </a:rPr>
              <a:t>published versions users have a variety </a:t>
            </a:r>
            <a:r>
              <a:rPr dirty="0" sz="1800">
                <a:latin typeface="Arial"/>
                <a:cs typeface="Arial"/>
              </a:rPr>
              <a:t>of </a:t>
            </a:r>
            <a:r>
              <a:rPr dirty="0" sz="1800" spc="-5">
                <a:latin typeface="Arial"/>
                <a:cs typeface="Arial"/>
              </a:rPr>
              <a:t>ideas </a:t>
            </a:r>
            <a:r>
              <a:rPr dirty="0" sz="1800">
                <a:latin typeface="Arial"/>
                <a:cs typeface="Arial"/>
              </a:rPr>
              <a:t>to </a:t>
            </a:r>
            <a:r>
              <a:rPr dirty="0" sz="1800" spc="-5">
                <a:latin typeface="Arial"/>
                <a:cs typeface="Arial"/>
              </a:rPr>
              <a:t>use and update the  materials</a:t>
            </a:r>
            <a:endParaRPr sz="1800">
              <a:latin typeface="Arial"/>
              <a:cs typeface="Arial"/>
            </a:endParaRPr>
          </a:p>
          <a:p>
            <a:pPr marL="184785" indent="-172720">
              <a:lnSpc>
                <a:spcPct val="100000"/>
              </a:lnSpc>
              <a:spcBef>
                <a:spcPts val="430"/>
              </a:spcBef>
              <a:buSzPct val="130555"/>
              <a:buChar char="•"/>
              <a:tabLst>
                <a:tab pos="185420" algn="l"/>
              </a:tabLst>
            </a:pPr>
            <a:r>
              <a:rPr dirty="0" sz="1800" spc="-5">
                <a:latin typeface="Arial"/>
                <a:cs typeface="Arial"/>
              </a:rPr>
              <a:t>Partnered </a:t>
            </a:r>
            <a:r>
              <a:rPr dirty="0" sz="1800" spc="-15">
                <a:latin typeface="Arial"/>
                <a:cs typeface="Arial"/>
              </a:rPr>
              <a:t>with </a:t>
            </a:r>
            <a:r>
              <a:rPr dirty="0" sz="1800" spc="-5">
                <a:latin typeface="Arial"/>
                <a:cs typeface="Arial"/>
              </a:rPr>
              <a:t>Michael Russell, </a:t>
            </a:r>
            <a:r>
              <a:rPr dirty="0" sz="1800">
                <a:latin typeface="Arial"/>
                <a:cs typeface="Arial"/>
              </a:rPr>
              <a:t>The MITRE </a:t>
            </a:r>
            <a:r>
              <a:rPr dirty="0" sz="1800" spc="-5">
                <a:latin typeface="Arial"/>
                <a:cs typeface="Arial"/>
              </a:rPr>
              <a:t>Corporation, </a:t>
            </a:r>
            <a:r>
              <a:rPr dirty="0" sz="1800">
                <a:latin typeface="Arial"/>
                <a:cs typeface="Arial"/>
              </a:rPr>
              <a:t>a </a:t>
            </a:r>
            <a:r>
              <a:rPr dirty="0" sz="1800" spc="-5">
                <a:latin typeface="Arial"/>
                <a:cs typeface="Arial"/>
              </a:rPr>
              <a:t>“super </a:t>
            </a:r>
            <a:r>
              <a:rPr dirty="0" sz="1800" spc="-20">
                <a:latin typeface="Arial"/>
                <a:cs typeface="Arial"/>
              </a:rPr>
              <a:t>user,” </a:t>
            </a:r>
            <a:r>
              <a:rPr dirty="0" sz="1800">
                <a:latin typeface="Arial"/>
                <a:cs typeface="Arial"/>
              </a:rPr>
              <a:t>to </a:t>
            </a:r>
            <a:r>
              <a:rPr dirty="0" sz="1800" spc="-5">
                <a:latin typeface="Arial"/>
                <a:cs typeface="Arial"/>
              </a:rPr>
              <a:t>conduct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8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workshop</a:t>
            </a:r>
            <a:endParaRPr sz="1800">
              <a:latin typeface="Arial"/>
              <a:cs typeface="Arial"/>
            </a:endParaRPr>
          </a:p>
          <a:p>
            <a:pPr marL="184785" marR="213360" indent="-172720">
              <a:lnSpc>
                <a:spcPct val="100000"/>
              </a:lnSpc>
              <a:spcBef>
                <a:spcPts val="434"/>
              </a:spcBef>
              <a:buSzPct val="130555"/>
              <a:buChar char="•"/>
              <a:tabLst>
                <a:tab pos="185420" algn="l"/>
              </a:tabLst>
            </a:pPr>
            <a:r>
              <a:rPr dirty="0" sz="1800" spc="-5">
                <a:latin typeface="Arial"/>
                <a:cs typeface="Arial"/>
              </a:rPr>
              <a:t>This </a:t>
            </a:r>
            <a:r>
              <a:rPr dirty="0" sz="1800" spc="-10">
                <a:latin typeface="Arial"/>
                <a:cs typeface="Arial"/>
              </a:rPr>
              <a:t>workshop </a:t>
            </a:r>
            <a:r>
              <a:rPr dirty="0" sz="1800" spc="-5">
                <a:latin typeface="Arial"/>
                <a:cs typeface="Arial"/>
              </a:rPr>
              <a:t>gathered user input, gather </a:t>
            </a:r>
            <a:r>
              <a:rPr dirty="0" sz="1800">
                <a:latin typeface="Arial"/>
                <a:cs typeface="Arial"/>
              </a:rPr>
              <a:t>“pro </a:t>
            </a:r>
            <a:r>
              <a:rPr dirty="0" sz="1800" spc="-5">
                <a:latin typeface="Arial"/>
                <a:cs typeface="Arial"/>
              </a:rPr>
              <a:t>tips” and </a:t>
            </a:r>
            <a:r>
              <a:rPr dirty="0" sz="1800">
                <a:latin typeface="Arial"/>
                <a:cs typeface="Arial"/>
              </a:rPr>
              <a:t>to </a:t>
            </a:r>
            <a:r>
              <a:rPr dirty="0" sz="1800" spc="-5">
                <a:latin typeface="Arial"/>
                <a:cs typeface="Arial"/>
              </a:rPr>
              <a:t>determine </a:t>
            </a:r>
            <a:r>
              <a:rPr dirty="0" sz="1800">
                <a:latin typeface="Arial"/>
                <a:cs typeface="Arial"/>
              </a:rPr>
              <a:t>the </a:t>
            </a:r>
            <a:r>
              <a:rPr dirty="0" sz="1800" spc="-5">
                <a:latin typeface="Arial"/>
                <a:cs typeface="Arial"/>
              </a:rPr>
              <a:t>need </a:t>
            </a:r>
            <a:r>
              <a:rPr dirty="0" sz="1800">
                <a:latin typeface="Arial"/>
                <a:cs typeface="Arial"/>
              </a:rPr>
              <a:t>to </a:t>
            </a:r>
            <a:r>
              <a:rPr dirty="0" sz="1800" spc="-5">
                <a:latin typeface="Arial"/>
                <a:cs typeface="Arial"/>
              </a:rPr>
              <a:t>update </a:t>
            </a:r>
            <a:r>
              <a:rPr dirty="0" sz="1800">
                <a:latin typeface="Arial"/>
                <a:cs typeface="Arial"/>
              </a:rPr>
              <a:t>the </a:t>
            </a:r>
            <a:r>
              <a:rPr dirty="0" sz="1800" spc="-10">
                <a:latin typeface="Arial"/>
                <a:cs typeface="Arial"/>
              </a:rPr>
              <a:t>published  </a:t>
            </a:r>
            <a:r>
              <a:rPr dirty="0" sz="1800" spc="-5">
                <a:latin typeface="Arial"/>
                <a:cs typeface="Arial"/>
              </a:rPr>
              <a:t>materials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58571"/>
            <a:ext cx="513524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Model </a:t>
            </a:r>
            <a:r>
              <a:rPr dirty="0"/>
              <a:t>Portfolio </a:t>
            </a:r>
            <a:r>
              <a:rPr dirty="0" spc="-10"/>
              <a:t>Management</a:t>
            </a:r>
            <a:r>
              <a:rPr dirty="0" spc="-5"/>
              <a:t> </a:t>
            </a:r>
            <a:r>
              <a:rPr dirty="0"/>
              <a:t>Guide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2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413410" y="1167006"/>
            <a:ext cx="11031220" cy="4912360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590"/>
              </a:spcBef>
              <a:buSzPct val="130000"/>
              <a:buChar char="•"/>
              <a:tabLst>
                <a:tab pos="185420" algn="l"/>
              </a:tabLst>
            </a:pP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Need</a:t>
            </a:r>
            <a:endParaRPr sz="2000">
              <a:latin typeface="Arial"/>
              <a:cs typeface="Arial"/>
            </a:endParaRPr>
          </a:p>
          <a:p>
            <a:pPr lvl="1" marL="530860" indent="-229235">
              <a:lnSpc>
                <a:spcPct val="100000"/>
              </a:lnSpc>
              <a:spcBef>
                <a:spcPts val="440"/>
              </a:spcBef>
              <a:buFont typeface="Arial"/>
              <a:buChar char="–"/>
              <a:tabLst>
                <a:tab pos="530860" algn="l"/>
              </a:tabLst>
            </a:pPr>
            <a:r>
              <a:rPr dirty="0" sz="1800" spc="-5" i="1">
                <a:latin typeface="Arial"/>
                <a:cs typeface="Arial"/>
              </a:rPr>
              <a:t>Currently there is </a:t>
            </a:r>
            <a:r>
              <a:rPr dirty="0" sz="1800" spc="-10" i="1">
                <a:latin typeface="Arial"/>
                <a:cs typeface="Arial"/>
              </a:rPr>
              <a:t>no </a:t>
            </a:r>
            <a:r>
              <a:rPr dirty="0" sz="1800" spc="-5" i="1">
                <a:latin typeface="Arial"/>
                <a:cs typeface="Arial"/>
              </a:rPr>
              <a:t>guide or standard that addresses </a:t>
            </a:r>
            <a:r>
              <a:rPr dirty="0" sz="1800" spc="-10" i="1">
                <a:latin typeface="Arial"/>
                <a:cs typeface="Arial"/>
              </a:rPr>
              <a:t>managing </a:t>
            </a:r>
            <a:r>
              <a:rPr dirty="0" sz="1800" spc="-5" i="1">
                <a:latin typeface="Arial"/>
                <a:cs typeface="Arial"/>
              </a:rPr>
              <a:t>a collection </a:t>
            </a:r>
            <a:r>
              <a:rPr dirty="0" sz="1800" i="1">
                <a:latin typeface="Arial"/>
                <a:cs typeface="Arial"/>
              </a:rPr>
              <a:t>of</a:t>
            </a:r>
            <a:r>
              <a:rPr dirty="0" sz="1800" spc="175" i="1">
                <a:latin typeface="Arial"/>
                <a:cs typeface="Arial"/>
              </a:rPr>
              <a:t> </a:t>
            </a:r>
            <a:r>
              <a:rPr dirty="0" sz="1800" spc="-10" i="1">
                <a:latin typeface="Arial"/>
                <a:cs typeface="Arial"/>
              </a:rPr>
              <a:t>models</a:t>
            </a:r>
            <a:endParaRPr sz="1800">
              <a:latin typeface="Arial"/>
              <a:cs typeface="Arial"/>
            </a:endParaRPr>
          </a:p>
          <a:p>
            <a:pPr lvl="1" marL="530860" indent="-229235">
              <a:lnSpc>
                <a:spcPct val="100000"/>
              </a:lnSpc>
              <a:spcBef>
                <a:spcPts val="434"/>
              </a:spcBef>
              <a:buFont typeface="Arial"/>
              <a:buChar char="–"/>
              <a:tabLst>
                <a:tab pos="530860" algn="l"/>
              </a:tabLst>
            </a:pPr>
            <a:r>
              <a:rPr dirty="0" sz="1800" spc="-10" i="1">
                <a:latin typeface="Arial"/>
                <a:cs typeface="Arial"/>
              </a:rPr>
              <a:t>Organizations </a:t>
            </a:r>
            <a:r>
              <a:rPr dirty="0" sz="1800" i="1">
                <a:latin typeface="Arial"/>
                <a:cs typeface="Arial"/>
              </a:rPr>
              <a:t>score </a:t>
            </a:r>
            <a:r>
              <a:rPr dirty="0" sz="1800" spc="-5" i="1">
                <a:latin typeface="Arial"/>
                <a:cs typeface="Arial"/>
              </a:rPr>
              <a:t>low on “Model </a:t>
            </a:r>
            <a:r>
              <a:rPr dirty="0" sz="1800" spc="-10" i="1">
                <a:latin typeface="Arial"/>
                <a:cs typeface="Arial"/>
              </a:rPr>
              <a:t>Management” capabilities </a:t>
            </a:r>
            <a:r>
              <a:rPr dirty="0" sz="1800" spc="-5" i="1">
                <a:latin typeface="Arial"/>
                <a:cs typeface="Arial"/>
              </a:rPr>
              <a:t>when assessed by </a:t>
            </a:r>
            <a:r>
              <a:rPr dirty="0" sz="1800" i="1">
                <a:latin typeface="Arial"/>
                <a:cs typeface="Arial"/>
              </a:rPr>
              <a:t>the </a:t>
            </a:r>
            <a:r>
              <a:rPr dirty="0" sz="1800" spc="-5" i="1">
                <a:latin typeface="Arial"/>
                <a:cs typeface="Arial"/>
              </a:rPr>
              <a:t>INCOSE</a:t>
            </a:r>
            <a:r>
              <a:rPr dirty="0" sz="1800" spc="265" i="1">
                <a:latin typeface="Arial"/>
                <a:cs typeface="Arial"/>
              </a:rPr>
              <a:t> </a:t>
            </a:r>
            <a:r>
              <a:rPr dirty="0" sz="1800" spc="-5" i="1">
                <a:latin typeface="Arial"/>
                <a:cs typeface="Arial"/>
              </a:rPr>
              <a:t>Model-</a:t>
            </a:r>
            <a:endParaRPr sz="1800">
              <a:latin typeface="Arial"/>
              <a:cs typeface="Arial"/>
            </a:endParaRPr>
          </a:p>
          <a:p>
            <a:pPr marL="530860">
              <a:lnSpc>
                <a:spcPct val="100000"/>
              </a:lnSpc>
            </a:pPr>
            <a:r>
              <a:rPr dirty="0" sz="1800" spc="-5" i="1">
                <a:latin typeface="Arial"/>
                <a:cs typeface="Arial"/>
              </a:rPr>
              <a:t>Based Capabilities</a:t>
            </a:r>
            <a:r>
              <a:rPr dirty="0" sz="1800" spc="25" i="1">
                <a:latin typeface="Arial"/>
                <a:cs typeface="Arial"/>
              </a:rPr>
              <a:t> </a:t>
            </a:r>
            <a:r>
              <a:rPr dirty="0" sz="1800" spc="-5" i="1">
                <a:latin typeface="Arial"/>
                <a:cs typeface="Arial"/>
              </a:rPr>
              <a:t>Matrix</a:t>
            </a:r>
            <a:endParaRPr sz="1800">
              <a:latin typeface="Arial"/>
              <a:cs typeface="Arial"/>
            </a:endParaRPr>
          </a:p>
          <a:p>
            <a:pPr lvl="1" marL="530860" indent="-229235">
              <a:lnSpc>
                <a:spcPct val="100000"/>
              </a:lnSpc>
              <a:spcBef>
                <a:spcPts val="430"/>
              </a:spcBef>
              <a:buFont typeface="Arial"/>
              <a:buChar char="–"/>
              <a:tabLst>
                <a:tab pos="530860" algn="l"/>
              </a:tabLst>
            </a:pPr>
            <a:r>
              <a:rPr dirty="0" sz="1800" i="1">
                <a:latin typeface="Arial"/>
                <a:cs typeface="Arial"/>
              </a:rPr>
              <a:t>The SERC SE </a:t>
            </a:r>
            <a:r>
              <a:rPr dirty="0" sz="1800" spc="-5" i="1">
                <a:latin typeface="Arial"/>
                <a:cs typeface="Arial"/>
              </a:rPr>
              <a:t>Survey </a:t>
            </a:r>
            <a:r>
              <a:rPr dirty="0" sz="1800" i="1">
                <a:latin typeface="Arial"/>
                <a:cs typeface="Arial"/>
              </a:rPr>
              <a:t>cited </a:t>
            </a:r>
            <a:r>
              <a:rPr dirty="0" sz="1800" spc="-5" i="1">
                <a:latin typeface="Arial"/>
                <a:cs typeface="Arial"/>
              </a:rPr>
              <a:t>“Model </a:t>
            </a:r>
            <a:r>
              <a:rPr dirty="0" sz="1800" spc="-10" i="1">
                <a:latin typeface="Arial"/>
                <a:cs typeface="Arial"/>
              </a:rPr>
              <a:t>Management” </a:t>
            </a:r>
            <a:r>
              <a:rPr dirty="0" sz="1800" spc="-5" i="1">
                <a:latin typeface="Arial"/>
                <a:cs typeface="Arial"/>
              </a:rPr>
              <a:t>as </a:t>
            </a:r>
            <a:r>
              <a:rPr dirty="0" sz="1800" i="1">
                <a:latin typeface="Arial"/>
                <a:cs typeface="Arial"/>
              </a:rPr>
              <a:t>a </a:t>
            </a:r>
            <a:r>
              <a:rPr dirty="0" sz="1800" spc="-5" i="1">
                <a:latin typeface="Arial"/>
                <a:cs typeface="Arial"/>
              </a:rPr>
              <a:t>significant area of</a:t>
            </a:r>
            <a:r>
              <a:rPr dirty="0" sz="1800" spc="85" i="1">
                <a:latin typeface="Arial"/>
                <a:cs typeface="Arial"/>
              </a:rPr>
              <a:t> </a:t>
            </a:r>
            <a:r>
              <a:rPr dirty="0" sz="1800" spc="-10" i="1">
                <a:latin typeface="Arial"/>
                <a:cs typeface="Arial"/>
              </a:rPr>
              <a:t>improvement</a:t>
            </a:r>
            <a:endParaRPr sz="1800">
              <a:latin typeface="Arial"/>
              <a:cs typeface="Arial"/>
            </a:endParaRPr>
          </a:p>
          <a:p>
            <a:pPr lvl="1" marL="530860" indent="-229235">
              <a:lnSpc>
                <a:spcPct val="100000"/>
              </a:lnSpc>
              <a:spcBef>
                <a:spcPts val="434"/>
              </a:spcBef>
              <a:buFont typeface="Arial"/>
              <a:buChar char="–"/>
              <a:tabLst>
                <a:tab pos="530860" algn="l"/>
              </a:tabLst>
            </a:pPr>
            <a:r>
              <a:rPr dirty="0" sz="1800" spc="-5" i="1">
                <a:latin typeface="Arial"/>
                <a:cs typeface="Arial"/>
              </a:rPr>
              <a:t>Acquirers routinely </a:t>
            </a:r>
            <a:r>
              <a:rPr dirty="0" sz="1800" i="1">
                <a:latin typeface="Arial"/>
                <a:cs typeface="Arial"/>
              </a:rPr>
              <a:t>ask for </a:t>
            </a:r>
            <a:r>
              <a:rPr dirty="0" sz="1800" spc="-5" i="1">
                <a:latin typeface="Arial"/>
                <a:cs typeface="Arial"/>
              </a:rPr>
              <a:t>model </a:t>
            </a:r>
            <a:r>
              <a:rPr dirty="0" sz="1800" spc="-10" i="1">
                <a:latin typeface="Arial"/>
                <a:cs typeface="Arial"/>
              </a:rPr>
              <a:t>management </a:t>
            </a:r>
            <a:r>
              <a:rPr dirty="0" sz="1800" i="1">
                <a:latin typeface="Arial"/>
                <a:cs typeface="Arial"/>
              </a:rPr>
              <a:t>work </a:t>
            </a:r>
            <a:r>
              <a:rPr dirty="0" sz="1800" spc="-5" i="1">
                <a:latin typeface="Arial"/>
                <a:cs typeface="Arial"/>
              </a:rPr>
              <a:t>and responding bidders have a range </a:t>
            </a:r>
            <a:r>
              <a:rPr dirty="0" sz="1800" i="1">
                <a:latin typeface="Arial"/>
                <a:cs typeface="Arial"/>
              </a:rPr>
              <a:t>of</a:t>
            </a:r>
            <a:r>
              <a:rPr dirty="0" sz="1800" spc="225" i="1">
                <a:latin typeface="Arial"/>
                <a:cs typeface="Arial"/>
              </a:rPr>
              <a:t> </a:t>
            </a:r>
            <a:r>
              <a:rPr dirty="0" sz="1800" spc="-5" i="1">
                <a:latin typeface="Arial"/>
                <a:cs typeface="Arial"/>
              </a:rPr>
              <a:t>responses</a:t>
            </a:r>
            <a:endParaRPr sz="1800">
              <a:latin typeface="Arial"/>
              <a:cs typeface="Arial"/>
            </a:endParaRPr>
          </a:p>
          <a:p>
            <a:pPr marL="184785" indent="-172720">
              <a:lnSpc>
                <a:spcPct val="100000"/>
              </a:lnSpc>
              <a:spcBef>
                <a:spcPts val="470"/>
              </a:spcBef>
              <a:buSzPct val="130000"/>
              <a:buChar char="•"/>
              <a:tabLst>
                <a:tab pos="185420" algn="l"/>
              </a:tabLst>
            </a:pPr>
            <a:r>
              <a:rPr dirty="0" sz="2000">
                <a:latin typeface="Arial"/>
                <a:cs typeface="Arial"/>
              </a:rPr>
              <a:t>An interim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solution</a:t>
            </a:r>
            <a:endParaRPr sz="2000">
              <a:latin typeface="Arial"/>
              <a:cs typeface="Arial"/>
            </a:endParaRPr>
          </a:p>
          <a:p>
            <a:pPr lvl="1" marL="530860" marR="69215" indent="-228600">
              <a:lnSpc>
                <a:spcPct val="100000"/>
              </a:lnSpc>
              <a:spcBef>
                <a:spcPts val="440"/>
              </a:spcBef>
              <a:buFont typeface="Arial"/>
              <a:buChar char="–"/>
              <a:tabLst>
                <a:tab pos="530860" algn="l"/>
              </a:tabLst>
            </a:pPr>
            <a:r>
              <a:rPr dirty="0" sz="1800" i="1">
                <a:latin typeface="Arial"/>
                <a:cs typeface="Arial"/>
              </a:rPr>
              <a:t>The </a:t>
            </a:r>
            <a:r>
              <a:rPr dirty="0" sz="1800" spc="-5" i="1">
                <a:latin typeface="Arial"/>
                <a:cs typeface="Arial"/>
              </a:rPr>
              <a:t>Aerospace Corporation </a:t>
            </a:r>
            <a:r>
              <a:rPr dirty="0" sz="1800" i="1">
                <a:latin typeface="Arial"/>
                <a:cs typeface="Arial"/>
              </a:rPr>
              <a:t>wrote </a:t>
            </a:r>
            <a:r>
              <a:rPr dirty="0" sz="1800" spc="-5" i="1">
                <a:latin typeface="Arial"/>
                <a:cs typeface="Arial"/>
              </a:rPr>
              <a:t>the </a:t>
            </a:r>
            <a:r>
              <a:rPr dirty="0" sz="1800" spc="-5" b="1" i="1">
                <a:latin typeface="Arial"/>
                <a:cs typeface="Arial"/>
              </a:rPr>
              <a:t>“Model </a:t>
            </a:r>
            <a:r>
              <a:rPr dirty="0" sz="1800" b="1" i="1">
                <a:latin typeface="Arial"/>
                <a:cs typeface="Arial"/>
              </a:rPr>
              <a:t>Portfolio </a:t>
            </a:r>
            <a:r>
              <a:rPr dirty="0" sz="1800" spc="-5" b="1" i="1">
                <a:latin typeface="Arial"/>
                <a:cs typeface="Arial"/>
              </a:rPr>
              <a:t>Management (MPM) </a:t>
            </a:r>
            <a:r>
              <a:rPr dirty="0" sz="1800" b="1" i="1">
                <a:latin typeface="Arial"/>
                <a:cs typeface="Arial"/>
              </a:rPr>
              <a:t>Guide” </a:t>
            </a:r>
            <a:r>
              <a:rPr dirty="0" sz="1800" spc="-5" b="1" i="1">
                <a:latin typeface="Arial"/>
                <a:cs typeface="Arial"/>
              </a:rPr>
              <a:t>technical  </a:t>
            </a:r>
            <a:r>
              <a:rPr dirty="0" sz="1800" spc="-5" b="1" i="1">
                <a:latin typeface="Arial"/>
                <a:cs typeface="Arial"/>
              </a:rPr>
              <a:t>operating report </a:t>
            </a:r>
            <a:r>
              <a:rPr dirty="0" sz="1800" spc="-10" b="1" i="1">
                <a:latin typeface="Arial"/>
                <a:cs typeface="Arial"/>
              </a:rPr>
              <a:t>TOR-202-01577, </a:t>
            </a:r>
            <a:r>
              <a:rPr dirty="0" sz="1800" spc="-5" b="1" i="1">
                <a:latin typeface="Arial"/>
                <a:cs typeface="Arial"/>
              </a:rPr>
              <a:t>cleared </a:t>
            </a:r>
            <a:r>
              <a:rPr dirty="0" sz="1800" b="1" i="1">
                <a:latin typeface="Arial"/>
                <a:cs typeface="Arial"/>
              </a:rPr>
              <a:t>for public </a:t>
            </a:r>
            <a:r>
              <a:rPr dirty="0" sz="1800" spc="-5" b="1" i="1">
                <a:latin typeface="Arial"/>
                <a:cs typeface="Arial"/>
              </a:rPr>
              <a:t>release </a:t>
            </a:r>
            <a:r>
              <a:rPr dirty="0" sz="1800" i="1">
                <a:latin typeface="Arial"/>
                <a:cs typeface="Arial"/>
              </a:rPr>
              <a:t>to </a:t>
            </a:r>
            <a:r>
              <a:rPr dirty="0" sz="1800" spc="-5" i="1">
                <a:latin typeface="Arial"/>
                <a:cs typeface="Arial"/>
              </a:rPr>
              <a:t>serve </a:t>
            </a:r>
            <a:r>
              <a:rPr dirty="0" sz="1800" spc="-10" i="1">
                <a:latin typeface="Arial"/>
                <a:cs typeface="Arial"/>
              </a:rPr>
              <a:t>organizations </a:t>
            </a:r>
            <a:r>
              <a:rPr dirty="0" sz="1800" spc="-5" i="1">
                <a:latin typeface="Arial"/>
                <a:cs typeface="Arial"/>
              </a:rPr>
              <a:t>that would like </a:t>
            </a:r>
            <a:r>
              <a:rPr dirty="0" sz="1800" i="1">
                <a:latin typeface="Arial"/>
                <a:cs typeface="Arial"/>
              </a:rPr>
              <a:t>to  </a:t>
            </a:r>
            <a:r>
              <a:rPr dirty="0" sz="1800" spc="-10" i="1">
                <a:latin typeface="Arial"/>
                <a:cs typeface="Arial"/>
              </a:rPr>
              <a:t>manage </a:t>
            </a:r>
            <a:r>
              <a:rPr dirty="0" sz="1800" spc="-5" i="1">
                <a:latin typeface="Arial"/>
                <a:cs typeface="Arial"/>
              </a:rPr>
              <a:t>their collection </a:t>
            </a:r>
            <a:r>
              <a:rPr dirty="0" sz="1800" i="1">
                <a:latin typeface="Arial"/>
                <a:cs typeface="Arial"/>
              </a:rPr>
              <a:t>of </a:t>
            </a:r>
            <a:r>
              <a:rPr dirty="0" sz="1800" spc="-10" i="1">
                <a:latin typeface="Arial"/>
                <a:cs typeface="Arial"/>
              </a:rPr>
              <a:t>models </a:t>
            </a:r>
            <a:r>
              <a:rPr dirty="0" sz="1800" spc="-5" i="1">
                <a:latin typeface="Arial"/>
                <a:cs typeface="Arial"/>
              </a:rPr>
              <a:t>and </a:t>
            </a:r>
            <a:r>
              <a:rPr dirty="0" sz="1800" i="1">
                <a:latin typeface="Arial"/>
                <a:cs typeface="Arial"/>
              </a:rPr>
              <a:t>to </a:t>
            </a:r>
            <a:r>
              <a:rPr dirty="0" sz="1800" spc="-5" i="1">
                <a:latin typeface="Arial"/>
                <a:cs typeface="Arial"/>
              </a:rPr>
              <a:t>serve as </a:t>
            </a:r>
            <a:r>
              <a:rPr dirty="0" sz="1800" spc="-10" i="1">
                <a:latin typeface="Arial"/>
                <a:cs typeface="Arial"/>
              </a:rPr>
              <a:t>an </a:t>
            </a:r>
            <a:r>
              <a:rPr dirty="0" sz="1800" spc="-5" i="1">
                <a:latin typeface="Arial"/>
                <a:cs typeface="Arial"/>
              </a:rPr>
              <a:t>solicitation reference</a:t>
            </a:r>
            <a:r>
              <a:rPr dirty="0" sz="1800" spc="180" i="1">
                <a:latin typeface="Arial"/>
                <a:cs typeface="Arial"/>
              </a:rPr>
              <a:t> </a:t>
            </a:r>
            <a:r>
              <a:rPr dirty="0" sz="1800" spc="-10" i="1">
                <a:latin typeface="Arial"/>
                <a:cs typeface="Arial"/>
              </a:rPr>
              <a:t>document</a:t>
            </a:r>
            <a:endParaRPr sz="1800">
              <a:latin typeface="Arial"/>
              <a:cs typeface="Arial"/>
            </a:endParaRPr>
          </a:p>
          <a:p>
            <a:pPr lvl="1" marL="530860" indent="-229235">
              <a:lnSpc>
                <a:spcPct val="100000"/>
              </a:lnSpc>
              <a:spcBef>
                <a:spcPts val="434"/>
              </a:spcBef>
              <a:buFont typeface="Arial"/>
              <a:buChar char="–"/>
              <a:tabLst>
                <a:tab pos="530860" algn="l"/>
              </a:tabLst>
            </a:pPr>
            <a:r>
              <a:rPr dirty="0" sz="1800" i="1">
                <a:latin typeface="Arial"/>
                <a:cs typeface="Arial"/>
              </a:rPr>
              <a:t>The </a:t>
            </a:r>
            <a:r>
              <a:rPr dirty="0" sz="1800" spc="-10" i="1">
                <a:latin typeface="Arial"/>
                <a:cs typeface="Arial"/>
              </a:rPr>
              <a:t>TOR </a:t>
            </a:r>
            <a:r>
              <a:rPr dirty="0" sz="1800" i="1">
                <a:latin typeface="Arial"/>
                <a:cs typeface="Arial"/>
              </a:rPr>
              <a:t>was written </a:t>
            </a:r>
            <a:r>
              <a:rPr dirty="0" sz="1800" spc="-5" i="1">
                <a:latin typeface="Arial"/>
                <a:cs typeface="Arial"/>
              </a:rPr>
              <a:t>using </a:t>
            </a:r>
            <a:r>
              <a:rPr dirty="0" sz="1800" i="1">
                <a:latin typeface="Arial"/>
                <a:cs typeface="Arial"/>
              </a:rPr>
              <a:t>the </a:t>
            </a:r>
            <a:r>
              <a:rPr dirty="0" sz="1800" spc="-5" i="1">
                <a:latin typeface="Arial"/>
                <a:cs typeface="Arial"/>
              </a:rPr>
              <a:t>INCOSE style guide </a:t>
            </a:r>
            <a:r>
              <a:rPr dirty="0" sz="1800" i="1">
                <a:latin typeface="Arial"/>
                <a:cs typeface="Arial"/>
              </a:rPr>
              <a:t>for</a:t>
            </a:r>
            <a:r>
              <a:rPr dirty="0" sz="1800" spc="-15" i="1">
                <a:latin typeface="Arial"/>
                <a:cs typeface="Arial"/>
              </a:rPr>
              <a:t> </a:t>
            </a:r>
            <a:r>
              <a:rPr dirty="0" sz="1800" spc="-5" i="1">
                <a:latin typeface="Arial"/>
                <a:cs typeface="Arial"/>
              </a:rPr>
              <a:t>documents</a:t>
            </a:r>
            <a:endParaRPr sz="1800">
              <a:latin typeface="Arial"/>
              <a:cs typeface="Arial"/>
            </a:endParaRPr>
          </a:p>
          <a:p>
            <a:pPr lvl="1" marL="530860" indent="-229235">
              <a:lnSpc>
                <a:spcPct val="100000"/>
              </a:lnSpc>
              <a:spcBef>
                <a:spcPts val="430"/>
              </a:spcBef>
              <a:buFont typeface="Arial"/>
              <a:buChar char="–"/>
              <a:tabLst>
                <a:tab pos="530860" algn="l"/>
              </a:tabLst>
            </a:pPr>
            <a:r>
              <a:rPr dirty="0" sz="1800" i="1">
                <a:latin typeface="Arial"/>
                <a:cs typeface="Arial"/>
              </a:rPr>
              <a:t>The </a:t>
            </a:r>
            <a:r>
              <a:rPr dirty="0" sz="1800" spc="-10" i="1">
                <a:latin typeface="Arial"/>
                <a:cs typeface="Arial"/>
              </a:rPr>
              <a:t>TOR </a:t>
            </a:r>
            <a:r>
              <a:rPr dirty="0" sz="1800" spc="-5" i="1">
                <a:latin typeface="Arial"/>
                <a:cs typeface="Arial"/>
              </a:rPr>
              <a:t>is already been used as a reference </a:t>
            </a:r>
            <a:r>
              <a:rPr dirty="0" sz="1800" i="1">
                <a:latin typeface="Arial"/>
                <a:cs typeface="Arial"/>
              </a:rPr>
              <a:t>for </a:t>
            </a:r>
            <a:r>
              <a:rPr dirty="0" sz="1800" spc="-5" i="1">
                <a:latin typeface="Arial"/>
                <a:cs typeface="Arial"/>
              </a:rPr>
              <a:t>US </a:t>
            </a:r>
            <a:r>
              <a:rPr dirty="0" sz="1800" spc="-10" i="1">
                <a:latin typeface="Arial"/>
                <a:cs typeface="Arial"/>
              </a:rPr>
              <a:t>government</a:t>
            </a:r>
            <a:r>
              <a:rPr dirty="0" sz="1800" spc="100" i="1">
                <a:latin typeface="Arial"/>
                <a:cs typeface="Arial"/>
              </a:rPr>
              <a:t> </a:t>
            </a:r>
            <a:r>
              <a:rPr dirty="0" sz="1800" spc="-5" i="1">
                <a:latin typeface="Arial"/>
                <a:cs typeface="Arial"/>
              </a:rPr>
              <a:t>acquisitions</a:t>
            </a:r>
            <a:endParaRPr sz="1800">
              <a:latin typeface="Arial"/>
              <a:cs typeface="Arial"/>
            </a:endParaRPr>
          </a:p>
          <a:p>
            <a:pPr marL="184785" indent="-172720">
              <a:lnSpc>
                <a:spcPct val="100000"/>
              </a:lnSpc>
              <a:spcBef>
                <a:spcPts val="475"/>
              </a:spcBef>
              <a:buSzPct val="130000"/>
              <a:buChar char="•"/>
              <a:tabLst>
                <a:tab pos="185420" algn="l"/>
              </a:tabLst>
            </a:pPr>
            <a:r>
              <a:rPr dirty="0" sz="2000">
                <a:latin typeface="Arial"/>
                <a:cs typeface="Arial"/>
              </a:rPr>
              <a:t>Proposed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solution</a:t>
            </a:r>
            <a:endParaRPr sz="2000">
              <a:latin typeface="Arial"/>
              <a:cs typeface="Arial"/>
            </a:endParaRPr>
          </a:p>
          <a:p>
            <a:pPr lvl="1" marL="530860" indent="-229235">
              <a:lnSpc>
                <a:spcPct val="100000"/>
              </a:lnSpc>
              <a:spcBef>
                <a:spcPts val="440"/>
              </a:spcBef>
              <a:buFont typeface="Arial"/>
              <a:buChar char="–"/>
              <a:tabLst>
                <a:tab pos="530860" algn="l"/>
              </a:tabLst>
            </a:pPr>
            <a:r>
              <a:rPr dirty="0" sz="1800" i="1">
                <a:latin typeface="Arial"/>
                <a:cs typeface="Arial"/>
              </a:rPr>
              <a:t>INCOSE to </a:t>
            </a:r>
            <a:r>
              <a:rPr dirty="0" sz="1800" spc="-5" i="1">
                <a:latin typeface="Arial"/>
                <a:cs typeface="Arial"/>
              </a:rPr>
              <a:t>consider </a:t>
            </a:r>
            <a:r>
              <a:rPr dirty="0" sz="1800" i="1">
                <a:latin typeface="Arial"/>
                <a:cs typeface="Arial"/>
              </a:rPr>
              <a:t>the MPM </a:t>
            </a:r>
            <a:r>
              <a:rPr dirty="0" sz="1800" spc="-5" i="1">
                <a:latin typeface="Arial"/>
                <a:cs typeface="Arial"/>
              </a:rPr>
              <a:t>Guide </a:t>
            </a:r>
            <a:r>
              <a:rPr dirty="0" sz="1800" spc="-15" i="1">
                <a:latin typeface="Arial"/>
                <a:cs typeface="Arial"/>
              </a:rPr>
              <a:t>TOR </a:t>
            </a:r>
            <a:r>
              <a:rPr dirty="0" sz="1800" spc="-5" i="1">
                <a:latin typeface="Arial"/>
                <a:cs typeface="Arial"/>
              </a:rPr>
              <a:t>as the basis </a:t>
            </a:r>
            <a:r>
              <a:rPr dirty="0" sz="1800" i="1">
                <a:latin typeface="Arial"/>
                <a:cs typeface="Arial"/>
              </a:rPr>
              <a:t>of </a:t>
            </a:r>
            <a:r>
              <a:rPr dirty="0" sz="1800" spc="-5" i="1">
                <a:latin typeface="Arial"/>
                <a:cs typeface="Arial"/>
              </a:rPr>
              <a:t>an INCOSE</a:t>
            </a:r>
            <a:r>
              <a:rPr dirty="0" sz="1800" spc="25" i="1">
                <a:latin typeface="Arial"/>
                <a:cs typeface="Arial"/>
              </a:rPr>
              <a:t> </a:t>
            </a:r>
            <a:r>
              <a:rPr dirty="0" sz="1800" spc="-5" i="1">
                <a:latin typeface="Arial"/>
                <a:cs typeface="Arial"/>
              </a:rPr>
              <a:t>guide</a:t>
            </a:r>
            <a:endParaRPr sz="1800">
              <a:latin typeface="Arial"/>
              <a:cs typeface="Arial"/>
            </a:endParaRPr>
          </a:p>
          <a:p>
            <a:pPr lvl="1" marL="530860" indent="-229235">
              <a:lnSpc>
                <a:spcPct val="100000"/>
              </a:lnSpc>
              <a:spcBef>
                <a:spcPts val="434"/>
              </a:spcBef>
              <a:buFont typeface="Arial"/>
              <a:buChar char="–"/>
              <a:tabLst>
                <a:tab pos="530860" algn="l"/>
              </a:tabLst>
            </a:pPr>
            <a:r>
              <a:rPr dirty="0" sz="1800" i="1">
                <a:latin typeface="Arial"/>
                <a:cs typeface="Arial"/>
              </a:rPr>
              <a:t>The </a:t>
            </a:r>
            <a:r>
              <a:rPr dirty="0" sz="1800" spc="-5" i="1">
                <a:latin typeface="Arial"/>
                <a:cs typeface="Arial"/>
              </a:rPr>
              <a:t>draft INCOSE </a:t>
            </a:r>
            <a:r>
              <a:rPr dirty="0" sz="1800" spc="-25" i="1">
                <a:latin typeface="Arial"/>
                <a:cs typeface="Arial"/>
              </a:rPr>
              <a:t>Technical </a:t>
            </a:r>
            <a:r>
              <a:rPr dirty="0" sz="1800" spc="-5" i="1">
                <a:latin typeface="Arial"/>
                <a:cs typeface="Arial"/>
              </a:rPr>
              <a:t>Performance Plan provides an approach </a:t>
            </a:r>
            <a:r>
              <a:rPr dirty="0" sz="1800" i="1">
                <a:latin typeface="Arial"/>
                <a:cs typeface="Arial"/>
              </a:rPr>
              <a:t>to </a:t>
            </a:r>
            <a:r>
              <a:rPr dirty="0" sz="1800" spc="-5" i="1">
                <a:latin typeface="Arial"/>
                <a:cs typeface="Arial"/>
              </a:rPr>
              <a:t>develop </a:t>
            </a:r>
            <a:r>
              <a:rPr dirty="0" sz="1800" i="1">
                <a:latin typeface="Arial"/>
                <a:cs typeface="Arial"/>
              </a:rPr>
              <a:t>the </a:t>
            </a:r>
            <a:r>
              <a:rPr dirty="0" sz="1800" spc="-5" i="1">
                <a:latin typeface="Arial"/>
                <a:cs typeface="Arial"/>
              </a:rPr>
              <a:t>INCOSE</a:t>
            </a:r>
            <a:r>
              <a:rPr dirty="0" sz="1800" spc="155" i="1">
                <a:latin typeface="Arial"/>
                <a:cs typeface="Arial"/>
              </a:rPr>
              <a:t> </a:t>
            </a:r>
            <a:r>
              <a:rPr dirty="0" sz="1800" spc="-5" i="1">
                <a:latin typeface="Arial"/>
                <a:cs typeface="Arial"/>
              </a:rPr>
              <a:t>guide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58571"/>
            <a:ext cx="609727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"/>
              <a:t>MPM </a:t>
            </a:r>
            <a:r>
              <a:rPr dirty="0"/>
              <a:t>Guide </a:t>
            </a:r>
            <a:r>
              <a:rPr dirty="0" spc="-5"/>
              <a:t>Adoption </a:t>
            </a:r>
            <a:r>
              <a:rPr dirty="0" spc="-10"/>
              <a:t>Workshop</a:t>
            </a:r>
            <a:r>
              <a:rPr dirty="0" spc="-135"/>
              <a:t> </a:t>
            </a:r>
            <a:r>
              <a:rPr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3410" y="1151187"/>
            <a:ext cx="6785609" cy="457835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10"/>
              </a:spcBef>
              <a:buSzPct val="129166"/>
              <a:buChar char="•"/>
              <a:tabLst>
                <a:tab pos="185420" algn="l"/>
              </a:tabLst>
            </a:pPr>
            <a:r>
              <a:rPr dirty="0" sz="2400" spc="-10">
                <a:latin typeface="Arial"/>
                <a:cs typeface="Arial"/>
              </a:rPr>
              <a:t>Workshop</a:t>
            </a:r>
            <a:r>
              <a:rPr dirty="0" sz="2400" spc="5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Organizers</a:t>
            </a:r>
            <a:endParaRPr sz="2400">
              <a:latin typeface="Arial"/>
              <a:cs typeface="Arial"/>
            </a:endParaRPr>
          </a:p>
          <a:p>
            <a:pPr lvl="1" marL="530860" marR="1424940" indent="-228600">
              <a:lnSpc>
                <a:spcPct val="100000"/>
              </a:lnSpc>
              <a:spcBef>
                <a:spcPts val="265"/>
              </a:spcBef>
              <a:buFont typeface="Arial"/>
              <a:buChar char="–"/>
              <a:tabLst>
                <a:tab pos="530860" algn="l"/>
              </a:tabLst>
            </a:pPr>
            <a:r>
              <a:rPr dirty="0" sz="1600" spc="-5" i="1">
                <a:latin typeface="Arial"/>
                <a:cs typeface="Arial"/>
              </a:rPr>
              <a:t>Al Hoheb (Project Lead), The Aerospace Corporation, </a:t>
            </a:r>
            <a:r>
              <a:rPr dirty="0" u="heavy" sz="1600" spc="-5" i="1">
                <a:solidFill>
                  <a:srgbClr val="5E89B4"/>
                </a:solidFill>
                <a:uFill>
                  <a:solidFill>
                    <a:srgbClr val="5E89B4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600" spc="-5" i="1">
                <a:solidFill>
                  <a:srgbClr val="5E89B4"/>
                </a:solidFill>
                <a:uFill>
                  <a:solidFill>
                    <a:srgbClr val="5E89B4"/>
                  </a:solidFill>
                </a:uFill>
                <a:latin typeface="Arial"/>
                <a:cs typeface="Arial"/>
                <a:hlinkClick r:id="rId2"/>
              </a:rPr>
              <a:t>Albert.c.hoheb@aero.org</a:t>
            </a:r>
            <a:endParaRPr sz="1600">
              <a:latin typeface="Arial"/>
              <a:cs typeface="Arial"/>
            </a:endParaRPr>
          </a:p>
          <a:p>
            <a:pPr lvl="1" marL="530860" indent="-229235">
              <a:lnSpc>
                <a:spcPct val="100000"/>
              </a:lnSpc>
              <a:spcBef>
                <a:spcPts val="385"/>
              </a:spcBef>
              <a:buFont typeface="Arial"/>
              <a:buChar char="–"/>
              <a:tabLst>
                <a:tab pos="530860" algn="l"/>
              </a:tabLst>
            </a:pPr>
            <a:r>
              <a:rPr dirty="0" sz="1600" spc="-5" i="1">
                <a:latin typeface="Arial"/>
                <a:cs typeface="Arial"/>
              </a:rPr>
              <a:t>Misak Zetilyan, The Aerospace Corporation,</a:t>
            </a:r>
            <a:r>
              <a:rPr dirty="0" sz="1600" spc="10" i="1">
                <a:solidFill>
                  <a:srgbClr val="5E89B4"/>
                </a:solidFill>
                <a:latin typeface="Arial"/>
                <a:cs typeface="Arial"/>
              </a:rPr>
              <a:t> </a:t>
            </a:r>
            <a:r>
              <a:rPr dirty="0" u="heavy" sz="1600" spc="-5" i="1">
                <a:solidFill>
                  <a:srgbClr val="5E89B4"/>
                </a:solidFill>
                <a:uFill>
                  <a:solidFill>
                    <a:srgbClr val="5E89B4"/>
                  </a:solidFill>
                </a:uFill>
                <a:latin typeface="Arial"/>
                <a:cs typeface="Arial"/>
                <a:hlinkClick r:id="rId3"/>
              </a:rPr>
              <a:t>misak.zetilyan@aero.org</a:t>
            </a:r>
            <a:endParaRPr sz="1600">
              <a:latin typeface="Arial"/>
              <a:cs typeface="Arial"/>
            </a:endParaRPr>
          </a:p>
          <a:p>
            <a:pPr lvl="1" marL="530860" indent="-229235">
              <a:lnSpc>
                <a:spcPts val="1850"/>
              </a:lnSpc>
              <a:spcBef>
                <a:spcPts val="385"/>
              </a:spcBef>
              <a:buFont typeface="Arial"/>
              <a:buChar char="–"/>
              <a:tabLst>
                <a:tab pos="530860" algn="l"/>
              </a:tabLst>
            </a:pPr>
            <a:r>
              <a:rPr dirty="0" sz="1600" spc="-5" i="1">
                <a:latin typeface="Arial"/>
                <a:cs typeface="Arial"/>
              </a:rPr>
              <a:t>John Nallon, INCOSE,</a:t>
            </a:r>
            <a:r>
              <a:rPr dirty="0" sz="1600" spc="20" i="1">
                <a:solidFill>
                  <a:srgbClr val="5E89B4"/>
                </a:solidFill>
                <a:latin typeface="Arial"/>
                <a:cs typeface="Arial"/>
              </a:rPr>
              <a:t> </a:t>
            </a:r>
            <a:r>
              <a:rPr dirty="0" u="heavy" sz="1600" spc="-5" i="1">
                <a:solidFill>
                  <a:srgbClr val="5E89B4"/>
                </a:solidFill>
                <a:uFill>
                  <a:solidFill>
                    <a:srgbClr val="5E89B4"/>
                  </a:solidFill>
                </a:uFill>
                <a:latin typeface="Arial"/>
                <a:cs typeface="Arial"/>
                <a:hlinkClick r:id="rId4"/>
              </a:rPr>
              <a:t>jfnallon@outlook.com</a:t>
            </a:r>
            <a:endParaRPr sz="1600">
              <a:latin typeface="Arial"/>
              <a:cs typeface="Arial"/>
            </a:endParaRPr>
          </a:p>
          <a:p>
            <a:pPr marL="184785" indent="-172720">
              <a:lnSpc>
                <a:spcPts val="3650"/>
              </a:lnSpc>
              <a:buSzPct val="129166"/>
              <a:buChar char="•"/>
              <a:tabLst>
                <a:tab pos="185420" algn="l"/>
              </a:tabLst>
            </a:pPr>
            <a:r>
              <a:rPr dirty="0" sz="2400" spc="-10">
                <a:latin typeface="Arial"/>
                <a:cs typeface="Arial"/>
              </a:rPr>
              <a:t>Workshop</a:t>
            </a:r>
            <a:r>
              <a:rPr dirty="0" sz="2400" spc="-125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Agenda</a:t>
            </a:r>
            <a:endParaRPr sz="2400">
              <a:latin typeface="Arial"/>
              <a:cs typeface="Arial"/>
            </a:endParaRPr>
          </a:p>
          <a:p>
            <a:pPr lvl="1" marL="530860" marR="180975" indent="-228600">
              <a:lnSpc>
                <a:spcPct val="100000"/>
              </a:lnSpc>
              <a:spcBef>
                <a:spcPts val="385"/>
              </a:spcBef>
              <a:buFont typeface="Arial"/>
              <a:buChar char="–"/>
              <a:tabLst>
                <a:tab pos="530860" algn="l"/>
              </a:tabLst>
            </a:pPr>
            <a:r>
              <a:rPr dirty="0" sz="2200" spc="-10" i="1">
                <a:latin typeface="Arial"/>
                <a:cs typeface="Arial"/>
              </a:rPr>
              <a:t>Welcome, </a:t>
            </a:r>
            <a:r>
              <a:rPr dirty="0" sz="2200" spc="-5" i="1">
                <a:latin typeface="Arial"/>
                <a:cs typeface="Arial"/>
              </a:rPr>
              <a:t>introductions and logistics Overview of  </a:t>
            </a:r>
            <a:r>
              <a:rPr dirty="0" sz="2200" spc="-5" i="1">
                <a:latin typeface="Arial"/>
                <a:cs typeface="Arial"/>
              </a:rPr>
              <a:t>the </a:t>
            </a:r>
            <a:r>
              <a:rPr dirty="0" sz="2200" spc="-45" i="1">
                <a:latin typeface="Arial"/>
                <a:cs typeface="Arial"/>
              </a:rPr>
              <a:t>Tools </a:t>
            </a:r>
            <a:r>
              <a:rPr dirty="0" sz="2200" spc="-5" i="1">
                <a:latin typeface="Arial"/>
                <a:cs typeface="Arial"/>
              </a:rPr>
              <a:t>Integration &amp; Model Lifecycle  Management (TIMLM)</a:t>
            </a:r>
            <a:r>
              <a:rPr dirty="0" sz="2200" spc="95" i="1">
                <a:latin typeface="Arial"/>
                <a:cs typeface="Arial"/>
              </a:rPr>
              <a:t> </a:t>
            </a:r>
            <a:r>
              <a:rPr dirty="0" sz="2200" spc="-5" i="1">
                <a:latin typeface="Arial"/>
                <a:cs typeface="Arial"/>
              </a:rPr>
              <a:t>WG</a:t>
            </a:r>
            <a:endParaRPr sz="2200">
              <a:latin typeface="Arial"/>
              <a:cs typeface="Arial"/>
            </a:endParaRPr>
          </a:p>
          <a:p>
            <a:pPr lvl="1" marL="530860" marR="393065" indent="-228600">
              <a:lnSpc>
                <a:spcPct val="100000"/>
              </a:lnSpc>
              <a:spcBef>
                <a:spcPts val="530"/>
              </a:spcBef>
              <a:buFont typeface="Arial"/>
              <a:buChar char="–"/>
              <a:tabLst>
                <a:tab pos="530860" algn="l"/>
              </a:tabLst>
            </a:pPr>
            <a:r>
              <a:rPr dirty="0" sz="2200" spc="-5" i="1">
                <a:latin typeface="Arial"/>
                <a:cs typeface="Arial"/>
              </a:rPr>
              <a:t>Overview of The Aerospace Corporation MPM  </a:t>
            </a:r>
            <a:r>
              <a:rPr dirty="0" sz="2200" spc="-5" i="1">
                <a:latin typeface="Arial"/>
                <a:cs typeface="Arial"/>
              </a:rPr>
              <a:t>Guide document Review of Candidate INCOSE  </a:t>
            </a:r>
            <a:r>
              <a:rPr dirty="0" sz="2200" spc="-25" i="1">
                <a:latin typeface="Arial"/>
                <a:cs typeface="Arial"/>
              </a:rPr>
              <a:t>Technical </a:t>
            </a:r>
            <a:r>
              <a:rPr dirty="0" sz="2200" spc="-5" i="1">
                <a:latin typeface="Arial"/>
                <a:cs typeface="Arial"/>
              </a:rPr>
              <a:t>Procedure</a:t>
            </a:r>
            <a:r>
              <a:rPr dirty="0" sz="2200" spc="25" i="1">
                <a:latin typeface="Arial"/>
                <a:cs typeface="Arial"/>
              </a:rPr>
              <a:t> </a:t>
            </a:r>
            <a:r>
              <a:rPr dirty="0" sz="2200" spc="-5" i="1">
                <a:latin typeface="Arial"/>
                <a:cs typeface="Arial"/>
              </a:rPr>
              <a:t>Plan</a:t>
            </a:r>
            <a:endParaRPr sz="2200">
              <a:latin typeface="Arial"/>
              <a:cs typeface="Arial"/>
            </a:endParaRPr>
          </a:p>
          <a:p>
            <a:pPr lvl="1" marL="530860" indent="-229235">
              <a:lnSpc>
                <a:spcPct val="100000"/>
              </a:lnSpc>
              <a:spcBef>
                <a:spcPts val="530"/>
              </a:spcBef>
              <a:buFont typeface="Arial"/>
              <a:buChar char="–"/>
              <a:tabLst>
                <a:tab pos="530860" algn="l"/>
              </a:tabLst>
            </a:pPr>
            <a:r>
              <a:rPr dirty="0" sz="2200" spc="-5" i="1">
                <a:latin typeface="Arial"/>
                <a:cs typeface="Arial"/>
              </a:rPr>
              <a:t>Next</a:t>
            </a:r>
            <a:r>
              <a:rPr dirty="0" sz="2200" spc="-10" i="1">
                <a:latin typeface="Arial"/>
                <a:cs typeface="Arial"/>
              </a:rPr>
              <a:t> </a:t>
            </a:r>
            <a:r>
              <a:rPr dirty="0" sz="2200" spc="-5" i="1">
                <a:latin typeface="Arial"/>
                <a:cs typeface="Arial"/>
              </a:rPr>
              <a:t>Steps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472171" y="1168907"/>
            <a:ext cx="4125595" cy="5240020"/>
            <a:chOff x="7472171" y="1168907"/>
            <a:chExt cx="4125595" cy="5240020"/>
          </a:xfrm>
        </p:grpSpPr>
        <p:sp>
          <p:nvSpPr>
            <p:cNvPr id="5" name="object 5"/>
            <p:cNvSpPr/>
            <p:nvPr/>
          </p:nvSpPr>
          <p:spPr>
            <a:xfrm>
              <a:off x="7472171" y="1168907"/>
              <a:ext cx="4125467" cy="523951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545323" y="1203959"/>
              <a:ext cx="3983735" cy="50977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535417" y="1194053"/>
              <a:ext cx="4003675" cy="5118100"/>
            </a:xfrm>
            <a:custGeom>
              <a:avLst/>
              <a:gdLst/>
              <a:ahLst/>
              <a:cxnLst/>
              <a:rect l="l" t="t" r="r" b="b"/>
              <a:pathLst>
                <a:path w="4003675" h="5118100">
                  <a:moveTo>
                    <a:pt x="0" y="5117592"/>
                  </a:moveTo>
                  <a:lnTo>
                    <a:pt x="4003548" y="5117592"/>
                  </a:lnTo>
                  <a:lnTo>
                    <a:pt x="4003548" y="0"/>
                  </a:lnTo>
                  <a:lnTo>
                    <a:pt x="0" y="0"/>
                  </a:lnTo>
                  <a:lnTo>
                    <a:pt x="0" y="5117592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Albert C Hoheb</dc:creator>
  <dc:title>Your Title – 26 Point Arial</dc:title>
  <dcterms:created xsi:type="dcterms:W3CDTF">2021-02-27T18:01:30Z</dcterms:created>
  <dcterms:modified xsi:type="dcterms:W3CDTF">2021-02-27T18:01:30Z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2021-01-31T00:00:00Z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2021-02-27T00:00:00Z</vt:filetime>
  </property>
</Properties>
</file>
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6" r:id="rId2"/>
  </p:sldMasterIdLst>
  <p:notesMasterIdLst>
    <p:notesMasterId r:id="rId18"/>
  </p:notesMasterIdLst>
  <p:sldIdLst>
    <p:sldId id="256" r:id="rId3"/>
    <p:sldId id="257" r:id="rId4"/>
    <p:sldId id="258" r:id="rId5"/>
    <p:sldId id="259" r:id="rId6"/>
    <p:sldId id="260" r:id="rId7"/>
    <p:sldId id="261" r:id="rId8"/>
    <p:sldId id="262" r:id="rId9"/>
    <p:sldId id="263" r:id="rId10"/>
    <p:sldId id="267" r:id="rId11"/>
    <p:sldId id="264" r:id="rId12"/>
    <p:sldId id="269" r:id="rId13"/>
    <p:sldId id="265" r:id="rId14"/>
    <p:sldId id="270" r:id="rId15"/>
    <p:sldId id="268"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4" autoAdjust="0"/>
    <p:restoredTop sz="94676" autoAdjust="0"/>
  </p:normalViewPr>
  <p:slideViewPr>
    <p:cSldViewPr>
      <p:cViewPr>
        <p:scale>
          <a:sx n="78" d="100"/>
          <a:sy n="78" d="100"/>
        </p:scale>
        <p:origin x="-1146"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ECFB73-1BE5-493E-A0AE-464A72403C21}" type="doc">
      <dgm:prSet loTypeId="urn:microsoft.com/office/officeart/2009/layout/CircleArrowProcess" loCatId="process" qsTypeId="urn:microsoft.com/office/officeart/2005/8/quickstyle/simple1" qsCatId="simple" csTypeId="urn:microsoft.com/office/officeart/2005/8/colors/colorful2" csCatId="colorful" phldr="1"/>
      <dgm:spPr/>
      <dgm:t>
        <a:bodyPr/>
        <a:lstStyle/>
        <a:p>
          <a:endParaRPr lang="en-US"/>
        </a:p>
      </dgm:t>
    </dgm:pt>
    <dgm:pt modelId="{3F6E9494-E2C1-45E9-9A3A-C85540AD7608}">
      <dgm:prSet phldrT="[Text]"/>
      <dgm:spPr/>
      <dgm:t>
        <a:bodyPr/>
        <a:lstStyle/>
        <a:p>
          <a:r>
            <a:rPr lang="en-US" dirty="0" smtClean="0"/>
            <a:t>Nominated Contributors</a:t>
          </a:r>
          <a:endParaRPr lang="en-US" dirty="0"/>
        </a:p>
      </dgm:t>
    </dgm:pt>
    <dgm:pt modelId="{7A1487B7-D1E1-45E8-8402-13202E6E51AF}" type="parTrans" cxnId="{7C134495-DEE1-4CBE-89F2-6F6F137CCBAA}">
      <dgm:prSet/>
      <dgm:spPr/>
      <dgm:t>
        <a:bodyPr/>
        <a:lstStyle/>
        <a:p>
          <a:endParaRPr lang="en-US"/>
        </a:p>
      </dgm:t>
    </dgm:pt>
    <dgm:pt modelId="{8BB1D624-7DC3-4EAF-A7E2-FC0773362EA9}" type="sibTrans" cxnId="{7C134495-DEE1-4CBE-89F2-6F6F137CCBAA}">
      <dgm:prSet/>
      <dgm:spPr/>
      <dgm:t>
        <a:bodyPr/>
        <a:lstStyle/>
        <a:p>
          <a:endParaRPr lang="en-US"/>
        </a:p>
      </dgm:t>
    </dgm:pt>
    <dgm:pt modelId="{C2C609AD-F082-47AB-8C62-4A804CCED6AF}">
      <dgm:prSet phldrT="[Text]"/>
      <dgm:spPr/>
      <dgm:t>
        <a:bodyPr/>
        <a:lstStyle/>
        <a:p>
          <a:r>
            <a:rPr lang="en-US" dirty="0" smtClean="0"/>
            <a:t>EA Influencers</a:t>
          </a:r>
          <a:endParaRPr lang="en-US" dirty="0"/>
        </a:p>
      </dgm:t>
    </dgm:pt>
    <dgm:pt modelId="{C3C78618-A3FC-4D81-ACB4-40132B8C30F8}" type="parTrans" cxnId="{DCA46E4C-86C6-43EE-972F-5C73DB99295F}">
      <dgm:prSet/>
      <dgm:spPr/>
      <dgm:t>
        <a:bodyPr/>
        <a:lstStyle/>
        <a:p>
          <a:endParaRPr lang="en-US"/>
        </a:p>
      </dgm:t>
    </dgm:pt>
    <dgm:pt modelId="{02DEE487-9915-4E5E-877C-22BCE0576E04}" type="sibTrans" cxnId="{DCA46E4C-86C6-43EE-972F-5C73DB99295F}">
      <dgm:prSet/>
      <dgm:spPr/>
      <dgm:t>
        <a:bodyPr/>
        <a:lstStyle/>
        <a:p>
          <a:endParaRPr lang="en-US"/>
        </a:p>
      </dgm:t>
    </dgm:pt>
    <dgm:pt modelId="{55F6C68A-7AD2-4837-ABB3-6351A5F6E79B}">
      <dgm:prSet phldrT="[Text]"/>
      <dgm:spPr/>
      <dgm:t>
        <a:bodyPr/>
        <a:lstStyle/>
        <a:p>
          <a:r>
            <a:rPr lang="en-US" dirty="0" smtClean="0"/>
            <a:t>Community Input</a:t>
          </a:r>
          <a:endParaRPr lang="en-US" dirty="0"/>
        </a:p>
      </dgm:t>
    </dgm:pt>
    <dgm:pt modelId="{F72EA817-D3E1-4CA4-9910-96DACFEAC37D}" type="parTrans" cxnId="{8BB23F6C-DE90-469D-BD87-EB13EBECA539}">
      <dgm:prSet/>
      <dgm:spPr/>
      <dgm:t>
        <a:bodyPr/>
        <a:lstStyle/>
        <a:p>
          <a:endParaRPr lang="en-US"/>
        </a:p>
      </dgm:t>
    </dgm:pt>
    <dgm:pt modelId="{85CE1D45-E8E4-486B-A587-8FD03120E788}" type="sibTrans" cxnId="{8BB23F6C-DE90-469D-BD87-EB13EBECA539}">
      <dgm:prSet/>
      <dgm:spPr/>
      <dgm:t>
        <a:bodyPr/>
        <a:lstStyle/>
        <a:p>
          <a:endParaRPr lang="en-US"/>
        </a:p>
      </dgm:t>
    </dgm:pt>
    <dgm:pt modelId="{160C2687-C491-4845-98E9-5875B4BF67EA}" type="pres">
      <dgm:prSet presAssocID="{93ECFB73-1BE5-493E-A0AE-464A72403C21}" presName="Name0" presStyleCnt="0">
        <dgm:presLayoutVars>
          <dgm:chMax val="7"/>
          <dgm:chPref val="7"/>
          <dgm:dir/>
          <dgm:animLvl val="lvl"/>
        </dgm:presLayoutVars>
      </dgm:prSet>
      <dgm:spPr/>
      <dgm:t>
        <a:bodyPr/>
        <a:lstStyle/>
        <a:p>
          <a:endParaRPr lang="en-US"/>
        </a:p>
      </dgm:t>
    </dgm:pt>
    <dgm:pt modelId="{F7FF97BD-1F71-41B7-B219-C8FF61E411CB}" type="pres">
      <dgm:prSet presAssocID="{3F6E9494-E2C1-45E9-9A3A-C85540AD7608}" presName="Accent1" presStyleCnt="0"/>
      <dgm:spPr/>
    </dgm:pt>
    <dgm:pt modelId="{CE854075-640D-4647-B276-752D0CEB2DA9}" type="pres">
      <dgm:prSet presAssocID="{3F6E9494-E2C1-45E9-9A3A-C85540AD7608}" presName="Accent" presStyleLbl="node1" presStyleIdx="0" presStyleCnt="3"/>
      <dgm:spPr/>
    </dgm:pt>
    <dgm:pt modelId="{7FC40705-AE5D-4E8D-8536-3A775B604B99}" type="pres">
      <dgm:prSet presAssocID="{3F6E9494-E2C1-45E9-9A3A-C85540AD7608}" presName="Parent1" presStyleLbl="revTx" presStyleIdx="0" presStyleCnt="3">
        <dgm:presLayoutVars>
          <dgm:chMax val="1"/>
          <dgm:chPref val="1"/>
          <dgm:bulletEnabled val="1"/>
        </dgm:presLayoutVars>
      </dgm:prSet>
      <dgm:spPr/>
      <dgm:t>
        <a:bodyPr/>
        <a:lstStyle/>
        <a:p>
          <a:endParaRPr lang="en-US"/>
        </a:p>
      </dgm:t>
    </dgm:pt>
    <dgm:pt modelId="{B8C3D693-FC68-4DED-9421-B73AF04B7ACA}" type="pres">
      <dgm:prSet presAssocID="{C2C609AD-F082-47AB-8C62-4A804CCED6AF}" presName="Accent2" presStyleCnt="0"/>
      <dgm:spPr/>
    </dgm:pt>
    <dgm:pt modelId="{190216F3-AA5E-4C79-80BF-A050DC610595}" type="pres">
      <dgm:prSet presAssocID="{C2C609AD-F082-47AB-8C62-4A804CCED6AF}" presName="Accent" presStyleLbl="node1" presStyleIdx="1" presStyleCnt="3"/>
      <dgm:spPr/>
    </dgm:pt>
    <dgm:pt modelId="{C55F80F4-829F-42EE-9716-C3796E29F381}" type="pres">
      <dgm:prSet presAssocID="{C2C609AD-F082-47AB-8C62-4A804CCED6AF}" presName="Parent2" presStyleLbl="revTx" presStyleIdx="1" presStyleCnt="3">
        <dgm:presLayoutVars>
          <dgm:chMax val="1"/>
          <dgm:chPref val="1"/>
          <dgm:bulletEnabled val="1"/>
        </dgm:presLayoutVars>
      </dgm:prSet>
      <dgm:spPr/>
      <dgm:t>
        <a:bodyPr/>
        <a:lstStyle/>
        <a:p>
          <a:endParaRPr lang="en-US"/>
        </a:p>
      </dgm:t>
    </dgm:pt>
    <dgm:pt modelId="{BC0E392C-28C8-41D3-A211-067D02783B95}" type="pres">
      <dgm:prSet presAssocID="{55F6C68A-7AD2-4837-ABB3-6351A5F6E79B}" presName="Accent3" presStyleCnt="0"/>
      <dgm:spPr/>
    </dgm:pt>
    <dgm:pt modelId="{28F09B91-16DE-4B25-87D5-BACB177E754F}" type="pres">
      <dgm:prSet presAssocID="{55F6C68A-7AD2-4837-ABB3-6351A5F6E79B}" presName="Accent" presStyleLbl="node1" presStyleIdx="2" presStyleCnt="3"/>
      <dgm:spPr/>
    </dgm:pt>
    <dgm:pt modelId="{ADD9B42B-89B2-4EC5-BE89-2C09EBB5687F}" type="pres">
      <dgm:prSet presAssocID="{55F6C68A-7AD2-4837-ABB3-6351A5F6E79B}" presName="Parent3" presStyleLbl="revTx" presStyleIdx="2" presStyleCnt="3">
        <dgm:presLayoutVars>
          <dgm:chMax val="1"/>
          <dgm:chPref val="1"/>
          <dgm:bulletEnabled val="1"/>
        </dgm:presLayoutVars>
      </dgm:prSet>
      <dgm:spPr/>
      <dgm:t>
        <a:bodyPr/>
        <a:lstStyle/>
        <a:p>
          <a:endParaRPr lang="en-US"/>
        </a:p>
      </dgm:t>
    </dgm:pt>
  </dgm:ptLst>
  <dgm:cxnLst>
    <dgm:cxn modelId="{8BB23F6C-DE90-469D-BD87-EB13EBECA539}" srcId="{93ECFB73-1BE5-493E-A0AE-464A72403C21}" destId="{55F6C68A-7AD2-4837-ABB3-6351A5F6E79B}" srcOrd="2" destOrd="0" parTransId="{F72EA817-D3E1-4CA4-9910-96DACFEAC37D}" sibTransId="{85CE1D45-E8E4-486B-A587-8FD03120E788}"/>
    <dgm:cxn modelId="{7C134495-DEE1-4CBE-89F2-6F6F137CCBAA}" srcId="{93ECFB73-1BE5-493E-A0AE-464A72403C21}" destId="{3F6E9494-E2C1-45E9-9A3A-C85540AD7608}" srcOrd="0" destOrd="0" parTransId="{7A1487B7-D1E1-45E8-8402-13202E6E51AF}" sibTransId="{8BB1D624-7DC3-4EAF-A7E2-FC0773362EA9}"/>
    <dgm:cxn modelId="{97B3C454-4A8E-40D8-B444-95409AE964C8}" type="presOf" srcId="{C2C609AD-F082-47AB-8C62-4A804CCED6AF}" destId="{C55F80F4-829F-42EE-9716-C3796E29F381}" srcOrd="0" destOrd="0" presId="urn:microsoft.com/office/officeart/2009/layout/CircleArrowProcess"/>
    <dgm:cxn modelId="{BE13C643-E940-4830-BC5C-B17E049D6DEB}" type="presOf" srcId="{55F6C68A-7AD2-4837-ABB3-6351A5F6E79B}" destId="{ADD9B42B-89B2-4EC5-BE89-2C09EBB5687F}" srcOrd="0" destOrd="0" presId="urn:microsoft.com/office/officeart/2009/layout/CircleArrowProcess"/>
    <dgm:cxn modelId="{796C75D2-8757-402B-85A3-3144AD36C0D9}" type="presOf" srcId="{93ECFB73-1BE5-493E-A0AE-464A72403C21}" destId="{160C2687-C491-4845-98E9-5875B4BF67EA}" srcOrd="0" destOrd="0" presId="urn:microsoft.com/office/officeart/2009/layout/CircleArrowProcess"/>
    <dgm:cxn modelId="{7FF63EC1-CE8E-4939-9AE2-5D39572A1273}" type="presOf" srcId="{3F6E9494-E2C1-45E9-9A3A-C85540AD7608}" destId="{7FC40705-AE5D-4E8D-8536-3A775B604B99}" srcOrd="0" destOrd="0" presId="urn:microsoft.com/office/officeart/2009/layout/CircleArrowProcess"/>
    <dgm:cxn modelId="{DCA46E4C-86C6-43EE-972F-5C73DB99295F}" srcId="{93ECFB73-1BE5-493E-A0AE-464A72403C21}" destId="{C2C609AD-F082-47AB-8C62-4A804CCED6AF}" srcOrd="1" destOrd="0" parTransId="{C3C78618-A3FC-4D81-ACB4-40132B8C30F8}" sibTransId="{02DEE487-9915-4E5E-877C-22BCE0576E04}"/>
    <dgm:cxn modelId="{2185D01F-7298-47F7-8DC3-5ADEFF316E8A}" type="presParOf" srcId="{160C2687-C491-4845-98E9-5875B4BF67EA}" destId="{F7FF97BD-1F71-41B7-B219-C8FF61E411CB}" srcOrd="0" destOrd="0" presId="urn:microsoft.com/office/officeart/2009/layout/CircleArrowProcess"/>
    <dgm:cxn modelId="{36017019-FAB6-46BF-9D72-0281138FB97E}" type="presParOf" srcId="{F7FF97BD-1F71-41B7-B219-C8FF61E411CB}" destId="{CE854075-640D-4647-B276-752D0CEB2DA9}" srcOrd="0" destOrd="0" presId="urn:microsoft.com/office/officeart/2009/layout/CircleArrowProcess"/>
    <dgm:cxn modelId="{6993A383-3E72-4A91-9BC0-FD73575BB529}" type="presParOf" srcId="{160C2687-C491-4845-98E9-5875B4BF67EA}" destId="{7FC40705-AE5D-4E8D-8536-3A775B604B99}" srcOrd="1" destOrd="0" presId="urn:microsoft.com/office/officeart/2009/layout/CircleArrowProcess"/>
    <dgm:cxn modelId="{64E106C2-53C0-4415-B26E-5967FBA0AA1F}" type="presParOf" srcId="{160C2687-C491-4845-98E9-5875B4BF67EA}" destId="{B8C3D693-FC68-4DED-9421-B73AF04B7ACA}" srcOrd="2" destOrd="0" presId="urn:microsoft.com/office/officeart/2009/layout/CircleArrowProcess"/>
    <dgm:cxn modelId="{86775BC9-BD5D-4454-8F66-BDDB7A98C38A}" type="presParOf" srcId="{B8C3D693-FC68-4DED-9421-B73AF04B7ACA}" destId="{190216F3-AA5E-4C79-80BF-A050DC610595}" srcOrd="0" destOrd="0" presId="urn:microsoft.com/office/officeart/2009/layout/CircleArrowProcess"/>
    <dgm:cxn modelId="{D939A723-FB74-43A9-9E4C-88556A9FA24C}" type="presParOf" srcId="{160C2687-C491-4845-98E9-5875B4BF67EA}" destId="{C55F80F4-829F-42EE-9716-C3796E29F381}" srcOrd="3" destOrd="0" presId="urn:microsoft.com/office/officeart/2009/layout/CircleArrowProcess"/>
    <dgm:cxn modelId="{130DBE87-96E3-47F6-BE50-E23D534B4738}" type="presParOf" srcId="{160C2687-C491-4845-98E9-5875B4BF67EA}" destId="{BC0E392C-28C8-41D3-A211-067D02783B95}" srcOrd="4" destOrd="0" presId="urn:microsoft.com/office/officeart/2009/layout/CircleArrowProcess"/>
    <dgm:cxn modelId="{253E30C0-FDE5-4C54-BF45-A135672DB537}" type="presParOf" srcId="{BC0E392C-28C8-41D3-A211-067D02783B95}" destId="{28F09B91-16DE-4B25-87D5-BACB177E754F}" srcOrd="0" destOrd="0" presId="urn:microsoft.com/office/officeart/2009/layout/CircleArrowProcess"/>
    <dgm:cxn modelId="{0F2E06C3-4795-42E5-9A4F-2D501AC2AE8F}" type="presParOf" srcId="{160C2687-C491-4845-98E9-5875B4BF67EA}" destId="{ADD9B42B-89B2-4EC5-BE89-2C09EBB5687F}"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CA1CBB-5FE5-4E16-B4E9-91968B655FCD}" type="datetimeFigureOut">
              <a:rPr lang="en-US" smtClean="0"/>
              <a:t>10/10/2012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9827DA-C224-4179-9313-9B77C2317255}" type="slidenum">
              <a:rPr lang="en-US" smtClean="0"/>
              <a:t>‹#›</a:t>
            </a:fld>
            <a:endParaRPr lang="en-US"/>
          </a:p>
        </p:txBody>
      </p:sp>
    </p:spTree>
    <p:extLst>
      <p:ext uri="{BB962C8B-B14F-4D97-AF65-F5344CB8AC3E}">
        <p14:creationId xmlns:p14="http://schemas.microsoft.com/office/powerpoint/2010/main" val="3200764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smtClean="0">
                <a:solidFill>
                  <a:schemeClr val="tx1"/>
                </a:solidFill>
                <a:effectLst/>
                <a:latin typeface="+mn-lt"/>
                <a:ea typeface="ＭＳ Ｐゴシック" pitchFamily="-112" charset="-128"/>
                <a:cs typeface="ＭＳ Ｐゴシック" pitchFamily="-112" charset="-128"/>
              </a:rPr>
              <a:t>Inception – do we have the critical mass necessary for accreditation to occur.  Until we have that in place we cannot establish the scope of our efforts.  In education we have no idea of the subject areas until we have that critical mass of organizations.  FEAC Institutes, for example, added introductory social network analysis to their tests.  Considering that this is now the hottest new science (and has nothing to do with social media btw) we could miss this area entirely.  DAMA brings in information that is critical as does the Business Architects Guild.  When we feel that this critical mass is met (i.e. 80% of the scope is well known)</a:t>
            </a:r>
          </a:p>
          <a:p>
            <a:r>
              <a:rPr lang="en-US" sz="1200" kern="1200" dirty="0" smtClean="0">
                <a:solidFill>
                  <a:schemeClr val="tx1"/>
                </a:solidFill>
                <a:effectLst/>
                <a:latin typeface="+mn-lt"/>
                <a:ea typeface="ＭＳ Ｐゴシック" pitchFamily="-112" charset="-128"/>
                <a:cs typeface="ＭＳ Ｐゴシック" pitchFamily="-112" charset="-128"/>
              </a:rPr>
              <a:t> </a:t>
            </a:r>
          </a:p>
          <a:p>
            <a:r>
              <a:rPr lang="en-US" sz="1200" kern="1200" dirty="0" smtClean="0">
                <a:solidFill>
                  <a:schemeClr val="tx1"/>
                </a:solidFill>
                <a:effectLst/>
                <a:latin typeface="+mn-lt"/>
                <a:ea typeface="ＭＳ Ｐゴシック" pitchFamily="-112" charset="-128"/>
                <a:cs typeface="ＭＳ Ｐゴシック" pitchFamily="-112" charset="-128"/>
              </a:rPr>
              <a:t>Foundation – do we have the pieces in place to do this.  It is one thing to develop a set of standards and get them adapted, it is another to manage them.  Setting up accreditation for education takes infrastructure.  We can certainly have a reference set of classes to work from and even have universities adopt them, but for professional accreditation we have to include extensive review processes as well.  </a:t>
            </a:r>
          </a:p>
          <a:p>
            <a:r>
              <a:rPr lang="en-US" sz="1200" kern="1200" dirty="0" smtClean="0">
                <a:solidFill>
                  <a:schemeClr val="tx1"/>
                </a:solidFill>
                <a:effectLst/>
                <a:latin typeface="+mn-lt"/>
                <a:ea typeface="ＭＳ Ｐゴシック" pitchFamily="-112" charset="-128"/>
                <a:cs typeface="ＭＳ Ｐゴシック" pitchFamily="-112" charset="-128"/>
              </a:rPr>
              <a:t> </a:t>
            </a:r>
          </a:p>
          <a:p>
            <a:r>
              <a:rPr lang="en-US" sz="1200" kern="1200" dirty="0" smtClean="0">
                <a:solidFill>
                  <a:schemeClr val="tx1"/>
                </a:solidFill>
                <a:effectLst/>
                <a:latin typeface="+mn-lt"/>
                <a:ea typeface="ＭＳ Ｐゴシック" pitchFamily="-112" charset="-128"/>
                <a:cs typeface="ＭＳ Ｐゴシック" pitchFamily="-112" charset="-128"/>
              </a:rPr>
              <a:t>Education – How do we educate the masses.  This is more than just charting out the body of knowledge.  How do we effectively disseminate and administer this knowledge.  Lawyers may argue about the finer points of the law and even what justice is, but legal dissemination and administration from case law and west law to schools keeping up with the field is consistent across the whole profession. </a:t>
            </a:r>
          </a:p>
          <a:p>
            <a:r>
              <a:rPr lang="en-US" sz="1200" kern="1200" dirty="0" smtClean="0">
                <a:solidFill>
                  <a:schemeClr val="tx1"/>
                </a:solidFill>
                <a:effectLst/>
                <a:latin typeface="+mn-lt"/>
                <a:ea typeface="ＭＳ Ｐゴシック" pitchFamily="-112" charset="-128"/>
                <a:cs typeface="ＭＳ Ｐゴシック" pitchFamily="-112" charset="-128"/>
              </a:rPr>
              <a:t> </a:t>
            </a:r>
          </a:p>
          <a:p>
            <a:r>
              <a:rPr lang="en-US" sz="1200" kern="1200" dirty="0" smtClean="0">
                <a:solidFill>
                  <a:schemeClr val="tx1"/>
                </a:solidFill>
                <a:effectLst/>
                <a:latin typeface="+mn-lt"/>
                <a:ea typeface="ＭＳ Ｐゴシック" pitchFamily="-112" charset="-128"/>
                <a:cs typeface="ＭＳ Ｐゴシック" pitchFamily="-112" charset="-128"/>
              </a:rPr>
              <a:t>Registration – How much education do we expect for someone to be registered.  Consider medicine.  If we required all of the areas of medicine to be well understood there would be no doctors.  What do we select and how much.</a:t>
            </a:r>
          </a:p>
          <a:p>
            <a:r>
              <a:rPr lang="en-US" sz="1200" kern="1200" dirty="0" smtClean="0">
                <a:solidFill>
                  <a:schemeClr val="tx1"/>
                </a:solidFill>
                <a:effectLst/>
                <a:latin typeface="+mn-lt"/>
                <a:ea typeface="ＭＳ Ｐゴシック" pitchFamily="-112" charset="-128"/>
                <a:cs typeface="ＭＳ Ｐゴシック" pitchFamily="-112" charset="-128"/>
              </a:rPr>
              <a:t> </a:t>
            </a:r>
          </a:p>
          <a:p>
            <a:r>
              <a:rPr lang="en-US" sz="1200" kern="1200" dirty="0" smtClean="0">
                <a:solidFill>
                  <a:schemeClr val="tx1"/>
                </a:solidFill>
                <a:effectLst/>
                <a:latin typeface="+mn-lt"/>
                <a:ea typeface="ＭＳ Ｐゴシック" pitchFamily="-112" charset="-128"/>
                <a:cs typeface="ＭＳ Ｐゴシック" pitchFamily="-112" charset="-128"/>
              </a:rPr>
              <a:t>Acknowledgement – What an enterprise architect knows has to be understood by the public at large.  Even more so than software development or software engineering.  It must be intuitive to really become a profession like the others.  </a:t>
            </a:r>
          </a:p>
          <a:p>
            <a:r>
              <a:rPr lang="en-US" sz="1200" kern="1200" dirty="0" smtClean="0">
                <a:solidFill>
                  <a:schemeClr val="tx1"/>
                </a:solidFill>
                <a:effectLst/>
                <a:latin typeface="+mn-lt"/>
                <a:ea typeface="ＭＳ Ｐゴシック" pitchFamily="-112" charset="-128"/>
                <a:cs typeface="ＭＳ Ｐゴシック" pitchFamily="-112" charset="-128"/>
              </a:rPr>
              <a:t> </a:t>
            </a:r>
          </a:p>
          <a:p>
            <a:r>
              <a:rPr lang="en-US" sz="1200" kern="1200" dirty="0" smtClean="0">
                <a:solidFill>
                  <a:schemeClr val="tx1"/>
                </a:solidFill>
                <a:effectLst/>
                <a:latin typeface="+mn-lt"/>
                <a:ea typeface="ＭＳ Ｐゴシック" pitchFamily="-112" charset="-128"/>
                <a:cs typeface="ＭＳ Ｐゴシック" pitchFamily="-112" charset="-128"/>
              </a:rPr>
              <a:t>Profession – Is this education enough to make the field unique?  This is an ever-changing thing. </a:t>
            </a:r>
          </a:p>
          <a:p>
            <a:endParaRPr lang="en-US" dirty="0"/>
          </a:p>
        </p:txBody>
      </p:sp>
      <p:sp>
        <p:nvSpPr>
          <p:cNvPr id="4" name="Date Placeholder 3"/>
          <p:cNvSpPr>
            <a:spLocks noGrp="1"/>
          </p:cNvSpPr>
          <p:nvPr>
            <p:ph type="dt" idx="10"/>
          </p:nvPr>
        </p:nvSpPr>
        <p:spPr/>
        <p:txBody>
          <a:bodyPr/>
          <a:lstStyle/>
          <a:p>
            <a:pPr>
              <a:defRPr/>
            </a:pPr>
            <a:fld id="{5B17D87E-11BA-4820-9333-81316214AF1E}" type="datetime1">
              <a:rPr lang="en-US" smtClean="0">
                <a:solidFill>
                  <a:prstClr val="black"/>
                </a:solidFill>
              </a:rPr>
              <a:pPr>
                <a:defRPr/>
              </a:pPr>
              <a:t>10/10/2012</a:t>
            </a:fld>
            <a:endParaRPr lang="en-US">
              <a:solidFill>
                <a:prstClr val="black"/>
              </a:solidFill>
            </a:endParaRPr>
          </a:p>
        </p:txBody>
      </p:sp>
      <p:sp>
        <p:nvSpPr>
          <p:cNvPr id="5" name="Slide Number Placeholder 4"/>
          <p:cNvSpPr>
            <a:spLocks noGrp="1"/>
          </p:cNvSpPr>
          <p:nvPr>
            <p:ph type="sldNum" sz="quarter" idx="11"/>
          </p:nvPr>
        </p:nvSpPr>
        <p:spPr/>
        <p:txBody>
          <a:bodyPr/>
          <a:lstStyle/>
          <a:p>
            <a:pPr>
              <a:defRPr/>
            </a:pPr>
            <a:fld id="{4166442E-2A3E-4B92-A65C-640DEC0C6F02}" type="slidenum">
              <a:rPr lang="en-US" smtClean="0">
                <a:solidFill>
                  <a:prstClr val="black"/>
                </a:solidFill>
              </a:rPr>
              <a:pPr>
                <a:defRPr/>
              </a:pPr>
              <a:t>9</a:t>
            </a:fld>
            <a:endParaRPr lang="en-US">
              <a:solidFill>
                <a:prstClr val="black"/>
              </a:solidFill>
            </a:endParaRPr>
          </a:p>
        </p:txBody>
      </p:sp>
    </p:spTree>
    <p:extLst>
      <p:ext uri="{BB962C8B-B14F-4D97-AF65-F5344CB8AC3E}">
        <p14:creationId xmlns:p14="http://schemas.microsoft.com/office/powerpoint/2010/main" val="27123683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10"/>
          <p:cNvSpPr>
            <a:spLocks noGrp="1"/>
          </p:cNvSpPr>
          <p:nvPr>
            <p:ph type="sldNum" sz="quarter" idx="10"/>
          </p:nvPr>
        </p:nvSpPr>
        <p:spPr/>
        <p:txBody>
          <a:bodyPr/>
          <a:lstStyle>
            <a:lvl1pPr>
              <a:defRPr/>
            </a:lvl1pPr>
          </a:lstStyle>
          <a:p>
            <a:pPr>
              <a:defRPr/>
            </a:pPr>
            <a:fld id="{25344FE8-1B95-4C0E-8E7F-45729E787D70}" type="slidenum">
              <a:rPr lang="en-US"/>
              <a:pPr>
                <a:defRPr/>
              </a:pPr>
              <a:t>‹#›</a:t>
            </a:fld>
            <a:endParaRPr lang="en-US" dirty="0"/>
          </a:p>
        </p:txBody>
      </p:sp>
    </p:spTree>
    <p:extLst>
      <p:ext uri="{BB962C8B-B14F-4D97-AF65-F5344CB8AC3E}">
        <p14:creationId xmlns:p14="http://schemas.microsoft.com/office/powerpoint/2010/main" val="285405273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2050" name="Picture 2" descr="Z:\Enterprise Architecture_EA\PPT\FEAPO_Title_Flatten.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4393406"/>
          </a:xfrm>
          <a:prstGeom prst="rect">
            <a:avLst/>
          </a:prstGeom>
          <a:noFill/>
        </p:spPr>
      </p:pic>
    </p:spTree>
    <p:extLst>
      <p:ext uri="{BB962C8B-B14F-4D97-AF65-F5344CB8AC3E}">
        <p14:creationId xmlns:p14="http://schemas.microsoft.com/office/powerpoint/2010/main" val="1527107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9" name="Picture 2" descr="Z:\Enterprise Architecture_EA\PPT\sidebarFEAPO_7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785938" cy="6858000"/>
          </a:xfrm>
          <a:prstGeom prst="rect">
            <a:avLst/>
          </a:prstGeom>
          <a:noFill/>
        </p:spPr>
      </p:pic>
    </p:spTree>
    <p:extLst>
      <p:ext uri="{BB962C8B-B14F-4D97-AF65-F5344CB8AC3E}">
        <p14:creationId xmlns:p14="http://schemas.microsoft.com/office/powerpoint/2010/main" val="2401504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7" name="Picture 2" descr="Z:\Enterprise Architecture_EA\PPT\sidebarFEAPO_7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785938" cy="6858000"/>
          </a:xfrm>
          <a:prstGeom prst="rect">
            <a:avLst/>
          </a:prstGeom>
          <a:noFill/>
        </p:spPr>
      </p:pic>
    </p:spTree>
    <p:extLst>
      <p:ext uri="{BB962C8B-B14F-4D97-AF65-F5344CB8AC3E}">
        <p14:creationId xmlns:p14="http://schemas.microsoft.com/office/powerpoint/2010/main" val="2075425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8" name="Picture 2" descr="Z:\Enterprise Architecture_EA\PPT\sidebarFEAPO_7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785938" cy="6858000"/>
          </a:xfrm>
          <a:prstGeom prst="rect">
            <a:avLst/>
          </a:prstGeom>
          <a:noFill/>
        </p:spPr>
      </p:pic>
    </p:spTree>
    <p:extLst>
      <p:ext uri="{BB962C8B-B14F-4D97-AF65-F5344CB8AC3E}">
        <p14:creationId xmlns:p14="http://schemas.microsoft.com/office/powerpoint/2010/main" val="2128124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10" name="Picture 2" descr="Z:\Enterprise Architecture_EA\PPT\sidebarFEAPO_7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785938" cy="6858000"/>
          </a:xfrm>
          <a:prstGeom prst="rect">
            <a:avLst/>
          </a:prstGeom>
          <a:noFill/>
        </p:spPr>
      </p:pic>
    </p:spTree>
    <p:extLst>
      <p:ext uri="{BB962C8B-B14F-4D97-AF65-F5344CB8AC3E}">
        <p14:creationId xmlns:p14="http://schemas.microsoft.com/office/powerpoint/2010/main" val="1570552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6" name="Picture 2" descr="Z:\Enterprise Architecture_EA\PPT\sidebarFEAPO_7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785938" cy="6858000"/>
          </a:xfrm>
          <a:prstGeom prst="rect">
            <a:avLst/>
          </a:prstGeom>
          <a:noFill/>
        </p:spPr>
      </p:pic>
    </p:spTree>
    <p:extLst>
      <p:ext uri="{BB962C8B-B14F-4D97-AF65-F5344CB8AC3E}">
        <p14:creationId xmlns:p14="http://schemas.microsoft.com/office/powerpoint/2010/main" val="205591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5" name="Picture 2" descr="Z:\Enterprise Architecture_EA\PPT\sidebarFEAPO_72.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785938" cy="6858000"/>
          </a:xfrm>
          <a:prstGeom prst="rect">
            <a:avLst/>
          </a:prstGeom>
          <a:noFill/>
        </p:spPr>
      </p:pic>
    </p:spTree>
    <p:extLst>
      <p:ext uri="{BB962C8B-B14F-4D97-AF65-F5344CB8AC3E}">
        <p14:creationId xmlns:p14="http://schemas.microsoft.com/office/powerpoint/2010/main" val="3029480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61197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85527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599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064FB51-ACA4-4AB1-983B-682BBD7F779D}" type="datetimeFigureOut">
              <a:rPr lang="en-US" smtClean="0">
                <a:solidFill>
                  <a:prstClr val="black">
                    <a:tint val="75000"/>
                  </a:prstClr>
                </a:solidFill>
              </a:rPr>
              <a:pPr/>
              <a:t>10/10/2012</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733640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4.tiff"/><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3">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1" name="Slide Number Placeholder 10"/>
          <p:cNvSpPr>
            <a:spLocks noGrp="1"/>
          </p:cNvSpPr>
          <p:nvPr>
            <p:ph type="sldNum" sz="quarter" idx="4"/>
          </p:nvPr>
        </p:nvSpPr>
        <p:spPr>
          <a:xfrm>
            <a:off x="7162800" y="6172200"/>
            <a:ext cx="685800" cy="365125"/>
          </a:xfrm>
          <a:prstGeom prst="rect">
            <a:avLst/>
          </a:prstGeom>
        </p:spPr>
        <p:txBody>
          <a:bodyPr vert="horz" wrap="square" lIns="91440" tIns="45720" rIns="91440" bIns="45720" numCol="1" anchor="ctr" anchorCtr="0" compatLnSpc="1">
            <a:prstTxWarp prst="textNoShape">
              <a:avLst/>
            </a:prstTxWarp>
          </a:bodyPr>
          <a:lstStyle>
            <a:lvl1pPr eaLnBrk="0" hangingPunct="0">
              <a:defRPr sz="1000">
                <a:solidFill>
                  <a:srgbClr val="898989"/>
                </a:solidFill>
                <a:ea typeface="ＭＳ Ｐゴシック" pitchFamily="-112" charset="-128"/>
                <a:cs typeface="+mn-cs"/>
              </a:defRPr>
            </a:lvl1pPr>
          </a:lstStyle>
          <a:p>
            <a:pPr fontAlgn="base">
              <a:spcBef>
                <a:spcPct val="0"/>
              </a:spcBef>
              <a:spcAft>
                <a:spcPct val="0"/>
              </a:spcAft>
              <a:defRPr/>
            </a:pPr>
            <a:fld id="{E9FA0271-8692-440D-9D79-F415936D663B}" type="slidenum">
              <a:rPr lang="en-US">
                <a:latin typeface="Arial" charset="0"/>
              </a:rPr>
              <a:pPr fontAlgn="base">
                <a:spcBef>
                  <a:spcPct val="0"/>
                </a:spcBef>
                <a:spcAft>
                  <a:spcPct val="0"/>
                </a:spcAft>
                <a:defRPr/>
              </a:pPr>
              <a:t>‹#›</a:t>
            </a:fld>
            <a:endParaRPr lang="en-US" dirty="0">
              <a:latin typeface="Arial" charset="0"/>
            </a:endParaRPr>
          </a:p>
        </p:txBody>
      </p:sp>
      <p:pic>
        <p:nvPicPr>
          <p:cNvPr id="8" name="Picture 7" descr="C:\Data\2010 Mark Lane\FEAPO\FEAPO_logo-04.png"/>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791200"/>
            <a:ext cx="2830195" cy="794385"/>
          </a:xfrm>
          <a:prstGeom prst="rect">
            <a:avLst/>
          </a:prstGeom>
          <a:noFill/>
          <a:ln>
            <a:noFill/>
          </a:ln>
        </p:spPr>
      </p:pic>
    </p:spTree>
    <p:extLst>
      <p:ext uri="{BB962C8B-B14F-4D97-AF65-F5344CB8AC3E}">
        <p14:creationId xmlns:p14="http://schemas.microsoft.com/office/powerpoint/2010/main" val="631913222"/>
      </p:ext>
    </p:extLst>
  </p:cSld>
  <p:clrMap bg1="lt1" tx1="dk1" bg2="lt2" tx2="dk2" accent1="accent1" accent2="accent2" accent3="accent3" accent4="accent4" accent5="accent5" accent6="accent6" hlink="hlink" folHlink="folHlink"/>
  <p:sldLayoutIdLst>
    <p:sldLayoutId id="2147483679" r:id="rId1"/>
  </p:sldLayoutIdLst>
  <p:hf hdr="0" ftr="0"/>
  <p:txStyles>
    <p:titleStyle>
      <a:lvl1pPr algn="l" rtl="0" eaLnBrk="1" fontAlgn="base" hangingPunct="1">
        <a:spcBef>
          <a:spcPct val="0"/>
        </a:spcBef>
        <a:spcAft>
          <a:spcPct val="0"/>
        </a:spcAft>
        <a:defRPr sz="3200" b="1">
          <a:solidFill>
            <a:schemeClr val="tx2"/>
          </a:solidFill>
          <a:latin typeface="+mj-lt"/>
          <a:ea typeface="ＭＳ Ｐゴシック" pitchFamily="-112" charset="-128"/>
          <a:cs typeface="ＭＳ Ｐゴシック" pitchFamily="-112" charset="-128"/>
        </a:defRPr>
      </a:lvl1pPr>
      <a:lvl2pPr algn="l" rtl="0" eaLnBrk="1" fontAlgn="base" hangingPunct="1">
        <a:spcBef>
          <a:spcPct val="0"/>
        </a:spcBef>
        <a:spcAft>
          <a:spcPct val="0"/>
        </a:spcAft>
        <a:defRPr sz="3200" b="1">
          <a:solidFill>
            <a:schemeClr val="tx2"/>
          </a:solidFill>
          <a:latin typeface="Verdana" pitchFamily="-112" charset="0"/>
          <a:ea typeface="ＭＳ Ｐゴシック" pitchFamily="28" charset="-128"/>
          <a:cs typeface="ＭＳ Ｐゴシック" pitchFamily="28" charset="-128"/>
        </a:defRPr>
      </a:lvl2pPr>
      <a:lvl3pPr algn="l" rtl="0" eaLnBrk="1" fontAlgn="base" hangingPunct="1">
        <a:spcBef>
          <a:spcPct val="0"/>
        </a:spcBef>
        <a:spcAft>
          <a:spcPct val="0"/>
        </a:spcAft>
        <a:defRPr sz="3200" b="1">
          <a:solidFill>
            <a:schemeClr val="tx2"/>
          </a:solidFill>
          <a:latin typeface="Verdana" pitchFamily="-112" charset="0"/>
          <a:ea typeface="ＭＳ Ｐゴシック" pitchFamily="28" charset="-128"/>
          <a:cs typeface="ＭＳ Ｐゴシック" pitchFamily="28" charset="-128"/>
        </a:defRPr>
      </a:lvl3pPr>
      <a:lvl4pPr algn="l" rtl="0" eaLnBrk="1" fontAlgn="base" hangingPunct="1">
        <a:spcBef>
          <a:spcPct val="0"/>
        </a:spcBef>
        <a:spcAft>
          <a:spcPct val="0"/>
        </a:spcAft>
        <a:defRPr sz="3200" b="1">
          <a:solidFill>
            <a:schemeClr val="tx2"/>
          </a:solidFill>
          <a:latin typeface="Verdana" pitchFamily="-112" charset="0"/>
          <a:ea typeface="ＭＳ Ｐゴシック" pitchFamily="28" charset="-128"/>
          <a:cs typeface="ＭＳ Ｐゴシック" pitchFamily="28" charset="-128"/>
        </a:defRPr>
      </a:lvl4pPr>
      <a:lvl5pPr algn="l" rtl="0" eaLnBrk="1" fontAlgn="base" hangingPunct="1">
        <a:spcBef>
          <a:spcPct val="0"/>
        </a:spcBef>
        <a:spcAft>
          <a:spcPct val="0"/>
        </a:spcAft>
        <a:defRPr sz="3200" b="1">
          <a:solidFill>
            <a:schemeClr val="tx2"/>
          </a:solidFill>
          <a:latin typeface="Verdana" pitchFamily="-112" charset="0"/>
          <a:ea typeface="ＭＳ Ｐゴシック" pitchFamily="28" charset="-128"/>
          <a:cs typeface="ＭＳ Ｐゴシック" pitchFamily="28" charset="-128"/>
        </a:defRPr>
      </a:lvl5pPr>
      <a:lvl6pPr marL="457200" algn="l" rtl="0" eaLnBrk="1" fontAlgn="base" hangingPunct="1">
        <a:spcBef>
          <a:spcPct val="0"/>
        </a:spcBef>
        <a:spcAft>
          <a:spcPct val="0"/>
        </a:spcAft>
        <a:defRPr sz="3600" b="1">
          <a:solidFill>
            <a:schemeClr val="tx2"/>
          </a:solidFill>
          <a:latin typeface="Arial" pitchFamily="28" charset="0"/>
          <a:ea typeface="ＭＳ Ｐゴシック" pitchFamily="28" charset="-128"/>
          <a:cs typeface="ＭＳ Ｐゴシック" pitchFamily="28" charset="-128"/>
        </a:defRPr>
      </a:lvl6pPr>
      <a:lvl7pPr marL="914400" algn="l" rtl="0" eaLnBrk="1" fontAlgn="base" hangingPunct="1">
        <a:spcBef>
          <a:spcPct val="0"/>
        </a:spcBef>
        <a:spcAft>
          <a:spcPct val="0"/>
        </a:spcAft>
        <a:defRPr sz="3600" b="1">
          <a:solidFill>
            <a:schemeClr val="tx2"/>
          </a:solidFill>
          <a:latin typeface="Arial" pitchFamily="28" charset="0"/>
          <a:ea typeface="ＭＳ Ｐゴシック" pitchFamily="28" charset="-128"/>
          <a:cs typeface="ＭＳ Ｐゴシック" pitchFamily="28" charset="-128"/>
        </a:defRPr>
      </a:lvl7pPr>
      <a:lvl8pPr marL="1371600" algn="l" rtl="0" eaLnBrk="1" fontAlgn="base" hangingPunct="1">
        <a:spcBef>
          <a:spcPct val="0"/>
        </a:spcBef>
        <a:spcAft>
          <a:spcPct val="0"/>
        </a:spcAft>
        <a:defRPr sz="3600" b="1">
          <a:solidFill>
            <a:schemeClr val="tx2"/>
          </a:solidFill>
          <a:latin typeface="Arial" pitchFamily="28" charset="0"/>
          <a:ea typeface="ＭＳ Ｐゴシック" pitchFamily="28" charset="-128"/>
          <a:cs typeface="ＭＳ Ｐゴシック" pitchFamily="28" charset="-128"/>
        </a:defRPr>
      </a:lvl8pPr>
      <a:lvl9pPr marL="1828800" algn="l" rtl="0" eaLnBrk="1" fontAlgn="base" hangingPunct="1">
        <a:spcBef>
          <a:spcPct val="0"/>
        </a:spcBef>
        <a:spcAft>
          <a:spcPct val="0"/>
        </a:spcAft>
        <a:defRPr sz="3600" b="1">
          <a:solidFill>
            <a:schemeClr val="tx2"/>
          </a:solidFill>
          <a:latin typeface="Arial" pitchFamily="28" charset="0"/>
          <a:ea typeface="ＭＳ Ｐゴシック" pitchFamily="28" charset="-128"/>
          <a:cs typeface="ＭＳ Ｐゴシック" pitchFamily="28" charset="-128"/>
        </a:defRPr>
      </a:lvl9pPr>
    </p:titleStyle>
    <p:bodyStyle>
      <a:lvl1pPr marL="342900" indent="-342900" algn="l" rtl="0" eaLnBrk="1" fontAlgn="base" hangingPunct="1">
        <a:spcBef>
          <a:spcPct val="20000"/>
        </a:spcBef>
        <a:spcAft>
          <a:spcPct val="0"/>
        </a:spcAft>
        <a:buClr>
          <a:schemeClr val="bg2"/>
        </a:buClr>
        <a:buSzPct val="80000"/>
        <a:buFont typeface="Wingdings" pitchFamily="2" charset="2"/>
        <a:buBlip>
          <a:blip r:embed="rId5"/>
        </a:buBlip>
        <a:defRPr sz="2800">
          <a:solidFill>
            <a:schemeClr val="tx1"/>
          </a:solidFill>
          <a:latin typeface="+mn-lt"/>
          <a:ea typeface="ＭＳ Ｐゴシック" pitchFamily="-112" charset="-128"/>
          <a:cs typeface="ＭＳ Ｐゴシック" pitchFamily="-112" charset="-128"/>
        </a:defRPr>
      </a:lvl1pPr>
      <a:lvl2pPr marL="742950" indent="-285750" algn="l" rtl="0" eaLnBrk="1" fontAlgn="base" hangingPunct="1">
        <a:spcBef>
          <a:spcPct val="20000"/>
        </a:spcBef>
        <a:spcAft>
          <a:spcPct val="0"/>
        </a:spcAft>
        <a:buClr>
          <a:schemeClr val="bg2"/>
        </a:buClr>
        <a:buChar char="–"/>
        <a:defRPr sz="2600">
          <a:solidFill>
            <a:schemeClr val="tx1"/>
          </a:solidFill>
          <a:latin typeface="+mn-lt"/>
          <a:ea typeface="ＭＳ Ｐゴシック" pitchFamily="-112" charset="-128"/>
          <a:cs typeface="ＭＳ Ｐゴシック"/>
        </a:defRPr>
      </a:lvl2pPr>
      <a:lvl3pPr marL="1143000" indent="-228600" algn="l" rtl="0" eaLnBrk="1" fontAlgn="base" hangingPunct="1">
        <a:spcBef>
          <a:spcPct val="20000"/>
        </a:spcBef>
        <a:spcAft>
          <a:spcPct val="0"/>
        </a:spcAft>
        <a:buClr>
          <a:schemeClr val="bg2"/>
        </a:buClr>
        <a:buFont typeface="Wingdings" pitchFamily="2" charset="2"/>
        <a:buChar char="§"/>
        <a:defRPr sz="2200">
          <a:solidFill>
            <a:schemeClr val="tx1"/>
          </a:solidFill>
          <a:latin typeface="+mn-lt"/>
          <a:ea typeface="ＭＳ Ｐゴシック" pitchFamily="-112" charset="-128"/>
          <a:cs typeface="ＭＳ Ｐゴシック"/>
        </a:defRPr>
      </a:lvl3pPr>
      <a:lvl4pPr marL="1600200" indent="-228600" algn="l" rtl="0" eaLnBrk="1" fontAlgn="base" hangingPunct="1">
        <a:spcBef>
          <a:spcPct val="20000"/>
        </a:spcBef>
        <a:spcAft>
          <a:spcPct val="0"/>
        </a:spcAft>
        <a:buClr>
          <a:schemeClr val="bg2"/>
        </a:buClr>
        <a:buChar char="–"/>
        <a:defRPr sz="2000">
          <a:solidFill>
            <a:schemeClr val="tx1"/>
          </a:solidFill>
          <a:latin typeface="+mn-lt"/>
          <a:ea typeface="ＭＳ Ｐゴシック" pitchFamily="-112" charset="-128"/>
          <a:cs typeface="ＭＳ Ｐゴシック"/>
        </a:defRPr>
      </a:lvl4pPr>
      <a:lvl5pPr marL="2057400" indent="-228600" algn="l" rtl="0" eaLnBrk="1" fontAlgn="base" hangingPunct="1">
        <a:spcBef>
          <a:spcPct val="20000"/>
        </a:spcBef>
        <a:spcAft>
          <a:spcPct val="0"/>
        </a:spcAft>
        <a:buClr>
          <a:schemeClr val="bg2"/>
        </a:buClr>
        <a:buFont typeface="Wingdings" pitchFamily="2" charset="2"/>
        <a:buChar char="§"/>
        <a:defRPr>
          <a:solidFill>
            <a:schemeClr val="tx1"/>
          </a:solidFill>
          <a:latin typeface="+mn-lt"/>
          <a:ea typeface="ＭＳ Ｐゴシック" pitchFamily="-112" charset="-128"/>
          <a:cs typeface="ＭＳ Ｐゴシック"/>
        </a:defRPr>
      </a:lvl5pPr>
      <a:lvl6pPr marL="2514600" indent="-228600" algn="l" rtl="0" eaLnBrk="1" fontAlgn="base" hangingPunct="1">
        <a:spcBef>
          <a:spcPct val="20000"/>
        </a:spcBef>
        <a:spcAft>
          <a:spcPct val="0"/>
        </a:spcAft>
        <a:buClr>
          <a:schemeClr val="bg2"/>
        </a:buClr>
        <a:buFont typeface="Wingdings" pitchFamily="28" charset="2"/>
        <a:buChar char="§"/>
        <a:defRPr>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itchFamily="28" charset="2"/>
        <a:buChar char="§"/>
        <a:defRPr>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itchFamily="28" charset="2"/>
        <a:buChar char="§"/>
        <a:defRPr>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itchFamily="28" charset="2"/>
        <a:buChar char="§"/>
        <a:defRPr>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457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3886200" y="6356350"/>
            <a:ext cx="2133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1B1E12D4-BA99-460E-8FEA-05CCE36CD330}" type="slidenum">
              <a:rPr lang="en-US" smtClean="0">
                <a:solidFill>
                  <a:prstClr val="black">
                    <a:tint val="75000"/>
                  </a:prstClr>
                </a:solidFill>
              </a:rPr>
              <a:pPr/>
              <a:t>‹#›</a:t>
            </a:fld>
            <a:endParaRPr lang="en-US">
              <a:solidFill>
                <a:prstClr val="black">
                  <a:tint val="75000"/>
                </a:prstClr>
              </a:solidFill>
            </a:endParaRPr>
          </a:p>
        </p:txBody>
      </p:sp>
      <p:pic>
        <p:nvPicPr>
          <p:cNvPr id="7" name="Picture 3" descr="Z:\Enterprise Architecture_EA\FEAPO LOGO Exports\FEAPO_logo.tif"/>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6934200" y="6248400"/>
            <a:ext cx="1828800" cy="514158"/>
          </a:xfrm>
          <a:prstGeom prst="rect">
            <a:avLst/>
          </a:prstGeom>
          <a:noFill/>
        </p:spPr>
      </p:pic>
    </p:spTree>
    <p:extLst>
      <p:ext uri="{BB962C8B-B14F-4D97-AF65-F5344CB8AC3E}">
        <p14:creationId xmlns:p14="http://schemas.microsoft.com/office/powerpoint/2010/main" val="97118853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C:\Users\nmalik\AppData\Local\Microsoft\Windows\Temporary Internet Files\Content.IE5\B9WPLB9W\MP900442889[1].jpg"/>
          <p:cNvPicPr>
            <a:picLocks noChangeAspect="1" noChangeArrowheads="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p:blipFill>
        <p:spPr bwMode="auto">
          <a:xfrm>
            <a:off x="152400" y="2133600"/>
            <a:ext cx="4140534" cy="384048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4267200" y="1752600"/>
            <a:ext cx="3810000" cy="2590799"/>
          </a:xfrm>
        </p:spPr>
        <p:txBody>
          <a:bodyPr>
            <a:normAutofit fontScale="90000"/>
          </a:bodyPr>
          <a:lstStyle/>
          <a:p>
            <a:r>
              <a:rPr lang="en-US" dirty="0" smtClean="0">
                <a:solidFill>
                  <a:schemeClr val="tx1"/>
                </a:solidFill>
                <a:latin typeface="Arial Rounded MT Bold" pitchFamily="34" charset="0"/>
              </a:rPr>
              <a:t>The Public Face of Enterprise Architecture</a:t>
            </a:r>
            <a:endParaRPr lang="en-US" dirty="0">
              <a:solidFill>
                <a:schemeClr val="tx1"/>
              </a:solidFill>
              <a:latin typeface="Arial Rounded MT Bold" pitchFamily="34" charset="0"/>
            </a:endParaRPr>
          </a:p>
        </p:txBody>
      </p:sp>
      <p:sp>
        <p:nvSpPr>
          <p:cNvPr id="3" name="Subtitle 2"/>
          <p:cNvSpPr>
            <a:spLocks noGrp="1"/>
          </p:cNvSpPr>
          <p:nvPr>
            <p:ph type="subTitle" idx="1"/>
          </p:nvPr>
        </p:nvSpPr>
        <p:spPr>
          <a:xfrm>
            <a:off x="4724400" y="4343400"/>
            <a:ext cx="3124200" cy="1752600"/>
          </a:xfrm>
        </p:spPr>
        <p:txBody>
          <a:bodyPr>
            <a:normAutofit fontScale="92500" lnSpcReduction="10000"/>
          </a:bodyPr>
          <a:lstStyle/>
          <a:p>
            <a:r>
              <a:rPr lang="en-US" dirty="0" smtClean="0"/>
              <a:t>Providing clear communications in the media and online</a:t>
            </a:r>
            <a:endParaRPr lang="en-US" dirty="0"/>
          </a:p>
        </p:txBody>
      </p:sp>
    </p:spTree>
    <p:extLst>
      <p:ext uri="{BB962C8B-B14F-4D97-AF65-F5344CB8AC3E}">
        <p14:creationId xmlns:p14="http://schemas.microsoft.com/office/powerpoint/2010/main" val="33648382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67200" y="1295400"/>
            <a:ext cx="2895600" cy="1872144"/>
          </a:xfrm>
          <a:prstGeom prst="rect">
            <a:avLst/>
          </a:prstGeom>
        </p:spPr>
      </p:pic>
      <p:sp>
        <p:nvSpPr>
          <p:cNvPr id="3" name="Title 2"/>
          <p:cNvSpPr>
            <a:spLocks noGrp="1"/>
          </p:cNvSpPr>
          <p:nvPr>
            <p:ph type="title"/>
          </p:nvPr>
        </p:nvSpPr>
        <p:spPr/>
        <p:txBody>
          <a:bodyPr/>
          <a:lstStyle/>
          <a:p>
            <a:r>
              <a:rPr lang="en-US" dirty="0" smtClean="0"/>
              <a:t>The Practice of EA Is Not Healthy</a:t>
            </a:r>
            <a:endParaRPr lang="en-US" dirty="0"/>
          </a:p>
        </p:txBody>
      </p:sp>
      <p:sp>
        <p:nvSpPr>
          <p:cNvPr id="7" name="Rectangle 6"/>
          <p:cNvSpPr/>
          <p:nvPr/>
        </p:nvSpPr>
        <p:spPr>
          <a:xfrm>
            <a:off x="4443411" y="1507572"/>
            <a:ext cx="2590800" cy="1447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itchFamily="18" charset="0"/>
                <a:cs typeface="Times New Roman" pitchFamily="18" charset="0"/>
              </a:rPr>
              <a:t>Health of EA Function is Low, says 30% of EA</a:t>
            </a:r>
          </a:p>
          <a:p>
            <a:pPr algn="ctr"/>
            <a:r>
              <a:rPr lang="en-US" sz="1000" dirty="0" smtClean="0">
                <a:solidFill>
                  <a:schemeClr val="tx1"/>
                </a:solidFill>
                <a:latin typeface="Times New Roman" pitchFamily="18" charset="0"/>
                <a:cs typeface="Times New Roman" pitchFamily="18" charset="0"/>
              </a:rPr>
              <a:t>(EAEC Functional Performance Survey, 2012)</a:t>
            </a:r>
            <a:endParaRPr lang="en-US" sz="1000" dirty="0">
              <a:solidFill>
                <a:schemeClr val="tx1"/>
              </a:solidFill>
              <a:latin typeface="Times New Roman" pitchFamily="18" charset="0"/>
              <a:cs typeface="Times New Roman" pitchFamily="18" charset="0"/>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00200" y="4076700"/>
            <a:ext cx="3400425" cy="1872144"/>
          </a:xfrm>
          <a:prstGeom prst="rect">
            <a:avLst/>
          </a:prstGeom>
        </p:spPr>
      </p:pic>
      <p:sp>
        <p:nvSpPr>
          <p:cNvPr id="9" name="TextBox 8"/>
          <p:cNvSpPr txBox="1"/>
          <p:nvPr/>
        </p:nvSpPr>
        <p:spPr>
          <a:xfrm>
            <a:off x="1809603" y="4305300"/>
            <a:ext cx="2981618" cy="1354217"/>
          </a:xfrm>
          <a:prstGeom prst="rect">
            <a:avLst/>
          </a:prstGeom>
          <a:noFill/>
        </p:spPr>
        <p:txBody>
          <a:bodyPr wrap="square" rtlCol="0">
            <a:spAutoFit/>
          </a:bodyPr>
          <a:lstStyle/>
          <a:p>
            <a:pPr algn="ctr"/>
            <a:r>
              <a:rPr lang="en-US" sz="2400" dirty="0" smtClean="0">
                <a:latin typeface="Times New Roman" pitchFamily="18" charset="0"/>
                <a:cs typeface="Times New Roman" pitchFamily="18" charset="0"/>
              </a:rPr>
              <a:t>CIOs Less Satisfied with EA than the Architects themselves</a:t>
            </a:r>
          </a:p>
          <a:p>
            <a:pPr algn="ctr"/>
            <a:r>
              <a:rPr lang="en-US" sz="1000" dirty="0" smtClean="0">
                <a:latin typeface="Times New Roman" pitchFamily="18" charset="0"/>
                <a:cs typeface="Times New Roman" pitchFamily="18" charset="0"/>
              </a:rPr>
              <a:t>(EAEC Insights, 2/2012)</a:t>
            </a:r>
            <a:endParaRPr lang="en-US" sz="1000" dirty="0">
              <a:latin typeface="Times New Roman" pitchFamily="18" charset="0"/>
              <a:cs typeface="Times New Roman" pitchFamily="18" charset="0"/>
            </a:endParaRP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6088" y="2019300"/>
            <a:ext cx="2590801" cy="1872144"/>
          </a:xfrm>
          <a:prstGeom prst="rect">
            <a:avLst/>
          </a:prstGeom>
        </p:spPr>
      </p:pic>
      <p:sp>
        <p:nvSpPr>
          <p:cNvPr id="4" name="Rectangle 3"/>
          <p:cNvSpPr/>
          <p:nvPr/>
        </p:nvSpPr>
        <p:spPr>
          <a:xfrm>
            <a:off x="906089" y="2231472"/>
            <a:ext cx="2590800" cy="1447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itchFamily="18" charset="0"/>
                <a:cs typeface="Times New Roman" pitchFamily="18" charset="0"/>
              </a:rPr>
              <a:t>Two thirds of all EA groups are restructuring</a:t>
            </a:r>
          </a:p>
          <a:p>
            <a:pPr algn="ctr"/>
            <a:r>
              <a:rPr lang="en-US" sz="1000" dirty="0" smtClean="0">
                <a:solidFill>
                  <a:schemeClr val="tx1"/>
                </a:solidFill>
                <a:latin typeface="Times New Roman" pitchFamily="18" charset="0"/>
                <a:cs typeface="Times New Roman" pitchFamily="18" charset="0"/>
              </a:rPr>
              <a:t>(EAEC Org Structure Poll,, 2011)</a:t>
            </a:r>
            <a:endParaRPr lang="en-US" sz="1000" dirty="0">
              <a:solidFill>
                <a:schemeClr val="tx1"/>
              </a:solidFill>
              <a:latin typeface="Times New Roman" pitchFamily="18" charset="0"/>
              <a:cs typeface="Times New Roman" pitchFamily="18" charset="0"/>
            </a:endParaRPr>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0" y="3369228"/>
            <a:ext cx="2895601" cy="1693845"/>
          </a:xfrm>
          <a:prstGeom prst="rect">
            <a:avLst/>
          </a:prstGeom>
        </p:spPr>
      </p:pic>
      <p:sp>
        <p:nvSpPr>
          <p:cNvPr id="14" name="Rectangle 13"/>
          <p:cNvSpPr/>
          <p:nvPr/>
        </p:nvSpPr>
        <p:spPr>
          <a:xfrm>
            <a:off x="5791201" y="3581400"/>
            <a:ext cx="2819400" cy="1257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solidFill>
                  <a:schemeClr val="tx1"/>
                </a:solidFill>
                <a:latin typeface="Times New Roman" pitchFamily="18" charset="0"/>
                <a:cs typeface="Times New Roman" pitchFamily="18" charset="0"/>
              </a:rPr>
              <a:t>60% of EA Budgets Flat or Falling</a:t>
            </a:r>
          </a:p>
          <a:p>
            <a:pPr algn="ctr"/>
            <a:r>
              <a:rPr lang="en-US" sz="1000" dirty="0" smtClean="0">
                <a:solidFill>
                  <a:schemeClr val="tx1"/>
                </a:solidFill>
                <a:latin typeface="Times New Roman" pitchFamily="18" charset="0"/>
                <a:cs typeface="Times New Roman" pitchFamily="18" charset="0"/>
              </a:rPr>
              <a:t>(EAEC Org Structure Poll,, 2011)</a:t>
            </a:r>
            <a:endParaRPr lang="en-US" sz="1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63954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81000" y="4038600"/>
            <a:ext cx="8153400" cy="533400"/>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p:txBody>
          <a:bodyPr/>
          <a:lstStyle/>
          <a:p>
            <a:r>
              <a:rPr lang="en-US" dirty="0" smtClean="0"/>
              <a:t>How Can We Help?</a:t>
            </a:r>
            <a:endParaRPr lang="en-US" dirty="0"/>
          </a:p>
        </p:txBody>
      </p:sp>
      <p:sp>
        <p:nvSpPr>
          <p:cNvPr id="2" name="Content Placeholder 1"/>
          <p:cNvSpPr>
            <a:spLocks noGrp="1"/>
          </p:cNvSpPr>
          <p:nvPr>
            <p:ph idx="1"/>
          </p:nvPr>
        </p:nvSpPr>
        <p:spPr/>
        <p:txBody>
          <a:bodyPr>
            <a:normAutofit fontScale="77500" lnSpcReduction="20000"/>
          </a:bodyPr>
          <a:lstStyle/>
          <a:p>
            <a:pPr marL="45720" indent="0">
              <a:lnSpc>
                <a:spcPct val="200000"/>
              </a:lnSpc>
              <a:spcBef>
                <a:spcPts val="600"/>
              </a:spcBef>
              <a:buNone/>
            </a:pPr>
            <a:r>
              <a:rPr lang="en-US" dirty="0" smtClean="0"/>
              <a:t>From an Industry-wide perspective, we can do some things…</a:t>
            </a:r>
          </a:p>
          <a:p>
            <a:pPr>
              <a:lnSpc>
                <a:spcPct val="200000"/>
              </a:lnSpc>
              <a:spcBef>
                <a:spcPts val="600"/>
              </a:spcBef>
            </a:pPr>
            <a:r>
              <a:rPr lang="en-US" dirty="0" smtClean="0"/>
              <a:t>Communicate Innovative New Tools and Techniques</a:t>
            </a:r>
          </a:p>
          <a:p>
            <a:pPr>
              <a:lnSpc>
                <a:spcPct val="200000"/>
              </a:lnSpc>
              <a:spcBef>
                <a:spcPts val="600"/>
              </a:spcBef>
            </a:pPr>
            <a:r>
              <a:rPr lang="en-US" dirty="0" smtClean="0"/>
              <a:t>Develop and Offer Improved Training</a:t>
            </a:r>
          </a:p>
          <a:p>
            <a:pPr>
              <a:lnSpc>
                <a:spcPct val="200000"/>
              </a:lnSpc>
              <a:spcBef>
                <a:spcPts val="600"/>
              </a:spcBef>
            </a:pPr>
            <a:r>
              <a:rPr lang="en-US" dirty="0" smtClean="0"/>
              <a:t>Support Stakeholder Buy-In</a:t>
            </a:r>
          </a:p>
          <a:p>
            <a:pPr>
              <a:lnSpc>
                <a:spcPct val="200000"/>
              </a:lnSpc>
              <a:spcBef>
                <a:spcPts val="600"/>
              </a:spcBef>
            </a:pPr>
            <a:r>
              <a:rPr lang="en-US" dirty="0" smtClean="0"/>
              <a:t>Support Measurability Through Standardized Metrics</a:t>
            </a:r>
            <a:endParaRPr lang="en-US" dirty="0"/>
          </a:p>
        </p:txBody>
      </p:sp>
    </p:spTree>
    <p:extLst>
      <p:ext uri="{BB962C8B-B14F-4D97-AF65-F5344CB8AC3E}">
        <p14:creationId xmlns:p14="http://schemas.microsoft.com/office/powerpoint/2010/main" val="3152267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Supporting Stakeholder Buy-In</a:t>
            </a:r>
            <a:endParaRPr lang="en-US" dirty="0"/>
          </a:p>
        </p:txBody>
      </p:sp>
      <p:sp>
        <p:nvSpPr>
          <p:cNvPr id="2" name="Content Placeholder 1"/>
          <p:cNvSpPr>
            <a:spLocks noGrp="1"/>
          </p:cNvSpPr>
          <p:nvPr>
            <p:ph idx="1"/>
          </p:nvPr>
        </p:nvSpPr>
        <p:spPr/>
        <p:txBody>
          <a:bodyPr>
            <a:normAutofit fontScale="62500" lnSpcReduction="20000"/>
          </a:bodyPr>
          <a:lstStyle/>
          <a:p>
            <a:r>
              <a:rPr lang="en-US" dirty="0" smtClean="0"/>
              <a:t>What are the Business leader’s impressions of EA?</a:t>
            </a:r>
          </a:p>
          <a:p>
            <a:pPr lvl="1"/>
            <a:r>
              <a:rPr lang="en-US" dirty="0" smtClean="0"/>
              <a:t>Never needed it before.</a:t>
            </a:r>
          </a:p>
          <a:p>
            <a:pPr lvl="1"/>
            <a:r>
              <a:rPr lang="en-US" dirty="0" smtClean="0"/>
              <a:t>They build applications, right?</a:t>
            </a:r>
          </a:p>
          <a:p>
            <a:pPr lvl="1"/>
            <a:r>
              <a:rPr lang="en-US" dirty="0" smtClean="0"/>
              <a:t>Geeks who think that they know my business better than I do</a:t>
            </a:r>
            <a:br>
              <a:rPr lang="en-US" dirty="0" smtClean="0"/>
            </a:br>
            <a:endParaRPr lang="en-US" dirty="0" smtClean="0"/>
          </a:p>
          <a:p>
            <a:r>
              <a:rPr lang="en-US" dirty="0" smtClean="0"/>
              <a:t>What are IT stakeholder’s impressions of EA?</a:t>
            </a:r>
          </a:p>
          <a:p>
            <a:pPr lvl="1"/>
            <a:r>
              <a:rPr lang="en-US" dirty="0" smtClean="0"/>
              <a:t>Big charts with boxes and lines that I can’t read and don’t need</a:t>
            </a:r>
          </a:p>
          <a:p>
            <a:pPr lvl="1"/>
            <a:r>
              <a:rPr lang="en-US" dirty="0" smtClean="0"/>
              <a:t>How can I get out of standing in front of an ARB?</a:t>
            </a:r>
          </a:p>
          <a:p>
            <a:pPr lvl="1"/>
            <a:r>
              <a:rPr lang="en-US" dirty="0" smtClean="0"/>
              <a:t>My project already has an architect… why do I want another one?</a:t>
            </a:r>
          </a:p>
          <a:p>
            <a:pPr lvl="1"/>
            <a:r>
              <a:rPr lang="en-US" dirty="0" smtClean="0"/>
              <a:t>What are a bunch of ivory-tower, non-accountable seagulls going to add to my ability to deliver on time?</a:t>
            </a:r>
          </a:p>
          <a:p>
            <a:pPr lvl="1"/>
            <a:endParaRPr lang="en-US" dirty="0"/>
          </a:p>
          <a:p>
            <a:r>
              <a:rPr lang="en-US" dirty="0" smtClean="0"/>
              <a:t>What are prospective architects hearing?</a:t>
            </a:r>
          </a:p>
          <a:p>
            <a:pPr lvl="1"/>
            <a:r>
              <a:rPr lang="en-US" dirty="0" smtClean="0"/>
              <a:t>Is there prestige or better pay in Enterprise Architecture?  </a:t>
            </a:r>
          </a:p>
          <a:p>
            <a:pPr lvl="1"/>
            <a:r>
              <a:rPr lang="en-US" dirty="0" smtClean="0"/>
              <a:t>What do these people actually do?</a:t>
            </a:r>
          </a:p>
          <a:p>
            <a:pPr lvl="1"/>
            <a:r>
              <a:rPr lang="en-US" dirty="0" smtClean="0"/>
              <a:t>Practitioners are always bickering about definitions</a:t>
            </a:r>
            <a:endParaRPr lang="en-US" dirty="0"/>
          </a:p>
        </p:txBody>
      </p:sp>
    </p:spTree>
    <p:extLst>
      <p:ext uri="{BB962C8B-B14F-4D97-AF65-F5344CB8AC3E}">
        <p14:creationId xmlns:p14="http://schemas.microsoft.com/office/powerpoint/2010/main" val="7804188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smtClean="0"/>
              <a:t>Addressing Stakeholder </a:t>
            </a:r>
            <a:br>
              <a:rPr lang="en-US" dirty="0" smtClean="0"/>
            </a:br>
            <a:r>
              <a:rPr lang="en-US" dirty="0" smtClean="0"/>
              <a:t>Buy-In Issues</a:t>
            </a:r>
            <a:endParaRPr lang="en-US" dirty="0"/>
          </a:p>
        </p:txBody>
      </p:sp>
      <p:sp>
        <p:nvSpPr>
          <p:cNvPr id="2" name="Content Placeholder 1"/>
          <p:cNvSpPr>
            <a:spLocks noGrp="1"/>
          </p:cNvSpPr>
          <p:nvPr>
            <p:ph idx="1"/>
          </p:nvPr>
        </p:nvSpPr>
        <p:spPr>
          <a:xfrm>
            <a:off x="457200" y="1600200"/>
            <a:ext cx="8839200" cy="4525963"/>
          </a:xfrm>
        </p:spPr>
        <p:txBody>
          <a:bodyPr>
            <a:normAutofit fontScale="77500" lnSpcReduction="20000"/>
          </a:bodyPr>
          <a:lstStyle/>
          <a:p>
            <a:r>
              <a:rPr lang="en-US" dirty="0"/>
              <a:t>C</a:t>
            </a:r>
            <a:r>
              <a:rPr lang="en-US" dirty="0" smtClean="0"/>
              <a:t>onsistent messaging </a:t>
            </a:r>
          </a:p>
          <a:p>
            <a:pPr lvl="1"/>
            <a:r>
              <a:rPr lang="en-US" dirty="0" smtClean="0"/>
              <a:t>online</a:t>
            </a:r>
          </a:p>
          <a:p>
            <a:pPr lvl="1"/>
            <a:r>
              <a:rPr lang="en-US" dirty="0" smtClean="0"/>
              <a:t>in training classes</a:t>
            </a:r>
          </a:p>
          <a:p>
            <a:pPr lvl="1"/>
            <a:r>
              <a:rPr lang="en-US" dirty="0" smtClean="0"/>
              <a:t>In reference materials</a:t>
            </a:r>
            <a:br>
              <a:rPr lang="en-US" dirty="0" smtClean="0"/>
            </a:br>
            <a:endParaRPr lang="en-US" dirty="0" smtClean="0"/>
          </a:p>
          <a:p>
            <a:r>
              <a:rPr lang="en-US" dirty="0" smtClean="0"/>
              <a:t>Better integration with other Frameworks / Practices</a:t>
            </a:r>
          </a:p>
          <a:p>
            <a:pPr lvl="1"/>
            <a:r>
              <a:rPr lang="en-US" dirty="0" smtClean="0"/>
              <a:t>Remove FUD from “peers” (Process Arch, Biz Arch, Solution Arch)</a:t>
            </a:r>
          </a:p>
          <a:p>
            <a:pPr lvl="1"/>
            <a:r>
              <a:rPr lang="en-US" dirty="0" smtClean="0"/>
              <a:t>Make EA easier to integrate with: PMBOK, ITIL, Six Sigma</a:t>
            </a:r>
            <a:br>
              <a:rPr lang="en-US" dirty="0" smtClean="0"/>
            </a:br>
            <a:endParaRPr lang="en-US" dirty="0" smtClean="0"/>
          </a:p>
          <a:p>
            <a:r>
              <a:rPr lang="en-US" dirty="0" smtClean="0"/>
              <a:t>Move from “art” to “science”</a:t>
            </a:r>
          </a:p>
          <a:p>
            <a:pPr lvl="1"/>
            <a:r>
              <a:rPr lang="en-US" dirty="0" smtClean="0"/>
              <a:t>Publication of serious studies</a:t>
            </a:r>
          </a:p>
          <a:p>
            <a:pPr lvl="1"/>
            <a:r>
              <a:rPr lang="en-US" dirty="0" smtClean="0"/>
              <a:t>Publicity around proven value case studies</a:t>
            </a:r>
          </a:p>
          <a:p>
            <a:pPr lvl="1"/>
            <a:endParaRPr lang="en-US" dirty="0"/>
          </a:p>
        </p:txBody>
      </p:sp>
      <p:pic>
        <p:nvPicPr>
          <p:cNvPr id="4" name="Picture 3"/>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9322142">
            <a:off x="6248400" y="4267200"/>
            <a:ext cx="647700" cy="1009650"/>
          </a:xfrm>
          <a:prstGeom prst="rect">
            <a:avLst/>
          </a:prstGeom>
        </p:spPr>
      </p:pic>
      <p:pic>
        <p:nvPicPr>
          <p:cNvPr id="5" name="Picture 4"/>
          <p:cNvPicPr>
            <a:picLocks noChangeAspect="1"/>
          </p:cNvPicPr>
          <p:nvPr/>
        </p:nvPicPr>
        <p:blipFill>
          <a:blip r:embed="rId2">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rot="19322142">
            <a:off x="5154023" y="5603550"/>
            <a:ext cx="647700" cy="100965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4385" y="1752600"/>
            <a:ext cx="954248" cy="914400"/>
          </a:xfrm>
          <a:prstGeom prst="rect">
            <a:avLst/>
          </a:prstGeom>
        </p:spPr>
      </p:pic>
      <p:sp>
        <p:nvSpPr>
          <p:cNvPr id="7" name="Rounded Rectangle 6"/>
          <p:cNvSpPr/>
          <p:nvPr/>
        </p:nvSpPr>
        <p:spPr>
          <a:xfrm>
            <a:off x="6172200" y="2057400"/>
            <a:ext cx="2286000" cy="45720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smtClean="0"/>
              <a:t>We can do this now</a:t>
            </a:r>
            <a:endParaRPr lang="en-US" dirty="0"/>
          </a:p>
        </p:txBody>
      </p:sp>
      <p:sp>
        <p:nvSpPr>
          <p:cNvPr id="8" name="Rounded Rectangle 7"/>
          <p:cNvSpPr/>
          <p:nvPr/>
        </p:nvSpPr>
        <p:spPr>
          <a:xfrm>
            <a:off x="7292340" y="4539614"/>
            <a:ext cx="1472475" cy="763905"/>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smtClean="0"/>
              <a:t>Depends on EABOK</a:t>
            </a:r>
            <a:endParaRPr lang="en-US" dirty="0"/>
          </a:p>
        </p:txBody>
      </p:sp>
      <p:sp>
        <p:nvSpPr>
          <p:cNvPr id="9" name="Rounded Rectangle 8"/>
          <p:cNvSpPr/>
          <p:nvPr/>
        </p:nvSpPr>
        <p:spPr>
          <a:xfrm>
            <a:off x="6223725" y="5941695"/>
            <a:ext cx="1472475" cy="763905"/>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dirty="0" smtClean="0"/>
              <a:t>Depends on EABOK</a:t>
            </a:r>
            <a:endParaRPr lang="en-US" dirty="0"/>
          </a:p>
        </p:txBody>
      </p:sp>
    </p:spTree>
    <p:extLst>
      <p:ext uri="{BB962C8B-B14F-4D97-AF65-F5344CB8AC3E}">
        <p14:creationId xmlns:p14="http://schemas.microsoft.com/office/powerpoint/2010/main" val="2871443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Messaging Targets</a:t>
            </a:r>
            <a:endParaRPr lang="en-US" dirty="0"/>
          </a:p>
        </p:txBody>
      </p:sp>
      <p:sp>
        <p:nvSpPr>
          <p:cNvPr id="2" name="Content Placeholder 1"/>
          <p:cNvSpPr>
            <a:spLocks noGrp="1"/>
          </p:cNvSpPr>
          <p:nvPr>
            <p:ph idx="1"/>
          </p:nvPr>
        </p:nvSpPr>
        <p:spPr/>
        <p:txBody>
          <a:bodyPr>
            <a:normAutofit fontScale="70000" lnSpcReduction="20000"/>
          </a:bodyPr>
          <a:lstStyle/>
          <a:p>
            <a:r>
              <a:rPr lang="en-US" dirty="0" smtClean="0"/>
              <a:t>Online Messaging Sources: </a:t>
            </a:r>
          </a:p>
          <a:p>
            <a:pPr lvl="1"/>
            <a:r>
              <a:rPr lang="en-US" dirty="0" smtClean="0"/>
              <a:t>Wikipedia </a:t>
            </a:r>
            <a:r>
              <a:rPr lang="en-US" dirty="0" smtClean="0">
                <a:sym typeface="Wingdings" pitchFamily="2" charset="2"/>
              </a:rPr>
              <a:t> The most heavily used online reference work </a:t>
            </a:r>
          </a:p>
          <a:p>
            <a:pPr lvl="1"/>
            <a:r>
              <a:rPr lang="en-US" dirty="0" smtClean="0">
                <a:sym typeface="Wingdings" pitchFamily="2" charset="2"/>
              </a:rPr>
              <a:t>Online journals</a:t>
            </a:r>
          </a:p>
          <a:p>
            <a:pPr lvl="1"/>
            <a:r>
              <a:rPr lang="en-US" dirty="0" smtClean="0">
                <a:sym typeface="Wingdings" pitchFamily="2" charset="2"/>
              </a:rPr>
              <a:t>Blogs and Articles</a:t>
            </a:r>
            <a:endParaRPr lang="en-US" dirty="0" smtClean="0"/>
          </a:p>
          <a:p>
            <a:r>
              <a:rPr lang="en-US" dirty="0" smtClean="0"/>
              <a:t>Print Media Sources:</a:t>
            </a:r>
          </a:p>
          <a:p>
            <a:pPr lvl="1"/>
            <a:r>
              <a:rPr lang="en-US" dirty="0" smtClean="0"/>
              <a:t>Business Magazines</a:t>
            </a:r>
          </a:p>
          <a:p>
            <a:pPr lvl="1"/>
            <a:r>
              <a:rPr lang="en-US" dirty="0" smtClean="0"/>
              <a:t>Technology Magazines and Journals</a:t>
            </a:r>
          </a:p>
          <a:p>
            <a:pPr lvl="1"/>
            <a:r>
              <a:rPr lang="en-US" dirty="0" smtClean="0"/>
              <a:t>Published Frameworks and Reference Materials</a:t>
            </a:r>
          </a:p>
          <a:p>
            <a:r>
              <a:rPr lang="en-US" dirty="0" smtClean="0"/>
              <a:t>In-Person Sources:</a:t>
            </a:r>
          </a:p>
          <a:p>
            <a:pPr lvl="1"/>
            <a:r>
              <a:rPr lang="en-US" dirty="0" smtClean="0"/>
              <a:t>Conference Presentations</a:t>
            </a:r>
          </a:p>
          <a:p>
            <a:pPr lvl="1"/>
            <a:r>
              <a:rPr lang="en-US" dirty="0" smtClean="0"/>
              <a:t>Training classes</a:t>
            </a:r>
          </a:p>
          <a:p>
            <a:pPr lvl="1"/>
            <a:r>
              <a:rPr lang="en-US" dirty="0" smtClean="0"/>
              <a:t>Analysts</a:t>
            </a:r>
          </a:p>
          <a:p>
            <a:pPr lvl="1"/>
            <a:r>
              <a:rPr lang="en-US" dirty="0" smtClean="0"/>
              <a:t>Consultants</a:t>
            </a:r>
          </a:p>
          <a:p>
            <a:pPr lvl="1"/>
            <a:r>
              <a:rPr lang="en-US" dirty="0" smtClean="0"/>
              <a:t>Practitioners</a:t>
            </a:r>
            <a:endParaRPr lang="en-US" dirty="0"/>
          </a:p>
        </p:txBody>
      </p:sp>
    </p:spTree>
    <p:extLst>
      <p:ext uri="{BB962C8B-B14F-4D97-AF65-F5344CB8AC3E}">
        <p14:creationId xmlns:p14="http://schemas.microsoft.com/office/powerpoint/2010/main" val="2711152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Special case: Wikipedia</a:t>
            </a:r>
            <a:endParaRPr lang="en-US" dirty="0"/>
          </a:p>
        </p:txBody>
      </p:sp>
      <p:sp>
        <p:nvSpPr>
          <p:cNvPr id="2" name="Content Placeholder 1"/>
          <p:cNvSpPr>
            <a:spLocks noGrp="1"/>
          </p:cNvSpPr>
          <p:nvPr>
            <p:ph idx="1"/>
          </p:nvPr>
        </p:nvSpPr>
        <p:spPr/>
        <p:txBody>
          <a:bodyPr>
            <a:normAutofit fontScale="85000" lnSpcReduction="10000"/>
          </a:bodyPr>
          <a:lstStyle/>
          <a:p>
            <a:r>
              <a:rPr lang="en-US" dirty="0" smtClean="0"/>
              <a:t>Wikipedia is an online encyclopedia</a:t>
            </a:r>
          </a:p>
          <a:p>
            <a:pPr lvl="1"/>
            <a:r>
              <a:rPr lang="en-US" dirty="0" smtClean="0"/>
              <a:t>Crowd sourced</a:t>
            </a:r>
          </a:p>
          <a:p>
            <a:pPr lvl="1"/>
            <a:r>
              <a:rPr lang="en-US" dirty="0" smtClean="0"/>
              <a:t>Strictly controlled by policies and self-appointed ‘editors’</a:t>
            </a:r>
          </a:p>
          <a:p>
            <a:pPr lvl="1"/>
            <a:r>
              <a:rPr lang="en-US" dirty="0" smtClean="0"/>
              <a:t>Elected ‘administrators’ oversee content</a:t>
            </a:r>
            <a:br>
              <a:rPr lang="en-US" dirty="0" smtClean="0"/>
            </a:br>
            <a:endParaRPr lang="en-US" dirty="0" smtClean="0"/>
          </a:p>
          <a:p>
            <a:r>
              <a:rPr lang="en-US" dirty="0" smtClean="0"/>
              <a:t>Five Pillars of Wikipedia</a:t>
            </a:r>
          </a:p>
          <a:p>
            <a:pPr marL="708660" lvl="1" indent="-342900">
              <a:buFont typeface="+mj-lt"/>
              <a:buAutoNum type="arabicPeriod"/>
            </a:pPr>
            <a:r>
              <a:rPr lang="en-US" dirty="0" smtClean="0"/>
              <a:t>Wikipedia is an Encyclopedia</a:t>
            </a:r>
          </a:p>
          <a:p>
            <a:pPr marL="708660" lvl="1" indent="-342900">
              <a:buFont typeface="+mj-lt"/>
              <a:buAutoNum type="arabicPeriod"/>
            </a:pPr>
            <a:r>
              <a:rPr lang="en-US" dirty="0" smtClean="0"/>
              <a:t>Wikipedia is written from a Neutral Point of View</a:t>
            </a:r>
          </a:p>
          <a:p>
            <a:pPr marL="708660" lvl="1" indent="-342900">
              <a:buFont typeface="+mj-lt"/>
              <a:buAutoNum type="arabicPeriod"/>
            </a:pPr>
            <a:r>
              <a:rPr lang="en-US" dirty="0" smtClean="0"/>
              <a:t>Wikipedia is free content that can be used by anyone</a:t>
            </a:r>
          </a:p>
          <a:p>
            <a:pPr marL="708660" lvl="1" indent="-342900">
              <a:buFont typeface="+mj-lt"/>
              <a:buAutoNum type="arabicPeriod"/>
            </a:pPr>
            <a:r>
              <a:rPr lang="en-US" dirty="0" smtClean="0"/>
              <a:t>Editors should interact in a respectful and civil manner</a:t>
            </a:r>
          </a:p>
          <a:p>
            <a:pPr marL="708660" lvl="1" indent="-342900">
              <a:buFont typeface="+mj-lt"/>
              <a:buAutoNum type="arabicPeriod"/>
            </a:pPr>
            <a:r>
              <a:rPr lang="en-US" dirty="0" smtClean="0"/>
              <a:t>Wikipedia has no fixed rules</a:t>
            </a:r>
            <a:endParaRPr lang="en-US" dirty="0"/>
          </a:p>
        </p:txBody>
      </p:sp>
    </p:spTree>
    <p:extLst>
      <p:ext uri="{BB962C8B-B14F-4D97-AF65-F5344CB8AC3E}">
        <p14:creationId xmlns:p14="http://schemas.microsoft.com/office/powerpoint/2010/main" val="17818420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Making Wikipedia Work for EA</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071259391"/>
              </p:ext>
            </p:extLst>
          </p:nvPr>
        </p:nvGraphicFramePr>
        <p:xfrm>
          <a:off x="1066800" y="1295400"/>
          <a:ext cx="7696200" cy="4343399"/>
        </p:xfrm>
        <a:graphic>
          <a:graphicData uri="http://schemas.openxmlformats.org/drawingml/2006/table">
            <a:tbl>
              <a:tblPr firstRow="1" bandRow="1">
                <a:tableStyleId>{5C22544A-7EE6-4342-B048-85BDC9FD1C3A}</a:tableStyleId>
              </a:tblPr>
              <a:tblGrid>
                <a:gridCol w="1539240"/>
                <a:gridCol w="2798618"/>
                <a:gridCol w="3358342"/>
              </a:tblGrid>
              <a:tr h="443452">
                <a:tc>
                  <a:txBody>
                    <a:bodyPr/>
                    <a:lstStyle/>
                    <a:p>
                      <a:pPr>
                        <a:spcBef>
                          <a:spcPts val="600"/>
                        </a:spcBef>
                        <a:spcAft>
                          <a:spcPts val="600"/>
                        </a:spcAft>
                      </a:pPr>
                      <a:r>
                        <a:rPr lang="en-US" dirty="0" smtClean="0"/>
                        <a:t>Consideration</a:t>
                      </a:r>
                      <a:endParaRPr lang="en-US" dirty="0"/>
                    </a:p>
                  </a:txBody>
                  <a:tcPr/>
                </a:tc>
                <a:tc>
                  <a:txBody>
                    <a:bodyPr/>
                    <a:lstStyle/>
                    <a:p>
                      <a:pPr>
                        <a:spcBef>
                          <a:spcPts val="600"/>
                        </a:spcBef>
                        <a:spcAft>
                          <a:spcPts val="600"/>
                        </a:spcAft>
                      </a:pPr>
                      <a:r>
                        <a:rPr lang="en-US" dirty="0" smtClean="0"/>
                        <a:t>Meaning</a:t>
                      </a:r>
                      <a:endParaRPr lang="en-US" dirty="0"/>
                    </a:p>
                  </a:txBody>
                  <a:tcPr/>
                </a:tc>
                <a:tc>
                  <a:txBody>
                    <a:bodyPr/>
                    <a:lstStyle/>
                    <a:p>
                      <a:pPr>
                        <a:spcBef>
                          <a:spcPts val="600"/>
                        </a:spcBef>
                        <a:spcAft>
                          <a:spcPts val="600"/>
                        </a:spcAft>
                      </a:pPr>
                      <a:r>
                        <a:rPr lang="en-US" dirty="0" smtClean="0"/>
                        <a:t>Requirement</a:t>
                      </a:r>
                      <a:endParaRPr lang="en-US" dirty="0"/>
                    </a:p>
                  </a:txBody>
                  <a:tcPr/>
                </a:tc>
              </a:tr>
              <a:tr h="947651">
                <a:tc>
                  <a:txBody>
                    <a:bodyPr/>
                    <a:lstStyle/>
                    <a:p>
                      <a:pPr>
                        <a:spcBef>
                          <a:spcPts val="600"/>
                        </a:spcBef>
                        <a:spcAft>
                          <a:spcPts val="600"/>
                        </a:spcAft>
                      </a:pPr>
                      <a:r>
                        <a:rPr lang="en-US" b="1" dirty="0" smtClean="0"/>
                        <a:t>Notability</a:t>
                      </a:r>
                      <a:endParaRPr lang="en-US" b="1" dirty="0"/>
                    </a:p>
                  </a:txBody>
                  <a:tcPr/>
                </a:tc>
                <a:tc>
                  <a:txBody>
                    <a:bodyPr/>
                    <a:lstStyle/>
                    <a:p>
                      <a:pPr>
                        <a:spcBef>
                          <a:spcPts val="600"/>
                        </a:spcBef>
                        <a:spcAft>
                          <a:spcPts val="600"/>
                        </a:spcAft>
                      </a:pPr>
                      <a:r>
                        <a:rPr lang="en-US" dirty="0" smtClean="0"/>
                        <a:t>Many</a:t>
                      </a:r>
                      <a:r>
                        <a:rPr lang="en-US" baseline="0" dirty="0" smtClean="0"/>
                        <a:t> sources have to consider your topic valid</a:t>
                      </a:r>
                      <a:endParaRPr lang="en-US" dirty="0"/>
                    </a:p>
                  </a:txBody>
                  <a:tcPr/>
                </a:tc>
                <a:tc>
                  <a:txBody>
                    <a:bodyPr/>
                    <a:lstStyle/>
                    <a:p>
                      <a:pPr>
                        <a:spcBef>
                          <a:spcPts val="600"/>
                        </a:spcBef>
                        <a:spcAft>
                          <a:spcPts val="600"/>
                        </a:spcAft>
                      </a:pPr>
                      <a:r>
                        <a:rPr lang="en-US" dirty="0" smtClean="0"/>
                        <a:t>Each article must be notable.</a:t>
                      </a:r>
                    </a:p>
                    <a:p>
                      <a:pPr>
                        <a:spcBef>
                          <a:spcPts val="600"/>
                        </a:spcBef>
                        <a:spcAft>
                          <a:spcPts val="600"/>
                        </a:spcAft>
                      </a:pPr>
                      <a:r>
                        <a:rPr lang="en-US" dirty="0" smtClean="0"/>
                        <a:t>[consistency</a:t>
                      </a:r>
                      <a:r>
                        <a:rPr lang="en-US" baseline="0" dirty="0" smtClean="0"/>
                        <a:t> is highly valuable]</a:t>
                      </a:r>
                      <a:endParaRPr lang="en-US" dirty="0"/>
                    </a:p>
                  </a:txBody>
                  <a:tcPr/>
                </a:tc>
              </a:tr>
              <a:tr h="765410">
                <a:tc>
                  <a:txBody>
                    <a:bodyPr/>
                    <a:lstStyle/>
                    <a:p>
                      <a:pPr>
                        <a:spcBef>
                          <a:spcPts val="600"/>
                        </a:spcBef>
                        <a:spcAft>
                          <a:spcPts val="600"/>
                        </a:spcAft>
                      </a:pPr>
                      <a:r>
                        <a:rPr lang="en-US" b="1" dirty="0" smtClean="0"/>
                        <a:t>No Original Research</a:t>
                      </a:r>
                      <a:endParaRPr lang="en-US" b="1" dirty="0"/>
                    </a:p>
                  </a:txBody>
                  <a:tcPr/>
                </a:tc>
                <a:tc>
                  <a:txBody>
                    <a:bodyPr/>
                    <a:lstStyle/>
                    <a:p>
                      <a:pPr>
                        <a:spcBef>
                          <a:spcPts val="600"/>
                        </a:spcBef>
                        <a:spcAft>
                          <a:spcPts val="600"/>
                        </a:spcAft>
                      </a:pPr>
                      <a:r>
                        <a:rPr lang="en-US" dirty="0" smtClean="0"/>
                        <a:t>Publish elsewhere, cite in Wikipedia</a:t>
                      </a:r>
                      <a:endParaRPr lang="en-US" dirty="0"/>
                    </a:p>
                  </a:txBody>
                  <a:tcPr/>
                </a:tc>
                <a:tc>
                  <a:txBody>
                    <a:bodyPr/>
                    <a:lstStyle/>
                    <a:p>
                      <a:pPr>
                        <a:spcBef>
                          <a:spcPts val="600"/>
                        </a:spcBef>
                        <a:spcAft>
                          <a:spcPts val="600"/>
                        </a:spcAft>
                      </a:pPr>
                      <a:r>
                        <a:rPr lang="en-US" dirty="0" smtClean="0"/>
                        <a:t>Easily verified content, not locked down under memberships</a:t>
                      </a:r>
                      <a:endParaRPr lang="en-US" dirty="0"/>
                    </a:p>
                  </a:txBody>
                  <a:tcPr/>
                </a:tc>
              </a:tr>
              <a:tr h="765410">
                <a:tc>
                  <a:txBody>
                    <a:bodyPr/>
                    <a:lstStyle/>
                    <a:p>
                      <a:pPr>
                        <a:spcBef>
                          <a:spcPts val="600"/>
                        </a:spcBef>
                        <a:spcAft>
                          <a:spcPts val="600"/>
                        </a:spcAft>
                      </a:pPr>
                      <a:r>
                        <a:rPr lang="en-US" b="1" dirty="0" smtClean="0"/>
                        <a:t>Copyright concerns</a:t>
                      </a:r>
                      <a:endParaRPr lang="en-US" b="1" dirty="0"/>
                    </a:p>
                  </a:txBody>
                  <a:tcPr/>
                </a:tc>
                <a:tc>
                  <a:txBody>
                    <a:bodyPr/>
                    <a:lstStyle/>
                    <a:p>
                      <a:pPr>
                        <a:spcBef>
                          <a:spcPts val="600"/>
                        </a:spcBef>
                        <a:spcAft>
                          <a:spcPts val="600"/>
                        </a:spcAft>
                      </a:pPr>
                      <a:r>
                        <a:rPr lang="en-US" dirty="0" smtClean="0"/>
                        <a:t>Content in Wikipedia is out of our control</a:t>
                      </a:r>
                      <a:endParaRPr lang="en-US" dirty="0"/>
                    </a:p>
                  </a:txBody>
                  <a:tcPr/>
                </a:tc>
                <a:tc>
                  <a:txBody>
                    <a:bodyPr/>
                    <a:lstStyle/>
                    <a:p>
                      <a:pPr>
                        <a:spcBef>
                          <a:spcPts val="600"/>
                        </a:spcBef>
                        <a:spcAft>
                          <a:spcPts val="600"/>
                        </a:spcAft>
                      </a:pPr>
                      <a:r>
                        <a:rPr lang="en-US" dirty="0" smtClean="0"/>
                        <a:t>Release content for use in Wikipedia so that it can be cited</a:t>
                      </a:r>
                      <a:endParaRPr lang="en-US" dirty="0"/>
                    </a:p>
                  </a:txBody>
                  <a:tcPr/>
                </a:tc>
              </a:tr>
              <a:tr h="1421476">
                <a:tc>
                  <a:txBody>
                    <a:bodyPr/>
                    <a:lstStyle/>
                    <a:p>
                      <a:pPr>
                        <a:spcBef>
                          <a:spcPts val="600"/>
                        </a:spcBef>
                        <a:spcAft>
                          <a:spcPts val="600"/>
                        </a:spcAft>
                      </a:pPr>
                      <a:r>
                        <a:rPr lang="en-US" b="1" dirty="0" smtClean="0"/>
                        <a:t>Control over editing</a:t>
                      </a:r>
                      <a:endParaRPr lang="en-US" b="1" dirty="0"/>
                    </a:p>
                  </a:txBody>
                  <a:tcPr/>
                </a:tc>
                <a:tc>
                  <a:txBody>
                    <a:bodyPr/>
                    <a:lstStyle/>
                    <a:p>
                      <a:pPr>
                        <a:spcBef>
                          <a:spcPts val="600"/>
                        </a:spcBef>
                        <a:spcAft>
                          <a:spcPts val="600"/>
                        </a:spcAft>
                      </a:pPr>
                      <a:r>
                        <a:rPr lang="en-US" dirty="0" smtClean="0"/>
                        <a:t>We cannot control edits or editors</a:t>
                      </a:r>
                      <a:endParaRPr lang="en-US" dirty="0"/>
                    </a:p>
                  </a:txBody>
                  <a:tcPr/>
                </a:tc>
                <a:tc>
                  <a:txBody>
                    <a:bodyPr/>
                    <a:lstStyle/>
                    <a:p>
                      <a:pPr>
                        <a:spcBef>
                          <a:spcPts val="600"/>
                        </a:spcBef>
                        <a:spcAft>
                          <a:spcPts val="600"/>
                        </a:spcAft>
                      </a:pPr>
                      <a:r>
                        <a:rPr lang="en-US" dirty="0" smtClean="0"/>
                        <a:t>Develop a strong article from a clear voice that is authoritative without being controversial, and monitor it over time.</a:t>
                      </a:r>
                      <a:endParaRPr lang="en-US" dirty="0"/>
                    </a:p>
                  </a:txBody>
                  <a:tcPr/>
                </a:tc>
              </a:tr>
            </a:tbl>
          </a:graphicData>
        </a:graphic>
      </p:graphicFrame>
    </p:spTree>
    <p:extLst>
      <p:ext uri="{BB962C8B-B14F-4D97-AF65-F5344CB8AC3E}">
        <p14:creationId xmlns:p14="http://schemas.microsoft.com/office/powerpoint/2010/main" val="36486195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25344FE8-1B95-4C0E-8E7F-45729E787D70}" type="slidenum">
              <a:rPr lang="en-US" smtClean="0"/>
              <a:pPr>
                <a:defRPr/>
              </a:pPr>
              <a:t>9</a:t>
            </a:fld>
            <a:endParaRPr lang="en-US" dirty="0"/>
          </a:p>
        </p:txBody>
      </p:sp>
      <p:sp>
        <p:nvSpPr>
          <p:cNvPr id="5" name="TextBox 4"/>
          <p:cNvSpPr txBox="1"/>
          <p:nvPr/>
        </p:nvSpPr>
        <p:spPr>
          <a:xfrm>
            <a:off x="76199" y="2111353"/>
            <a:ext cx="1279580" cy="276999"/>
          </a:xfrm>
          <a:prstGeom prst="rect">
            <a:avLst/>
          </a:prstGeom>
          <a:ln>
            <a:solidFill>
              <a:srgbClr val="F0C6C9"/>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fontAlgn="base">
              <a:spcBef>
                <a:spcPct val="0"/>
              </a:spcBef>
              <a:spcAft>
                <a:spcPct val="0"/>
              </a:spcAft>
            </a:pPr>
            <a:r>
              <a:rPr lang="en-US" sz="1200" b="1" dirty="0">
                <a:solidFill>
                  <a:srgbClr val="000000"/>
                </a:solidFill>
                <a:ea typeface="ＭＳ Ｐゴシック" pitchFamily="-112" charset="-128"/>
                <a:cs typeface="ＭＳ Ｐゴシック" pitchFamily="-112" charset="-128"/>
              </a:rPr>
              <a:t>Inception</a:t>
            </a:r>
            <a:endParaRPr lang="en-US" sz="1200" b="1" dirty="0">
              <a:solidFill>
                <a:srgbClr val="000000"/>
              </a:solidFill>
            </a:endParaRPr>
          </a:p>
        </p:txBody>
      </p:sp>
      <p:sp>
        <p:nvSpPr>
          <p:cNvPr id="10" name="TextBox 9"/>
          <p:cNvSpPr txBox="1"/>
          <p:nvPr/>
        </p:nvSpPr>
        <p:spPr>
          <a:xfrm>
            <a:off x="76200" y="2697169"/>
            <a:ext cx="1295400" cy="276999"/>
          </a:xfrm>
          <a:prstGeom prst="rect">
            <a:avLst/>
          </a:prstGeom>
          <a:ln>
            <a:solidFill>
              <a:srgbClr val="B191C9"/>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fontAlgn="base">
              <a:spcBef>
                <a:spcPct val="0"/>
              </a:spcBef>
              <a:spcAft>
                <a:spcPct val="0"/>
              </a:spcAft>
            </a:pPr>
            <a:r>
              <a:rPr lang="en-US" sz="1200" b="1" dirty="0">
                <a:solidFill>
                  <a:srgbClr val="000000"/>
                </a:solidFill>
                <a:ea typeface="ＭＳ Ｐゴシック" pitchFamily="-112" charset="-128"/>
                <a:cs typeface="ＭＳ Ｐゴシック" pitchFamily="-112" charset="-128"/>
              </a:rPr>
              <a:t>Foundation</a:t>
            </a:r>
            <a:endParaRPr lang="en-US" sz="1200" b="1" dirty="0">
              <a:solidFill>
                <a:srgbClr val="000000"/>
              </a:solidFill>
            </a:endParaRPr>
          </a:p>
        </p:txBody>
      </p:sp>
      <p:sp>
        <p:nvSpPr>
          <p:cNvPr id="13" name="TextBox 12"/>
          <p:cNvSpPr txBox="1"/>
          <p:nvPr/>
        </p:nvSpPr>
        <p:spPr>
          <a:xfrm>
            <a:off x="62160" y="3286729"/>
            <a:ext cx="1295401" cy="276999"/>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fontAlgn="base">
              <a:spcBef>
                <a:spcPct val="0"/>
              </a:spcBef>
              <a:spcAft>
                <a:spcPct val="0"/>
              </a:spcAft>
            </a:pPr>
            <a:r>
              <a:rPr lang="en-US" sz="1200" b="1" dirty="0">
                <a:solidFill>
                  <a:srgbClr val="000000"/>
                </a:solidFill>
                <a:ea typeface="ＭＳ Ｐゴシック" pitchFamily="-112" charset="-128"/>
                <a:cs typeface="ＭＳ Ｐゴシック" pitchFamily="-112" charset="-128"/>
              </a:rPr>
              <a:t>Education</a:t>
            </a:r>
            <a:endParaRPr lang="en-US" sz="1200" b="1" dirty="0">
              <a:solidFill>
                <a:srgbClr val="000000"/>
              </a:solidFill>
            </a:endParaRPr>
          </a:p>
        </p:txBody>
      </p:sp>
      <p:sp>
        <p:nvSpPr>
          <p:cNvPr id="16" name="TextBox 15"/>
          <p:cNvSpPr txBox="1"/>
          <p:nvPr/>
        </p:nvSpPr>
        <p:spPr>
          <a:xfrm>
            <a:off x="76200" y="4279028"/>
            <a:ext cx="1309594" cy="276999"/>
          </a:xfrm>
          <a:prstGeom prst="rect">
            <a:avLst/>
          </a:prstGeom>
          <a:ln>
            <a:solidFill>
              <a:srgbClr val="FF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fontAlgn="base">
              <a:spcBef>
                <a:spcPct val="0"/>
              </a:spcBef>
              <a:spcAft>
                <a:spcPct val="0"/>
              </a:spcAft>
            </a:pPr>
            <a:r>
              <a:rPr lang="en-US" sz="1200" b="1" dirty="0">
                <a:solidFill>
                  <a:srgbClr val="000000"/>
                </a:solidFill>
                <a:ea typeface="ＭＳ Ｐゴシック" pitchFamily="-112" charset="-128"/>
                <a:cs typeface="ＭＳ Ｐゴシック" pitchFamily="-112" charset="-128"/>
              </a:rPr>
              <a:t>Registration</a:t>
            </a:r>
            <a:endParaRPr lang="en-US" sz="1200" b="1" dirty="0">
              <a:solidFill>
                <a:srgbClr val="000000"/>
              </a:solidFill>
            </a:endParaRPr>
          </a:p>
        </p:txBody>
      </p:sp>
      <p:sp>
        <p:nvSpPr>
          <p:cNvPr id="14" name="Rectangle 13"/>
          <p:cNvSpPr/>
          <p:nvPr/>
        </p:nvSpPr>
        <p:spPr>
          <a:xfrm>
            <a:off x="62160" y="4791739"/>
            <a:ext cx="1293773" cy="276999"/>
          </a:xfrm>
          <a:prstGeom prst="rect">
            <a:avLst/>
          </a:prstGeom>
          <a:ln w="12700">
            <a:solidFill>
              <a:schemeClr val="tx1"/>
            </a:solidFill>
          </a:ln>
        </p:spPr>
        <p:txBody>
          <a:bodyPr wrap="square">
            <a:spAutoFit/>
          </a:bodyPr>
          <a:lstStyle/>
          <a:p>
            <a:pPr fontAlgn="base">
              <a:spcBef>
                <a:spcPct val="0"/>
              </a:spcBef>
              <a:spcAft>
                <a:spcPct val="0"/>
              </a:spcAft>
            </a:pPr>
            <a:r>
              <a:rPr lang="en-US" sz="1200" b="1" dirty="0">
                <a:solidFill>
                  <a:srgbClr val="000000"/>
                </a:solidFill>
                <a:ea typeface="ＭＳ Ｐゴシック" pitchFamily="-112" charset="-128"/>
                <a:cs typeface="ＭＳ Ｐゴシック" pitchFamily="-112" charset="-128"/>
              </a:rPr>
              <a:t>Profession</a:t>
            </a:r>
            <a:endParaRPr lang="en-US" sz="1200" b="1" dirty="0">
              <a:solidFill>
                <a:srgbClr val="000000"/>
              </a:solidFill>
              <a:ea typeface="ＭＳ Ｐゴシック" pitchFamily="34" charset="-128"/>
            </a:endParaRPr>
          </a:p>
        </p:txBody>
      </p:sp>
      <p:sp>
        <p:nvSpPr>
          <p:cNvPr id="2" name="Title 1"/>
          <p:cNvSpPr>
            <a:spLocks noGrp="1"/>
          </p:cNvSpPr>
          <p:nvPr>
            <p:ph type="title"/>
          </p:nvPr>
        </p:nvSpPr>
        <p:spPr>
          <a:xfrm>
            <a:off x="16823" y="378030"/>
            <a:ext cx="2209800" cy="914400"/>
          </a:xfrm>
        </p:spPr>
        <p:txBody>
          <a:bodyPr/>
          <a:lstStyle/>
          <a:p>
            <a:r>
              <a:rPr lang="en-US" sz="2000" dirty="0" smtClean="0"/>
              <a:t>Overview of the Proposed Roadmap</a:t>
            </a:r>
            <a:endParaRPr lang="en-US" sz="2000" dirty="0"/>
          </a:p>
        </p:txBody>
      </p:sp>
      <p:sp>
        <p:nvSpPr>
          <p:cNvPr id="23" name="Rectangle 22"/>
          <p:cNvSpPr/>
          <p:nvPr/>
        </p:nvSpPr>
        <p:spPr>
          <a:xfrm>
            <a:off x="62160" y="3810000"/>
            <a:ext cx="1800775" cy="276999"/>
          </a:xfrm>
          <a:prstGeom prst="rect">
            <a:avLst/>
          </a:prstGeom>
          <a:ln w="9525">
            <a:solidFill>
              <a:schemeClr val="tx1"/>
            </a:solidFill>
          </a:ln>
        </p:spPr>
        <p:txBody>
          <a:bodyPr wrap="square">
            <a:spAutoFit/>
          </a:bodyPr>
          <a:lstStyle/>
          <a:p>
            <a:pPr fontAlgn="base">
              <a:spcBef>
                <a:spcPct val="0"/>
              </a:spcBef>
              <a:spcAft>
                <a:spcPct val="0"/>
              </a:spcAft>
            </a:pPr>
            <a:r>
              <a:rPr lang="en-US" sz="1200" b="1" dirty="0">
                <a:solidFill>
                  <a:srgbClr val="000000"/>
                </a:solidFill>
                <a:ea typeface="ＭＳ Ｐゴシック" pitchFamily="34" charset="-128"/>
              </a:rPr>
              <a:t>Acknowledgement</a:t>
            </a:r>
          </a:p>
        </p:txBody>
      </p:sp>
      <p:pic>
        <p:nvPicPr>
          <p:cNvPr id="2560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449659"/>
            <a:ext cx="5919146" cy="5951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5" name="TextBox 24"/>
          <p:cNvSpPr txBox="1"/>
          <p:nvPr/>
        </p:nvSpPr>
        <p:spPr>
          <a:xfrm>
            <a:off x="76200" y="1601005"/>
            <a:ext cx="1445332" cy="276999"/>
          </a:xfrm>
          <a:prstGeom prst="rect">
            <a:avLst/>
          </a:prstGeom>
          <a:noFill/>
        </p:spPr>
        <p:txBody>
          <a:bodyPr wrap="none" rtlCol="0">
            <a:spAutoFit/>
          </a:bodyPr>
          <a:lstStyle/>
          <a:p>
            <a:pPr fontAlgn="base">
              <a:spcBef>
                <a:spcPct val="0"/>
              </a:spcBef>
              <a:spcAft>
                <a:spcPct val="0"/>
              </a:spcAft>
            </a:pPr>
            <a:r>
              <a:rPr lang="en-US" sz="1200" b="1" u="sng" dirty="0">
                <a:solidFill>
                  <a:srgbClr val="000000"/>
                </a:solidFill>
                <a:latin typeface="Arial" charset="0"/>
                <a:ea typeface="ＭＳ Ｐゴシック" pitchFamily="34" charset="-128"/>
              </a:rPr>
              <a:t>Milestones/ KPI’s</a:t>
            </a:r>
          </a:p>
        </p:txBody>
      </p:sp>
      <p:sp>
        <p:nvSpPr>
          <p:cNvPr id="28" name="Rectangle 27"/>
          <p:cNvSpPr/>
          <p:nvPr/>
        </p:nvSpPr>
        <p:spPr>
          <a:xfrm>
            <a:off x="62006" y="5270527"/>
            <a:ext cx="1293773" cy="276999"/>
          </a:xfrm>
          <a:prstGeom prst="rect">
            <a:avLst/>
          </a:prstGeom>
          <a:ln w="12700">
            <a:solidFill>
              <a:schemeClr val="tx1"/>
            </a:solidFill>
          </a:ln>
        </p:spPr>
        <p:txBody>
          <a:bodyPr wrap="square">
            <a:spAutoFit/>
          </a:bodyPr>
          <a:lstStyle/>
          <a:p>
            <a:pPr fontAlgn="base">
              <a:spcBef>
                <a:spcPct val="0"/>
              </a:spcBef>
              <a:spcAft>
                <a:spcPct val="0"/>
              </a:spcAft>
            </a:pPr>
            <a:r>
              <a:rPr lang="en-US" sz="1200" b="1" dirty="0">
                <a:solidFill>
                  <a:srgbClr val="000000"/>
                </a:solidFill>
                <a:ea typeface="ＭＳ Ｐゴシック" pitchFamily="-112" charset="-128"/>
                <a:cs typeface="ＭＳ Ｐゴシック" pitchFamily="-112" charset="-128"/>
              </a:rPr>
              <a:t>Maintenance</a:t>
            </a:r>
            <a:endParaRPr lang="en-US" sz="1200" b="1" dirty="0">
              <a:solidFill>
                <a:srgbClr val="000000"/>
              </a:solidFill>
              <a:ea typeface="ＭＳ Ｐゴシック" pitchFamily="34" charset="-128"/>
            </a:endParaRPr>
          </a:p>
        </p:txBody>
      </p:sp>
      <p:sp>
        <p:nvSpPr>
          <p:cNvPr id="4" name="Rounded Rectangle 3"/>
          <p:cNvSpPr/>
          <p:nvPr/>
        </p:nvSpPr>
        <p:spPr bwMode="auto">
          <a:xfrm>
            <a:off x="2632710" y="1371600"/>
            <a:ext cx="1676400" cy="2907428"/>
          </a:xfrm>
          <a:prstGeom prst="roundRect">
            <a:avLst/>
          </a:prstGeom>
          <a:noFill/>
          <a:ln w="38100">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Arial" pitchFamily="28" charset="0"/>
              <a:ea typeface="ＭＳ Ｐゴシック" pitchFamily="28" charset="-128"/>
              <a:cs typeface="ＭＳ Ｐゴシック" pitchFamily="28" charset="-128"/>
            </a:endParaRPr>
          </a:p>
        </p:txBody>
      </p:sp>
    </p:spTree>
    <p:extLst>
      <p:ext uri="{BB962C8B-B14F-4D97-AF65-F5344CB8AC3E}">
        <p14:creationId xmlns:p14="http://schemas.microsoft.com/office/powerpoint/2010/main" val="4133314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Deliverable</a:t>
            </a:r>
            <a:endParaRPr lang="en-US" dirty="0"/>
          </a:p>
        </p:txBody>
      </p:sp>
      <p:sp>
        <p:nvSpPr>
          <p:cNvPr id="2" name="Content Placeholder 1"/>
          <p:cNvSpPr>
            <a:spLocks noGrp="1"/>
          </p:cNvSpPr>
          <p:nvPr>
            <p:ph idx="1"/>
          </p:nvPr>
        </p:nvSpPr>
        <p:spPr>
          <a:xfrm>
            <a:off x="609600" y="1295400"/>
            <a:ext cx="8229600" cy="4525963"/>
          </a:xfrm>
        </p:spPr>
        <p:txBody>
          <a:bodyPr>
            <a:normAutofit fontScale="92500" lnSpcReduction="10000"/>
          </a:bodyPr>
          <a:lstStyle/>
          <a:p>
            <a:r>
              <a:rPr lang="en-US" dirty="0" smtClean="0"/>
              <a:t>Develop and Publish a single white paper on Enterprise Architecture</a:t>
            </a:r>
          </a:p>
          <a:p>
            <a:pPr lvl="1"/>
            <a:r>
              <a:rPr lang="en-US" dirty="0" smtClean="0"/>
              <a:t>Specifically written for the non-practitioner</a:t>
            </a:r>
          </a:p>
          <a:p>
            <a:pPr lvl="1"/>
            <a:r>
              <a:rPr lang="en-US" dirty="0" smtClean="0"/>
              <a:t>Content targeted at multiple outlets, incl. Wikipedia</a:t>
            </a:r>
          </a:p>
          <a:p>
            <a:pPr lvl="1"/>
            <a:r>
              <a:rPr lang="en-US" u="sng" dirty="0" smtClean="0"/>
              <a:t>Co-published or adopted by multiple FEAPO members</a:t>
            </a:r>
            <a:r>
              <a:rPr lang="en-US" dirty="0" smtClean="0"/>
              <a:t/>
            </a:r>
            <a:br>
              <a:rPr lang="en-US" dirty="0" smtClean="0"/>
            </a:br>
            <a:endParaRPr lang="en-US" dirty="0" smtClean="0"/>
          </a:p>
          <a:p>
            <a:r>
              <a:rPr lang="en-US" dirty="0" smtClean="0"/>
              <a:t>Design for publication</a:t>
            </a:r>
          </a:p>
          <a:p>
            <a:pPr lvl="1"/>
            <a:r>
              <a:rPr lang="en-US" dirty="0" smtClean="0"/>
              <a:t>Target specific journals / magazines / blogs</a:t>
            </a:r>
          </a:p>
          <a:p>
            <a:pPr lvl="1"/>
            <a:r>
              <a:rPr lang="en-US" dirty="0" smtClean="0"/>
              <a:t>Work with editors and authors prior to publication wherever it makes sense</a:t>
            </a:r>
            <a:endParaRPr lang="en-US" dirty="0"/>
          </a:p>
        </p:txBody>
      </p:sp>
    </p:spTree>
    <p:extLst>
      <p:ext uri="{BB962C8B-B14F-4D97-AF65-F5344CB8AC3E}">
        <p14:creationId xmlns:p14="http://schemas.microsoft.com/office/powerpoint/2010/main" val="36510940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7162800" cy="487362"/>
          </a:xfrm>
        </p:spPr>
        <p:txBody>
          <a:bodyPr>
            <a:normAutofit fontScale="90000"/>
          </a:bodyPr>
          <a:lstStyle/>
          <a:p>
            <a:pPr algn="l"/>
            <a:r>
              <a:rPr lang="en-US" dirty="0" smtClean="0"/>
              <a:t>Overview of Deliverable</a:t>
            </a:r>
            <a:endParaRPr lang="en-US" dirty="0"/>
          </a:p>
        </p:txBody>
      </p:sp>
      <p:sp>
        <p:nvSpPr>
          <p:cNvPr id="3" name="Content Placeholder 2"/>
          <p:cNvSpPr>
            <a:spLocks noGrp="1"/>
          </p:cNvSpPr>
          <p:nvPr>
            <p:ph idx="1"/>
          </p:nvPr>
        </p:nvSpPr>
        <p:spPr>
          <a:xfrm>
            <a:off x="914400" y="609600"/>
            <a:ext cx="3962400" cy="6096000"/>
          </a:xfrm>
        </p:spPr>
        <p:txBody>
          <a:bodyPr>
            <a:noAutofit/>
          </a:bodyPr>
          <a:lstStyle/>
          <a:p>
            <a:pPr marL="0" indent="0">
              <a:buNone/>
            </a:pPr>
            <a:r>
              <a:rPr lang="en-US" sz="1800" dirty="0"/>
              <a:t>1. </a:t>
            </a:r>
            <a:r>
              <a:rPr lang="en-US" sz="1800" dirty="0" smtClean="0"/>
              <a:t>Short Intro to EA</a:t>
            </a:r>
            <a:endParaRPr lang="en-US" sz="1800" dirty="0"/>
          </a:p>
          <a:p>
            <a:pPr marL="0" indent="0">
              <a:buNone/>
            </a:pPr>
            <a:r>
              <a:rPr lang="en-US" sz="1800" dirty="0" smtClean="0"/>
              <a:t>2</a:t>
            </a:r>
            <a:r>
              <a:rPr lang="en-US" sz="1800" dirty="0"/>
              <a:t>. Why Organizations Need EA and When EAs Get Engaged</a:t>
            </a:r>
          </a:p>
          <a:p>
            <a:pPr marL="457200" lvl="1" indent="0">
              <a:buNone/>
            </a:pPr>
            <a:r>
              <a:rPr lang="en-US" sz="1400" dirty="0"/>
              <a:t>2.1 Value </a:t>
            </a:r>
            <a:r>
              <a:rPr lang="en-US" sz="1400" dirty="0" smtClean="0"/>
              <a:t>Proposition</a:t>
            </a:r>
            <a:endParaRPr lang="en-US" sz="1400" dirty="0"/>
          </a:p>
          <a:p>
            <a:pPr marL="457200" lvl="1" indent="0">
              <a:buNone/>
            </a:pPr>
            <a:r>
              <a:rPr lang="en-US" sz="1400" dirty="0"/>
              <a:t>2.2 EA in Planning</a:t>
            </a:r>
          </a:p>
          <a:p>
            <a:pPr marL="457200" lvl="1" indent="0">
              <a:buNone/>
            </a:pPr>
            <a:r>
              <a:rPr lang="en-US" sz="1400" dirty="0"/>
              <a:t>2.3 EA in Design</a:t>
            </a:r>
          </a:p>
          <a:p>
            <a:pPr marL="457200" lvl="1" indent="0">
              <a:buNone/>
            </a:pPr>
            <a:r>
              <a:rPr lang="en-US" sz="1400" dirty="0"/>
              <a:t>2.4 EA in Strategic Response</a:t>
            </a:r>
          </a:p>
          <a:p>
            <a:pPr marL="0" indent="0">
              <a:buNone/>
            </a:pPr>
            <a:r>
              <a:rPr lang="en-US" sz="1800" dirty="0"/>
              <a:t>3. </a:t>
            </a:r>
            <a:r>
              <a:rPr lang="en-US" sz="1800" dirty="0" smtClean="0"/>
              <a:t>EA Outputs and how they are used</a:t>
            </a:r>
          </a:p>
          <a:p>
            <a:pPr marL="457200" lvl="1" indent="0">
              <a:buNone/>
            </a:pPr>
            <a:r>
              <a:rPr lang="en-US" sz="1400" dirty="0" smtClean="0"/>
              <a:t>3.1 Static Visualizations (Current state, future state)</a:t>
            </a:r>
          </a:p>
          <a:p>
            <a:pPr marL="457200" lvl="1" indent="0">
              <a:buNone/>
            </a:pPr>
            <a:r>
              <a:rPr lang="en-US" sz="1400" dirty="0" smtClean="0"/>
              <a:t>3.2 </a:t>
            </a:r>
            <a:r>
              <a:rPr lang="en-US" sz="1400" dirty="0"/>
              <a:t>Dynamic Visualizations (Roadmaps, flow models)</a:t>
            </a:r>
          </a:p>
          <a:p>
            <a:pPr marL="457200" lvl="1" indent="0">
              <a:buNone/>
            </a:pPr>
            <a:r>
              <a:rPr lang="en-US" sz="1400" dirty="0"/>
              <a:t>3.3 Influence and Governance (Balanced Scorecards, Strategy Maps)</a:t>
            </a:r>
          </a:p>
          <a:p>
            <a:pPr marL="0" indent="0">
              <a:buNone/>
            </a:pPr>
            <a:r>
              <a:rPr lang="en-US" sz="1800" dirty="0"/>
              <a:t>4. Basic EA Concepts </a:t>
            </a:r>
          </a:p>
          <a:p>
            <a:pPr marL="457200" lvl="1" indent="0">
              <a:buNone/>
            </a:pPr>
            <a:r>
              <a:rPr lang="en-US" sz="1400" dirty="0"/>
              <a:t>4.1 Discussion of the terms "Enterprise" and "Architecture"</a:t>
            </a:r>
          </a:p>
          <a:p>
            <a:pPr marL="457200" lvl="1" indent="0">
              <a:buNone/>
            </a:pPr>
            <a:r>
              <a:rPr lang="en-US" sz="1400" dirty="0"/>
              <a:t>4.2 Discussion of the term Model, and why we use modeling </a:t>
            </a:r>
            <a:r>
              <a:rPr lang="en-US" sz="1400" dirty="0" smtClean="0"/>
              <a:t>techniques</a:t>
            </a:r>
          </a:p>
          <a:p>
            <a:pPr marL="457200" lvl="1" indent="0">
              <a:buNone/>
            </a:pPr>
            <a:r>
              <a:rPr lang="en-US" sz="1400" dirty="0"/>
              <a:t>4.3 Strategic Alignment - what does it mean and why do we want it</a:t>
            </a:r>
          </a:p>
          <a:p>
            <a:pPr marL="457200" lvl="1" indent="0">
              <a:buNone/>
            </a:pPr>
            <a:endParaRPr lang="en-US" sz="1400" dirty="0"/>
          </a:p>
        </p:txBody>
      </p:sp>
      <p:sp>
        <p:nvSpPr>
          <p:cNvPr id="4" name="Content Placeholder 2"/>
          <p:cNvSpPr txBox="1">
            <a:spLocks/>
          </p:cNvSpPr>
          <p:nvPr/>
        </p:nvSpPr>
        <p:spPr>
          <a:xfrm>
            <a:off x="5334000" y="586154"/>
            <a:ext cx="3543300" cy="60960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sz="1400" dirty="0" smtClean="0"/>
              <a:t>4.4 </a:t>
            </a:r>
            <a:r>
              <a:rPr lang="en-US" sz="1400" dirty="0"/>
              <a:t>Simplicity and Efficiency through shared processes and platforms</a:t>
            </a:r>
          </a:p>
          <a:p>
            <a:pPr marL="457200" lvl="1" indent="0">
              <a:buNone/>
            </a:pPr>
            <a:r>
              <a:rPr lang="en-US" sz="1400" dirty="0"/>
              <a:t>4.5 How does the enterprise develop and innovate on their business models</a:t>
            </a:r>
          </a:p>
          <a:p>
            <a:pPr marL="0" indent="0">
              <a:buFont typeface="Arial" pitchFamily="34" charset="0"/>
              <a:buNone/>
            </a:pPr>
            <a:r>
              <a:rPr lang="en-US" sz="1800" dirty="0" smtClean="0"/>
              <a:t>5. Common EA Techniques </a:t>
            </a:r>
          </a:p>
          <a:p>
            <a:pPr marL="457200" lvl="1" indent="0">
              <a:buFont typeface="Arial" pitchFamily="34" charset="0"/>
              <a:buNone/>
            </a:pPr>
            <a:r>
              <a:rPr lang="en-US" sz="1400" dirty="0" smtClean="0"/>
              <a:t>5.1 Information gathering, categorization, storage, and visualization</a:t>
            </a:r>
          </a:p>
          <a:p>
            <a:pPr marL="457200" lvl="1" indent="0">
              <a:buFont typeface="Arial" pitchFamily="34" charset="0"/>
              <a:buNone/>
            </a:pPr>
            <a:r>
              <a:rPr lang="en-US" sz="1400" dirty="0" smtClean="0"/>
              <a:t>5.2 Capability Modeling</a:t>
            </a:r>
          </a:p>
          <a:p>
            <a:pPr marL="457200" lvl="1" indent="0">
              <a:buFont typeface="Arial" pitchFamily="34" charset="0"/>
              <a:buNone/>
            </a:pPr>
            <a:r>
              <a:rPr lang="en-US" sz="1400" dirty="0" smtClean="0"/>
              <a:t>5.3 Business Modeling</a:t>
            </a:r>
          </a:p>
          <a:p>
            <a:pPr marL="457200" lvl="1" indent="0">
              <a:buFont typeface="Arial" pitchFamily="34" charset="0"/>
              <a:buNone/>
            </a:pPr>
            <a:r>
              <a:rPr lang="en-US" sz="1400" dirty="0" smtClean="0"/>
              <a:t>5.4 Current state, transition states and future state models</a:t>
            </a:r>
          </a:p>
          <a:p>
            <a:pPr marL="457200" lvl="1" indent="0">
              <a:buFont typeface="Arial" pitchFamily="34" charset="0"/>
              <a:buNone/>
            </a:pPr>
            <a:r>
              <a:rPr lang="en-US" sz="1400" dirty="0" smtClean="0"/>
              <a:t>5.5 Roadmaps and reporting</a:t>
            </a:r>
          </a:p>
          <a:p>
            <a:pPr marL="0" indent="0">
              <a:buFont typeface="Arial" pitchFamily="34" charset="0"/>
              <a:buNone/>
            </a:pPr>
            <a:r>
              <a:rPr lang="en-US" sz="1800" dirty="0" smtClean="0"/>
              <a:t>6. Considerations</a:t>
            </a:r>
          </a:p>
          <a:p>
            <a:pPr marL="457200" lvl="1" indent="0">
              <a:buFont typeface="Arial" pitchFamily="34" charset="0"/>
              <a:buNone/>
            </a:pPr>
            <a:r>
              <a:rPr lang="en-US" sz="1400" dirty="0" smtClean="0"/>
              <a:t>6.1 Relationship to Governance</a:t>
            </a:r>
          </a:p>
          <a:p>
            <a:pPr marL="457200" lvl="1" indent="0">
              <a:buFont typeface="Arial" pitchFamily="34" charset="0"/>
              <a:buNone/>
            </a:pPr>
            <a:r>
              <a:rPr lang="en-US" sz="1400" dirty="0" smtClean="0"/>
              <a:t>6.2 Schools of thought</a:t>
            </a:r>
          </a:p>
          <a:p>
            <a:pPr marL="457200" lvl="1" indent="0">
              <a:buFont typeface="Arial" pitchFamily="34" charset="0"/>
              <a:buNone/>
            </a:pPr>
            <a:r>
              <a:rPr lang="en-US" sz="1400" dirty="0" smtClean="0"/>
              <a:t>6.3 Variations by organization type and industry</a:t>
            </a:r>
          </a:p>
          <a:p>
            <a:pPr marL="457200" lvl="1" indent="0">
              <a:buFont typeface="Arial" pitchFamily="34" charset="0"/>
              <a:buNone/>
            </a:pPr>
            <a:r>
              <a:rPr lang="en-US" sz="1400" dirty="0" smtClean="0"/>
              <a:t>6.4 Emergence into Education</a:t>
            </a:r>
          </a:p>
          <a:p>
            <a:pPr marL="0" indent="0">
              <a:buFont typeface="Arial" pitchFamily="34" charset="0"/>
              <a:buNone/>
            </a:pPr>
            <a:r>
              <a:rPr lang="en-US" sz="1800" dirty="0" smtClean="0"/>
              <a:t>7. References and Links</a:t>
            </a:r>
          </a:p>
          <a:p>
            <a:pPr marL="0" indent="0">
              <a:buFont typeface="Arial" pitchFamily="34" charset="0"/>
              <a:buNone/>
            </a:pPr>
            <a:r>
              <a:rPr lang="en-US" sz="2800" dirty="0" smtClean="0"/>
              <a:t> </a:t>
            </a:r>
          </a:p>
          <a:p>
            <a:endParaRPr lang="en-US" sz="2800" dirty="0"/>
          </a:p>
        </p:txBody>
      </p:sp>
    </p:spTree>
    <p:extLst>
      <p:ext uri="{BB962C8B-B14F-4D97-AF65-F5344CB8AC3E}">
        <p14:creationId xmlns:p14="http://schemas.microsoft.com/office/powerpoint/2010/main" val="37155023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Team Structure</a:t>
            </a:r>
            <a:endParaRPr lang="en-US" dirty="0"/>
          </a:p>
        </p:txBody>
      </p:sp>
      <p:sp>
        <p:nvSpPr>
          <p:cNvPr id="2" name="Content Placeholder 1"/>
          <p:cNvSpPr>
            <a:spLocks noGrp="1"/>
          </p:cNvSpPr>
          <p:nvPr>
            <p:ph idx="1"/>
          </p:nvPr>
        </p:nvSpPr>
        <p:spPr>
          <a:xfrm>
            <a:off x="457200" y="1600200"/>
            <a:ext cx="8229600" cy="5105400"/>
          </a:xfrm>
        </p:spPr>
        <p:txBody>
          <a:bodyPr>
            <a:normAutofit/>
          </a:bodyPr>
          <a:lstStyle/>
          <a:p>
            <a:r>
              <a:rPr lang="en-US" dirty="0" smtClean="0"/>
              <a:t>Owner – FEAPO</a:t>
            </a:r>
          </a:p>
          <a:p>
            <a:pPr lvl="1"/>
            <a:r>
              <a:rPr lang="en-US" dirty="0" smtClean="0"/>
              <a:t>Sponsor – Brian Cameron</a:t>
            </a:r>
          </a:p>
          <a:p>
            <a:pPr lvl="1"/>
            <a:r>
              <a:rPr lang="en-US" dirty="0" smtClean="0"/>
              <a:t>Team Leader – Nick Malik</a:t>
            </a:r>
          </a:p>
          <a:p>
            <a:pPr lvl="1"/>
            <a:r>
              <a:rPr lang="en-US" dirty="0" smtClean="0"/>
              <a:t>Core Contributors from multiple FEAPO members</a:t>
            </a:r>
          </a:p>
          <a:p>
            <a:pPr lvl="2"/>
            <a:r>
              <a:rPr lang="en-US" dirty="0" smtClean="0"/>
              <a:t>Credible and respected by publications</a:t>
            </a:r>
          </a:p>
          <a:p>
            <a:pPr lvl="2"/>
            <a:r>
              <a:rPr lang="en-US" dirty="0" smtClean="0"/>
              <a:t>Nomination process?  </a:t>
            </a:r>
          </a:p>
          <a:p>
            <a:pPr lvl="1"/>
            <a:r>
              <a:rPr lang="en-US" dirty="0" smtClean="0"/>
              <a:t>Extended contributors / community</a:t>
            </a:r>
          </a:p>
          <a:p>
            <a:pPr lvl="2"/>
            <a:r>
              <a:rPr lang="en-US" dirty="0" smtClean="0"/>
              <a:t>Allows for contribution from non-members</a:t>
            </a:r>
          </a:p>
          <a:p>
            <a:pPr lvl="2"/>
            <a:r>
              <a:rPr lang="en-US" dirty="0" smtClean="0"/>
              <a:t>Helps to build buy-in for final result</a:t>
            </a:r>
          </a:p>
          <a:p>
            <a:pPr lvl="2"/>
            <a:r>
              <a:rPr lang="en-US" dirty="0" smtClean="0"/>
              <a:t>Who owns the contributions?  </a:t>
            </a:r>
            <a:endParaRPr lang="en-US" dirty="0"/>
          </a:p>
        </p:txBody>
      </p:sp>
    </p:spTree>
    <p:extLst>
      <p:ext uri="{BB962C8B-B14F-4D97-AF65-F5344CB8AC3E}">
        <p14:creationId xmlns:p14="http://schemas.microsoft.com/office/powerpoint/2010/main" val="42278391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5334000" cy="715962"/>
          </a:xfrm>
        </p:spPr>
        <p:txBody>
          <a:bodyPr>
            <a:normAutofit fontScale="90000"/>
          </a:bodyPr>
          <a:lstStyle/>
          <a:p>
            <a:r>
              <a:rPr lang="en-US" dirty="0" smtClean="0"/>
              <a:t>Development Process</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627110750"/>
              </p:ext>
            </p:extLst>
          </p:nvPr>
        </p:nvGraphicFramePr>
        <p:xfrm>
          <a:off x="5257800" y="381000"/>
          <a:ext cx="4495800" cy="57451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1295399" y="914400"/>
            <a:ext cx="4724401" cy="5909310"/>
          </a:xfrm>
          <a:prstGeom prst="rect">
            <a:avLst/>
          </a:prstGeom>
          <a:noFill/>
        </p:spPr>
        <p:txBody>
          <a:bodyPr wrap="square" rtlCol="0">
            <a:spAutoFit/>
          </a:bodyPr>
          <a:lstStyle/>
          <a:p>
            <a:pPr marL="342900" indent="-342900">
              <a:buFont typeface="+mj-lt"/>
              <a:buAutoNum type="arabicPeriod"/>
            </a:pPr>
            <a:r>
              <a:rPr lang="en-US" dirty="0" smtClean="0"/>
              <a:t>Collaboration Web Site set up</a:t>
            </a:r>
          </a:p>
          <a:p>
            <a:pPr marL="342900" indent="-342900">
              <a:buFont typeface="+mj-lt"/>
              <a:buAutoNum type="arabicPeriod"/>
            </a:pPr>
            <a:r>
              <a:rPr lang="en-US" dirty="0" smtClean="0"/>
              <a:t>Grad Student creates questionnaire, interviews contributors</a:t>
            </a:r>
          </a:p>
          <a:p>
            <a:pPr marL="342900" indent="-342900">
              <a:buFont typeface="+mj-lt"/>
              <a:buAutoNum type="arabicPeriod"/>
            </a:pPr>
            <a:r>
              <a:rPr lang="en-US" dirty="0" smtClean="0"/>
              <a:t>Grad Student compiles raw contributions and places on web site</a:t>
            </a:r>
          </a:p>
          <a:p>
            <a:pPr marL="342900" indent="-342900">
              <a:buFont typeface="+mj-lt"/>
              <a:buAutoNum type="arabicPeriod"/>
            </a:pPr>
            <a:r>
              <a:rPr lang="en-US" dirty="0" smtClean="0"/>
              <a:t>Team leader and grad student develop first draft of actual paper.</a:t>
            </a:r>
          </a:p>
          <a:p>
            <a:pPr marL="342900" indent="-342900">
              <a:buFont typeface="+mj-lt"/>
              <a:buAutoNum type="arabicPeriod"/>
            </a:pPr>
            <a:r>
              <a:rPr lang="en-US" dirty="0" smtClean="0"/>
              <a:t>Contributors review first draft and markup with feedback.  New edition created.   (perform this step twice)</a:t>
            </a:r>
          </a:p>
          <a:p>
            <a:pPr marL="342900" indent="-342900">
              <a:buFont typeface="+mj-lt"/>
              <a:buAutoNum type="arabicPeriod"/>
            </a:pPr>
            <a:r>
              <a:rPr lang="en-US" dirty="0" smtClean="0"/>
              <a:t>Influential authors and well-known speakers provide feedback and markup.  </a:t>
            </a:r>
          </a:p>
          <a:p>
            <a:pPr marL="342900" indent="-342900">
              <a:buFont typeface="+mj-lt"/>
              <a:buAutoNum type="arabicPeriod"/>
            </a:pPr>
            <a:r>
              <a:rPr lang="en-US" dirty="0" smtClean="0"/>
              <a:t>Grad student turns feedback into specific change requests.  Core Team discusses and adopts specific change requests.</a:t>
            </a:r>
          </a:p>
          <a:p>
            <a:pPr marL="342900" indent="-342900">
              <a:buFont typeface="+mj-lt"/>
              <a:buAutoNum type="arabicPeriod"/>
            </a:pPr>
            <a:r>
              <a:rPr lang="en-US" dirty="0" smtClean="0"/>
              <a:t>Vetted community members invited to provide feedback.  </a:t>
            </a:r>
          </a:p>
          <a:p>
            <a:pPr marL="342900" indent="-342900">
              <a:buFont typeface="+mj-lt"/>
              <a:buAutoNum type="arabicPeriod"/>
            </a:pPr>
            <a:r>
              <a:rPr lang="en-US" dirty="0" smtClean="0"/>
              <a:t>(repeat step #7)</a:t>
            </a:r>
          </a:p>
          <a:p>
            <a:pPr marL="342900" indent="-342900">
              <a:buFont typeface="+mj-lt"/>
              <a:buAutoNum type="arabicPeriod"/>
            </a:pPr>
            <a:r>
              <a:rPr lang="en-US" dirty="0" smtClean="0"/>
              <a:t>Document reviewed by full FEAPO board and submitted for adoption.</a:t>
            </a:r>
          </a:p>
          <a:p>
            <a:pPr marL="342900" indent="-342900">
              <a:buFont typeface="+mj-lt"/>
              <a:buAutoNum type="arabicPeriod"/>
            </a:pPr>
            <a:endParaRPr lang="en-US" dirty="0" smtClean="0"/>
          </a:p>
        </p:txBody>
      </p:sp>
    </p:spTree>
    <p:extLst>
      <p:ext uri="{BB962C8B-B14F-4D97-AF65-F5344CB8AC3E}">
        <p14:creationId xmlns:p14="http://schemas.microsoft.com/office/powerpoint/2010/main" val="29043678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TIMELINE</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210094433"/>
              </p:ext>
            </p:extLst>
          </p:nvPr>
        </p:nvGraphicFramePr>
        <p:xfrm>
          <a:off x="914400" y="1600200"/>
          <a:ext cx="7772400" cy="2966720"/>
        </p:xfrm>
        <a:graphic>
          <a:graphicData uri="http://schemas.openxmlformats.org/drawingml/2006/table">
            <a:tbl>
              <a:tblPr bandRow="1">
                <a:tableStyleId>{5C22544A-7EE6-4342-B048-85BDC9FD1C3A}</a:tableStyleId>
              </a:tblPr>
              <a:tblGrid>
                <a:gridCol w="838200"/>
                <a:gridCol w="1219200"/>
                <a:gridCol w="5715000"/>
              </a:tblGrid>
              <a:tr h="370840">
                <a:tc>
                  <a:txBody>
                    <a:bodyPr/>
                    <a:lstStyle/>
                    <a:p>
                      <a:r>
                        <a:rPr lang="en-US" dirty="0" smtClean="0"/>
                        <a:t>1</a:t>
                      </a:r>
                      <a:endParaRPr lang="en-US" dirty="0"/>
                    </a:p>
                  </a:txBody>
                  <a:tcPr/>
                </a:tc>
                <a:tc>
                  <a:txBody>
                    <a:bodyPr/>
                    <a:lstStyle/>
                    <a:p>
                      <a:r>
                        <a:rPr lang="en-US" dirty="0" smtClean="0"/>
                        <a:t>3/2012</a:t>
                      </a:r>
                      <a:endParaRPr lang="en-US" dirty="0"/>
                    </a:p>
                  </a:txBody>
                  <a:tcPr/>
                </a:tc>
                <a:tc>
                  <a:txBody>
                    <a:bodyPr/>
                    <a:lstStyle/>
                    <a:p>
                      <a:r>
                        <a:rPr lang="en-US" dirty="0" smtClean="0"/>
                        <a:t>Charter approved, contributor nominations accepted</a:t>
                      </a:r>
                      <a:endParaRPr lang="en-US" dirty="0"/>
                    </a:p>
                  </a:txBody>
                  <a:tcPr/>
                </a:tc>
              </a:tr>
              <a:tr h="370840">
                <a:tc>
                  <a:txBody>
                    <a:bodyPr/>
                    <a:lstStyle/>
                    <a:p>
                      <a:r>
                        <a:rPr lang="en-US" dirty="0" smtClean="0"/>
                        <a:t>2</a:t>
                      </a:r>
                      <a:endParaRPr lang="en-US" dirty="0"/>
                    </a:p>
                  </a:txBody>
                  <a:tcPr/>
                </a:tc>
                <a:tc>
                  <a:txBody>
                    <a:bodyPr/>
                    <a:lstStyle/>
                    <a:p>
                      <a:r>
                        <a:rPr lang="en-US" dirty="0" smtClean="0"/>
                        <a:t>4/2012</a:t>
                      </a:r>
                      <a:endParaRPr lang="en-US" dirty="0"/>
                    </a:p>
                  </a:txBody>
                  <a:tcPr/>
                </a:tc>
                <a:tc>
                  <a:txBody>
                    <a:bodyPr/>
                    <a:lstStyle/>
                    <a:p>
                      <a:r>
                        <a:rPr lang="en-US" dirty="0" smtClean="0"/>
                        <a:t>Contributors interviewed,</a:t>
                      </a:r>
                      <a:r>
                        <a:rPr lang="en-US" baseline="0" dirty="0" smtClean="0"/>
                        <a:t> contributions compiled</a:t>
                      </a:r>
                      <a:endParaRPr lang="en-US" dirty="0"/>
                    </a:p>
                  </a:txBody>
                  <a:tcPr/>
                </a:tc>
              </a:tr>
              <a:tr h="370840">
                <a:tc>
                  <a:txBody>
                    <a:bodyPr/>
                    <a:lstStyle/>
                    <a:p>
                      <a:r>
                        <a:rPr lang="en-US" dirty="0" smtClean="0"/>
                        <a:t>3</a:t>
                      </a:r>
                      <a:endParaRPr lang="en-US" dirty="0"/>
                    </a:p>
                  </a:txBody>
                  <a:tcPr/>
                </a:tc>
                <a:tc>
                  <a:txBody>
                    <a:bodyPr/>
                    <a:lstStyle/>
                    <a:p>
                      <a:r>
                        <a:rPr lang="en-US" dirty="0" smtClean="0"/>
                        <a:t>5/2012</a:t>
                      </a:r>
                      <a:endParaRPr lang="en-US" dirty="0"/>
                    </a:p>
                  </a:txBody>
                  <a:tcPr/>
                </a:tc>
                <a:tc>
                  <a:txBody>
                    <a:bodyPr/>
                    <a:lstStyle/>
                    <a:p>
                      <a:r>
                        <a:rPr lang="en-US" dirty="0" smtClean="0"/>
                        <a:t>Key messages distilled, rough draft circulates</a:t>
                      </a:r>
                      <a:endParaRPr lang="en-US" dirty="0"/>
                    </a:p>
                  </a:txBody>
                  <a:tcPr/>
                </a:tc>
              </a:tr>
              <a:tr h="370840">
                <a:tc>
                  <a:txBody>
                    <a:bodyPr/>
                    <a:lstStyle/>
                    <a:p>
                      <a:r>
                        <a:rPr lang="en-US" dirty="0" smtClean="0"/>
                        <a:t>4</a:t>
                      </a:r>
                      <a:endParaRPr lang="en-US" dirty="0"/>
                    </a:p>
                  </a:txBody>
                  <a:tcPr/>
                </a:tc>
                <a:tc>
                  <a:txBody>
                    <a:bodyPr/>
                    <a:lstStyle/>
                    <a:p>
                      <a:r>
                        <a:rPr lang="en-US" dirty="0" smtClean="0"/>
                        <a:t>6/2012</a:t>
                      </a:r>
                      <a:endParaRPr lang="en-US" dirty="0"/>
                    </a:p>
                  </a:txBody>
                  <a:tcPr/>
                </a:tc>
                <a:tc>
                  <a:txBody>
                    <a:bodyPr/>
                    <a:lstStyle/>
                    <a:p>
                      <a:r>
                        <a:rPr lang="en-US" dirty="0" smtClean="0"/>
                        <a:t>Early version</a:t>
                      </a:r>
                      <a:r>
                        <a:rPr lang="en-US" baseline="0" dirty="0" smtClean="0"/>
                        <a:t> circulates, community input requested</a:t>
                      </a:r>
                      <a:endParaRPr lang="en-US" dirty="0"/>
                    </a:p>
                  </a:txBody>
                  <a:tcPr/>
                </a:tc>
              </a:tr>
              <a:tr h="370840">
                <a:tc>
                  <a:txBody>
                    <a:bodyPr/>
                    <a:lstStyle/>
                    <a:p>
                      <a:r>
                        <a:rPr lang="en-US" dirty="0" smtClean="0"/>
                        <a:t>5</a:t>
                      </a:r>
                      <a:endParaRPr lang="en-US" dirty="0"/>
                    </a:p>
                  </a:txBody>
                  <a:tcPr/>
                </a:tc>
                <a:tc>
                  <a:txBody>
                    <a:bodyPr/>
                    <a:lstStyle/>
                    <a:p>
                      <a:r>
                        <a:rPr lang="en-US" dirty="0" smtClean="0"/>
                        <a:t>7/2012</a:t>
                      </a:r>
                      <a:endParaRPr lang="en-US" dirty="0"/>
                    </a:p>
                  </a:txBody>
                  <a:tcPr/>
                </a:tc>
                <a:tc>
                  <a:txBody>
                    <a:bodyPr/>
                    <a:lstStyle/>
                    <a:p>
                      <a:r>
                        <a:rPr lang="en-US" dirty="0" smtClean="0"/>
                        <a:t>Draft submitted to FEAPO leadership</a:t>
                      </a:r>
                      <a:r>
                        <a:rPr lang="en-US" baseline="0" dirty="0" smtClean="0"/>
                        <a:t> for approval</a:t>
                      </a:r>
                      <a:endParaRPr lang="en-US" dirty="0"/>
                    </a:p>
                  </a:txBody>
                  <a:tcPr/>
                </a:tc>
              </a:tr>
              <a:tr h="370840">
                <a:tc>
                  <a:txBody>
                    <a:bodyPr/>
                    <a:lstStyle/>
                    <a:p>
                      <a:r>
                        <a:rPr lang="en-US" dirty="0" smtClean="0"/>
                        <a:t>6</a:t>
                      </a:r>
                      <a:endParaRPr lang="en-US" dirty="0"/>
                    </a:p>
                  </a:txBody>
                  <a:tcPr/>
                </a:tc>
                <a:tc>
                  <a:txBody>
                    <a:bodyPr/>
                    <a:lstStyle/>
                    <a:p>
                      <a:r>
                        <a:rPr lang="en-US" dirty="0" smtClean="0"/>
                        <a:t>8/2012</a:t>
                      </a:r>
                      <a:endParaRPr lang="en-US" dirty="0"/>
                    </a:p>
                  </a:txBody>
                  <a:tcPr/>
                </a:tc>
                <a:tc>
                  <a:txBody>
                    <a:bodyPr/>
                    <a:lstStyle/>
                    <a:p>
                      <a:r>
                        <a:rPr lang="en-US" dirty="0" smtClean="0"/>
                        <a:t>Draft submitted to member organizations</a:t>
                      </a:r>
                      <a:r>
                        <a:rPr lang="en-US" baseline="0" dirty="0" smtClean="0"/>
                        <a:t> for approval</a:t>
                      </a:r>
                      <a:endParaRPr lang="en-US" dirty="0"/>
                    </a:p>
                  </a:txBody>
                  <a:tcPr/>
                </a:tc>
              </a:tr>
              <a:tr h="370840">
                <a:tc>
                  <a:txBody>
                    <a:bodyPr/>
                    <a:lstStyle/>
                    <a:p>
                      <a:r>
                        <a:rPr lang="en-US" dirty="0" smtClean="0"/>
                        <a:t>7</a:t>
                      </a:r>
                      <a:endParaRPr lang="en-US" dirty="0"/>
                    </a:p>
                  </a:txBody>
                  <a:tcPr/>
                </a:tc>
                <a:tc>
                  <a:txBody>
                    <a:bodyPr/>
                    <a:lstStyle/>
                    <a:p>
                      <a:r>
                        <a:rPr lang="en-US" dirty="0" smtClean="0"/>
                        <a:t>~3/2013</a:t>
                      </a:r>
                      <a:endParaRPr lang="en-US" dirty="0"/>
                    </a:p>
                  </a:txBody>
                  <a:tcPr/>
                </a:tc>
                <a:tc>
                  <a:txBody>
                    <a:bodyPr/>
                    <a:lstStyle/>
                    <a:p>
                      <a:r>
                        <a:rPr lang="en-US" dirty="0" smtClean="0"/>
                        <a:t>At least three member organizations ratify</a:t>
                      </a:r>
                      <a:endParaRPr lang="en-US" dirty="0"/>
                    </a:p>
                  </a:txBody>
                  <a:tcPr/>
                </a:tc>
              </a:tr>
              <a:tr h="370840">
                <a:tc>
                  <a:txBody>
                    <a:bodyPr/>
                    <a:lstStyle/>
                    <a:p>
                      <a:r>
                        <a:rPr lang="en-US" dirty="0" smtClean="0"/>
                        <a:t>8</a:t>
                      </a:r>
                      <a:endParaRPr lang="en-US" dirty="0"/>
                    </a:p>
                  </a:txBody>
                  <a:tcPr/>
                </a:tc>
                <a:tc>
                  <a:txBody>
                    <a:bodyPr/>
                    <a:lstStyle/>
                    <a:p>
                      <a:r>
                        <a:rPr lang="en-US" dirty="0" smtClean="0"/>
                        <a:t>5/2013</a:t>
                      </a:r>
                      <a:endParaRPr lang="en-US" dirty="0"/>
                    </a:p>
                  </a:txBody>
                  <a:tcPr/>
                </a:tc>
                <a:tc>
                  <a:txBody>
                    <a:bodyPr/>
                    <a:lstStyle/>
                    <a:p>
                      <a:r>
                        <a:rPr lang="en-US" dirty="0" smtClean="0"/>
                        <a:t>Submitted to journals and magazines</a:t>
                      </a:r>
                      <a:r>
                        <a:rPr lang="en-US" baseline="0" dirty="0" smtClean="0"/>
                        <a:t> for publication</a:t>
                      </a:r>
                      <a:endParaRPr lang="en-US" dirty="0"/>
                    </a:p>
                  </a:txBody>
                  <a:tcPr/>
                </a:tc>
              </a:tr>
            </a:tbl>
          </a:graphicData>
        </a:graphic>
      </p:graphicFrame>
    </p:spTree>
    <p:extLst>
      <p:ext uri="{BB962C8B-B14F-4D97-AF65-F5344CB8AC3E}">
        <p14:creationId xmlns:p14="http://schemas.microsoft.com/office/powerpoint/2010/main" val="238856018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Approval to proceed?</a:t>
            </a:r>
            <a:endParaRPr lang="en-US" dirty="0"/>
          </a:p>
        </p:txBody>
      </p:sp>
      <p:sp>
        <p:nvSpPr>
          <p:cNvPr id="3" name="Content Placeholder 2"/>
          <p:cNvSpPr>
            <a:spLocks noGrp="1"/>
          </p:cNvSpPr>
          <p:nvPr>
            <p:ph idx="1"/>
          </p:nvPr>
        </p:nvSpPr>
        <p:spPr/>
        <p:txBody>
          <a:bodyPr/>
          <a:lstStyle/>
          <a:p>
            <a:r>
              <a:rPr lang="en-US" dirty="0" smtClean="0"/>
              <a:t>Do we invest in this activity at this time?</a:t>
            </a:r>
          </a:p>
          <a:p>
            <a:r>
              <a:rPr lang="en-US" dirty="0" smtClean="0"/>
              <a:t>Do we want to include the Wikipedia constraints (especially around IP)?</a:t>
            </a:r>
          </a:p>
          <a:p>
            <a:r>
              <a:rPr lang="en-US" dirty="0" smtClean="0"/>
              <a:t>Do we want to include input from independent authors and/or community?</a:t>
            </a:r>
          </a:p>
          <a:p>
            <a:endParaRPr lang="en-US" dirty="0"/>
          </a:p>
        </p:txBody>
      </p:sp>
    </p:spTree>
    <p:extLst>
      <p:ext uri="{BB962C8B-B14F-4D97-AF65-F5344CB8AC3E}">
        <p14:creationId xmlns:p14="http://schemas.microsoft.com/office/powerpoint/2010/main" val="2134207617"/>
      </p:ext>
    </p:extLst>
  </p:cSld>
  <p:clrMapOvr>
    <a:masterClrMapping/>
  </p:clrMapOvr>
  <p:timing>
    <p:tnLst>
      <p:par>
        <p:cTn id="1" dur="indefinite" restart="never" nodeType="tmRoot"/>
      </p:par>
    </p:tnLst>
  </p:timing>
</p:sld>
</file>

<file path=ppt/theme/theme1.xml><?xml version="1.0" encoding="utf-8"?>
<a:theme xmlns:a="http://schemas.openxmlformats.org/drawingml/2006/main" name="2010 template">
  <a:themeElements>
    <a:clrScheme name="Custom 3">
      <a:dk1>
        <a:srgbClr val="000000"/>
      </a:dk1>
      <a:lt1>
        <a:srgbClr val="FFFFFF"/>
      </a:lt1>
      <a:dk2>
        <a:srgbClr val="005582"/>
      </a:dk2>
      <a:lt2>
        <a:srgbClr val="808080"/>
      </a:lt2>
      <a:accent1>
        <a:srgbClr val="DC5D26"/>
      </a:accent1>
      <a:accent2>
        <a:srgbClr val="52A93A"/>
      </a:accent2>
      <a:accent3>
        <a:srgbClr val="FFFFFF"/>
      </a:accent3>
      <a:accent4>
        <a:srgbClr val="000000"/>
      </a:accent4>
      <a:accent5>
        <a:srgbClr val="6C0521"/>
      </a:accent5>
      <a:accent6>
        <a:srgbClr val="477E27"/>
      </a:accent6>
      <a:hlink>
        <a:srgbClr val="0080FF"/>
      </a:hlink>
      <a:folHlink>
        <a:srgbClr val="481861"/>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28" charset="0"/>
            <a:ea typeface="ＭＳ Ｐゴシック" pitchFamily="28" charset="-128"/>
            <a:cs typeface="ＭＳ Ｐゴシック" pitchFamily="2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28" charset="0"/>
            <a:ea typeface="ＭＳ Ｐゴシック" pitchFamily="28" charset="-128"/>
            <a:cs typeface="ＭＳ Ｐゴシック" pitchFamily="28" charset="-128"/>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ffice Theme 13">
        <a:dk1>
          <a:srgbClr val="000000"/>
        </a:dk1>
        <a:lt1>
          <a:srgbClr val="FFFFFF"/>
        </a:lt1>
        <a:dk2>
          <a:srgbClr val="0F3D88"/>
        </a:dk2>
        <a:lt2>
          <a:srgbClr val="808080"/>
        </a:lt2>
        <a:accent1>
          <a:srgbClr val="FF8000"/>
        </a:accent1>
        <a:accent2>
          <a:srgbClr val="59B308"/>
        </a:accent2>
        <a:accent3>
          <a:srgbClr val="FFFFFF"/>
        </a:accent3>
        <a:accent4>
          <a:srgbClr val="000000"/>
        </a:accent4>
        <a:accent5>
          <a:srgbClr val="FFC0AA"/>
        </a:accent5>
        <a:accent6>
          <a:srgbClr val="50A206"/>
        </a:accent6>
        <a:hlink>
          <a:srgbClr val="008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341</TotalTime>
  <Words>888</Words>
  <Application>Microsoft Office PowerPoint</Application>
  <PresentationFormat>On-screen Show (4:3)</PresentationFormat>
  <Paragraphs>204</Paragraphs>
  <Slides>15</Slides>
  <Notes>1</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2010 template</vt:lpstr>
      <vt:lpstr>Office Theme</vt:lpstr>
      <vt:lpstr>The Public Face of Enterprise Architecture</vt:lpstr>
      <vt:lpstr>The Practice of EA Is Not Healthy</vt:lpstr>
      <vt:lpstr>How Can We Help?</vt:lpstr>
      <vt:lpstr>Supporting Stakeholder Buy-In</vt:lpstr>
      <vt:lpstr>Addressing Stakeholder  Buy-In Issues</vt:lpstr>
      <vt:lpstr>Messaging Targets</vt:lpstr>
      <vt:lpstr>Special case: Wikipedia</vt:lpstr>
      <vt:lpstr>Making Wikipedia Work for EA</vt:lpstr>
      <vt:lpstr>Overview of the Proposed Roadmap</vt:lpstr>
      <vt:lpstr>Deliverable</vt:lpstr>
      <vt:lpstr>Overview of Deliverable</vt:lpstr>
      <vt:lpstr>Team Structure</vt:lpstr>
      <vt:lpstr>Development Process</vt:lpstr>
      <vt:lpstr>TIMELINE</vt:lpstr>
      <vt:lpstr>Approval to proceed?</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Public Face of Enterprise Architecture</dc:title>
  <dc:creator>Nick Malik</dc:creator>
  <cp:lastModifiedBy>lammertw</cp:lastModifiedBy>
  <cp:revision>6</cp:revision>
  <dcterms:created xsi:type="dcterms:W3CDTF">2012-03-02T16:04:07Z</dcterms:created>
  <dcterms:modified xsi:type="dcterms:W3CDTF">2012-10-10T17:57:18Z</dcterms:modified>
</cp:coreProperties>
</file>
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38" autoAdjust="0"/>
    <p:restoredTop sz="94660"/>
  </p:normalViewPr>
  <p:slideViewPr>
    <p:cSldViewPr snapToGrid="0">
      <p:cViewPr varScale="1">
        <p:scale>
          <a:sx n="79" d="100"/>
          <a:sy n="79" d="100"/>
        </p:scale>
        <p:origin x="216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719D6-6AE9-48C0-A1E8-6F586A25C272}" type="datetimeFigureOut">
              <a:rPr lang="en-CA" smtClean="0"/>
              <a:t>2016-05-06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C979-FED8-43E3-BD32-50FE9383C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0836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719D6-6AE9-48C0-A1E8-6F586A25C272}" type="datetimeFigureOut">
              <a:rPr lang="en-CA" smtClean="0"/>
              <a:t>2016-05-06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C979-FED8-43E3-BD32-50FE9383C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8069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719D6-6AE9-48C0-A1E8-6F586A25C272}" type="datetimeFigureOut">
              <a:rPr lang="en-CA" smtClean="0"/>
              <a:t>2016-05-06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C979-FED8-43E3-BD32-50FE9383C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06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719D6-6AE9-48C0-A1E8-6F586A25C272}" type="datetimeFigureOut">
              <a:rPr lang="en-CA" smtClean="0"/>
              <a:t>2016-05-06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C979-FED8-43E3-BD32-50FE9383C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6066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719D6-6AE9-48C0-A1E8-6F586A25C272}" type="datetimeFigureOut">
              <a:rPr lang="en-CA" smtClean="0"/>
              <a:t>2016-05-06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C979-FED8-43E3-BD32-50FE9383C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7554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719D6-6AE9-48C0-A1E8-6F586A25C272}" type="datetimeFigureOut">
              <a:rPr lang="en-CA" smtClean="0"/>
              <a:t>2016-05-06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C979-FED8-43E3-BD32-50FE9383C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9300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719D6-6AE9-48C0-A1E8-6F586A25C272}" type="datetimeFigureOut">
              <a:rPr lang="en-CA" smtClean="0"/>
              <a:t>2016-05-06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C979-FED8-43E3-BD32-50FE9383C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863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719D6-6AE9-48C0-A1E8-6F586A25C272}" type="datetimeFigureOut">
              <a:rPr lang="en-CA" smtClean="0"/>
              <a:t>2016-05-06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C979-FED8-43E3-BD32-50FE9383C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9358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719D6-6AE9-48C0-A1E8-6F586A25C272}" type="datetimeFigureOut">
              <a:rPr lang="en-CA" smtClean="0"/>
              <a:t>2016-05-06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C979-FED8-43E3-BD32-50FE9383C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1110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719D6-6AE9-48C0-A1E8-6F586A25C272}" type="datetimeFigureOut">
              <a:rPr lang="en-CA" smtClean="0"/>
              <a:t>2016-05-06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C979-FED8-43E3-BD32-50FE9383C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320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719D6-6AE9-48C0-A1E8-6F586A25C272}" type="datetimeFigureOut">
              <a:rPr lang="en-CA" smtClean="0"/>
              <a:t>2016-05-06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C979-FED8-43E3-BD32-50FE9383C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1597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719D6-6AE9-48C0-A1E8-6F586A25C272}" type="datetimeFigureOut">
              <a:rPr lang="en-CA" smtClean="0"/>
              <a:t>2016-05-06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DC979-FED8-43E3-BD32-50FE9383C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992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Business Architecture </a:t>
            </a:r>
            <a:r>
              <a:rPr lang="en-US" dirty="0" err="1" smtClean="0"/>
              <a:t>Metamodels</a:t>
            </a:r>
            <a:endParaRPr lang="en-CA" dirty="0"/>
          </a:p>
        </p:txBody>
      </p:sp>
      <p:sp>
        <p:nvSpPr>
          <p:cNvPr id="24" name="Subtitle 23"/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r>
              <a:rPr lang="en-US" dirty="0" smtClean="0"/>
              <a:t>Navid Kheradmand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23038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9218358">
            <a:off x="4181325" y="4554249"/>
            <a:ext cx="1476374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impacted by</a:t>
            </a:r>
            <a:endParaRPr lang="en-CA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3957638" y="3440490"/>
            <a:ext cx="854867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maps to</a:t>
            </a:r>
            <a:endParaRPr lang="en-CA" sz="1600" dirty="0"/>
          </a:p>
        </p:txBody>
      </p:sp>
      <p:sp>
        <p:nvSpPr>
          <p:cNvPr id="6" name="TextBox 5"/>
          <p:cNvSpPr txBox="1"/>
          <p:nvPr/>
        </p:nvSpPr>
        <p:spPr>
          <a:xfrm rot="20160580">
            <a:off x="6912407" y="2502976"/>
            <a:ext cx="995363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enables</a:t>
            </a:r>
            <a:endParaRPr lang="en-CA" sz="1600" dirty="0"/>
          </a:p>
        </p:txBody>
      </p:sp>
      <p:sp>
        <p:nvSpPr>
          <p:cNvPr id="7" name="TextBox 6"/>
          <p:cNvSpPr txBox="1"/>
          <p:nvPr/>
        </p:nvSpPr>
        <p:spPr>
          <a:xfrm rot="1418838">
            <a:off x="3584975" y="2432716"/>
            <a:ext cx="1431131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supported by</a:t>
            </a:r>
            <a:endParaRPr lang="en-CA" sz="1600" dirty="0"/>
          </a:p>
        </p:txBody>
      </p:sp>
      <p:sp>
        <p:nvSpPr>
          <p:cNvPr id="8" name="Rectangle 7"/>
          <p:cNvSpPr/>
          <p:nvPr/>
        </p:nvSpPr>
        <p:spPr>
          <a:xfrm>
            <a:off x="4953000" y="3467100"/>
            <a:ext cx="1933575" cy="6286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Business Capability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53000" y="1435193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Business Unit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771650" y="1435193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Information Concept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134350" y="1435193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Value Stage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771650" y="3464719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IT Architecture Resources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9" idx="2"/>
            <a:endCxn id="8" idx="0"/>
          </p:cNvCxnSpPr>
          <p:nvPr/>
        </p:nvCxnSpPr>
        <p:spPr>
          <a:xfrm>
            <a:off x="5919788" y="2063843"/>
            <a:ext cx="0" cy="1403257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0"/>
            <a:endCxn id="11" idx="2"/>
          </p:cNvCxnSpPr>
          <p:nvPr/>
        </p:nvCxnSpPr>
        <p:spPr>
          <a:xfrm flipV="1">
            <a:off x="5919788" y="2063843"/>
            <a:ext cx="3181350" cy="1403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1"/>
            <a:endCxn id="12" idx="3"/>
          </p:cNvCxnSpPr>
          <p:nvPr/>
        </p:nvCxnSpPr>
        <p:spPr>
          <a:xfrm flipH="1" flipV="1">
            <a:off x="3705225" y="3779044"/>
            <a:ext cx="1247775" cy="2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0"/>
            <a:endCxn id="10" idx="2"/>
          </p:cNvCxnSpPr>
          <p:nvPr/>
        </p:nvCxnSpPr>
        <p:spPr>
          <a:xfrm flipH="1" flipV="1">
            <a:off x="2738438" y="2063843"/>
            <a:ext cx="3181350" cy="1403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67326" y="2430162"/>
            <a:ext cx="1319210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delivered by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6600" y="5463364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Initiative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/>
          <p:cNvCxnSpPr>
            <a:stCxn id="8" idx="2"/>
            <a:endCxn id="18" idx="0"/>
          </p:cNvCxnSpPr>
          <p:nvPr/>
        </p:nvCxnSpPr>
        <p:spPr>
          <a:xfrm flipH="1">
            <a:off x="4243388" y="4095750"/>
            <a:ext cx="1676400" cy="1367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8" idx="3"/>
            <a:endCxn id="8" idx="2"/>
          </p:cNvCxnSpPr>
          <p:nvPr/>
        </p:nvCxnSpPr>
        <p:spPr>
          <a:xfrm flipH="1">
            <a:off x="5919788" y="3781425"/>
            <a:ext cx="966787" cy="314325"/>
          </a:xfrm>
          <a:prstGeom prst="bentConnector4">
            <a:avLst>
              <a:gd name="adj1" fmla="val -66995"/>
              <a:gd name="adj2" fmla="val 30303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15100" y="4271726"/>
            <a:ext cx="1781176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decomposes into</a:t>
            </a:r>
            <a:endParaRPr lang="en-CA" sz="1600" dirty="0"/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838200" y="184150"/>
            <a:ext cx="9505950" cy="5302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mtClean="0"/>
              <a:t>Business Capabilities Metamodel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5571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77016" y="1213709"/>
            <a:ext cx="557213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has</a:t>
            </a:r>
            <a:endParaRPr lang="en-CA" sz="1600" dirty="0"/>
          </a:p>
        </p:txBody>
      </p:sp>
      <p:sp>
        <p:nvSpPr>
          <p:cNvPr id="5" name="TextBox 4"/>
          <p:cNvSpPr txBox="1"/>
          <p:nvPr/>
        </p:nvSpPr>
        <p:spPr>
          <a:xfrm rot="2450976">
            <a:off x="6155838" y="2304397"/>
            <a:ext cx="1476374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</a:t>
            </a:r>
            <a:r>
              <a:rPr lang="en-US" sz="1600" dirty="0" smtClean="0"/>
              <a:t>elivers/has</a:t>
            </a:r>
            <a:endParaRPr lang="en-CA" sz="1600" dirty="0"/>
          </a:p>
        </p:txBody>
      </p:sp>
      <p:sp>
        <p:nvSpPr>
          <p:cNvPr id="6" name="TextBox 5"/>
          <p:cNvSpPr txBox="1"/>
          <p:nvPr/>
        </p:nvSpPr>
        <p:spPr>
          <a:xfrm rot="19094314">
            <a:off x="7798480" y="2247394"/>
            <a:ext cx="1236171" cy="58477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collaborates through</a:t>
            </a:r>
            <a:endParaRPr lang="en-CA" sz="1600" dirty="0"/>
          </a:p>
        </p:txBody>
      </p:sp>
      <p:sp>
        <p:nvSpPr>
          <p:cNvPr id="7" name="TextBox 6"/>
          <p:cNvSpPr txBox="1"/>
          <p:nvPr/>
        </p:nvSpPr>
        <p:spPr>
          <a:xfrm rot="2139134">
            <a:off x="4736008" y="4429591"/>
            <a:ext cx="1910359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Integrates through</a:t>
            </a:r>
            <a:endParaRPr lang="en-CA" sz="1600" dirty="0"/>
          </a:p>
        </p:txBody>
      </p:sp>
      <p:sp>
        <p:nvSpPr>
          <p:cNvPr id="8" name="TextBox 7"/>
          <p:cNvSpPr txBox="1"/>
          <p:nvPr/>
        </p:nvSpPr>
        <p:spPr>
          <a:xfrm rot="19431862">
            <a:off x="2514905" y="4430190"/>
            <a:ext cx="1476374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is guided by</a:t>
            </a:r>
            <a:endParaRPr lang="en-CA" sz="1600" dirty="0"/>
          </a:p>
        </p:txBody>
      </p:sp>
      <p:sp>
        <p:nvSpPr>
          <p:cNvPr id="9" name="Rectangle 8"/>
          <p:cNvSpPr/>
          <p:nvPr/>
        </p:nvSpPr>
        <p:spPr>
          <a:xfrm>
            <a:off x="6646372" y="3279371"/>
            <a:ext cx="1933575" cy="6286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Business Unit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74747" y="1247464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Business Capability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38640" y="1247464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Partner/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Third Party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08472" y="1247464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Collaboration Team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338565" y="5447085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Business Objective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509670" y="3279371"/>
            <a:ext cx="1933575" cy="6286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Organization</a:t>
            </a:r>
            <a:endParaRPr lang="en-CA" dirty="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/>
          <p:cNvCxnSpPr>
            <a:stCxn id="10" idx="2"/>
            <a:endCxn id="9" idx="0"/>
          </p:cNvCxnSpPr>
          <p:nvPr/>
        </p:nvCxnSpPr>
        <p:spPr>
          <a:xfrm>
            <a:off x="6041535" y="1876114"/>
            <a:ext cx="1571625" cy="1403257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9" idx="0"/>
            <a:endCxn id="12" idx="2"/>
          </p:cNvCxnSpPr>
          <p:nvPr/>
        </p:nvCxnSpPr>
        <p:spPr>
          <a:xfrm flipV="1">
            <a:off x="7613160" y="1876114"/>
            <a:ext cx="1562100" cy="1403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4" idx="2"/>
            <a:endCxn id="13" idx="0"/>
          </p:cNvCxnSpPr>
          <p:nvPr/>
        </p:nvCxnSpPr>
        <p:spPr>
          <a:xfrm flipH="1">
            <a:off x="2305353" y="3908021"/>
            <a:ext cx="2171105" cy="1539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1"/>
            <a:endCxn id="14" idx="3"/>
          </p:cNvCxnSpPr>
          <p:nvPr/>
        </p:nvCxnSpPr>
        <p:spPr>
          <a:xfrm flipH="1">
            <a:off x="5443245" y="3593696"/>
            <a:ext cx="12031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1" idx="3"/>
            <a:endCxn id="10" idx="1"/>
          </p:cNvCxnSpPr>
          <p:nvPr/>
        </p:nvCxnSpPr>
        <p:spPr>
          <a:xfrm>
            <a:off x="3872215" y="1561789"/>
            <a:ext cx="1202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41471" y="3221909"/>
            <a:ext cx="1073945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belongs to</a:t>
            </a:r>
            <a:endParaRPr lang="en-CA" sz="1600" dirty="0"/>
          </a:p>
        </p:txBody>
      </p:sp>
      <p:cxnSp>
        <p:nvCxnSpPr>
          <p:cNvPr id="21" name="Straight Arrow Connector 20"/>
          <p:cNvCxnSpPr>
            <a:stCxn id="12" idx="1"/>
            <a:endCxn id="10" idx="3"/>
          </p:cNvCxnSpPr>
          <p:nvPr/>
        </p:nvCxnSpPr>
        <p:spPr>
          <a:xfrm flipH="1">
            <a:off x="7008322" y="1561789"/>
            <a:ext cx="1200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065471" y="1204185"/>
            <a:ext cx="1057275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enables</a:t>
            </a:r>
            <a:endParaRPr lang="en-CA" sz="1600" dirty="0"/>
          </a:p>
        </p:txBody>
      </p:sp>
      <p:sp>
        <p:nvSpPr>
          <p:cNvPr id="23" name="Rectangle 22"/>
          <p:cNvSpPr/>
          <p:nvPr/>
        </p:nvSpPr>
        <p:spPr>
          <a:xfrm>
            <a:off x="3509670" y="5447085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Product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674822" y="5447085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Strategy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/>
          <p:cNvCxnSpPr>
            <a:stCxn id="14" idx="2"/>
            <a:endCxn id="23" idx="0"/>
          </p:cNvCxnSpPr>
          <p:nvPr/>
        </p:nvCxnSpPr>
        <p:spPr>
          <a:xfrm>
            <a:off x="4476458" y="3908021"/>
            <a:ext cx="0" cy="1539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4" idx="2"/>
            <a:endCxn id="24" idx="0"/>
          </p:cNvCxnSpPr>
          <p:nvPr/>
        </p:nvCxnSpPr>
        <p:spPr>
          <a:xfrm>
            <a:off x="4476458" y="3908021"/>
            <a:ext cx="2165152" cy="1539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993659" y="4791617"/>
            <a:ext cx="949524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delivers</a:t>
            </a:r>
            <a:endParaRPr lang="en-CA" sz="1600" dirty="0"/>
          </a:p>
        </p:txBody>
      </p:sp>
      <p:cxnSp>
        <p:nvCxnSpPr>
          <p:cNvPr id="28" name="Elbow Connector 27"/>
          <p:cNvCxnSpPr>
            <a:stCxn id="9" idx="3"/>
            <a:endCxn id="9" idx="2"/>
          </p:cNvCxnSpPr>
          <p:nvPr/>
        </p:nvCxnSpPr>
        <p:spPr>
          <a:xfrm flipH="1">
            <a:off x="7613160" y="3593696"/>
            <a:ext cx="966787" cy="314325"/>
          </a:xfrm>
          <a:prstGeom prst="bentConnector4">
            <a:avLst>
              <a:gd name="adj1" fmla="val -84729"/>
              <a:gd name="adj2" fmla="val 30909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682338" y="3995357"/>
            <a:ext cx="1652590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decomposes into</a:t>
            </a:r>
            <a:endParaRPr lang="en-CA" sz="1600" dirty="0"/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184150"/>
            <a:ext cx="9505950" cy="5302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Business Unit/Organization Metamodel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07967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9917576">
            <a:off x="2571783" y="4033294"/>
            <a:ext cx="797719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fulfills</a:t>
            </a:r>
            <a:endParaRPr lang="en-CA" sz="1600" dirty="0"/>
          </a:p>
        </p:txBody>
      </p:sp>
      <p:sp>
        <p:nvSpPr>
          <p:cNvPr id="5" name="TextBox 4"/>
          <p:cNvSpPr txBox="1"/>
          <p:nvPr/>
        </p:nvSpPr>
        <p:spPr>
          <a:xfrm rot="1423328">
            <a:off x="2725341" y="3095364"/>
            <a:ext cx="683417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fulfills</a:t>
            </a:r>
            <a:endParaRPr lang="en-CA" sz="1600" dirty="0"/>
          </a:p>
        </p:txBody>
      </p:sp>
      <p:sp>
        <p:nvSpPr>
          <p:cNvPr id="6" name="TextBox 5"/>
          <p:cNvSpPr txBox="1"/>
          <p:nvPr/>
        </p:nvSpPr>
        <p:spPr>
          <a:xfrm rot="2807071">
            <a:off x="3674648" y="2496172"/>
            <a:ext cx="1319210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enables</a:t>
            </a:r>
            <a:endParaRPr lang="en-CA" sz="1600" dirty="0"/>
          </a:p>
        </p:txBody>
      </p:sp>
      <p:sp>
        <p:nvSpPr>
          <p:cNvPr id="7" name="TextBox 6"/>
          <p:cNvSpPr txBox="1"/>
          <p:nvPr/>
        </p:nvSpPr>
        <p:spPr>
          <a:xfrm rot="2302408">
            <a:off x="7586668" y="2556592"/>
            <a:ext cx="1457325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participates in</a:t>
            </a:r>
            <a:endParaRPr lang="en-CA" sz="1600" dirty="0"/>
          </a:p>
        </p:txBody>
      </p:sp>
      <p:sp>
        <p:nvSpPr>
          <p:cNvPr id="8" name="TextBox 7"/>
          <p:cNvSpPr txBox="1"/>
          <p:nvPr/>
        </p:nvSpPr>
        <p:spPr>
          <a:xfrm rot="19686771">
            <a:off x="5144169" y="2508929"/>
            <a:ext cx="1618060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decomposes into</a:t>
            </a:r>
            <a:endParaRPr lang="en-CA" sz="1600" dirty="0"/>
          </a:p>
        </p:txBody>
      </p:sp>
      <p:sp>
        <p:nvSpPr>
          <p:cNvPr id="9" name="TextBox 8"/>
          <p:cNvSpPr txBox="1"/>
          <p:nvPr/>
        </p:nvSpPr>
        <p:spPr>
          <a:xfrm rot="18652824">
            <a:off x="3453413" y="4622640"/>
            <a:ext cx="1431131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supported by</a:t>
            </a:r>
            <a:endParaRPr lang="en-CA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8391715" y="1420489"/>
            <a:ext cx="1095375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enabled by</a:t>
            </a:r>
            <a:endParaRPr lang="en-CA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4862512" y="1400414"/>
            <a:ext cx="1238248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delivered by</a:t>
            </a:r>
            <a:endParaRPr lang="en-CA" sz="16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200" y="184150"/>
            <a:ext cx="9505950" cy="5302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Value Streams Metamodel</a:t>
            </a:r>
            <a:endParaRPr lang="en-CA" dirty="0"/>
          </a:p>
        </p:txBody>
      </p:sp>
      <p:sp>
        <p:nvSpPr>
          <p:cNvPr id="13" name="Rectangle 12"/>
          <p:cNvSpPr/>
          <p:nvPr/>
        </p:nvSpPr>
        <p:spPr>
          <a:xfrm>
            <a:off x="3971925" y="3465909"/>
            <a:ext cx="1933575" cy="6286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Value Stream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657475" y="1435193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Business Unit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57474" y="5682439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Information Concept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29350" y="1435193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Value Stage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28600" y="2683669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Strategy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>
            <a:stCxn id="14" idx="2"/>
            <a:endCxn id="13" idx="0"/>
          </p:cNvCxnSpPr>
          <p:nvPr/>
        </p:nvCxnSpPr>
        <p:spPr>
          <a:xfrm>
            <a:off x="3624263" y="2063843"/>
            <a:ext cx="1314450" cy="140206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3" idx="0"/>
            <a:endCxn id="16" idx="2"/>
          </p:cNvCxnSpPr>
          <p:nvPr/>
        </p:nvCxnSpPr>
        <p:spPr>
          <a:xfrm flipV="1">
            <a:off x="4938713" y="2063843"/>
            <a:ext cx="2257425" cy="1402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3" idx="1"/>
            <a:endCxn id="17" idx="3"/>
          </p:cNvCxnSpPr>
          <p:nvPr/>
        </p:nvCxnSpPr>
        <p:spPr>
          <a:xfrm flipH="1" flipV="1">
            <a:off x="2162175" y="2997994"/>
            <a:ext cx="1809750" cy="782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3" idx="2"/>
            <a:endCxn id="15" idx="0"/>
          </p:cNvCxnSpPr>
          <p:nvPr/>
        </p:nvCxnSpPr>
        <p:spPr>
          <a:xfrm flipH="1">
            <a:off x="3624262" y="4094559"/>
            <a:ext cx="1314451" cy="1587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28600" y="4441632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Business Objective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>
            <a:stCxn id="13" idx="1"/>
            <a:endCxn id="22" idx="3"/>
          </p:cNvCxnSpPr>
          <p:nvPr/>
        </p:nvCxnSpPr>
        <p:spPr>
          <a:xfrm flipH="1">
            <a:off x="2162175" y="3780234"/>
            <a:ext cx="1809750" cy="975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067675" y="3465909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Stakeholder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2774" y="3465909"/>
            <a:ext cx="1393030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triggered by</a:t>
            </a:r>
            <a:endParaRPr lang="en-CA" sz="1600" dirty="0"/>
          </a:p>
        </p:txBody>
      </p:sp>
      <p:cxnSp>
        <p:nvCxnSpPr>
          <p:cNvPr id="26" name="Straight Arrow Connector 25"/>
          <p:cNvCxnSpPr>
            <a:stCxn id="24" idx="1"/>
            <a:endCxn id="13" idx="3"/>
          </p:cNvCxnSpPr>
          <p:nvPr/>
        </p:nvCxnSpPr>
        <p:spPr>
          <a:xfrm flipH="1">
            <a:off x="5905500" y="3780234"/>
            <a:ext cx="2162175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6" idx="2"/>
            <a:endCxn id="24" idx="0"/>
          </p:cNvCxnSpPr>
          <p:nvPr/>
        </p:nvCxnSpPr>
        <p:spPr>
          <a:xfrm>
            <a:off x="7196138" y="2063843"/>
            <a:ext cx="1838325" cy="140206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653588" y="1435193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Business Capability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>
            <a:stCxn id="28" idx="1"/>
            <a:endCxn id="16" idx="3"/>
          </p:cNvCxnSpPr>
          <p:nvPr/>
        </p:nvCxnSpPr>
        <p:spPr>
          <a:xfrm flipH="1">
            <a:off x="8162925" y="1749518"/>
            <a:ext cx="1490663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362574" y="5697503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Product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 rot="3004169">
            <a:off x="4913110" y="4596500"/>
            <a:ext cx="1476374" cy="58477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guides the direction for</a:t>
            </a:r>
            <a:endParaRPr lang="en-CA" sz="1600" dirty="0"/>
          </a:p>
        </p:txBody>
      </p:sp>
      <p:cxnSp>
        <p:nvCxnSpPr>
          <p:cNvPr id="32" name="Straight Arrow Connector 31"/>
          <p:cNvCxnSpPr>
            <a:stCxn id="13" idx="2"/>
            <a:endCxn id="30" idx="0"/>
          </p:cNvCxnSpPr>
          <p:nvPr/>
        </p:nvCxnSpPr>
        <p:spPr>
          <a:xfrm>
            <a:off x="4938713" y="4094559"/>
            <a:ext cx="1390649" cy="1602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4" idx="3"/>
            <a:endCxn id="16" idx="1"/>
          </p:cNvCxnSpPr>
          <p:nvPr/>
        </p:nvCxnSpPr>
        <p:spPr>
          <a:xfrm>
            <a:off x="4591050" y="1749518"/>
            <a:ext cx="1638300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8067675" y="4779577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Initiative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 rot="1943960">
            <a:off x="6361102" y="4174010"/>
            <a:ext cx="1476374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impacted by</a:t>
            </a:r>
            <a:endParaRPr lang="en-CA" sz="1600" dirty="0"/>
          </a:p>
        </p:txBody>
      </p:sp>
      <p:cxnSp>
        <p:nvCxnSpPr>
          <p:cNvPr id="36" name="Straight Arrow Connector 35"/>
          <p:cNvCxnSpPr>
            <a:stCxn id="13" idx="3"/>
            <a:endCxn id="34" idx="1"/>
          </p:cNvCxnSpPr>
          <p:nvPr/>
        </p:nvCxnSpPr>
        <p:spPr>
          <a:xfrm>
            <a:off x="5905500" y="3780234"/>
            <a:ext cx="2162175" cy="1313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331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758309" y="2844117"/>
            <a:ext cx="1933575" cy="6286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Information Concept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415190" y="2844117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Business Capability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stCxn id="5" idx="1"/>
            <a:endCxn id="4" idx="3"/>
          </p:cNvCxnSpPr>
          <p:nvPr/>
        </p:nvCxnSpPr>
        <p:spPr>
          <a:xfrm flipH="1">
            <a:off x="6691884" y="3158442"/>
            <a:ext cx="1723306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12558" y="2797759"/>
            <a:ext cx="1319210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informed by</a:t>
            </a:r>
            <a:endParaRPr lang="en-CA" sz="1600" dirty="0"/>
          </a:p>
        </p:txBody>
      </p:sp>
      <p:sp>
        <p:nvSpPr>
          <p:cNvPr id="8" name="Rectangle 7"/>
          <p:cNvSpPr/>
          <p:nvPr/>
        </p:nvSpPr>
        <p:spPr>
          <a:xfrm>
            <a:off x="1106424" y="2844117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Business Objective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4" idx="1"/>
            <a:endCxn id="8" idx="3"/>
          </p:cNvCxnSpPr>
          <p:nvPr/>
        </p:nvCxnSpPr>
        <p:spPr>
          <a:xfrm flipH="1">
            <a:off x="3039999" y="3158442"/>
            <a:ext cx="17183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39122" y="2797759"/>
            <a:ext cx="1228829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informed by</a:t>
            </a:r>
            <a:endParaRPr lang="en-CA" sz="1600" dirty="0"/>
          </a:p>
        </p:txBody>
      </p:sp>
      <p:sp>
        <p:nvSpPr>
          <p:cNvPr id="11" name="Rectangle 10"/>
          <p:cNvSpPr/>
          <p:nvPr/>
        </p:nvSpPr>
        <p:spPr>
          <a:xfrm>
            <a:off x="4758308" y="4657956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Stakeholder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11" idx="0"/>
            <a:endCxn id="4" idx="2"/>
          </p:cNvCxnSpPr>
          <p:nvPr/>
        </p:nvCxnSpPr>
        <p:spPr>
          <a:xfrm flipV="1">
            <a:off x="5725096" y="3472767"/>
            <a:ext cx="1" cy="1185189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8580" y="3835035"/>
            <a:ext cx="1393030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defines</a:t>
            </a:r>
            <a:endParaRPr lang="en-CA" sz="1600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838200" y="184150"/>
            <a:ext cx="9505950" cy="5302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Information Concept Metamodel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19491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4150"/>
            <a:ext cx="9505950" cy="5302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Strategy Metamodel</a:t>
            </a:r>
            <a:endParaRPr lang="en-CA" dirty="0"/>
          </a:p>
        </p:txBody>
      </p:sp>
      <p:sp>
        <p:nvSpPr>
          <p:cNvPr id="5" name="Rectangle 4"/>
          <p:cNvSpPr/>
          <p:nvPr/>
        </p:nvSpPr>
        <p:spPr>
          <a:xfrm>
            <a:off x="4767453" y="3456765"/>
            <a:ext cx="1933575" cy="6286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Strategy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767452" y="5207215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Product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>
            <a:stCxn id="5" idx="2"/>
            <a:endCxn id="6" idx="0"/>
          </p:cNvCxnSpPr>
          <p:nvPr/>
        </p:nvCxnSpPr>
        <p:spPr>
          <a:xfrm flipH="1">
            <a:off x="5734240" y="4085415"/>
            <a:ext cx="1" cy="1121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86151" y="3446399"/>
            <a:ext cx="1211949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owned by</a:t>
            </a:r>
            <a:endParaRPr lang="en-CA" sz="1600" dirty="0"/>
          </a:p>
        </p:txBody>
      </p:sp>
      <p:sp>
        <p:nvSpPr>
          <p:cNvPr id="9" name="Rectangle 8"/>
          <p:cNvSpPr/>
          <p:nvPr/>
        </p:nvSpPr>
        <p:spPr>
          <a:xfrm>
            <a:off x="1233781" y="3456765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Product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5" idx="1"/>
            <a:endCxn id="9" idx="3"/>
          </p:cNvCxnSpPr>
          <p:nvPr/>
        </p:nvCxnSpPr>
        <p:spPr>
          <a:xfrm flipH="1">
            <a:off x="3167356" y="3771090"/>
            <a:ext cx="16000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88303" y="3446399"/>
            <a:ext cx="1211949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aligned with</a:t>
            </a:r>
            <a:endParaRPr lang="en-CA" sz="1600" dirty="0"/>
          </a:p>
        </p:txBody>
      </p:sp>
      <p:sp>
        <p:nvSpPr>
          <p:cNvPr id="12" name="Rectangle 11"/>
          <p:cNvSpPr/>
          <p:nvPr/>
        </p:nvSpPr>
        <p:spPr>
          <a:xfrm>
            <a:off x="8311237" y="3456765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Value Stream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12" idx="1"/>
            <a:endCxn id="5" idx="3"/>
          </p:cNvCxnSpPr>
          <p:nvPr/>
        </p:nvCxnSpPr>
        <p:spPr>
          <a:xfrm flipH="1">
            <a:off x="6701028" y="3771090"/>
            <a:ext cx="1610209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28264" y="4409288"/>
            <a:ext cx="1211949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impacts</a:t>
            </a:r>
            <a:endParaRPr lang="en-CA" sz="1600" dirty="0"/>
          </a:p>
        </p:txBody>
      </p:sp>
      <p:sp>
        <p:nvSpPr>
          <p:cNvPr id="15" name="Rectangle 14"/>
          <p:cNvSpPr/>
          <p:nvPr/>
        </p:nvSpPr>
        <p:spPr>
          <a:xfrm>
            <a:off x="4767452" y="1708249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Business Objective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5734240" y="2342097"/>
            <a:ext cx="1" cy="112180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28264" y="2665970"/>
            <a:ext cx="1211949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driven by</a:t>
            </a:r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102892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9189311">
            <a:off x="3989681" y="4484818"/>
            <a:ext cx="1542417" cy="58477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delivered by/</a:t>
            </a:r>
          </a:p>
          <a:p>
            <a:pPr algn="ctr"/>
            <a:r>
              <a:rPr lang="en-US" sz="1600" dirty="0" smtClean="0"/>
              <a:t>impacts</a:t>
            </a:r>
            <a:endParaRPr lang="en-CA" sz="1600" dirty="0"/>
          </a:p>
        </p:txBody>
      </p:sp>
      <p:sp>
        <p:nvSpPr>
          <p:cNvPr id="5" name="TextBox 4"/>
          <p:cNvSpPr txBox="1"/>
          <p:nvPr/>
        </p:nvSpPr>
        <p:spPr>
          <a:xfrm rot="20419903">
            <a:off x="3127726" y="3704443"/>
            <a:ext cx="1319210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impacts</a:t>
            </a:r>
            <a:endParaRPr lang="en-CA" sz="1600" dirty="0"/>
          </a:p>
        </p:txBody>
      </p:sp>
      <p:sp>
        <p:nvSpPr>
          <p:cNvPr id="6" name="TextBox 5"/>
          <p:cNvSpPr txBox="1"/>
          <p:nvPr/>
        </p:nvSpPr>
        <p:spPr>
          <a:xfrm rot="1703795">
            <a:off x="3330158" y="2918230"/>
            <a:ext cx="1319210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impacts</a:t>
            </a:r>
            <a:endParaRPr lang="en-CA" sz="1600" dirty="0"/>
          </a:p>
        </p:txBody>
      </p:sp>
      <p:sp>
        <p:nvSpPr>
          <p:cNvPr id="7" name="TextBox 6"/>
          <p:cNvSpPr txBox="1"/>
          <p:nvPr/>
        </p:nvSpPr>
        <p:spPr>
          <a:xfrm rot="20558108">
            <a:off x="3429281" y="2055463"/>
            <a:ext cx="833059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delivers</a:t>
            </a:r>
            <a:endParaRPr lang="en-CA" sz="1600" dirty="0"/>
          </a:p>
        </p:txBody>
      </p:sp>
      <p:sp>
        <p:nvSpPr>
          <p:cNvPr id="8" name="TextBox 7"/>
          <p:cNvSpPr txBox="1"/>
          <p:nvPr/>
        </p:nvSpPr>
        <p:spPr>
          <a:xfrm rot="1060839">
            <a:off x="7278260" y="2084913"/>
            <a:ext cx="833059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enables</a:t>
            </a:r>
            <a:endParaRPr lang="en-CA" sz="1600" dirty="0"/>
          </a:p>
        </p:txBody>
      </p:sp>
      <p:sp>
        <p:nvSpPr>
          <p:cNvPr id="9" name="TextBox 8"/>
          <p:cNvSpPr txBox="1"/>
          <p:nvPr/>
        </p:nvSpPr>
        <p:spPr>
          <a:xfrm rot="19948372">
            <a:off x="6673946" y="2907261"/>
            <a:ext cx="1671478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</a:t>
            </a:r>
            <a:r>
              <a:rPr lang="en-US" sz="1600" dirty="0" smtClean="0"/>
              <a:t>nables/requires</a:t>
            </a:r>
            <a:endParaRPr lang="en-CA" sz="1600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184150"/>
            <a:ext cx="9505950" cy="5302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Initiative Metamodel</a:t>
            </a:r>
            <a:endParaRPr lang="en-CA" dirty="0"/>
          </a:p>
        </p:txBody>
      </p:sp>
      <p:sp>
        <p:nvSpPr>
          <p:cNvPr id="11" name="Rectangle 10"/>
          <p:cNvSpPr/>
          <p:nvPr/>
        </p:nvSpPr>
        <p:spPr>
          <a:xfrm>
            <a:off x="4758309" y="3347037"/>
            <a:ext cx="1933575" cy="6286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Initiative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491728" y="2339456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Business Capability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12" idx="1"/>
            <a:endCxn id="11" idx="3"/>
          </p:cNvCxnSpPr>
          <p:nvPr/>
        </p:nvCxnSpPr>
        <p:spPr>
          <a:xfrm flipH="1">
            <a:off x="6691884" y="2653781"/>
            <a:ext cx="1799844" cy="1007581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05840" y="2339456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Business Process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>
            <a:stCxn id="11" idx="1"/>
            <a:endCxn id="14" idx="3"/>
          </p:cNvCxnSpPr>
          <p:nvPr/>
        </p:nvCxnSpPr>
        <p:spPr>
          <a:xfrm flipH="1" flipV="1">
            <a:off x="2939415" y="2653781"/>
            <a:ext cx="1818894" cy="1007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800437" y="5462959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Asset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rot="2152384">
            <a:off x="6215175" y="4513993"/>
            <a:ext cx="1393030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makes use of</a:t>
            </a:r>
            <a:endParaRPr lang="en-CA" sz="1600" dirty="0"/>
          </a:p>
        </p:txBody>
      </p:sp>
      <p:cxnSp>
        <p:nvCxnSpPr>
          <p:cNvPr id="18" name="Straight Arrow Connector 17"/>
          <p:cNvCxnSpPr>
            <a:stCxn id="16" idx="0"/>
            <a:endCxn id="11" idx="2"/>
          </p:cNvCxnSpPr>
          <p:nvPr/>
        </p:nvCxnSpPr>
        <p:spPr>
          <a:xfrm flipH="1" flipV="1">
            <a:off x="5725097" y="3975687"/>
            <a:ext cx="2042128" cy="148727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758308" y="1710806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Business Objective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11" idx="0"/>
            <a:endCxn id="19" idx="2"/>
          </p:cNvCxnSpPr>
          <p:nvPr/>
        </p:nvCxnSpPr>
        <p:spPr>
          <a:xfrm flipH="1" flipV="1">
            <a:off x="5725096" y="2339456"/>
            <a:ext cx="1" cy="1007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68754" y="2790303"/>
            <a:ext cx="1319210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realizes</a:t>
            </a:r>
            <a:endParaRPr lang="en-CA" sz="1600" dirty="0"/>
          </a:p>
        </p:txBody>
      </p:sp>
      <p:cxnSp>
        <p:nvCxnSpPr>
          <p:cNvPr id="22" name="Elbow Connector 21"/>
          <p:cNvCxnSpPr>
            <a:stCxn id="19" idx="3"/>
            <a:endCxn id="19" idx="0"/>
          </p:cNvCxnSpPr>
          <p:nvPr/>
        </p:nvCxnSpPr>
        <p:spPr>
          <a:xfrm flipH="1" flipV="1">
            <a:off x="5725096" y="1710806"/>
            <a:ext cx="966787" cy="314325"/>
          </a:xfrm>
          <a:prstGeom prst="bentConnector4">
            <a:avLst>
              <a:gd name="adj1" fmla="val -44453"/>
              <a:gd name="adj2" fmla="val 28618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21610" y="1234650"/>
            <a:ext cx="1789246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decomposes into</a:t>
            </a:r>
            <a:endParaRPr lang="en-CA" sz="1600" dirty="0"/>
          </a:p>
        </p:txBody>
      </p:sp>
      <p:sp>
        <p:nvSpPr>
          <p:cNvPr id="24" name="Rectangle 23"/>
          <p:cNvSpPr/>
          <p:nvPr/>
        </p:nvSpPr>
        <p:spPr>
          <a:xfrm>
            <a:off x="2882074" y="5565599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Business Unit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/>
          <p:cNvCxnSpPr>
            <a:stCxn id="24" idx="0"/>
            <a:endCxn id="11" idx="2"/>
          </p:cNvCxnSpPr>
          <p:nvPr/>
        </p:nvCxnSpPr>
        <p:spPr>
          <a:xfrm flipV="1">
            <a:off x="3848862" y="3975687"/>
            <a:ext cx="1876235" cy="158991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4" idx="3"/>
            <a:endCxn id="19" idx="1"/>
          </p:cNvCxnSpPr>
          <p:nvPr/>
        </p:nvCxnSpPr>
        <p:spPr>
          <a:xfrm flipV="1">
            <a:off x="2939415" y="2025131"/>
            <a:ext cx="1818893" cy="628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1"/>
            <a:endCxn id="19" idx="3"/>
          </p:cNvCxnSpPr>
          <p:nvPr/>
        </p:nvCxnSpPr>
        <p:spPr>
          <a:xfrm flipH="1" flipV="1">
            <a:off x="6691883" y="2025131"/>
            <a:ext cx="1799845" cy="628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005840" y="4030915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Value Stream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>
            <a:stCxn id="11" idx="1"/>
            <a:endCxn id="28" idx="3"/>
          </p:cNvCxnSpPr>
          <p:nvPr/>
        </p:nvCxnSpPr>
        <p:spPr>
          <a:xfrm flipH="1">
            <a:off x="2939415" y="3661362"/>
            <a:ext cx="1818894" cy="683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 rot="3120532">
            <a:off x="2066664" y="5005955"/>
            <a:ext cx="892551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delivers</a:t>
            </a:r>
            <a:endParaRPr lang="en-CA" sz="1600" dirty="0"/>
          </a:p>
        </p:txBody>
      </p:sp>
      <p:cxnSp>
        <p:nvCxnSpPr>
          <p:cNvPr id="31" name="Straight Arrow Connector 30"/>
          <p:cNvCxnSpPr>
            <a:stCxn id="24" idx="1"/>
            <a:endCxn id="28" idx="2"/>
          </p:cNvCxnSpPr>
          <p:nvPr/>
        </p:nvCxnSpPr>
        <p:spPr>
          <a:xfrm flipH="1" flipV="1">
            <a:off x="1972628" y="4659565"/>
            <a:ext cx="909446" cy="1220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234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8743075">
            <a:off x="4415862" y="5064765"/>
            <a:ext cx="1211949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impacted by</a:t>
            </a:r>
            <a:endParaRPr lang="en-CA" sz="1600" dirty="0"/>
          </a:p>
        </p:txBody>
      </p:sp>
      <p:sp>
        <p:nvSpPr>
          <p:cNvPr id="5" name="TextBox 4"/>
          <p:cNvSpPr txBox="1"/>
          <p:nvPr/>
        </p:nvSpPr>
        <p:spPr>
          <a:xfrm rot="19793911">
            <a:off x="7179770" y="3389488"/>
            <a:ext cx="1171957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owned by</a:t>
            </a:r>
            <a:endParaRPr lang="en-CA" sz="1600" dirty="0"/>
          </a:p>
        </p:txBody>
      </p:sp>
      <p:sp>
        <p:nvSpPr>
          <p:cNvPr id="6" name="TextBox 5"/>
          <p:cNvSpPr txBox="1"/>
          <p:nvPr/>
        </p:nvSpPr>
        <p:spPr>
          <a:xfrm rot="21189267">
            <a:off x="7506588" y="3916845"/>
            <a:ext cx="1377226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sourced from</a:t>
            </a:r>
            <a:endParaRPr lang="en-CA" sz="1600" dirty="0"/>
          </a:p>
        </p:txBody>
      </p:sp>
      <p:sp>
        <p:nvSpPr>
          <p:cNvPr id="7" name="TextBox 6"/>
          <p:cNvSpPr txBox="1"/>
          <p:nvPr/>
        </p:nvSpPr>
        <p:spPr>
          <a:xfrm rot="19571273">
            <a:off x="5802159" y="3299999"/>
            <a:ext cx="1094886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is part of a</a:t>
            </a:r>
            <a:endParaRPr lang="en-CA" sz="1600" dirty="0"/>
          </a:p>
        </p:txBody>
      </p:sp>
      <p:sp>
        <p:nvSpPr>
          <p:cNvPr id="8" name="TextBox 7"/>
          <p:cNvSpPr txBox="1"/>
          <p:nvPr/>
        </p:nvSpPr>
        <p:spPr>
          <a:xfrm rot="2169237">
            <a:off x="4592549" y="3332033"/>
            <a:ext cx="1136331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is part of a</a:t>
            </a:r>
            <a:endParaRPr lang="en-CA" sz="1600" dirty="0"/>
          </a:p>
        </p:txBody>
      </p:sp>
      <p:sp>
        <p:nvSpPr>
          <p:cNvPr id="9" name="TextBox 8"/>
          <p:cNvSpPr txBox="1"/>
          <p:nvPr/>
        </p:nvSpPr>
        <p:spPr>
          <a:xfrm rot="20122371">
            <a:off x="3356150" y="4402943"/>
            <a:ext cx="1136331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relies on</a:t>
            </a:r>
            <a:endParaRPr lang="en-CA" sz="1600" dirty="0"/>
          </a:p>
        </p:txBody>
      </p:sp>
      <p:sp>
        <p:nvSpPr>
          <p:cNvPr id="10" name="TextBox 9"/>
          <p:cNvSpPr txBox="1"/>
          <p:nvPr/>
        </p:nvSpPr>
        <p:spPr>
          <a:xfrm rot="1301019">
            <a:off x="3502655" y="3807117"/>
            <a:ext cx="1136331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relies on</a:t>
            </a:r>
            <a:endParaRPr lang="en-CA" sz="1600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838200" y="184150"/>
            <a:ext cx="9505950" cy="5302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Product Metamodel</a:t>
            </a:r>
            <a:endParaRPr lang="en-CA" dirty="0"/>
          </a:p>
        </p:txBody>
      </p:sp>
      <p:sp>
        <p:nvSpPr>
          <p:cNvPr id="12" name="Rectangle 11"/>
          <p:cNvSpPr/>
          <p:nvPr/>
        </p:nvSpPr>
        <p:spPr>
          <a:xfrm>
            <a:off x="4767453" y="4060269"/>
            <a:ext cx="1933575" cy="6286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Product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13556" y="2424038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Product Line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0"/>
            <a:endCxn id="13" idx="2"/>
          </p:cNvCxnSpPr>
          <p:nvPr/>
        </p:nvCxnSpPr>
        <p:spPr>
          <a:xfrm flipH="1" flipV="1">
            <a:off x="4280344" y="3052688"/>
            <a:ext cx="1453897" cy="1007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12" idx="3"/>
            <a:endCxn id="12" idx="2"/>
          </p:cNvCxnSpPr>
          <p:nvPr/>
        </p:nvCxnSpPr>
        <p:spPr>
          <a:xfrm flipH="1">
            <a:off x="5734241" y="4374594"/>
            <a:ext cx="966787" cy="314325"/>
          </a:xfrm>
          <a:prstGeom prst="bentConnector4">
            <a:avLst>
              <a:gd name="adj1" fmla="val -53911"/>
              <a:gd name="adj2" fmla="val 26872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28458" y="4756110"/>
            <a:ext cx="1171957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is similar to</a:t>
            </a:r>
            <a:endParaRPr lang="en-CA" sz="1600" dirty="0"/>
          </a:p>
        </p:txBody>
      </p:sp>
      <p:sp>
        <p:nvSpPr>
          <p:cNvPr id="17" name="Rectangle 16"/>
          <p:cNvSpPr/>
          <p:nvPr/>
        </p:nvSpPr>
        <p:spPr>
          <a:xfrm>
            <a:off x="6209810" y="2424039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Product Family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>
            <a:stCxn id="12" idx="0"/>
            <a:endCxn id="17" idx="2"/>
          </p:cNvCxnSpPr>
          <p:nvPr/>
        </p:nvCxnSpPr>
        <p:spPr>
          <a:xfrm flipV="1">
            <a:off x="5734241" y="3052689"/>
            <a:ext cx="1442357" cy="1007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767453" y="1028700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Strategy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12" idx="0"/>
            <a:endCxn id="19" idx="2"/>
          </p:cNvCxnSpPr>
          <p:nvPr/>
        </p:nvCxnSpPr>
        <p:spPr>
          <a:xfrm flipV="1">
            <a:off x="5734241" y="1657350"/>
            <a:ext cx="0" cy="2402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7" idx="0"/>
            <a:endCxn id="19" idx="2"/>
          </p:cNvCxnSpPr>
          <p:nvPr/>
        </p:nvCxnSpPr>
        <p:spPr>
          <a:xfrm flipH="1" flipV="1">
            <a:off x="5734241" y="1657350"/>
            <a:ext cx="1442357" cy="766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3" idx="0"/>
            <a:endCxn id="19" idx="2"/>
          </p:cNvCxnSpPr>
          <p:nvPr/>
        </p:nvCxnSpPr>
        <p:spPr>
          <a:xfrm flipV="1">
            <a:off x="4280344" y="1657350"/>
            <a:ext cx="1453897" cy="766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99766" y="1871417"/>
            <a:ext cx="1300639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impacted by</a:t>
            </a:r>
            <a:endParaRPr lang="en-CA" sz="1600" dirty="0"/>
          </a:p>
        </p:txBody>
      </p:sp>
      <p:sp>
        <p:nvSpPr>
          <p:cNvPr id="24" name="Rectangle 23"/>
          <p:cNvSpPr/>
          <p:nvPr/>
        </p:nvSpPr>
        <p:spPr>
          <a:xfrm>
            <a:off x="1290568" y="3483326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Business Capability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290567" y="4682958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Value Stream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26" name="Straight Arrow Connector 25"/>
          <p:cNvCxnSpPr>
            <a:stCxn id="12" idx="1"/>
            <a:endCxn id="24" idx="3"/>
          </p:cNvCxnSpPr>
          <p:nvPr/>
        </p:nvCxnSpPr>
        <p:spPr>
          <a:xfrm flipH="1" flipV="1">
            <a:off x="3224143" y="3797651"/>
            <a:ext cx="1543310" cy="576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1"/>
            <a:endCxn id="25" idx="3"/>
          </p:cNvCxnSpPr>
          <p:nvPr/>
        </p:nvCxnSpPr>
        <p:spPr>
          <a:xfrm flipH="1">
            <a:off x="3224142" y="4374594"/>
            <a:ext cx="1543311" cy="622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657600" y="5887705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Initiative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>
            <a:stCxn id="12" idx="2"/>
            <a:endCxn id="28" idx="0"/>
          </p:cNvCxnSpPr>
          <p:nvPr/>
        </p:nvCxnSpPr>
        <p:spPr>
          <a:xfrm flipH="1">
            <a:off x="4624388" y="4688919"/>
            <a:ext cx="1109853" cy="1198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841758" y="2763083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Business Unit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125223" y="3771797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Partner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/>
          <p:cNvCxnSpPr>
            <a:stCxn id="12" idx="3"/>
            <a:endCxn id="31" idx="1"/>
          </p:cNvCxnSpPr>
          <p:nvPr/>
        </p:nvCxnSpPr>
        <p:spPr>
          <a:xfrm flipV="1">
            <a:off x="6701028" y="4086122"/>
            <a:ext cx="2424195" cy="288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2" idx="3"/>
            <a:endCxn id="30" idx="1"/>
          </p:cNvCxnSpPr>
          <p:nvPr/>
        </p:nvCxnSpPr>
        <p:spPr>
          <a:xfrm flipV="1">
            <a:off x="6701028" y="3077408"/>
            <a:ext cx="2140730" cy="1297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694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94821" y="4953413"/>
            <a:ext cx="1239038" cy="58477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decomposes into</a:t>
            </a:r>
            <a:endParaRPr lang="en-CA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3409950" y="3312800"/>
            <a:ext cx="1082366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defined by</a:t>
            </a:r>
            <a:endParaRPr lang="en-CA" sz="1600" dirty="0"/>
          </a:p>
        </p:txBody>
      </p:sp>
      <p:sp>
        <p:nvSpPr>
          <p:cNvPr id="6" name="TextBox 5"/>
          <p:cNvSpPr txBox="1"/>
          <p:nvPr/>
        </p:nvSpPr>
        <p:spPr>
          <a:xfrm rot="1908275">
            <a:off x="6002017" y="4218314"/>
            <a:ext cx="1168864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participates</a:t>
            </a:r>
            <a:endParaRPr lang="en-CA" sz="1600" dirty="0"/>
          </a:p>
        </p:txBody>
      </p:sp>
      <p:sp>
        <p:nvSpPr>
          <p:cNvPr id="7" name="TextBox 6"/>
          <p:cNvSpPr txBox="1"/>
          <p:nvPr/>
        </p:nvSpPr>
        <p:spPr>
          <a:xfrm rot="19572257">
            <a:off x="4210594" y="4186741"/>
            <a:ext cx="921956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triggers</a:t>
            </a:r>
            <a:endParaRPr lang="en-CA" sz="160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184150"/>
            <a:ext cx="9505950" cy="5302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Stakeholder Metamodel</a:t>
            </a:r>
            <a:endParaRPr lang="en-CA" dirty="0"/>
          </a:p>
        </p:txBody>
      </p:sp>
      <p:sp>
        <p:nvSpPr>
          <p:cNvPr id="9" name="Rectangle 8"/>
          <p:cNvSpPr/>
          <p:nvPr/>
        </p:nvSpPr>
        <p:spPr>
          <a:xfrm>
            <a:off x="4607032" y="3298269"/>
            <a:ext cx="1933575" cy="6286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Stakeholder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607031" y="1562790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Business Unit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9" idx="0"/>
            <a:endCxn id="10" idx="2"/>
          </p:cNvCxnSpPr>
          <p:nvPr/>
        </p:nvCxnSpPr>
        <p:spPr>
          <a:xfrm flipH="1" flipV="1">
            <a:off x="5573819" y="2191440"/>
            <a:ext cx="1" cy="1106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969314" y="2650813"/>
            <a:ext cx="1211949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is a part of</a:t>
            </a:r>
            <a:endParaRPr lang="en-CA" sz="1600" dirty="0"/>
          </a:p>
        </p:txBody>
      </p:sp>
      <p:sp>
        <p:nvSpPr>
          <p:cNvPr id="13" name="Rectangle 12"/>
          <p:cNvSpPr/>
          <p:nvPr/>
        </p:nvSpPr>
        <p:spPr>
          <a:xfrm>
            <a:off x="3035739" y="4944611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Value Stream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9" idx="2"/>
            <a:endCxn id="13" idx="0"/>
          </p:cNvCxnSpPr>
          <p:nvPr/>
        </p:nvCxnSpPr>
        <p:spPr>
          <a:xfrm flipH="1">
            <a:off x="4002527" y="3926919"/>
            <a:ext cx="1571293" cy="1017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259367" y="4944611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Value Stage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9" idx="2"/>
            <a:endCxn id="15" idx="0"/>
          </p:cNvCxnSpPr>
          <p:nvPr/>
        </p:nvCxnSpPr>
        <p:spPr>
          <a:xfrm>
            <a:off x="5573820" y="3926919"/>
            <a:ext cx="1652335" cy="1017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283305" y="3298269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Information Concept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>
            <a:stCxn id="9" idx="1"/>
            <a:endCxn id="17" idx="3"/>
          </p:cNvCxnSpPr>
          <p:nvPr/>
        </p:nvCxnSpPr>
        <p:spPr>
          <a:xfrm flipH="1">
            <a:off x="3216880" y="3612594"/>
            <a:ext cx="1390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631159" y="3329446"/>
            <a:ext cx="1082366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enables</a:t>
            </a:r>
            <a:endParaRPr lang="en-CA" sz="1600" dirty="0"/>
          </a:p>
        </p:txBody>
      </p:sp>
      <p:sp>
        <p:nvSpPr>
          <p:cNvPr id="20" name="Rectangle 19"/>
          <p:cNvSpPr/>
          <p:nvPr/>
        </p:nvSpPr>
        <p:spPr>
          <a:xfrm>
            <a:off x="7830661" y="3298269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Information Concept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>
            <a:stCxn id="9" idx="3"/>
            <a:endCxn id="20" idx="1"/>
          </p:cNvCxnSpPr>
          <p:nvPr/>
        </p:nvCxnSpPr>
        <p:spPr>
          <a:xfrm>
            <a:off x="6540607" y="3612594"/>
            <a:ext cx="12900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3" idx="3"/>
            <a:endCxn id="15" idx="1"/>
          </p:cNvCxnSpPr>
          <p:nvPr/>
        </p:nvCxnSpPr>
        <p:spPr>
          <a:xfrm>
            <a:off x="4969314" y="5258936"/>
            <a:ext cx="12900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08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4150"/>
            <a:ext cx="9505950" cy="530225"/>
          </a:xfrm>
        </p:spPr>
        <p:txBody>
          <a:bodyPr>
            <a:normAutofit fontScale="90000"/>
          </a:bodyPr>
          <a:lstStyle/>
          <a:p>
            <a:r>
              <a:rPr lang="en-US" dirty="0"/>
              <a:t>Business Architecture </a:t>
            </a:r>
            <a:r>
              <a:rPr lang="en-US" dirty="0" err="1" smtClean="0"/>
              <a:t>Metamodel</a:t>
            </a:r>
            <a:endParaRPr lang="en-CA" i="1" dirty="0"/>
          </a:p>
        </p:txBody>
      </p:sp>
      <p:sp>
        <p:nvSpPr>
          <p:cNvPr id="5" name="Rectangle 4"/>
          <p:cNvSpPr/>
          <p:nvPr/>
        </p:nvSpPr>
        <p:spPr>
          <a:xfrm>
            <a:off x="581215" y="1583096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Business Strategy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81578" y="1645519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Business Objective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31958" y="3542843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Initiative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792263" y="3003731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Product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32297" y="3096867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Business Capability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79698" y="1900852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Business Unit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55909" y="4748346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Value Stream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207046" y="1157261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Information Concept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89484" y="5881205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Stakeholder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677025" y="4482728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Value Stage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5" name="Curved Connector 14"/>
          <p:cNvCxnSpPr>
            <a:stCxn id="5" idx="0"/>
            <a:endCxn id="6" idx="0"/>
          </p:cNvCxnSpPr>
          <p:nvPr/>
        </p:nvCxnSpPr>
        <p:spPr>
          <a:xfrm rot="16200000" flipH="1">
            <a:off x="2966972" y="164126"/>
            <a:ext cx="62423" cy="2900363"/>
          </a:xfrm>
          <a:prstGeom prst="curvedConnector3">
            <a:avLst>
              <a:gd name="adj1" fmla="val -108398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7" idx="0"/>
            <a:endCxn id="9" idx="0"/>
          </p:cNvCxnSpPr>
          <p:nvPr/>
        </p:nvCxnSpPr>
        <p:spPr>
          <a:xfrm rot="5400000" flipH="1" flipV="1">
            <a:off x="5825927" y="1969686"/>
            <a:ext cx="445976" cy="2700339"/>
          </a:xfrm>
          <a:prstGeom prst="curvedConnector3">
            <a:avLst>
              <a:gd name="adj1" fmla="val 15125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urved Connector 16"/>
          <p:cNvCxnSpPr>
            <a:stCxn id="7" idx="1"/>
            <a:endCxn id="11" idx="1"/>
          </p:cNvCxnSpPr>
          <p:nvPr/>
        </p:nvCxnSpPr>
        <p:spPr>
          <a:xfrm rot="10800000" flipH="1" flipV="1">
            <a:off x="3731957" y="3857167"/>
            <a:ext cx="623951" cy="1205503"/>
          </a:xfrm>
          <a:prstGeom prst="curvedConnector3">
            <a:avLst>
              <a:gd name="adj1" fmla="val -3663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9" idx="3"/>
            <a:endCxn id="10" idx="3"/>
          </p:cNvCxnSpPr>
          <p:nvPr/>
        </p:nvCxnSpPr>
        <p:spPr>
          <a:xfrm flipH="1" flipV="1">
            <a:off x="8313273" y="2215177"/>
            <a:ext cx="52599" cy="1196015"/>
          </a:xfrm>
          <a:prstGeom prst="curvedConnector3">
            <a:avLst>
              <a:gd name="adj1" fmla="val -695374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urved Connector 18"/>
          <p:cNvCxnSpPr>
            <a:stCxn id="9" idx="3"/>
            <a:endCxn id="12" idx="2"/>
          </p:cNvCxnSpPr>
          <p:nvPr/>
        </p:nvCxnSpPr>
        <p:spPr>
          <a:xfrm flipV="1">
            <a:off x="8365872" y="1785911"/>
            <a:ext cx="1807962" cy="162528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urved Connector 19"/>
          <p:cNvCxnSpPr>
            <a:stCxn id="11" idx="0"/>
            <a:endCxn id="14" idx="0"/>
          </p:cNvCxnSpPr>
          <p:nvPr/>
        </p:nvCxnSpPr>
        <p:spPr>
          <a:xfrm rot="5400000" flipH="1" flipV="1">
            <a:off x="6350446" y="3454979"/>
            <a:ext cx="265618" cy="2321116"/>
          </a:xfrm>
          <a:prstGeom prst="curvedConnector3">
            <a:avLst>
              <a:gd name="adj1" fmla="val 26868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urved Connector 20"/>
          <p:cNvCxnSpPr>
            <a:stCxn id="14" idx="3"/>
            <a:endCxn id="9" idx="3"/>
          </p:cNvCxnSpPr>
          <p:nvPr/>
        </p:nvCxnSpPr>
        <p:spPr>
          <a:xfrm flipH="1" flipV="1">
            <a:off x="8365872" y="3411192"/>
            <a:ext cx="244728" cy="1385861"/>
          </a:xfrm>
          <a:prstGeom prst="curvedConnector3">
            <a:avLst>
              <a:gd name="adj1" fmla="val -93410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urved Connector 21"/>
          <p:cNvCxnSpPr>
            <a:stCxn id="13" idx="3"/>
            <a:endCxn id="14" idx="3"/>
          </p:cNvCxnSpPr>
          <p:nvPr/>
        </p:nvCxnSpPr>
        <p:spPr>
          <a:xfrm flipV="1">
            <a:off x="8223059" y="4797053"/>
            <a:ext cx="387541" cy="1398477"/>
          </a:xfrm>
          <a:prstGeom prst="curvedConnector3">
            <a:avLst>
              <a:gd name="adj1" fmla="val 15898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stCxn id="13" idx="1"/>
            <a:endCxn id="11" idx="2"/>
          </p:cNvCxnSpPr>
          <p:nvPr/>
        </p:nvCxnSpPr>
        <p:spPr>
          <a:xfrm rot="10800000">
            <a:off x="5322698" y="5376996"/>
            <a:ext cx="966787" cy="81853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5" idx="2"/>
            <a:endCxn id="9" idx="1"/>
          </p:cNvCxnSpPr>
          <p:nvPr/>
        </p:nvCxnSpPr>
        <p:spPr>
          <a:xfrm rot="16200000" flipH="1">
            <a:off x="3390427" y="369322"/>
            <a:ext cx="1199446" cy="48842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urved Connector 24"/>
          <p:cNvCxnSpPr>
            <a:stCxn id="5" idx="2"/>
            <a:endCxn id="11" idx="1"/>
          </p:cNvCxnSpPr>
          <p:nvPr/>
        </p:nvCxnSpPr>
        <p:spPr>
          <a:xfrm rot="16200000" flipH="1">
            <a:off x="1526494" y="2233255"/>
            <a:ext cx="2850925" cy="280790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269106" y="911589"/>
            <a:ext cx="1435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realized by</a:t>
            </a:r>
            <a:endParaRPr lang="en-CA" sz="1600" dirty="0"/>
          </a:p>
        </p:txBody>
      </p:sp>
      <p:sp>
        <p:nvSpPr>
          <p:cNvPr id="27" name="TextBox 26"/>
          <p:cNvSpPr txBox="1"/>
          <p:nvPr/>
        </p:nvSpPr>
        <p:spPr>
          <a:xfrm>
            <a:off x="1662915" y="2408959"/>
            <a:ext cx="1435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impacts</a:t>
            </a:r>
            <a:endParaRPr lang="en-CA" sz="1600" dirty="0"/>
          </a:p>
        </p:txBody>
      </p:sp>
      <p:sp>
        <p:nvSpPr>
          <p:cNvPr id="28" name="TextBox 27"/>
          <p:cNvSpPr txBox="1"/>
          <p:nvPr/>
        </p:nvSpPr>
        <p:spPr>
          <a:xfrm>
            <a:off x="628184" y="2991788"/>
            <a:ext cx="1435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impacts</a:t>
            </a:r>
            <a:endParaRPr lang="en-CA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7819951" y="2620214"/>
            <a:ext cx="1435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has</a:t>
            </a:r>
            <a:endParaRPr lang="en-CA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8479416" y="2796284"/>
            <a:ext cx="1435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uses</a:t>
            </a:r>
            <a:endParaRPr lang="en-CA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4418891" y="5688230"/>
            <a:ext cx="1435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triggers</a:t>
            </a:r>
            <a:endParaRPr lang="en-CA" sz="1600" dirty="0"/>
          </a:p>
        </p:txBody>
      </p:sp>
      <p:sp>
        <p:nvSpPr>
          <p:cNvPr id="32" name="TextBox 31"/>
          <p:cNvSpPr txBox="1"/>
          <p:nvPr/>
        </p:nvSpPr>
        <p:spPr>
          <a:xfrm>
            <a:off x="7576851" y="5354311"/>
            <a:ext cx="1435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participates</a:t>
            </a:r>
            <a:endParaRPr lang="en-CA" sz="1600" dirty="0"/>
          </a:p>
        </p:txBody>
      </p:sp>
      <p:sp>
        <p:nvSpPr>
          <p:cNvPr id="33" name="TextBox 32"/>
          <p:cNvSpPr txBox="1"/>
          <p:nvPr/>
        </p:nvSpPr>
        <p:spPr>
          <a:xfrm>
            <a:off x="5702536" y="4070518"/>
            <a:ext cx="1721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decomposes into</a:t>
            </a:r>
            <a:endParaRPr lang="en-CA" sz="1600" dirty="0"/>
          </a:p>
        </p:txBody>
      </p:sp>
      <p:sp>
        <p:nvSpPr>
          <p:cNvPr id="34" name="TextBox 33"/>
          <p:cNvSpPr txBox="1"/>
          <p:nvPr/>
        </p:nvSpPr>
        <p:spPr>
          <a:xfrm>
            <a:off x="8610600" y="4005997"/>
            <a:ext cx="1435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enabled by</a:t>
            </a:r>
            <a:endParaRPr lang="en-CA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2462592" y="4054382"/>
            <a:ext cx="1435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impacts</a:t>
            </a:r>
            <a:endParaRPr lang="en-CA"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5389029" y="2811468"/>
            <a:ext cx="1435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impacts</a:t>
            </a:r>
            <a:endParaRPr lang="en-CA" sz="1600" dirty="0"/>
          </a:p>
        </p:txBody>
      </p:sp>
      <p:cxnSp>
        <p:nvCxnSpPr>
          <p:cNvPr id="37" name="Curved Connector 36"/>
          <p:cNvCxnSpPr>
            <a:stCxn id="10" idx="3"/>
            <a:endCxn id="8" idx="0"/>
          </p:cNvCxnSpPr>
          <p:nvPr/>
        </p:nvCxnSpPr>
        <p:spPr>
          <a:xfrm>
            <a:off x="8313273" y="2215177"/>
            <a:ext cx="2445778" cy="788554"/>
          </a:xfrm>
          <a:prstGeom prst="curved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356845" y="1943194"/>
            <a:ext cx="1435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owned by</a:t>
            </a:r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2323440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84150"/>
            <a:ext cx="9505950" cy="530225"/>
          </a:xfrm>
        </p:spPr>
        <p:txBody>
          <a:bodyPr>
            <a:normAutofit fontScale="90000"/>
          </a:bodyPr>
          <a:lstStyle/>
          <a:p>
            <a:r>
              <a:rPr lang="en-CA" dirty="0" smtClean="0"/>
              <a:t>BA Domains &amp; Requirements Relationships</a:t>
            </a:r>
            <a:endParaRPr lang="en-CA" i="1" dirty="0"/>
          </a:p>
        </p:txBody>
      </p:sp>
      <p:sp>
        <p:nvSpPr>
          <p:cNvPr id="5" name="Oval 4"/>
          <p:cNvSpPr/>
          <p:nvPr/>
        </p:nvSpPr>
        <p:spPr>
          <a:xfrm>
            <a:off x="4861455" y="3268953"/>
            <a:ext cx="1916311" cy="727787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A" dirty="0" smtClean="0">
                <a:solidFill>
                  <a:schemeClr val="bg1"/>
                </a:solidFill>
              </a:rPr>
              <a:t>Requirements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52823" y="1544176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Business Capability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1777" y="1544176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Information Concept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1777" y="3318521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Value Stream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438346" y="3318521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Organization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852823" y="5225769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Product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5" idx="0"/>
            <a:endCxn id="6" idx="2"/>
          </p:cNvCxnSpPr>
          <p:nvPr/>
        </p:nvCxnSpPr>
        <p:spPr>
          <a:xfrm flipV="1">
            <a:off x="5819611" y="2172826"/>
            <a:ext cx="0" cy="1096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1"/>
            <a:endCxn id="7" idx="3"/>
          </p:cNvCxnSpPr>
          <p:nvPr/>
        </p:nvCxnSpPr>
        <p:spPr>
          <a:xfrm flipH="1">
            <a:off x="2515352" y="1858501"/>
            <a:ext cx="23374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2"/>
            <a:endCxn id="8" idx="3"/>
          </p:cNvCxnSpPr>
          <p:nvPr/>
        </p:nvCxnSpPr>
        <p:spPr>
          <a:xfrm flipH="1" flipV="1">
            <a:off x="2515352" y="3632846"/>
            <a:ext cx="234610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4"/>
            <a:endCxn id="10" idx="0"/>
          </p:cNvCxnSpPr>
          <p:nvPr/>
        </p:nvCxnSpPr>
        <p:spPr>
          <a:xfrm>
            <a:off x="5819611" y="3996740"/>
            <a:ext cx="0" cy="1229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6"/>
            <a:endCxn id="9" idx="1"/>
          </p:cNvCxnSpPr>
          <p:nvPr/>
        </p:nvCxnSpPr>
        <p:spPr>
          <a:xfrm flipV="1">
            <a:off x="6777766" y="3632846"/>
            <a:ext cx="266058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75826" y="3361611"/>
            <a:ext cx="2156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 smtClean="0"/>
              <a:t>what is needed to improve stakeholder value delivery</a:t>
            </a:r>
            <a:endParaRPr lang="en-CA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5831808" y="4293690"/>
            <a:ext cx="2156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 smtClean="0"/>
              <a:t>what is needed through the evolution of a product</a:t>
            </a:r>
            <a:endParaRPr lang="en-CA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2589197" y="1365885"/>
            <a:ext cx="22429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 smtClean="0"/>
              <a:t>what information is needed to build, improve, and/or enhance a capability</a:t>
            </a:r>
            <a:endParaRPr lang="en-CA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6861455" y="3360385"/>
            <a:ext cx="2330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 smtClean="0"/>
              <a:t>what is needed to enable an organization &amp; its people</a:t>
            </a:r>
            <a:endParaRPr lang="en-CA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5865114" y="2444688"/>
            <a:ext cx="2672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 smtClean="0"/>
              <a:t>what is needed to build, improve, and/or enhance a capability</a:t>
            </a: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3273291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70892" y="3081252"/>
            <a:ext cx="1099515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enabled by</a:t>
            </a:r>
            <a:endParaRPr lang="en-CA" sz="16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184150"/>
            <a:ext cx="9505950" cy="530225"/>
          </a:xfrm>
        </p:spPr>
        <p:txBody>
          <a:bodyPr>
            <a:normAutofit fontScale="90000"/>
          </a:bodyPr>
          <a:lstStyle/>
          <a:p>
            <a:r>
              <a:rPr lang="en-CA" dirty="0" smtClean="0"/>
              <a:t>BA Domains &amp; Application Relationships</a:t>
            </a:r>
            <a:endParaRPr lang="en-US" i="1" dirty="0"/>
          </a:p>
        </p:txBody>
      </p:sp>
      <p:sp>
        <p:nvSpPr>
          <p:cNvPr id="6" name="Rectangle 5"/>
          <p:cNvSpPr/>
          <p:nvPr/>
        </p:nvSpPr>
        <p:spPr>
          <a:xfrm>
            <a:off x="7322587" y="3121086"/>
            <a:ext cx="1933575" cy="6286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Application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85885" y="3121086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Business Capability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>
            <a:stCxn id="6" idx="1"/>
            <a:endCxn id="7" idx="3"/>
          </p:cNvCxnSpPr>
          <p:nvPr/>
        </p:nvCxnSpPr>
        <p:spPr>
          <a:xfrm flipH="1">
            <a:off x="6119460" y="3435411"/>
            <a:ext cx="12031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17686" y="3063624"/>
            <a:ext cx="1073945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automates</a:t>
            </a:r>
            <a:endParaRPr lang="en-CA" sz="1600" dirty="0"/>
          </a:p>
        </p:txBody>
      </p:sp>
      <p:cxnSp>
        <p:nvCxnSpPr>
          <p:cNvPr id="10" name="Elbow Connector 9"/>
          <p:cNvCxnSpPr>
            <a:stCxn id="6" idx="3"/>
            <a:endCxn id="6" idx="2"/>
          </p:cNvCxnSpPr>
          <p:nvPr/>
        </p:nvCxnSpPr>
        <p:spPr>
          <a:xfrm flipH="1">
            <a:off x="8289375" y="3435411"/>
            <a:ext cx="966787" cy="314325"/>
          </a:xfrm>
          <a:prstGeom prst="bentConnector4">
            <a:avLst>
              <a:gd name="adj1" fmla="val -84729"/>
              <a:gd name="adj2" fmla="val 30909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358553" y="3837072"/>
            <a:ext cx="1652590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interfaces with</a:t>
            </a:r>
          </a:p>
        </p:txBody>
      </p:sp>
      <p:cxnSp>
        <p:nvCxnSpPr>
          <p:cNvPr id="12" name="Elbow Connector 11"/>
          <p:cNvCxnSpPr>
            <a:stCxn id="6" idx="3"/>
            <a:endCxn id="6" idx="0"/>
          </p:cNvCxnSpPr>
          <p:nvPr/>
        </p:nvCxnSpPr>
        <p:spPr>
          <a:xfrm flipH="1" flipV="1">
            <a:off x="8289375" y="3121086"/>
            <a:ext cx="966787" cy="314325"/>
          </a:xfrm>
          <a:prstGeom prst="bentConnector4">
            <a:avLst>
              <a:gd name="adj1" fmla="val -85412"/>
              <a:gd name="adj2" fmla="val 32115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256162" y="2637484"/>
            <a:ext cx="1652590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supports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5885" y="4819258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Business Unit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>
            <a:stCxn id="7" idx="2"/>
            <a:endCxn id="14" idx="0"/>
          </p:cNvCxnSpPr>
          <p:nvPr/>
        </p:nvCxnSpPr>
        <p:spPr>
          <a:xfrm>
            <a:off x="5152673" y="3749736"/>
            <a:ext cx="0" cy="1069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31720" y="4061548"/>
            <a:ext cx="1243926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</a:t>
            </a:r>
            <a:r>
              <a:rPr lang="en-US" sz="1600" dirty="0" smtClean="0"/>
              <a:t>elivered by</a:t>
            </a:r>
            <a:endParaRPr lang="en-CA" sz="1600" dirty="0"/>
          </a:p>
        </p:txBody>
      </p:sp>
      <p:sp>
        <p:nvSpPr>
          <p:cNvPr id="17" name="Rectangle 16"/>
          <p:cNvSpPr/>
          <p:nvPr/>
        </p:nvSpPr>
        <p:spPr>
          <a:xfrm>
            <a:off x="6721023" y="5488153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Subsystem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>
            <a:stCxn id="6" idx="2"/>
            <a:endCxn id="17" idx="0"/>
          </p:cNvCxnSpPr>
          <p:nvPr/>
        </p:nvCxnSpPr>
        <p:spPr>
          <a:xfrm flipH="1">
            <a:off x="7687811" y="3749736"/>
            <a:ext cx="601564" cy="17384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04396" y="4690226"/>
            <a:ext cx="1768394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decomposes into</a:t>
            </a:r>
            <a:endParaRPr lang="en-CA" sz="1600" dirty="0"/>
          </a:p>
        </p:txBody>
      </p:sp>
      <p:sp>
        <p:nvSpPr>
          <p:cNvPr id="20" name="Rectangle 19"/>
          <p:cNvSpPr/>
          <p:nvPr/>
        </p:nvSpPr>
        <p:spPr>
          <a:xfrm>
            <a:off x="1106362" y="3121086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Value Stage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>
            <a:stCxn id="7" idx="1"/>
            <a:endCxn id="20" idx="3"/>
          </p:cNvCxnSpPr>
          <p:nvPr/>
        </p:nvCxnSpPr>
        <p:spPr>
          <a:xfrm flipH="1">
            <a:off x="3039937" y="3435411"/>
            <a:ext cx="11459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106362" y="1503970"/>
            <a:ext cx="1933575" cy="6286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Value Stream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>
            <a:stCxn id="22" idx="2"/>
            <a:endCxn id="20" idx="0"/>
          </p:cNvCxnSpPr>
          <p:nvPr/>
        </p:nvCxnSpPr>
        <p:spPr>
          <a:xfrm>
            <a:off x="2073150" y="2132620"/>
            <a:ext cx="0" cy="988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88952" y="2427552"/>
            <a:ext cx="1768394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decomposes into</a:t>
            </a:r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178856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357</Words>
  <Application>Microsoft Macintosh PowerPoint</Application>
  <PresentationFormat>Widescreen</PresentationFormat>
  <Paragraphs>174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Business Architecture Metamodels</vt:lpstr>
      <vt:lpstr>PowerPoint Presentation</vt:lpstr>
      <vt:lpstr>Business Unit/Organization Metamodel</vt:lpstr>
      <vt:lpstr>Value Streams Metamodel</vt:lpstr>
      <vt:lpstr>Information Concept Metamodel</vt:lpstr>
      <vt:lpstr>Strategy Metamodel</vt:lpstr>
      <vt:lpstr>Initiative Metamodel</vt:lpstr>
      <vt:lpstr>Product Metamodel</vt:lpstr>
      <vt:lpstr>Stakeholder Metamodel</vt:lpstr>
      <vt:lpstr>Business Architecture Metamodel</vt:lpstr>
      <vt:lpstr>BA Domains &amp; Requirements Relationships</vt:lpstr>
      <vt:lpstr>BA Domains &amp; Application Relationships</vt:lpstr>
    </vt:vector>
  </TitlesOfParts>
  <Company>Alberta Gaming &amp; Liquor Commission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Architecture Metamodels</dc:title>
  <dc:creator>Navid Kheradmand</dc:creator>
  <cp:lastModifiedBy>Jeffrey Wallk</cp:lastModifiedBy>
  <cp:revision>3</cp:revision>
  <dcterms:created xsi:type="dcterms:W3CDTF">2016-05-06T14:49:43Z</dcterms:created>
  <dcterms:modified xsi:type="dcterms:W3CDTF">2016-05-06T18:10:00Z</dcterms:modified>
</cp:coreProperties>
</file>
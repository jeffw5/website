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Default Extension="png" ContentType="image/pn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2192000" cy="6858000"/>
  <p:notesSz cx="12192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8739" y="-56896"/>
            <a:ext cx="11151870" cy="696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03784" y="1100073"/>
            <a:ext cx="8155305" cy="43853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hyperlink" Target="mailto:schindel@ictt.com" TargetMode="External"/><Relationship Id="rId4" Type="http://schemas.openxmlformats.org/officeDocument/2006/relationships/image" Target="../media/image2.jpg"/><Relationship Id="rId5" Type="http://schemas.openxmlformats.org/officeDocument/2006/relationships/hyperlink" Target="https://www.etymonline.com/word/round%20robin" TargetMode="External"/><Relationship Id="rId6" Type="http://schemas.openxmlformats.org/officeDocument/2006/relationships/hyperlink" Target="https://en.wikipedia.org/wiki/Round-robin_(document)" TargetMode="External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jp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g"/><Relationship Id="rId3" Type="http://schemas.openxmlformats.org/officeDocument/2006/relationships/image" Target="../media/image10.pn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jpg"/><Relationship Id="rId3" Type="http://schemas.openxmlformats.org/officeDocument/2006/relationships/image" Target="../media/image12.jpg"/><Relationship Id="rId4" Type="http://schemas.openxmlformats.org/officeDocument/2006/relationships/hyperlink" Target="http://www.omgwiki.org/MBSE/lib/exe/fetch.php?media=mbse%3Apatterns%3Ais2016_intro_to_the_aselcm_pattern_v1.4.8.pdf" TargetMode="External"/><Relationship Id="rId5" Type="http://schemas.openxmlformats.org/officeDocument/2006/relationships/hyperlink" Target="http://www.omgwiki.org/MBSE/lib/exe/fetch.php?media=mbse%3Apatterns%3Aaselcm_pattern_--_consistency_management_as_a_digital_life_cycle_management_paradigm_v1.2.2.pdf" TargetMode="External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jpg"/><Relationship Id="rId3" Type="http://schemas.openxmlformats.org/officeDocument/2006/relationships/hyperlink" Target="http://www.omgwiki.org/MBSE/lib/exe/fetch.php?media=mbse%3Apatterns%3Amodel_characterization_pattern_mcp_v1.9.3.pdf" TargetMode="External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../media/image15.jpg"/><Relationship Id="rId4" Type="http://schemas.openxmlformats.org/officeDocument/2006/relationships/hyperlink" Target="http://www.omgwiki.org/MBSE/lib/exe/fetch.php?media=mbse%3Apatterns%3Apbse_extension_of_mbse--methodology_summary_v1.6.1.pdf" TargetMode="External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hyperlink" Target="http://www.omgwiki.org/MBSE/lib/exe/fetch.php?media=mbse%3Apatterns%3Ascience_math_foundations_for_systems_and_systems_engineering--1_hr_awareness_v2.3.2a.pdf" TargetMode="External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jpg"/><Relationship Id="rId3" Type="http://schemas.openxmlformats.org/officeDocument/2006/relationships/hyperlink" Target="http://www.omgwiki.org/MBSE/lib/exe/fetch.php?media=mbse%3Apatterns%3Aincose_patterns_wg_st4se_project_tpp_v2.0_signed.pdf" TargetMode="External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3" Type="http://schemas.openxmlformats.org/officeDocument/2006/relationships/hyperlink" Target="mailto:schindel@ictt.com" TargetMode="External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ww.omgwiki.org/MBSE/lib/exe/fetch.php?media=mbse%3Apatterns%3Ascience_math_foundations_for_systems_and_systems_engineering--1_hr_awareness_v2.3.2a.pdf" TargetMode="External"/><Relationship Id="rId3" Type="http://schemas.openxmlformats.org/officeDocument/2006/relationships/hyperlink" Target="http://www.omgwiki.org/MBSE/lib/exe/fetch.php?media=mbse%3Apatterns%3Amodel_characterization_pattern_mcp_v1.9.3.pdf" TargetMode="External"/><Relationship Id="rId4" Type="http://schemas.openxmlformats.org/officeDocument/2006/relationships/hyperlink" Target="http://www.omgwiki.org/MBSE/lib/exe/fetch.php?media=mbse%3Apatterns%3Ais2016_intro_to_the_aselcm_pattern_v1.4.8.pdf" TargetMode="External"/><Relationship Id="rId5" Type="http://schemas.openxmlformats.org/officeDocument/2006/relationships/hyperlink" Target="http://www.omgwiki.org/MBSE/lib/exe/fetch.php?media=mbse%3Apatterns%3Aaselcm_pattern_--_consistency_management_as_a_digital_life_cycle_management_paradigm_v1.2.2.pdf" TargetMode="External"/><Relationship Id="rId6" Type="http://schemas.openxmlformats.org/officeDocument/2006/relationships/hyperlink" Target="http://www.omgwiki.org/MBSE/lib/exe/fetch.php?media=mbse%3Apatterns%3Aincose_patterns_wg_st4se_project_tpp_v2.0_signed.pdf" TargetMode="External"/><Relationship Id="rId7" Type="http://schemas.openxmlformats.org/officeDocument/2006/relationships/hyperlink" Target="http://www.omgwiki.org/MBSE/lib/exe/fetch.php?media=mbse%3Apatterns%3Apbse_extension_of_mbse--methodology_summary_v1.6.1.pdf" TargetMode="External"/><Relationship Id="rId8" Type="http://schemas.openxmlformats.org/officeDocument/2006/relationships/hyperlink" Target="http://www.omgwiki.org/MBSE/lib/exe/fetch.php?media=mbse%3Apatterns%3Awhat_is_the_smallest_model_of_a_system_v1.4.4.pdf" TargetMode="External"/><Relationship Id="rId9" Type="http://schemas.openxmlformats.org/officeDocument/2006/relationships/hyperlink" Target="http://www.omgwiki.org/MBSE/doku.php?id=mbse%3Apatterns%3Apatterns" TargetMode="External"/><Relationship Id="rId10" Type="http://schemas.openxmlformats.org/officeDocument/2006/relationships/hyperlink" Target="https://www.incose.org/incose-member-resources/working-groups/transformational/mbse-patterns" TargetMode="Externa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62909" y="2556509"/>
            <a:ext cx="8383270" cy="848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400" spc="-695">
                <a:latin typeface="Arial"/>
                <a:cs typeface="Arial"/>
              </a:rPr>
              <a:t>MBSE </a:t>
            </a:r>
            <a:r>
              <a:rPr dirty="0" sz="5400" spc="-270">
                <a:latin typeface="Arial"/>
                <a:cs typeface="Arial"/>
              </a:rPr>
              <a:t>Patterns </a:t>
            </a:r>
            <a:r>
              <a:rPr dirty="0" sz="5400" spc="-254">
                <a:latin typeface="Arial"/>
                <a:cs typeface="Arial"/>
              </a:rPr>
              <a:t>Working</a:t>
            </a:r>
            <a:r>
              <a:rPr dirty="0" sz="5400" spc="-740">
                <a:latin typeface="Arial"/>
                <a:cs typeface="Arial"/>
              </a:rPr>
              <a:t> </a:t>
            </a:r>
            <a:r>
              <a:rPr dirty="0" sz="5400" spc="-295">
                <a:latin typeface="Arial"/>
                <a:cs typeface="Arial"/>
              </a:rPr>
              <a:t>Group</a:t>
            </a:r>
            <a:endParaRPr sz="5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445253" y="3842740"/>
            <a:ext cx="6420485" cy="1156335"/>
          </a:xfrm>
          <a:prstGeom prst="rect">
            <a:avLst/>
          </a:prstGeom>
        </p:spPr>
        <p:txBody>
          <a:bodyPr wrap="square" lIns="0" tIns="90170" rIns="0" bIns="0" rtlCol="0" vert="horz">
            <a:spAutoFit/>
          </a:bodyPr>
          <a:lstStyle/>
          <a:p>
            <a:pPr marL="22860">
              <a:lnSpc>
                <a:spcPct val="100000"/>
              </a:lnSpc>
              <a:spcBef>
                <a:spcPts val="710"/>
              </a:spcBef>
            </a:pPr>
            <a:r>
              <a:rPr dirty="0" sz="3200" spc="-5">
                <a:latin typeface="Carlito"/>
                <a:cs typeface="Carlito"/>
              </a:rPr>
              <a:t>IW2021 </a:t>
            </a:r>
            <a:r>
              <a:rPr dirty="0" sz="3200">
                <a:latin typeface="Carlito"/>
                <a:cs typeface="Carlito"/>
              </a:rPr>
              <a:t>MBSE </a:t>
            </a:r>
            <a:r>
              <a:rPr dirty="0" sz="3200" spc="-20">
                <a:latin typeface="Carlito"/>
                <a:cs typeface="Carlito"/>
              </a:rPr>
              <a:t>Workshop, </a:t>
            </a:r>
            <a:r>
              <a:rPr dirty="0" sz="3200">
                <a:latin typeface="Carlito"/>
                <a:cs typeface="Carlito"/>
              </a:rPr>
              <a:t>30 Jan </a:t>
            </a:r>
            <a:r>
              <a:rPr dirty="0" sz="3200" spc="-5">
                <a:latin typeface="Carlito"/>
                <a:cs typeface="Carlito"/>
              </a:rPr>
              <a:t>2021:</a:t>
            </a:r>
            <a:endParaRPr sz="32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dirty="0" sz="3200" spc="-125">
                <a:latin typeface="Arial"/>
                <a:cs typeface="Arial"/>
              </a:rPr>
              <a:t>Working </a:t>
            </a:r>
            <a:r>
              <a:rPr dirty="0" sz="3200" spc="-190">
                <a:latin typeface="Arial"/>
                <a:cs typeface="Arial"/>
              </a:rPr>
              <a:t>Groups </a:t>
            </a:r>
            <a:r>
              <a:rPr dirty="0" sz="3200" spc="5">
                <a:latin typeface="Arial"/>
                <a:cs typeface="Arial"/>
              </a:rPr>
              <a:t>‘</a:t>
            </a:r>
            <a:r>
              <a:rPr dirty="0" sz="3200" spc="5">
                <a:solidFill>
                  <a:srgbClr val="FF0000"/>
                </a:solidFill>
                <a:latin typeface="Carlito"/>
                <a:cs typeface="Carlito"/>
              </a:rPr>
              <a:t>Round </a:t>
            </a:r>
            <a:r>
              <a:rPr dirty="0" sz="3200">
                <a:solidFill>
                  <a:srgbClr val="FF0000"/>
                </a:solidFill>
                <a:latin typeface="Carlito"/>
                <a:cs typeface="Carlito"/>
              </a:rPr>
              <a:t>Robin</a:t>
            </a:r>
            <a:r>
              <a:rPr dirty="0" sz="3200">
                <a:latin typeface="Arial"/>
                <a:cs typeface="Arial"/>
              </a:rPr>
              <a:t>’</a:t>
            </a:r>
            <a:r>
              <a:rPr dirty="0" sz="3200" spc="-220">
                <a:latin typeface="Arial"/>
                <a:cs typeface="Arial"/>
              </a:rPr>
              <a:t> </a:t>
            </a:r>
            <a:r>
              <a:rPr dirty="0" sz="3200" spc="-250">
                <a:latin typeface="Arial"/>
                <a:cs typeface="Arial"/>
              </a:rPr>
              <a:t>Session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8003" y="164084"/>
            <a:ext cx="4740666" cy="15946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0367009" y="17780"/>
            <a:ext cx="1748155" cy="574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5715">
              <a:lnSpc>
                <a:spcPct val="100000"/>
              </a:lnSpc>
              <a:spcBef>
                <a:spcPts val="100"/>
              </a:spcBef>
            </a:pPr>
            <a:r>
              <a:rPr dirty="0" u="heavy" sz="1800" spc="-5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rlito"/>
                <a:cs typeface="Carlito"/>
                <a:hlinkClick r:id="rId3"/>
              </a:rPr>
              <a:t>schind</a:t>
            </a:r>
            <a:r>
              <a:rPr dirty="0" u="heavy" sz="180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rlito"/>
                <a:cs typeface="Carlito"/>
                <a:hlinkClick r:id="rId3"/>
              </a:rPr>
              <a:t>e</a:t>
            </a:r>
            <a:r>
              <a:rPr dirty="0" u="heavy" sz="1800" spc="-5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rlito"/>
                <a:cs typeface="Carlito"/>
                <a:hlinkClick r:id="rId3"/>
              </a:rPr>
              <a:t>l@</a:t>
            </a:r>
            <a:r>
              <a:rPr dirty="0" u="heavy" sz="18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rlito"/>
                <a:cs typeface="Carlito"/>
                <a:hlinkClick r:id="rId3"/>
              </a:rPr>
              <a:t>ic</a:t>
            </a:r>
            <a:r>
              <a:rPr dirty="0" u="heavy" sz="1800" spc="-3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rlito"/>
                <a:cs typeface="Carlito"/>
                <a:hlinkClick r:id="rId3"/>
              </a:rPr>
              <a:t>t</a:t>
            </a:r>
            <a:r>
              <a:rPr dirty="0" u="heavy" sz="180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rlito"/>
                <a:cs typeface="Carlito"/>
                <a:hlinkClick r:id="rId3"/>
              </a:rPr>
              <a:t>t.</a:t>
            </a:r>
            <a:r>
              <a:rPr dirty="0" u="heavy" sz="1800" spc="-2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rlito"/>
                <a:cs typeface="Carlito"/>
                <a:hlinkClick r:id="rId3"/>
              </a:rPr>
              <a:t>c</a:t>
            </a:r>
            <a:r>
              <a:rPr dirty="0" u="heavy" sz="1800" spc="-5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rlito"/>
                <a:cs typeface="Carlito"/>
                <a:hlinkClick r:id="rId3"/>
              </a:rPr>
              <a:t>om</a:t>
            </a:r>
            <a:endParaRPr sz="1800">
              <a:latin typeface="Carlito"/>
              <a:cs typeface="Carlito"/>
            </a:endParaRPr>
          </a:p>
          <a:p>
            <a:pPr algn="r" marR="5080">
              <a:lnSpc>
                <a:spcPct val="100000"/>
              </a:lnSpc>
            </a:pPr>
            <a:r>
              <a:rPr dirty="0" sz="1800" spc="-5">
                <a:latin typeface="Carlito"/>
                <a:cs typeface="Carlito"/>
              </a:rPr>
              <a:t>V1.2.1</a:t>
            </a:r>
            <a:endParaRPr sz="1800">
              <a:latin typeface="Carlito"/>
              <a:cs typeface="Carlito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0960" y="2435351"/>
            <a:ext cx="3066415" cy="3858895"/>
            <a:chOff x="60960" y="2435351"/>
            <a:chExt cx="3066415" cy="3858895"/>
          </a:xfrm>
        </p:grpSpPr>
        <p:sp>
          <p:nvSpPr>
            <p:cNvPr id="7" name="object 7"/>
            <p:cNvSpPr/>
            <p:nvPr/>
          </p:nvSpPr>
          <p:spPr>
            <a:xfrm>
              <a:off x="70104" y="2444495"/>
              <a:ext cx="3048000" cy="384047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65532" y="2439923"/>
              <a:ext cx="3057525" cy="3850004"/>
            </a:xfrm>
            <a:custGeom>
              <a:avLst/>
              <a:gdLst/>
              <a:ahLst/>
              <a:cxnLst/>
              <a:rect l="l" t="t" r="r" b="b"/>
              <a:pathLst>
                <a:path w="3057525" h="3850004">
                  <a:moveTo>
                    <a:pt x="0" y="3849624"/>
                  </a:moveTo>
                  <a:lnTo>
                    <a:pt x="3057144" y="3849624"/>
                  </a:lnTo>
                  <a:lnTo>
                    <a:pt x="3057144" y="0"/>
                  </a:lnTo>
                  <a:lnTo>
                    <a:pt x="0" y="0"/>
                  </a:lnTo>
                  <a:lnTo>
                    <a:pt x="0" y="3849624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78739" y="5639511"/>
            <a:ext cx="11665585" cy="11042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426460" marR="508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solidFill>
                  <a:srgbClr val="FF0000"/>
                </a:solidFill>
                <a:latin typeface="Carlito"/>
                <a:cs typeface="Carlito"/>
              </a:rPr>
              <a:t>Round robin </a:t>
            </a:r>
            <a:r>
              <a:rPr dirty="0" sz="1600" spc="-10">
                <a:latin typeface="Carlito"/>
                <a:cs typeface="Carlito"/>
              </a:rPr>
              <a:t>(n.): </a:t>
            </a:r>
            <a:r>
              <a:rPr dirty="0" sz="1600" spc="-5">
                <a:latin typeface="Carlito"/>
                <a:cs typeface="Carlito"/>
              </a:rPr>
              <a:t>"petition or </a:t>
            </a:r>
            <a:r>
              <a:rPr dirty="0" sz="1600" spc="-10">
                <a:latin typeface="Carlito"/>
                <a:cs typeface="Carlito"/>
              </a:rPr>
              <a:t>complaint </a:t>
            </a:r>
            <a:r>
              <a:rPr dirty="0" sz="1600" spc="-5">
                <a:latin typeface="Carlito"/>
                <a:cs typeface="Carlito"/>
              </a:rPr>
              <a:t>signed in a </a:t>
            </a:r>
            <a:r>
              <a:rPr dirty="0" sz="1600" spc="-10">
                <a:latin typeface="Carlito"/>
                <a:cs typeface="Carlito"/>
              </a:rPr>
              <a:t>circle to </a:t>
            </a:r>
            <a:r>
              <a:rPr dirty="0" sz="1600" spc="-5">
                <a:latin typeface="Carlito"/>
                <a:cs typeface="Carlito"/>
              </a:rPr>
              <a:t>disguise the </a:t>
            </a:r>
            <a:r>
              <a:rPr dirty="0" sz="1600" spc="-15">
                <a:latin typeface="Carlito"/>
                <a:cs typeface="Carlito"/>
              </a:rPr>
              <a:t>order </a:t>
            </a:r>
            <a:r>
              <a:rPr dirty="0" sz="1600" spc="-5">
                <a:latin typeface="Carlito"/>
                <a:cs typeface="Carlito"/>
              </a:rPr>
              <a:t>in which </a:t>
            </a:r>
            <a:r>
              <a:rPr dirty="0" sz="1600" spc="-10">
                <a:latin typeface="Carlito"/>
                <a:cs typeface="Carlito"/>
              </a:rPr>
              <a:t>names </a:t>
            </a:r>
            <a:r>
              <a:rPr dirty="0" sz="1600" spc="-15">
                <a:latin typeface="Carlito"/>
                <a:cs typeface="Carlito"/>
              </a:rPr>
              <a:t>were  </a:t>
            </a:r>
            <a:r>
              <a:rPr dirty="0" sz="1600" spc="-10">
                <a:latin typeface="Carlito"/>
                <a:cs typeface="Carlito"/>
              </a:rPr>
              <a:t>affixed </a:t>
            </a:r>
            <a:r>
              <a:rPr dirty="0" sz="1600" spc="-5">
                <a:latin typeface="Carlito"/>
                <a:cs typeface="Carlito"/>
              </a:rPr>
              <a:t>and </a:t>
            </a:r>
            <a:r>
              <a:rPr dirty="0" sz="1600" spc="-15">
                <a:latin typeface="Carlito"/>
                <a:cs typeface="Carlito"/>
              </a:rPr>
              <a:t>prevent </a:t>
            </a:r>
            <a:r>
              <a:rPr dirty="0" sz="1600" spc="-10">
                <a:latin typeface="Carlito"/>
                <a:cs typeface="Carlito"/>
              </a:rPr>
              <a:t>ringleaders </a:t>
            </a:r>
            <a:r>
              <a:rPr dirty="0" sz="1600" spc="-15">
                <a:latin typeface="Carlito"/>
                <a:cs typeface="Carlito"/>
              </a:rPr>
              <a:t>from </a:t>
            </a:r>
            <a:r>
              <a:rPr dirty="0" sz="1600" spc="-5">
                <a:latin typeface="Carlito"/>
                <a:cs typeface="Carlito"/>
              </a:rPr>
              <a:t>being identified," </a:t>
            </a:r>
            <a:r>
              <a:rPr dirty="0" sz="1600" spc="-10">
                <a:latin typeface="Carlito"/>
                <a:cs typeface="Carlito"/>
              </a:rPr>
              <a:t>1730, </a:t>
            </a:r>
            <a:r>
              <a:rPr dirty="0" sz="1600" spc="-5">
                <a:latin typeface="Carlito"/>
                <a:cs typeface="Carlito"/>
              </a:rPr>
              <a:t>originally in </a:t>
            </a:r>
            <a:r>
              <a:rPr dirty="0" sz="1600" spc="-15">
                <a:latin typeface="Carlito"/>
                <a:cs typeface="Carlito"/>
              </a:rPr>
              <a:t>reference </a:t>
            </a:r>
            <a:r>
              <a:rPr dirty="0" sz="1600" spc="-10">
                <a:latin typeface="Carlito"/>
                <a:cs typeface="Carlito"/>
              </a:rPr>
              <a:t>to sailors </a:t>
            </a:r>
            <a:r>
              <a:rPr dirty="0" sz="1600" spc="-5">
                <a:latin typeface="Carlito"/>
                <a:cs typeface="Carlito"/>
              </a:rPr>
              <a:t>and  </a:t>
            </a:r>
            <a:r>
              <a:rPr dirty="0" sz="1600" spc="-10">
                <a:latin typeface="Carlito"/>
                <a:cs typeface="Carlito"/>
              </a:rPr>
              <a:t>frequently </a:t>
            </a:r>
            <a:r>
              <a:rPr dirty="0" sz="1600" spc="-5">
                <a:latin typeface="Carlito"/>
                <a:cs typeface="Carlito"/>
              </a:rPr>
              <a:t>identified as a nautical </a:t>
            </a:r>
            <a:r>
              <a:rPr dirty="0" sz="1600" spc="-10">
                <a:latin typeface="Carlito"/>
                <a:cs typeface="Carlito"/>
              </a:rPr>
              <a:t>term.</a:t>
            </a:r>
            <a:r>
              <a:rPr dirty="0" sz="1600" spc="-20">
                <a:latin typeface="Carlito"/>
                <a:cs typeface="Carlito"/>
              </a:rPr>
              <a:t> </a:t>
            </a:r>
            <a:r>
              <a:rPr dirty="0" u="heavy" sz="16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rlito"/>
                <a:cs typeface="Carlito"/>
                <a:hlinkClick r:id="rId5"/>
              </a:rPr>
              <a:t>https://www.etymonline.com/word/round%20robin</a:t>
            </a:r>
            <a:endParaRPr sz="1600">
              <a:latin typeface="Carlito"/>
              <a:cs typeface="Carlito"/>
            </a:endParaRPr>
          </a:p>
          <a:p>
            <a:pPr marL="12700">
              <a:lnSpc>
                <a:spcPts val="1160"/>
              </a:lnSpc>
            </a:pPr>
            <a:r>
              <a:rPr dirty="0" sz="1200">
                <a:latin typeface="Carlito"/>
                <a:cs typeface="Carlito"/>
              </a:rPr>
              <a:t>Jessé de </a:t>
            </a:r>
            <a:r>
              <a:rPr dirty="0" sz="1200" spc="-5">
                <a:latin typeface="Carlito"/>
                <a:cs typeface="Carlito"/>
              </a:rPr>
              <a:t>Forest's Round Robin </a:t>
            </a:r>
            <a:r>
              <a:rPr dirty="0" sz="1200" spc="-10">
                <a:latin typeface="Carlito"/>
                <a:cs typeface="Carlito"/>
              </a:rPr>
              <a:t>from</a:t>
            </a:r>
            <a:r>
              <a:rPr dirty="0" sz="1200" spc="-45">
                <a:latin typeface="Carlito"/>
                <a:cs typeface="Carlito"/>
              </a:rPr>
              <a:t> </a:t>
            </a:r>
            <a:r>
              <a:rPr dirty="0" sz="1200">
                <a:latin typeface="Carlito"/>
                <a:cs typeface="Carlito"/>
              </a:rPr>
              <a:t>1621</a:t>
            </a:r>
            <a:endParaRPr sz="12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u="sng" sz="12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rlito"/>
                <a:cs typeface="Carlito"/>
                <a:hlinkClick r:id="rId6"/>
              </a:rPr>
              <a:t>https://en.wikipedia.org/wiki/Round-robin_(document)</a:t>
            </a:r>
            <a:endParaRPr sz="1200">
              <a:latin typeface="Carlito"/>
              <a:cs typeface="Carlit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550152" y="996696"/>
            <a:ext cx="3560445" cy="954405"/>
          </a:xfrm>
          <a:prstGeom prst="rect">
            <a:avLst/>
          </a:prstGeom>
          <a:solidFill>
            <a:srgbClr val="FAE4D5"/>
          </a:solidFill>
        </p:spPr>
        <p:txBody>
          <a:bodyPr wrap="square" lIns="0" tIns="22860" rIns="0" bIns="0" rtlCol="0" vert="horz">
            <a:spAutoFit/>
          </a:bodyPr>
          <a:lstStyle/>
          <a:p>
            <a:pPr marL="344170" marR="332740" indent="914400">
              <a:lnSpc>
                <a:spcPct val="100000"/>
              </a:lnSpc>
              <a:spcBef>
                <a:spcPts val="180"/>
              </a:spcBef>
            </a:pPr>
            <a:r>
              <a:rPr dirty="0" sz="2800" spc="-10" b="1">
                <a:latin typeface="Carlito"/>
                <a:cs typeface="Carlito"/>
              </a:rPr>
              <a:t>Call </a:t>
            </a:r>
            <a:r>
              <a:rPr dirty="0" sz="2800" spc="-20" b="1">
                <a:latin typeface="Carlito"/>
                <a:cs typeface="Carlito"/>
              </a:rPr>
              <a:t>for  </a:t>
            </a:r>
            <a:r>
              <a:rPr dirty="0" sz="2800" spc="-10" b="1">
                <a:latin typeface="Carlito"/>
                <a:cs typeface="Carlito"/>
              </a:rPr>
              <a:t>Project</a:t>
            </a:r>
            <a:r>
              <a:rPr dirty="0" sz="2800" spc="-50" b="1">
                <a:latin typeface="Carlito"/>
                <a:cs typeface="Carlito"/>
              </a:rPr>
              <a:t> </a:t>
            </a:r>
            <a:r>
              <a:rPr dirty="0" sz="2800" spc="-10" b="1">
                <a:latin typeface="Carlito"/>
                <a:cs typeface="Carlito"/>
              </a:rPr>
              <a:t>Participants</a:t>
            </a:r>
            <a:endParaRPr sz="28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360152" y="12191"/>
            <a:ext cx="1831847" cy="114604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10599419" y="3041959"/>
            <a:ext cx="1592580" cy="2331720"/>
            <a:chOff x="10599419" y="3041959"/>
            <a:chExt cx="1592580" cy="2331720"/>
          </a:xfrm>
        </p:grpSpPr>
        <p:sp>
          <p:nvSpPr>
            <p:cNvPr id="4" name="object 4"/>
            <p:cNvSpPr/>
            <p:nvPr/>
          </p:nvSpPr>
          <p:spPr>
            <a:xfrm>
              <a:off x="10599419" y="3121349"/>
              <a:ext cx="1592579" cy="225227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0599419" y="3041959"/>
              <a:ext cx="1592580" cy="2331720"/>
            </a:xfrm>
            <a:custGeom>
              <a:avLst/>
              <a:gdLst/>
              <a:ahLst/>
              <a:cxnLst/>
              <a:rect l="l" t="t" r="r" b="b"/>
              <a:pathLst>
                <a:path w="1592579" h="2331720">
                  <a:moveTo>
                    <a:pt x="1592579" y="0"/>
                  </a:moveTo>
                  <a:lnTo>
                    <a:pt x="0" y="0"/>
                  </a:lnTo>
                  <a:lnTo>
                    <a:pt x="0" y="2331664"/>
                  </a:lnTo>
                  <a:lnTo>
                    <a:pt x="720464" y="2331664"/>
                  </a:lnTo>
                  <a:lnTo>
                    <a:pt x="692551" y="2313922"/>
                  </a:lnTo>
                  <a:lnTo>
                    <a:pt x="661829" y="2284206"/>
                  </a:lnTo>
                  <a:lnTo>
                    <a:pt x="633712" y="2246163"/>
                  </a:lnTo>
                  <a:lnTo>
                    <a:pt x="608946" y="2200801"/>
                  </a:lnTo>
                  <a:lnTo>
                    <a:pt x="592554" y="2160386"/>
                  </a:lnTo>
                  <a:lnTo>
                    <a:pt x="445790" y="2160386"/>
                  </a:lnTo>
                  <a:lnTo>
                    <a:pt x="382628" y="2142033"/>
                  </a:lnTo>
                  <a:lnTo>
                    <a:pt x="324305" y="2090669"/>
                  </a:lnTo>
                  <a:lnTo>
                    <a:pt x="298183" y="2053133"/>
                  </a:lnTo>
                  <a:lnTo>
                    <a:pt x="274740" y="2007975"/>
                  </a:lnTo>
                  <a:lnTo>
                    <a:pt x="254465" y="1955406"/>
                  </a:lnTo>
                  <a:lnTo>
                    <a:pt x="241271" y="1909594"/>
                  </a:lnTo>
                  <a:lnTo>
                    <a:pt x="231025" y="1861351"/>
                  </a:lnTo>
                  <a:lnTo>
                    <a:pt x="223804" y="1811203"/>
                  </a:lnTo>
                  <a:lnTo>
                    <a:pt x="219683" y="1759679"/>
                  </a:lnTo>
                  <a:lnTo>
                    <a:pt x="218739" y="1707306"/>
                  </a:lnTo>
                  <a:lnTo>
                    <a:pt x="189504" y="1690273"/>
                  </a:lnTo>
                  <a:lnTo>
                    <a:pt x="138868" y="1632672"/>
                  </a:lnTo>
                  <a:lnTo>
                    <a:pt x="118058" y="1593878"/>
                  </a:lnTo>
                  <a:lnTo>
                    <a:pt x="100649" y="1549603"/>
                  </a:lnTo>
                  <a:lnTo>
                    <a:pt x="86937" y="1500734"/>
                  </a:lnTo>
                  <a:lnTo>
                    <a:pt x="77217" y="1448158"/>
                  </a:lnTo>
                  <a:lnTo>
                    <a:pt x="71785" y="1392760"/>
                  </a:lnTo>
                  <a:lnTo>
                    <a:pt x="70939" y="1335429"/>
                  </a:lnTo>
                  <a:lnTo>
                    <a:pt x="74973" y="1277049"/>
                  </a:lnTo>
                  <a:lnTo>
                    <a:pt x="82834" y="1225671"/>
                  </a:lnTo>
                  <a:lnTo>
                    <a:pt x="94470" y="1177353"/>
                  </a:lnTo>
                  <a:lnTo>
                    <a:pt x="109658" y="1132846"/>
                  </a:lnTo>
                  <a:lnTo>
                    <a:pt x="128176" y="1092900"/>
                  </a:lnTo>
                  <a:lnTo>
                    <a:pt x="116014" y="1042747"/>
                  </a:lnTo>
                  <a:lnTo>
                    <a:pt x="106902" y="991404"/>
                  </a:lnTo>
                  <a:lnTo>
                    <a:pt x="100775" y="939289"/>
                  </a:lnTo>
                  <a:lnTo>
                    <a:pt x="97566" y="886819"/>
                  </a:lnTo>
                  <a:lnTo>
                    <a:pt x="97211" y="834416"/>
                  </a:lnTo>
                  <a:lnTo>
                    <a:pt x="99642" y="782496"/>
                  </a:lnTo>
                  <a:lnTo>
                    <a:pt x="104794" y="731480"/>
                  </a:lnTo>
                  <a:lnTo>
                    <a:pt x="112602" y="681786"/>
                  </a:lnTo>
                  <a:lnTo>
                    <a:pt x="122999" y="633832"/>
                  </a:lnTo>
                  <a:lnTo>
                    <a:pt x="135921" y="588038"/>
                  </a:lnTo>
                  <a:lnTo>
                    <a:pt x="151299" y="544823"/>
                  </a:lnTo>
                  <a:lnTo>
                    <a:pt x="169070" y="504605"/>
                  </a:lnTo>
                  <a:lnTo>
                    <a:pt x="189168" y="467804"/>
                  </a:lnTo>
                  <a:lnTo>
                    <a:pt x="211525" y="434837"/>
                  </a:lnTo>
                  <a:lnTo>
                    <a:pt x="271676" y="375718"/>
                  </a:lnTo>
                  <a:lnTo>
                    <a:pt x="309007" y="355851"/>
                  </a:lnTo>
                  <a:lnTo>
                    <a:pt x="347448" y="346764"/>
                  </a:lnTo>
                  <a:lnTo>
                    <a:pt x="386901" y="346764"/>
                  </a:lnTo>
                  <a:lnTo>
                    <a:pt x="402844" y="288475"/>
                  </a:lnTo>
                  <a:lnTo>
                    <a:pt x="422610" y="233880"/>
                  </a:lnTo>
                  <a:lnTo>
                    <a:pt x="445323" y="185165"/>
                  </a:lnTo>
                  <a:lnTo>
                    <a:pt x="470633" y="142584"/>
                  </a:lnTo>
                  <a:lnTo>
                    <a:pt x="498192" y="106392"/>
                  </a:lnTo>
                  <a:lnTo>
                    <a:pt x="527653" y="76843"/>
                  </a:lnTo>
                  <a:lnTo>
                    <a:pt x="558667" y="54191"/>
                  </a:lnTo>
                  <a:lnTo>
                    <a:pt x="623962" y="30595"/>
                  </a:lnTo>
                  <a:lnTo>
                    <a:pt x="657546" y="30160"/>
                  </a:lnTo>
                  <a:lnTo>
                    <a:pt x="1592579" y="30160"/>
                  </a:lnTo>
                  <a:lnTo>
                    <a:pt x="1592579" y="0"/>
                  </a:lnTo>
                  <a:close/>
                </a:path>
                <a:path w="1592579" h="2331720">
                  <a:moveTo>
                    <a:pt x="979895" y="2129263"/>
                  </a:moveTo>
                  <a:lnTo>
                    <a:pt x="960176" y="2183555"/>
                  </a:lnTo>
                  <a:lnTo>
                    <a:pt x="937140" y="2230525"/>
                  </a:lnTo>
                  <a:lnTo>
                    <a:pt x="911279" y="2269933"/>
                  </a:lnTo>
                  <a:lnTo>
                    <a:pt x="883087" y="2301539"/>
                  </a:lnTo>
                  <a:lnTo>
                    <a:pt x="853056" y="2325104"/>
                  </a:lnTo>
                  <a:lnTo>
                    <a:pt x="839589" y="2331664"/>
                  </a:lnTo>
                  <a:lnTo>
                    <a:pt x="1592579" y="2331664"/>
                  </a:lnTo>
                  <a:lnTo>
                    <a:pt x="1592579" y="2218296"/>
                  </a:lnTo>
                  <a:lnTo>
                    <a:pt x="1133815" y="2218296"/>
                  </a:lnTo>
                  <a:lnTo>
                    <a:pt x="1093088" y="2212783"/>
                  </a:lnTo>
                  <a:lnTo>
                    <a:pt x="1053438" y="2195861"/>
                  </a:lnTo>
                  <a:lnTo>
                    <a:pt x="1015495" y="2167898"/>
                  </a:lnTo>
                  <a:lnTo>
                    <a:pt x="979895" y="2129263"/>
                  </a:lnTo>
                  <a:close/>
                </a:path>
                <a:path w="1592579" h="2331720">
                  <a:moveTo>
                    <a:pt x="1592579" y="84014"/>
                  </a:moveTo>
                  <a:lnTo>
                    <a:pt x="1090781" y="84014"/>
                  </a:lnTo>
                  <a:lnTo>
                    <a:pt x="1124567" y="85287"/>
                  </a:lnTo>
                  <a:lnTo>
                    <a:pt x="1158175" y="94275"/>
                  </a:lnTo>
                  <a:lnTo>
                    <a:pt x="1223346" y="135679"/>
                  </a:lnTo>
                  <a:lnTo>
                    <a:pt x="1254155" y="168239"/>
                  </a:lnTo>
                  <a:lnTo>
                    <a:pt x="1283277" y="208798"/>
                  </a:lnTo>
                  <a:lnTo>
                    <a:pt x="1304208" y="245390"/>
                  </a:lnTo>
                  <a:lnTo>
                    <a:pt x="1323073" y="285587"/>
                  </a:lnTo>
                  <a:lnTo>
                    <a:pt x="1339759" y="329063"/>
                  </a:lnTo>
                  <a:lnTo>
                    <a:pt x="1354157" y="375488"/>
                  </a:lnTo>
                  <a:lnTo>
                    <a:pt x="1366155" y="424535"/>
                  </a:lnTo>
                  <a:lnTo>
                    <a:pt x="1375642" y="475877"/>
                  </a:lnTo>
                  <a:lnTo>
                    <a:pt x="1405591" y="482584"/>
                  </a:lnTo>
                  <a:lnTo>
                    <a:pt x="1459339" y="524123"/>
                  </a:lnTo>
                  <a:lnTo>
                    <a:pt x="1482219" y="557089"/>
                  </a:lnTo>
                  <a:lnTo>
                    <a:pt x="1501822" y="596941"/>
                  </a:lnTo>
                  <a:lnTo>
                    <a:pt x="1517689" y="642747"/>
                  </a:lnTo>
                  <a:lnTo>
                    <a:pt x="1529361" y="693572"/>
                  </a:lnTo>
                  <a:lnTo>
                    <a:pt x="1536378" y="748483"/>
                  </a:lnTo>
                  <a:lnTo>
                    <a:pt x="1538280" y="806547"/>
                  </a:lnTo>
                  <a:lnTo>
                    <a:pt x="1535818" y="853995"/>
                  </a:lnTo>
                  <a:lnTo>
                    <a:pt x="1529791" y="899974"/>
                  </a:lnTo>
                  <a:lnTo>
                    <a:pt x="1520323" y="943752"/>
                  </a:lnTo>
                  <a:lnTo>
                    <a:pt x="1507536" y="984599"/>
                  </a:lnTo>
                  <a:lnTo>
                    <a:pt x="1527236" y="1025583"/>
                  </a:lnTo>
                  <a:lnTo>
                    <a:pt x="1543522" y="1070223"/>
                  </a:lnTo>
                  <a:lnTo>
                    <a:pt x="1556383" y="1117827"/>
                  </a:lnTo>
                  <a:lnTo>
                    <a:pt x="1565810" y="1167702"/>
                  </a:lnTo>
                  <a:lnTo>
                    <a:pt x="1571792" y="1219158"/>
                  </a:lnTo>
                  <a:lnTo>
                    <a:pt x="1574319" y="1271501"/>
                  </a:lnTo>
                  <a:lnTo>
                    <a:pt x="1573379" y="1324040"/>
                  </a:lnTo>
                  <a:lnTo>
                    <a:pt x="1568962" y="1376081"/>
                  </a:lnTo>
                  <a:lnTo>
                    <a:pt x="1561058" y="1426934"/>
                  </a:lnTo>
                  <a:lnTo>
                    <a:pt x="1549657" y="1475905"/>
                  </a:lnTo>
                  <a:lnTo>
                    <a:pt x="1534748" y="1522302"/>
                  </a:lnTo>
                  <a:lnTo>
                    <a:pt x="1516320" y="1565434"/>
                  </a:lnTo>
                  <a:lnTo>
                    <a:pt x="1493066" y="1606441"/>
                  </a:lnTo>
                  <a:lnTo>
                    <a:pt x="1467065" y="1640230"/>
                  </a:lnTo>
                  <a:lnTo>
                    <a:pt x="1438765" y="1666291"/>
                  </a:lnTo>
                  <a:lnTo>
                    <a:pt x="1408615" y="1684118"/>
                  </a:lnTo>
                  <a:lnTo>
                    <a:pt x="1406884" y="1746181"/>
                  </a:lnTo>
                  <a:lnTo>
                    <a:pt x="1401574" y="1806170"/>
                  </a:lnTo>
                  <a:lnTo>
                    <a:pt x="1392892" y="1863682"/>
                  </a:lnTo>
                  <a:lnTo>
                    <a:pt x="1381043" y="1918318"/>
                  </a:lnTo>
                  <a:lnTo>
                    <a:pt x="1366236" y="1969677"/>
                  </a:lnTo>
                  <a:lnTo>
                    <a:pt x="1348674" y="2017358"/>
                  </a:lnTo>
                  <a:lnTo>
                    <a:pt x="1328566" y="2060959"/>
                  </a:lnTo>
                  <a:lnTo>
                    <a:pt x="1306117" y="2100081"/>
                  </a:lnTo>
                  <a:lnTo>
                    <a:pt x="1281533" y="2134323"/>
                  </a:lnTo>
                  <a:lnTo>
                    <a:pt x="1255021" y="2163283"/>
                  </a:lnTo>
                  <a:lnTo>
                    <a:pt x="1197037" y="2203757"/>
                  </a:lnTo>
                  <a:lnTo>
                    <a:pt x="1133815" y="2218296"/>
                  </a:lnTo>
                  <a:lnTo>
                    <a:pt x="1592579" y="2218296"/>
                  </a:lnTo>
                  <a:lnTo>
                    <a:pt x="1592579" y="84014"/>
                  </a:lnTo>
                  <a:close/>
                </a:path>
                <a:path w="1592579" h="2331720">
                  <a:moveTo>
                    <a:pt x="570965" y="2091332"/>
                  </a:moveTo>
                  <a:lnTo>
                    <a:pt x="541039" y="2122341"/>
                  </a:lnTo>
                  <a:lnTo>
                    <a:pt x="509875" y="2144047"/>
                  </a:lnTo>
                  <a:lnTo>
                    <a:pt x="477962" y="2156658"/>
                  </a:lnTo>
                  <a:lnTo>
                    <a:pt x="445790" y="2160386"/>
                  </a:lnTo>
                  <a:lnTo>
                    <a:pt x="592554" y="2160386"/>
                  </a:lnTo>
                  <a:lnTo>
                    <a:pt x="587905" y="2148924"/>
                  </a:lnTo>
                  <a:lnTo>
                    <a:pt x="570965" y="2091332"/>
                  </a:lnTo>
                  <a:close/>
                </a:path>
                <a:path w="1592579" h="2331720">
                  <a:moveTo>
                    <a:pt x="386901" y="346764"/>
                  </a:moveTo>
                  <a:lnTo>
                    <a:pt x="347448" y="346764"/>
                  </a:lnTo>
                  <a:lnTo>
                    <a:pt x="386372" y="348697"/>
                  </a:lnTo>
                  <a:lnTo>
                    <a:pt x="386901" y="346764"/>
                  </a:lnTo>
                  <a:close/>
                </a:path>
                <a:path w="1592579" h="2331720">
                  <a:moveTo>
                    <a:pt x="1592579" y="30160"/>
                  </a:moveTo>
                  <a:lnTo>
                    <a:pt x="657546" y="30160"/>
                  </a:lnTo>
                  <a:lnTo>
                    <a:pt x="691289" y="37639"/>
                  </a:lnTo>
                  <a:lnTo>
                    <a:pt x="724845" y="53287"/>
                  </a:lnTo>
                  <a:lnTo>
                    <a:pt x="757865" y="77357"/>
                  </a:lnTo>
                  <a:lnTo>
                    <a:pt x="787376" y="107138"/>
                  </a:lnTo>
                  <a:lnTo>
                    <a:pt x="814698" y="143244"/>
                  </a:lnTo>
                  <a:lnTo>
                    <a:pt x="839575" y="185235"/>
                  </a:lnTo>
                  <a:lnTo>
                    <a:pt x="861752" y="232669"/>
                  </a:lnTo>
                  <a:lnTo>
                    <a:pt x="880974" y="285107"/>
                  </a:lnTo>
                  <a:lnTo>
                    <a:pt x="905446" y="234379"/>
                  </a:lnTo>
                  <a:lnTo>
                    <a:pt x="932380" y="190865"/>
                  </a:lnTo>
                  <a:lnTo>
                    <a:pt x="961400" y="154637"/>
                  </a:lnTo>
                  <a:lnTo>
                    <a:pt x="992126" y="125767"/>
                  </a:lnTo>
                  <a:lnTo>
                    <a:pt x="1024184" y="104325"/>
                  </a:lnTo>
                  <a:lnTo>
                    <a:pt x="1090781" y="84014"/>
                  </a:lnTo>
                  <a:lnTo>
                    <a:pt x="1592579" y="84014"/>
                  </a:lnTo>
                  <a:lnTo>
                    <a:pt x="1592579" y="3016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/>
          <p:nvPr/>
        </p:nvSpPr>
        <p:spPr>
          <a:xfrm>
            <a:off x="10765621" y="5658610"/>
            <a:ext cx="1208419" cy="112014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821307" y="44577"/>
            <a:ext cx="8156575" cy="1183640"/>
          </a:xfrm>
          <a:prstGeom prst="rect"/>
        </p:spPr>
        <p:txBody>
          <a:bodyPr wrap="square" lIns="0" tIns="81280" rIns="0" bIns="0" rtlCol="0" vert="horz">
            <a:spAutoFit/>
          </a:bodyPr>
          <a:lstStyle/>
          <a:p>
            <a:pPr marL="2995295" marR="5080" indent="-2983230">
              <a:lnSpc>
                <a:spcPts val="4320"/>
              </a:lnSpc>
              <a:spcBef>
                <a:spcPts val="640"/>
              </a:spcBef>
            </a:pPr>
            <a:r>
              <a:rPr dirty="0" sz="4000" spc="-350"/>
              <a:t>Focus </a:t>
            </a:r>
            <a:r>
              <a:rPr dirty="0" sz="4000" spc="-25"/>
              <a:t>of </a:t>
            </a:r>
            <a:r>
              <a:rPr dirty="0" sz="4000" spc="-515"/>
              <a:t>MBSE </a:t>
            </a:r>
            <a:r>
              <a:rPr dirty="0" sz="4000" spc="-210"/>
              <a:t>Patterns </a:t>
            </a:r>
            <a:r>
              <a:rPr dirty="0" sz="4000" spc="-185"/>
              <a:t>Working </a:t>
            </a:r>
            <a:r>
              <a:rPr dirty="0" sz="4000" spc="-195"/>
              <a:t>Group:  </a:t>
            </a:r>
            <a:r>
              <a:rPr dirty="0" sz="4000" spc="-210"/>
              <a:t>S*Patterns</a:t>
            </a:r>
            <a:endParaRPr sz="4000"/>
          </a:p>
        </p:txBody>
      </p:sp>
      <p:sp>
        <p:nvSpPr>
          <p:cNvPr id="8" name="object 8"/>
          <p:cNvSpPr txBox="1"/>
          <p:nvPr/>
        </p:nvSpPr>
        <p:spPr>
          <a:xfrm>
            <a:off x="300329" y="1630503"/>
            <a:ext cx="10723245" cy="5144135"/>
          </a:xfrm>
          <a:prstGeom prst="rect">
            <a:avLst/>
          </a:prstGeom>
        </p:spPr>
        <p:txBody>
          <a:bodyPr wrap="square" lIns="0" tIns="393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10"/>
              </a:spcBef>
            </a:pPr>
            <a:r>
              <a:rPr dirty="0" u="heavy" sz="2400" spc="-5" b="1" i="1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rlito"/>
                <a:cs typeface="Carlito"/>
              </a:rPr>
              <a:t>Configurable, </a:t>
            </a:r>
            <a:r>
              <a:rPr dirty="0" u="heavy" sz="2400" spc="-10" b="1" i="1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rlito"/>
                <a:cs typeface="Carlito"/>
              </a:rPr>
              <a:t>re-usable </a:t>
            </a:r>
            <a:r>
              <a:rPr dirty="0" u="heavy" sz="2400" spc="-20" b="1" i="1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rlito"/>
                <a:cs typeface="Carlito"/>
              </a:rPr>
              <a:t>system</a:t>
            </a:r>
            <a:r>
              <a:rPr dirty="0" u="heavy" sz="2400" spc="-5" b="1" i="1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rlito"/>
                <a:cs typeface="Carlito"/>
              </a:rPr>
              <a:t> </a:t>
            </a:r>
            <a:r>
              <a:rPr dirty="0" u="heavy" sz="2400" b="1" i="1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rlito"/>
                <a:cs typeface="Carlito"/>
              </a:rPr>
              <a:t>models</a:t>
            </a:r>
            <a:r>
              <a:rPr dirty="0" sz="2400" b="1">
                <a:solidFill>
                  <a:srgbClr val="44536A"/>
                </a:solidFill>
                <a:latin typeface="Carlito"/>
                <a:cs typeface="Carlito"/>
              </a:rPr>
              <a:t>:</a:t>
            </a:r>
            <a:endParaRPr sz="2400">
              <a:latin typeface="Carlito"/>
              <a:cs typeface="Carlito"/>
            </a:endParaRPr>
          </a:p>
          <a:p>
            <a:pPr marL="469900" indent="-346710">
              <a:lnSpc>
                <a:spcPts val="2735"/>
              </a:lnSpc>
              <a:spcBef>
                <a:spcPts val="219"/>
              </a:spcBef>
              <a:buAutoNum type="arabicPeriod"/>
              <a:tabLst>
                <a:tab pos="470534" algn="l"/>
                <a:tab pos="9625330" algn="l"/>
              </a:tabLst>
            </a:pPr>
            <a:r>
              <a:rPr dirty="0" sz="2400" spc="-5">
                <a:solidFill>
                  <a:srgbClr val="44536A"/>
                </a:solidFill>
                <a:latin typeface="Carlito"/>
                <a:cs typeface="Carlito"/>
              </a:rPr>
              <a:t>Models </a:t>
            </a:r>
            <a:r>
              <a:rPr dirty="0" sz="2400" spc="-10">
                <a:solidFill>
                  <a:srgbClr val="44536A"/>
                </a:solidFill>
                <a:latin typeface="Carlito"/>
                <a:cs typeface="Carlito"/>
              </a:rPr>
              <a:t>containing </a:t>
            </a:r>
            <a:r>
              <a:rPr dirty="0" sz="2400">
                <a:solidFill>
                  <a:srgbClr val="44536A"/>
                </a:solidFill>
                <a:latin typeface="Carlito"/>
                <a:cs typeface="Carlito"/>
              </a:rPr>
              <a:t>a </a:t>
            </a:r>
            <a:r>
              <a:rPr dirty="0" sz="2400" spc="-5">
                <a:solidFill>
                  <a:srgbClr val="44536A"/>
                </a:solidFill>
                <a:latin typeface="Carlito"/>
                <a:cs typeface="Carlito"/>
              </a:rPr>
              <a:t>certain </a:t>
            </a:r>
            <a:r>
              <a:rPr dirty="0" sz="2400">
                <a:solidFill>
                  <a:srgbClr val="44536A"/>
                </a:solidFill>
                <a:latin typeface="Carlito"/>
                <a:cs typeface="Carlito"/>
              </a:rPr>
              <a:t>minimal </a:t>
            </a:r>
            <a:r>
              <a:rPr dirty="0" sz="2400" spc="-10">
                <a:solidFill>
                  <a:srgbClr val="44536A"/>
                </a:solidFill>
                <a:latin typeface="Carlito"/>
                <a:cs typeface="Carlito"/>
              </a:rPr>
              <a:t>set </a:t>
            </a:r>
            <a:r>
              <a:rPr dirty="0" sz="2400" spc="-5">
                <a:solidFill>
                  <a:srgbClr val="44536A"/>
                </a:solidFill>
                <a:latin typeface="Carlito"/>
                <a:cs typeface="Carlito"/>
              </a:rPr>
              <a:t>of elements </a:t>
            </a:r>
            <a:r>
              <a:rPr dirty="0" sz="2400" spc="-15">
                <a:solidFill>
                  <a:srgbClr val="44536A"/>
                </a:solidFill>
                <a:latin typeface="Carlito"/>
                <a:cs typeface="Carlito"/>
              </a:rPr>
              <a:t>are</a:t>
            </a:r>
            <a:r>
              <a:rPr dirty="0" sz="2400" spc="30">
                <a:solidFill>
                  <a:srgbClr val="44536A"/>
                </a:solidFill>
                <a:latin typeface="Carlito"/>
                <a:cs typeface="Carlito"/>
              </a:rPr>
              <a:t> </a:t>
            </a:r>
            <a:r>
              <a:rPr dirty="0" sz="2400" spc="-5">
                <a:solidFill>
                  <a:srgbClr val="44536A"/>
                </a:solidFill>
                <a:latin typeface="Carlito"/>
                <a:cs typeface="Carlito"/>
              </a:rPr>
              <a:t>called</a:t>
            </a:r>
            <a:r>
              <a:rPr dirty="0" sz="2400" spc="20">
                <a:solidFill>
                  <a:srgbClr val="44536A"/>
                </a:solidFill>
                <a:latin typeface="Carlito"/>
                <a:cs typeface="Carlito"/>
              </a:rPr>
              <a:t> </a:t>
            </a:r>
            <a:r>
              <a:rPr dirty="0" u="heavy" sz="2400" spc="-5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rlito"/>
                <a:cs typeface="Carlito"/>
              </a:rPr>
              <a:t>S*Models</a:t>
            </a:r>
            <a:r>
              <a:rPr dirty="0" sz="2400" spc="-5">
                <a:solidFill>
                  <a:srgbClr val="44536A"/>
                </a:solidFill>
                <a:latin typeface="Carlito"/>
                <a:cs typeface="Carlito"/>
              </a:rPr>
              <a:t>	(S*</a:t>
            </a:r>
            <a:r>
              <a:rPr dirty="0" sz="2400" spc="-20">
                <a:solidFill>
                  <a:srgbClr val="44536A"/>
                </a:solidFill>
                <a:latin typeface="Carlito"/>
                <a:cs typeface="Carlito"/>
              </a:rPr>
              <a:t> </a:t>
            </a:r>
            <a:r>
              <a:rPr dirty="0" sz="2400">
                <a:solidFill>
                  <a:srgbClr val="44536A"/>
                </a:solidFill>
                <a:latin typeface="Carlito"/>
                <a:cs typeface="Carlito"/>
              </a:rPr>
              <a:t>is</a:t>
            </a:r>
            <a:endParaRPr sz="2400">
              <a:latin typeface="Carlito"/>
              <a:cs typeface="Carlito"/>
            </a:endParaRPr>
          </a:p>
          <a:p>
            <a:pPr marL="469900">
              <a:lnSpc>
                <a:spcPts val="2735"/>
              </a:lnSpc>
            </a:pPr>
            <a:r>
              <a:rPr dirty="0" sz="2400" spc="-50">
                <a:solidFill>
                  <a:srgbClr val="44536A"/>
                </a:solidFill>
                <a:latin typeface="Arial"/>
                <a:cs typeface="Arial"/>
              </a:rPr>
              <a:t>short </a:t>
            </a:r>
            <a:r>
              <a:rPr dirty="0" sz="2400" spc="-10">
                <a:solidFill>
                  <a:srgbClr val="44536A"/>
                </a:solidFill>
                <a:latin typeface="Arial"/>
                <a:cs typeface="Arial"/>
              </a:rPr>
              <a:t>for</a:t>
            </a:r>
            <a:r>
              <a:rPr dirty="0" sz="2400" spc="-210">
                <a:solidFill>
                  <a:srgbClr val="44536A"/>
                </a:solidFill>
                <a:latin typeface="Arial"/>
                <a:cs typeface="Arial"/>
              </a:rPr>
              <a:t> </a:t>
            </a:r>
            <a:r>
              <a:rPr dirty="0" sz="2400" spc="-85">
                <a:solidFill>
                  <a:srgbClr val="44536A"/>
                </a:solidFill>
                <a:latin typeface="Arial"/>
                <a:cs typeface="Arial"/>
              </a:rPr>
              <a:t>“Systematica”)</a:t>
            </a:r>
            <a:endParaRPr sz="2400">
              <a:latin typeface="Arial"/>
              <a:cs typeface="Arial"/>
            </a:endParaRPr>
          </a:p>
          <a:p>
            <a:pPr marL="469900" marR="13970" indent="-346075">
              <a:lnSpc>
                <a:spcPts val="2590"/>
              </a:lnSpc>
              <a:spcBef>
                <a:spcPts val="540"/>
              </a:spcBef>
              <a:buAutoNum type="arabicPeriod" startAt="2"/>
              <a:tabLst>
                <a:tab pos="470534" algn="l"/>
              </a:tabLst>
            </a:pPr>
            <a:r>
              <a:rPr dirty="0" sz="2400" spc="-10">
                <a:solidFill>
                  <a:srgbClr val="44536A"/>
                </a:solidFill>
                <a:latin typeface="Carlito"/>
                <a:cs typeface="Carlito"/>
              </a:rPr>
              <a:t>Those </a:t>
            </a:r>
            <a:r>
              <a:rPr dirty="0" sz="2400" spc="-5">
                <a:solidFill>
                  <a:srgbClr val="44536A"/>
                </a:solidFill>
                <a:latin typeface="Carlito"/>
                <a:cs typeface="Carlito"/>
              </a:rPr>
              <a:t>underlying elements </a:t>
            </a:r>
            <a:r>
              <a:rPr dirty="0" sz="2400" spc="-15">
                <a:solidFill>
                  <a:srgbClr val="44536A"/>
                </a:solidFill>
                <a:latin typeface="Carlito"/>
                <a:cs typeface="Carlito"/>
              </a:rPr>
              <a:t>are </a:t>
            </a:r>
            <a:r>
              <a:rPr dirty="0" sz="2400" spc="-5">
                <a:solidFill>
                  <a:srgbClr val="44536A"/>
                </a:solidFill>
                <a:latin typeface="Carlito"/>
                <a:cs typeface="Carlito"/>
              </a:rPr>
              <a:t>called </a:t>
            </a:r>
            <a:r>
              <a:rPr dirty="0" sz="2400">
                <a:solidFill>
                  <a:srgbClr val="44536A"/>
                </a:solidFill>
                <a:latin typeface="Carlito"/>
                <a:cs typeface="Carlito"/>
              </a:rPr>
              <a:t>the </a:t>
            </a:r>
            <a:r>
              <a:rPr dirty="0" sz="2400" spc="-5">
                <a:solidFill>
                  <a:srgbClr val="44536A"/>
                </a:solidFill>
                <a:latin typeface="Carlito"/>
                <a:cs typeface="Carlito"/>
              </a:rPr>
              <a:t>S*Metamodel, </a:t>
            </a:r>
            <a:r>
              <a:rPr dirty="0" sz="2400">
                <a:solidFill>
                  <a:srgbClr val="44536A"/>
                </a:solidFill>
                <a:latin typeface="Carlito"/>
                <a:cs typeface="Carlito"/>
              </a:rPr>
              <a:t>which </a:t>
            </a:r>
            <a:r>
              <a:rPr dirty="0" sz="2400" spc="-10">
                <a:solidFill>
                  <a:srgbClr val="44536A"/>
                </a:solidFill>
                <a:latin typeface="Carlito"/>
                <a:cs typeface="Carlito"/>
              </a:rPr>
              <a:t>was </a:t>
            </a:r>
            <a:r>
              <a:rPr dirty="0" sz="2400" spc="-5">
                <a:solidFill>
                  <a:srgbClr val="44536A"/>
                </a:solidFill>
                <a:latin typeface="Carlito"/>
                <a:cs typeface="Carlito"/>
              </a:rPr>
              <a:t>inspired </a:t>
            </a:r>
            <a:r>
              <a:rPr dirty="0" sz="2400" spc="-10">
                <a:solidFill>
                  <a:srgbClr val="44536A"/>
                </a:solidFill>
                <a:latin typeface="Carlito"/>
                <a:cs typeface="Carlito"/>
              </a:rPr>
              <a:t>by </a:t>
            </a:r>
            <a:r>
              <a:rPr dirty="0" sz="2400">
                <a:solidFill>
                  <a:srgbClr val="44536A"/>
                </a:solidFill>
                <a:latin typeface="Carlito"/>
                <a:cs typeface="Carlito"/>
              </a:rPr>
              <a:t>the  </a:t>
            </a:r>
            <a:r>
              <a:rPr dirty="0" sz="2400" spc="-15">
                <a:solidFill>
                  <a:srgbClr val="44536A"/>
                </a:solidFill>
                <a:latin typeface="Carlito"/>
                <a:cs typeface="Carlito"/>
              </a:rPr>
              <a:t>physical</a:t>
            </a:r>
            <a:r>
              <a:rPr dirty="0" sz="2400" spc="-10">
                <a:solidFill>
                  <a:srgbClr val="44536A"/>
                </a:solidFill>
                <a:latin typeface="Carlito"/>
                <a:cs typeface="Carlito"/>
              </a:rPr>
              <a:t> </a:t>
            </a:r>
            <a:r>
              <a:rPr dirty="0" sz="2400" spc="-5">
                <a:solidFill>
                  <a:srgbClr val="44536A"/>
                </a:solidFill>
                <a:latin typeface="Carlito"/>
                <a:cs typeface="Carlito"/>
              </a:rPr>
              <a:t>sciences</a:t>
            </a:r>
            <a:endParaRPr sz="2400">
              <a:latin typeface="Carlito"/>
              <a:cs typeface="Carlito"/>
            </a:endParaRPr>
          </a:p>
          <a:p>
            <a:pPr marL="469900" marR="478790" indent="-346075">
              <a:lnSpc>
                <a:spcPts val="2590"/>
              </a:lnSpc>
              <a:spcBef>
                <a:spcPts val="500"/>
              </a:spcBef>
              <a:buAutoNum type="arabicPeriod" startAt="2"/>
              <a:tabLst>
                <a:tab pos="470534" algn="l"/>
              </a:tabLst>
            </a:pPr>
            <a:r>
              <a:rPr dirty="0" sz="2400" spc="-5">
                <a:solidFill>
                  <a:srgbClr val="44536A"/>
                </a:solidFill>
                <a:latin typeface="Carlito"/>
                <a:cs typeface="Carlito"/>
              </a:rPr>
              <a:t>S*Models using those elements </a:t>
            </a:r>
            <a:r>
              <a:rPr dirty="0" sz="2400" spc="-15">
                <a:solidFill>
                  <a:srgbClr val="44536A"/>
                </a:solidFill>
                <a:latin typeface="Carlito"/>
                <a:cs typeface="Carlito"/>
              </a:rPr>
              <a:t>may </a:t>
            </a:r>
            <a:r>
              <a:rPr dirty="0" sz="2400" spc="-5">
                <a:solidFill>
                  <a:srgbClr val="44536A"/>
                </a:solidFill>
                <a:latin typeface="Carlito"/>
                <a:cs typeface="Carlito"/>
              </a:rPr>
              <a:t>be </a:t>
            </a:r>
            <a:r>
              <a:rPr dirty="0" sz="2400" spc="-15">
                <a:solidFill>
                  <a:srgbClr val="44536A"/>
                </a:solidFill>
                <a:latin typeface="Carlito"/>
                <a:cs typeface="Carlito"/>
              </a:rPr>
              <a:t>(have </a:t>
            </a:r>
            <a:r>
              <a:rPr dirty="0" sz="2400" spc="-5">
                <a:solidFill>
                  <a:srgbClr val="44536A"/>
                </a:solidFill>
                <a:latin typeface="Carlito"/>
                <a:cs typeface="Carlito"/>
              </a:rPr>
              <a:t>been) </a:t>
            </a:r>
            <a:r>
              <a:rPr dirty="0" sz="2400" spc="-10">
                <a:solidFill>
                  <a:srgbClr val="44536A"/>
                </a:solidFill>
                <a:latin typeface="Carlito"/>
                <a:cs typeface="Carlito"/>
              </a:rPr>
              <a:t>expressed </a:t>
            </a:r>
            <a:r>
              <a:rPr dirty="0" sz="2400">
                <a:solidFill>
                  <a:srgbClr val="44536A"/>
                </a:solidFill>
                <a:latin typeface="Carlito"/>
                <a:cs typeface="Carlito"/>
              </a:rPr>
              <a:t>in </a:t>
            </a:r>
            <a:r>
              <a:rPr dirty="0" sz="2400" spc="-20">
                <a:solidFill>
                  <a:srgbClr val="44536A"/>
                </a:solidFill>
                <a:latin typeface="Carlito"/>
                <a:cs typeface="Carlito"/>
              </a:rPr>
              <a:t>any </a:t>
            </a:r>
            <a:r>
              <a:rPr dirty="0" sz="2400">
                <a:solidFill>
                  <a:srgbClr val="44536A"/>
                </a:solidFill>
                <a:latin typeface="Carlito"/>
                <a:cs typeface="Carlito"/>
              </a:rPr>
              <a:t>modeling  </a:t>
            </a:r>
            <a:r>
              <a:rPr dirty="0" sz="2400" spc="-5">
                <a:solidFill>
                  <a:srgbClr val="44536A"/>
                </a:solidFill>
                <a:latin typeface="Carlito"/>
                <a:cs typeface="Carlito"/>
              </a:rPr>
              <a:t>language </a:t>
            </a:r>
            <a:r>
              <a:rPr dirty="0" sz="2400">
                <a:solidFill>
                  <a:srgbClr val="44536A"/>
                </a:solidFill>
                <a:latin typeface="Carlito"/>
                <a:cs typeface="Carlito"/>
              </a:rPr>
              <a:t>(e.g., </a:t>
            </a:r>
            <a:r>
              <a:rPr dirty="0" sz="2400" spc="-5">
                <a:solidFill>
                  <a:srgbClr val="44536A"/>
                </a:solidFill>
                <a:latin typeface="Carlito"/>
                <a:cs typeface="Carlito"/>
              </a:rPr>
              <a:t>OMG </a:t>
            </a:r>
            <a:r>
              <a:rPr dirty="0" sz="2400" spc="-10">
                <a:solidFill>
                  <a:srgbClr val="44536A"/>
                </a:solidFill>
                <a:latin typeface="Carlito"/>
                <a:cs typeface="Carlito"/>
              </a:rPr>
              <a:t>SysML, </a:t>
            </a:r>
            <a:r>
              <a:rPr dirty="0" sz="2400" spc="-5">
                <a:solidFill>
                  <a:srgbClr val="44536A"/>
                </a:solidFill>
                <a:latin typeface="Carlito"/>
                <a:cs typeface="Carlito"/>
              </a:rPr>
              <a:t>or other</a:t>
            </a:r>
            <a:r>
              <a:rPr dirty="0" sz="2400" spc="-45">
                <a:solidFill>
                  <a:srgbClr val="44536A"/>
                </a:solidFill>
                <a:latin typeface="Carlito"/>
                <a:cs typeface="Carlito"/>
              </a:rPr>
              <a:t> </a:t>
            </a:r>
            <a:r>
              <a:rPr dirty="0" sz="2400" spc="-5">
                <a:solidFill>
                  <a:srgbClr val="44536A"/>
                </a:solidFill>
                <a:latin typeface="Carlito"/>
                <a:cs typeface="Carlito"/>
              </a:rPr>
              <a:t>languages)</a:t>
            </a:r>
            <a:endParaRPr sz="2400">
              <a:latin typeface="Carlito"/>
              <a:cs typeface="Carlito"/>
            </a:endParaRPr>
          </a:p>
          <a:p>
            <a:pPr marL="469900" marR="956944" indent="-346075">
              <a:lnSpc>
                <a:spcPts val="2590"/>
              </a:lnSpc>
              <a:spcBef>
                <a:spcPts val="509"/>
              </a:spcBef>
              <a:buAutoNum type="arabicPeriod" startAt="2"/>
              <a:tabLst>
                <a:tab pos="470534" algn="l"/>
              </a:tabLst>
            </a:pPr>
            <a:r>
              <a:rPr dirty="0" sz="2400" spc="-5">
                <a:solidFill>
                  <a:srgbClr val="44536A"/>
                </a:solidFill>
                <a:latin typeface="Carlito"/>
                <a:cs typeface="Carlito"/>
              </a:rPr>
              <a:t>S*Models </a:t>
            </a:r>
            <a:r>
              <a:rPr dirty="0" sz="2400" spc="-10">
                <a:solidFill>
                  <a:srgbClr val="44536A"/>
                </a:solidFill>
                <a:latin typeface="Carlito"/>
                <a:cs typeface="Carlito"/>
              </a:rPr>
              <a:t>can </a:t>
            </a:r>
            <a:r>
              <a:rPr dirty="0" sz="2400" spc="-5">
                <a:solidFill>
                  <a:srgbClr val="44536A"/>
                </a:solidFill>
                <a:latin typeface="Carlito"/>
                <a:cs typeface="Carlito"/>
              </a:rPr>
              <a:t>be </a:t>
            </a:r>
            <a:r>
              <a:rPr dirty="0" sz="2400" spc="-15">
                <a:solidFill>
                  <a:srgbClr val="44536A"/>
                </a:solidFill>
                <a:latin typeface="Carlito"/>
                <a:cs typeface="Carlito"/>
              </a:rPr>
              <a:t>(have </a:t>
            </a:r>
            <a:r>
              <a:rPr dirty="0" sz="2400" spc="-5">
                <a:solidFill>
                  <a:srgbClr val="44536A"/>
                </a:solidFill>
                <a:latin typeface="Carlito"/>
                <a:cs typeface="Carlito"/>
              </a:rPr>
              <a:t>been) </a:t>
            </a:r>
            <a:r>
              <a:rPr dirty="0" sz="2400" spc="-15">
                <a:solidFill>
                  <a:srgbClr val="44536A"/>
                </a:solidFill>
                <a:latin typeface="Carlito"/>
                <a:cs typeface="Carlito"/>
              </a:rPr>
              <a:t>created </a:t>
            </a:r>
            <a:r>
              <a:rPr dirty="0" sz="2400">
                <a:solidFill>
                  <a:srgbClr val="44536A"/>
                </a:solidFill>
                <a:latin typeface="Carlito"/>
                <a:cs typeface="Carlito"/>
              </a:rPr>
              <a:t>and </a:t>
            </a:r>
            <a:r>
              <a:rPr dirty="0" sz="2400" spc="-5">
                <a:solidFill>
                  <a:srgbClr val="44536A"/>
                </a:solidFill>
                <a:latin typeface="Carlito"/>
                <a:cs typeface="Carlito"/>
              </a:rPr>
              <a:t>managed </a:t>
            </a:r>
            <a:r>
              <a:rPr dirty="0" sz="2400">
                <a:solidFill>
                  <a:srgbClr val="44536A"/>
                </a:solidFill>
                <a:latin typeface="Carlito"/>
                <a:cs typeface="Carlito"/>
              </a:rPr>
              <a:t>in </a:t>
            </a:r>
            <a:r>
              <a:rPr dirty="0" sz="2400" spc="-15">
                <a:solidFill>
                  <a:srgbClr val="44536A"/>
                </a:solidFill>
                <a:latin typeface="Carlito"/>
                <a:cs typeface="Carlito"/>
              </a:rPr>
              <a:t>many </a:t>
            </a:r>
            <a:r>
              <a:rPr dirty="0" sz="2400" spc="-20">
                <a:solidFill>
                  <a:srgbClr val="44536A"/>
                </a:solidFill>
                <a:latin typeface="Carlito"/>
                <a:cs typeface="Carlito"/>
              </a:rPr>
              <a:t>different </a:t>
            </a:r>
            <a:r>
              <a:rPr dirty="0" sz="2400" spc="-30">
                <a:solidFill>
                  <a:srgbClr val="44536A"/>
                </a:solidFill>
                <a:latin typeface="Carlito"/>
                <a:cs typeface="Carlito"/>
              </a:rPr>
              <a:t>COTS  </a:t>
            </a:r>
            <a:r>
              <a:rPr dirty="0" sz="2400">
                <a:solidFill>
                  <a:srgbClr val="44536A"/>
                </a:solidFill>
                <a:latin typeface="Carlito"/>
                <a:cs typeface="Carlito"/>
              </a:rPr>
              <a:t>modeling</a:t>
            </a:r>
            <a:r>
              <a:rPr dirty="0" sz="2400" spc="-30">
                <a:solidFill>
                  <a:srgbClr val="44536A"/>
                </a:solidFill>
                <a:latin typeface="Carlito"/>
                <a:cs typeface="Carlito"/>
              </a:rPr>
              <a:t> </a:t>
            </a:r>
            <a:r>
              <a:rPr dirty="0" sz="2400" spc="-10">
                <a:solidFill>
                  <a:srgbClr val="44536A"/>
                </a:solidFill>
                <a:latin typeface="Carlito"/>
                <a:cs typeface="Carlito"/>
              </a:rPr>
              <a:t>tools.</a:t>
            </a:r>
            <a:endParaRPr sz="2400">
              <a:latin typeface="Carlito"/>
              <a:cs typeface="Carlito"/>
            </a:endParaRPr>
          </a:p>
          <a:p>
            <a:pPr marL="469900" indent="-346710">
              <a:lnSpc>
                <a:spcPct val="100000"/>
              </a:lnSpc>
              <a:spcBef>
                <a:spcPts val="180"/>
              </a:spcBef>
              <a:buAutoNum type="arabicPeriod" startAt="2"/>
              <a:tabLst>
                <a:tab pos="470534" algn="l"/>
              </a:tabLst>
            </a:pPr>
            <a:r>
              <a:rPr dirty="0" sz="2400" spc="-10">
                <a:solidFill>
                  <a:srgbClr val="44536A"/>
                </a:solidFill>
                <a:latin typeface="Carlito"/>
                <a:cs typeface="Carlito"/>
              </a:rPr>
              <a:t>Re-usable, configurable </a:t>
            </a:r>
            <a:r>
              <a:rPr dirty="0" sz="2400" spc="-5">
                <a:solidFill>
                  <a:srgbClr val="44536A"/>
                </a:solidFill>
                <a:latin typeface="Carlito"/>
                <a:cs typeface="Carlito"/>
              </a:rPr>
              <a:t>S*Models </a:t>
            </a:r>
            <a:r>
              <a:rPr dirty="0" sz="2400" spc="-15">
                <a:solidFill>
                  <a:srgbClr val="44536A"/>
                </a:solidFill>
                <a:latin typeface="Carlito"/>
                <a:cs typeface="Carlito"/>
              </a:rPr>
              <a:t>are </a:t>
            </a:r>
            <a:r>
              <a:rPr dirty="0" sz="2400" spc="-5">
                <a:solidFill>
                  <a:srgbClr val="44536A"/>
                </a:solidFill>
                <a:latin typeface="Carlito"/>
                <a:cs typeface="Carlito"/>
              </a:rPr>
              <a:t>called</a:t>
            </a:r>
            <a:r>
              <a:rPr dirty="0" sz="2400" spc="55">
                <a:solidFill>
                  <a:srgbClr val="44536A"/>
                </a:solidFill>
                <a:latin typeface="Carlito"/>
                <a:cs typeface="Carlito"/>
              </a:rPr>
              <a:t> </a:t>
            </a:r>
            <a:r>
              <a:rPr dirty="0" u="heavy" sz="2400" spc="-2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rlito"/>
                <a:cs typeface="Carlito"/>
              </a:rPr>
              <a:t>S*Patterns</a:t>
            </a:r>
            <a:endParaRPr sz="2400">
              <a:latin typeface="Carlito"/>
              <a:cs typeface="Carlito"/>
            </a:endParaRPr>
          </a:p>
          <a:p>
            <a:pPr marL="469900" indent="-346710">
              <a:lnSpc>
                <a:spcPts val="2735"/>
              </a:lnSpc>
              <a:spcBef>
                <a:spcPts val="204"/>
              </a:spcBef>
              <a:buFont typeface="Carlito"/>
              <a:buAutoNum type="arabicPeriod" startAt="2"/>
              <a:tabLst>
                <a:tab pos="470534" algn="l"/>
              </a:tabLst>
            </a:pPr>
            <a:r>
              <a:rPr dirty="0" sz="2400" spc="-220">
                <a:solidFill>
                  <a:srgbClr val="44536A"/>
                </a:solidFill>
                <a:latin typeface="Arial"/>
                <a:cs typeface="Arial"/>
              </a:rPr>
              <a:t>By </a:t>
            </a:r>
            <a:r>
              <a:rPr dirty="0" sz="2400" spc="-100">
                <a:solidFill>
                  <a:srgbClr val="44536A"/>
                </a:solidFill>
                <a:latin typeface="Arial"/>
                <a:cs typeface="Arial"/>
              </a:rPr>
              <a:t>“Pattern</a:t>
            </a:r>
            <a:r>
              <a:rPr dirty="0" sz="2400" spc="-100">
                <a:solidFill>
                  <a:srgbClr val="44536A"/>
                </a:solidFill>
                <a:latin typeface="Carlito"/>
                <a:cs typeface="Carlito"/>
              </a:rPr>
              <a:t>-</a:t>
            </a:r>
            <a:r>
              <a:rPr dirty="0" sz="2400" spc="-100">
                <a:solidFill>
                  <a:srgbClr val="44536A"/>
                </a:solidFill>
                <a:latin typeface="Arial"/>
                <a:cs typeface="Arial"/>
              </a:rPr>
              <a:t>Based </a:t>
            </a:r>
            <a:r>
              <a:rPr dirty="0" sz="2400" spc="-190">
                <a:solidFill>
                  <a:srgbClr val="44536A"/>
                </a:solidFill>
                <a:latin typeface="Arial"/>
                <a:cs typeface="Arial"/>
              </a:rPr>
              <a:t>Systems </a:t>
            </a:r>
            <a:r>
              <a:rPr dirty="0" sz="2400" spc="-85">
                <a:solidFill>
                  <a:srgbClr val="44536A"/>
                </a:solidFill>
                <a:latin typeface="Arial"/>
                <a:cs typeface="Arial"/>
              </a:rPr>
              <a:t>Engineering” </a:t>
            </a:r>
            <a:r>
              <a:rPr dirty="0" sz="2400" spc="-295">
                <a:solidFill>
                  <a:srgbClr val="44536A"/>
                </a:solidFill>
                <a:latin typeface="Arial"/>
                <a:cs typeface="Arial"/>
              </a:rPr>
              <a:t>(PBSE) </a:t>
            </a:r>
            <a:r>
              <a:rPr dirty="0" sz="2400" spc="-95">
                <a:solidFill>
                  <a:srgbClr val="44536A"/>
                </a:solidFill>
                <a:latin typeface="Arial"/>
                <a:cs typeface="Arial"/>
              </a:rPr>
              <a:t>we </a:t>
            </a:r>
            <a:r>
              <a:rPr dirty="0" sz="2400" spc="-120">
                <a:solidFill>
                  <a:srgbClr val="44536A"/>
                </a:solidFill>
                <a:latin typeface="Arial"/>
                <a:cs typeface="Arial"/>
              </a:rPr>
              <a:t>mean </a:t>
            </a:r>
            <a:r>
              <a:rPr dirty="0" sz="2400" spc="-295">
                <a:solidFill>
                  <a:srgbClr val="44536A"/>
                </a:solidFill>
                <a:latin typeface="Arial"/>
                <a:cs typeface="Arial"/>
              </a:rPr>
              <a:t>MBSE </a:t>
            </a:r>
            <a:r>
              <a:rPr dirty="0" sz="2400" spc="-120">
                <a:solidFill>
                  <a:srgbClr val="44536A"/>
                </a:solidFill>
                <a:latin typeface="Arial"/>
                <a:cs typeface="Arial"/>
              </a:rPr>
              <a:t>enhanced </a:t>
            </a:r>
            <a:r>
              <a:rPr dirty="0" sz="2400" spc="-105">
                <a:solidFill>
                  <a:srgbClr val="44536A"/>
                </a:solidFill>
                <a:latin typeface="Arial"/>
                <a:cs typeface="Arial"/>
              </a:rPr>
              <a:t>by</a:t>
            </a:r>
            <a:r>
              <a:rPr dirty="0" sz="2400" spc="-180">
                <a:solidFill>
                  <a:srgbClr val="44536A"/>
                </a:solidFill>
                <a:latin typeface="Arial"/>
                <a:cs typeface="Arial"/>
              </a:rPr>
              <a:t> </a:t>
            </a:r>
            <a:r>
              <a:rPr dirty="0" sz="2400" spc="-100">
                <a:solidFill>
                  <a:srgbClr val="44536A"/>
                </a:solidFill>
                <a:latin typeface="Arial"/>
                <a:cs typeface="Arial"/>
              </a:rPr>
              <a:t>these</a:t>
            </a:r>
            <a:endParaRPr sz="2400">
              <a:latin typeface="Arial"/>
              <a:cs typeface="Arial"/>
            </a:endParaRPr>
          </a:p>
          <a:p>
            <a:pPr marL="469900">
              <a:lnSpc>
                <a:spcPts val="2735"/>
              </a:lnSpc>
            </a:pPr>
            <a:r>
              <a:rPr dirty="0" sz="2400" spc="-15">
                <a:solidFill>
                  <a:srgbClr val="44536A"/>
                </a:solidFill>
                <a:latin typeface="Carlito"/>
                <a:cs typeface="Carlito"/>
              </a:rPr>
              <a:t>generalized </a:t>
            </a:r>
            <a:r>
              <a:rPr dirty="0" sz="2400" spc="-5">
                <a:solidFill>
                  <a:srgbClr val="44536A"/>
                </a:solidFill>
                <a:latin typeface="Carlito"/>
                <a:cs typeface="Carlito"/>
              </a:rPr>
              <a:t>assets</a:t>
            </a:r>
            <a:endParaRPr sz="2400">
              <a:latin typeface="Carlito"/>
              <a:cs typeface="Carlito"/>
            </a:endParaRPr>
          </a:p>
          <a:p>
            <a:pPr marL="469900" indent="-346710">
              <a:lnSpc>
                <a:spcPts val="2735"/>
              </a:lnSpc>
              <a:spcBef>
                <a:spcPts val="215"/>
              </a:spcBef>
              <a:buAutoNum type="arabicPeriod" startAt="7"/>
              <a:tabLst>
                <a:tab pos="470534" algn="l"/>
              </a:tabLst>
            </a:pPr>
            <a:r>
              <a:rPr dirty="0" sz="2400" spc="-5">
                <a:solidFill>
                  <a:srgbClr val="44536A"/>
                </a:solidFill>
                <a:latin typeface="Carlito"/>
                <a:cs typeface="Carlito"/>
              </a:rPr>
              <a:t>These </a:t>
            </a:r>
            <a:r>
              <a:rPr dirty="0" sz="2400" spc="-15">
                <a:solidFill>
                  <a:srgbClr val="44536A"/>
                </a:solidFill>
                <a:latin typeface="Carlito"/>
                <a:cs typeface="Carlito"/>
              </a:rPr>
              <a:t>are system-level patterns </a:t>
            </a:r>
            <a:r>
              <a:rPr dirty="0" sz="2400" spc="-5">
                <a:solidFill>
                  <a:srgbClr val="44536A"/>
                </a:solidFill>
                <a:latin typeface="Carlito"/>
                <a:cs typeface="Carlito"/>
              </a:rPr>
              <a:t>(models of whole managed </a:t>
            </a:r>
            <a:r>
              <a:rPr dirty="0" sz="2400" spc="-10">
                <a:solidFill>
                  <a:srgbClr val="44536A"/>
                </a:solidFill>
                <a:latin typeface="Carlito"/>
                <a:cs typeface="Carlito"/>
              </a:rPr>
              <a:t>platforms), </a:t>
            </a:r>
            <a:r>
              <a:rPr dirty="0" sz="2400" spc="-5">
                <a:solidFill>
                  <a:srgbClr val="44536A"/>
                </a:solidFill>
                <a:latin typeface="Carlito"/>
                <a:cs typeface="Carlito"/>
              </a:rPr>
              <a:t>not</a:t>
            </a:r>
            <a:r>
              <a:rPr dirty="0" sz="2400" spc="50">
                <a:solidFill>
                  <a:srgbClr val="44536A"/>
                </a:solidFill>
                <a:latin typeface="Carlito"/>
                <a:cs typeface="Carlito"/>
              </a:rPr>
              <a:t> </a:t>
            </a:r>
            <a:r>
              <a:rPr dirty="0" sz="2400" spc="-15">
                <a:solidFill>
                  <a:srgbClr val="44536A"/>
                </a:solidFill>
                <a:latin typeface="Carlito"/>
                <a:cs typeface="Carlito"/>
              </a:rPr>
              <a:t>just</a:t>
            </a:r>
            <a:endParaRPr sz="2400">
              <a:latin typeface="Carlito"/>
              <a:cs typeface="Carlito"/>
            </a:endParaRPr>
          </a:p>
          <a:p>
            <a:pPr marL="469900">
              <a:lnSpc>
                <a:spcPts val="2735"/>
              </a:lnSpc>
            </a:pPr>
            <a:r>
              <a:rPr dirty="0" sz="2400" spc="-5">
                <a:solidFill>
                  <a:srgbClr val="44536A"/>
                </a:solidFill>
                <a:latin typeface="Carlito"/>
                <a:cs typeface="Carlito"/>
              </a:rPr>
              <a:t>smaller-scale </a:t>
            </a:r>
            <a:r>
              <a:rPr dirty="0" sz="2400" spc="-10">
                <a:solidFill>
                  <a:srgbClr val="44536A"/>
                </a:solidFill>
                <a:latin typeface="Carlito"/>
                <a:cs typeface="Carlito"/>
              </a:rPr>
              <a:t>component </a:t>
            </a:r>
            <a:r>
              <a:rPr dirty="0" sz="2400" spc="-5">
                <a:solidFill>
                  <a:srgbClr val="44536A"/>
                </a:solidFill>
                <a:latin typeface="Carlito"/>
                <a:cs typeface="Carlito"/>
              </a:rPr>
              <a:t>design</a:t>
            </a:r>
            <a:r>
              <a:rPr dirty="0" sz="2400" spc="-20">
                <a:solidFill>
                  <a:srgbClr val="44536A"/>
                </a:solidFill>
                <a:latin typeface="Carlito"/>
                <a:cs typeface="Carlito"/>
              </a:rPr>
              <a:t> </a:t>
            </a:r>
            <a:r>
              <a:rPr dirty="0" sz="2400" spc="-15">
                <a:solidFill>
                  <a:srgbClr val="44536A"/>
                </a:solidFill>
                <a:latin typeface="Carlito"/>
                <a:cs typeface="Carlito"/>
              </a:rPr>
              <a:t>patterns</a:t>
            </a:r>
            <a:endParaRPr sz="2400">
              <a:latin typeface="Carlito"/>
              <a:cs typeface="Carlito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8910828" y="801623"/>
            <a:ext cx="3281171" cy="112013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0" y="12191"/>
            <a:ext cx="1682495" cy="165658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10320655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75"/>
              <a:t>Current </a:t>
            </a:r>
            <a:r>
              <a:rPr dirty="0" spc="-565"/>
              <a:t>MBSE </a:t>
            </a:r>
            <a:r>
              <a:rPr dirty="0" spc="-225"/>
              <a:t>Patterns </a:t>
            </a:r>
            <a:r>
              <a:rPr dirty="0" spc="-495"/>
              <a:t>WG </a:t>
            </a:r>
            <a:r>
              <a:rPr dirty="0" spc="-220"/>
              <a:t>Projects,</a:t>
            </a:r>
            <a:r>
              <a:rPr dirty="0" spc="-350"/>
              <a:t> </a:t>
            </a:r>
            <a:r>
              <a:rPr dirty="0" spc="-145"/>
              <a:t>Activities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72795" y="1967379"/>
            <a:ext cx="11449050" cy="3604260"/>
          </a:xfrm>
          <a:prstGeom prst="rect">
            <a:avLst/>
          </a:prstGeom>
        </p:spPr>
        <p:txBody>
          <a:bodyPr wrap="square" lIns="0" tIns="97790" rIns="0" bIns="0" rtlCol="0" vert="horz">
            <a:spAutoFit/>
          </a:bodyPr>
          <a:lstStyle/>
          <a:p>
            <a:pPr marL="553085" indent="-515620">
              <a:lnSpc>
                <a:spcPct val="100000"/>
              </a:lnSpc>
              <a:spcBef>
                <a:spcPts val="770"/>
              </a:spcBef>
              <a:buAutoNum type="arabicPeriod"/>
              <a:tabLst>
                <a:tab pos="553085" algn="l"/>
                <a:tab pos="553720" algn="l"/>
              </a:tabLst>
            </a:pPr>
            <a:r>
              <a:rPr dirty="0" u="heavy" sz="2800" spc="-10" i="1">
                <a:uFill>
                  <a:solidFill>
                    <a:srgbClr val="000000"/>
                  </a:solidFill>
                </a:uFill>
                <a:latin typeface="Carlito"/>
                <a:cs typeface="Carlito"/>
              </a:rPr>
              <a:t>INCOSE </a:t>
            </a:r>
            <a:r>
              <a:rPr dirty="0" u="heavy" sz="2800" spc="-5" i="1">
                <a:uFill>
                  <a:solidFill>
                    <a:srgbClr val="000000"/>
                  </a:solidFill>
                </a:uFill>
                <a:latin typeface="Carlito"/>
                <a:cs typeface="Carlito"/>
              </a:rPr>
              <a:t>SE Handbook</a:t>
            </a:r>
            <a:r>
              <a:rPr dirty="0" sz="2800" spc="-5">
                <a:latin typeface="Carlito"/>
                <a:cs typeface="Carlito"/>
              </a:rPr>
              <a:t>, </a:t>
            </a:r>
            <a:r>
              <a:rPr dirty="0" sz="2800">
                <a:latin typeface="Carlito"/>
                <a:cs typeface="Carlito"/>
              </a:rPr>
              <a:t>5</a:t>
            </a:r>
            <a:r>
              <a:rPr dirty="0" baseline="25525" sz="2775">
                <a:latin typeface="Carlito"/>
                <a:cs typeface="Carlito"/>
              </a:rPr>
              <a:t>th </a:t>
            </a:r>
            <a:r>
              <a:rPr dirty="0" sz="2800" spc="-10">
                <a:latin typeface="Carlito"/>
                <a:cs typeface="Carlito"/>
              </a:rPr>
              <a:t>Edition</a:t>
            </a:r>
            <a:r>
              <a:rPr dirty="0" sz="2800" spc="-180">
                <a:latin typeface="Carlito"/>
                <a:cs typeface="Carlito"/>
              </a:rPr>
              <a:t> </a:t>
            </a:r>
            <a:r>
              <a:rPr dirty="0" sz="2800" spc="-15">
                <a:latin typeface="Carlito"/>
                <a:cs typeface="Carlito"/>
              </a:rPr>
              <a:t>Project</a:t>
            </a:r>
            <a:endParaRPr sz="2800">
              <a:latin typeface="Carlito"/>
              <a:cs typeface="Carlito"/>
            </a:endParaRPr>
          </a:p>
          <a:p>
            <a:pPr marL="553085" indent="-515620">
              <a:lnSpc>
                <a:spcPct val="100000"/>
              </a:lnSpc>
              <a:spcBef>
                <a:spcPts val="670"/>
              </a:spcBef>
              <a:buAutoNum type="arabicPeriod"/>
              <a:tabLst>
                <a:tab pos="553085" algn="l"/>
                <a:tab pos="553720" algn="l"/>
              </a:tabLst>
            </a:pPr>
            <a:r>
              <a:rPr dirty="0" u="heavy" sz="2800" spc="-10" i="1">
                <a:uFill>
                  <a:solidFill>
                    <a:srgbClr val="000000"/>
                  </a:solidFill>
                </a:uFill>
                <a:latin typeface="Carlito"/>
                <a:cs typeface="Carlito"/>
              </a:rPr>
              <a:t>INCOSE Vision </a:t>
            </a:r>
            <a:r>
              <a:rPr dirty="0" u="heavy" sz="2800" spc="-5" i="1">
                <a:uFill>
                  <a:solidFill>
                    <a:srgbClr val="000000"/>
                  </a:solidFill>
                </a:uFill>
                <a:latin typeface="Carlito"/>
                <a:cs typeface="Carlito"/>
              </a:rPr>
              <a:t>2035</a:t>
            </a:r>
            <a:r>
              <a:rPr dirty="0" sz="2800" spc="-5">
                <a:latin typeface="Carlito"/>
                <a:cs typeface="Carlito"/>
              </a:rPr>
              <a:t>, SE </a:t>
            </a:r>
            <a:r>
              <a:rPr dirty="0" sz="2800" spc="-15">
                <a:latin typeface="Carlito"/>
                <a:cs typeface="Carlito"/>
              </a:rPr>
              <a:t>Theoretical Foundations</a:t>
            </a:r>
            <a:r>
              <a:rPr dirty="0" sz="2800" spc="110">
                <a:latin typeface="Carlito"/>
                <a:cs typeface="Carlito"/>
              </a:rPr>
              <a:t> </a:t>
            </a:r>
            <a:r>
              <a:rPr dirty="0" sz="2800" spc="-15">
                <a:latin typeface="Carlito"/>
                <a:cs typeface="Carlito"/>
              </a:rPr>
              <a:t>Project</a:t>
            </a:r>
            <a:endParaRPr sz="2800">
              <a:latin typeface="Carlito"/>
              <a:cs typeface="Carlito"/>
            </a:endParaRPr>
          </a:p>
          <a:p>
            <a:pPr marL="553085" indent="-515620">
              <a:lnSpc>
                <a:spcPct val="100000"/>
              </a:lnSpc>
              <a:spcBef>
                <a:spcPts val="660"/>
              </a:spcBef>
              <a:buAutoNum type="arabicPeriod"/>
              <a:tabLst>
                <a:tab pos="553085" algn="l"/>
                <a:tab pos="553720" algn="l"/>
              </a:tabLst>
            </a:pPr>
            <a:r>
              <a:rPr dirty="0" sz="2800" spc="-10">
                <a:latin typeface="Carlito"/>
                <a:cs typeface="Carlito"/>
              </a:rPr>
              <a:t>Adaptive Learning </a:t>
            </a:r>
            <a:r>
              <a:rPr dirty="0" sz="2800" spc="-25">
                <a:latin typeface="Carlito"/>
                <a:cs typeface="Carlito"/>
              </a:rPr>
              <a:t>Ecosystem </a:t>
            </a:r>
            <a:r>
              <a:rPr dirty="0" sz="2800" spc="-40">
                <a:latin typeface="Carlito"/>
                <a:cs typeface="Carlito"/>
              </a:rPr>
              <a:t>Pattern</a:t>
            </a:r>
            <a:r>
              <a:rPr dirty="0" sz="2800" spc="-40">
                <a:latin typeface="Arial"/>
                <a:cs typeface="Arial"/>
              </a:rPr>
              <a:t>—</a:t>
            </a:r>
            <a:r>
              <a:rPr dirty="0" sz="2800" spc="-40">
                <a:latin typeface="Carlito"/>
                <a:cs typeface="Carlito"/>
              </a:rPr>
              <a:t>the </a:t>
            </a:r>
            <a:r>
              <a:rPr dirty="0" sz="2800" spc="-10">
                <a:latin typeface="Carlito"/>
                <a:cs typeface="Carlito"/>
              </a:rPr>
              <a:t>ASELCM </a:t>
            </a:r>
            <a:r>
              <a:rPr dirty="0" sz="2800" spc="-25">
                <a:latin typeface="Carlito"/>
                <a:cs typeface="Carlito"/>
              </a:rPr>
              <a:t>Reference</a:t>
            </a:r>
            <a:r>
              <a:rPr dirty="0" sz="2800" spc="130">
                <a:latin typeface="Carlito"/>
                <a:cs typeface="Carlito"/>
              </a:rPr>
              <a:t> </a:t>
            </a:r>
            <a:r>
              <a:rPr dirty="0" sz="2800" spc="-15">
                <a:latin typeface="Carlito"/>
                <a:cs typeface="Carlito"/>
              </a:rPr>
              <a:t>Framework</a:t>
            </a:r>
            <a:endParaRPr sz="2800">
              <a:latin typeface="Carlito"/>
              <a:cs typeface="Carlito"/>
            </a:endParaRPr>
          </a:p>
          <a:p>
            <a:pPr marL="553085" indent="-515620">
              <a:lnSpc>
                <a:spcPct val="100000"/>
              </a:lnSpc>
              <a:spcBef>
                <a:spcPts val="660"/>
              </a:spcBef>
              <a:buAutoNum type="arabicPeriod"/>
              <a:tabLst>
                <a:tab pos="553085" algn="l"/>
                <a:tab pos="553720" algn="l"/>
              </a:tabLst>
            </a:pPr>
            <a:r>
              <a:rPr dirty="0" sz="2800" spc="-15">
                <a:latin typeface="Carlito"/>
                <a:cs typeface="Carlito"/>
              </a:rPr>
              <a:t>Universal </a:t>
            </a:r>
            <a:r>
              <a:rPr dirty="0" sz="2800" spc="-5">
                <a:latin typeface="Carlito"/>
                <a:cs typeface="Carlito"/>
              </a:rPr>
              <a:t>Model </a:t>
            </a:r>
            <a:r>
              <a:rPr dirty="0" sz="2800" spc="-20">
                <a:latin typeface="Carlito"/>
                <a:cs typeface="Carlito"/>
              </a:rPr>
              <a:t>Metadata </a:t>
            </a:r>
            <a:r>
              <a:rPr dirty="0" sz="2800" spc="-25">
                <a:latin typeface="Carlito"/>
                <a:cs typeface="Carlito"/>
              </a:rPr>
              <a:t>Wrapper: </a:t>
            </a:r>
            <a:r>
              <a:rPr dirty="0" sz="2800" spc="-5">
                <a:latin typeface="Carlito"/>
                <a:cs typeface="Carlito"/>
              </a:rPr>
              <a:t>Model </a:t>
            </a:r>
            <a:r>
              <a:rPr dirty="0" sz="2800" spc="-15">
                <a:latin typeface="Carlito"/>
                <a:cs typeface="Carlito"/>
              </a:rPr>
              <a:t>Characterization </a:t>
            </a:r>
            <a:r>
              <a:rPr dirty="0" sz="2800" spc="-25">
                <a:latin typeface="Carlito"/>
                <a:cs typeface="Carlito"/>
              </a:rPr>
              <a:t>Pattern</a:t>
            </a:r>
            <a:r>
              <a:rPr dirty="0" sz="2800" spc="170">
                <a:latin typeface="Carlito"/>
                <a:cs typeface="Carlito"/>
              </a:rPr>
              <a:t> </a:t>
            </a:r>
            <a:r>
              <a:rPr dirty="0" sz="2800" spc="-10">
                <a:latin typeface="Carlito"/>
                <a:cs typeface="Carlito"/>
              </a:rPr>
              <a:t>(MCP)</a:t>
            </a:r>
            <a:endParaRPr sz="2800">
              <a:latin typeface="Carlito"/>
              <a:cs typeface="Carlito"/>
            </a:endParaRPr>
          </a:p>
          <a:p>
            <a:pPr marL="553085" indent="-515620">
              <a:lnSpc>
                <a:spcPct val="100000"/>
              </a:lnSpc>
              <a:spcBef>
                <a:spcPts val="675"/>
              </a:spcBef>
              <a:buAutoNum type="arabicPeriod"/>
              <a:tabLst>
                <a:tab pos="553085" algn="l"/>
                <a:tab pos="553720" algn="l"/>
              </a:tabLst>
            </a:pPr>
            <a:r>
              <a:rPr dirty="0" sz="2800" spc="-10">
                <a:latin typeface="Carlito"/>
                <a:cs typeface="Carlito"/>
              </a:rPr>
              <a:t>INCOSE </a:t>
            </a:r>
            <a:r>
              <a:rPr dirty="0" sz="2800" spc="-5">
                <a:latin typeface="Carlito"/>
                <a:cs typeface="Carlito"/>
              </a:rPr>
              <a:t>MBSE </a:t>
            </a:r>
            <a:r>
              <a:rPr dirty="0" sz="2800" spc="-25">
                <a:latin typeface="Carlito"/>
                <a:cs typeface="Carlito"/>
              </a:rPr>
              <a:t>Patterns</a:t>
            </a:r>
            <a:r>
              <a:rPr dirty="0" sz="2800" spc="35">
                <a:latin typeface="Carlito"/>
                <a:cs typeface="Carlito"/>
              </a:rPr>
              <a:t> </a:t>
            </a:r>
            <a:r>
              <a:rPr dirty="0" sz="2800" spc="-5">
                <a:latin typeface="Carlito"/>
                <a:cs typeface="Carlito"/>
              </a:rPr>
              <a:t>Primer</a:t>
            </a:r>
            <a:endParaRPr sz="2800">
              <a:latin typeface="Carlito"/>
              <a:cs typeface="Carlito"/>
            </a:endParaRPr>
          </a:p>
          <a:p>
            <a:pPr marL="553085" indent="-515620">
              <a:lnSpc>
                <a:spcPct val="100000"/>
              </a:lnSpc>
              <a:spcBef>
                <a:spcPts val="660"/>
              </a:spcBef>
              <a:buAutoNum type="arabicPeriod"/>
              <a:tabLst>
                <a:tab pos="553085" algn="l"/>
                <a:tab pos="553720" algn="l"/>
              </a:tabLst>
            </a:pPr>
            <a:r>
              <a:rPr dirty="0" sz="2800" spc="-10">
                <a:latin typeface="Carlito"/>
                <a:cs typeface="Carlito"/>
              </a:rPr>
              <a:t>Minimal </a:t>
            </a:r>
            <a:r>
              <a:rPr dirty="0" sz="2800" spc="-35">
                <a:latin typeface="Carlito"/>
                <a:cs typeface="Carlito"/>
              </a:rPr>
              <a:t>S*Models</a:t>
            </a:r>
            <a:r>
              <a:rPr dirty="0" sz="2800" spc="-35">
                <a:latin typeface="Arial"/>
                <a:cs typeface="Arial"/>
              </a:rPr>
              <a:t>—</a:t>
            </a:r>
            <a:r>
              <a:rPr dirty="0" sz="2800" spc="-35">
                <a:latin typeface="Carlito"/>
                <a:cs typeface="Carlito"/>
              </a:rPr>
              <a:t>A</a:t>
            </a:r>
            <a:r>
              <a:rPr dirty="0" sz="2800" spc="80">
                <a:latin typeface="Carlito"/>
                <a:cs typeface="Carlito"/>
              </a:rPr>
              <a:t> </a:t>
            </a:r>
            <a:r>
              <a:rPr dirty="0" sz="2800" spc="-10">
                <a:latin typeface="Carlito"/>
                <a:cs typeface="Carlito"/>
              </a:rPr>
              <a:t>Primer</a:t>
            </a:r>
            <a:endParaRPr sz="2800">
              <a:latin typeface="Carlito"/>
              <a:cs typeface="Carlito"/>
            </a:endParaRPr>
          </a:p>
          <a:p>
            <a:pPr marL="553085" indent="-515620">
              <a:lnSpc>
                <a:spcPct val="100000"/>
              </a:lnSpc>
              <a:spcBef>
                <a:spcPts val="660"/>
              </a:spcBef>
              <a:buAutoNum type="arabicPeriod"/>
              <a:tabLst>
                <a:tab pos="553085" algn="l"/>
                <a:tab pos="553720" algn="l"/>
              </a:tabLst>
            </a:pPr>
            <a:r>
              <a:rPr dirty="0" sz="2800" spc="-10">
                <a:latin typeface="Carlito"/>
                <a:cs typeface="Carlito"/>
              </a:rPr>
              <a:t>Semantic </a:t>
            </a:r>
            <a:r>
              <a:rPr dirty="0" sz="2800" spc="-25">
                <a:latin typeface="Carlito"/>
                <a:cs typeface="Carlito"/>
              </a:rPr>
              <a:t>Technologies for Systems </a:t>
            </a:r>
            <a:r>
              <a:rPr dirty="0" sz="2800" spc="-10">
                <a:latin typeface="Carlito"/>
                <a:cs typeface="Carlito"/>
              </a:rPr>
              <a:t>Engineering (ST4SE)</a:t>
            </a:r>
            <a:r>
              <a:rPr dirty="0" sz="2800" spc="150">
                <a:latin typeface="Carlito"/>
                <a:cs typeface="Carlito"/>
              </a:rPr>
              <a:t> </a:t>
            </a:r>
            <a:r>
              <a:rPr dirty="0" sz="2800" spc="-15">
                <a:latin typeface="Carlito"/>
                <a:cs typeface="Carlito"/>
              </a:rPr>
              <a:t>Project</a:t>
            </a:r>
            <a:endParaRPr sz="2800">
              <a:latin typeface="Carlito"/>
              <a:cs typeface="Carli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609594" y="5956808"/>
            <a:ext cx="4610100" cy="696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400" spc="-285">
                <a:latin typeface="Arial"/>
                <a:cs typeface="Arial"/>
              </a:rPr>
              <a:t>Join </a:t>
            </a:r>
            <a:r>
              <a:rPr dirty="0" sz="4400" spc="-235">
                <a:latin typeface="Arial"/>
                <a:cs typeface="Arial"/>
              </a:rPr>
              <a:t>and</a:t>
            </a:r>
            <a:r>
              <a:rPr dirty="0" sz="4400" spc="-220">
                <a:latin typeface="Arial"/>
                <a:cs typeface="Arial"/>
              </a:rPr>
              <a:t> </a:t>
            </a:r>
            <a:r>
              <a:rPr dirty="0" sz="4400" spc="-90">
                <a:latin typeface="Arial"/>
                <a:cs typeface="Arial"/>
              </a:rPr>
              <a:t>participate!</a:t>
            </a:r>
            <a:endParaRPr sz="4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4239" y="98297"/>
            <a:ext cx="9592945" cy="6965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dirty="0" spc="-180"/>
              <a:t>1. </a:t>
            </a:r>
            <a:r>
              <a:rPr dirty="0" u="heavy" spc="-170" i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INCOSE </a:t>
            </a:r>
            <a:r>
              <a:rPr dirty="0" u="heavy" spc="-190" i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SE </a:t>
            </a:r>
            <a:r>
              <a:rPr dirty="0" u="heavy" spc="-200" i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Handbook</a:t>
            </a:r>
            <a:r>
              <a:rPr dirty="0" spc="-200"/>
              <a:t>, </a:t>
            </a:r>
            <a:r>
              <a:rPr dirty="0" spc="-55"/>
              <a:t>5</a:t>
            </a:r>
            <a:r>
              <a:rPr dirty="0" baseline="24904" sz="4350" spc="-82"/>
              <a:t>th </a:t>
            </a:r>
            <a:r>
              <a:rPr dirty="0" sz="4400" spc="-160"/>
              <a:t>Edition</a:t>
            </a:r>
            <a:r>
              <a:rPr dirty="0" sz="4400" spc="-190"/>
              <a:t> </a:t>
            </a:r>
            <a:r>
              <a:rPr dirty="0" sz="4400" spc="-185"/>
              <a:t>Project</a:t>
            </a:r>
            <a:endParaRPr sz="44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54000" indent="-228600">
              <a:lnSpc>
                <a:spcPts val="3060"/>
              </a:lnSpc>
              <a:spcBef>
                <a:spcPts val="100"/>
              </a:spcBef>
              <a:buFont typeface="Arial"/>
              <a:buChar char="•"/>
              <a:tabLst>
                <a:tab pos="254000" algn="l"/>
              </a:tabLst>
            </a:pPr>
            <a:r>
              <a:rPr dirty="0" spc="-5"/>
              <a:t>The </a:t>
            </a:r>
            <a:r>
              <a:rPr dirty="0" spc="-25"/>
              <a:t>Patterns Working </a:t>
            </a:r>
            <a:r>
              <a:rPr dirty="0" spc="-15"/>
              <a:t>Group </a:t>
            </a:r>
            <a:r>
              <a:rPr dirty="0"/>
              <a:t>is </a:t>
            </a:r>
            <a:r>
              <a:rPr dirty="0" spc="-10"/>
              <a:t>contributing</a:t>
            </a:r>
            <a:r>
              <a:rPr dirty="0" spc="25"/>
              <a:t> </a:t>
            </a:r>
            <a:r>
              <a:rPr dirty="0"/>
              <a:t>an</a:t>
            </a:r>
          </a:p>
          <a:p>
            <a:pPr marL="254000">
              <a:lnSpc>
                <a:spcPts val="2520"/>
              </a:lnSpc>
            </a:pPr>
            <a:r>
              <a:rPr dirty="0" spc="-15"/>
              <a:t>invited </a:t>
            </a:r>
            <a:r>
              <a:rPr dirty="0" spc="-5"/>
              <a:t>section on </a:t>
            </a:r>
            <a:r>
              <a:rPr dirty="0" spc="-15"/>
              <a:t>pattern-based </a:t>
            </a:r>
            <a:r>
              <a:rPr dirty="0" spc="-5"/>
              <a:t>methods </a:t>
            </a:r>
            <a:r>
              <a:rPr dirty="0" spc="-15"/>
              <a:t>to</a:t>
            </a:r>
            <a:r>
              <a:rPr dirty="0" spc="-45"/>
              <a:t> </a:t>
            </a:r>
            <a:r>
              <a:rPr dirty="0"/>
              <a:t>the</a:t>
            </a:r>
          </a:p>
          <a:p>
            <a:pPr marL="254000" marR="431800">
              <a:lnSpc>
                <a:spcPct val="70000"/>
              </a:lnSpc>
              <a:spcBef>
                <a:spcPts val="540"/>
              </a:spcBef>
            </a:pPr>
            <a:r>
              <a:rPr dirty="0" spc="-10"/>
              <a:t>INCOSE </a:t>
            </a:r>
            <a:r>
              <a:rPr dirty="0" spc="-5"/>
              <a:t>SE Handbook, </a:t>
            </a:r>
            <a:r>
              <a:rPr dirty="0"/>
              <a:t>5</a:t>
            </a:r>
            <a:r>
              <a:rPr dirty="0" baseline="25000" sz="3000"/>
              <a:t>th </a:t>
            </a:r>
            <a:r>
              <a:rPr dirty="0" sz="3000" spc="-5"/>
              <a:t>edition </a:t>
            </a:r>
            <a:r>
              <a:rPr dirty="0" sz="3000" spc="-10"/>
              <a:t>project, now </a:t>
            </a:r>
            <a:r>
              <a:rPr dirty="0" sz="3000"/>
              <a:t>in  </a:t>
            </a:r>
            <a:r>
              <a:rPr dirty="0" sz="3000" spc="-15"/>
              <a:t>generation.</a:t>
            </a:r>
            <a:endParaRPr sz="3000"/>
          </a:p>
          <a:p>
            <a:pPr marL="254000" indent="-228600">
              <a:lnSpc>
                <a:spcPts val="2975"/>
              </a:lnSpc>
              <a:buFont typeface="Arial"/>
              <a:buChar char="•"/>
              <a:tabLst>
                <a:tab pos="254000" algn="l"/>
              </a:tabLst>
            </a:pPr>
            <a:r>
              <a:rPr dirty="0" spc="-5"/>
              <a:t>The </a:t>
            </a:r>
            <a:r>
              <a:rPr dirty="0" spc="-10"/>
              <a:t>structure </a:t>
            </a:r>
            <a:r>
              <a:rPr dirty="0" spc="-5"/>
              <a:t>of the </a:t>
            </a:r>
            <a:r>
              <a:rPr dirty="0"/>
              <a:t>5</a:t>
            </a:r>
            <a:r>
              <a:rPr dirty="0" baseline="25000" sz="3000"/>
              <a:t>th </a:t>
            </a:r>
            <a:r>
              <a:rPr dirty="0" sz="3000" spc="-10"/>
              <a:t>Edition </a:t>
            </a:r>
            <a:r>
              <a:rPr dirty="0" sz="3000"/>
              <a:t>of the SE</a:t>
            </a:r>
            <a:r>
              <a:rPr dirty="0" sz="3000" spc="-320"/>
              <a:t> </a:t>
            </a:r>
            <a:r>
              <a:rPr dirty="0" sz="3000" spc="-5"/>
              <a:t>Handbook</a:t>
            </a:r>
            <a:endParaRPr sz="3000"/>
          </a:p>
          <a:p>
            <a:pPr marL="254000" marR="165735">
              <a:lnSpc>
                <a:spcPct val="70000"/>
              </a:lnSpc>
              <a:spcBef>
                <a:spcPts val="540"/>
              </a:spcBef>
            </a:pPr>
            <a:r>
              <a:rPr dirty="0" spc="-5"/>
              <a:t>is </a:t>
            </a:r>
            <a:r>
              <a:rPr dirty="0" spc="-15"/>
              <a:t>re-architected </a:t>
            </a:r>
            <a:r>
              <a:rPr dirty="0" spc="-10"/>
              <a:t>compared </a:t>
            </a:r>
            <a:r>
              <a:rPr dirty="0" spc="-15"/>
              <a:t>to past </a:t>
            </a:r>
            <a:r>
              <a:rPr dirty="0" spc="-5"/>
              <a:t>editions, based  </a:t>
            </a:r>
            <a:r>
              <a:rPr dirty="0"/>
              <a:t>on </a:t>
            </a:r>
            <a:r>
              <a:rPr dirty="0" spc="-15"/>
              <a:t>progress </a:t>
            </a:r>
            <a:r>
              <a:rPr dirty="0"/>
              <a:t>and </a:t>
            </a:r>
            <a:r>
              <a:rPr dirty="0" spc="-10"/>
              <a:t>needs </a:t>
            </a:r>
            <a:r>
              <a:rPr dirty="0"/>
              <a:t>of the</a:t>
            </a:r>
            <a:r>
              <a:rPr dirty="0" spc="-15"/>
              <a:t> </a:t>
            </a:r>
            <a:r>
              <a:rPr dirty="0" spc="-25"/>
              <a:t>community.</a:t>
            </a:r>
          </a:p>
          <a:p>
            <a:pPr marL="254000" indent="-228600">
              <a:lnSpc>
                <a:spcPts val="2975"/>
              </a:lnSpc>
              <a:buFont typeface="Arial"/>
              <a:buChar char="•"/>
              <a:tabLst>
                <a:tab pos="254000" algn="l"/>
              </a:tabLst>
            </a:pPr>
            <a:r>
              <a:rPr dirty="0" spc="-5"/>
              <a:t>Those </a:t>
            </a:r>
            <a:r>
              <a:rPr dirty="0" spc="-20"/>
              <a:t>interested </a:t>
            </a:r>
            <a:r>
              <a:rPr dirty="0" spc="-10"/>
              <a:t>in participating can </a:t>
            </a:r>
            <a:r>
              <a:rPr dirty="0" spc="-15"/>
              <a:t>contribute</a:t>
            </a:r>
            <a:r>
              <a:rPr dirty="0"/>
              <a:t> </a:t>
            </a:r>
            <a:r>
              <a:rPr dirty="0" spc="-15"/>
              <a:t>to</a:t>
            </a:r>
          </a:p>
          <a:p>
            <a:pPr marL="254000">
              <a:lnSpc>
                <a:spcPts val="2520"/>
              </a:lnSpc>
            </a:pPr>
            <a:r>
              <a:rPr dirty="0" spc="-15"/>
              <a:t>review </a:t>
            </a:r>
            <a:r>
              <a:rPr dirty="0" spc="-5"/>
              <a:t>of </a:t>
            </a:r>
            <a:r>
              <a:rPr dirty="0"/>
              <a:t>the </a:t>
            </a:r>
            <a:r>
              <a:rPr dirty="0" spc="-20"/>
              <a:t>related </a:t>
            </a:r>
            <a:r>
              <a:rPr dirty="0" spc="-5"/>
              <a:t>handbook </a:t>
            </a:r>
            <a:r>
              <a:rPr dirty="0" spc="-10"/>
              <a:t>material</a:t>
            </a:r>
            <a:r>
              <a:rPr dirty="0" spc="-15"/>
              <a:t> </a:t>
            </a:r>
            <a:r>
              <a:rPr dirty="0" spc="-10"/>
              <a:t>during</a:t>
            </a:r>
          </a:p>
          <a:p>
            <a:pPr marL="254000" marR="17780">
              <a:lnSpc>
                <a:spcPct val="70000"/>
              </a:lnSpc>
              <a:spcBef>
                <a:spcPts val="540"/>
              </a:spcBef>
            </a:pPr>
            <a:r>
              <a:rPr dirty="0" spc="-15"/>
              <a:t>defined project </a:t>
            </a:r>
            <a:r>
              <a:rPr dirty="0" spc="-5"/>
              <a:t>phases, </a:t>
            </a:r>
            <a:r>
              <a:rPr dirty="0"/>
              <a:t>as the </a:t>
            </a:r>
            <a:r>
              <a:rPr dirty="0" spc="-15"/>
              <a:t>overall </a:t>
            </a:r>
            <a:r>
              <a:rPr dirty="0" spc="-5"/>
              <a:t>SE </a:t>
            </a:r>
            <a:r>
              <a:rPr dirty="0" spc="-10"/>
              <a:t>Handbook  </a:t>
            </a:r>
            <a:r>
              <a:rPr dirty="0"/>
              <a:t>5</a:t>
            </a:r>
            <a:r>
              <a:rPr dirty="0" baseline="25000" sz="3000"/>
              <a:t>th </a:t>
            </a:r>
            <a:r>
              <a:rPr dirty="0" sz="3000" spc="-10"/>
              <a:t>Edition </a:t>
            </a:r>
            <a:r>
              <a:rPr dirty="0" sz="3000" spc="-15"/>
              <a:t>progresses </a:t>
            </a:r>
            <a:r>
              <a:rPr dirty="0" sz="3000" spc="-10"/>
              <a:t>during</a:t>
            </a:r>
            <a:r>
              <a:rPr dirty="0" sz="3000" spc="-200"/>
              <a:t> </a:t>
            </a:r>
            <a:r>
              <a:rPr dirty="0" sz="3000"/>
              <a:t>2021.</a:t>
            </a:r>
            <a:endParaRPr sz="3000"/>
          </a:p>
          <a:p>
            <a:pPr marL="254000" indent="-228600">
              <a:lnSpc>
                <a:spcPts val="3529"/>
              </a:lnSpc>
              <a:buFont typeface="Arial"/>
              <a:buChar char="•"/>
              <a:tabLst>
                <a:tab pos="254000" algn="l"/>
              </a:tabLst>
            </a:pPr>
            <a:r>
              <a:rPr dirty="0" spc="-5"/>
              <a:t>Initial </a:t>
            </a:r>
            <a:r>
              <a:rPr dirty="0" spc="-20"/>
              <a:t>review </a:t>
            </a:r>
            <a:r>
              <a:rPr dirty="0" spc="-5"/>
              <a:t>held </a:t>
            </a:r>
            <a:r>
              <a:rPr dirty="0" spc="-10"/>
              <a:t>during </a:t>
            </a:r>
            <a:r>
              <a:rPr dirty="0"/>
              <a:t>IW2021</a:t>
            </a:r>
            <a:r>
              <a:rPr dirty="0" spc="30"/>
              <a:t> </a:t>
            </a:r>
            <a:r>
              <a:rPr dirty="0" spc="-5"/>
              <a:t>meetings.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16484" y="5449316"/>
            <a:ext cx="8155940" cy="802640"/>
          </a:xfrm>
          <a:prstGeom prst="rect">
            <a:avLst/>
          </a:prstGeom>
        </p:spPr>
        <p:txBody>
          <a:bodyPr wrap="square" lIns="0" tIns="149860" rIns="0" bIns="0" rtlCol="0" vert="horz">
            <a:spAutoFit/>
          </a:bodyPr>
          <a:lstStyle/>
          <a:p>
            <a:pPr marL="241300" marR="5080" indent="-228600">
              <a:lnSpc>
                <a:spcPct val="70000"/>
              </a:lnSpc>
              <a:spcBef>
                <a:spcPts val="1180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3000" spc="-15">
                <a:latin typeface="Carlito"/>
                <a:cs typeface="Carlito"/>
              </a:rPr>
              <a:t>Overall project </a:t>
            </a:r>
            <a:r>
              <a:rPr dirty="0" sz="3000">
                <a:latin typeface="Carlito"/>
                <a:cs typeface="Carlito"/>
              </a:rPr>
              <a:t>is </a:t>
            </a:r>
            <a:r>
              <a:rPr dirty="0" sz="3000" spc="-5">
                <a:latin typeface="Carlito"/>
                <a:cs typeface="Carlito"/>
              </a:rPr>
              <a:t>led </a:t>
            </a:r>
            <a:r>
              <a:rPr dirty="0" sz="3000" spc="-10">
                <a:latin typeface="Carlito"/>
                <a:cs typeface="Carlito"/>
              </a:rPr>
              <a:t>by INCOSE </a:t>
            </a:r>
            <a:r>
              <a:rPr dirty="0" sz="3000" spc="-5">
                <a:latin typeface="Carlito"/>
                <a:cs typeface="Carlito"/>
              </a:rPr>
              <a:t>Handbook </a:t>
            </a:r>
            <a:r>
              <a:rPr dirty="0" sz="3000" spc="-15">
                <a:latin typeface="Carlito"/>
                <a:cs typeface="Carlito"/>
              </a:rPr>
              <a:t>Editorial  </a:t>
            </a:r>
            <a:r>
              <a:rPr dirty="0" sz="3000" spc="-55">
                <a:latin typeface="Carlito"/>
                <a:cs typeface="Carlito"/>
              </a:rPr>
              <a:t>Team, </a:t>
            </a:r>
            <a:r>
              <a:rPr dirty="0" sz="3000" spc="-10">
                <a:latin typeface="Carlito"/>
                <a:cs typeface="Carlito"/>
              </a:rPr>
              <a:t>chaired </a:t>
            </a:r>
            <a:r>
              <a:rPr dirty="0" sz="3000" spc="-15">
                <a:latin typeface="Carlito"/>
                <a:cs typeface="Carlito"/>
              </a:rPr>
              <a:t>by </a:t>
            </a:r>
            <a:r>
              <a:rPr dirty="0" sz="3000" spc="-20">
                <a:latin typeface="Carlito"/>
                <a:cs typeface="Carlito"/>
              </a:rPr>
              <a:t>Dave</a:t>
            </a:r>
            <a:r>
              <a:rPr dirty="0" sz="3000" spc="30">
                <a:latin typeface="Carlito"/>
                <a:cs typeface="Carlito"/>
              </a:rPr>
              <a:t> </a:t>
            </a:r>
            <a:r>
              <a:rPr dirty="0" sz="3000" spc="-20">
                <a:latin typeface="Carlito"/>
                <a:cs typeface="Carlito"/>
              </a:rPr>
              <a:t>Walden.</a:t>
            </a:r>
            <a:endParaRPr sz="3000">
              <a:latin typeface="Carlito"/>
              <a:cs typeface="Carlito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131807" y="1540763"/>
            <a:ext cx="2926079" cy="36774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302495" y="5235955"/>
            <a:ext cx="258635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 spc="-15" b="1">
                <a:latin typeface="Carlito"/>
                <a:cs typeface="Carlito"/>
              </a:rPr>
              <a:t>Current </a:t>
            </a:r>
            <a:r>
              <a:rPr dirty="0" sz="2400" spc="-5" b="1">
                <a:latin typeface="Carlito"/>
                <a:cs typeface="Carlito"/>
              </a:rPr>
              <a:t>(4</a:t>
            </a:r>
            <a:r>
              <a:rPr dirty="0" baseline="24305" sz="2400" spc="-7" b="1">
                <a:latin typeface="Carlito"/>
                <a:cs typeface="Carlito"/>
              </a:rPr>
              <a:t>th</a:t>
            </a:r>
            <a:r>
              <a:rPr dirty="0" sz="2400" spc="-5" b="1">
                <a:latin typeface="Carlito"/>
                <a:cs typeface="Carlito"/>
              </a:rPr>
              <a:t>)</a:t>
            </a:r>
            <a:r>
              <a:rPr dirty="0" sz="2400" spc="-10" b="1">
                <a:latin typeface="Carlito"/>
                <a:cs typeface="Carlito"/>
              </a:rPr>
              <a:t> Edition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373761"/>
            <a:ext cx="11807190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170"/>
              <a:t>2. </a:t>
            </a:r>
            <a:r>
              <a:rPr dirty="0" u="heavy" sz="4000" spc="-200" i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INCOSE </a:t>
            </a:r>
            <a:r>
              <a:rPr dirty="0" u="heavy" sz="4000" spc="-155" i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Vision 2035</a:t>
            </a:r>
            <a:r>
              <a:rPr dirty="0" sz="4000" spc="-155"/>
              <a:t>, </a:t>
            </a:r>
            <a:r>
              <a:rPr dirty="0" sz="4000" spc="-790"/>
              <a:t>SE </a:t>
            </a:r>
            <a:r>
              <a:rPr dirty="0" sz="4000" spc="-170"/>
              <a:t>Theoretical </a:t>
            </a:r>
            <a:r>
              <a:rPr dirty="0" sz="4000" spc="-200"/>
              <a:t>Foundations</a:t>
            </a:r>
            <a:r>
              <a:rPr dirty="0" sz="4000" spc="-350"/>
              <a:t> </a:t>
            </a:r>
            <a:r>
              <a:rPr dirty="0" sz="4000" spc="-170"/>
              <a:t>Project</a:t>
            </a:r>
            <a:endParaRPr sz="40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1107" y="1482344"/>
            <a:ext cx="6250305" cy="5289550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241300" marR="128905" indent="-228600">
              <a:lnSpc>
                <a:spcPct val="80000"/>
              </a:lnSpc>
              <a:spcBef>
                <a:spcPts val="675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400" spc="-5">
                <a:latin typeface="Carlito"/>
                <a:cs typeface="Carlito"/>
              </a:rPr>
              <a:t>The </a:t>
            </a:r>
            <a:r>
              <a:rPr dirty="0" sz="2400" spc="-20">
                <a:latin typeface="Carlito"/>
                <a:cs typeface="Carlito"/>
              </a:rPr>
              <a:t>Patterns Working </a:t>
            </a:r>
            <a:r>
              <a:rPr dirty="0" sz="2400" spc="-10">
                <a:latin typeface="Carlito"/>
                <a:cs typeface="Carlito"/>
              </a:rPr>
              <a:t>Group </a:t>
            </a:r>
            <a:r>
              <a:rPr dirty="0" sz="2400">
                <a:latin typeface="Carlito"/>
                <a:cs typeface="Carlito"/>
              </a:rPr>
              <a:t>is </a:t>
            </a:r>
            <a:r>
              <a:rPr dirty="0" sz="2400" spc="-10">
                <a:latin typeface="Carlito"/>
                <a:cs typeface="Carlito"/>
              </a:rPr>
              <a:t>providing </a:t>
            </a:r>
            <a:r>
              <a:rPr dirty="0" sz="2400">
                <a:latin typeface="Carlito"/>
                <a:cs typeface="Carlito"/>
              </a:rPr>
              <a:t>the </a:t>
            </a:r>
            <a:r>
              <a:rPr dirty="0" u="heavy" sz="2400">
                <a:uFill>
                  <a:solidFill>
                    <a:srgbClr val="000000"/>
                  </a:solidFill>
                </a:uFill>
                <a:latin typeface="Carlito"/>
                <a:cs typeface="Carlito"/>
              </a:rPr>
              <a:t> </a:t>
            </a:r>
            <a:r>
              <a:rPr dirty="0" u="heavy" sz="2400" spc="-5">
                <a:uFill>
                  <a:solidFill>
                    <a:srgbClr val="000000"/>
                  </a:solidFill>
                </a:uFill>
                <a:latin typeface="Carlito"/>
                <a:cs typeface="Carlito"/>
              </a:rPr>
              <a:t>SE </a:t>
            </a:r>
            <a:r>
              <a:rPr dirty="0" u="heavy" sz="2400" spc="-10">
                <a:uFill>
                  <a:solidFill>
                    <a:srgbClr val="000000"/>
                  </a:solidFill>
                </a:uFill>
                <a:latin typeface="Carlito"/>
                <a:cs typeface="Carlito"/>
              </a:rPr>
              <a:t>Theoretical Foundations</a:t>
            </a:r>
            <a:r>
              <a:rPr dirty="0" sz="2400" spc="-10">
                <a:latin typeface="Carlito"/>
                <a:cs typeface="Carlito"/>
              </a:rPr>
              <a:t> </a:t>
            </a:r>
            <a:r>
              <a:rPr dirty="0" sz="2400" spc="-5">
                <a:latin typeface="Carlito"/>
                <a:cs typeface="Carlito"/>
              </a:rPr>
              <a:t>section of </a:t>
            </a:r>
            <a:r>
              <a:rPr dirty="0" sz="2400" spc="-10">
                <a:latin typeface="Carlito"/>
                <a:cs typeface="Carlito"/>
              </a:rPr>
              <a:t>INCOSE  </a:t>
            </a:r>
            <a:r>
              <a:rPr dirty="0" sz="2400" spc="-5">
                <a:latin typeface="Carlito"/>
                <a:cs typeface="Carlito"/>
              </a:rPr>
              <a:t>Vision 2035 </a:t>
            </a:r>
            <a:r>
              <a:rPr dirty="0" sz="2400" spc="-10">
                <a:latin typeface="Carlito"/>
                <a:cs typeface="Carlito"/>
              </a:rPr>
              <a:t>publication project, now </a:t>
            </a:r>
            <a:r>
              <a:rPr dirty="0" sz="2400" spc="-30">
                <a:latin typeface="Carlito"/>
                <a:cs typeface="Carlito"/>
              </a:rPr>
              <a:t>underway.</a:t>
            </a:r>
            <a:endParaRPr sz="2400">
              <a:latin typeface="Carlito"/>
              <a:cs typeface="Carlito"/>
            </a:endParaRPr>
          </a:p>
          <a:p>
            <a:pPr marL="241300" marR="99695" indent="-228600">
              <a:lnSpc>
                <a:spcPct val="80000"/>
              </a:lnSpc>
              <a:spcBef>
                <a:spcPts val="1000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400" spc="-30">
                <a:latin typeface="Carlito"/>
                <a:cs typeface="Carlito"/>
              </a:rPr>
              <a:t>At </a:t>
            </a:r>
            <a:r>
              <a:rPr dirty="0" sz="2400" spc="-5">
                <a:latin typeface="Carlito"/>
                <a:cs typeface="Carlito"/>
              </a:rPr>
              <a:t>IW2020, </a:t>
            </a:r>
            <a:r>
              <a:rPr dirty="0" sz="2400">
                <a:latin typeface="Carlito"/>
                <a:cs typeface="Carlito"/>
              </a:rPr>
              <a:t>an initial </a:t>
            </a:r>
            <a:r>
              <a:rPr dirty="0" sz="2400" spc="-5">
                <a:latin typeface="Carlito"/>
                <a:cs typeface="Carlito"/>
              </a:rPr>
              <a:t>conceptual </a:t>
            </a:r>
            <a:r>
              <a:rPr dirty="0" sz="2400" spc="-10">
                <a:latin typeface="Carlito"/>
                <a:cs typeface="Carlito"/>
              </a:rPr>
              <a:t>review </a:t>
            </a:r>
            <a:r>
              <a:rPr dirty="0" sz="2400">
                <a:latin typeface="Carlito"/>
                <a:cs typeface="Carlito"/>
              </a:rPr>
              <a:t>with a  </a:t>
            </a:r>
            <a:r>
              <a:rPr dirty="0" sz="2400" spc="-5">
                <a:latin typeface="Carlito"/>
                <a:cs typeface="Carlito"/>
              </a:rPr>
              <a:t>set of </a:t>
            </a:r>
            <a:r>
              <a:rPr dirty="0" sz="2400" spc="-10">
                <a:latin typeface="Carlito"/>
                <a:cs typeface="Carlito"/>
              </a:rPr>
              <a:t>expert </a:t>
            </a:r>
            <a:r>
              <a:rPr dirty="0" sz="2400" spc="-15">
                <a:latin typeface="Carlito"/>
                <a:cs typeface="Carlito"/>
              </a:rPr>
              <a:t>reviewers </a:t>
            </a:r>
            <a:r>
              <a:rPr dirty="0" sz="2400" spc="-10">
                <a:latin typeface="Carlito"/>
                <a:cs typeface="Carlito"/>
              </a:rPr>
              <a:t>was </a:t>
            </a:r>
            <a:r>
              <a:rPr dirty="0" sz="2400" spc="-5">
                <a:latin typeface="Carlito"/>
                <a:cs typeface="Carlito"/>
              </a:rPr>
              <a:t>held, since </a:t>
            </a:r>
            <a:r>
              <a:rPr dirty="0" sz="2400" spc="-15">
                <a:latin typeface="Carlito"/>
                <a:cs typeface="Carlito"/>
              </a:rPr>
              <a:t>followed  </a:t>
            </a:r>
            <a:r>
              <a:rPr dirty="0" sz="2400" spc="-10">
                <a:latin typeface="Carlito"/>
                <a:cs typeface="Carlito"/>
              </a:rPr>
              <a:t>by drafting </a:t>
            </a:r>
            <a:r>
              <a:rPr dirty="0" sz="2400" spc="-5">
                <a:latin typeface="Carlito"/>
                <a:cs typeface="Carlito"/>
              </a:rPr>
              <a:t>of </a:t>
            </a:r>
            <a:r>
              <a:rPr dirty="0" sz="2400">
                <a:latin typeface="Carlito"/>
                <a:cs typeface="Carlito"/>
              </a:rPr>
              <a:t>the </a:t>
            </a:r>
            <a:r>
              <a:rPr dirty="0" sz="2400" spc="-15">
                <a:latin typeface="Carlito"/>
                <a:cs typeface="Carlito"/>
              </a:rPr>
              <a:t>related </a:t>
            </a:r>
            <a:r>
              <a:rPr dirty="0" sz="2400" spc="-5">
                <a:latin typeface="Carlito"/>
                <a:cs typeface="Carlito"/>
              </a:rPr>
              <a:t>sectional</a:t>
            </a:r>
            <a:r>
              <a:rPr dirty="0" sz="2400" spc="-30">
                <a:latin typeface="Carlito"/>
                <a:cs typeface="Carlito"/>
              </a:rPr>
              <a:t> </a:t>
            </a:r>
            <a:r>
              <a:rPr dirty="0" sz="2400" spc="-5">
                <a:latin typeface="Carlito"/>
                <a:cs typeface="Carlito"/>
              </a:rPr>
              <a:t>material.</a:t>
            </a:r>
            <a:endParaRPr sz="2400">
              <a:latin typeface="Carlito"/>
              <a:cs typeface="Carlito"/>
            </a:endParaRPr>
          </a:p>
          <a:p>
            <a:pPr marL="241300" marR="121920" indent="-228600">
              <a:lnSpc>
                <a:spcPct val="80000"/>
              </a:lnSpc>
              <a:spcBef>
                <a:spcPts val="1005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400" spc="-5">
                <a:latin typeface="Carlito"/>
                <a:cs typeface="Carlito"/>
              </a:rPr>
              <a:t>This </a:t>
            </a:r>
            <a:r>
              <a:rPr dirty="0" sz="2400">
                <a:latin typeface="Carlito"/>
                <a:cs typeface="Carlito"/>
              </a:rPr>
              <a:t>includes a </a:t>
            </a:r>
            <a:r>
              <a:rPr dirty="0" sz="2400" spc="-5">
                <a:latin typeface="Carlito"/>
                <a:cs typeface="Carlito"/>
              </a:rPr>
              <a:t>community-wide </a:t>
            </a:r>
            <a:r>
              <a:rPr dirty="0" sz="2400" spc="-10">
                <a:latin typeface="Carlito"/>
                <a:cs typeface="Carlito"/>
              </a:rPr>
              <a:t>Roadmap </a:t>
            </a:r>
            <a:r>
              <a:rPr dirty="0" sz="2400" spc="-20">
                <a:latin typeface="Carlito"/>
                <a:cs typeface="Carlito"/>
              </a:rPr>
              <a:t>for  </a:t>
            </a:r>
            <a:r>
              <a:rPr dirty="0" sz="2400">
                <a:latin typeface="Carlito"/>
                <a:cs typeface="Carlito"/>
              </a:rPr>
              <a:t>the </a:t>
            </a:r>
            <a:r>
              <a:rPr dirty="0" sz="2400" spc="-5">
                <a:latin typeface="Carlito"/>
                <a:cs typeface="Carlito"/>
              </a:rPr>
              <a:t>advancement of </a:t>
            </a:r>
            <a:r>
              <a:rPr dirty="0" sz="2400">
                <a:latin typeface="Carlito"/>
                <a:cs typeface="Carlito"/>
              </a:rPr>
              <a:t>SE </a:t>
            </a:r>
            <a:r>
              <a:rPr dirty="0" sz="2400" spc="-5">
                <a:latin typeface="Carlito"/>
                <a:cs typeface="Carlito"/>
              </a:rPr>
              <a:t>Practice, </a:t>
            </a:r>
            <a:r>
              <a:rPr dirty="0" sz="2400" spc="-10">
                <a:latin typeface="Carlito"/>
                <a:cs typeface="Carlito"/>
              </a:rPr>
              <a:t>Education,</a:t>
            </a:r>
            <a:r>
              <a:rPr dirty="0" sz="2400" spc="-135">
                <a:latin typeface="Carlito"/>
                <a:cs typeface="Carlito"/>
              </a:rPr>
              <a:t> </a:t>
            </a:r>
            <a:r>
              <a:rPr dirty="0" sz="2400">
                <a:latin typeface="Carlito"/>
                <a:cs typeface="Carlito"/>
              </a:rPr>
              <a:t>and  </a:t>
            </a:r>
            <a:r>
              <a:rPr dirty="0" sz="2400" spc="-10">
                <a:latin typeface="Carlito"/>
                <a:cs typeface="Carlito"/>
              </a:rPr>
              <a:t>Research, </a:t>
            </a:r>
            <a:r>
              <a:rPr dirty="0" sz="2400" spc="-5">
                <a:latin typeface="Carlito"/>
                <a:cs typeface="Carlito"/>
              </a:rPr>
              <a:t>based on </a:t>
            </a:r>
            <a:r>
              <a:rPr dirty="0" sz="2400">
                <a:latin typeface="Carlito"/>
                <a:cs typeface="Carlito"/>
              </a:rPr>
              <a:t>the impacts </a:t>
            </a:r>
            <a:r>
              <a:rPr dirty="0" sz="2400" spc="-5">
                <a:latin typeface="Carlito"/>
                <a:cs typeface="Carlito"/>
              </a:rPr>
              <a:t>of these  </a:t>
            </a:r>
            <a:r>
              <a:rPr dirty="0" sz="2400" spc="-10">
                <a:latin typeface="Carlito"/>
                <a:cs typeface="Carlito"/>
              </a:rPr>
              <a:t>strengthened foundations.</a:t>
            </a:r>
            <a:endParaRPr sz="2400">
              <a:latin typeface="Carlito"/>
              <a:cs typeface="Carlito"/>
            </a:endParaRPr>
          </a:p>
          <a:p>
            <a:pPr marL="241300" marR="5080" indent="-228600">
              <a:lnSpc>
                <a:spcPct val="80000"/>
              </a:lnSpc>
              <a:spcBef>
                <a:spcPts val="994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400" spc="-10">
                <a:latin typeface="Carlito"/>
                <a:cs typeface="Carlito"/>
              </a:rPr>
              <a:t>Those </a:t>
            </a:r>
            <a:r>
              <a:rPr dirty="0" sz="2400" spc="-15">
                <a:latin typeface="Carlito"/>
                <a:cs typeface="Carlito"/>
              </a:rPr>
              <a:t>interested </a:t>
            </a:r>
            <a:r>
              <a:rPr dirty="0" sz="2400">
                <a:latin typeface="Carlito"/>
                <a:cs typeface="Carlito"/>
              </a:rPr>
              <a:t>in </a:t>
            </a:r>
            <a:r>
              <a:rPr dirty="0" sz="2400" spc="-5">
                <a:latin typeface="Carlito"/>
                <a:cs typeface="Carlito"/>
              </a:rPr>
              <a:t>participating </a:t>
            </a:r>
            <a:r>
              <a:rPr dirty="0" sz="2400" spc="-10">
                <a:latin typeface="Carlito"/>
                <a:cs typeface="Carlito"/>
              </a:rPr>
              <a:t>can </a:t>
            </a:r>
            <a:r>
              <a:rPr dirty="0" sz="2400" spc="-5">
                <a:latin typeface="Carlito"/>
                <a:cs typeface="Carlito"/>
              </a:rPr>
              <a:t>be </a:t>
            </a:r>
            <a:r>
              <a:rPr dirty="0" sz="2400">
                <a:latin typeface="Carlito"/>
                <a:cs typeface="Carlito"/>
              </a:rPr>
              <a:t>a </a:t>
            </a:r>
            <a:r>
              <a:rPr dirty="0" sz="2400" spc="-5">
                <a:latin typeface="Carlito"/>
                <a:cs typeface="Carlito"/>
              </a:rPr>
              <a:t>part of  </a:t>
            </a:r>
            <a:r>
              <a:rPr dirty="0" sz="2400">
                <a:latin typeface="Carlito"/>
                <a:cs typeface="Carlito"/>
              </a:rPr>
              <a:t>the </a:t>
            </a:r>
            <a:r>
              <a:rPr dirty="0" sz="2400" spc="-15">
                <a:latin typeface="Carlito"/>
                <a:cs typeface="Carlito"/>
              </a:rPr>
              <a:t>diverse </a:t>
            </a:r>
            <a:r>
              <a:rPr dirty="0" sz="2400" spc="-10">
                <a:latin typeface="Carlito"/>
                <a:cs typeface="Carlito"/>
              </a:rPr>
              <a:t>future </a:t>
            </a:r>
            <a:r>
              <a:rPr dirty="0" sz="2400">
                <a:latin typeface="Carlito"/>
                <a:cs typeface="Carlito"/>
              </a:rPr>
              <a:t>activities </a:t>
            </a:r>
            <a:r>
              <a:rPr dirty="0" sz="2400" spc="-10">
                <a:latin typeface="Carlito"/>
                <a:cs typeface="Carlito"/>
              </a:rPr>
              <a:t>listed </a:t>
            </a:r>
            <a:r>
              <a:rPr dirty="0" sz="2400">
                <a:latin typeface="Carlito"/>
                <a:cs typeface="Carlito"/>
              </a:rPr>
              <a:t>in </a:t>
            </a:r>
            <a:r>
              <a:rPr dirty="0" sz="2400" spc="-10">
                <a:latin typeface="Carlito"/>
                <a:cs typeface="Carlito"/>
              </a:rPr>
              <a:t>that  roadmap </a:t>
            </a:r>
            <a:r>
              <a:rPr dirty="0" sz="2400" spc="-15">
                <a:latin typeface="Carlito"/>
                <a:cs typeface="Carlito"/>
              </a:rPr>
              <a:t>over </a:t>
            </a:r>
            <a:r>
              <a:rPr dirty="0" sz="2400">
                <a:latin typeface="Carlito"/>
                <a:cs typeface="Carlito"/>
              </a:rPr>
              <a:t>the </a:t>
            </a:r>
            <a:r>
              <a:rPr dirty="0" sz="2400" spc="-10">
                <a:latin typeface="Carlito"/>
                <a:cs typeface="Carlito"/>
              </a:rPr>
              <a:t>coming </a:t>
            </a:r>
            <a:r>
              <a:rPr dirty="0" sz="2400" spc="-5">
                <a:latin typeface="Carlito"/>
                <a:cs typeface="Carlito"/>
              </a:rPr>
              <a:t>periods, beginning  </a:t>
            </a:r>
            <a:r>
              <a:rPr dirty="0" sz="2400">
                <a:latin typeface="Carlito"/>
                <a:cs typeface="Carlito"/>
              </a:rPr>
              <a:t>with </a:t>
            </a:r>
            <a:r>
              <a:rPr dirty="0" sz="2400" spc="-10">
                <a:latin typeface="Carlito"/>
                <a:cs typeface="Carlito"/>
              </a:rPr>
              <a:t>review </a:t>
            </a:r>
            <a:r>
              <a:rPr dirty="0" sz="2400" spc="-5">
                <a:latin typeface="Carlito"/>
                <a:cs typeface="Carlito"/>
              </a:rPr>
              <a:t>of </a:t>
            </a:r>
            <a:r>
              <a:rPr dirty="0" sz="2400">
                <a:latin typeface="Carlito"/>
                <a:cs typeface="Carlito"/>
              </a:rPr>
              <a:t>the </a:t>
            </a:r>
            <a:r>
              <a:rPr dirty="0" sz="2400" spc="-5">
                <a:latin typeface="Carlito"/>
                <a:cs typeface="Carlito"/>
              </a:rPr>
              <a:t>materials </a:t>
            </a:r>
            <a:r>
              <a:rPr dirty="0" sz="2400" spc="-15">
                <a:latin typeface="Carlito"/>
                <a:cs typeface="Carlito"/>
              </a:rPr>
              <a:t>to</a:t>
            </a:r>
            <a:r>
              <a:rPr dirty="0" sz="2400" spc="-70">
                <a:latin typeface="Carlito"/>
                <a:cs typeface="Carlito"/>
              </a:rPr>
              <a:t> </a:t>
            </a:r>
            <a:r>
              <a:rPr dirty="0" sz="2400" spc="-15">
                <a:latin typeface="Carlito"/>
                <a:cs typeface="Carlito"/>
              </a:rPr>
              <a:t>date.</a:t>
            </a:r>
            <a:endParaRPr sz="2400">
              <a:latin typeface="Carlito"/>
              <a:cs typeface="Carlito"/>
            </a:endParaRPr>
          </a:p>
          <a:p>
            <a:pPr marL="241300" indent="-228600">
              <a:lnSpc>
                <a:spcPts val="2595"/>
              </a:lnSpc>
              <a:spcBef>
                <a:spcPts val="420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400" spc="-15">
                <a:latin typeface="Carlito"/>
                <a:cs typeface="Carlito"/>
              </a:rPr>
              <a:t>Overall </a:t>
            </a:r>
            <a:r>
              <a:rPr dirty="0" sz="2400" spc="-10">
                <a:latin typeface="Carlito"/>
                <a:cs typeface="Carlito"/>
              </a:rPr>
              <a:t>INCOSE project </a:t>
            </a:r>
            <a:r>
              <a:rPr dirty="0" sz="2400">
                <a:latin typeface="Carlito"/>
                <a:cs typeface="Carlito"/>
              </a:rPr>
              <a:t>is </a:t>
            </a:r>
            <a:r>
              <a:rPr dirty="0" sz="2400" spc="-5">
                <a:latin typeface="Carlito"/>
                <a:cs typeface="Carlito"/>
              </a:rPr>
              <a:t>led </a:t>
            </a:r>
            <a:r>
              <a:rPr dirty="0" sz="2400" spc="-10">
                <a:latin typeface="Carlito"/>
                <a:cs typeface="Carlito"/>
              </a:rPr>
              <a:t>by </a:t>
            </a:r>
            <a:r>
              <a:rPr dirty="0" sz="2400" spc="-5">
                <a:latin typeface="Carlito"/>
                <a:cs typeface="Carlito"/>
              </a:rPr>
              <a:t>editorial</a:t>
            </a:r>
            <a:r>
              <a:rPr dirty="0" sz="2400" spc="-35">
                <a:latin typeface="Carlito"/>
                <a:cs typeface="Carlito"/>
              </a:rPr>
              <a:t> </a:t>
            </a:r>
            <a:r>
              <a:rPr dirty="0" sz="2400" spc="-5">
                <a:latin typeface="Carlito"/>
                <a:cs typeface="Carlito"/>
              </a:rPr>
              <a:t>team</a:t>
            </a:r>
            <a:endParaRPr sz="2400">
              <a:latin typeface="Carlito"/>
              <a:cs typeface="Carlito"/>
            </a:endParaRPr>
          </a:p>
          <a:p>
            <a:pPr marL="241300">
              <a:lnSpc>
                <a:spcPts val="2595"/>
              </a:lnSpc>
            </a:pPr>
            <a:r>
              <a:rPr dirty="0" sz="2400" spc="-5">
                <a:latin typeface="Carlito"/>
                <a:cs typeface="Carlito"/>
              </a:rPr>
              <a:t>chaired </a:t>
            </a:r>
            <a:r>
              <a:rPr dirty="0" sz="2400" spc="-10">
                <a:latin typeface="Carlito"/>
                <a:cs typeface="Carlito"/>
              </a:rPr>
              <a:t>by </a:t>
            </a:r>
            <a:r>
              <a:rPr dirty="0" sz="2400" spc="-5">
                <a:latin typeface="Carlito"/>
                <a:cs typeface="Carlito"/>
              </a:rPr>
              <a:t>Sandy</a:t>
            </a:r>
            <a:r>
              <a:rPr dirty="0" sz="2400" spc="-20">
                <a:latin typeface="Carlito"/>
                <a:cs typeface="Carlito"/>
              </a:rPr>
              <a:t> </a:t>
            </a:r>
            <a:r>
              <a:rPr dirty="0" sz="2400" spc="-5">
                <a:latin typeface="Carlito"/>
                <a:cs typeface="Carlito"/>
              </a:rPr>
              <a:t>Friedenthal.</a:t>
            </a:r>
            <a:endParaRPr sz="2400">
              <a:latin typeface="Carlito"/>
              <a:cs typeface="Carlito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723888" y="1923288"/>
            <a:ext cx="5434965" cy="3295015"/>
            <a:chOff x="6723888" y="1923288"/>
            <a:chExt cx="5434965" cy="3295015"/>
          </a:xfrm>
        </p:grpSpPr>
        <p:sp>
          <p:nvSpPr>
            <p:cNvPr id="5" name="object 5"/>
            <p:cNvSpPr/>
            <p:nvPr/>
          </p:nvSpPr>
          <p:spPr>
            <a:xfrm>
              <a:off x="6733032" y="1932431"/>
              <a:ext cx="5396161" cy="32766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6728460" y="1927860"/>
              <a:ext cx="5425440" cy="3286125"/>
            </a:xfrm>
            <a:custGeom>
              <a:avLst/>
              <a:gdLst/>
              <a:ahLst/>
              <a:cxnLst/>
              <a:rect l="l" t="t" r="r" b="b"/>
              <a:pathLst>
                <a:path w="5425440" h="3286125">
                  <a:moveTo>
                    <a:pt x="0" y="3285744"/>
                  </a:moveTo>
                  <a:lnTo>
                    <a:pt x="5425440" y="3285744"/>
                  </a:lnTo>
                  <a:lnTo>
                    <a:pt x="5425440" y="0"/>
                  </a:lnTo>
                  <a:lnTo>
                    <a:pt x="0" y="0"/>
                  </a:lnTo>
                  <a:lnTo>
                    <a:pt x="0" y="3285744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6829259" y="3087941"/>
              <a:ext cx="2412276" cy="1654111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6823202" y="3081909"/>
              <a:ext cx="2424430" cy="1666239"/>
            </a:xfrm>
            <a:custGeom>
              <a:avLst/>
              <a:gdLst/>
              <a:ahLst/>
              <a:cxnLst/>
              <a:rect l="l" t="t" r="r" b="b"/>
              <a:pathLst>
                <a:path w="2424429" h="1666239">
                  <a:moveTo>
                    <a:pt x="0" y="695197"/>
                  </a:moveTo>
                  <a:lnTo>
                    <a:pt x="2103501" y="0"/>
                  </a:lnTo>
                  <a:lnTo>
                    <a:pt x="2424429" y="970914"/>
                  </a:lnTo>
                  <a:lnTo>
                    <a:pt x="320928" y="1666113"/>
                  </a:lnTo>
                  <a:lnTo>
                    <a:pt x="0" y="695197"/>
                  </a:lnTo>
                  <a:close/>
                </a:path>
              </a:pathLst>
            </a:custGeom>
            <a:ln w="952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7836789" y="5268848"/>
            <a:ext cx="3665854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5" b="1">
                <a:latin typeface="Carlito"/>
                <a:cs typeface="Carlito"/>
              </a:rPr>
              <a:t>Current </a:t>
            </a:r>
            <a:r>
              <a:rPr dirty="0" sz="2400" b="1">
                <a:latin typeface="Carlito"/>
                <a:cs typeface="Carlito"/>
              </a:rPr>
              <a:t>(Vision </a:t>
            </a:r>
            <a:r>
              <a:rPr dirty="0" sz="2400" spc="-5" b="1">
                <a:latin typeface="Carlito"/>
                <a:cs typeface="Carlito"/>
              </a:rPr>
              <a:t>2025)</a:t>
            </a:r>
            <a:r>
              <a:rPr dirty="0" sz="2400" spc="-35" b="1">
                <a:latin typeface="Carlito"/>
                <a:cs typeface="Carlito"/>
              </a:rPr>
              <a:t> </a:t>
            </a:r>
            <a:r>
              <a:rPr dirty="0" sz="2400" spc="-10" b="1">
                <a:latin typeface="Carlito"/>
                <a:cs typeface="Carlito"/>
              </a:rPr>
              <a:t>Edition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0"/>
            <a:ext cx="11050270" cy="1183640"/>
          </a:xfrm>
          <a:prstGeom prst="rect"/>
        </p:spPr>
        <p:txBody>
          <a:bodyPr wrap="square" lIns="0" tIns="81280" rIns="0" bIns="0" rtlCol="0" vert="horz">
            <a:spAutoFit/>
          </a:bodyPr>
          <a:lstStyle/>
          <a:p>
            <a:pPr marL="646430" marR="5080" indent="-634365">
              <a:lnSpc>
                <a:spcPts val="4320"/>
              </a:lnSpc>
              <a:spcBef>
                <a:spcPts val="640"/>
              </a:spcBef>
            </a:pPr>
            <a:r>
              <a:rPr dirty="0" sz="4000" spc="-170"/>
              <a:t>3. </a:t>
            </a:r>
            <a:r>
              <a:rPr dirty="0" sz="4000" spc="-180"/>
              <a:t>Adaptive </a:t>
            </a:r>
            <a:r>
              <a:rPr dirty="0" sz="4000" spc="-220"/>
              <a:t>Learning </a:t>
            </a:r>
            <a:r>
              <a:rPr dirty="0" sz="4000" spc="-315"/>
              <a:t>Ecosystem </a:t>
            </a:r>
            <a:r>
              <a:rPr dirty="0" sz="4000" spc="-160"/>
              <a:t>Pattern—the </a:t>
            </a:r>
            <a:r>
              <a:rPr dirty="0" sz="4000" spc="-220"/>
              <a:t>Learning  </a:t>
            </a:r>
            <a:r>
              <a:rPr dirty="0" sz="4000" spc="-320"/>
              <a:t>Ecosystem </a:t>
            </a:r>
            <a:r>
              <a:rPr dirty="0" sz="4000" spc="-445"/>
              <a:t>(ASELCM) </a:t>
            </a:r>
            <a:r>
              <a:rPr dirty="0" sz="4000" spc="-270"/>
              <a:t>Reference</a:t>
            </a:r>
            <a:r>
              <a:rPr dirty="0" sz="4000" spc="105"/>
              <a:t> </a:t>
            </a:r>
            <a:r>
              <a:rPr dirty="0" sz="4000" spc="-215"/>
              <a:t>Framework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127507" y="1273555"/>
            <a:ext cx="7731125" cy="5455285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241300" marR="5080" indent="-228600">
              <a:lnSpc>
                <a:spcPct val="80000"/>
              </a:lnSpc>
              <a:spcBef>
                <a:spcPts val="675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400" spc="-10">
                <a:latin typeface="Carlito"/>
                <a:cs typeface="Carlito"/>
              </a:rPr>
              <a:t>Collaborating </a:t>
            </a:r>
            <a:r>
              <a:rPr dirty="0" sz="2400">
                <a:latin typeface="Carlito"/>
                <a:cs typeface="Carlito"/>
              </a:rPr>
              <a:t>with the </a:t>
            </a:r>
            <a:r>
              <a:rPr dirty="0" sz="2400" spc="-10">
                <a:latin typeface="Carlito"/>
                <a:cs typeface="Carlito"/>
              </a:rPr>
              <a:t>INCOSE </a:t>
            </a:r>
            <a:r>
              <a:rPr dirty="0" sz="2400">
                <a:latin typeface="Carlito"/>
                <a:cs typeface="Carlito"/>
              </a:rPr>
              <a:t>Agile </a:t>
            </a:r>
            <a:r>
              <a:rPr dirty="0" sz="2400" spc="-5">
                <a:latin typeface="Carlito"/>
                <a:cs typeface="Carlito"/>
              </a:rPr>
              <a:t>SE </a:t>
            </a:r>
            <a:r>
              <a:rPr dirty="0" sz="2400" spc="-10">
                <a:latin typeface="Carlito"/>
                <a:cs typeface="Carlito"/>
              </a:rPr>
              <a:t>WG, </a:t>
            </a:r>
            <a:r>
              <a:rPr dirty="0" sz="2400">
                <a:latin typeface="Carlito"/>
                <a:cs typeface="Carlito"/>
              </a:rPr>
              <a:t>a </a:t>
            </a:r>
            <a:r>
              <a:rPr dirty="0" sz="2400" spc="-20">
                <a:latin typeface="Carlito"/>
                <a:cs typeface="Carlito"/>
              </a:rPr>
              <a:t>reference  </a:t>
            </a:r>
            <a:r>
              <a:rPr dirty="0" sz="2400" spc="-15">
                <a:latin typeface="Carlito"/>
                <a:cs typeface="Carlito"/>
              </a:rPr>
              <a:t>pattern </a:t>
            </a:r>
            <a:r>
              <a:rPr dirty="0" sz="2400" spc="-10">
                <a:latin typeface="Carlito"/>
                <a:cs typeface="Carlito"/>
              </a:rPr>
              <a:t>was contributed by </a:t>
            </a:r>
            <a:r>
              <a:rPr dirty="0" sz="2400">
                <a:latin typeface="Carlito"/>
                <a:cs typeface="Carlito"/>
              </a:rPr>
              <a:t>the </a:t>
            </a:r>
            <a:r>
              <a:rPr dirty="0" sz="2400" spc="-20">
                <a:latin typeface="Carlito"/>
                <a:cs typeface="Carlito"/>
              </a:rPr>
              <a:t>Patterns </a:t>
            </a:r>
            <a:r>
              <a:rPr dirty="0" sz="2400" spc="-15">
                <a:latin typeface="Carlito"/>
                <a:cs typeface="Carlito"/>
              </a:rPr>
              <a:t>WG </a:t>
            </a:r>
            <a:r>
              <a:rPr dirty="0" sz="2400">
                <a:latin typeface="Carlito"/>
                <a:cs typeface="Carlito"/>
              </a:rPr>
              <a:t>as </a:t>
            </a:r>
            <a:r>
              <a:rPr dirty="0" sz="2400" spc="-5">
                <a:latin typeface="Carlito"/>
                <a:cs typeface="Carlito"/>
              </a:rPr>
              <a:t>part of </a:t>
            </a:r>
            <a:r>
              <a:rPr dirty="0" sz="2400">
                <a:latin typeface="Carlito"/>
                <a:cs typeface="Carlito"/>
              </a:rPr>
              <a:t>the  </a:t>
            </a:r>
            <a:r>
              <a:rPr dirty="0" sz="2400" spc="-10">
                <a:latin typeface="Carlito"/>
                <a:cs typeface="Carlito"/>
              </a:rPr>
              <a:t>two-year INCOSE study </a:t>
            </a:r>
            <a:r>
              <a:rPr dirty="0" sz="2400" spc="-5">
                <a:latin typeface="Carlito"/>
                <a:cs typeface="Carlito"/>
              </a:rPr>
              <a:t>of </a:t>
            </a:r>
            <a:r>
              <a:rPr dirty="0" sz="2400">
                <a:latin typeface="Carlito"/>
                <a:cs typeface="Carlito"/>
              </a:rPr>
              <a:t>agile </a:t>
            </a:r>
            <a:r>
              <a:rPr dirty="0" sz="2400" spc="-5">
                <a:latin typeface="Carlito"/>
                <a:cs typeface="Carlito"/>
              </a:rPr>
              <a:t>SE </a:t>
            </a:r>
            <a:r>
              <a:rPr dirty="0" sz="2400" spc="-10">
                <a:latin typeface="Carlito"/>
                <a:cs typeface="Carlito"/>
              </a:rPr>
              <a:t>practices </a:t>
            </a:r>
            <a:r>
              <a:rPr dirty="0" sz="2400" spc="-5">
                <a:latin typeface="Carlito"/>
                <a:cs typeface="Carlito"/>
              </a:rPr>
              <a:t>of </a:t>
            </a:r>
            <a:r>
              <a:rPr dirty="0" sz="2400" spc="-15">
                <a:latin typeface="Carlito"/>
                <a:cs typeface="Carlito"/>
              </a:rPr>
              <a:t>four </a:t>
            </a:r>
            <a:r>
              <a:rPr dirty="0" sz="2400">
                <a:latin typeface="Carlito"/>
                <a:cs typeface="Carlito"/>
              </a:rPr>
              <a:t>major  </a:t>
            </a:r>
            <a:r>
              <a:rPr dirty="0" sz="2400" spc="-15">
                <a:latin typeface="Carlito"/>
                <a:cs typeface="Carlito"/>
              </a:rPr>
              <a:t>organizations </a:t>
            </a:r>
            <a:r>
              <a:rPr dirty="0" sz="2400" spc="-5">
                <a:latin typeface="Carlito"/>
                <a:cs typeface="Carlito"/>
              </a:rPr>
              <a:t>during 2015-2017, </a:t>
            </a:r>
            <a:r>
              <a:rPr dirty="0" sz="2400">
                <a:latin typeface="Carlito"/>
                <a:cs typeface="Carlito"/>
              </a:rPr>
              <a:t>leading </a:t>
            </a:r>
            <a:r>
              <a:rPr dirty="0" sz="2400" spc="-15">
                <a:latin typeface="Carlito"/>
                <a:cs typeface="Carlito"/>
              </a:rPr>
              <a:t>to </a:t>
            </a:r>
            <a:r>
              <a:rPr dirty="0" sz="2400">
                <a:latin typeface="Carlito"/>
                <a:cs typeface="Carlito"/>
              </a:rPr>
              <a:t>its </a:t>
            </a:r>
            <a:r>
              <a:rPr dirty="0" sz="2400" spc="-5">
                <a:latin typeface="Carlito"/>
                <a:cs typeface="Carlito"/>
              </a:rPr>
              <a:t>application </a:t>
            </a:r>
            <a:r>
              <a:rPr dirty="0" sz="2400">
                <a:latin typeface="Carlito"/>
                <a:cs typeface="Carlito"/>
              </a:rPr>
              <a:t>in  </a:t>
            </a:r>
            <a:r>
              <a:rPr dirty="0" sz="2400" spc="-15">
                <a:latin typeface="Carlito"/>
                <a:cs typeface="Carlito"/>
              </a:rPr>
              <a:t>four </a:t>
            </a:r>
            <a:r>
              <a:rPr dirty="0" sz="2400" spc="-5">
                <a:latin typeface="Carlito"/>
                <a:cs typeface="Carlito"/>
              </a:rPr>
              <a:t>published case studies. (Led </a:t>
            </a:r>
            <a:r>
              <a:rPr dirty="0" sz="2400" spc="-10">
                <a:latin typeface="Carlito"/>
                <a:cs typeface="Carlito"/>
              </a:rPr>
              <a:t>by </a:t>
            </a:r>
            <a:r>
              <a:rPr dirty="0" sz="2400">
                <a:latin typeface="Carlito"/>
                <a:cs typeface="Carlito"/>
              </a:rPr>
              <a:t>Rick </a:t>
            </a:r>
            <a:r>
              <a:rPr dirty="0" sz="2400" spc="-15">
                <a:latin typeface="Carlito"/>
                <a:cs typeface="Carlito"/>
              </a:rPr>
              <a:t>Dove, </a:t>
            </a:r>
            <a:r>
              <a:rPr dirty="0" sz="2400">
                <a:latin typeface="Carlito"/>
                <a:cs typeface="Carlito"/>
              </a:rPr>
              <a:t>Agile </a:t>
            </a:r>
            <a:r>
              <a:rPr dirty="0" sz="2400" spc="-5">
                <a:latin typeface="Carlito"/>
                <a:cs typeface="Carlito"/>
              </a:rPr>
              <a:t>SE</a:t>
            </a:r>
            <a:r>
              <a:rPr dirty="0" sz="2400" spc="-50">
                <a:latin typeface="Carlito"/>
                <a:cs typeface="Carlito"/>
              </a:rPr>
              <a:t> </a:t>
            </a:r>
            <a:r>
              <a:rPr dirty="0" sz="2400" spc="-10">
                <a:latin typeface="Carlito"/>
                <a:cs typeface="Carlito"/>
              </a:rPr>
              <a:t>WG.)</a:t>
            </a:r>
            <a:endParaRPr sz="2400">
              <a:latin typeface="Carlito"/>
              <a:cs typeface="Carlito"/>
            </a:endParaRPr>
          </a:p>
          <a:p>
            <a:pPr marL="241300" marR="160655" indent="-228600">
              <a:lnSpc>
                <a:spcPct val="80000"/>
              </a:lnSpc>
              <a:spcBef>
                <a:spcPts val="994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400" spc="-10">
                <a:latin typeface="Carlito"/>
                <a:cs typeface="Carlito"/>
              </a:rPr>
              <a:t>That </a:t>
            </a:r>
            <a:r>
              <a:rPr dirty="0" sz="2400" spc="-5">
                <a:latin typeface="Carlito"/>
                <a:cs typeface="Carlito"/>
              </a:rPr>
              <a:t>original </a:t>
            </a:r>
            <a:r>
              <a:rPr dirty="0" sz="2400" spc="-15">
                <a:latin typeface="Carlito"/>
                <a:cs typeface="Carlito"/>
              </a:rPr>
              <a:t>pattern </a:t>
            </a:r>
            <a:r>
              <a:rPr dirty="0" sz="2400" spc="-5">
                <a:latin typeface="Carlito"/>
                <a:cs typeface="Carlito"/>
              </a:rPr>
              <a:t>(Agile SE </a:t>
            </a:r>
            <a:r>
              <a:rPr dirty="0" sz="2400" spc="-20">
                <a:latin typeface="Carlito"/>
                <a:cs typeface="Carlito"/>
              </a:rPr>
              <a:t>Life </a:t>
            </a:r>
            <a:r>
              <a:rPr dirty="0" sz="2400" spc="-10">
                <a:latin typeface="Carlito"/>
                <a:cs typeface="Carlito"/>
              </a:rPr>
              <a:t>Cycle </a:t>
            </a:r>
            <a:r>
              <a:rPr dirty="0" sz="2400" spc="-5">
                <a:latin typeface="Carlito"/>
                <a:cs typeface="Carlito"/>
              </a:rPr>
              <a:t>Management  </a:t>
            </a:r>
            <a:r>
              <a:rPr dirty="0" sz="2400" spc="-10">
                <a:latin typeface="Carlito"/>
                <a:cs typeface="Carlito"/>
              </a:rPr>
              <a:t>(ASELCM) Operational </a:t>
            </a:r>
            <a:r>
              <a:rPr dirty="0" sz="2400" spc="-20">
                <a:latin typeface="Carlito"/>
                <a:cs typeface="Carlito"/>
              </a:rPr>
              <a:t>Reference Pattern) </a:t>
            </a:r>
            <a:r>
              <a:rPr dirty="0" sz="2400" spc="-5">
                <a:latin typeface="Carlito"/>
                <a:cs typeface="Carlito"/>
              </a:rPr>
              <a:t>has </a:t>
            </a:r>
            <a:r>
              <a:rPr dirty="0" sz="2400" spc="-10">
                <a:latin typeface="Carlito"/>
                <a:cs typeface="Carlito"/>
              </a:rPr>
              <a:t>subsequently  </a:t>
            </a:r>
            <a:r>
              <a:rPr dirty="0" sz="2400" spc="-5">
                <a:latin typeface="Carlito"/>
                <a:cs typeface="Carlito"/>
              </a:rPr>
              <a:t>been </a:t>
            </a:r>
            <a:r>
              <a:rPr dirty="0" sz="2400" spc="-15">
                <a:latin typeface="Carlito"/>
                <a:cs typeface="Carlito"/>
              </a:rPr>
              <a:t>formalized </a:t>
            </a:r>
            <a:r>
              <a:rPr dirty="0" sz="2400" spc="-10">
                <a:latin typeface="Carlito"/>
                <a:cs typeface="Carlito"/>
              </a:rPr>
              <a:t>by </a:t>
            </a:r>
            <a:r>
              <a:rPr dirty="0" sz="2400">
                <a:latin typeface="Carlito"/>
                <a:cs typeface="Carlito"/>
              </a:rPr>
              <a:t>the </a:t>
            </a:r>
            <a:r>
              <a:rPr dirty="0" sz="2400" spc="-20">
                <a:latin typeface="Carlito"/>
                <a:cs typeface="Carlito"/>
              </a:rPr>
              <a:t>Patterns </a:t>
            </a:r>
            <a:r>
              <a:rPr dirty="0" sz="2400" spc="-15">
                <a:latin typeface="Carlito"/>
                <a:cs typeface="Carlito"/>
              </a:rPr>
              <a:t>WG </a:t>
            </a:r>
            <a:r>
              <a:rPr dirty="0" sz="2400">
                <a:latin typeface="Carlito"/>
                <a:cs typeface="Carlito"/>
              </a:rPr>
              <a:t>as a </a:t>
            </a:r>
            <a:r>
              <a:rPr dirty="0" sz="2400" spc="-10">
                <a:latin typeface="Carlito"/>
                <a:cs typeface="Carlito"/>
              </a:rPr>
              <a:t>configurable  </a:t>
            </a:r>
            <a:r>
              <a:rPr dirty="0" sz="2400" spc="-20">
                <a:latin typeface="Carlito"/>
                <a:cs typeface="Carlito"/>
              </a:rPr>
              <a:t>S*Pattern </a:t>
            </a:r>
            <a:r>
              <a:rPr dirty="0" sz="2400">
                <a:latin typeface="Carlito"/>
                <a:cs typeface="Carlito"/>
              </a:rPr>
              <a:t>in </a:t>
            </a:r>
            <a:r>
              <a:rPr dirty="0" sz="2400" spc="-10">
                <a:latin typeface="Carlito"/>
                <a:cs typeface="Carlito"/>
              </a:rPr>
              <a:t>SysML, </a:t>
            </a:r>
            <a:r>
              <a:rPr dirty="0" sz="2400" spc="-20">
                <a:latin typeface="Carlito"/>
                <a:cs typeface="Carlito"/>
              </a:rPr>
              <a:t>for </a:t>
            </a:r>
            <a:r>
              <a:rPr dirty="0" sz="2400">
                <a:latin typeface="Carlito"/>
                <a:cs typeface="Carlito"/>
              </a:rPr>
              <a:t>the </a:t>
            </a:r>
            <a:r>
              <a:rPr dirty="0" sz="2400" spc="-5">
                <a:latin typeface="Carlito"/>
                <a:cs typeface="Carlito"/>
              </a:rPr>
              <a:t>planning, analysis, </a:t>
            </a:r>
            <a:r>
              <a:rPr dirty="0" sz="2400">
                <a:latin typeface="Carlito"/>
                <a:cs typeface="Carlito"/>
              </a:rPr>
              <a:t>and  </a:t>
            </a:r>
            <a:r>
              <a:rPr dirty="0" sz="2400" spc="-5">
                <a:latin typeface="Carlito"/>
                <a:cs typeface="Carlito"/>
              </a:rPr>
              <a:t>management of </a:t>
            </a:r>
            <a:r>
              <a:rPr dirty="0" sz="2400" spc="-10">
                <a:latin typeface="Carlito"/>
                <a:cs typeface="Carlito"/>
              </a:rPr>
              <a:t>advancement </a:t>
            </a:r>
            <a:r>
              <a:rPr dirty="0" sz="2400">
                <a:latin typeface="Carlito"/>
                <a:cs typeface="Carlito"/>
              </a:rPr>
              <a:t>in learning </a:t>
            </a:r>
            <a:r>
              <a:rPr dirty="0" sz="2400" spc="-15">
                <a:latin typeface="Carlito"/>
                <a:cs typeface="Carlito"/>
              </a:rPr>
              <a:t>ecosystems </a:t>
            </a:r>
            <a:r>
              <a:rPr dirty="0" sz="2400" spc="-20">
                <a:latin typeface="Carlito"/>
                <a:cs typeface="Carlito"/>
              </a:rPr>
              <a:t>for  </a:t>
            </a:r>
            <a:r>
              <a:rPr dirty="0" sz="2400" spc="-10">
                <a:latin typeface="Carlito"/>
                <a:cs typeface="Carlito"/>
              </a:rPr>
              <a:t>projects, enterprises, </a:t>
            </a:r>
            <a:r>
              <a:rPr dirty="0" sz="2400">
                <a:latin typeface="Carlito"/>
                <a:cs typeface="Carlito"/>
              </a:rPr>
              <a:t>and </a:t>
            </a:r>
            <a:r>
              <a:rPr dirty="0" sz="2400" spc="-5">
                <a:latin typeface="Carlito"/>
                <a:cs typeface="Carlito"/>
              </a:rPr>
              <a:t>supply</a:t>
            </a:r>
            <a:r>
              <a:rPr dirty="0" sz="2400" spc="-25">
                <a:latin typeface="Carlito"/>
                <a:cs typeface="Carlito"/>
              </a:rPr>
              <a:t> </a:t>
            </a:r>
            <a:r>
              <a:rPr dirty="0" sz="2400">
                <a:latin typeface="Carlito"/>
                <a:cs typeface="Carlito"/>
              </a:rPr>
              <a:t>chains.</a:t>
            </a:r>
            <a:endParaRPr sz="2400">
              <a:latin typeface="Carlito"/>
              <a:cs typeface="Carlito"/>
            </a:endParaRPr>
          </a:p>
          <a:p>
            <a:pPr marL="241300" marR="522605" indent="-228600">
              <a:lnSpc>
                <a:spcPts val="2300"/>
              </a:lnSpc>
              <a:spcBef>
                <a:spcPts val="990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400" spc="-5">
                <a:latin typeface="Carlito"/>
                <a:cs typeface="Carlito"/>
              </a:rPr>
              <a:t>The resulting </a:t>
            </a:r>
            <a:r>
              <a:rPr dirty="0" sz="2400" spc="-10">
                <a:latin typeface="Carlito"/>
                <a:cs typeface="Carlito"/>
              </a:rPr>
              <a:t>multi-layer </a:t>
            </a:r>
            <a:r>
              <a:rPr dirty="0" sz="2400" spc="-15">
                <a:latin typeface="Carlito"/>
                <a:cs typeface="Carlito"/>
              </a:rPr>
              <a:t>pattern focuses </a:t>
            </a:r>
            <a:r>
              <a:rPr dirty="0" sz="2400" spc="-5">
                <a:latin typeface="Carlito"/>
                <a:cs typeface="Carlito"/>
              </a:rPr>
              <a:t>on </a:t>
            </a:r>
            <a:r>
              <a:rPr dirty="0" u="heavy" sz="2400" spc="-5" i="1">
                <a:uFill>
                  <a:solidFill>
                    <a:srgbClr val="000000"/>
                  </a:solidFill>
                </a:uFill>
                <a:latin typeface="Carlito"/>
                <a:cs typeface="Carlito"/>
              </a:rPr>
              <a:t>leveraging </a:t>
            </a:r>
            <a:r>
              <a:rPr dirty="0" u="heavy" sz="2400" spc="-5" i="1">
                <a:uFill>
                  <a:solidFill>
                    <a:srgbClr val="000000"/>
                  </a:solidFill>
                </a:uFill>
                <a:latin typeface="Carlito"/>
                <a:cs typeface="Carlito"/>
              </a:rPr>
              <a:t> </a:t>
            </a:r>
            <a:r>
              <a:rPr dirty="0" u="heavy" sz="2400" spc="-10" i="1">
                <a:uFill>
                  <a:solidFill>
                    <a:srgbClr val="000000"/>
                  </a:solidFill>
                </a:uFill>
                <a:latin typeface="Carlito"/>
                <a:cs typeface="Carlito"/>
              </a:rPr>
              <a:t>Digital </a:t>
            </a:r>
            <a:r>
              <a:rPr dirty="0" u="heavy" sz="2400" spc="-5" i="1">
                <a:uFill>
                  <a:solidFill>
                    <a:srgbClr val="000000"/>
                  </a:solidFill>
                </a:uFill>
                <a:latin typeface="Carlito"/>
                <a:cs typeface="Carlito"/>
              </a:rPr>
              <a:t>Engineering </a:t>
            </a:r>
            <a:r>
              <a:rPr dirty="0" u="heavy" sz="2400" spc="-15" i="1">
                <a:uFill>
                  <a:solidFill>
                    <a:srgbClr val="000000"/>
                  </a:solidFill>
                </a:uFill>
                <a:latin typeface="Carlito"/>
                <a:cs typeface="Carlito"/>
              </a:rPr>
              <a:t>to </a:t>
            </a:r>
            <a:r>
              <a:rPr dirty="0" u="heavy" sz="2400" spc="-5" i="1">
                <a:uFill>
                  <a:solidFill>
                    <a:srgbClr val="000000"/>
                  </a:solidFill>
                </a:uFill>
                <a:latin typeface="Carlito"/>
                <a:cs typeface="Carlito"/>
              </a:rPr>
              <a:t>advance performance through </a:t>
            </a:r>
            <a:r>
              <a:rPr dirty="0" u="heavy" sz="2400" i="1">
                <a:uFill>
                  <a:solidFill>
                    <a:srgbClr val="000000"/>
                  </a:solidFill>
                </a:uFill>
                <a:latin typeface="Carlito"/>
                <a:cs typeface="Carlito"/>
              </a:rPr>
              <a:t>the </a:t>
            </a:r>
            <a:r>
              <a:rPr dirty="0" u="heavy" sz="2400" i="1">
                <a:uFill>
                  <a:solidFill>
                    <a:srgbClr val="000000"/>
                  </a:solidFill>
                </a:uFill>
                <a:latin typeface="Carlito"/>
                <a:cs typeface="Carlito"/>
              </a:rPr>
              <a:t> </a:t>
            </a:r>
            <a:r>
              <a:rPr dirty="0" u="heavy" sz="2400" spc="-5" i="1">
                <a:uFill>
                  <a:solidFill>
                    <a:srgbClr val="000000"/>
                  </a:solidFill>
                </a:uFill>
                <a:latin typeface="Carlito"/>
                <a:cs typeface="Carlito"/>
              </a:rPr>
              <a:t>paradigm of strengthened Consistency</a:t>
            </a:r>
            <a:r>
              <a:rPr dirty="0" u="heavy" sz="2400" spc="-45" i="1">
                <a:uFill>
                  <a:solidFill>
                    <a:srgbClr val="000000"/>
                  </a:solidFill>
                </a:uFill>
                <a:latin typeface="Carlito"/>
                <a:cs typeface="Carlito"/>
              </a:rPr>
              <a:t> </a:t>
            </a:r>
            <a:r>
              <a:rPr dirty="0" u="heavy" sz="2400" i="1">
                <a:uFill>
                  <a:solidFill>
                    <a:srgbClr val="000000"/>
                  </a:solidFill>
                </a:uFill>
                <a:latin typeface="Carlito"/>
                <a:cs typeface="Carlito"/>
              </a:rPr>
              <a:t>Management</a:t>
            </a:r>
            <a:r>
              <a:rPr dirty="0" sz="2400">
                <a:latin typeface="Carlito"/>
                <a:cs typeface="Carlito"/>
              </a:rPr>
              <a:t>.</a:t>
            </a:r>
            <a:endParaRPr sz="2400">
              <a:latin typeface="Carlito"/>
              <a:cs typeface="Carlito"/>
            </a:endParaRPr>
          </a:p>
          <a:p>
            <a:pPr marL="241300" marR="200660" indent="-228600">
              <a:lnSpc>
                <a:spcPct val="80000"/>
              </a:lnSpc>
              <a:spcBef>
                <a:spcPts val="1030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400" spc="-10">
                <a:latin typeface="Carlito"/>
                <a:cs typeface="Carlito"/>
              </a:rPr>
              <a:t>Those </a:t>
            </a:r>
            <a:r>
              <a:rPr dirty="0" sz="2400" spc="-15">
                <a:latin typeface="Carlito"/>
                <a:cs typeface="Carlito"/>
              </a:rPr>
              <a:t>interested </a:t>
            </a:r>
            <a:r>
              <a:rPr dirty="0" sz="2400">
                <a:latin typeface="Carlito"/>
                <a:cs typeface="Carlito"/>
              </a:rPr>
              <a:t>in </a:t>
            </a:r>
            <a:r>
              <a:rPr dirty="0" sz="2400" spc="-5">
                <a:latin typeface="Carlito"/>
                <a:cs typeface="Carlito"/>
              </a:rPr>
              <a:t>participating </a:t>
            </a:r>
            <a:r>
              <a:rPr dirty="0" sz="2400" spc="-10">
                <a:latin typeface="Carlito"/>
                <a:cs typeface="Carlito"/>
              </a:rPr>
              <a:t>can </a:t>
            </a:r>
            <a:r>
              <a:rPr dirty="0" sz="2400" spc="-5">
                <a:latin typeface="Carlito"/>
                <a:cs typeface="Carlito"/>
              </a:rPr>
              <a:t>be </a:t>
            </a:r>
            <a:r>
              <a:rPr dirty="0" sz="2400">
                <a:latin typeface="Carlito"/>
                <a:cs typeface="Carlito"/>
              </a:rPr>
              <a:t>a </a:t>
            </a:r>
            <a:r>
              <a:rPr dirty="0" sz="2400" spc="-5">
                <a:latin typeface="Carlito"/>
                <a:cs typeface="Carlito"/>
              </a:rPr>
              <a:t>part of </a:t>
            </a:r>
            <a:r>
              <a:rPr dirty="0" sz="2400" spc="-10">
                <a:latin typeface="Carlito"/>
                <a:cs typeface="Carlito"/>
              </a:rPr>
              <a:t>extension  </a:t>
            </a:r>
            <a:r>
              <a:rPr dirty="0" sz="2400">
                <a:latin typeface="Carlito"/>
                <a:cs typeface="Carlito"/>
              </a:rPr>
              <a:t>and </a:t>
            </a:r>
            <a:r>
              <a:rPr dirty="0" sz="2400" spc="-5">
                <a:latin typeface="Carlito"/>
                <a:cs typeface="Carlito"/>
              </a:rPr>
              <a:t>application of </a:t>
            </a:r>
            <a:r>
              <a:rPr dirty="0" sz="2400">
                <a:latin typeface="Carlito"/>
                <a:cs typeface="Carlito"/>
              </a:rPr>
              <a:t>this </a:t>
            </a:r>
            <a:r>
              <a:rPr dirty="0" sz="2400" spc="-15">
                <a:latin typeface="Carlito"/>
                <a:cs typeface="Carlito"/>
              </a:rPr>
              <a:t>pattern </a:t>
            </a:r>
            <a:r>
              <a:rPr dirty="0" sz="2400">
                <a:latin typeface="Carlito"/>
                <a:cs typeface="Carlito"/>
              </a:rPr>
              <a:t>in </a:t>
            </a:r>
            <a:r>
              <a:rPr dirty="0" sz="2400" spc="-10">
                <a:latin typeface="Carlito"/>
                <a:cs typeface="Carlito"/>
              </a:rPr>
              <a:t>case </a:t>
            </a:r>
            <a:r>
              <a:rPr dirty="0" sz="2400" spc="-5">
                <a:latin typeface="Carlito"/>
                <a:cs typeface="Carlito"/>
              </a:rPr>
              <a:t>studies of </a:t>
            </a:r>
            <a:r>
              <a:rPr dirty="0" sz="2400">
                <a:latin typeface="Carlito"/>
                <a:cs typeface="Carlito"/>
              </a:rPr>
              <a:t>their </a:t>
            </a:r>
            <a:r>
              <a:rPr dirty="0" sz="2400" spc="-10">
                <a:latin typeface="Carlito"/>
                <a:cs typeface="Carlito"/>
              </a:rPr>
              <a:t>own  projects, enterprises, </a:t>
            </a:r>
            <a:r>
              <a:rPr dirty="0" sz="2400" spc="-5">
                <a:latin typeface="Carlito"/>
                <a:cs typeface="Carlito"/>
              </a:rPr>
              <a:t>or supply </a:t>
            </a:r>
            <a:r>
              <a:rPr dirty="0" sz="2400">
                <a:latin typeface="Carlito"/>
                <a:cs typeface="Carlito"/>
              </a:rPr>
              <a:t>chains, </a:t>
            </a:r>
            <a:r>
              <a:rPr dirty="0" sz="2400" spc="-5">
                <a:latin typeface="Carlito"/>
                <a:cs typeface="Carlito"/>
              </a:rPr>
              <a:t>plus </a:t>
            </a:r>
            <a:r>
              <a:rPr dirty="0" sz="2400" spc="-15">
                <a:latin typeface="Carlito"/>
                <a:cs typeface="Carlito"/>
              </a:rPr>
              <a:t>related</a:t>
            </a:r>
            <a:r>
              <a:rPr dirty="0" sz="2400" spc="10">
                <a:latin typeface="Carlito"/>
                <a:cs typeface="Carlito"/>
              </a:rPr>
              <a:t> </a:t>
            </a:r>
            <a:r>
              <a:rPr dirty="0" sz="2400" spc="-10">
                <a:latin typeface="Carlito"/>
                <a:cs typeface="Carlito"/>
              </a:rPr>
              <a:t>tooling.</a:t>
            </a:r>
            <a:endParaRPr sz="2400">
              <a:latin typeface="Carlito"/>
              <a:cs typeface="Carlito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061959" y="3736847"/>
            <a:ext cx="4114800" cy="2365375"/>
            <a:chOff x="8061959" y="3736847"/>
            <a:chExt cx="4114800" cy="2365375"/>
          </a:xfrm>
        </p:grpSpPr>
        <p:sp>
          <p:nvSpPr>
            <p:cNvPr id="5" name="object 5"/>
            <p:cNvSpPr/>
            <p:nvPr/>
          </p:nvSpPr>
          <p:spPr>
            <a:xfrm>
              <a:off x="8159861" y="3889735"/>
              <a:ext cx="3918996" cy="20844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8090915" y="3765803"/>
              <a:ext cx="4057015" cy="2307590"/>
            </a:xfrm>
            <a:custGeom>
              <a:avLst/>
              <a:gdLst/>
              <a:ahLst/>
              <a:cxnLst/>
              <a:rect l="l" t="t" r="r" b="b"/>
              <a:pathLst>
                <a:path w="4057015" h="2307590">
                  <a:moveTo>
                    <a:pt x="0" y="2307336"/>
                  </a:moveTo>
                  <a:lnTo>
                    <a:pt x="4056887" y="2307336"/>
                  </a:lnTo>
                  <a:lnTo>
                    <a:pt x="4056887" y="0"/>
                  </a:lnTo>
                  <a:lnTo>
                    <a:pt x="0" y="0"/>
                  </a:lnTo>
                  <a:lnTo>
                    <a:pt x="0" y="2307336"/>
                  </a:lnTo>
                  <a:close/>
                </a:path>
              </a:pathLst>
            </a:custGeom>
            <a:ln w="579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" name="object 7"/>
          <p:cNvGrpSpPr/>
          <p:nvPr/>
        </p:nvGrpSpPr>
        <p:grpSpPr>
          <a:xfrm>
            <a:off x="8043671" y="990600"/>
            <a:ext cx="4114800" cy="2365375"/>
            <a:chOff x="8043671" y="990600"/>
            <a:chExt cx="4114800" cy="2365375"/>
          </a:xfrm>
        </p:grpSpPr>
        <p:sp>
          <p:nvSpPr>
            <p:cNvPr id="8" name="object 8"/>
            <p:cNvSpPr/>
            <p:nvPr/>
          </p:nvSpPr>
          <p:spPr>
            <a:xfrm>
              <a:off x="8101583" y="1048511"/>
              <a:ext cx="3998976" cy="22494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8072627" y="1019555"/>
              <a:ext cx="4057015" cy="2307590"/>
            </a:xfrm>
            <a:custGeom>
              <a:avLst/>
              <a:gdLst/>
              <a:ahLst/>
              <a:cxnLst/>
              <a:rect l="l" t="t" r="r" b="b"/>
              <a:pathLst>
                <a:path w="4057015" h="2307590">
                  <a:moveTo>
                    <a:pt x="0" y="2307336"/>
                  </a:moveTo>
                  <a:lnTo>
                    <a:pt x="4056887" y="2307336"/>
                  </a:lnTo>
                  <a:lnTo>
                    <a:pt x="4056887" y="0"/>
                  </a:lnTo>
                  <a:lnTo>
                    <a:pt x="0" y="0"/>
                  </a:lnTo>
                  <a:lnTo>
                    <a:pt x="0" y="2307336"/>
                  </a:lnTo>
                  <a:close/>
                </a:path>
              </a:pathLst>
            </a:custGeom>
            <a:ln w="579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8041005" y="3321558"/>
            <a:ext cx="401955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u="sng" sz="12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rlito"/>
                <a:cs typeface="Carlito"/>
                <a:hlinkClick r:id="rId4"/>
              </a:rPr>
              <a:t>http://www.omgwiki.org/MBSE/lib/exe/fetch.php?media=mbse: </a:t>
            </a:r>
            <a:r>
              <a:rPr dirty="0" sz="1200" spc="-10">
                <a:solidFill>
                  <a:srgbClr val="0462C1"/>
                </a:solidFill>
                <a:latin typeface="Carlito"/>
                <a:cs typeface="Carlito"/>
                <a:hlinkClick r:id="rId4"/>
              </a:rPr>
              <a:t> </a:t>
            </a:r>
            <a:r>
              <a:rPr dirty="0" u="sng" sz="1200" spc="-5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rlito"/>
                <a:cs typeface="Carlito"/>
                <a:hlinkClick r:id="rId4"/>
              </a:rPr>
              <a:t>patterns:is2016_intro_to_the_aselcm_pattern_v1.4.8.pdf</a:t>
            </a:r>
            <a:endParaRPr sz="1200">
              <a:latin typeface="Carlito"/>
              <a:cs typeface="Carlito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089772" y="6106464"/>
            <a:ext cx="3933190" cy="696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u="sng" sz="1100" spc="-5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rlito"/>
                <a:cs typeface="Carlito"/>
                <a:hlinkClick r:id="rId5"/>
              </a:rPr>
              <a:t>http://www.omgwiki.org/MBSE/lib/exe/fetch.php?media=mbse:patt </a:t>
            </a:r>
            <a:r>
              <a:rPr dirty="0" sz="1100" spc="-5">
                <a:solidFill>
                  <a:srgbClr val="0462C1"/>
                </a:solidFill>
                <a:latin typeface="Carlito"/>
                <a:cs typeface="Carlito"/>
                <a:hlinkClick r:id="rId5"/>
              </a:rPr>
              <a:t> </a:t>
            </a:r>
            <a:r>
              <a:rPr dirty="0" u="sng" sz="1100" spc="-5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rlito"/>
                <a:cs typeface="Carlito"/>
                <a:hlinkClick r:id="rId5"/>
              </a:rPr>
              <a:t>erns:aselcm_pattern_--</a:t>
            </a:r>
            <a:endParaRPr sz="1100">
              <a:latin typeface="Carlito"/>
              <a:cs typeface="Carlito"/>
            </a:endParaRPr>
          </a:p>
          <a:p>
            <a:pPr marL="12700" marR="53340">
              <a:lnSpc>
                <a:spcPct val="100000"/>
              </a:lnSpc>
              <a:spcBef>
                <a:spcPts val="5"/>
              </a:spcBef>
            </a:pPr>
            <a:r>
              <a:rPr dirty="0" u="sng" sz="1100" spc="-5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rlito"/>
                <a:cs typeface="Carlito"/>
                <a:hlinkClick r:id="rId5"/>
              </a:rPr>
              <a:t>_consistency_management_as_a_digital_life_cycle_management_p </a:t>
            </a:r>
            <a:r>
              <a:rPr dirty="0" sz="1100" spc="-5">
                <a:solidFill>
                  <a:srgbClr val="0462C1"/>
                </a:solidFill>
                <a:latin typeface="Carlito"/>
                <a:cs typeface="Carlito"/>
                <a:hlinkClick r:id="rId5"/>
              </a:rPr>
              <a:t> </a:t>
            </a:r>
            <a:r>
              <a:rPr dirty="0" u="sng" sz="1100" spc="-5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rlito"/>
                <a:cs typeface="Carlito"/>
                <a:hlinkClick r:id="rId5"/>
              </a:rPr>
              <a:t>aradigm_v1.2.2.pdf</a:t>
            </a:r>
            <a:endParaRPr sz="11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46251" y="0"/>
            <a:ext cx="9521825" cy="1300480"/>
          </a:xfrm>
          <a:prstGeom prst="rect"/>
        </p:spPr>
        <p:txBody>
          <a:bodyPr wrap="square" lIns="0" tIns="88900" rIns="0" bIns="0" rtlCol="0" vert="horz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0"/>
              </a:spcBef>
            </a:pPr>
            <a:r>
              <a:rPr dirty="0" spc="-180"/>
              <a:t>4. </a:t>
            </a:r>
            <a:r>
              <a:rPr dirty="0" spc="-229"/>
              <a:t>Universal </a:t>
            </a:r>
            <a:r>
              <a:rPr dirty="0" spc="-110"/>
              <a:t>Model </a:t>
            </a:r>
            <a:r>
              <a:rPr dirty="0" spc="-155"/>
              <a:t>Metadata </a:t>
            </a:r>
            <a:r>
              <a:rPr dirty="0" spc="-180"/>
              <a:t>Wrapper:  </a:t>
            </a:r>
            <a:r>
              <a:rPr dirty="0" spc="-335"/>
              <a:t>The </a:t>
            </a:r>
            <a:r>
              <a:rPr dirty="0" spc="-110"/>
              <a:t>Model </a:t>
            </a:r>
            <a:r>
              <a:rPr dirty="0" spc="-204"/>
              <a:t>Characterization </a:t>
            </a:r>
            <a:r>
              <a:rPr dirty="0" spc="-185"/>
              <a:t>Pattern</a:t>
            </a:r>
            <a:r>
              <a:rPr dirty="0" spc="-235"/>
              <a:t> </a:t>
            </a:r>
            <a:r>
              <a:rPr dirty="0" spc="-360"/>
              <a:t>(MCP)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739" y="1561541"/>
            <a:ext cx="10854055" cy="1379855"/>
          </a:xfrm>
          <a:prstGeom prst="rect">
            <a:avLst/>
          </a:prstGeom>
        </p:spPr>
        <p:txBody>
          <a:bodyPr wrap="square" lIns="0" tIns="49530" rIns="0" bIns="0" rtlCol="0" vert="horz">
            <a:spAutoFit/>
          </a:bodyPr>
          <a:lstStyle/>
          <a:p>
            <a:pPr marL="241300" marR="5080" indent="-228600">
              <a:lnSpc>
                <a:spcPct val="90000"/>
              </a:lnSpc>
              <a:spcBef>
                <a:spcPts val="390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400" spc="-10">
                <a:latin typeface="Carlito"/>
                <a:cs typeface="Carlito"/>
              </a:rPr>
              <a:t>Collaborating </a:t>
            </a:r>
            <a:r>
              <a:rPr dirty="0" sz="2400">
                <a:latin typeface="Carlito"/>
                <a:cs typeface="Carlito"/>
              </a:rPr>
              <a:t>with the ASME </a:t>
            </a:r>
            <a:r>
              <a:rPr dirty="0" sz="2400" spc="-10">
                <a:latin typeface="Carlito"/>
                <a:cs typeface="Carlito"/>
              </a:rPr>
              <a:t>Standards Committee </a:t>
            </a:r>
            <a:r>
              <a:rPr dirty="0" sz="2400" spc="-5">
                <a:latin typeface="Carlito"/>
                <a:cs typeface="Carlito"/>
              </a:rPr>
              <a:t>on Model </a:t>
            </a:r>
            <a:r>
              <a:rPr dirty="0" sz="2400" spc="-20">
                <a:latin typeface="Carlito"/>
                <a:cs typeface="Carlito"/>
              </a:rPr>
              <a:t>Credibility, </a:t>
            </a:r>
            <a:r>
              <a:rPr dirty="0" sz="2400" spc="-5">
                <a:latin typeface="Carlito"/>
                <a:cs typeface="Carlito"/>
              </a:rPr>
              <a:t>VV50  </a:t>
            </a:r>
            <a:r>
              <a:rPr dirty="0" sz="2400" spc="-10">
                <a:latin typeface="Carlito"/>
                <a:cs typeface="Carlito"/>
              </a:rPr>
              <a:t>Subcommittee, </a:t>
            </a:r>
            <a:r>
              <a:rPr dirty="0" sz="2400">
                <a:latin typeface="Carlito"/>
                <a:cs typeface="Carlito"/>
              </a:rPr>
              <a:t>the </a:t>
            </a:r>
            <a:r>
              <a:rPr dirty="0" sz="2400" spc="-20">
                <a:latin typeface="Carlito"/>
                <a:cs typeface="Carlito"/>
              </a:rPr>
              <a:t>Patterns </a:t>
            </a:r>
            <a:r>
              <a:rPr dirty="0" sz="2400" spc="-15">
                <a:latin typeface="Carlito"/>
                <a:cs typeface="Carlito"/>
              </a:rPr>
              <a:t>WG </a:t>
            </a:r>
            <a:r>
              <a:rPr dirty="0" sz="2400" spc="-5">
                <a:latin typeface="Carlito"/>
                <a:cs typeface="Carlito"/>
              </a:rPr>
              <a:t>has </a:t>
            </a:r>
            <a:r>
              <a:rPr dirty="0" sz="2400" spc="-15">
                <a:latin typeface="Carlito"/>
                <a:cs typeface="Carlito"/>
              </a:rPr>
              <a:t>created </a:t>
            </a:r>
            <a:r>
              <a:rPr dirty="0" sz="2400">
                <a:latin typeface="Carlito"/>
                <a:cs typeface="Carlito"/>
              </a:rPr>
              <a:t>a </a:t>
            </a:r>
            <a:r>
              <a:rPr dirty="0" sz="2400" spc="-10">
                <a:latin typeface="Carlito"/>
                <a:cs typeface="Carlito"/>
              </a:rPr>
              <a:t>configurable </a:t>
            </a:r>
            <a:r>
              <a:rPr dirty="0" sz="2400" spc="-15">
                <a:latin typeface="Carlito"/>
                <a:cs typeface="Carlito"/>
              </a:rPr>
              <a:t>pattern </a:t>
            </a:r>
            <a:r>
              <a:rPr dirty="0" sz="2400" spc="-20">
                <a:latin typeface="Carlito"/>
                <a:cs typeface="Carlito"/>
              </a:rPr>
              <a:t>for </a:t>
            </a:r>
            <a:r>
              <a:rPr dirty="0" sz="2400" spc="-10">
                <a:latin typeface="Carlito"/>
                <a:cs typeface="Carlito"/>
              </a:rPr>
              <a:t>representing  metadata </a:t>
            </a:r>
            <a:r>
              <a:rPr dirty="0" sz="2400" spc="-5">
                <a:latin typeface="Carlito"/>
                <a:cs typeface="Carlito"/>
              </a:rPr>
              <a:t>on </a:t>
            </a:r>
            <a:r>
              <a:rPr dirty="0" sz="2400" spc="-20">
                <a:latin typeface="Carlito"/>
                <a:cs typeface="Carlito"/>
              </a:rPr>
              <a:t>any </a:t>
            </a:r>
            <a:r>
              <a:rPr dirty="0" sz="2400">
                <a:latin typeface="Carlito"/>
                <a:cs typeface="Carlito"/>
              </a:rPr>
              <a:t>virtual model, including </a:t>
            </a:r>
            <a:r>
              <a:rPr dirty="0" sz="2400" spc="-5">
                <a:latin typeface="Carlito"/>
                <a:cs typeface="Carlito"/>
              </a:rPr>
              <a:t>Machine </a:t>
            </a:r>
            <a:r>
              <a:rPr dirty="0" sz="2400">
                <a:latin typeface="Carlito"/>
                <a:cs typeface="Carlito"/>
              </a:rPr>
              <a:t>Learning, </a:t>
            </a:r>
            <a:r>
              <a:rPr dirty="0" sz="2400" spc="-5">
                <a:latin typeface="Carlito"/>
                <a:cs typeface="Carlito"/>
              </a:rPr>
              <a:t>Simulation (FEA, </a:t>
            </a:r>
            <a:r>
              <a:rPr dirty="0" sz="2400" spc="-20">
                <a:latin typeface="Carlito"/>
                <a:cs typeface="Carlito"/>
              </a:rPr>
              <a:t>CFD, </a:t>
            </a:r>
            <a:r>
              <a:rPr dirty="0" sz="2400" spc="-25">
                <a:latin typeface="Carlito"/>
                <a:cs typeface="Carlito"/>
              </a:rPr>
              <a:t>SD,  </a:t>
            </a:r>
            <a:r>
              <a:rPr dirty="0" sz="2400" spc="-5">
                <a:latin typeface="Carlito"/>
                <a:cs typeface="Carlito"/>
              </a:rPr>
              <a:t>ODE), </a:t>
            </a:r>
            <a:r>
              <a:rPr dirty="0" sz="2400">
                <a:latin typeface="Carlito"/>
                <a:cs typeface="Carlito"/>
              </a:rPr>
              <a:t>MBSE, </a:t>
            </a:r>
            <a:r>
              <a:rPr dirty="0" sz="2400" spc="-5">
                <a:latin typeface="Carlito"/>
                <a:cs typeface="Carlito"/>
              </a:rPr>
              <a:t>or </a:t>
            </a:r>
            <a:r>
              <a:rPr dirty="0" sz="2400">
                <a:latin typeface="Carlito"/>
                <a:cs typeface="Carlito"/>
              </a:rPr>
              <a:t>otherwise. </a:t>
            </a:r>
            <a:r>
              <a:rPr dirty="0" sz="2400" spc="-5">
                <a:latin typeface="Carlito"/>
                <a:cs typeface="Carlito"/>
              </a:rPr>
              <a:t>(ASME </a:t>
            </a:r>
            <a:r>
              <a:rPr dirty="0" sz="2400" spc="-15">
                <a:latin typeface="Carlito"/>
                <a:cs typeface="Carlito"/>
              </a:rPr>
              <a:t>WG </a:t>
            </a:r>
            <a:r>
              <a:rPr dirty="0" sz="2400">
                <a:latin typeface="Carlito"/>
                <a:cs typeface="Carlito"/>
              </a:rPr>
              <a:t>led </a:t>
            </a:r>
            <a:r>
              <a:rPr dirty="0" sz="2400" spc="-10">
                <a:latin typeface="Carlito"/>
                <a:cs typeface="Carlito"/>
              </a:rPr>
              <a:t>by </a:t>
            </a:r>
            <a:r>
              <a:rPr dirty="0" sz="2400">
                <a:latin typeface="Carlito"/>
                <a:cs typeface="Carlito"/>
              </a:rPr>
              <a:t>Joe</a:t>
            </a:r>
            <a:r>
              <a:rPr dirty="0" sz="2400" spc="-45">
                <a:latin typeface="Carlito"/>
                <a:cs typeface="Carlito"/>
              </a:rPr>
              <a:t> </a:t>
            </a:r>
            <a:r>
              <a:rPr dirty="0" sz="2400" spc="-35">
                <a:latin typeface="Carlito"/>
                <a:cs typeface="Carlito"/>
              </a:rPr>
              <a:t>Hightower.)</a:t>
            </a:r>
            <a:endParaRPr sz="2400">
              <a:latin typeface="Carlito"/>
              <a:cs typeface="Carlito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659880" y="3086100"/>
            <a:ext cx="5260975" cy="3009900"/>
            <a:chOff x="6659880" y="3086100"/>
            <a:chExt cx="5260975" cy="3009900"/>
          </a:xfrm>
        </p:grpSpPr>
        <p:sp>
          <p:nvSpPr>
            <p:cNvPr id="5" name="object 5"/>
            <p:cNvSpPr/>
            <p:nvPr/>
          </p:nvSpPr>
          <p:spPr>
            <a:xfrm>
              <a:off x="7116531" y="3144011"/>
              <a:ext cx="4553346" cy="288764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6688836" y="3115055"/>
              <a:ext cx="5203190" cy="2952115"/>
            </a:xfrm>
            <a:custGeom>
              <a:avLst/>
              <a:gdLst/>
              <a:ahLst/>
              <a:cxnLst/>
              <a:rect l="l" t="t" r="r" b="b"/>
              <a:pathLst>
                <a:path w="5203190" h="2952115">
                  <a:moveTo>
                    <a:pt x="0" y="2951988"/>
                  </a:moveTo>
                  <a:lnTo>
                    <a:pt x="5202935" y="2951988"/>
                  </a:lnTo>
                  <a:lnTo>
                    <a:pt x="5202935" y="0"/>
                  </a:lnTo>
                  <a:lnTo>
                    <a:pt x="0" y="0"/>
                  </a:lnTo>
                  <a:lnTo>
                    <a:pt x="0" y="2951988"/>
                  </a:lnTo>
                  <a:close/>
                </a:path>
              </a:pathLst>
            </a:custGeom>
            <a:ln w="579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78739" y="3034360"/>
            <a:ext cx="6447790" cy="3483610"/>
          </a:xfrm>
          <a:prstGeom prst="rect">
            <a:avLst/>
          </a:prstGeom>
        </p:spPr>
        <p:txBody>
          <a:bodyPr wrap="square" lIns="0" tIns="49530" rIns="0" bIns="0" rtlCol="0" vert="horz">
            <a:spAutoFit/>
          </a:bodyPr>
          <a:lstStyle/>
          <a:p>
            <a:pPr marL="241300" marR="382905" indent="-228600">
              <a:lnSpc>
                <a:spcPct val="90000"/>
              </a:lnSpc>
              <a:spcBef>
                <a:spcPts val="390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400" spc="-5">
                <a:latin typeface="Carlito"/>
                <a:cs typeface="Carlito"/>
              </a:rPr>
              <a:t>This </a:t>
            </a:r>
            <a:r>
              <a:rPr dirty="0" sz="2400" spc="-10">
                <a:latin typeface="Carlito"/>
                <a:cs typeface="Carlito"/>
              </a:rPr>
              <a:t>universal </a:t>
            </a:r>
            <a:r>
              <a:rPr dirty="0" sz="2400" spc="-15">
                <a:latin typeface="Carlito"/>
                <a:cs typeface="Carlito"/>
              </a:rPr>
              <a:t>metadata </a:t>
            </a:r>
            <a:r>
              <a:rPr dirty="0" sz="2400" spc="-10">
                <a:latin typeface="Carlito"/>
                <a:cs typeface="Carlito"/>
              </a:rPr>
              <a:t>framework </a:t>
            </a:r>
            <a:r>
              <a:rPr dirty="0" sz="2400">
                <a:latin typeface="Carlito"/>
                <a:cs typeface="Carlito"/>
              </a:rPr>
              <a:t>includes  Model </a:t>
            </a:r>
            <a:r>
              <a:rPr dirty="0" sz="2400" spc="-5">
                <a:latin typeface="Carlito"/>
                <a:cs typeface="Carlito"/>
              </a:rPr>
              <a:t>Identify </a:t>
            </a:r>
            <a:r>
              <a:rPr dirty="0" sz="2400">
                <a:latin typeface="Carlito"/>
                <a:cs typeface="Carlito"/>
              </a:rPr>
              <a:t>and </a:t>
            </a:r>
            <a:r>
              <a:rPr dirty="0" sz="2400" spc="-10">
                <a:latin typeface="Carlito"/>
                <a:cs typeface="Carlito"/>
              </a:rPr>
              <a:t>Focus, </a:t>
            </a:r>
            <a:r>
              <a:rPr dirty="0" sz="2400">
                <a:latin typeface="Carlito"/>
                <a:cs typeface="Carlito"/>
              </a:rPr>
              <a:t>Model </a:t>
            </a:r>
            <a:r>
              <a:rPr dirty="0" sz="2400" spc="-25">
                <a:latin typeface="Carlito"/>
                <a:cs typeface="Carlito"/>
              </a:rPr>
              <a:t>Utility,</a:t>
            </a:r>
            <a:r>
              <a:rPr dirty="0" sz="2400" spc="-114">
                <a:latin typeface="Carlito"/>
                <a:cs typeface="Carlito"/>
              </a:rPr>
              <a:t> </a:t>
            </a:r>
            <a:r>
              <a:rPr dirty="0" sz="2400">
                <a:latin typeface="Carlito"/>
                <a:cs typeface="Carlito"/>
              </a:rPr>
              <a:t>Model  </a:t>
            </a:r>
            <a:r>
              <a:rPr dirty="0" sz="2400" spc="-10">
                <a:latin typeface="Carlito"/>
                <a:cs typeface="Carlito"/>
              </a:rPr>
              <a:t>Scope </a:t>
            </a:r>
            <a:r>
              <a:rPr dirty="0" sz="2400">
                <a:latin typeface="Carlito"/>
                <a:cs typeface="Carlito"/>
              </a:rPr>
              <a:t>and </a:t>
            </a:r>
            <a:r>
              <a:rPr dirty="0" sz="2400" spc="-15">
                <a:latin typeface="Carlito"/>
                <a:cs typeface="Carlito"/>
              </a:rPr>
              <a:t>Content, </a:t>
            </a:r>
            <a:r>
              <a:rPr dirty="0" sz="2400">
                <a:latin typeface="Carlito"/>
                <a:cs typeface="Carlito"/>
              </a:rPr>
              <a:t>Model </a:t>
            </a:r>
            <a:r>
              <a:rPr dirty="0" sz="2400" spc="-20">
                <a:latin typeface="Carlito"/>
                <a:cs typeface="Carlito"/>
              </a:rPr>
              <a:t>Credibility, </a:t>
            </a:r>
            <a:r>
              <a:rPr dirty="0" sz="2400">
                <a:latin typeface="Carlito"/>
                <a:cs typeface="Carlito"/>
              </a:rPr>
              <a:t>Model  </a:t>
            </a:r>
            <a:r>
              <a:rPr dirty="0" sz="2400" spc="-10">
                <a:latin typeface="Carlito"/>
                <a:cs typeface="Carlito"/>
              </a:rPr>
              <a:t>Representation, </a:t>
            </a:r>
            <a:r>
              <a:rPr dirty="0" sz="2400">
                <a:latin typeface="Carlito"/>
                <a:cs typeface="Carlito"/>
              </a:rPr>
              <a:t>and Model </a:t>
            </a:r>
            <a:r>
              <a:rPr dirty="0" sz="2400" spc="-20">
                <a:latin typeface="Carlito"/>
                <a:cs typeface="Carlito"/>
              </a:rPr>
              <a:t>Life </a:t>
            </a:r>
            <a:r>
              <a:rPr dirty="0" sz="2400" spc="-10">
                <a:latin typeface="Carlito"/>
                <a:cs typeface="Carlito"/>
              </a:rPr>
              <a:t>Cycle  </a:t>
            </a:r>
            <a:r>
              <a:rPr dirty="0" sz="2400" spc="-5">
                <a:latin typeface="Carlito"/>
                <a:cs typeface="Carlito"/>
              </a:rPr>
              <a:t>Management.</a:t>
            </a:r>
            <a:endParaRPr sz="2400">
              <a:latin typeface="Carlito"/>
              <a:cs typeface="Carlito"/>
            </a:endParaRPr>
          </a:p>
          <a:p>
            <a:pPr marL="241300" marR="5080" indent="-228600">
              <a:lnSpc>
                <a:spcPct val="90000"/>
              </a:lnSpc>
              <a:spcBef>
                <a:spcPts val="1010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400" spc="-10">
                <a:latin typeface="Carlito"/>
                <a:cs typeface="Carlito"/>
              </a:rPr>
              <a:t>Those </a:t>
            </a:r>
            <a:r>
              <a:rPr dirty="0" sz="2400" spc="-15">
                <a:latin typeface="Carlito"/>
                <a:cs typeface="Carlito"/>
              </a:rPr>
              <a:t>interested </a:t>
            </a:r>
            <a:r>
              <a:rPr dirty="0" sz="2400">
                <a:latin typeface="Carlito"/>
                <a:cs typeface="Carlito"/>
              </a:rPr>
              <a:t>in </a:t>
            </a:r>
            <a:r>
              <a:rPr dirty="0" sz="2400" spc="-5">
                <a:latin typeface="Carlito"/>
                <a:cs typeface="Carlito"/>
              </a:rPr>
              <a:t>participating </a:t>
            </a:r>
            <a:r>
              <a:rPr dirty="0" sz="2400" spc="-10">
                <a:latin typeface="Carlito"/>
                <a:cs typeface="Carlito"/>
              </a:rPr>
              <a:t>can </a:t>
            </a:r>
            <a:r>
              <a:rPr dirty="0" sz="2400" spc="-5">
                <a:latin typeface="Carlito"/>
                <a:cs typeface="Carlito"/>
              </a:rPr>
              <a:t>be </a:t>
            </a:r>
            <a:r>
              <a:rPr dirty="0" sz="2400">
                <a:latin typeface="Carlito"/>
                <a:cs typeface="Carlito"/>
              </a:rPr>
              <a:t>a </a:t>
            </a:r>
            <a:r>
              <a:rPr dirty="0" sz="2400" spc="-5">
                <a:latin typeface="Carlito"/>
                <a:cs typeface="Carlito"/>
              </a:rPr>
              <a:t>part of  </a:t>
            </a:r>
            <a:r>
              <a:rPr dirty="0" sz="2400" spc="-10">
                <a:latin typeface="Carlito"/>
                <a:cs typeface="Carlito"/>
              </a:rPr>
              <a:t>continued testing </a:t>
            </a:r>
            <a:r>
              <a:rPr dirty="0" sz="2400">
                <a:latin typeface="Carlito"/>
                <a:cs typeface="Carlito"/>
              </a:rPr>
              <a:t>and </a:t>
            </a:r>
            <a:r>
              <a:rPr dirty="0" sz="2400" spc="-10">
                <a:latin typeface="Carlito"/>
                <a:cs typeface="Carlito"/>
              </a:rPr>
              <a:t>feedback </a:t>
            </a:r>
            <a:r>
              <a:rPr dirty="0" sz="2400" spc="-5">
                <a:latin typeface="Carlito"/>
                <a:cs typeface="Carlito"/>
              </a:rPr>
              <a:t>on </a:t>
            </a:r>
            <a:r>
              <a:rPr dirty="0" sz="2400">
                <a:latin typeface="Carlito"/>
                <a:cs typeface="Carlito"/>
              </a:rPr>
              <a:t>the </a:t>
            </a:r>
            <a:r>
              <a:rPr dirty="0" sz="2400" spc="-5">
                <a:latin typeface="Carlito"/>
                <a:cs typeface="Carlito"/>
              </a:rPr>
              <a:t>application  of </a:t>
            </a:r>
            <a:r>
              <a:rPr dirty="0" sz="2400">
                <a:latin typeface="Carlito"/>
                <a:cs typeface="Carlito"/>
              </a:rPr>
              <a:t>the MCP </a:t>
            </a:r>
            <a:r>
              <a:rPr dirty="0" sz="2400" spc="-15">
                <a:latin typeface="Carlito"/>
                <a:cs typeface="Carlito"/>
              </a:rPr>
              <a:t>to </a:t>
            </a:r>
            <a:r>
              <a:rPr dirty="0" sz="2400">
                <a:latin typeface="Carlito"/>
                <a:cs typeface="Carlito"/>
              </a:rPr>
              <a:t>model </a:t>
            </a:r>
            <a:r>
              <a:rPr dirty="0" sz="2400" spc="-5">
                <a:latin typeface="Carlito"/>
                <a:cs typeface="Carlito"/>
              </a:rPr>
              <a:t>library </a:t>
            </a:r>
            <a:r>
              <a:rPr dirty="0" sz="2400" spc="-15">
                <a:latin typeface="Carlito"/>
                <a:cs typeface="Carlito"/>
              </a:rPr>
              <a:t>organization </a:t>
            </a:r>
            <a:r>
              <a:rPr dirty="0" sz="2400">
                <a:latin typeface="Carlito"/>
                <a:cs typeface="Carlito"/>
              </a:rPr>
              <a:t>and  </a:t>
            </a:r>
            <a:r>
              <a:rPr dirty="0" sz="2400" spc="-5">
                <a:latin typeface="Carlito"/>
                <a:cs typeface="Carlito"/>
              </a:rPr>
              <a:t>management, </a:t>
            </a:r>
            <a:r>
              <a:rPr dirty="0" sz="2400">
                <a:latin typeface="Carlito"/>
                <a:cs typeface="Carlito"/>
              </a:rPr>
              <a:t>model </a:t>
            </a:r>
            <a:r>
              <a:rPr dirty="0" sz="2400" spc="-15">
                <a:latin typeface="Carlito"/>
                <a:cs typeface="Carlito"/>
              </a:rPr>
              <a:t>exchanges </a:t>
            </a:r>
            <a:r>
              <a:rPr dirty="0" sz="2400">
                <a:latin typeface="Carlito"/>
                <a:cs typeface="Carlito"/>
              </a:rPr>
              <a:t>and </a:t>
            </a:r>
            <a:r>
              <a:rPr dirty="0" sz="2400" spc="-10">
                <a:latin typeface="Carlito"/>
                <a:cs typeface="Carlito"/>
              </a:rPr>
              <a:t>markets, </a:t>
            </a:r>
            <a:r>
              <a:rPr dirty="0" sz="2400">
                <a:latin typeface="Carlito"/>
                <a:cs typeface="Carlito"/>
              </a:rPr>
              <a:t>and  model </a:t>
            </a:r>
            <a:r>
              <a:rPr dirty="0" sz="2400" spc="-15">
                <a:latin typeface="Carlito"/>
                <a:cs typeface="Carlito"/>
              </a:rPr>
              <a:t>life </a:t>
            </a:r>
            <a:r>
              <a:rPr dirty="0" sz="2400" spc="-10">
                <a:latin typeface="Carlito"/>
                <a:cs typeface="Carlito"/>
              </a:rPr>
              <a:t>cycle </a:t>
            </a:r>
            <a:r>
              <a:rPr dirty="0" sz="2400" spc="-5">
                <a:latin typeface="Carlito"/>
                <a:cs typeface="Carlito"/>
              </a:rPr>
              <a:t>credibility</a:t>
            </a:r>
            <a:r>
              <a:rPr dirty="0" sz="2400" spc="-30">
                <a:latin typeface="Carlito"/>
                <a:cs typeface="Carlito"/>
              </a:rPr>
              <a:t> </a:t>
            </a:r>
            <a:r>
              <a:rPr dirty="0" sz="2400" spc="-5">
                <a:latin typeface="Carlito"/>
                <a:cs typeface="Carlito"/>
              </a:rPr>
              <a:t>management.</a:t>
            </a:r>
            <a:endParaRPr sz="2400">
              <a:latin typeface="Carlito"/>
              <a:cs typeface="Carlit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797420" y="6145479"/>
            <a:ext cx="5285740" cy="513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heavy" sz="16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rlito"/>
                <a:cs typeface="Carlito"/>
                <a:hlinkClick r:id="rId3"/>
              </a:rPr>
              <a:t>http://www.omgwiki.org/MBSE/lib/exe/fetch.php?media=mbse</a:t>
            </a:r>
            <a:endParaRPr sz="16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dirty="0" u="heavy" sz="16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rlito"/>
                <a:cs typeface="Carlito"/>
                <a:hlinkClick r:id="rId3"/>
              </a:rPr>
              <a:t>:patterns:model_characterization_pattern_mcp_v1.9.3.pdf</a:t>
            </a:r>
            <a:endParaRPr sz="16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244551"/>
            <a:ext cx="5459730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85"/>
              <a:t>5. </a:t>
            </a:r>
            <a:r>
              <a:rPr dirty="0" u="heavy" spc="-50" i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MBSE </a:t>
            </a:r>
            <a:r>
              <a:rPr dirty="0" u="heavy" spc="-300" i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Patterns</a:t>
            </a:r>
            <a:r>
              <a:rPr dirty="0" u="heavy" spc="-425" i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heavy" spc="-295" i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Primer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3428" y="1265936"/>
            <a:ext cx="7494270" cy="5116195"/>
          </a:xfrm>
          <a:prstGeom prst="rect">
            <a:avLst/>
          </a:prstGeom>
        </p:spPr>
        <p:txBody>
          <a:bodyPr wrap="square" lIns="0" tIns="92075" rIns="0" bIns="0" rtlCol="0" vert="horz">
            <a:spAutoFit/>
          </a:bodyPr>
          <a:lstStyle/>
          <a:p>
            <a:pPr marL="241300" marR="5080" indent="-228600">
              <a:lnSpc>
                <a:spcPct val="80000"/>
              </a:lnSpc>
              <a:spcBef>
                <a:spcPts val="725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600" spc="-5">
                <a:latin typeface="Carlito"/>
                <a:cs typeface="Carlito"/>
              </a:rPr>
              <a:t>The </a:t>
            </a:r>
            <a:r>
              <a:rPr dirty="0" sz="2600" spc="-20">
                <a:latin typeface="Carlito"/>
                <a:cs typeface="Carlito"/>
              </a:rPr>
              <a:t>Patterns </a:t>
            </a:r>
            <a:r>
              <a:rPr dirty="0" sz="2600" spc="-10">
                <a:latin typeface="Carlito"/>
                <a:cs typeface="Carlito"/>
              </a:rPr>
              <a:t>WG </a:t>
            </a:r>
            <a:r>
              <a:rPr dirty="0" sz="2600" spc="-15">
                <a:latin typeface="Carlito"/>
                <a:cs typeface="Carlito"/>
              </a:rPr>
              <a:t>generated </a:t>
            </a:r>
            <a:r>
              <a:rPr dirty="0" sz="2600">
                <a:latin typeface="Carlito"/>
                <a:cs typeface="Carlito"/>
              </a:rPr>
              <a:t>an </a:t>
            </a:r>
            <a:r>
              <a:rPr dirty="0" sz="2600" spc="-10">
                <a:latin typeface="Carlito"/>
                <a:cs typeface="Carlito"/>
              </a:rPr>
              <a:t>introduction </a:t>
            </a:r>
            <a:r>
              <a:rPr dirty="0" sz="2600">
                <a:latin typeface="Carlito"/>
                <a:cs typeface="Carlito"/>
              </a:rPr>
              <a:t>and  </a:t>
            </a:r>
            <a:r>
              <a:rPr dirty="0" sz="2600" spc="-5">
                <a:latin typeface="Carlito"/>
                <a:cs typeface="Carlito"/>
              </a:rPr>
              <a:t>overview </a:t>
            </a:r>
            <a:r>
              <a:rPr dirty="0" sz="2600">
                <a:latin typeface="Carlito"/>
                <a:cs typeface="Carlito"/>
              </a:rPr>
              <a:t>of </a:t>
            </a:r>
            <a:r>
              <a:rPr dirty="0" sz="2600" spc="-10">
                <a:latin typeface="Carlito"/>
                <a:cs typeface="Carlito"/>
              </a:rPr>
              <a:t>pattern-based </a:t>
            </a:r>
            <a:r>
              <a:rPr dirty="0" sz="2600" spc="-5">
                <a:latin typeface="Carlito"/>
                <a:cs typeface="Carlito"/>
              </a:rPr>
              <a:t>methods </a:t>
            </a:r>
            <a:r>
              <a:rPr dirty="0" sz="2600">
                <a:latin typeface="Carlito"/>
                <a:cs typeface="Carlito"/>
              </a:rPr>
              <a:t>and their  </a:t>
            </a:r>
            <a:r>
              <a:rPr dirty="0" sz="2600" spc="-5">
                <a:latin typeface="Carlito"/>
                <a:cs typeface="Carlito"/>
              </a:rPr>
              <a:t>relationships </a:t>
            </a:r>
            <a:r>
              <a:rPr dirty="0" sz="2600">
                <a:latin typeface="Carlito"/>
                <a:cs typeface="Carlito"/>
              </a:rPr>
              <a:t>with </a:t>
            </a:r>
            <a:r>
              <a:rPr dirty="0" sz="2600" spc="-5">
                <a:latin typeface="Carlito"/>
                <a:cs typeface="Carlito"/>
              </a:rPr>
              <a:t>other </a:t>
            </a:r>
            <a:r>
              <a:rPr dirty="0" sz="2600" spc="-20">
                <a:latin typeface="Carlito"/>
                <a:cs typeface="Carlito"/>
              </a:rPr>
              <a:t>subjects</a:t>
            </a:r>
            <a:r>
              <a:rPr dirty="0" sz="2600" spc="-20">
                <a:latin typeface="Arial"/>
                <a:cs typeface="Arial"/>
              </a:rPr>
              <a:t>—</a:t>
            </a:r>
            <a:r>
              <a:rPr dirty="0" sz="2600" spc="-20">
                <a:latin typeface="Carlito"/>
                <a:cs typeface="Carlito"/>
              </a:rPr>
              <a:t>this </a:t>
            </a:r>
            <a:r>
              <a:rPr dirty="0" sz="2600" spc="-10">
                <a:latin typeface="Carlito"/>
                <a:cs typeface="Carlito"/>
              </a:rPr>
              <a:t>was </a:t>
            </a:r>
            <a:r>
              <a:rPr dirty="0" sz="2600" spc="-15">
                <a:latin typeface="Carlito"/>
                <a:cs typeface="Carlito"/>
              </a:rPr>
              <a:t>several  </a:t>
            </a:r>
            <a:r>
              <a:rPr dirty="0" sz="2600" spc="-20">
                <a:latin typeface="Carlito"/>
                <a:cs typeface="Carlito"/>
              </a:rPr>
              <a:t>years </a:t>
            </a:r>
            <a:r>
              <a:rPr dirty="0" sz="2600" spc="-5">
                <a:latin typeface="Carlito"/>
                <a:cs typeface="Carlito"/>
              </a:rPr>
              <a:t>ago </a:t>
            </a:r>
            <a:r>
              <a:rPr dirty="0" sz="2600">
                <a:latin typeface="Carlito"/>
                <a:cs typeface="Carlito"/>
              </a:rPr>
              <a:t>and </a:t>
            </a:r>
            <a:r>
              <a:rPr dirty="0" sz="2600" spc="-25">
                <a:latin typeface="Carlito"/>
                <a:cs typeface="Carlito"/>
              </a:rPr>
              <a:t>before </a:t>
            </a:r>
            <a:r>
              <a:rPr dirty="0" sz="2600">
                <a:latin typeface="Carlito"/>
                <a:cs typeface="Carlito"/>
              </a:rPr>
              <a:t>the </a:t>
            </a:r>
            <a:r>
              <a:rPr dirty="0" sz="2600" spc="-10">
                <a:latin typeface="Carlito"/>
                <a:cs typeface="Carlito"/>
              </a:rPr>
              <a:t>emergence </a:t>
            </a:r>
            <a:r>
              <a:rPr dirty="0" sz="2600" spc="-5">
                <a:latin typeface="Carlito"/>
                <a:cs typeface="Carlito"/>
              </a:rPr>
              <a:t>of </a:t>
            </a:r>
            <a:r>
              <a:rPr dirty="0" sz="2600" spc="-10">
                <a:latin typeface="Carlito"/>
                <a:cs typeface="Carlito"/>
              </a:rPr>
              <a:t>newer </a:t>
            </a:r>
            <a:r>
              <a:rPr dirty="0" sz="2600" spc="-5">
                <a:latin typeface="Carlito"/>
                <a:cs typeface="Carlito"/>
              </a:rPr>
              <a:t>INCOSE  </a:t>
            </a:r>
            <a:r>
              <a:rPr dirty="0" sz="2600" spc="-55">
                <a:latin typeface="Carlito"/>
                <a:cs typeface="Carlito"/>
              </a:rPr>
              <a:t>Tech </a:t>
            </a:r>
            <a:r>
              <a:rPr dirty="0" sz="2600" spc="-5">
                <a:latin typeface="Carlito"/>
                <a:cs typeface="Carlito"/>
              </a:rPr>
              <a:t>Ops approaches </a:t>
            </a:r>
            <a:r>
              <a:rPr dirty="0" sz="2600" spc="-15">
                <a:latin typeface="Carlito"/>
                <a:cs typeface="Carlito"/>
              </a:rPr>
              <a:t>to </a:t>
            </a:r>
            <a:r>
              <a:rPr dirty="0" sz="2600" spc="-5">
                <a:latin typeface="Carlito"/>
                <a:cs typeface="Carlito"/>
              </a:rPr>
              <a:t>INCOSE </a:t>
            </a:r>
            <a:r>
              <a:rPr dirty="0" sz="2600" spc="-25">
                <a:latin typeface="Carlito"/>
                <a:cs typeface="Carlito"/>
              </a:rPr>
              <a:t>Technical </a:t>
            </a:r>
            <a:r>
              <a:rPr dirty="0" sz="2600" spc="-10">
                <a:latin typeface="Carlito"/>
                <a:cs typeface="Carlito"/>
              </a:rPr>
              <a:t>Product  </a:t>
            </a:r>
            <a:r>
              <a:rPr dirty="0" sz="2600" spc="-15">
                <a:latin typeface="Arial"/>
                <a:cs typeface="Arial"/>
              </a:rPr>
              <a:t>“primers” </a:t>
            </a:r>
            <a:r>
              <a:rPr dirty="0" sz="2600" spc="-80">
                <a:latin typeface="Arial"/>
                <a:cs typeface="Arial"/>
              </a:rPr>
              <a:t>on </a:t>
            </a:r>
            <a:r>
              <a:rPr dirty="0" sz="2600" spc="-105">
                <a:latin typeface="Arial"/>
                <a:cs typeface="Arial"/>
              </a:rPr>
              <a:t>various </a:t>
            </a:r>
            <a:r>
              <a:rPr dirty="0" sz="2600" spc="-114">
                <a:latin typeface="Arial"/>
                <a:cs typeface="Arial"/>
              </a:rPr>
              <a:t>subjects </a:t>
            </a:r>
            <a:r>
              <a:rPr dirty="0" sz="2600" spc="-75">
                <a:latin typeface="Arial"/>
                <a:cs typeface="Arial"/>
              </a:rPr>
              <a:t>supported </a:t>
            </a:r>
            <a:r>
              <a:rPr dirty="0" sz="2600" spc="-110">
                <a:latin typeface="Arial"/>
                <a:cs typeface="Arial"/>
              </a:rPr>
              <a:t>by </a:t>
            </a:r>
            <a:r>
              <a:rPr dirty="0" sz="2600" spc="-25">
                <a:latin typeface="Arial"/>
                <a:cs typeface="Arial"/>
              </a:rPr>
              <a:t>the  </a:t>
            </a:r>
            <a:r>
              <a:rPr dirty="0" sz="2600" spc="-10">
                <a:latin typeface="Carlito"/>
                <a:cs typeface="Carlito"/>
              </a:rPr>
              <a:t>working groups.</a:t>
            </a:r>
            <a:endParaRPr sz="2600">
              <a:latin typeface="Carlito"/>
              <a:cs typeface="Carlito"/>
            </a:endParaRPr>
          </a:p>
          <a:p>
            <a:pPr algn="just" marL="241300" marR="488315" indent="-228600">
              <a:lnSpc>
                <a:spcPts val="2500"/>
              </a:lnSpc>
              <a:spcBef>
                <a:spcPts val="975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600" spc="-5">
                <a:latin typeface="Carlito"/>
                <a:cs typeface="Carlito"/>
              </a:rPr>
              <a:t>This </a:t>
            </a:r>
            <a:r>
              <a:rPr dirty="0" sz="2600" spc="-10">
                <a:latin typeface="Carlito"/>
                <a:cs typeface="Carlito"/>
              </a:rPr>
              <a:t>project </a:t>
            </a:r>
            <a:r>
              <a:rPr dirty="0" sz="2600">
                <a:latin typeface="Carlito"/>
                <a:cs typeface="Carlito"/>
              </a:rPr>
              <a:t>is </a:t>
            </a:r>
            <a:r>
              <a:rPr dirty="0" sz="2600" spc="-5">
                <a:latin typeface="Carlito"/>
                <a:cs typeface="Carlito"/>
              </a:rPr>
              <a:t>concerned </a:t>
            </a:r>
            <a:r>
              <a:rPr dirty="0" sz="2600">
                <a:latin typeface="Carlito"/>
                <a:cs typeface="Carlito"/>
              </a:rPr>
              <a:t>with </a:t>
            </a:r>
            <a:r>
              <a:rPr dirty="0" sz="2600" spc="-10">
                <a:latin typeface="Carlito"/>
                <a:cs typeface="Carlito"/>
              </a:rPr>
              <a:t>recasting </a:t>
            </a:r>
            <a:r>
              <a:rPr dirty="0" sz="2600">
                <a:latin typeface="Carlito"/>
                <a:cs typeface="Carlito"/>
              </a:rPr>
              <a:t>the earlier  </a:t>
            </a:r>
            <a:r>
              <a:rPr dirty="0" sz="2600" spc="-60">
                <a:latin typeface="Arial"/>
                <a:cs typeface="Arial"/>
              </a:rPr>
              <a:t>publication</a:t>
            </a:r>
            <a:r>
              <a:rPr dirty="0" sz="2600" spc="-155">
                <a:latin typeface="Arial"/>
                <a:cs typeface="Arial"/>
              </a:rPr>
              <a:t> </a:t>
            </a:r>
            <a:r>
              <a:rPr dirty="0" sz="2600" spc="-30">
                <a:latin typeface="Arial"/>
                <a:cs typeface="Arial"/>
              </a:rPr>
              <a:t>in</a:t>
            </a:r>
            <a:r>
              <a:rPr dirty="0" sz="2600" spc="-145">
                <a:latin typeface="Arial"/>
                <a:cs typeface="Arial"/>
              </a:rPr>
              <a:t> </a:t>
            </a:r>
            <a:r>
              <a:rPr dirty="0" sz="2600" spc="-25">
                <a:latin typeface="Arial"/>
                <a:cs typeface="Arial"/>
              </a:rPr>
              <a:t>the</a:t>
            </a:r>
            <a:r>
              <a:rPr dirty="0" sz="2600" spc="-150">
                <a:latin typeface="Arial"/>
                <a:cs typeface="Arial"/>
              </a:rPr>
              <a:t> </a:t>
            </a:r>
            <a:r>
              <a:rPr dirty="0" sz="2600" spc="-30">
                <a:latin typeface="Arial"/>
                <a:cs typeface="Arial"/>
              </a:rPr>
              <a:t>form</a:t>
            </a:r>
            <a:r>
              <a:rPr dirty="0" sz="2600" spc="-150">
                <a:latin typeface="Arial"/>
                <a:cs typeface="Arial"/>
              </a:rPr>
              <a:t> </a:t>
            </a:r>
            <a:r>
              <a:rPr dirty="0" sz="2600" spc="-5">
                <a:latin typeface="Arial"/>
                <a:cs typeface="Arial"/>
              </a:rPr>
              <a:t>of</a:t>
            </a:r>
            <a:r>
              <a:rPr dirty="0" sz="2600" spc="-140">
                <a:latin typeface="Arial"/>
                <a:cs typeface="Arial"/>
              </a:rPr>
              <a:t> an</a:t>
            </a:r>
            <a:r>
              <a:rPr dirty="0" sz="2600" spc="-150">
                <a:latin typeface="Arial"/>
                <a:cs typeface="Arial"/>
              </a:rPr>
              <a:t> </a:t>
            </a:r>
            <a:r>
              <a:rPr dirty="0" sz="2600" spc="-85">
                <a:latin typeface="Arial"/>
                <a:cs typeface="Arial"/>
              </a:rPr>
              <a:t>updated</a:t>
            </a:r>
            <a:r>
              <a:rPr dirty="0" sz="2600" spc="-180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“Primer”</a:t>
            </a:r>
            <a:r>
              <a:rPr dirty="0" sz="2600" spc="-160">
                <a:latin typeface="Arial"/>
                <a:cs typeface="Arial"/>
              </a:rPr>
              <a:t> </a:t>
            </a:r>
            <a:r>
              <a:rPr dirty="0" sz="2600" spc="-80">
                <a:latin typeface="Arial"/>
                <a:cs typeface="Arial"/>
              </a:rPr>
              <a:t>on  </a:t>
            </a:r>
            <a:r>
              <a:rPr dirty="0" sz="2600" spc="-5">
                <a:latin typeface="Carlito"/>
                <a:cs typeface="Carlito"/>
              </a:rPr>
              <a:t>model-based </a:t>
            </a:r>
            <a:r>
              <a:rPr dirty="0" sz="2600" spc="-10">
                <a:latin typeface="Carlito"/>
                <a:cs typeface="Carlito"/>
              </a:rPr>
              <a:t>patterns </a:t>
            </a:r>
            <a:r>
              <a:rPr dirty="0" sz="2600">
                <a:latin typeface="Carlito"/>
                <a:cs typeface="Carlito"/>
              </a:rPr>
              <a:t>and </a:t>
            </a:r>
            <a:r>
              <a:rPr dirty="0" sz="2600" spc="-15">
                <a:latin typeface="Carlito"/>
                <a:cs typeface="Carlito"/>
              </a:rPr>
              <a:t>related</a:t>
            </a:r>
            <a:r>
              <a:rPr dirty="0" sz="2600" spc="-80">
                <a:latin typeface="Carlito"/>
                <a:cs typeface="Carlito"/>
              </a:rPr>
              <a:t> </a:t>
            </a:r>
            <a:r>
              <a:rPr dirty="0" sz="2600" spc="-5">
                <a:latin typeface="Carlito"/>
                <a:cs typeface="Carlito"/>
              </a:rPr>
              <a:t>subjects.</a:t>
            </a:r>
            <a:endParaRPr sz="2600">
              <a:latin typeface="Carlito"/>
              <a:cs typeface="Carlito"/>
            </a:endParaRPr>
          </a:p>
          <a:p>
            <a:pPr marL="241300" marR="507365" indent="-228600">
              <a:lnSpc>
                <a:spcPct val="80000"/>
              </a:lnSpc>
              <a:spcBef>
                <a:spcPts val="1019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600" spc="-5">
                <a:latin typeface="Carlito"/>
                <a:cs typeface="Carlito"/>
              </a:rPr>
              <a:t>Those </a:t>
            </a:r>
            <a:r>
              <a:rPr dirty="0" sz="2600" spc="-15">
                <a:latin typeface="Carlito"/>
                <a:cs typeface="Carlito"/>
              </a:rPr>
              <a:t>interested </a:t>
            </a:r>
            <a:r>
              <a:rPr dirty="0" sz="2600">
                <a:latin typeface="Carlito"/>
                <a:cs typeface="Carlito"/>
              </a:rPr>
              <a:t>in </a:t>
            </a:r>
            <a:r>
              <a:rPr dirty="0" sz="2600" spc="-5">
                <a:latin typeface="Carlito"/>
                <a:cs typeface="Carlito"/>
              </a:rPr>
              <a:t>participating </a:t>
            </a:r>
            <a:r>
              <a:rPr dirty="0" sz="2600" spc="-10">
                <a:latin typeface="Carlito"/>
                <a:cs typeface="Carlito"/>
              </a:rPr>
              <a:t>can </a:t>
            </a:r>
            <a:r>
              <a:rPr dirty="0" sz="2600" spc="-5">
                <a:latin typeface="Carlito"/>
                <a:cs typeface="Carlito"/>
              </a:rPr>
              <a:t>be </a:t>
            </a:r>
            <a:r>
              <a:rPr dirty="0" sz="2600">
                <a:latin typeface="Carlito"/>
                <a:cs typeface="Carlito"/>
              </a:rPr>
              <a:t>a </a:t>
            </a:r>
            <a:r>
              <a:rPr dirty="0" sz="2600" spc="-5">
                <a:latin typeface="Carlito"/>
                <a:cs typeface="Carlito"/>
              </a:rPr>
              <a:t>part of  </a:t>
            </a:r>
            <a:r>
              <a:rPr dirty="0" sz="2600" spc="-10">
                <a:latin typeface="Carlito"/>
                <a:cs typeface="Carlito"/>
              </a:rPr>
              <a:t>review </a:t>
            </a:r>
            <a:r>
              <a:rPr dirty="0" sz="2600" spc="-5">
                <a:latin typeface="Carlito"/>
                <a:cs typeface="Carlito"/>
              </a:rPr>
              <a:t>of </a:t>
            </a:r>
            <a:r>
              <a:rPr dirty="0" sz="2600">
                <a:latin typeface="Carlito"/>
                <a:cs typeface="Carlito"/>
              </a:rPr>
              <a:t>the earlier </a:t>
            </a:r>
            <a:r>
              <a:rPr dirty="0" sz="2600" spc="-10">
                <a:latin typeface="Carlito"/>
                <a:cs typeface="Carlito"/>
              </a:rPr>
              <a:t>document </a:t>
            </a:r>
            <a:r>
              <a:rPr dirty="0" sz="2600">
                <a:latin typeface="Carlito"/>
                <a:cs typeface="Carlito"/>
              </a:rPr>
              <a:t>and </a:t>
            </a:r>
            <a:r>
              <a:rPr dirty="0" sz="2600" spc="-10">
                <a:latin typeface="Carlito"/>
                <a:cs typeface="Carlito"/>
              </a:rPr>
              <a:t>newer </a:t>
            </a:r>
            <a:r>
              <a:rPr dirty="0" sz="2600" spc="-5">
                <a:latin typeface="Carlito"/>
                <a:cs typeface="Carlito"/>
              </a:rPr>
              <a:t>INCOSE  </a:t>
            </a:r>
            <a:r>
              <a:rPr dirty="0" sz="2600" spc="-10">
                <a:latin typeface="Carlito"/>
                <a:cs typeface="Carlito"/>
              </a:rPr>
              <a:t>primers, regeneration </a:t>
            </a:r>
            <a:r>
              <a:rPr dirty="0" sz="2600">
                <a:latin typeface="Carlito"/>
                <a:cs typeface="Carlito"/>
              </a:rPr>
              <a:t>of an </a:t>
            </a:r>
            <a:r>
              <a:rPr dirty="0" sz="2600" spc="-10">
                <a:latin typeface="Carlito"/>
                <a:cs typeface="Carlito"/>
              </a:rPr>
              <a:t>updated </a:t>
            </a:r>
            <a:r>
              <a:rPr dirty="0" sz="2600" spc="-5">
                <a:latin typeface="Carlito"/>
                <a:cs typeface="Carlito"/>
              </a:rPr>
              <a:t>primer </a:t>
            </a:r>
            <a:r>
              <a:rPr dirty="0" sz="2600" spc="-20">
                <a:latin typeface="Carlito"/>
                <a:cs typeface="Carlito"/>
              </a:rPr>
              <a:t>form  </a:t>
            </a:r>
            <a:r>
              <a:rPr dirty="0" sz="2600" spc="-5">
                <a:latin typeface="Carlito"/>
                <a:cs typeface="Carlito"/>
              </a:rPr>
              <a:t>asset, or </a:t>
            </a:r>
            <a:r>
              <a:rPr dirty="0" sz="2600" spc="-10">
                <a:latin typeface="Carlito"/>
                <a:cs typeface="Carlito"/>
              </a:rPr>
              <a:t>review </a:t>
            </a:r>
            <a:r>
              <a:rPr dirty="0" sz="2600" spc="-5">
                <a:latin typeface="Carlito"/>
                <a:cs typeface="Carlito"/>
              </a:rPr>
              <a:t>of </a:t>
            </a:r>
            <a:r>
              <a:rPr dirty="0" sz="2600">
                <a:latin typeface="Carlito"/>
                <a:cs typeface="Carlito"/>
              </a:rPr>
              <a:t>the </a:t>
            </a:r>
            <a:r>
              <a:rPr dirty="0" sz="2600" spc="-5">
                <a:latin typeface="Carlito"/>
                <a:cs typeface="Carlito"/>
              </a:rPr>
              <a:t>resulting </a:t>
            </a:r>
            <a:r>
              <a:rPr dirty="0" sz="2600" spc="-10">
                <a:latin typeface="Carlito"/>
                <a:cs typeface="Carlito"/>
              </a:rPr>
              <a:t>document </a:t>
            </a:r>
            <a:r>
              <a:rPr dirty="0" sz="2600" spc="-25">
                <a:latin typeface="Carlito"/>
                <a:cs typeface="Carlito"/>
              </a:rPr>
              <a:t>for  </a:t>
            </a:r>
            <a:r>
              <a:rPr dirty="0" sz="2600" spc="-5">
                <a:latin typeface="Carlito"/>
                <a:cs typeface="Carlito"/>
              </a:rPr>
              <a:t>submission </a:t>
            </a:r>
            <a:r>
              <a:rPr dirty="0" sz="2600">
                <a:latin typeface="Carlito"/>
                <a:cs typeface="Carlito"/>
              </a:rPr>
              <a:t>as a </a:t>
            </a:r>
            <a:r>
              <a:rPr dirty="0" sz="2600" spc="-25">
                <a:latin typeface="Carlito"/>
                <a:cs typeface="Carlito"/>
              </a:rPr>
              <a:t>Technical</a:t>
            </a:r>
            <a:r>
              <a:rPr dirty="0" sz="2600" spc="-70">
                <a:latin typeface="Carlito"/>
                <a:cs typeface="Carlito"/>
              </a:rPr>
              <a:t> </a:t>
            </a:r>
            <a:r>
              <a:rPr dirty="0" sz="2600" spc="-10">
                <a:latin typeface="Carlito"/>
                <a:cs typeface="Carlito"/>
              </a:rPr>
              <a:t>Product.</a:t>
            </a:r>
            <a:endParaRPr sz="2600">
              <a:latin typeface="Carlito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623150" y="5140552"/>
            <a:ext cx="4469772" cy="159234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grpSp>
        <p:nvGrpSpPr>
          <p:cNvPr id="5" name="object 5"/>
          <p:cNvGrpSpPr/>
          <p:nvPr/>
        </p:nvGrpSpPr>
        <p:grpSpPr>
          <a:xfrm>
            <a:off x="7769352" y="1310639"/>
            <a:ext cx="4310380" cy="2680970"/>
            <a:chOff x="7769352" y="1310639"/>
            <a:chExt cx="4310380" cy="2680970"/>
          </a:xfrm>
        </p:grpSpPr>
        <p:sp>
          <p:nvSpPr>
            <p:cNvPr id="6" name="object 6"/>
            <p:cNvSpPr/>
            <p:nvPr/>
          </p:nvSpPr>
          <p:spPr>
            <a:xfrm>
              <a:off x="8089058" y="1737255"/>
              <a:ext cx="3675802" cy="210534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7798308" y="1339595"/>
              <a:ext cx="4251960" cy="2623185"/>
            </a:xfrm>
            <a:custGeom>
              <a:avLst/>
              <a:gdLst/>
              <a:ahLst/>
              <a:cxnLst/>
              <a:rect l="l" t="t" r="r" b="b"/>
              <a:pathLst>
                <a:path w="4251959" h="2623185">
                  <a:moveTo>
                    <a:pt x="0" y="2622804"/>
                  </a:moveTo>
                  <a:lnTo>
                    <a:pt x="4251959" y="2622804"/>
                  </a:lnTo>
                  <a:lnTo>
                    <a:pt x="4251959" y="0"/>
                  </a:lnTo>
                  <a:lnTo>
                    <a:pt x="0" y="0"/>
                  </a:lnTo>
                  <a:lnTo>
                    <a:pt x="0" y="2622804"/>
                  </a:lnTo>
                  <a:close/>
                </a:path>
              </a:pathLst>
            </a:custGeom>
            <a:ln w="579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7708772" y="4057269"/>
            <a:ext cx="4387215" cy="7569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u="heavy" sz="1600" spc="-15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rlito"/>
                <a:cs typeface="Carlito"/>
                <a:hlinkClick r:id="rId4"/>
              </a:rPr>
              <a:t>http://www.omgwiki.org/MBSE/lib/exe/fetch.php?m </a:t>
            </a:r>
            <a:r>
              <a:rPr dirty="0" sz="1600" spc="-15">
                <a:solidFill>
                  <a:srgbClr val="0462C1"/>
                </a:solidFill>
                <a:latin typeface="Carlito"/>
                <a:cs typeface="Carlito"/>
                <a:hlinkClick r:id="rId4"/>
              </a:rPr>
              <a:t> </a:t>
            </a:r>
            <a:r>
              <a:rPr dirty="0" u="heavy" sz="16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rlito"/>
                <a:cs typeface="Carlito"/>
                <a:hlinkClick r:id="rId4"/>
              </a:rPr>
              <a:t>edia=mbse:patterns:pbse_extension_of_mbse-- </a:t>
            </a:r>
            <a:r>
              <a:rPr dirty="0" sz="1600" spc="-10">
                <a:solidFill>
                  <a:srgbClr val="0462C1"/>
                </a:solidFill>
                <a:latin typeface="Carlito"/>
                <a:cs typeface="Carlito"/>
                <a:hlinkClick r:id="rId4"/>
              </a:rPr>
              <a:t> </a:t>
            </a:r>
            <a:r>
              <a:rPr dirty="0" u="heavy" sz="16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rlito"/>
                <a:cs typeface="Carlito"/>
                <a:hlinkClick r:id="rId4"/>
              </a:rPr>
              <a:t>methodology_summary_v1.6.1.pdf</a:t>
            </a:r>
            <a:endParaRPr sz="16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2956" y="138175"/>
            <a:ext cx="6535420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170"/>
              <a:t>6. </a:t>
            </a:r>
            <a:r>
              <a:rPr dirty="0" sz="4000" spc="-95"/>
              <a:t>Minimal </a:t>
            </a:r>
            <a:r>
              <a:rPr dirty="0" sz="4000" spc="-220"/>
              <a:t>S*Models—A</a:t>
            </a:r>
            <a:r>
              <a:rPr dirty="0" sz="4000" spc="-415"/>
              <a:t> </a:t>
            </a:r>
            <a:r>
              <a:rPr dirty="0" sz="4000" spc="-170"/>
              <a:t>Primer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78739" y="906525"/>
            <a:ext cx="7196455" cy="58178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1300" indent="-228600">
              <a:lnSpc>
                <a:spcPts val="2245"/>
              </a:lnSpc>
              <a:spcBef>
                <a:spcPts val="9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dirty="0" sz="2200" spc="-10">
                <a:latin typeface="Carlito"/>
                <a:cs typeface="Carlito"/>
              </a:rPr>
              <a:t>The </a:t>
            </a:r>
            <a:r>
              <a:rPr dirty="0" sz="2200" spc="-15">
                <a:latin typeface="Carlito"/>
                <a:cs typeface="Carlito"/>
              </a:rPr>
              <a:t>laws </a:t>
            </a:r>
            <a:r>
              <a:rPr dirty="0" sz="2200">
                <a:latin typeface="Carlito"/>
                <a:cs typeface="Carlito"/>
              </a:rPr>
              <a:t>of </a:t>
            </a:r>
            <a:r>
              <a:rPr dirty="0" sz="2200" spc="-15">
                <a:latin typeface="Carlito"/>
                <a:cs typeface="Carlito"/>
              </a:rPr>
              <a:t>nature </a:t>
            </a:r>
            <a:r>
              <a:rPr dirty="0" sz="2200" spc="-5">
                <a:latin typeface="Carlito"/>
                <a:cs typeface="Carlito"/>
              </a:rPr>
              <a:t>which </a:t>
            </a:r>
            <a:r>
              <a:rPr dirty="0" sz="2200" spc="-15">
                <a:latin typeface="Carlito"/>
                <a:cs typeface="Carlito"/>
              </a:rPr>
              <a:t>are </a:t>
            </a:r>
            <a:r>
              <a:rPr dirty="0" sz="2200" spc="-10">
                <a:latin typeface="Carlito"/>
                <a:cs typeface="Carlito"/>
              </a:rPr>
              <a:t>the </a:t>
            </a:r>
            <a:r>
              <a:rPr dirty="0" sz="2200" spc="-5">
                <a:latin typeface="Carlito"/>
                <a:cs typeface="Carlito"/>
              </a:rPr>
              <a:t>basis of the </a:t>
            </a:r>
            <a:r>
              <a:rPr dirty="0" sz="2200" spc="-15">
                <a:latin typeface="Carlito"/>
                <a:cs typeface="Carlito"/>
              </a:rPr>
              <a:t>natural</a:t>
            </a:r>
            <a:r>
              <a:rPr dirty="0" sz="2200" spc="130">
                <a:latin typeface="Carlito"/>
                <a:cs typeface="Carlito"/>
              </a:rPr>
              <a:t> </a:t>
            </a:r>
            <a:r>
              <a:rPr dirty="0" sz="2200" spc="-10">
                <a:latin typeface="Carlito"/>
                <a:cs typeface="Carlito"/>
              </a:rPr>
              <a:t>sciences</a:t>
            </a:r>
            <a:endParaRPr sz="2200">
              <a:latin typeface="Carlito"/>
              <a:cs typeface="Carlito"/>
            </a:endParaRPr>
          </a:p>
          <a:p>
            <a:pPr marL="241300" marR="349885">
              <a:lnSpc>
                <a:spcPct val="70000"/>
              </a:lnSpc>
              <a:spcBef>
                <a:spcPts val="395"/>
              </a:spcBef>
            </a:pPr>
            <a:r>
              <a:rPr dirty="0" sz="2200" spc="-10">
                <a:latin typeface="Carlito"/>
                <a:cs typeface="Carlito"/>
              </a:rPr>
              <a:t>are </a:t>
            </a:r>
            <a:r>
              <a:rPr dirty="0" sz="2200" spc="-5">
                <a:latin typeface="Carlito"/>
                <a:cs typeface="Carlito"/>
              </a:rPr>
              <a:t>all </a:t>
            </a:r>
            <a:r>
              <a:rPr dirty="0" sz="2200" spc="-15">
                <a:latin typeface="Carlito"/>
                <a:cs typeface="Carlito"/>
              </a:rPr>
              <a:t>formal </a:t>
            </a:r>
            <a:r>
              <a:rPr dirty="0" sz="2200" spc="-10">
                <a:latin typeface="Carlito"/>
                <a:cs typeface="Carlito"/>
              </a:rPr>
              <a:t>descriptions </a:t>
            </a:r>
            <a:r>
              <a:rPr dirty="0" sz="2200">
                <a:latin typeface="Carlito"/>
                <a:cs typeface="Carlito"/>
              </a:rPr>
              <a:t>of </a:t>
            </a:r>
            <a:r>
              <a:rPr dirty="0" sz="2200" spc="-10">
                <a:latin typeface="Carlito"/>
                <a:cs typeface="Carlito"/>
              </a:rPr>
              <a:t>recurring </a:t>
            </a:r>
            <a:r>
              <a:rPr dirty="0" sz="2200" spc="-15">
                <a:latin typeface="Carlito"/>
                <a:cs typeface="Carlito"/>
              </a:rPr>
              <a:t>patterns </a:t>
            </a:r>
            <a:r>
              <a:rPr dirty="0" sz="2200" spc="-10">
                <a:latin typeface="Carlito"/>
                <a:cs typeface="Carlito"/>
              </a:rPr>
              <a:t>associated  </a:t>
            </a:r>
            <a:r>
              <a:rPr dirty="0" sz="2200" spc="-5">
                <a:latin typeface="Carlito"/>
                <a:cs typeface="Carlito"/>
              </a:rPr>
              <a:t>with observable </a:t>
            </a:r>
            <a:r>
              <a:rPr dirty="0" sz="2200" spc="-10">
                <a:latin typeface="Carlito"/>
                <a:cs typeface="Carlito"/>
              </a:rPr>
              <a:t>phenomena (things that</a:t>
            </a:r>
            <a:r>
              <a:rPr dirty="0" sz="2200" spc="15">
                <a:latin typeface="Carlito"/>
                <a:cs typeface="Carlito"/>
              </a:rPr>
              <a:t> </a:t>
            </a:r>
            <a:r>
              <a:rPr dirty="0" sz="2200" spc="-10">
                <a:latin typeface="Carlito"/>
                <a:cs typeface="Carlito"/>
              </a:rPr>
              <a:t>happen).</a:t>
            </a:r>
            <a:endParaRPr sz="2200">
              <a:latin typeface="Carlito"/>
              <a:cs typeface="Carlito"/>
            </a:endParaRPr>
          </a:p>
          <a:p>
            <a:pPr marL="241300" indent="-228600">
              <a:lnSpc>
                <a:spcPts val="2245"/>
              </a:lnSpc>
              <a:spcBef>
                <a:spcPts val="209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dirty="0" sz="2200" spc="-10">
                <a:latin typeface="Carlito"/>
                <a:cs typeface="Carlito"/>
              </a:rPr>
              <a:t>Finding the smallest </a:t>
            </a:r>
            <a:r>
              <a:rPr dirty="0" sz="2200" spc="-5">
                <a:latin typeface="Carlito"/>
                <a:cs typeface="Carlito"/>
              </a:rPr>
              <a:t>model-based </a:t>
            </a:r>
            <a:r>
              <a:rPr dirty="0" sz="2200" spc="-15">
                <a:latin typeface="Carlito"/>
                <a:cs typeface="Carlito"/>
              </a:rPr>
              <a:t>representation </a:t>
            </a:r>
            <a:r>
              <a:rPr dirty="0" sz="2200" spc="-5">
                <a:latin typeface="Carlito"/>
                <a:cs typeface="Carlito"/>
              </a:rPr>
              <a:t>of</a:t>
            </a:r>
            <a:r>
              <a:rPr dirty="0" sz="2200" spc="95">
                <a:latin typeface="Carlito"/>
                <a:cs typeface="Carlito"/>
              </a:rPr>
              <a:t> </a:t>
            </a:r>
            <a:r>
              <a:rPr dirty="0" sz="2200" spc="-5">
                <a:latin typeface="Carlito"/>
                <a:cs typeface="Carlito"/>
              </a:rPr>
              <a:t>those</a:t>
            </a:r>
            <a:endParaRPr sz="2200">
              <a:latin typeface="Carlito"/>
              <a:cs typeface="Carlito"/>
            </a:endParaRPr>
          </a:p>
          <a:p>
            <a:pPr marL="241300" marR="892175">
              <a:lnSpc>
                <a:spcPct val="70000"/>
              </a:lnSpc>
              <a:spcBef>
                <a:spcPts val="395"/>
              </a:spcBef>
            </a:pPr>
            <a:r>
              <a:rPr dirty="0" sz="2200" spc="-15">
                <a:latin typeface="Carlito"/>
                <a:cs typeface="Carlito"/>
              </a:rPr>
              <a:t>patterns </a:t>
            </a:r>
            <a:r>
              <a:rPr dirty="0" sz="2200" spc="-10">
                <a:latin typeface="Carlito"/>
                <a:cs typeface="Carlito"/>
              </a:rPr>
              <a:t>has important </a:t>
            </a:r>
            <a:r>
              <a:rPr dirty="0" sz="2200" spc="-15">
                <a:latin typeface="Carlito"/>
                <a:cs typeface="Carlito"/>
              </a:rPr>
              <a:t>practical </a:t>
            </a:r>
            <a:r>
              <a:rPr dirty="0" sz="2200" spc="-5">
                <a:latin typeface="Carlito"/>
                <a:cs typeface="Carlito"/>
              </a:rPr>
              <a:t>as </a:t>
            </a:r>
            <a:r>
              <a:rPr dirty="0" sz="2200" spc="-10">
                <a:latin typeface="Carlito"/>
                <a:cs typeface="Carlito"/>
              </a:rPr>
              <a:t>well </a:t>
            </a:r>
            <a:r>
              <a:rPr dirty="0" sz="2200">
                <a:latin typeface="Carlito"/>
                <a:cs typeface="Carlito"/>
              </a:rPr>
              <a:t>as </a:t>
            </a:r>
            <a:r>
              <a:rPr dirty="0" sz="2200" spc="-10">
                <a:latin typeface="Carlito"/>
                <a:cs typeface="Carlito"/>
              </a:rPr>
              <a:t>theoretical  </a:t>
            </a:r>
            <a:r>
              <a:rPr dirty="0" sz="2200" spc="-5">
                <a:latin typeface="Carlito"/>
                <a:cs typeface="Carlito"/>
              </a:rPr>
              <a:t>importance.</a:t>
            </a:r>
            <a:endParaRPr sz="2200">
              <a:latin typeface="Carlito"/>
              <a:cs typeface="Carlito"/>
            </a:endParaRPr>
          </a:p>
          <a:p>
            <a:pPr marL="241300" indent="-228600">
              <a:lnSpc>
                <a:spcPts val="2245"/>
              </a:lnSpc>
              <a:spcBef>
                <a:spcPts val="204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dirty="0" sz="2200" spc="-10">
                <a:latin typeface="Carlito"/>
                <a:cs typeface="Carlito"/>
              </a:rPr>
              <a:t>The </a:t>
            </a:r>
            <a:r>
              <a:rPr dirty="0" u="heavy" sz="2200" spc="-15">
                <a:uFill>
                  <a:solidFill>
                    <a:srgbClr val="000000"/>
                  </a:solidFill>
                </a:uFill>
                <a:latin typeface="Carlito"/>
                <a:cs typeface="Carlito"/>
              </a:rPr>
              <a:t>practical</a:t>
            </a:r>
            <a:r>
              <a:rPr dirty="0" sz="2200" spc="-15">
                <a:latin typeface="Carlito"/>
                <a:cs typeface="Carlito"/>
              </a:rPr>
              <a:t> </a:t>
            </a:r>
            <a:r>
              <a:rPr dirty="0" sz="2200" spc="-5">
                <a:latin typeface="Carlito"/>
                <a:cs typeface="Carlito"/>
              </a:rPr>
              <a:t>importance is </a:t>
            </a:r>
            <a:r>
              <a:rPr dirty="0" sz="2200" spc="-10">
                <a:latin typeface="Carlito"/>
                <a:cs typeface="Carlito"/>
              </a:rPr>
              <a:t>reduction </a:t>
            </a:r>
            <a:r>
              <a:rPr dirty="0" sz="2200" spc="-5">
                <a:latin typeface="Carlito"/>
                <a:cs typeface="Carlito"/>
              </a:rPr>
              <a:t>of</a:t>
            </a:r>
            <a:r>
              <a:rPr dirty="0" sz="2200" spc="50">
                <a:latin typeface="Carlito"/>
                <a:cs typeface="Carlito"/>
              </a:rPr>
              <a:t> </a:t>
            </a:r>
            <a:r>
              <a:rPr dirty="0" sz="2200" spc="-5">
                <a:latin typeface="Carlito"/>
                <a:cs typeface="Carlito"/>
              </a:rPr>
              <a:t>unnecessary</a:t>
            </a:r>
            <a:endParaRPr sz="2200">
              <a:latin typeface="Carlito"/>
              <a:cs typeface="Carlito"/>
            </a:endParaRPr>
          </a:p>
          <a:p>
            <a:pPr marL="241300">
              <a:lnSpc>
                <a:spcPts val="1850"/>
              </a:lnSpc>
            </a:pPr>
            <a:r>
              <a:rPr dirty="0" sz="2200" spc="-20">
                <a:latin typeface="Carlito"/>
                <a:cs typeface="Carlito"/>
              </a:rPr>
              <a:t>proliferation </a:t>
            </a:r>
            <a:r>
              <a:rPr dirty="0" sz="2200" spc="-5">
                <a:latin typeface="Carlito"/>
                <a:cs typeface="Carlito"/>
              </a:rPr>
              <a:t>of </a:t>
            </a:r>
            <a:r>
              <a:rPr dirty="0" sz="2200" spc="-15">
                <a:latin typeface="Carlito"/>
                <a:cs typeface="Carlito"/>
              </a:rPr>
              <a:t>information </a:t>
            </a:r>
            <a:r>
              <a:rPr dirty="0" sz="2200" spc="-10">
                <a:latin typeface="Carlito"/>
                <a:cs typeface="Carlito"/>
              </a:rPr>
              <a:t>that </a:t>
            </a:r>
            <a:r>
              <a:rPr dirty="0" sz="2200" spc="-5">
                <a:latin typeface="Carlito"/>
                <a:cs typeface="Carlito"/>
              </a:rPr>
              <a:t>is </a:t>
            </a:r>
            <a:r>
              <a:rPr dirty="0" sz="2200" spc="-10">
                <a:latin typeface="Carlito"/>
                <a:cs typeface="Carlito"/>
              </a:rPr>
              <a:t>redundant </a:t>
            </a:r>
            <a:r>
              <a:rPr dirty="0" sz="2200" spc="-5">
                <a:latin typeface="Carlito"/>
                <a:cs typeface="Carlito"/>
              </a:rPr>
              <a:t>and</a:t>
            </a:r>
            <a:r>
              <a:rPr dirty="0" sz="2200" spc="40">
                <a:latin typeface="Carlito"/>
                <a:cs typeface="Carlito"/>
              </a:rPr>
              <a:t> </a:t>
            </a:r>
            <a:r>
              <a:rPr dirty="0" sz="2200" spc="-10">
                <a:latin typeface="Carlito"/>
                <a:cs typeface="Carlito"/>
              </a:rPr>
              <a:t>often</a:t>
            </a:r>
            <a:endParaRPr sz="2200">
              <a:latin typeface="Carlito"/>
              <a:cs typeface="Carlito"/>
            </a:endParaRPr>
          </a:p>
          <a:p>
            <a:pPr marL="241300">
              <a:lnSpc>
                <a:spcPts val="2245"/>
              </a:lnSpc>
            </a:pPr>
            <a:r>
              <a:rPr dirty="0" sz="2200" spc="-15">
                <a:latin typeface="Carlito"/>
                <a:cs typeface="Carlito"/>
              </a:rPr>
              <a:t>inconsistent </a:t>
            </a:r>
            <a:r>
              <a:rPr dirty="0" sz="2200">
                <a:latin typeface="Carlito"/>
                <a:cs typeface="Carlito"/>
              </a:rPr>
              <a:t>or</a:t>
            </a:r>
            <a:r>
              <a:rPr dirty="0" sz="2200" spc="20">
                <a:latin typeface="Carlito"/>
                <a:cs typeface="Carlito"/>
              </a:rPr>
              <a:t> </a:t>
            </a:r>
            <a:r>
              <a:rPr dirty="0" sz="2200" spc="-10">
                <a:latin typeface="Carlito"/>
                <a:cs typeface="Carlito"/>
              </a:rPr>
              <a:t>conflicting.</a:t>
            </a:r>
            <a:endParaRPr sz="2200">
              <a:latin typeface="Carlito"/>
              <a:cs typeface="Carlito"/>
            </a:endParaRPr>
          </a:p>
          <a:p>
            <a:pPr marL="241300" marR="211454" indent="-228600">
              <a:lnSpc>
                <a:spcPct val="70000"/>
              </a:lnSpc>
              <a:spcBef>
                <a:spcPts val="100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dirty="0" sz="2200" spc="-10">
                <a:latin typeface="Carlito"/>
                <a:cs typeface="Carlito"/>
              </a:rPr>
              <a:t>The </a:t>
            </a:r>
            <a:r>
              <a:rPr dirty="0" u="heavy" sz="2200" spc="-10">
                <a:uFill>
                  <a:solidFill>
                    <a:srgbClr val="000000"/>
                  </a:solidFill>
                </a:uFill>
                <a:latin typeface="Carlito"/>
                <a:cs typeface="Carlito"/>
              </a:rPr>
              <a:t>theoretical</a:t>
            </a:r>
            <a:r>
              <a:rPr dirty="0" sz="2200" spc="-10">
                <a:latin typeface="Carlito"/>
                <a:cs typeface="Carlito"/>
              </a:rPr>
              <a:t> </a:t>
            </a:r>
            <a:r>
              <a:rPr dirty="0" sz="2200" spc="-5">
                <a:latin typeface="Carlito"/>
                <a:cs typeface="Carlito"/>
              </a:rPr>
              <a:t>importance is </a:t>
            </a:r>
            <a:r>
              <a:rPr dirty="0" sz="2200" spc="-15">
                <a:latin typeface="Carlito"/>
                <a:cs typeface="Carlito"/>
              </a:rPr>
              <a:t>that size </a:t>
            </a:r>
            <a:r>
              <a:rPr dirty="0" sz="2200" spc="-5">
                <a:latin typeface="Carlito"/>
                <a:cs typeface="Carlito"/>
              </a:rPr>
              <a:t>of minimal models is  one </a:t>
            </a:r>
            <a:r>
              <a:rPr dirty="0" sz="2200">
                <a:latin typeface="Carlito"/>
                <a:cs typeface="Carlito"/>
              </a:rPr>
              <a:t>of </a:t>
            </a:r>
            <a:r>
              <a:rPr dirty="0" sz="2200" spc="-15">
                <a:latin typeface="Carlito"/>
                <a:cs typeface="Carlito"/>
              </a:rPr>
              <a:t>formal </a:t>
            </a:r>
            <a:r>
              <a:rPr dirty="0" sz="2200" spc="-5">
                <a:latin typeface="Carlito"/>
                <a:cs typeface="Carlito"/>
              </a:rPr>
              <a:t>measures of </a:t>
            </a:r>
            <a:r>
              <a:rPr dirty="0" sz="2200" spc="-15">
                <a:latin typeface="Carlito"/>
                <a:cs typeface="Carlito"/>
              </a:rPr>
              <a:t>(Kolmogorov)</a:t>
            </a:r>
            <a:r>
              <a:rPr dirty="0" sz="2200" spc="30">
                <a:latin typeface="Carlito"/>
                <a:cs typeface="Carlito"/>
              </a:rPr>
              <a:t> </a:t>
            </a:r>
            <a:r>
              <a:rPr dirty="0" sz="2200" spc="-25">
                <a:latin typeface="Carlito"/>
                <a:cs typeface="Carlito"/>
              </a:rPr>
              <a:t>complexity.</a:t>
            </a:r>
            <a:endParaRPr sz="2200">
              <a:latin typeface="Carlito"/>
              <a:cs typeface="Carlito"/>
            </a:endParaRPr>
          </a:p>
          <a:p>
            <a:pPr marL="241300" indent="-228600">
              <a:lnSpc>
                <a:spcPts val="2245"/>
              </a:lnSpc>
              <a:spcBef>
                <a:spcPts val="204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dirty="0" sz="2200" spc="-10">
                <a:latin typeface="Carlito"/>
                <a:cs typeface="Carlito"/>
              </a:rPr>
              <a:t>Independent </a:t>
            </a:r>
            <a:r>
              <a:rPr dirty="0" sz="2200" spc="-5">
                <a:latin typeface="Carlito"/>
                <a:cs typeface="Carlito"/>
              </a:rPr>
              <a:t>of choices of </a:t>
            </a:r>
            <a:r>
              <a:rPr dirty="0" sz="2200" spc="-10">
                <a:latin typeface="Carlito"/>
                <a:cs typeface="Carlito"/>
              </a:rPr>
              <a:t>modeling languages, tools,</a:t>
            </a:r>
            <a:r>
              <a:rPr dirty="0" sz="2200" spc="105">
                <a:latin typeface="Carlito"/>
                <a:cs typeface="Carlito"/>
              </a:rPr>
              <a:t> </a:t>
            </a:r>
            <a:r>
              <a:rPr dirty="0" sz="2200" spc="-10">
                <a:latin typeface="Carlito"/>
                <a:cs typeface="Carlito"/>
              </a:rPr>
              <a:t>and</a:t>
            </a:r>
            <a:endParaRPr sz="2200">
              <a:latin typeface="Carlito"/>
              <a:cs typeface="Carlito"/>
            </a:endParaRPr>
          </a:p>
          <a:p>
            <a:pPr marL="241300">
              <a:lnSpc>
                <a:spcPts val="1850"/>
              </a:lnSpc>
            </a:pPr>
            <a:r>
              <a:rPr dirty="0" sz="2200" spc="-5">
                <a:latin typeface="Carlito"/>
                <a:cs typeface="Carlito"/>
              </a:rPr>
              <a:t>methods, </a:t>
            </a:r>
            <a:r>
              <a:rPr dirty="0" sz="2200" spc="-15">
                <a:latin typeface="Carlito"/>
                <a:cs typeface="Carlito"/>
              </a:rPr>
              <a:t>we want to </a:t>
            </a:r>
            <a:r>
              <a:rPr dirty="0" sz="2200" spc="-5">
                <a:latin typeface="Carlito"/>
                <a:cs typeface="Carlito"/>
              </a:rPr>
              <a:t>base our </a:t>
            </a:r>
            <a:r>
              <a:rPr dirty="0" sz="2200" spc="-15">
                <a:latin typeface="Carlito"/>
                <a:cs typeface="Carlito"/>
              </a:rPr>
              <a:t>representation </a:t>
            </a:r>
            <a:r>
              <a:rPr dirty="0" sz="2200" spc="-5">
                <a:latin typeface="Carlito"/>
                <a:cs typeface="Carlito"/>
              </a:rPr>
              <a:t>of</a:t>
            </a:r>
            <a:r>
              <a:rPr dirty="0" sz="2200" spc="114">
                <a:latin typeface="Carlito"/>
                <a:cs typeface="Carlito"/>
              </a:rPr>
              <a:t> </a:t>
            </a:r>
            <a:r>
              <a:rPr dirty="0" sz="2200" spc="-25">
                <a:latin typeface="Carlito"/>
                <a:cs typeface="Carlito"/>
              </a:rPr>
              <a:t>system</a:t>
            </a:r>
            <a:endParaRPr sz="2200">
              <a:latin typeface="Carlito"/>
              <a:cs typeface="Carlito"/>
            </a:endParaRPr>
          </a:p>
          <a:p>
            <a:pPr marL="241300">
              <a:lnSpc>
                <a:spcPts val="1850"/>
              </a:lnSpc>
            </a:pPr>
            <a:r>
              <a:rPr dirty="0" sz="2200" spc="-15">
                <a:latin typeface="Carlito"/>
                <a:cs typeface="Carlito"/>
              </a:rPr>
              <a:t>patterns </a:t>
            </a:r>
            <a:r>
              <a:rPr dirty="0" sz="2200" spc="-5">
                <a:latin typeface="Carlito"/>
                <a:cs typeface="Carlito"/>
              </a:rPr>
              <a:t>on </a:t>
            </a:r>
            <a:r>
              <a:rPr dirty="0" sz="2200" spc="-10">
                <a:latin typeface="Carlito"/>
                <a:cs typeface="Carlito"/>
              </a:rPr>
              <a:t>the simplest </a:t>
            </a:r>
            <a:r>
              <a:rPr dirty="0" sz="2200" spc="-15">
                <a:latin typeface="Carlito"/>
                <a:cs typeface="Carlito"/>
              </a:rPr>
              <a:t>framework </a:t>
            </a:r>
            <a:r>
              <a:rPr dirty="0" sz="2200" spc="-5">
                <a:latin typeface="Carlito"/>
                <a:cs typeface="Carlito"/>
              </a:rPr>
              <a:t>necessary </a:t>
            </a:r>
            <a:r>
              <a:rPr dirty="0" sz="2200" spc="-20">
                <a:latin typeface="Carlito"/>
                <a:cs typeface="Carlito"/>
              </a:rPr>
              <a:t>for</a:t>
            </a:r>
            <a:r>
              <a:rPr dirty="0" sz="2200" spc="105">
                <a:latin typeface="Carlito"/>
                <a:cs typeface="Carlito"/>
              </a:rPr>
              <a:t> </a:t>
            </a:r>
            <a:r>
              <a:rPr dirty="0" sz="2200" spc="-5">
                <a:latin typeface="Carlito"/>
                <a:cs typeface="Carlito"/>
              </a:rPr>
              <a:t>the</a:t>
            </a:r>
            <a:endParaRPr sz="2200">
              <a:latin typeface="Carlito"/>
              <a:cs typeface="Carlito"/>
            </a:endParaRPr>
          </a:p>
          <a:p>
            <a:pPr marL="241300" marR="472440">
              <a:lnSpc>
                <a:spcPct val="70000"/>
              </a:lnSpc>
              <a:spcBef>
                <a:spcPts val="395"/>
              </a:spcBef>
            </a:pPr>
            <a:r>
              <a:rPr dirty="0" sz="2200" spc="-5">
                <a:latin typeface="Carlito"/>
                <a:cs typeface="Carlito"/>
              </a:rPr>
              <a:t>purposes of engineering and </a:t>
            </a:r>
            <a:r>
              <a:rPr dirty="0" sz="2200" spc="-10">
                <a:latin typeface="Carlito"/>
                <a:cs typeface="Carlito"/>
              </a:rPr>
              <a:t>science over </a:t>
            </a:r>
            <a:r>
              <a:rPr dirty="0" sz="2200" spc="-5">
                <a:latin typeface="Carlito"/>
                <a:cs typeface="Carlito"/>
              </a:rPr>
              <a:t>the </a:t>
            </a:r>
            <a:r>
              <a:rPr dirty="0" sz="2200" spc="-20">
                <a:latin typeface="Carlito"/>
                <a:cs typeface="Carlito"/>
              </a:rPr>
              <a:t>life </a:t>
            </a:r>
            <a:r>
              <a:rPr dirty="0" sz="2200" spc="-10">
                <a:latin typeface="Carlito"/>
                <a:cs typeface="Carlito"/>
              </a:rPr>
              <a:t>cycle </a:t>
            </a:r>
            <a:r>
              <a:rPr dirty="0" sz="2200" spc="-5">
                <a:latin typeface="Carlito"/>
                <a:cs typeface="Carlito"/>
              </a:rPr>
              <a:t>of  </a:t>
            </a:r>
            <a:r>
              <a:rPr dirty="0" sz="2200" spc="-20">
                <a:latin typeface="Carlito"/>
                <a:cs typeface="Carlito"/>
              </a:rPr>
              <a:t>systems.</a:t>
            </a:r>
            <a:endParaRPr sz="2200">
              <a:latin typeface="Carlito"/>
              <a:cs typeface="Carlito"/>
            </a:endParaRPr>
          </a:p>
          <a:p>
            <a:pPr marL="241300" indent="-228600">
              <a:lnSpc>
                <a:spcPts val="2245"/>
              </a:lnSpc>
              <a:spcBef>
                <a:spcPts val="204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dirty="0" sz="2200" spc="-5">
                <a:latin typeface="Carlito"/>
                <a:cs typeface="Carlito"/>
              </a:rPr>
              <a:t>This Primer is </a:t>
            </a:r>
            <a:r>
              <a:rPr dirty="0" sz="2200" spc="-20">
                <a:latin typeface="Carlito"/>
                <a:cs typeface="Carlito"/>
              </a:rPr>
              <a:t>to </a:t>
            </a:r>
            <a:r>
              <a:rPr dirty="0" sz="2200" spc="-10">
                <a:latin typeface="Carlito"/>
                <a:cs typeface="Carlito"/>
              </a:rPr>
              <a:t>describe </a:t>
            </a:r>
            <a:r>
              <a:rPr dirty="0" sz="2200" spc="-5">
                <a:latin typeface="Carlito"/>
                <a:cs typeface="Carlito"/>
              </a:rPr>
              <a:t>the </a:t>
            </a:r>
            <a:r>
              <a:rPr dirty="0" sz="2200" spc="-25">
                <a:latin typeface="Carlito"/>
                <a:cs typeface="Carlito"/>
              </a:rPr>
              <a:t>S*Metamodel</a:t>
            </a:r>
            <a:r>
              <a:rPr dirty="0" sz="2200" spc="-25">
                <a:latin typeface="Arial"/>
                <a:cs typeface="Arial"/>
              </a:rPr>
              <a:t>—</a:t>
            </a:r>
            <a:r>
              <a:rPr dirty="0" sz="2200" spc="-25">
                <a:latin typeface="Carlito"/>
                <a:cs typeface="Carlito"/>
              </a:rPr>
              <a:t>a</a:t>
            </a:r>
            <a:r>
              <a:rPr dirty="0" sz="2200" spc="120">
                <a:latin typeface="Carlito"/>
                <a:cs typeface="Carlito"/>
              </a:rPr>
              <a:t> </a:t>
            </a:r>
            <a:r>
              <a:rPr dirty="0" sz="2200" spc="-10">
                <a:latin typeface="Carlito"/>
                <a:cs typeface="Carlito"/>
              </a:rPr>
              <a:t>long-tested</a:t>
            </a:r>
            <a:endParaRPr sz="2200">
              <a:latin typeface="Carlito"/>
              <a:cs typeface="Carlito"/>
            </a:endParaRPr>
          </a:p>
          <a:p>
            <a:pPr marL="241300" marR="923925">
              <a:lnSpc>
                <a:spcPct val="70000"/>
              </a:lnSpc>
              <a:spcBef>
                <a:spcPts val="395"/>
              </a:spcBef>
            </a:pPr>
            <a:r>
              <a:rPr dirty="0" sz="2200" spc="-20">
                <a:latin typeface="Carlito"/>
                <a:cs typeface="Carlito"/>
              </a:rPr>
              <a:t>pattern </a:t>
            </a:r>
            <a:r>
              <a:rPr dirty="0" sz="2200" spc="-5">
                <a:latin typeface="Carlito"/>
                <a:cs typeface="Carlito"/>
              </a:rPr>
              <a:t>based on </a:t>
            </a:r>
            <a:r>
              <a:rPr dirty="0" sz="2200" spc="-10">
                <a:latin typeface="Carlito"/>
                <a:cs typeface="Carlito"/>
              </a:rPr>
              <a:t>the history </a:t>
            </a:r>
            <a:r>
              <a:rPr dirty="0" sz="2200" spc="-5">
                <a:latin typeface="Carlito"/>
                <a:cs typeface="Carlito"/>
              </a:rPr>
              <a:t>of </a:t>
            </a:r>
            <a:r>
              <a:rPr dirty="0" sz="2200" spc="-15">
                <a:latin typeface="Carlito"/>
                <a:cs typeface="Carlito"/>
              </a:rPr>
              <a:t>physical </a:t>
            </a:r>
            <a:r>
              <a:rPr dirty="0" sz="2200" spc="-10">
                <a:latin typeface="Carlito"/>
                <a:cs typeface="Carlito"/>
              </a:rPr>
              <a:t>sciences </a:t>
            </a:r>
            <a:r>
              <a:rPr dirty="0" sz="2200" spc="-5">
                <a:latin typeface="Carlito"/>
                <a:cs typeface="Carlito"/>
              </a:rPr>
              <a:t>and  engineering, </a:t>
            </a:r>
            <a:r>
              <a:rPr dirty="0" sz="2200" spc="-15">
                <a:latin typeface="Carlito"/>
                <a:cs typeface="Carlito"/>
              </a:rPr>
              <a:t>focused </a:t>
            </a:r>
            <a:r>
              <a:rPr dirty="0" sz="2200" spc="-5">
                <a:latin typeface="Carlito"/>
                <a:cs typeface="Carlito"/>
              </a:rPr>
              <a:t>on </a:t>
            </a:r>
            <a:r>
              <a:rPr dirty="0" sz="2200" spc="-10">
                <a:latin typeface="Carlito"/>
                <a:cs typeface="Carlito"/>
              </a:rPr>
              <a:t>the minimal </a:t>
            </a:r>
            <a:r>
              <a:rPr dirty="0" sz="2200" spc="-15">
                <a:latin typeface="Carlito"/>
                <a:cs typeface="Carlito"/>
              </a:rPr>
              <a:t>information</a:t>
            </a:r>
            <a:r>
              <a:rPr dirty="0" sz="2200" spc="90">
                <a:latin typeface="Carlito"/>
                <a:cs typeface="Carlito"/>
              </a:rPr>
              <a:t> </a:t>
            </a:r>
            <a:r>
              <a:rPr dirty="0" sz="2200" spc="-10">
                <a:latin typeface="Carlito"/>
                <a:cs typeface="Carlito"/>
              </a:rPr>
              <a:t>set.</a:t>
            </a:r>
            <a:endParaRPr sz="2200">
              <a:latin typeface="Carlito"/>
              <a:cs typeface="Carlito"/>
            </a:endParaRPr>
          </a:p>
          <a:p>
            <a:pPr marL="241300" marR="107314" indent="-228600">
              <a:lnSpc>
                <a:spcPct val="70000"/>
              </a:lnSpc>
              <a:spcBef>
                <a:spcPts val="1010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dirty="0" sz="2200" spc="-5">
                <a:latin typeface="Carlito"/>
                <a:cs typeface="Carlito"/>
              </a:rPr>
              <a:t>Those </a:t>
            </a:r>
            <a:r>
              <a:rPr dirty="0" sz="2200" spc="-15">
                <a:latin typeface="Carlito"/>
                <a:cs typeface="Carlito"/>
              </a:rPr>
              <a:t>interested </a:t>
            </a:r>
            <a:r>
              <a:rPr dirty="0" sz="2200" spc="-5">
                <a:latin typeface="Carlito"/>
                <a:cs typeface="Carlito"/>
              </a:rPr>
              <a:t>in participating </a:t>
            </a:r>
            <a:r>
              <a:rPr dirty="0" sz="2200" spc="-15">
                <a:latin typeface="Carlito"/>
                <a:cs typeface="Carlito"/>
              </a:rPr>
              <a:t>can </a:t>
            </a:r>
            <a:r>
              <a:rPr dirty="0" sz="2200" spc="-5">
                <a:latin typeface="Carlito"/>
                <a:cs typeface="Carlito"/>
              </a:rPr>
              <a:t>be a </a:t>
            </a:r>
            <a:r>
              <a:rPr dirty="0" sz="2200" spc="-10">
                <a:latin typeface="Carlito"/>
                <a:cs typeface="Carlito"/>
              </a:rPr>
              <a:t>part </a:t>
            </a:r>
            <a:r>
              <a:rPr dirty="0" sz="2200" spc="-5">
                <a:latin typeface="Carlito"/>
                <a:cs typeface="Carlito"/>
              </a:rPr>
              <a:t>of writing and  </a:t>
            </a:r>
            <a:r>
              <a:rPr dirty="0" sz="2200" spc="-15">
                <a:latin typeface="Carlito"/>
                <a:cs typeface="Carlito"/>
              </a:rPr>
              <a:t>review </a:t>
            </a:r>
            <a:r>
              <a:rPr dirty="0" sz="2200" spc="-5">
                <a:latin typeface="Carlito"/>
                <a:cs typeface="Carlito"/>
              </a:rPr>
              <a:t>of this </a:t>
            </a:r>
            <a:r>
              <a:rPr dirty="0" sz="2200" spc="-10">
                <a:latin typeface="Carlito"/>
                <a:cs typeface="Carlito"/>
              </a:rPr>
              <a:t>S*Metamodel </a:t>
            </a:r>
            <a:r>
              <a:rPr dirty="0" sz="2200" spc="-15">
                <a:latin typeface="Carlito"/>
                <a:cs typeface="Carlito"/>
              </a:rPr>
              <a:t>Primer</a:t>
            </a:r>
            <a:r>
              <a:rPr dirty="0" sz="2200" spc="-15">
                <a:latin typeface="Arial"/>
                <a:cs typeface="Arial"/>
              </a:rPr>
              <a:t>—</a:t>
            </a:r>
            <a:r>
              <a:rPr dirty="0" sz="2200" spc="-15">
                <a:latin typeface="Carlito"/>
                <a:cs typeface="Carlito"/>
              </a:rPr>
              <a:t>including</a:t>
            </a:r>
            <a:r>
              <a:rPr dirty="0" sz="2200" spc="35">
                <a:latin typeface="Carlito"/>
                <a:cs typeface="Carlito"/>
              </a:rPr>
              <a:t> </a:t>
            </a:r>
            <a:r>
              <a:rPr dirty="0" sz="2200" spc="-15">
                <a:latin typeface="Carlito"/>
                <a:cs typeface="Carlito"/>
              </a:rPr>
              <a:t>examples.</a:t>
            </a:r>
            <a:endParaRPr sz="2200">
              <a:latin typeface="Carlito"/>
              <a:cs typeface="Carlito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770876" y="132587"/>
            <a:ext cx="4274820" cy="2456815"/>
            <a:chOff x="7770876" y="132587"/>
            <a:chExt cx="4274820" cy="2456815"/>
          </a:xfrm>
        </p:grpSpPr>
        <p:sp>
          <p:nvSpPr>
            <p:cNvPr id="5" name="object 5"/>
            <p:cNvSpPr/>
            <p:nvPr/>
          </p:nvSpPr>
          <p:spPr>
            <a:xfrm>
              <a:off x="7906769" y="273730"/>
              <a:ext cx="4081014" cy="220561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7799832" y="161543"/>
              <a:ext cx="4217035" cy="2399030"/>
            </a:xfrm>
            <a:custGeom>
              <a:avLst/>
              <a:gdLst/>
              <a:ahLst/>
              <a:cxnLst/>
              <a:rect l="l" t="t" r="r" b="b"/>
              <a:pathLst>
                <a:path w="4217034" h="2399030">
                  <a:moveTo>
                    <a:pt x="0" y="2398776"/>
                  </a:moveTo>
                  <a:lnTo>
                    <a:pt x="4216908" y="2398776"/>
                  </a:lnTo>
                  <a:lnTo>
                    <a:pt x="4216908" y="0"/>
                  </a:lnTo>
                  <a:lnTo>
                    <a:pt x="0" y="0"/>
                  </a:lnTo>
                  <a:lnTo>
                    <a:pt x="0" y="2398776"/>
                  </a:lnTo>
                  <a:close/>
                </a:path>
              </a:pathLst>
            </a:custGeom>
            <a:ln w="579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/>
          <p:nvPr/>
        </p:nvSpPr>
        <p:spPr>
          <a:xfrm>
            <a:off x="7888869" y="3530229"/>
            <a:ext cx="4037308" cy="27923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7467981" y="2681097"/>
            <a:ext cx="4638040" cy="6661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u="sng" sz="14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rlito"/>
                <a:cs typeface="Carlito"/>
                <a:hlinkClick r:id="rId4"/>
              </a:rPr>
              <a:t>http://www.omgwiki.org/MBSE/lib/exe/fetch.php?media=mbse</a:t>
            </a:r>
            <a:endParaRPr sz="1400">
              <a:latin typeface="Carlito"/>
              <a:cs typeface="Carlito"/>
            </a:endParaRPr>
          </a:p>
          <a:p>
            <a:pPr marL="12700" marR="53340">
              <a:lnSpc>
                <a:spcPct val="100000"/>
              </a:lnSpc>
            </a:pPr>
            <a:r>
              <a:rPr dirty="0" u="sng" sz="14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rlito"/>
                <a:cs typeface="Carlito"/>
                <a:hlinkClick r:id="rId4"/>
              </a:rPr>
              <a:t>:patterns:science_math_foundations_for_systems_and_system </a:t>
            </a:r>
            <a:r>
              <a:rPr dirty="0" sz="1400" spc="-10">
                <a:solidFill>
                  <a:srgbClr val="0462C1"/>
                </a:solidFill>
                <a:latin typeface="Carlito"/>
                <a:cs typeface="Carlito"/>
                <a:hlinkClick r:id="rId4"/>
              </a:rPr>
              <a:t> </a:t>
            </a:r>
            <a:r>
              <a:rPr dirty="0" u="sng" sz="1400" spc="-5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rlito"/>
                <a:cs typeface="Carlito"/>
                <a:hlinkClick r:id="rId4"/>
              </a:rPr>
              <a:t>s_engineering--1_hr_awareness_v2.3.2a.pdf</a:t>
            </a:r>
            <a:endParaRPr sz="1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80"/>
              <a:t>7. </a:t>
            </a:r>
            <a:r>
              <a:rPr dirty="0" spc="-265"/>
              <a:t>Semantic </a:t>
            </a:r>
            <a:r>
              <a:rPr dirty="0" spc="-285"/>
              <a:t>Technologies </a:t>
            </a:r>
            <a:r>
              <a:rPr dirty="0" spc="-35"/>
              <a:t>for </a:t>
            </a:r>
            <a:r>
              <a:rPr dirty="0" spc="-375"/>
              <a:t>Systems</a:t>
            </a:r>
            <a:r>
              <a:rPr dirty="0" spc="-470"/>
              <a:t> </a:t>
            </a:r>
            <a:r>
              <a:rPr dirty="0" spc="-229"/>
              <a:t>Engineering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739" y="195366"/>
            <a:ext cx="7527925" cy="6417310"/>
          </a:xfrm>
          <a:prstGeom prst="rect">
            <a:avLst/>
          </a:prstGeom>
        </p:spPr>
        <p:txBody>
          <a:bodyPr wrap="square" lIns="0" tIns="364490" rIns="0" bIns="0" rtlCol="0" vert="horz">
            <a:spAutoFit/>
          </a:bodyPr>
          <a:lstStyle/>
          <a:p>
            <a:pPr marL="817244">
              <a:lnSpc>
                <a:spcPct val="100000"/>
              </a:lnSpc>
              <a:spcBef>
                <a:spcPts val="2870"/>
              </a:spcBef>
            </a:pPr>
            <a:r>
              <a:rPr dirty="0" sz="4400" spc="-545">
                <a:latin typeface="Arial"/>
                <a:cs typeface="Arial"/>
              </a:rPr>
              <a:t>(ST4SE)</a:t>
            </a:r>
            <a:endParaRPr sz="4400">
              <a:latin typeface="Arial"/>
              <a:cs typeface="Arial"/>
            </a:endParaRPr>
          </a:p>
          <a:p>
            <a:pPr marL="241300" indent="-228600">
              <a:lnSpc>
                <a:spcPts val="2039"/>
              </a:lnSpc>
              <a:spcBef>
                <a:spcPts val="1260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dirty="0" sz="2000" spc="-5">
                <a:latin typeface="Carlito"/>
                <a:cs typeface="Carlito"/>
              </a:rPr>
              <a:t>Human beings </a:t>
            </a:r>
            <a:r>
              <a:rPr dirty="0" sz="2000" spc="-15">
                <a:latin typeface="Carlito"/>
                <a:cs typeface="Carlito"/>
              </a:rPr>
              <a:t>may </a:t>
            </a:r>
            <a:r>
              <a:rPr dirty="0" sz="2000" spc="-5">
                <a:latin typeface="Carlito"/>
                <a:cs typeface="Carlito"/>
              </a:rPr>
              <a:t>be </a:t>
            </a:r>
            <a:r>
              <a:rPr dirty="0" sz="2000">
                <a:latin typeface="Carlito"/>
                <a:cs typeface="Carlito"/>
              </a:rPr>
              <a:t>the </a:t>
            </a:r>
            <a:r>
              <a:rPr dirty="0" sz="2000" spc="-5">
                <a:latin typeface="Carlito"/>
                <a:cs typeface="Carlito"/>
              </a:rPr>
              <a:t>original </a:t>
            </a:r>
            <a:r>
              <a:rPr dirty="0" sz="2000" spc="-15">
                <a:latin typeface="Carlito"/>
                <a:cs typeface="Carlito"/>
              </a:rPr>
              <a:t>interpreters </a:t>
            </a:r>
            <a:r>
              <a:rPr dirty="0" sz="2000" spc="-5">
                <a:latin typeface="Carlito"/>
                <a:cs typeface="Carlito"/>
              </a:rPr>
              <a:t>of </a:t>
            </a:r>
            <a:r>
              <a:rPr dirty="0" sz="2000">
                <a:latin typeface="Carlito"/>
                <a:cs typeface="Carlito"/>
              </a:rPr>
              <a:t>the meaning</a:t>
            </a:r>
            <a:r>
              <a:rPr dirty="0" sz="2000" spc="65">
                <a:latin typeface="Carlito"/>
                <a:cs typeface="Carlito"/>
              </a:rPr>
              <a:t> </a:t>
            </a:r>
            <a:r>
              <a:rPr dirty="0" sz="2000" spc="-5">
                <a:latin typeface="Carlito"/>
                <a:cs typeface="Carlito"/>
              </a:rPr>
              <a:t>of</a:t>
            </a:r>
            <a:endParaRPr sz="2000">
              <a:latin typeface="Carlito"/>
              <a:cs typeface="Carlito"/>
            </a:endParaRPr>
          </a:p>
          <a:p>
            <a:pPr marL="241300">
              <a:lnSpc>
                <a:spcPts val="2039"/>
              </a:lnSpc>
            </a:pPr>
            <a:r>
              <a:rPr dirty="0" sz="2000" spc="-5">
                <a:latin typeface="Carlito"/>
                <a:cs typeface="Carlito"/>
              </a:rPr>
              <a:t>models, but </a:t>
            </a:r>
            <a:r>
              <a:rPr dirty="0" sz="2000">
                <a:latin typeface="Carlito"/>
                <a:cs typeface="Carlito"/>
              </a:rPr>
              <a:t>non-human </a:t>
            </a:r>
            <a:r>
              <a:rPr dirty="0" sz="2000" spc="-5">
                <a:latin typeface="Carlito"/>
                <a:cs typeface="Carlito"/>
              </a:rPr>
              <a:t>semantic technologies </a:t>
            </a:r>
            <a:r>
              <a:rPr dirty="0" sz="2000" spc="-20">
                <a:latin typeface="Carlito"/>
                <a:cs typeface="Carlito"/>
              </a:rPr>
              <a:t>have </a:t>
            </a:r>
            <a:r>
              <a:rPr dirty="0" sz="2000" spc="-5">
                <a:latin typeface="Carlito"/>
                <a:cs typeface="Carlito"/>
              </a:rPr>
              <a:t>joined</a:t>
            </a:r>
            <a:r>
              <a:rPr dirty="0" sz="2000">
                <a:latin typeface="Carlito"/>
                <a:cs typeface="Carlito"/>
              </a:rPr>
              <a:t> them.</a:t>
            </a:r>
            <a:endParaRPr sz="2000">
              <a:latin typeface="Carlito"/>
              <a:cs typeface="Carlito"/>
            </a:endParaRPr>
          </a:p>
          <a:p>
            <a:pPr marL="241300" marR="5080" indent="-228600">
              <a:lnSpc>
                <a:spcPct val="70000"/>
              </a:lnSpc>
              <a:spcBef>
                <a:spcPts val="1000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dirty="0" sz="2000" spc="-10">
                <a:latin typeface="Carlito"/>
                <a:cs typeface="Carlito"/>
              </a:rPr>
              <a:t>Information </a:t>
            </a:r>
            <a:r>
              <a:rPr dirty="0" sz="2000" spc="-5">
                <a:latin typeface="Carlito"/>
                <a:cs typeface="Carlito"/>
              </a:rPr>
              <a:t>technologies that </a:t>
            </a:r>
            <a:r>
              <a:rPr dirty="0" sz="2000">
                <a:latin typeface="Carlito"/>
                <a:cs typeface="Carlito"/>
              </a:rPr>
              <a:t>deal </a:t>
            </a:r>
            <a:r>
              <a:rPr dirty="0" sz="2000" spc="-5">
                <a:latin typeface="Carlito"/>
                <a:cs typeface="Carlito"/>
              </a:rPr>
              <a:t>with </a:t>
            </a:r>
            <a:r>
              <a:rPr dirty="0" sz="2000">
                <a:latin typeface="Carlito"/>
                <a:cs typeface="Carlito"/>
              </a:rPr>
              <a:t>model </a:t>
            </a:r>
            <a:r>
              <a:rPr dirty="0" sz="2000" spc="-5">
                <a:latin typeface="Carlito"/>
                <a:cs typeface="Carlito"/>
              </a:rPr>
              <a:t>semantics (relationally  </a:t>
            </a:r>
            <a:r>
              <a:rPr dirty="0" sz="2000">
                <a:latin typeface="Carlito"/>
                <a:cs typeface="Carlito"/>
              </a:rPr>
              <a:t>encoded meaning) include modeling </a:t>
            </a:r>
            <a:r>
              <a:rPr dirty="0" sz="2000" spc="-5">
                <a:latin typeface="Carlito"/>
                <a:cs typeface="Carlito"/>
              </a:rPr>
              <a:t>languages, </a:t>
            </a:r>
            <a:r>
              <a:rPr dirty="0" sz="2000">
                <a:latin typeface="Carlito"/>
                <a:cs typeface="Carlito"/>
              </a:rPr>
              <a:t>model authoring  </a:t>
            </a:r>
            <a:r>
              <a:rPr dirty="0" sz="2000" spc="-10">
                <a:latin typeface="Carlito"/>
                <a:cs typeface="Carlito"/>
              </a:rPr>
              <a:t>tools, </a:t>
            </a:r>
            <a:r>
              <a:rPr dirty="0" sz="2000" spc="-5">
                <a:latin typeface="Carlito"/>
                <a:cs typeface="Carlito"/>
              </a:rPr>
              <a:t>simulation </a:t>
            </a:r>
            <a:r>
              <a:rPr dirty="0" sz="2000">
                <a:latin typeface="Carlito"/>
                <a:cs typeface="Carlito"/>
              </a:rPr>
              <a:t>engines, </a:t>
            </a:r>
            <a:r>
              <a:rPr dirty="0" sz="2000" spc="-5">
                <a:latin typeface="Carlito"/>
                <a:cs typeface="Carlito"/>
              </a:rPr>
              <a:t>web-based semantic </a:t>
            </a:r>
            <a:r>
              <a:rPr dirty="0" sz="2000" spc="-15">
                <a:latin typeface="Carlito"/>
                <a:cs typeface="Carlito"/>
              </a:rPr>
              <a:t>data </a:t>
            </a:r>
            <a:r>
              <a:rPr dirty="0" sz="2000" spc="-5">
                <a:latin typeface="Carlito"/>
                <a:cs typeface="Carlito"/>
              </a:rPr>
              <a:t>structures, </a:t>
            </a:r>
            <a:r>
              <a:rPr dirty="0" sz="2000">
                <a:latin typeface="Carlito"/>
                <a:cs typeface="Carlito"/>
              </a:rPr>
              <a:t>and  query and </a:t>
            </a:r>
            <a:r>
              <a:rPr dirty="0" sz="2000" spc="-5">
                <a:latin typeface="Carlito"/>
                <a:cs typeface="Carlito"/>
              </a:rPr>
              <a:t>reasoning technologies </a:t>
            </a:r>
            <a:r>
              <a:rPr dirty="0" sz="2000" spc="-15">
                <a:latin typeface="Carlito"/>
                <a:cs typeface="Carlito"/>
              </a:rPr>
              <a:t>for </a:t>
            </a:r>
            <a:r>
              <a:rPr dirty="0" sz="2000" spc="-10">
                <a:latin typeface="Carlito"/>
                <a:cs typeface="Carlito"/>
              </a:rPr>
              <a:t>retrieving views </a:t>
            </a:r>
            <a:r>
              <a:rPr dirty="0" sz="2000">
                <a:latin typeface="Carlito"/>
                <a:cs typeface="Carlito"/>
              </a:rPr>
              <a:t>and </a:t>
            </a:r>
            <a:r>
              <a:rPr dirty="0" sz="2000" spc="-5">
                <a:latin typeface="Carlito"/>
                <a:cs typeface="Carlito"/>
              </a:rPr>
              <a:t>implications  </a:t>
            </a:r>
            <a:r>
              <a:rPr dirty="0" sz="2000">
                <a:latin typeface="Carlito"/>
                <a:cs typeface="Carlito"/>
              </a:rPr>
              <a:t>of </a:t>
            </a:r>
            <a:r>
              <a:rPr dirty="0" sz="2000" spc="-5">
                <a:latin typeface="Carlito"/>
                <a:cs typeface="Carlito"/>
              </a:rPr>
              <a:t>semantic</a:t>
            </a:r>
            <a:r>
              <a:rPr dirty="0" sz="2000">
                <a:latin typeface="Carlito"/>
                <a:cs typeface="Carlito"/>
              </a:rPr>
              <a:t> </a:t>
            </a:r>
            <a:r>
              <a:rPr dirty="0" sz="2000" spc="-5">
                <a:latin typeface="Carlito"/>
                <a:cs typeface="Carlito"/>
              </a:rPr>
              <a:t>models.</a:t>
            </a:r>
            <a:endParaRPr sz="2000">
              <a:latin typeface="Carlito"/>
              <a:cs typeface="Carlito"/>
            </a:endParaRPr>
          </a:p>
          <a:p>
            <a:pPr marL="241300" marR="131445" indent="-228600">
              <a:lnSpc>
                <a:spcPct val="70000"/>
              </a:lnSpc>
              <a:spcBef>
                <a:spcPts val="1010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dirty="0" sz="2000" spc="-5">
                <a:latin typeface="Carlito"/>
                <a:cs typeface="Carlito"/>
              </a:rPr>
              <a:t>Semantic technologies </a:t>
            </a:r>
            <a:r>
              <a:rPr dirty="0" sz="2000" spc="-15">
                <a:latin typeface="Carlito"/>
                <a:cs typeface="Carlito"/>
              </a:rPr>
              <a:t>offer to </a:t>
            </a:r>
            <a:r>
              <a:rPr dirty="0" sz="2000" spc="-5">
                <a:latin typeface="Carlito"/>
                <a:cs typeface="Carlito"/>
              </a:rPr>
              <a:t>supplement </a:t>
            </a:r>
            <a:r>
              <a:rPr dirty="0" sz="2000">
                <a:latin typeface="Carlito"/>
                <a:cs typeface="Carlito"/>
              </a:rPr>
              <a:t>human </a:t>
            </a:r>
            <a:r>
              <a:rPr dirty="0" sz="2000" spc="-5">
                <a:latin typeface="Carlito"/>
                <a:cs typeface="Carlito"/>
              </a:rPr>
              <a:t>SE skills with </a:t>
            </a:r>
            <a:r>
              <a:rPr dirty="0" sz="2000" spc="10">
                <a:latin typeface="Carlito"/>
                <a:cs typeface="Carlito"/>
              </a:rPr>
              <a:t>IT-  </a:t>
            </a:r>
            <a:r>
              <a:rPr dirty="0" sz="2000" spc="-5">
                <a:latin typeface="Carlito"/>
                <a:cs typeface="Carlito"/>
              </a:rPr>
              <a:t>based abilities </a:t>
            </a:r>
            <a:r>
              <a:rPr dirty="0" sz="2000" spc="-15">
                <a:latin typeface="Carlito"/>
                <a:cs typeface="Carlito"/>
              </a:rPr>
              <a:t>to </a:t>
            </a:r>
            <a:r>
              <a:rPr dirty="0" sz="2000" spc="-10">
                <a:latin typeface="Carlito"/>
                <a:cs typeface="Carlito"/>
              </a:rPr>
              <a:t>strengthen </a:t>
            </a:r>
            <a:r>
              <a:rPr dirty="0" sz="2000">
                <a:latin typeface="Carlito"/>
                <a:cs typeface="Carlito"/>
              </a:rPr>
              <a:t>the ability </a:t>
            </a:r>
            <a:r>
              <a:rPr dirty="0" sz="2000" spc="-15">
                <a:latin typeface="Carlito"/>
                <a:cs typeface="Carlito"/>
              </a:rPr>
              <a:t>for </a:t>
            </a:r>
            <a:r>
              <a:rPr dirty="0" sz="2000">
                <a:latin typeface="Carlito"/>
                <a:cs typeface="Carlito"/>
              </a:rPr>
              <a:t>model-based </a:t>
            </a:r>
            <a:r>
              <a:rPr dirty="0" sz="2000" spc="-5">
                <a:latin typeface="Carlito"/>
                <a:cs typeface="Carlito"/>
              </a:rPr>
              <a:t>semantics </a:t>
            </a:r>
            <a:r>
              <a:rPr dirty="0" sz="2000" spc="-15">
                <a:latin typeface="Carlito"/>
                <a:cs typeface="Carlito"/>
              </a:rPr>
              <a:t>to  </a:t>
            </a:r>
            <a:r>
              <a:rPr dirty="0" sz="2000" spc="-5">
                <a:latin typeface="Carlito"/>
                <a:cs typeface="Carlito"/>
              </a:rPr>
              <a:t>impact </a:t>
            </a:r>
            <a:r>
              <a:rPr dirty="0" sz="2000">
                <a:latin typeface="Carlito"/>
                <a:cs typeface="Carlito"/>
              </a:rPr>
              <a:t>engineering </a:t>
            </a:r>
            <a:r>
              <a:rPr dirty="0" sz="2000" spc="-10">
                <a:latin typeface="Carlito"/>
                <a:cs typeface="Carlito"/>
              </a:rPr>
              <a:t>work.</a:t>
            </a:r>
            <a:endParaRPr sz="2000">
              <a:latin typeface="Carlito"/>
              <a:cs typeface="Carlito"/>
            </a:endParaRPr>
          </a:p>
          <a:p>
            <a:pPr marL="241300" indent="-228600">
              <a:lnSpc>
                <a:spcPts val="2039"/>
              </a:lnSpc>
              <a:spcBef>
                <a:spcPts val="27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dirty="0" sz="2000" spc="-5">
                <a:latin typeface="Carlito"/>
                <a:cs typeface="Carlito"/>
              </a:rPr>
              <a:t>This </a:t>
            </a:r>
            <a:r>
              <a:rPr dirty="0" sz="2000" spc="-10">
                <a:latin typeface="Carlito"/>
                <a:cs typeface="Carlito"/>
              </a:rPr>
              <a:t>project </a:t>
            </a:r>
            <a:r>
              <a:rPr dirty="0" sz="2000">
                <a:latin typeface="Carlito"/>
                <a:cs typeface="Carlito"/>
              </a:rPr>
              <a:t>is </a:t>
            </a:r>
            <a:r>
              <a:rPr dirty="0" sz="2000" spc="-5">
                <a:latin typeface="Carlito"/>
                <a:cs typeface="Carlito"/>
              </a:rPr>
              <a:t>merging </a:t>
            </a:r>
            <a:r>
              <a:rPr dirty="0" sz="2000" spc="-10">
                <a:latin typeface="Carlito"/>
                <a:cs typeface="Carlito"/>
              </a:rPr>
              <a:t>demonstration </a:t>
            </a:r>
            <a:r>
              <a:rPr dirty="0" sz="2000" spc="-5">
                <a:latin typeface="Carlito"/>
                <a:cs typeface="Carlito"/>
              </a:rPr>
              <a:t>of (1) </a:t>
            </a:r>
            <a:r>
              <a:rPr dirty="0" sz="2000" spc="-10">
                <a:latin typeface="Carlito"/>
                <a:cs typeface="Carlito"/>
              </a:rPr>
              <a:t>[automated generation</a:t>
            </a:r>
            <a:r>
              <a:rPr dirty="0" sz="2000" spc="70">
                <a:latin typeface="Carlito"/>
                <a:cs typeface="Carlito"/>
              </a:rPr>
              <a:t> </a:t>
            </a:r>
            <a:r>
              <a:rPr dirty="0" sz="2000" spc="-5">
                <a:latin typeface="Carlito"/>
                <a:cs typeface="Carlito"/>
              </a:rPr>
              <a:t>of</a:t>
            </a:r>
            <a:endParaRPr sz="2000">
              <a:latin typeface="Carlito"/>
              <a:cs typeface="Carlito"/>
            </a:endParaRPr>
          </a:p>
          <a:p>
            <a:pPr marL="241300">
              <a:lnSpc>
                <a:spcPts val="1680"/>
              </a:lnSpc>
            </a:pPr>
            <a:r>
              <a:rPr dirty="0" sz="2000" spc="-10">
                <a:latin typeface="Carlito"/>
                <a:cs typeface="Carlito"/>
              </a:rPr>
              <a:t>consistent </a:t>
            </a:r>
            <a:r>
              <a:rPr dirty="0" sz="2000" spc="-5">
                <a:latin typeface="Carlito"/>
                <a:cs typeface="Carlito"/>
              </a:rPr>
              <a:t>trustable models </a:t>
            </a:r>
            <a:r>
              <a:rPr dirty="0" sz="2000" spc="-15">
                <a:latin typeface="Carlito"/>
                <a:cs typeface="Carlito"/>
              </a:rPr>
              <a:t>from </a:t>
            </a:r>
            <a:r>
              <a:rPr dirty="0" sz="2000" spc="-10">
                <a:latin typeface="Carlito"/>
                <a:cs typeface="Carlito"/>
              </a:rPr>
              <a:t>trusted </a:t>
            </a:r>
            <a:r>
              <a:rPr dirty="0" sz="2000" spc="-5">
                <a:latin typeface="Carlito"/>
                <a:cs typeface="Carlito"/>
              </a:rPr>
              <a:t>model-based </a:t>
            </a:r>
            <a:r>
              <a:rPr dirty="0" sz="2000" spc="-10">
                <a:latin typeface="Carlito"/>
                <a:cs typeface="Carlito"/>
              </a:rPr>
              <a:t>patterns]</a:t>
            </a:r>
            <a:r>
              <a:rPr dirty="0" sz="2000" spc="110">
                <a:latin typeface="Carlito"/>
                <a:cs typeface="Carlito"/>
              </a:rPr>
              <a:t> </a:t>
            </a:r>
            <a:r>
              <a:rPr dirty="0" sz="2000">
                <a:latin typeface="Carlito"/>
                <a:cs typeface="Carlito"/>
              </a:rPr>
              <a:t>with</a:t>
            </a:r>
            <a:endParaRPr sz="2000">
              <a:latin typeface="Carlito"/>
              <a:cs typeface="Carlito"/>
            </a:endParaRPr>
          </a:p>
          <a:p>
            <a:pPr marL="241300" marR="170815">
              <a:lnSpc>
                <a:spcPct val="70000"/>
              </a:lnSpc>
              <a:spcBef>
                <a:spcPts val="360"/>
              </a:spcBef>
            </a:pPr>
            <a:r>
              <a:rPr dirty="0" sz="2000">
                <a:latin typeface="Carlito"/>
                <a:cs typeface="Carlito"/>
              </a:rPr>
              <a:t>(2) </a:t>
            </a:r>
            <a:r>
              <a:rPr dirty="0" sz="2000" spc="-10">
                <a:latin typeface="Carlito"/>
                <a:cs typeface="Carlito"/>
              </a:rPr>
              <a:t>[automated </a:t>
            </a:r>
            <a:r>
              <a:rPr dirty="0" sz="2000">
                <a:latin typeface="Carlito"/>
                <a:cs typeface="Carlito"/>
              </a:rPr>
              <a:t>checking </a:t>
            </a:r>
            <a:r>
              <a:rPr dirty="0" sz="2000" spc="-5">
                <a:latin typeface="Carlito"/>
                <a:cs typeface="Carlito"/>
              </a:rPr>
              <a:t>of human-generated </a:t>
            </a:r>
            <a:r>
              <a:rPr dirty="0" sz="2000">
                <a:latin typeface="Carlito"/>
                <a:cs typeface="Carlito"/>
              </a:rPr>
              <a:t>models </a:t>
            </a:r>
            <a:r>
              <a:rPr dirty="0" sz="2000" spc="-10">
                <a:latin typeface="Carlito"/>
                <a:cs typeface="Carlito"/>
              </a:rPr>
              <a:t>against trusted  </a:t>
            </a:r>
            <a:r>
              <a:rPr dirty="0" sz="2000" spc="-5">
                <a:latin typeface="Carlito"/>
                <a:cs typeface="Carlito"/>
              </a:rPr>
              <a:t>model-based</a:t>
            </a:r>
            <a:r>
              <a:rPr dirty="0" sz="2000" spc="-10">
                <a:latin typeface="Carlito"/>
                <a:cs typeface="Carlito"/>
              </a:rPr>
              <a:t> patterns].</a:t>
            </a:r>
            <a:endParaRPr sz="2000">
              <a:latin typeface="Carlito"/>
              <a:cs typeface="Carlito"/>
            </a:endParaRPr>
          </a:p>
          <a:p>
            <a:pPr algn="just" marL="241300" marR="363220" indent="-228600">
              <a:lnSpc>
                <a:spcPct val="70000"/>
              </a:lnSpc>
              <a:spcBef>
                <a:spcPts val="1000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000" spc="-5">
                <a:latin typeface="Carlito"/>
                <a:cs typeface="Carlito"/>
              </a:rPr>
              <a:t>This </a:t>
            </a:r>
            <a:r>
              <a:rPr dirty="0" sz="2000" spc="-10">
                <a:latin typeface="Carlito"/>
                <a:cs typeface="Carlito"/>
              </a:rPr>
              <a:t>project </a:t>
            </a:r>
            <a:r>
              <a:rPr dirty="0" sz="2000">
                <a:latin typeface="Carlito"/>
                <a:cs typeface="Carlito"/>
              </a:rPr>
              <a:t>is the </a:t>
            </a:r>
            <a:r>
              <a:rPr dirty="0" sz="2000" spc="-5">
                <a:latin typeface="Carlito"/>
                <a:cs typeface="Carlito"/>
              </a:rPr>
              <a:t>second </a:t>
            </a:r>
            <a:r>
              <a:rPr dirty="0" sz="2000">
                <a:latin typeface="Carlito"/>
                <a:cs typeface="Carlito"/>
              </a:rPr>
              <a:t>phase </a:t>
            </a:r>
            <a:r>
              <a:rPr dirty="0" sz="2000" spc="-5">
                <a:latin typeface="Carlito"/>
                <a:cs typeface="Carlito"/>
              </a:rPr>
              <a:t>of </a:t>
            </a:r>
            <a:r>
              <a:rPr dirty="0" sz="2000">
                <a:latin typeface="Carlito"/>
                <a:cs typeface="Carlito"/>
              </a:rPr>
              <a:t>the </a:t>
            </a:r>
            <a:r>
              <a:rPr dirty="0" sz="2000" spc="-10">
                <a:latin typeface="Carlito"/>
                <a:cs typeface="Carlito"/>
              </a:rPr>
              <a:t>Interface </a:t>
            </a:r>
            <a:r>
              <a:rPr dirty="0" sz="2000" spc="-15">
                <a:latin typeface="Carlito"/>
                <a:cs typeface="Carlito"/>
              </a:rPr>
              <a:t>Patterns </a:t>
            </a:r>
            <a:r>
              <a:rPr dirty="0" sz="2000" spc="-10">
                <a:latin typeface="Carlito"/>
                <a:cs typeface="Carlito"/>
              </a:rPr>
              <a:t>Project </a:t>
            </a:r>
            <a:r>
              <a:rPr dirty="0" sz="2000" spc="-5">
                <a:latin typeface="Carlito"/>
                <a:cs typeface="Carlito"/>
              </a:rPr>
              <a:t>of  </a:t>
            </a:r>
            <a:r>
              <a:rPr dirty="0" sz="2000">
                <a:latin typeface="Carlito"/>
                <a:cs typeface="Carlito"/>
              </a:rPr>
              <a:t>the MBSE </a:t>
            </a:r>
            <a:r>
              <a:rPr dirty="0" sz="2000" spc="-15">
                <a:latin typeface="Carlito"/>
                <a:cs typeface="Carlito"/>
              </a:rPr>
              <a:t>Patterns </a:t>
            </a:r>
            <a:r>
              <a:rPr dirty="0" sz="2000" spc="-5">
                <a:latin typeface="Carlito"/>
                <a:cs typeface="Carlito"/>
              </a:rPr>
              <a:t>WG, under </a:t>
            </a:r>
            <a:r>
              <a:rPr dirty="0" sz="2000">
                <a:latin typeface="Carlito"/>
                <a:cs typeface="Carlito"/>
              </a:rPr>
              <a:t>a </a:t>
            </a:r>
            <a:r>
              <a:rPr dirty="0" sz="2000" spc="-5">
                <a:latin typeface="Carlito"/>
                <a:cs typeface="Carlito"/>
              </a:rPr>
              <a:t>newer </a:t>
            </a:r>
            <a:r>
              <a:rPr dirty="0" sz="2000" spc="-25">
                <a:latin typeface="Carlito"/>
                <a:cs typeface="Carlito"/>
              </a:rPr>
              <a:t>Technical </a:t>
            </a:r>
            <a:r>
              <a:rPr dirty="0" sz="2000" spc="-10">
                <a:latin typeface="Carlito"/>
                <a:cs typeface="Carlito"/>
              </a:rPr>
              <a:t>Product </a:t>
            </a:r>
            <a:r>
              <a:rPr dirty="0" sz="2000" spc="-5">
                <a:latin typeface="Carlito"/>
                <a:cs typeface="Carlito"/>
              </a:rPr>
              <a:t>Plan that  </a:t>
            </a:r>
            <a:r>
              <a:rPr dirty="0" sz="2000">
                <a:latin typeface="Carlito"/>
                <a:cs typeface="Carlito"/>
              </a:rPr>
              <a:t>includes </a:t>
            </a:r>
            <a:r>
              <a:rPr dirty="0" sz="2000" spc="-15">
                <a:latin typeface="Carlito"/>
                <a:cs typeface="Carlito"/>
              </a:rPr>
              <a:t>exploration </a:t>
            </a:r>
            <a:r>
              <a:rPr dirty="0" sz="2000" spc="-5">
                <a:latin typeface="Carlito"/>
                <a:cs typeface="Carlito"/>
              </a:rPr>
              <a:t>of INCOSE </a:t>
            </a:r>
            <a:r>
              <a:rPr dirty="0" sz="2000" spc="-10">
                <a:latin typeface="Carlito"/>
                <a:cs typeface="Carlito"/>
              </a:rPr>
              <a:t>Product </a:t>
            </a:r>
            <a:r>
              <a:rPr dirty="0" sz="2000" spc="-5">
                <a:latin typeface="Carlito"/>
                <a:cs typeface="Carlito"/>
              </a:rPr>
              <a:t>distribution of </a:t>
            </a:r>
            <a:r>
              <a:rPr dirty="0" sz="2000" spc="-15">
                <a:latin typeface="Carlito"/>
                <a:cs typeface="Carlito"/>
              </a:rPr>
              <a:t>pattern data  </a:t>
            </a:r>
            <a:r>
              <a:rPr dirty="0" sz="2000" spc="-5">
                <a:latin typeface="Carlito"/>
                <a:cs typeface="Carlito"/>
              </a:rPr>
              <a:t>structures that </a:t>
            </a:r>
            <a:r>
              <a:rPr dirty="0" sz="2000" spc="-10">
                <a:latin typeface="Carlito"/>
                <a:cs typeface="Carlito"/>
              </a:rPr>
              <a:t>are </a:t>
            </a:r>
            <a:r>
              <a:rPr dirty="0" sz="2000" spc="-5">
                <a:latin typeface="Carlito"/>
                <a:cs typeface="Carlito"/>
              </a:rPr>
              <a:t>not themselves</a:t>
            </a:r>
            <a:r>
              <a:rPr dirty="0" sz="2000" spc="50">
                <a:latin typeface="Carlito"/>
                <a:cs typeface="Carlito"/>
              </a:rPr>
              <a:t> </a:t>
            </a:r>
            <a:r>
              <a:rPr dirty="0" sz="2000" spc="-5">
                <a:latin typeface="Carlito"/>
                <a:cs typeface="Carlito"/>
              </a:rPr>
              <a:t>documents.</a:t>
            </a:r>
            <a:endParaRPr sz="2000">
              <a:latin typeface="Carlito"/>
              <a:cs typeface="Carlito"/>
            </a:endParaRPr>
          </a:p>
          <a:p>
            <a:pPr marL="241300" marR="88265" indent="-228600">
              <a:lnSpc>
                <a:spcPct val="70000"/>
              </a:lnSpc>
              <a:spcBef>
                <a:spcPts val="1010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dirty="0" sz="2000" spc="-5">
                <a:latin typeface="Carlito"/>
                <a:cs typeface="Carlito"/>
              </a:rPr>
              <a:t>Those </a:t>
            </a:r>
            <a:r>
              <a:rPr dirty="0" sz="2000" spc="-15">
                <a:latin typeface="Carlito"/>
                <a:cs typeface="Carlito"/>
              </a:rPr>
              <a:t>interested </a:t>
            </a:r>
            <a:r>
              <a:rPr dirty="0" sz="2000" spc="-5">
                <a:latin typeface="Carlito"/>
                <a:cs typeface="Carlito"/>
              </a:rPr>
              <a:t>in participating can </a:t>
            </a:r>
            <a:r>
              <a:rPr dirty="0" sz="2000">
                <a:latin typeface="Carlito"/>
                <a:cs typeface="Carlito"/>
              </a:rPr>
              <a:t>be a </a:t>
            </a:r>
            <a:r>
              <a:rPr dirty="0" sz="2000" spc="-5">
                <a:latin typeface="Carlito"/>
                <a:cs typeface="Carlito"/>
              </a:rPr>
              <a:t>part of </a:t>
            </a:r>
            <a:r>
              <a:rPr dirty="0" sz="2000" spc="-10">
                <a:latin typeface="Carlito"/>
                <a:cs typeface="Carlito"/>
              </a:rPr>
              <a:t>evaluating </a:t>
            </a:r>
            <a:r>
              <a:rPr dirty="0" sz="2000">
                <a:latin typeface="Carlito"/>
                <a:cs typeface="Carlito"/>
              </a:rPr>
              <a:t>the utility  </a:t>
            </a:r>
            <a:r>
              <a:rPr dirty="0" sz="2000" spc="-5">
                <a:latin typeface="Carlito"/>
                <a:cs typeface="Carlito"/>
              </a:rPr>
              <a:t>of </a:t>
            </a:r>
            <a:r>
              <a:rPr dirty="0" sz="2000">
                <a:latin typeface="Carlito"/>
                <a:cs typeface="Carlito"/>
              </a:rPr>
              <a:t>the </a:t>
            </a:r>
            <a:r>
              <a:rPr dirty="0" sz="2000" spc="-5">
                <a:latin typeface="Carlito"/>
                <a:cs typeface="Carlito"/>
              </a:rPr>
              <a:t>combination </a:t>
            </a:r>
            <a:r>
              <a:rPr dirty="0" sz="2000">
                <a:latin typeface="Carlito"/>
                <a:cs typeface="Carlito"/>
              </a:rPr>
              <a:t>as </a:t>
            </a:r>
            <a:r>
              <a:rPr dirty="0" sz="2000" spc="-10">
                <a:latin typeface="Carlito"/>
                <a:cs typeface="Carlito"/>
              </a:rPr>
              <a:t>well </a:t>
            </a:r>
            <a:r>
              <a:rPr dirty="0" sz="2000">
                <a:latin typeface="Carlito"/>
                <a:cs typeface="Carlito"/>
              </a:rPr>
              <a:t>as the </a:t>
            </a:r>
            <a:r>
              <a:rPr dirty="0" sz="2000" spc="-5">
                <a:latin typeface="Carlito"/>
                <a:cs typeface="Carlito"/>
              </a:rPr>
              <a:t>new </a:t>
            </a:r>
            <a:r>
              <a:rPr dirty="0" sz="2000" spc="-10">
                <a:latin typeface="Carlito"/>
                <a:cs typeface="Carlito"/>
              </a:rPr>
              <a:t>shared patterns </a:t>
            </a:r>
            <a:r>
              <a:rPr dirty="0" sz="2000" spc="-5">
                <a:latin typeface="Carlito"/>
                <a:cs typeface="Carlito"/>
              </a:rPr>
              <a:t>distribution  paradigm.</a:t>
            </a:r>
            <a:endParaRPr sz="2000">
              <a:latin typeface="Carlito"/>
              <a:cs typeface="Carlito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825740" y="713231"/>
            <a:ext cx="4258310" cy="5611495"/>
            <a:chOff x="7825740" y="713231"/>
            <a:chExt cx="4258310" cy="5611495"/>
          </a:xfrm>
        </p:grpSpPr>
        <p:sp>
          <p:nvSpPr>
            <p:cNvPr id="5" name="object 5"/>
            <p:cNvSpPr/>
            <p:nvPr/>
          </p:nvSpPr>
          <p:spPr>
            <a:xfrm>
              <a:off x="7992985" y="911236"/>
              <a:ext cx="3825168" cy="512310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7844790" y="732281"/>
              <a:ext cx="4220210" cy="5573395"/>
            </a:xfrm>
            <a:custGeom>
              <a:avLst/>
              <a:gdLst/>
              <a:ahLst/>
              <a:cxnLst/>
              <a:rect l="l" t="t" r="r" b="b"/>
              <a:pathLst>
                <a:path w="4220209" h="5573395">
                  <a:moveTo>
                    <a:pt x="0" y="5573268"/>
                  </a:moveTo>
                  <a:lnTo>
                    <a:pt x="4219956" y="5573268"/>
                  </a:lnTo>
                  <a:lnTo>
                    <a:pt x="4219956" y="0"/>
                  </a:lnTo>
                  <a:lnTo>
                    <a:pt x="0" y="0"/>
                  </a:lnTo>
                  <a:lnTo>
                    <a:pt x="0" y="5573268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7711820" y="6311900"/>
            <a:ext cx="439928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12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rlito"/>
                <a:cs typeface="Carlito"/>
                <a:hlinkClick r:id="rId3"/>
              </a:rPr>
              <a:t>http://www.omgwiki.org/MBSE/lib/exe/fetch.php?media=mbse:patter</a:t>
            </a:r>
            <a:endParaRPr sz="12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dirty="0" u="sng" sz="1200" spc="-5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rlito"/>
                <a:cs typeface="Carlito"/>
                <a:hlinkClick r:id="rId3"/>
              </a:rPr>
              <a:t>ns:incose_patterns_wg_st4se_project_tpp_v2.0_signed.pdf</a:t>
            </a:r>
            <a:endParaRPr sz="12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64769"/>
            <a:ext cx="12004675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190"/>
              <a:t>Nearly </a:t>
            </a:r>
            <a:r>
              <a:rPr dirty="0" sz="4000" spc="-120"/>
              <a:t>all </a:t>
            </a:r>
            <a:r>
              <a:rPr dirty="0" sz="4000" spc="-85"/>
              <a:t>our </a:t>
            </a:r>
            <a:r>
              <a:rPr dirty="0" sz="4000" spc="-120"/>
              <a:t>work </a:t>
            </a:r>
            <a:r>
              <a:rPr dirty="0" sz="4000" spc="-185"/>
              <a:t>includes </a:t>
            </a:r>
            <a:r>
              <a:rPr dirty="0" sz="4000" spc="-90"/>
              <a:t>partner </a:t>
            </a:r>
            <a:r>
              <a:rPr dirty="0" sz="4000" spc="-560"/>
              <a:t>INCOSE </a:t>
            </a:r>
            <a:r>
              <a:rPr dirty="0" sz="4000" spc="-459"/>
              <a:t>WGs </a:t>
            </a:r>
            <a:r>
              <a:rPr dirty="0" sz="4000" spc="-55"/>
              <a:t>or</a:t>
            </a:r>
            <a:r>
              <a:rPr dirty="0" sz="4000" spc="-645"/>
              <a:t> </a:t>
            </a:r>
            <a:r>
              <a:rPr dirty="0" sz="4000" spc="-140"/>
              <a:t>others</a:t>
            </a:r>
            <a:endParaRPr sz="4000"/>
          </a:p>
        </p:txBody>
      </p:sp>
      <p:sp>
        <p:nvSpPr>
          <p:cNvPr id="3" name="object 3"/>
          <p:cNvSpPr/>
          <p:nvPr/>
        </p:nvSpPr>
        <p:spPr>
          <a:xfrm>
            <a:off x="1755648" y="813816"/>
            <a:ext cx="8680704" cy="52425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78739" y="6070803"/>
            <a:ext cx="1958975" cy="528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300" spc="-595">
                <a:latin typeface="Arial"/>
                <a:cs typeface="Arial"/>
              </a:rPr>
              <a:t>P</a:t>
            </a:r>
            <a:r>
              <a:rPr dirty="0" sz="3300" spc="-30">
                <a:latin typeface="Arial"/>
                <a:cs typeface="Arial"/>
              </a:rPr>
              <a:t>ar</a:t>
            </a:r>
            <a:r>
              <a:rPr dirty="0" sz="3300" spc="-35">
                <a:latin typeface="Arial"/>
                <a:cs typeface="Arial"/>
              </a:rPr>
              <a:t>t</a:t>
            </a:r>
            <a:r>
              <a:rPr dirty="0" sz="3300" spc="-120">
                <a:latin typeface="Arial"/>
                <a:cs typeface="Arial"/>
              </a:rPr>
              <a:t>icip</a:t>
            </a:r>
            <a:r>
              <a:rPr dirty="0" sz="3300" spc="-220">
                <a:latin typeface="Arial"/>
                <a:cs typeface="Arial"/>
              </a:rPr>
              <a:t>a</a:t>
            </a:r>
            <a:r>
              <a:rPr dirty="0" sz="3300" spc="120">
                <a:latin typeface="Arial"/>
                <a:cs typeface="Arial"/>
              </a:rPr>
              <a:t>t</a:t>
            </a:r>
            <a:r>
              <a:rPr dirty="0" sz="3300" spc="-30">
                <a:latin typeface="Arial"/>
                <a:cs typeface="Arial"/>
              </a:rPr>
              <a:t>e!</a:t>
            </a:r>
            <a:endParaRPr sz="33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863567" y="6070803"/>
            <a:ext cx="6858000" cy="528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719829" algn="l"/>
              </a:tabLst>
            </a:pPr>
            <a:r>
              <a:rPr dirty="0" sz="3300" spc="-155">
                <a:latin typeface="Arial"/>
                <a:cs typeface="Arial"/>
              </a:rPr>
              <a:t>Contact:</a:t>
            </a:r>
            <a:r>
              <a:rPr dirty="0" sz="3300" spc="-140">
                <a:latin typeface="Arial"/>
                <a:cs typeface="Arial"/>
              </a:rPr>
              <a:t> </a:t>
            </a:r>
            <a:r>
              <a:rPr dirty="0" sz="3300" spc="-120">
                <a:latin typeface="Arial"/>
                <a:cs typeface="Arial"/>
              </a:rPr>
              <a:t>Bill</a:t>
            </a:r>
            <a:r>
              <a:rPr dirty="0" sz="3300" spc="-165">
                <a:latin typeface="Arial"/>
                <a:cs typeface="Arial"/>
              </a:rPr>
              <a:t> </a:t>
            </a:r>
            <a:r>
              <a:rPr dirty="0" sz="3300" spc="-195">
                <a:latin typeface="Arial"/>
                <a:cs typeface="Arial"/>
              </a:rPr>
              <a:t>Schindel	</a:t>
            </a:r>
            <a:r>
              <a:rPr dirty="0" u="heavy" sz="3300" spc="-135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Arial"/>
                <a:cs typeface="Arial"/>
                <a:hlinkClick r:id="rId3"/>
              </a:rPr>
              <a:t>schindel@ictt.com</a:t>
            </a:r>
            <a:endParaRPr sz="3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04182" y="0"/>
            <a:ext cx="2267585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285"/>
              <a:t>References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78739" y="845565"/>
            <a:ext cx="12021185" cy="5499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27685" indent="-515620">
              <a:lnSpc>
                <a:spcPts val="1835"/>
              </a:lnSpc>
              <a:spcBef>
                <a:spcPts val="100"/>
              </a:spcBef>
              <a:buFont typeface="Carlito"/>
              <a:buAutoNum type="arabicPeriod"/>
              <a:tabLst>
                <a:tab pos="527685" algn="l"/>
                <a:tab pos="528320" algn="l"/>
              </a:tabLst>
            </a:pPr>
            <a:r>
              <a:rPr dirty="0" sz="1800" spc="-185">
                <a:latin typeface="Arial"/>
                <a:cs typeface="Arial"/>
              </a:rPr>
              <a:t>“SE </a:t>
            </a:r>
            <a:r>
              <a:rPr dirty="0" sz="1800" spc="-70">
                <a:latin typeface="Arial"/>
                <a:cs typeface="Arial"/>
              </a:rPr>
              <a:t>Foundation </a:t>
            </a:r>
            <a:r>
              <a:rPr dirty="0" sz="1800" spc="-90">
                <a:latin typeface="Arial"/>
                <a:cs typeface="Arial"/>
              </a:rPr>
              <a:t>Elements: </a:t>
            </a:r>
            <a:r>
              <a:rPr dirty="0" sz="1800" spc="-60">
                <a:latin typeface="Arial"/>
                <a:cs typeface="Arial"/>
              </a:rPr>
              <a:t>Implications </a:t>
            </a:r>
            <a:r>
              <a:rPr dirty="0" sz="1800" spc="-5">
                <a:latin typeface="Arial"/>
                <a:cs typeface="Arial"/>
              </a:rPr>
              <a:t>for </a:t>
            </a:r>
            <a:r>
              <a:rPr dirty="0" sz="1800" spc="-70">
                <a:latin typeface="Arial"/>
                <a:cs typeface="Arial"/>
              </a:rPr>
              <a:t>Future </a:t>
            </a:r>
            <a:r>
              <a:rPr dirty="0" sz="1800" spc="-355">
                <a:latin typeface="Arial"/>
                <a:cs typeface="Arial"/>
              </a:rPr>
              <a:t>SE </a:t>
            </a:r>
            <a:r>
              <a:rPr dirty="0" sz="1800" spc="-90">
                <a:latin typeface="Arial"/>
                <a:cs typeface="Arial"/>
              </a:rPr>
              <a:t>Practice, </a:t>
            </a:r>
            <a:r>
              <a:rPr dirty="0" sz="1800" spc="-85">
                <a:latin typeface="Arial"/>
                <a:cs typeface="Arial"/>
              </a:rPr>
              <a:t>Education, </a:t>
            </a:r>
            <a:r>
              <a:rPr dirty="0" sz="1800" spc="-120">
                <a:latin typeface="Arial"/>
                <a:cs typeface="Arial"/>
              </a:rPr>
              <a:t>Research”. </a:t>
            </a:r>
            <a:r>
              <a:rPr dirty="0" sz="1800" spc="-85">
                <a:latin typeface="Arial"/>
                <a:cs typeface="Arial"/>
              </a:rPr>
              <a:t>Retrieve</a:t>
            </a:r>
            <a:r>
              <a:rPr dirty="0" sz="1800" spc="-110">
                <a:latin typeface="Arial"/>
                <a:cs typeface="Arial"/>
              </a:rPr>
              <a:t> </a:t>
            </a:r>
            <a:r>
              <a:rPr dirty="0" sz="1800" spc="-5">
                <a:latin typeface="Arial"/>
                <a:cs typeface="Arial"/>
              </a:rPr>
              <a:t>from</a:t>
            </a:r>
            <a:r>
              <a:rPr dirty="0" sz="1800" spc="-5">
                <a:latin typeface="Carlito"/>
                <a:cs typeface="Carlito"/>
              </a:rPr>
              <a:t>--</a:t>
            </a:r>
            <a:endParaRPr sz="1800">
              <a:latin typeface="Carlito"/>
              <a:cs typeface="Carlito"/>
            </a:endParaRPr>
          </a:p>
          <a:p>
            <a:pPr marL="527685" marR="57150">
              <a:lnSpc>
                <a:spcPct val="70000"/>
              </a:lnSpc>
              <a:spcBef>
                <a:spcPts val="325"/>
              </a:spcBef>
            </a:pPr>
            <a:r>
              <a:rPr dirty="0" u="heavy" sz="1800" spc="-10">
                <a:solidFill>
                  <a:srgbClr val="944F71"/>
                </a:solidFill>
                <a:uFill>
                  <a:solidFill>
                    <a:srgbClr val="944F71"/>
                  </a:solidFill>
                </a:uFill>
                <a:latin typeface="Carlito"/>
                <a:cs typeface="Carlito"/>
                <a:hlinkClick r:id="rId2"/>
              </a:rPr>
              <a:t>http://www.omgwiki.org/MBSE/lib/exe/fetch.php?media=mbse:patterns:science_math_foundations_for_systems_and_sys </a:t>
            </a:r>
            <a:r>
              <a:rPr dirty="0" sz="1800" spc="-10">
                <a:solidFill>
                  <a:srgbClr val="944F71"/>
                </a:solidFill>
                <a:latin typeface="Carlito"/>
                <a:cs typeface="Carlito"/>
                <a:hlinkClick r:id="rId2"/>
              </a:rPr>
              <a:t> </a:t>
            </a:r>
            <a:r>
              <a:rPr dirty="0" u="heavy" sz="1800" spc="-5">
                <a:solidFill>
                  <a:srgbClr val="944F71"/>
                </a:solidFill>
                <a:uFill>
                  <a:solidFill>
                    <a:srgbClr val="944F71"/>
                  </a:solidFill>
                </a:uFill>
                <a:latin typeface="Carlito"/>
                <a:cs typeface="Carlito"/>
                <a:hlinkClick r:id="rId2"/>
              </a:rPr>
              <a:t>tems_engineering--1_hr_awareness_v2.3.2a.pdf</a:t>
            </a:r>
            <a:endParaRPr sz="1800">
              <a:latin typeface="Carlito"/>
              <a:cs typeface="Carlito"/>
            </a:endParaRPr>
          </a:p>
          <a:p>
            <a:pPr marL="527685" indent="-515620">
              <a:lnSpc>
                <a:spcPts val="1835"/>
              </a:lnSpc>
              <a:spcBef>
                <a:spcPts val="345"/>
              </a:spcBef>
              <a:buFont typeface="Carlito"/>
              <a:buAutoNum type="arabicPeriod" startAt="2"/>
              <a:tabLst>
                <a:tab pos="527685" algn="l"/>
                <a:tab pos="528320" algn="l"/>
              </a:tabLst>
            </a:pPr>
            <a:r>
              <a:rPr dirty="0" sz="1800" spc="-40">
                <a:latin typeface="Arial"/>
                <a:cs typeface="Arial"/>
              </a:rPr>
              <a:t>“The </a:t>
            </a:r>
            <a:r>
              <a:rPr dirty="0" sz="1800" spc="-35">
                <a:latin typeface="Arial"/>
                <a:cs typeface="Arial"/>
              </a:rPr>
              <a:t>Model </a:t>
            </a:r>
            <a:r>
              <a:rPr dirty="0" sz="1800" spc="-80">
                <a:latin typeface="Arial"/>
                <a:cs typeface="Arial"/>
              </a:rPr>
              <a:t>Characterization </a:t>
            </a:r>
            <a:r>
              <a:rPr dirty="0" sz="1800" spc="-65">
                <a:latin typeface="Arial"/>
                <a:cs typeface="Arial"/>
              </a:rPr>
              <a:t>Pattern </a:t>
            </a:r>
            <a:r>
              <a:rPr dirty="0" sz="1800" spc="-125">
                <a:latin typeface="Arial"/>
                <a:cs typeface="Arial"/>
              </a:rPr>
              <a:t>(MCP): </a:t>
            </a:r>
            <a:r>
              <a:rPr dirty="0" sz="1800" spc="-160">
                <a:latin typeface="Arial"/>
                <a:cs typeface="Arial"/>
              </a:rPr>
              <a:t>A </a:t>
            </a:r>
            <a:r>
              <a:rPr dirty="0" sz="1800" spc="-85">
                <a:latin typeface="Arial"/>
                <a:cs typeface="Arial"/>
              </a:rPr>
              <a:t>Universal </a:t>
            </a:r>
            <a:r>
              <a:rPr dirty="0" sz="1800" spc="-80">
                <a:latin typeface="Arial"/>
                <a:cs typeface="Arial"/>
              </a:rPr>
              <a:t>Characterization </a:t>
            </a:r>
            <a:r>
              <a:rPr dirty="0" sz="1800" spc="25">
                <a:latin typeface="Arial"/>
                <a:cs typeface="Arial"/>
              </a:rPr>
              <a:t>&amp; </a:t>
            </a:r>
            <a:r>
              <a:rPr dirty="0" sz="1800" spc="-95">
                <a:latin typeface="Arial"/>
                <a:cs typeface="Arial"/>
              </a:rPr>
              <a:t>Labeling </a:t>
            </a:r>
            <a:r>
              <a:rPr dirty="0" sz="1800" spc="-75">
                <a:latin typeface="Arial"/>
                <a:cs typeface="Arial"/>
              </a:rPr>
              <a:t>S*Pattern </a:t>
            </a:r>
            <a:r>
              <a:rPr dirty="0" sz="1800" spc="-5">
                <a:latin typeface="Arial"/>
                <a:cs typeface="Arial"/>
              </a:rPr>
              <a:t>for </a:t>
            </a:r>
            <a:r>
              <a:rPr dirty="0" sz="1800" spc="-50">
                <a:latin typeface="Arial"/>
                <a:cs typeface="Arial"/>
              </a:rPr>
              <a:t>All</a:t>
            </a:r>
            <a:r>
              <a:rPr dirty="0" sz="1800" spc="-215">
                <a:latin typeface="Arial"/>
                <a:cs typeface="Arial"/>
              </a:rPr>
              <a:t> </a:t>
            </a:r>
            <a:r>
              <a:rPr dirty="0" sz="1800" spc="-65">
                <a:latin typeface="Arial"/>
                <a:cs typeface="Arial"/>
              </a:rPr>
              <a:t>Computational</a:t>
            </a:r>
            <a:endParaRPr sz="1800">
              <a:latin typeface="Arial"/>
              <a:cs typeface="Arial"/>
            </a:endParaRPr>
          </a:p>
          <a:p>
            <a:pPr marL="527685" marR="86995">
              <a:lnSpc>
                <a:spcPct val="70000"/>
              </a:lnSpc>
              <a:spcBef>
                <a:spcPts val="325"/>
              </a:spcBef>
            </a:pPr>
            <a:r>
              <a:rPr dirty="0" sz="1800" spc="-55">
                <a:latin typeface="Arial"/>
                <a:cs typeface="Arial"/>
              </a:rPr>
              <a:t>Models”. </a:t>
            </a:r>
            <a:r>
              <a:rPr dirty="0" sz="1800" spc="-85">
                <a:latin typeface="Arial"/>
                <a:cs typeface="Arial"/>
              </a:rPr>
              <a:t>Retrieve </a:t>
            </a:r>
            <a:r>
              <a:rPr dirty="0" sz="1800" spc="-20">
                <a:latin typeface="Arial"/>
                <a:cs typeface="Arial"/>
              </a:rPr>
              <a:t>from </a:t>
            </a:r>
            <a:r>
              <a:rPr dirty="0" sz="1800">
                <a:latin typeface="Carlito"/>
                <a:cs typeface="Carlito"/>
              </a:rPr>
              <a:t>--  </a:t>
            </a:r>
            <a:r>
              <a:rPr dirty="0" u="heavy" sz="1800" spc="-10">
                <a:solidFill>
                  <a:srgbClr val="944F71"/>
                </a:solidFill>
                <a:uFill>
                  <a:solidFill>
                    <a:srgbClr val="944F71"/>
                  </a:solidFill>
                </a:uFill>
                <a:latin typeface="Carlito"/>
                <a:cs typeface="Carlito"/>
                <a:hlinkClick r:id="rId3"/>
              </a:rPr>
              <a:t>http://www.omgwiki.org/MBSE/lib/exe/fetch.php?media=mbse:patterns:model_characterization_pattern_mcp_v1.9.3.pdf</a:t>
            </a:r>
            <a:endParaRPr sz="1800">
              <a:latin typeface="Carlito"/>
              <a:cs typeface="Carlito"/>
            </a:endParaRPr>
          </a:p>
          <a:p>
            <a:pPr marL="527685" marR="146050" indent="-515620">
              <a:lnSpc>
                <a:spcPct val="70000"/>
              </a:lnSpc>
              <a:spcBef>
                <a:spcPts val="994"/>
              </a:spcBef>
              <a:buFont typeface="Carlito"/>
              <a:buAutoNum type="arabicPeriod" startAt="3"/>
              <a:tabLst>
                <a:tab pos="527685" algn="l"/>
                <a:tab pos="528320" algn="l"/>
              </a:tabLst>
            </a:pPr>
            <a:r>
              <a:rPr dirty="0" sz="1800" spc="-20">
                <a:latin typeface="Arial"/>
                <a:cs typeface="Arial"/>
              </a:rPr>
              <a:t>“Introduction </a:t>
            </a:r>
            <a:r>
              <a:rPr dirty="0" sz="1800" spc="15">
                <a:latin typeface="Arial"/>
                <a:cs typeface="Arial"/>
              </a:rPr>
              <a:t>to </a:t>
            </a:r>
            <a:r>
              <a:rPr dirty="0" sz="1800" spc="-20">
                <a:latin typeface="Arial"/>
                <a:cs typeface="Arial"/>
              </a:rPr>
              <a:t>the </a:t>
            </a:r>
            <a:r>
              <a:rPr dirty="0" sz="1800" spc="-80">
                <a:latin typeface="Arial"/>
                <a:cs typeface="Arial"/>
              </a:rPr>
              <a:t>Agile </a:t>
            </a:r>
            <a:r>
              <a:rPr dirty="0" sz="1800" spc="-145">
                <a:latin typeface="Arial"/>
                <a:cs typeface="Arial"/>
              </a:rPr>
              <a:t>Systems </a:t>
            </a:r>
            <a:r>
              <a:rPr dirty="0" sz="1800" spc="-95">
                <a:latin typeface="Arial"/>
                <a:cs typeface="Arial"/>
              </a:rPr>
              <a:t>Engineering </a:t>
            </a:r>
            <a:r>
              <a:rPr dirty="0" sz="1800" spc="-90">
                <a:latin typeface="Arial"/>
                <a:cs typeface="Arial"/>
              </a:rPr>
              <a:t>Life </a:t>
            </a:r>
            <a:r>
              <a:rPr dirty="0" sz="1800" spc="-145">
                <a:latin typeface="Arial"/>
                <a:cs typeface="Arial"/>
              </a:rPr>
              <a:t>Cycle </a:t>
            </a:r>
            <a:r>
              <a:rPr dirty="0" sz="1800" spc="-220">
                <a:latin typeface="Arial"/>
                <a:cs typeface="Arial"/>
              </a:rPr>
              <a:t>MBSE </a:t>
            </a:r>
            <a:r>
              <a:rPr dirty="0" sz="1800" spc="-60">
                <a:latin typeface="Arial"/>
                <a:cs typeface="Arial"/>
              </a:rPr>
              <a:t>Pattern”. </a:t>
            </a:r>
            <a:r>
              <a:rPr dirty="0" sz="1800" spc="-85">
                <a:latin typeface="Arial"/>
                <a:cs typeface="Arial"/>
              </a:rPr>
              <a:t>Retrieve </a:t>
            </a:r>
            <a:r>
              <a:rPr dirty="0" sz="1800" spc="-10">
                <a:latin typeface="Carlito"/>
                <a:cs typeface="Carlito"/>
              </a:rPr>
              <a:t>from </a:t>
            </a:r>
            <a:r>
              <a:rPr dirty="0" sz="1800">
                <a:latin typeface="Carlito"/>
                <a:cs typeface="Carlito"/>
              </a:rPr>
              <a:t>-- </a:t>
            </a:r>
            <a:r>
              <a:rPr dirty="0" u="heavy" sz="1800">
                <a:solidFill>
                  <a:srgbClr val="944F71"/>
                </a:solidFill>
                <a:uFill>
                  <a:solidFill>
                    <a:srgbClr val="944F71"/>
                  </a:solidFill>
                </a:uFill>
                <a:latin typeface="Carlito"/>
                <a:cs typeface="Carlito"/>
                <a:hlinkClick r:id="rId4"/>
              </a:rPr>
              <a:t> </a:t>
            </a:r>
            <a:r>
              <a:rPr dirty="0" u="heavy" sz="1800" spc="-10">
                <a:solidFill>
                  <a:srgbClr val="944F71"/>
                </a:solidFill>
                <a:uFill>
                  <a:solidFill>
                    <a:srgbClr val="944F71"/>
                  </a:solidFill>
                </a:uFill>
                <a:latin typeface="Carlito"/>
                <a:cs typeface="Carlito"/>
                <a:hlinkClick r:id="rId4"/>
              </a:rPr>
              <a:t>http://www.omgwiki.org/MBSE/lib/exe/fetch.php?media=mbse:patterns:is2016_intro_to_the_aselcm_pattern_v1.4.8.pdf</a:t>
            </a:r>
            <a:endParaRPr sz="1800">
              <a:latin typeface="Carlito"/>
              <a:cs typeface="Carlito"/>
            </a:endParaRPr>
          </a:p>
          <a:p>
            <a:pPr marL="527685" indent="-515620">
              <a:lnSpc>
                <a:spcPts val="1835"/>
              </a:lnSpc>
              <a:spcBef>
                <a:spcPts val="360"/>
              </a:spcBef>
              <a:buFont typeface="Carlito"/>
              <a:buAutoNum type="arabicPeriod" startAt="3"/>
              <a:tabLst>
                <a:tab pos="527685" algn="l"/>
                <a:tab pos="528320" algn="l"/>
              </a:tabLst>
            </a:pPr>
            <a:r>
              <a:rPr dirty="0" sz="1800" spc="-90">
                <a:latin typeface="Arial"/>
                <a:cs typeface="Arial"/>
              </a:rPr>
              <a:t>“Consistency </a:t>
            </a:r>
            <a:r>
              <a:rPr dirty="0" sz="1800" spc="-70">
                <a:latin typeface="Arial"/>
                <a:cs typeface="Arial"/>
              </a:rPr>
              <a:t>Management </a:t>
            </a:r>
            <a:r>
              <a:rPr dirty="0" sz="1800" spc="-170">
                <a:latin typeface="Arial"/>
                <a:cs typeface="Arial"/>
              </a:rPr>
              <a:t>as </a:t>
            </a:r>
            <a:r>
              <a:rPr dirty="0" sz="1800" spc="-100">
                <a:latin typeface="Arial"/>
                <a:cs typeface="Arial"/>
              </a:rPr>
              <a:t>an </a:t>
            </a:r>
            <a:r>
              <a:rPr dirty="0" sz="1800" spc="-55">
                <a:latin typeface="Arial"/>
                <a:cs typeface="Arial"/>
              </a:rPr>
              <a:t>Integrating </a:t>
            </a:r>
            <a:r>
              <a:rPr dirty="0" sz="1800" spc="-110">
                <a:latin typeface="Arial"/>
                <a:cs typeface="Arial"/>
              </a:rPr>
              <a:t>Paradigm </a:t>
            </a:r>
            <a:r>
              <a:rPr dirty="0" sz="1800" spc="-5">
                <a:latin typeface="Arial"/>
                <a:cs typeface="Arial"/>
              </a:rPr>
              <a:t>for </a:t>
            </a:r>
            <a:r>
              <a:rPr dirty="0" sz="1800" spc="-60">
                <a:latin typeface="Arial"/>
                <a:cs typeface="Arial"/>
              </a:rPr>
              <a:t>Digital </a:t>
            </a:r>
            <a:r>
              <a:rPr dirty="0" sz="1800" spc="-90">
                <a:latin typeface="Arial"/>
                <a:cs typeface="Arial"/>
              </a:rPr>
              <a:t>Life </a:t>
            </a:r>
            <a:r>
              <a:rPr dirty="0" sz="1800" spc="-145">
                <a:latin typeface="Arial"/>
                <a:cs typeface="Arial"/>
              </a:rPr>
              <a:t>Cycle </a:t>
            </a:r>
            <a:r>
              <a:rPr dirty="0" sz="1800" spc="-70">
                <a:latin typeface="Arial"/>
                <a:cs typeface="Arial"/>
              </a:rPr>
              <a:t>Management </a:t>
            </a:r>
            <a:r>
              <a:rPr dirty="0" sz="1800" spc="5">
                <a:latin typeface="Arial"/>
                <a:cs typeface="Arial"/>
              </a:rPr>
              <a:t>with</a:t>
            </a:r>
            <a:r>
              <a:rPr dirty="0" sz="1800" spc="-55">
                <a:latin typeface="Arial"/>
                <a:cs typeface="Arial"/>
              </a:rPr>
              <a:t> </a:t>
            </a:r>
            <a:r>
              <a:rPr dirty="0" sz="1800" spc="-65">
                <a:latin typeface="Arial"/>
                <a:cs typeface="Arial"/>
              </a:rPr>
              <a:t>Learning:”</a:t>
            </a:r>
            <a:endParaRPr sz="1800">
              <a:latin typeface="Arial"/>
              <a:cs typeface="Arial"/>
            </a:endParaRPr>
          </a:p>
          <a:p>
            <a:pPr marL="527685">
              <a:lnSpc>
                <a:spcPts val="1515"/>
              </a:lnSpc>
            </a:pPr>
            <a:r>
              <a:rPr dirty="0" u="heavy" sz="1800" spc="-10">
                <a:solidFill>
                  <a:srgbClr val="944F71"/>
                </a:solidFill>
                <a:uFill>
                  <a:solidFill>
                    <a:srgbClr val="944F71"/>
                  </a:solidFill>
                </a:uFill>
                <a:latin typeface="Carlito"/>
                <a:cs typeface="Carlito"/>
                <a:hlinkClick r:id="rId5"/>
              </a:rPr>
              <a:t>http://www.omgwiki.org/MBSE/lib/exe/fetch.php?media=mbse:patterns:aselcm_pattern_--</a:t>
            </a:r>
            <a:endParaRPr sz="1800">
              <a:latin typeface="Carlito"/>
              <a:cs typeface="Carlito"/>
            </a:endParaRPr>
          </a:p>
          <a:p>
            <a:pPr marL="527685">
              <a:lnSpc>
                <a:spcPts val="1835"/>
              </a:lnSpc>
            </a:pPr>
            <a:r>
              <a:rPr dirty="0" u="heavy" sz="1800" spc="-5">
                <a:solidFill>
                  <a:srgbClr val="944F71"/>
                </a:solidFill>
                <a:uFill>
                  <a:solidFill>
                    <a:srgbClr val="944F71"/>
                  </a:solidFill>
                </a:uFill>
                <a:latin typeface="Carlito"/>
                <a:cs typeface="Carlito"/>
                <a:hlinkClick r:id="rId5"/>
              </a:rPr>
              <a:t>_consistency_management_as_a_digital_life_cycle_management_paradigm_v1.2.2.pdf</a:t>
            </a:r>
            <a:endParaRPr sz="1800">
              <a:latin typeface="Carlito"/>
              <a:cs typeface="Carlito"/>
            </a:endParaRPr>
          </a:p>
          <a:p>
            <a:pPr marL="527685" indent="-515620">
              <a:lnSpc>
                <a:spcPts val="1835"/>
              </a:lnSpc>
              <a:spcBef>
                <a:spcPts val="350"/>
              </a:spcBef>
              <a:buFont typeface="Carlito"/>
              <a:buAutoNum type="arabicPeriod" startAt="5"/>
              <a:tabLst>
                <a:tab pos="527685" algn="l"/>
                <a:tab pos="528320" algn="l"/>
              </a:tabLst>
            </a:pPr>
            <a:r>
              <a:rPr dirty="0" sz="1800" spc="-190">
                <a:latin typeface="Arial"/>
                <a:cs typeface="Arial"/>
              </a:rPr>
              <a:t>“INCOSE </a:t>
            </a:r>
            <a:r>
              <a:rPr dirty="0" sz="1800" spc="-100">
                <a:latin typeface="Arial"/>
                <a:cs typeface="Arial"/>
              </a:rPr>
              <a:t>Semantic </a:t>
            </a:r>
            <a:r>
              <a:rPr dirty="0" sz="1800" spc="-110">
                <a:latin typeface="Arial"/>
                <a:cs typeface="Arial"/>
              </a:rPr>
              <a:t>Technologies </a:t>
            </a:r>
            <a:r>
              <a:rPr dirty="0" sz="1800" spc="-5">
                <a:latin typeface="Arial"/>
                <a:cs typeface="Arial"/>
              </a:rPr>
              <a:t>for </a:t>
            </a:r>
            <a:r>
              <a:rPr dirty="0" sz="1800" spc="-145">
                <a:latin typeface="Arial"/>
                <a:cs typeface="Arial"/>
              </a:rPr>
              <a:t>Systems </a:t>
            </a:r>
            <a:r>
              <a:rPr dirty="0" sz="1800" spc="-95">
                <a:latin typeface="Arial"/>
                <a:cs typeface="Arial"/>
              </a:rPr>
              <a:t>Engineering </a:t>
            </a:r>
            <a:r>
              <a:rPr dirty="0" sz="1800" spc="-200">
                <a:latin typeface="Arial"/>
                <a:cs typeface="Arial"/>
              </a:rPr>
              <a:t>(ST4SE): </a:t>
            </a:r>
            <a:r>
              <a:rPr dirty="0" sz="1800" spc="-85">
                <a:latin typeface="Arial"/>
                <a:cs typeface="Arial"/>
              </a:rPr>
              <a:t>Deliverables </a:t>
            </a:r>
            <a:r>
              <a:rPr dirty="0" sz="1800" spc="-114">
                <a:latin typeface="Arial"/>
                <a:cs typeface="Arial"/>
              </a:rPr>
              <a:t>Technical </a:t>
            </a:r>
            <a:r>
              <a:rPr dirty="0" sz="1800" spc="-75">
                <a:latin typeface="Arial"/>
                <a:cs typeface="Arial"/>
              </a:rPr>
              <a:t>Product </a:t>
            </a:r>
            <a:r>
              <a:rPr dirty="0" sz="1800" spc="-120">
                <a:latin typeface="Arial"/>
                <a:cs typeface="Arial"/>
              </a:rPr>
              <a:t>Plan </a:t>
            </a:r>
            <a:r>
              <a:rPr dirty="0" sz="1800" spc="-140">
                <a:latin typeface="Arial"/>
                <a:cs typeface="Arial"/>
              </a:rPr>
              <a:t>(TPP)”. </a:t>
            </a:r>
            <a:r>
              <a:rPr dirty="0" sz="1800" spc="-85">
                <a:latin typeface="Arial"/>
                <a:cs typeface="Arial"/>
              </a:rPr>
              <a:t>Retrieve</a:t>
            </a:r>
            <a:r>
              <a:rPr dirty="0" sz="1800" spc="145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from</a:t>
            </a:r>
            <a:r>
              <a:rPr dirty="0" sz="1800" spc="-10">
                <a:latin typeface="Carlito"/>
                <a:cs typeface="Carlito"/>
              </a:rPr>
              <a:t>--</a:t>
            </a:r>
            <a:endParaRPr sz="1800">
              <a:latin typeface="Carlito"/>
              <a:cs typeface="Carlito"/>
            </a:endParaRPr>
          </a:p>
          <a:p>
            <a:pPr marL="527685" marR="114935">
              <a:lnSpc>
                <a:spcPct val="70000"/>
              </a:lnSpc>
              <a:spcBef>
                <a:spcPts val="325"/>
              </a:spcBef>
            </a:pPr>
            <a:r>
              <a:rPr dirty="0" u="heavy" sz="1800" spc="-10">
                <a:solidFill>
                  <a:srgbClr val="944F71"/>
                </a:solidFill>
                <a:uFill>
                  <a:solidFill>
                    <a:srgbClr val="944F71"/>
                  </a:solidFill>
                </a:uFill>
                <a:latin typeface="Carlito"/>
                <a:cs typeface="Carlito"/>
                <a:hlinkClick r:id="rId6"/>
              </a:rPr>
              <a:t>http://www.omgwiki.org/MBSE/lib/exe/fetch.php?media=mbse:patterns:incose_patterns_wg_st4se_project_tpp_v2.0_sig </a:t>
            </a:r>
            <a:r>
              <a:rPr dirty="0" sz="1800" spc="-10">
                <a:solidFill>
                  <a:srgbClr val="944F71"/>
                </a:solidFill>
                <a:latin typeface="Carlito"/>
                <a:cs typeface="Carlito"/>
                <a:hlinkClick r:id="rId6"/>
              </a:rPr>
              <a:t> </a:t>
            </a:r>
            <a:r>
              <a:rPr dirty="0" u="heavy" sz="1800">
                <a:solidFill>
                  <a:srgbClr val="944F71"/>
                </a:solidFill>
                <a:uFill>
                  <a:solidFill>
                    <a:srgbClr val="944F71"/>
                  </a:solidFill>
                </a:uFill>
                <a:latin typeface="Carlito"/>
                <a:cs typeface="Carlito"/>
                <a:hlinkClick r:id="rId6"/>
              </a:rPr>
              <a:t>ned.pdf</a:t>
            </a:r>
            <a:endParaRPr sz="1800">
              <a:latin typeface="Carlito"/>
              <a:cs typeface="Carlito"/>
            </a:endParaRPr>
          </a:p>
          <a:p>
            <a:pPr marL="527685" indent="-515620">
              <a:lnSpc>
                <a:spcPts val="1839"/>
              </a:lnSpc>
              <a:spcBef>
                <a:spcPts val="345"/>
              </a:spcBef>
              <a:buFont typeface="Carlito"/>
              <a:buAutoNum type="arabicPeriod" startAt="6"/>
              <a:tabLst>
                <a:tab pos="527685" algn="l"/>
                <a:tab pos="528320" algn="l"/>
              </a:tabLst>
            </a:pPr>
            <a:r>
              <a:rPr dirty="0" sz="1800" spc="-150">
                <a:latin typeface="Arial"/>
                <a:cs typeface="Arial"/>
              </a:rPr>
              <a:t>“MBSE </a:t>
            </a:r>
            <a:r>
              <a:rPr dirty="0" sz="1800" spc="-45">
                <a:latin typeface="Arial"/>
                <a:cs typeface="Arial"/>
              </a:rPr>
              <a:t>Methodology </a:t>
            </a:r>
            <a:r>
              <a:rPr dirty="0" sz="1800" spc="-100">
                <a:latin typeface="Arial"/>
                <a:cs typeface="Arial"/>
              </a:rPr>
              <a:t>Summary: </a:t>
            </a:r>
            <a:r>
              <a:rPr dirty="0" sz="1800" spc="-90">
                <a:latin typeface="Arial"/>
                <a:cs typeface="Arial"/>
              </a:rPr>
              <a:t>Pattern</a:t>
            </a:r>
            <a:r>
              <a:rPr dirty="0" sz="1800" spc="-90">
                <a:latin typeface="Carlito"/>
                <a:cs typeface="Carlito"/>
              </a:rPr>
              <a:t>-</a:t>
            </a:r>
            <a:r>
              <a:rPr dirty="0" sz="1800" spc="-90">
                <a:latin typeface="Arial"/>
                <a:cs typeface="Arial"/>
              </a:rPr>
              <a:t>Based </a:t>
            </a:r>
            <a:r>
              <a:rPr dirty="0" sz="1800" spc="-145">
                <a:latin typeface="Arial"/>
                <a:cs typeface="Arial"/>
              </a:rPr>
              <a:t>Systems </a:t>
            </a:r>
            <a:r>
              <a:rPr dirty="0" sz="1800" spc="-95">
                <a:latin typeface="Arial"/>
                <a:cs typeface="Arial"/>
              </a:rPr>
              <a:t>Engineering </a:t>
            </a:r>
            <a:r>
              <a:rPr dirty="0" sz="1800" spc="-200">
                <a:latin typeface="Arial"/>
                <a:cs typeface="Arial"/>
              </a:rPr>
              <a:t>(PBSE), </a:t>
            </a:r>
            <a:r>
              <a:rPr dirty="0" sz="1800" spc="-145">
                <a:latin typeface="Arial"/>
                <a:cs typeface="Arial"/>
              </a:rPr>
              <a:t>Based </a:t>
            </a:r>
            <a:r>
              <a:rPr dirty="0" sz="1800" spc="-55">
                <a:latin typeface="Arial"/>
                <a:cs typeface="Arial"/>
              </a:rPr>
              <a:t>on </a:t>
            </a:r>
            <a:r>
              <a:rPr dirty="0" sz="1800" spc="-180">
                <a:latin typeface="Arial"/>
                <a:cs typeface="Arial"/>
              </a:rPr>
              <a:t>S*MBSE </a:t>
            </a:r>
            <a:r>
              <a:rPr dirty="0" sz="1800" spc="-55">
                <a:latin typeface="Arial"/>
                <a:cs typeface="Arial"/>
              </a:rPr>
              <a:t>Models”. </a:t>
            </a:r>
            <a:r>
              <a:rPr dirty="0" sz="1800" spc="-85">
                <a:latin typeface="Arial"/>
                <a:cs typeface="Arial"/>
              </a:rPr>
              <a:t>Retrieve </a:t>
            </a:r>
            <a:r>
              <a:rPr dirty="0" sz="1800" spc="-20">
                <a:latin typeface="Arial"/>
                <a:cs typeface="Arial"/>
              </a:rPr>
              <a:t>from</a:t>
            </a:r>
            <a:r>
              <a:rPr dirty="0" sz="1800" spc="-85">
                <a:latin typeface="Arial"/>
                <a:cs typeface="Arial"/>
              </a:rPr>
              <a:t> </a:t>
            </a:r>
            <a:r>
              <a:rPr dirty="0" sz="1800" spc="-105">
                <a:latin typeface="Arial"/>
                <a:cs typeface="Arial"/>
              </a:rPr>
              <a:t>–</a:t>
            </a:r>
            <a:endParaRPr sz="1800">
              <a:latin typeface="Arial"/>
              <a:cs typeface="Arial"/>
            </a:endParaRPr>
          </a:p>
          <a:p>
            <a:pPr marL="527685" marR="2126615">
              <a:lnSpc>
                <a:spcPct val="70000"/>
              </a:lnSpc>
              <a:spcBef>
                <a:spcPts val="330"/>
              </a:spcBef>
            </a:pPr>
            <a:r>
              <a:rPr dirty="0" u="heavy" sz="1800" spc="-10">
                <a:solidFill>
                  <a:srgbClr val="944F71"/>
                </a:solidFill>
                <a:uFill>
                  <a:solidFill>
                    <a:srgbClr val="944F71"/>
                  </a:solidFill>
                </a:uFill>
                <a:latin typeface="Carlito"/>
                <a:cs typeface="Carlito"/>
                <a:hlinkClick r:id="rId7"/>
              </a:rPr>
              <a:t>http://www.omgwiki.org/MBSE/lib/exe/fetch.php?media=mbse:patterns:pbse_extension_of_mbse-- </a:t>
            </a:r>
            <a:r>
              <a:rPr dirty="0" sz="1800" spc="-10">
                <a:solidFill>
                  <a:srgbClr val="944F71"/>
                </a:solidFill>
                <a:latin typeface="Carlito"/>
                <a:cs typeface="Carlito"/>
                <a:hlinkClick r:id="rId7"/>
              </a:rPr>
              <a:t> </a:t>
            </a:r>
            <a:r>
              <a:rPr dirty="0" u="heavy" sz="1800" spc="-5">
                <a:solidFill>
                  <a:srgbClr val="944F71"/>
                </a:solidFill>
                <a:uFill>
                  <a:solidFill>
                    <a:srgbClr val="944F71"/>
                  </a:solidFill>
                </a:uFill>
                <a:latin typeface="Carlito"/>
                <a:cs typeface="Carlito"/>
                <a:hlinkClick r:id="rId7"/>
              </a:rPr>
              <a:t>methodology_summary_v1.6.1.pdf</a:t>
            </a:r>
            <a:endParaRPr sz="1800">
              <a:latin typeface="Carlito"/>
              <a:cs typeface="Carlito"/>
            </a:endParaRPr>
          </a:p>
          <a:p>
            <a:pPr marL="527685" indent="-515620">
              <a:lnSpc>
                <a:spcPts val="1835"/>
              </a:lnSpc>
              <a:spcBef>
                <a:spcPts val="359"/>
              </a:spcBef>
              <a:buFont typeface="Carlito"/>
              <a:buAutoNum type="arabicPeriod" startAt="7"/>
              <a:tabLst>
                <a:tab pos="527685" algn="l"/>
                <a:tab pos="528320" algn="l"/>
              </a:tabLst>
            </a:pPr>
            <a:r>
              <a:rPr dirty="0" sz="1800" spc="-10">
                <a:latin typeface="Arial"/>
                <a:cs typeface="Arial"/>
              </a:rPr>
              <a:t>“What </a:t>
            </a:r>
            <a:r>
              <a:rPr dirty="0" sz="1800" spc="-125">
                <a:latin typeface="Arial"/>
                <a:cs typeface="Arial"/>
              </a:rPr>
              <a:t>Is </a:t>
            </a:r>
            <a:r>
              <a:rPr dirty="0" sz="1800" spc="-20">
                <a:latin typeface="Arial"/>
                <a:cs typeface="Arial"/>
              </a:rPr>
              <a:t>the </a:t>
            </a:r>
            <a:r>
              <a:rPr dirty="0" sz="1800" spc="-100">
                <a:latin typeface="Arial"/>
                <a:cs typeface="Arial"/>
              </a:rPr>
              <a:t>Smallest </a:t>
            </a:r>
            <a:r>
              <a:rPr dirty="0" sz="1800" spc="-35">
                <a:latin typeface="Arial"/>
                <a:cs typeface="Arial"/>
              </a:rPr>
              <a:t>Model </a:t>
            </a:r>
            <a:r>
              <a:rPr dirty="0" sz="1800" spc="-5">
                <a:latin typeface="Arial"/>
                <a:cs typeface="Arial"/>
              </a:rPr>
              <a:t>of </a:t>
            </a:r>
            <a:r>
              <a:rPr dirty="0" sz="1800" spc="-140">
                <a:latin typeface="Arial"/>
                <a:cs typeface="Arial"/>
              </a:rPr>
              <a:t>a </a:t>
            </a:r>
            <a:r>
              <a:rPr dirty="0" sz="1800" spc="-100">
                <a:latin typeface="Arial"/>
                <a:cs typeface="Arial"/>
              </a:rPr>
              <a:t>System?” </a:t>
            </a:r>
            <a:r>
              <a:rPr dirty="0" sz="1800" spc="-85">
                <a:latin typeface="Arial"/>
                <a:cs typeface="Arial"/>
              </a:rPr>
              <a:t>Retrieve </a:t>
            </a:r>
            <a:r>
              <a:rPr dirty="0" sz="1800" spc="-20">
                <a:latin typeface="Arial"/>
                <a:cs typeface="Arial"/>
              </a:rPr>
              <a:t>from</a:t>
            </a:r>
            <a:r>
              <a:rPr dirty="0" sz="1800" spc="-290">
                <a:latin typeface="Arial"/>
                <a:cs typeface="Arial"/>
              </a:rPr>
              <a:t> </a:t>
            </a:r>
            <a:r>
              <a:rPr dirty="0" sz="1800">
                <a:latin typeface="Carlito"/>
                <a:cs typeface="Carlito"/>
              </a:rPr>
              <a:t>--</a:t>
            </a:r>
            <a:endParaRPr sz="1800">
              <a:latin typeface="Carlito"/>
              <a:cs typeface="Carlito"/>
            </a:endParaRPr>
          </a:p>
          <a:p>
            <a:pPr marL="527685" marR="71120">
              <a:lnSpc>
                <a:spcPct val="70000"/>
              </a:lnSpc>
              <a:spcBef>
                <a:spcPts val="320"/>
              </a:spcBef>
            </a:pPr>
            <a:r>
              <a:rPr dirty="0" u="heavy" sz="1800" spc="-10">
                <a:solidFill>
                  <a:srgbClr val="944F71"/>
                </a:solidFill>
                <a:uFill>
                  <a:solidFill>
                    <a:srgbClr val="944F71"/>
                  </a:solidFill>
                </a:uFill>
                <a:latin typeface="Carlito"/>
                <a:cs typeface="Carlito"/>
                <a:hlinkClick r:id="rId8"/>
              </a:rPr>
              <a:t>http://www.omgwiki.org/MBSE/lib/exe/fetch.php?media=mbse:patterns:what_is_the_smallest_model_of_a_system_v1.4. </a:t>
            </a:r>
            <a:r>
              <a:rPr dirty="0" sz="1800" spc="-10">
                <a:solidFill>
                  <a:srgbClr val="944F71"/>
                </a:solidFill>
                <a:latin typeface="Carlito"/>
                <a:cs typeface="Carlito"/>
                <a:hlinkClick r:id="rId8"/>
              </a:rPr>
              <a:t> </a:t>
            </a:r>
            <a:r>
              <a:rPr dirty="0" u="heavy" sz="1800" spc="-5">
                <a:solidFill>
                  <a:srgbClr val="944F71"/>
                </a:solidFill>
                <a:uFill>
                  <a:solidFill>
                    <a:srgbClr val="944F71"/>
                  </a:solidFill>
                </a:uFill>
                <a:latin typeface="Carlito"/>
                <a:cs typeface="Carlito"/>
                <a:hlinkClick r:id="rId8"/>
              </a:rPr>
              <a:t>4.pdf</a:t>
            </a:r>
            <a:endParaRPr sz="1800">
              <a:latin typeface="Carlito"/>
              <a:cs typeface="Carlito"/>
            </a:endParaRPr>
          </a:p>
          <a:p>
            <a:pPr marL="527685" indent="-515620">
              <a:lnSpc>
                <a:spcPts val="2125"/>
              </a:lnSpc>
              <a:spcBef>
                <a:spcPts val="350"/>
              </a:spcBef>
              <a:buAutoNum type="arabicPeriod" startAt="8"/>
              <a:tabLst>
                <a:tab pos="527685" algn="l"/>
                <a:tab pos="528320" algn="l"/>
              </a:tabLst>
            </a:pPr>
            <a:r>
              <a:rPr dirty="0" sz="1800">
                <a:latin typeface="Carlito"/>
                <a:cs typeface="Carlito"/>
              </a:rPr>
              <a:t>MBSE </a:t>
            </a:r>
            <a:r>
              <a:rPr dirty="0" sz="1800" spc="-15">
                <a:latin typeface="Carlito"/>
                <a:cs typeface="Carlito"/>
              </a:rPr>
              <a:t>Patterns </a:t>
            </a:r>
            <a:r>
              <a:rPr dirty="0" sz="1800" spc="-20">
                <a:latin typeface="Carlito"/>
                <a:cs typeface="Carlito"/>
              </a:rPr>
              <a:t>Working </a:t>
            </a:r>
            <a:r>
              <a:rPr dirty="0" sz="1800" spc="-10">
                <a:latin typeface="Carlito"/>
                <a:cs typeface="Carlito"/>
              </a:rPr>
              <a:t>Group </a:t>
            </a:r>
            <a:r>
              <a:rPr dirty="0" sz="1800" spc="-5">
                <a:latin typeface="Carlito"/>
                <a:cs typeface="Carlito"/>
              </a:rPr>
              <a:t>web</a:t>
            </a:r>
            <a:r>
              <a:rPr dirty="0" sz="1800" spc="40">
                <a:latin typeface="Carlito"/>
                <a:cs typeface="Carlito"/>
              </a:rPr>
              <a:t> </a:t>
            </a:r>
            <a:r>
              <a:rPr dirty="0" sz="1800" spc="-10">
                <a:latin typeface="Carlito"/>
                <a:cs typeface="Carlito"/>
              </a:rPr>
              <a:t>sites:</a:t>
            </a:r>
            <a:endParaRPr sz="1800">
              <a:latin typeface="Carlito"/>
              <a:cs typeface="Carlito"/>
            </a:endParaRPr>
          </a:p>
          <a:p>
            <a:pPr lvl="1" marL="698500" indent="-228600">
              <a:lnSpc>
                <a:spcPts val="1845"/>
              </a:lnSpc>
              <a:buFont typeface="Arial"/>
              <a:buChar char="•"/>
              <a:tabLst>
                <a:tab pos="697865" algn="l"/>
                <a:tab pos="698500" algn="l"/>
              </a:tabLst>
            </a:pPr>
            <a:r>
              <a:rPr dirty="0" sz="1600" spc="-10">
                <a:latin typeface="Carlito"/>
                <a:cs typeface="Carlito"/>
              </a:rPr>
              <a:t>Public-facing </a:t>
            </a:r>
            <a:r>
              <a:rPr dirty="0" sz="1600" spc="-5">
                <a:latin typeface="Carlito"/>
                <a:cs typeface="Carlito"/>
              </a:rPr>
              <a:t>(main </a:t>
            </a:r>
            <a:r>
              <a:rPr dirty="0" sz="1600" spc="-10">
                <a:latin typeface="Carlito"/>
                <a:cs typeface="Carlito"/>
              </a:rPr>
              <a:t>resources, INCOSE joint </a:t>
            </a:r>
            <a:r>
              <a:rPr dirty="0" sz="1600" spc="-5">
                <a:latin typeface="Carlito"/>
                <a:cs typeface="Carlito"/>
              </a:rPr>
              <a:t>with </a:t>
            </a:r>
            <a:r>
              <a:rPr dirty="0" sz="1600" spc="-10">
                <a:latin typeface="Carlito"/>
                <a:cs typeface="Carlito"/>
              </a:rPr>
              <a:t>OMG):</a:t>
            </a:r>
            <a:r>
              <a:rPr dirty="0" sz="1600" spc="145">
                <a:solidFill>
                  <a:srgbClr val="944F71"/>
                </a:solidFill>
                <a:latin typeface="Carlito"/>
                <a:cs typeface="Carlito"/>
              </a:rPr>
              <a:t> </a:t>
            </a:r>
            <a:r>
              <a:rPr dirty="0" u="heavy" sz="1600" spc="-10">
                <a:solidFill>
                  <a:srgbClr val="944F71"/>
                </a:solidFill>
                <a:uFill>
                  <a:solidFill>
                    <a:srgbClr val="944F71"/>
                  </a:solidFill>
                </a:uFill>
                <a:latin typeface="Carlito"/>
                <a:cs typeface="Carlito"/>
                <a:hlinkClick r:id="rId9"/>
              </a:rPr>
              <a:t>http://www.omgwiki.org/MBSE/doku.php?id=mbse:patterns:patterns</a:t>
            </a:r>
            <a:endParaRPr sz="1600">
              <a:latin typeface="Carlito"/>
              <a:cs typeface="Carlito"/>
            </a:endParaRPr>
          </a:p>
          <a:p>
            <a:pPr lvl="1" marL="698500" indent="-228600">
              <a:lnSpc>
                <a:spcPts val="1885"/>
              </a:lnSpc>
              <a:buFont typeface="Arial"/>
              <a:buChar char="•"/>
              <a:tabLst>
                <a:tab pos="697865" algn="l"/>
                <a:tab pos="698500" algn="l"/>
              </a:tabLst>
            </a:pPr>
            <a:r>
              <a:rPr dirty="0" sz="1600" spc="-10">
                <a:latin typeface="Carlito"/>
                <a:cs typeface="Carlito"/>
              </a:rPr>
              <a:t>Inward-facing (incose.org):</a:t>
            </a:r>
            <a:r>
              <a:rPr dirty="0" sz="1600" spc="60">
                <a:solidFill>
                  <a:srgbClr val="944F71"/>
                </a:solidFill>
                <a:latin typeface="Carlito"/>
                <a:cs typeface="Carlito"/>
              </a:rPr>
              <a:t> </a:t>
            </a:r>
            <a:r>
              <a:rPr dirty="0" u="heavy" sz="1600" spc="-10">
                <a:solidFill>
                  <a:srgbClr val="944F71"/>
                </a:solidFill>
                <a:uFill>
                  <a:solidFill>
                    <a:srgbClr val="944F71"/>
                  </a:solidFill>
                </a:uFill>
                <a:latin typeface="Carlito"/>
                <a:cs typeface="Carlito"/>
                <a:hlinkClick r:id="rId10"/>
              </a:rPr>
              <a:t>https://www.incose.org/incose-member-resources/working-groups/transformational/mbse-patterns</a:t>
            </a:r>
            <a:endParaRPr sz="16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WSchindel</dc:creator>
  <dc:title>PowerPoint Presentation</dc:title>
  <dcterms:created xsi:type="dcterms:W3CDTF">2021-03-04T12:51:54Z</dcterms:created>
  <dcterms:modified xsi:type="dcterms:W3CDTF">2021-03-04T12:51:54Z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2021-01-29T00:00:00Z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2021-03-04T00:00:00Z</vt:filetime>
  </property>
</Properties>
</file>
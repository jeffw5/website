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971B1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41404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971B1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19124" y="1560702"/>
            <a:ext cx="4690745" cy="4227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1404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971B1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292848"/>
            <a:ext cx="12198095" cy="56514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1029246" y="32052"/>
            <a:ext cx="1168849" cy="9432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273283" y="4818888"/>
            <a:ext cx="1924811" cy="18303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0772" y="238124"/>
            <a:ext cx="10296804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971B1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9124" y="1524127"/>
            <a:ext cx="10702290" cy="3973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41404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203178" y="6420406"/>
            <a:ext cx="302259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incose.org/iw2021/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joselfernandez@telefonica.net" TargetMode="External"/><Relationship Id="rId3" Type="http://schemas.openxmlformats.org/officeDocument/2006/relationships/hyperlink" Target="mailto:juanan.martinez@uah.es" TargetMode="External"/><Relationship Id="rId4" Type="http://schemas.openxmlformats.org/officeDocument/2006/relationships/hyperlink" Target="mailto:efren.diez@uah.es" TargetMode="External"/><Relationship Id="rId5" Type="http://schemas.openxmlformats.org/officeDocument/2006/relationships/hyperlink" Target="http://www.incose.org/iw2021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incose.org/iw2021/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incose.org/iw2021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incose.org/iw2021/" TargetMode="External"/><Relationship Id="rId3" Type="http://schemas.openxmlformats.org/officeDocument/2006/relationships/image" Target="../media/image26.png"/><Relationship Id="rId4" Type="http://schemas.openxmlformats.org/officeDocument/2006/relationships/image" Target="../media/image6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708" y="6435344"/>
            <a:ext cx="27565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414042"/>
                </a:solidFill>
                <a:latin typeface="Arial"/>
                <a:cs typeface="Arial"/>
                <a:hlinkClick r:id="rId2"/>
              </a:rPr>
              <a:t>www.incose.org/iw2021/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6127" y="5480134"/>
            <a:ext cx="3142615" cy="144145"/>
            <a:chOff x="326127" y="5480134"/>
            <a:chExt cx="3142615" cy="144145"/>
          </a:xfrm>
        </p:grpSpPr>
        <p:sp>
          <p:nvSpPr>
            <p:cNvPr id="4" name="object 4"/>
            <p:cNvSpPr/>
            <p:nvPr/>
          </p:nvSpPr>
          <p:spPr>
            <a:xfrm>
              <a:off x="326127" y="5480134"/>
              <a:ext cx="3142540" cy="1435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59663" y="5532119"/>
              <a:ext cx="3074035" cy="0"/>
            </a:xfrm>
            <a:custGeom>
              <a:avLst/>
              <a:gdLst/>
              <a:ahLst/>
              <a:cxnLst/>
              <a:rect l="l" t="t" r="r" b="b"/>
              <a:pathLst>
                <a:path w="3074035" h="0">
                  <a:moveTo>
                    <a:pt x="0" y="0"/>
                  </a:moveTo>
                  <a:lnTo>
                    <a:pt x="3074035" y="0"/>
                  </a:lnTo>
                </a:path>
              </a:pathLst>
            </a:custGeom>
            <a:ln w="76200">
              <a:solidFill>
                <a:srgbClr val="971B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9781031" y="4783835"/>
            <a:ext cx="2417063" cy="20741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888471" y="5605678"/>
            <a:ext cx="119443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414042"/>
                </a:solidFill>
                <a:latin typeface="Arial Black"/>
                <a:cs typeface="Arial Black"/>
              </a:rPr>
              <a:t>Lightning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720851"/>
            <a:ext cx="12173712" cy="16550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69188" y="4523943"/>
            <a:ext cx="10997565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971B1E"/>
                </a:solidFill>
                <a:latin typeface="Arial"/>
                <a:cs typeface="Arial"/>
              </a:rPr>
              <a:t>Modeling the Mission</a:t>
            </a:r>
            <a:r>
              <a:rPr dirty="0" sz="6000" spc="-85">
                <a:solidFill>
                  <a:srgbClr val="971B1E"/>
                </a:solidFill>
                <a:latin typeface="Arial"/>
                <a:cs typeface="Arial"/>
              </a:rPr>
              <a:t> </a:t>
            </a:r>
            <a:r>
              <a:rPr dirty="0" sz="6000">
                <a:solidFill>
                  <a:srgbClr val="971B1E"/>
                </a:solidFill>
                <a:latin typeface="Arial"/>
                <a:cs typeface="Arial"/>
              </a:rPr>
              <a:t>Dimension</a:t>
            </a:r>
            <a:endParaRPr sz="6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9188" y="3948125"/>
            <a:ext cx="59575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case of an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intravascular medical</a:t>
            </a:r>
            <a:r>
              <a:rPr dirty="0" sz="2400" spc="4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device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195326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Authors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579158" y="3101720"/>
            <a:ext cx="7503159" cy="55244"/>
          </a:xfrm>
          <a:custGeom>
            <a:avLst/>
            <a:gdLst/>
            <a:ahLst/>
            <a:cxnLst/>
            <a:rect l="l" t="t" r="r" b="b"/>
            <a:pathLst>
              <a:path w="7503159" h="55244">
                <a:moveTo>
                  <a:pt x="7502613" y="0"/>
                </a:moveTo>
                <a:lnTo>
                  <a:pt x="0" y="0"/>
                </a:lnTo>
                <a:lnTo>
                  <a:pt x="0" y="54863"/>
                </a:lnTo>
                <a:lnTo>
                  <a:pt x="7502613" y="54863"/>
                </a:lnTo>
                <a:lnTo>
                  <a:pt x="750261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220" y="1388745"/>
            <a:ext cx="10273030" cy="302577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469900" marR="574675" indent="-457200">
              <a:lnSpc>
                <a:spcPts val="4430"/>
              </a:lnSpc>
              <a:spcBef>
                <a:spcPts val="66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4100" b="1">
                <a:solidFill>
                  <a:srgbClr val="414042"/>
                </a:solidFill>
                <a:latin typeface="Arial"/>
                <a:cs typeface="Arial"/>
              </a:rPr>
              <a:t>José L. Fernández, </a:t>
            </a:r>
            <a:r>
              <a:rPr dirty="0" sz="4100" spc="-5" b="1">
                <a:solidFill>
                  <a:srgbClr val="414042"/>
                </a:solidFill>
                <a:latin typeface="Arial"/>
                <a:cs typeface="Arial"/>
              </a:rPr>
              <a:t>independent  </a:t>
            </a:r>
            <a:r>
              <a:rPr dirty="0" sz="4100" b="1">
                <a:solidFill>
                  <a:srgbClr val="414042"/>
                </a:solidFill>
                <a:latin typeface="Arial"/>
                <a:cs typeface="Arial"/>
              </a:rPr>
              <a:t>consultant and MBSE</a:t>
            </a:r>
            <a:r>
              <a:rPr dirty="0" sz="4100" spc="-105" b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100" spc="-5" b="1">
                <a:solidFill>
                  <a:srgbClr val="414042"/>
                </a:solidFill>
                <a:latin typeface="Arial"/>
                <a:cs typeface="Arial"/>
              </a:rPr>
              <a:t>methodologist, </a:t>
            </a:r>
            <a:r>
              <a:rPr dirty="0" sz="4100" spc="-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4100" spc="-5" b="1">
                <a:solidFill>
                  <a:srgbClr val="0000FF"/>
                </a:solidFill>
                <a:latin typeface="Arial"/>
                <a:cs typeface="Arial"/>
                <a:hlinkClick r:id="rId2"/>
              </a:rPr>
              <a:t>joselfernandez@telefonica.net</a:t>
            </a:r>
            <a:endParaRPr sz="4100">
              <a:latin typeface="Arial"/>
              <a:cs typeface="Arial"/>
            </a:endParaRPr>
          </a:p>
          <a:p>
            <a:pPr marL="469900" marR="5080" indent="-457200">
              <a:lnSpc>
                <a:spcPts val="4430"/>
              </a:lnSpc>
              <a:spcBef>
                <a:spcPts val="98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4100" b="1">
                <a:solidFill>
                  <a:srgbClr val="414042"/>
                </a:solidFill>
                <a:latin typeface="Arial"/>
                <a:cs typeface="Arial"/>
              </a:rPr>
              <a:t>Juan A. Martínez, Universidad de</a:t>
            </a:r>
            <a:r>
              <a:rPr dirty="0" sz="4100" spc="-495" b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100" b="1">
                <a:solidFill>
                  <a:srgbClr val="414042"/>
                </a:solidFill>
                <a:latin typeface="Arial"/>
                <a:cs typeface="Arial"/>
              </a:rPr>
              <a:t>Alcalá  (Spain),</a:t>
            </a:r>
            <a:r>
              <a:rPr dirty="0" sz="4100" spc="-45" b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100" spc="-5" b="1">
                <a:solidFill>
                  <a:srgbClr val="0000FF"/>
                </a:solidFill>
                <a:latin typeface="Arial"/>
                <a:cs typeface="Arial"/>
                <a:hlinkClick r:id="rId3"/>
              </a:rPr>
              <a:t>juanan.martinez@uah.es</a:t>
            </a:r>
            <a:endParaRPr sz="4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30423" y="4351401"/>
            <a:ext cx="6117590" cy="55244"/>
          </a:xfrm>
          <a:custGeom>
            <a:avLst/>
            <a:gdLst/>
            <a:ahLst/>
            <a:cxnLst/>
            <a:rect l="l" t="t" r="r" b="b"/>
            <a:pathLst>
              <a:path w="6117590" h="55245">
                <a:moveTo>
                  <a:pt x="6117335" y="0"/>
                </a:moveTo>
                <a:lnTo>
                  <a:pt x="0" y="0"/>
                </a:lnTo>
                <a:lnTo>
                  <a:pt x="0" y="54863"/>
                </a:lnTo>
                <a:lnTo>
                  <a:pt x="6117335" y="54863"/>
                </a:lnTo>
                <a:lnTo>
                  <a:pt x="6117335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9220" y="4451096"/>
            <a:ext cx="10756900" cy="121348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469900" marR="5080" indent="-457200">
              <a:lnSpc>
                <a:spcPts val="4430"/>
              </a:lnSpc>
              <a:spcBef>
                <a:spcPts val="66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4100" b="1">
                <a:solidFill>
                  <a:srgbClr val="414042"/>
                </a:solidFill>
                <a:latin typeface="Arial"/>
                <a:cs typeface="Arial"/>
              </a:rPr>
              <a:t>Efrén Diez, Universidad de Alcalá</a:t>
            </a:r>
            <a:r>
              <a:rPr dirty="0" sz="4100" spc="-330" b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100" b="1">
                <a:solidFill>
                  <a:srgbClr val="414042"/>
                </a:solidFill>
                <a:latin typeface="Arial"/>
                <a:cs typeface="Arial"/>
              </a:rPr>
              <a:t>(Spain), </a:t>
            </a:r>
            <a:r>
              <a:rPr dirty="0" sz="410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4100" spc="-5" b="1">
                <a:solidFill>
                  <a:srgbClr val="0000FF"/>
                </a:solidFill>
                <a:latin typeface="Arial"/>
                <a:cs typeface="Arial"/>
                <a:hlinkClick r:id="rId4"/>
              </a:rPr>
              <a:t>efren.diez@uah.es</a:t>
            </a:r>
            <a:endParaRPr sz="4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9158" y="5601030"/>
            <a:ext cx="4585970" cy="55244"/>
          </a:xfrm>
          <a:custGeom>
            <a:avLst/>
            <a:gdLst/>
            <a:ahLst/>
            <a:cxnLst/>
            <a:rect l="l" t="t" r="r" b="b"/>
            <a:pathLst>
              <a:path w="4585970" h="55245">
                <a:moveTo>
                  <a:pt x="4585677" y="0"/>
                </a:moveTo>
                <a:lnTo>
                  <a:pt x="0" y="0"/>
                </a:lnTo>
                <a:lnTo>
                  <a:pt x="0" y="54863"/>
                </a:lnTo>
                <a:lnTo>
                  <a:pt x="4585677" y="54863"/>
                </a:lnTo>
                <a:lnTo>
                  <a:pt x="458567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00371" y="6401206"/>
            <a:ext cx="21964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929292"/>
                </a:solidFill>
                <a:latin typeface="Arial"/>
                <a:cs typeface="Arial"/>
                <a:hlinkClick r:id="rId5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41354" y="6401206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195389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Agenda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719124" y="1546986"/>
            <a:ext cx="10345420" cy="426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Intravascular Medical </a:t>
            </a: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Device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(IMD)</a:t>
            </a:r>
            <a:r>
              <a:rPr dirty="0" sz="3000" spc="-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project</a:t>
            </a:r>
            <a:endParaRPr sz="3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three </a:t>
            </a: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dimensions of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ISE&amp;PPOOA </a:t>
            </a: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MBSE</a:t>
            </a:r>
            <a:r>
              <a:rPr dirty="0" sz="3000" spc="-204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methodology</a:t>
            </a:r>
            <a:endParaRPr sz="3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IMD </a:t>
            </a: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mission dimension</a:t>
            </a:r>
            <a:r>
              <a:rPr dirty="0" sz="3000" spc="-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goals</a:t>
            </a:r>
            <a:endParaRPr sz="3000">
              <a:latin typeface="Arial"/>
              <a:cs typeface="Arial"/>
            </a:endParaRPr>
          </a:p>
          <a:p>
            <a:pPr marL="469900" marR="1403350" indent="-457834">
              <a:lnSpc>
                <a:spcPts val="2880"/>
              </a:lnSpc>
              <a:spcBef>
                <a:spcPts val="69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Application of the ISE&amp;PPOOA Mission</a:t>
            </a:r>
            <a:r>
              <a:rPr dirty="0" sz="3000" spc="-29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dimension  subprocess</a:t>
            </a:r>
            <a:endParaRPr sz="30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40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IMD context</a:t>
            </a:r>
            <a:r>
              <a:rPr dirty="0" sz="2600" spc="-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diagram</a:t>
            </a:r>
            <a:endParaRPr sz="26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IMD mission use cases and</a:t>
            </a:r>
            <a:r>
              <a:rPr dirty="0" sz="2600" spc="-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scenarios</a:t>
            </a:r>
            <a:endParaRPr sz="26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IMD operational</a:t>
            </a:r>
            <a:r>
              <a:rPr dirty="0" sz="2600" spc="-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needs</a:t>
            </a:r>
            <a:endParaRPr sz="2600">
              <a:latin typeface="Arial"/>
              <a:cs typeface="Arial"/>
            </a:endParaRPr>
          </a:p>
          <a:p>
            <a:pPr lvl="1" marL="1003300" indent="-381635">
              <a:lnSpc>
                <a:spcPts val="3115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IMD</a:t>
            </a:r>
            <a:r>
              <a:rPr dirty="0" sz="2600" spc="-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interfaces</a:t>
            </a:r>
            <a:endParaRPr sz="2600">
              <a:latin typeface="Arial"/>
              <a:cs typeface="Arial"/>
            </a:endParaRPr>
          </a:p>
          <a:p>
            <a:pPr marL="469900" indent="-457834">
              <a:lnSpc>
                <a:spcPts val="3595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3000" spc="-170">
                <a:solidFill>
                  <a:srgbClr val="414042"/>
                </a:solidFill>
                <a:latin typeface="Arial"/>
                <a:cs typeface="Arial"/>
              </a:rPr>
              <a:t>To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conclude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10976" y="635640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1536319"/>
            <a:ext cx="11353800" cy="458152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469900" marR="1326515" indent="-457834">
              <a:lnSpc>
                <a:spcPct val="80000"/>
              </a:lnSpc>
              <a:spcBef>
                <a:spcPts val="89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This research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aims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develop a </a:t>
            </a:r>
            <a:r>
              <a:rPr dirty="0" sz="3300" b="1">
                <a:solidFill>
                  <a:srgbClr val="414042"/>
                </a:solidFill>
                <a:latin typeface="Arial"/>
                <a:cs typeface="Arial"/>
              </a:rPr>
              <a:t>micrometric-size  robotic </a:t>
            </a:r>
            <a:r>
              <a:rPr dirty="0" sz="3300" spc="-5" b="1">
                <a:solidFill>
                  <a:srgbClr val="414042"/>
                </a:solidFill>
                <a:latin typeface="Arial"/>
                <a:cs typeface="Arial"/>
              </a:rPr>
              <a:t>joint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, enabling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the creation of</a:t>
            </a:r>
            <a:r>
              <a:rPr dirty="0" sz="3300" spc="-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micro-robotic  complex mechanisms for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minimally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invasive micro-  surgery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techniques and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in-vivo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health</a:t>
            </a:r>
            <a:r>
              <a:rPr dirty="0" sz="3300" spc="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treatments.</a:t>
            </a:r>
            <a:endParaRPr sz="3300">
              <a:latin typeface="Arial"/>
              <a:cs typeface="Arial"/>
            </a:endParaRPr>
          </a:p>
          <a:p>
            <a:pPr marL="469900" marR="970280" indent="-457834">
              <a:lnSpc>
                <a:spcPct val="80000"/>
              </a:lnSpc>
              <a:spcBef>
                <a:spcPts val="79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robotic joint will contain a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micro-motor connected  to a new type of long-lasting</a:t>
            </a:r>
            <a:r>
              <a:rPr dirty="0" sz="3300" spc="-5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gearbox.</a:t>
            </a:r>
            <a:endParaRPr sz="3300">
              <a:latin typeface="Arial"/>
              <a:cs typeface="Arial"/>
            </a:endParaRPr>
          </a:p>
          <a:p>
            <a:pPr marL="469900" marR="780415" indent="-457834">
              <a:lnSpc>
                <a:spcPts val="3170"/>
              </a:lnSpc>
              <a:spcBef>
                <a:spcPts val="765"/>
              </a:spcBef>
              <a:buClr>
                <a:srgbClr val="414042"/>
              </a:buClr>
              <a:buFont typeface="Arial"/>
              <a:buChar char="•"/>
              <a:tabLst>
                <a:tab pos="562610" algn="l"/>
                <a:tab pos="563245" algn="l"/>
              </a:tabLst>
            </a:pPr>
            <a:r>
              <a:rPr dirty="0"/>
              <a:t>	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A very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important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issue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is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that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the robotic joint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(motor</a:t>
            </a:r>
            <a:r>
              <a:rPr dirty="0" sz="3300" spc="-16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+ 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gear) will be </a:t>
            </a:r>
            <a:r>
              <a:rPr dirty="0" sz="3300" b="1">
                <a:solidFill>
                  <a:srgbClr val="414042"/>
                </a:solidFill>
                <a:latin typeface="Arial"/>
                <a:cs typeface="Arial"/>
              </a:rPr>
              <a:t>wireless powered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, thus providing long  endurance to any tool or micro-robot activated by</a:t>
            </a:r>
            <a:r>
              <a:rPr dirty="0" sz="3300" spc="-8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it</a:t>
            </a:r>
            <a:endParaRPr sz="3300">
              <a:latin typeface="Arial"/>
              <a:cs typeface="Arial"/>
            </a:endParaRPr>
          </a:p>
          <a:p>
            <a:pPr marL="10429240">
              <a:lnSpc>
                <a:spcPts val="1635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042924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734313"/>
            <a:ext cx="106203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The </a:t>
            </a:r>
            <a:r>
              <a:rPr dirty="0"/>
              <a:t>Intravascular </a:t>
            </a:r>
            <a:r>
              <a:rPr dirty="0" spc="-5"/>
              <a:t>Medical Device (IMD)</a:t>
            </a:r>
            <a:r>
              <a:rPr dirty="0" spc="100"/>
              <a:t> </a:t>
            </a:r>
            <a:r>
              <a:rPr dirty="0" spc="-5"/>
              <a:t>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The three dimensions of ISE&amp;PPOOA</a:t>
            </a:r>
            <a:r>
              <a:rPr dirty="0" spc="-190"/>
              <a:t> </a:t>
            </a:r>
            <a:r>
              <a:rPr dirty="0" spc="-10"/>
              <a:t>MBSE  </a:t>
            </a:r>
            <a:r>
              <a:rPr dirty="0" spc="-5"/>
              <a:t>methodology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38555" y="1693164"/>
            <a:ext cx="2851785" cy="1763395"/>
            <a:chOff x="638555" y="1693164"/>
            <a:chExt cx="2851785" cy="1763395"/>
          </a:xfrm>
        </p:grpSpPr>
        <p:sp>
          <p:nvSpPr>
            <p:cNvPr id="5" name="object 5"/>
            <p:cNvSpPr/>
            <p:nvPr/>
          </p:nvSpPr>
          <p:spPr>
            <a:xfrm>
              <a:off x="651509" y="1706118"/>
              <a:ext cx="2825750" cy="1737360"/>
            </a:xfrm>
            <a:custGeom>
              <a:avLst/>
              <a:gdLst/>
              <a:ahLst/>
              <a:cxnLst/>
              <a:rect l="l" t="t" r="r" b="b"/>
              <a:pathLst>
                <a:path w="2825750" h="1737360">
                  <a:moveTo>
                    <a:pt x="2825495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2825495" y="1737360"/>
                  </a:lnTo>
                  <a:lnTo>
                    <a:pt x="2825495" y="0"/>
                  </a:lnTo>
                  <a:close/>
                </a:path>
              </a:pathLst>
            </a:custGeom>
            <a:solidFill>
              <a:srgbClr val="97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51509" y="1706118"/>
              <a:ext cx="2825750" cy="1737360"/>
            </a:xfrm>
            <a:custGeom>
              <a:avLst/>
              <a:gdLst/>
              <a:ahLst/>
              <a:cxnLst/>
              <a:rect l="l" t="t" r="r" b="b"/>
              <a:pathLst>
                <a:path w="2825750" h="1737360">
                  <a:moveTo>
                    <a:pt x="0" y="1737360"/>
                  </a:moveTo>
                  <a:lnTo>
                    <a:pt x="2825495" y="1737360"/>
                  </a:lnTo>
                  <a:lnTo>
                    <a:pt x="2825495" y="0"/>
                  </a:lnTo>
                  <a:lnTo>
                    <a:pt x="0" y="0"/>
                  </a:lnTo>
                  <a:lnTo>
                    <a:pt x="0" y="173736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51509" y="1706117"/>
            <a:ext cx="2825750" cy="1737360"/>
          </a:xfrm>
          <a:prstGeom prst="rect">
            <a:avLst/>
          </a:prstGeom>
        </p:spPr>
        <p:txBody>
          <a:bodyPr wrap="square" lIns="0" tIns="38290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3015"/>
              </a:spcBef>
            </a:pPr>
            <a:r>
              <a:rPr dirty="0" sz="5500" spc="-5">
                <a:solidFill>
                  <a:srgbClr val="FFFFFF"/>
                </a:solidFill>
                <a:latin typeface="Arial"/>
                <a:cs typeface="Arial"/>
              </a:rPr>
              <a:t>Mission</a:t>
            </a:r>
            <a:endParaRPr sz="5500">
              <a:latin typeface="Arial"/>
              <a:cs typeface="Arial"/>
            </a:endParaRPr>
          </a:p>
          <a:p>
            <a:pPr marL="281305">
              <a:lnSpc>
                <a:spcPct val="100000"/>
              </a:lnSpc>
              <a:spcBef>
                <a:spcPts val="5"/>
              </a:spcBef>
            </a:pPr>
            <a:r>
              <a:rPr dirty="0" sz="1800" spc="-5">
                <a:solidFill>
                  <a:srgbClr val="FFFFFF"/>
                </a:solidFill>
                <a:latin typeface="Carlito"/>
                <a:cs typeface="Carlito"/>
              </a:rPr>
              <a:t>Context+scenarios+needs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0064" y="2590800"/>
            <a:ext cx="3662679" cy="1964689"/>
            <a:chOff x="3560064" y="2590800"/>
            <a:chExt cx="3662679" cy="1964689"/>
          </a:xfrm>
        </p:grpSpPr>
        <p:sp>
          <p:nvSpPr>
            <p:cNvPr id="9" name="object 9"/>
            <p:cNvSpPr/>
            <p:nvPr/>
          </p:nvSpPr>
          <p:spPr>
            <a:xfrm>
              <a:off x="3573018" y="2603753"/>
              <a:ext cx="3636645" cy="1938655"/>
            </a:xfrm>
            <a:custGeom>
              <a:avLst/>
              <a:gdLst/>
              <a:ahLst/>
              <a:cxnLst/>
              <a:rect l="l" t="t" r="r" b="b"/>
              <a:pathLst>
                <a:path w="3636645" h="1938654">
                  <a:moveTo>
                    <a:pt x="3636264" y="0"/>
                  </a:moveTo>
                  <a:lnTo>
                    <a:pt x="0" y="0"/>
                  </a:lnTo>
                  <a:lnTo>
                    <a:pt x="0" y="1938528"/>
                  </a:lnTo>
                  <a:lnTo>
                    <a:pt x="3636264" y="1938528"/>
                  </a:lnTo>
                  <a:lnTo>
                    <a:pt x="3636264" y="0"/>
                  </a:lnTo>
                  <a:close/>
                </a:path>
              </a:pathLst>
            </a:custGeom>
            <a:solidFill>
              <a:srgbClr val="97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73018" y="2603753"/>
              <a:ext cx="3636645" cy="1938655"/>
            </a:xfrm>
            <a:custGeom>
              <a:avLst/>
              <a:gdLst/>
              <a:ahLst/>
              <a:cxnLst/>
              <a:rect l="l" t="t" r="r" b="b"/>
              <a:pathLst>
                <a:path w="3636645" h="1938654">
                  <a:moveTo>
                    <a:pt x="0" y="1938528"/>
                  </a:moveTo>
                  <a:lnTo>
                    <a:pt x="3636264" y="1938528"/>
                  </a:lnTo>
                  <a:lnTo>
                    <a:pt x="3636264" y="0"/>
                  </a:lnTo>
                  <a:lnTo>
                    <a:pt x="0" y="0"/>
                  </a:lnTo>
                  <a:lnTo>
                    <a:pt x="0" y="193852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573017" y="2603754"/>
            <a:ext cx="3636645" cy="1938655"/>
          </a:xfrm>
          <a:prstGeom prst="rect">
            <a:avLst/>
          </a:prstGeom>
        </p:spPr>
        <p:txBody>
          <a:bodyPr wrap="square" lIns="0" tIns="4838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810"/>
              </a:spcBef>
            </a:pPr>
            <a:r>
              <a:rPr dirty="0" sz="5500" spc="-5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5500">
              <a:latin typeface="Arial"/>
              <a:cs typeface="Arial"/>
            </a:endParaRPr>
          </a:p>
          <a:p>
            <a:pPr algn="ctr" marL="19685">
              <a:lnSpc>
                <a:spcPct val="100000"/>
              </a:lnSpc>
              <a:spcBef>
                <a:spcPts val="220"/>
              </a:spcBef>
            </a:pPr>
            <a:r>
              <a:rPr dirty="0" sz="1800" spc="-15">
                <a:solidFill>
                  <a:srgbClr val="FFFFFF"/>
                </a:solidFill>
                <a:latin typeface="Carlito"/>
                <a:cs typeface="Carlito"/>
              </a:rPr>
              <a:t>Sys.</a:t>
            </a:r>
            <a:r>
              <a:rPr dirty="0" sz="1800" spc="-35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Carlito"/>
                <a:cs typeface="Carlito"/>
              </a:rPr>
              <a:t>requirements+functions+parts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318247" y="3767328"/>
            <a:ext cx="3412490" cy="2127885"/>
            <a:chOff x="7318247" y="3767328"/>
            <a:chExt cx="3412490" cy="2127885"/>
          </a:xfrm>
        </p:grpSpPr>
        <p:sp>
          <p:nvSpPr>
            <p:cNvPr id="13" name="object 13"/>
            <p:cNvSpPr/>
            <p:nvPr/>
          </p:nvSpPr>
          <p:spPr>
            <a:xfrm>
              <a:off x="7331201" y="3780282"/>
              <a:ext cx="3386454" cy="2101850"/>
            </a:xfrm>
            <a:custGeom>
              <a:avLst/>
              <a:gdLst/>
              <a:ahLst/>
              <a:cxnLst/>
              <a:rect l="l" t="t" r="r" b="b"/>
              <a:pathLst>
                <a:path w="3386454" h="2101850">
                  <a:moveTo>
                    <a:pt x="3386328" y="0"/>
                  </a:moveTo>
                  <a:lnTo>
                    <a:pt x="0" y="0"/>
                  </a:lnTo>
                  <a:lnTo>
                    <a:pt x="0" y="2101595"/>
                  </a:lnTo>
                  <a:lnTo>
                    <a:pt x="3386328" y="2101595"/>
                  </a:lnTo>
                  <a:lnTo>
                    <a:pt x="3386328" y="0"/>
                  </a:lnTo>
                  <a:close/>
                </a:path>
              </a:pathLst>
            </a:custGeom>
            <a:solidFill>
              <a:srgbClr val="97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331201" y="3780282"/>
              <a:ext cx="3386454" cy="2101850"/>
            </a:xfrm>
            <a:custGeom>
              <a:avLst/>
              <a:gdLst/>
              <a:ahLst/>
              <a:cxnLst/>
              <a:rect l="l" t="t" r="r" b="b"/>
              <a:pathLst>
                <a:path w="3386454" h="2101850">
                  <a:moveTo>
                    <a:pt x="0" y="2101595"/>
                  </a:moveTo>
                  <a:lnTo>
                    <a:pt x="3386328" y="2101595"/>
                  </a:lnTo>
                  <a:lnTo>
                    <a:pt x="3386328" y="0"/>
                  </a:lnTo>
                  <a:lnTo>
                    <a:pt x="0" y="0"/>
                  </a:lnTo>
                  <a:lnTo>
                    <a:pt x="0" y="2101595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331202" y="3780282"/>
            <a:ext cx="3386454" cy="2101850"/>
          </a:xfrm>
          <a:prstGeom prst="rect">
            <a:avLst/>
          </a:prstGeom>
        </p:spPr>
        <p:txBody>
          <a:bodyPr wrap="square" lIns="0" tIns="565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55"/>
              </a:spcBef>
            </a:pPr>
            <a:r>
              <a:rPr dirty="0" sz="5500" spc="-5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5500">
              <a:latin typeface="Arial"/>
              <a:cs typeface="Arial"/>
            </a:endParaRPr>
          </a:p>
          <a:p>
            <a:pPr algn="ctr" marR="45720">
              <a:lnSpc>
                <a:spcPct val="100000"/>
              </a:lnSpc>
              <a:spcBef>
                <a:spcPts val="1270"/>
              </a:spcBef>
            </a:pPr>
            <a:r>
              <a:rPr dirty="0" sz="1800" spc="-10">
                <a:solidFill>
                  <a:srgbClr val="FFFFFF"/>
                </a:solidFill>
                <a:latin typeface="Carlito"/>
                <a:cs typeface="Carlito"/>
              </a:rPr>
              <a:t>Sw </a:t>
            </a:r>
            <a:r>
              <a:rPr dirty="0" sz="1800" spc="-5">
                <a:solidFill>
                  <a:srgbClr val="FFFFFF"/>
                </a:solidFill>
                <a:latin typeface="Carlito"/>
                <a:cs typeface="Carlito"/>
              </a:rPr>
              <a:t>requirements+sw</a:t>
            </a:r>
            <a:r>
              <a:rPr dirty="0" sz="1800" spc="-9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Carlito"/>
                <a:cs typeface="Carlito"/>
              </a:rPr>
              <a:t>components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841629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The IMD mission dimension</a:t>
            </a:r>
            <a:r>
              <a:rPr dirty="0" sz="4400" spc="-80"/>
              <a:t> </a:t>
            </a:r>
            <a:r>
              <a:rPr dirty="0" sz="4400"/>
              <a:t>goals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719124" y="1196721"/>
            <a:ext cx="9801225" cy="35642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9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4300" spc="-5">
                <a:solidFill>
                  <a:srgbClr val="414042"/>
                </a:solidFill>
                <a:latin typeface="Arial"/>
                <a:cs typeface="Arial"/>
              </a:rPr>
              <a:t>Based on how </a:t>
            </a:r>
            <a:r>
              <a:rPr dirty="0" sz="4300" spc="-1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4300" spc="-5">
                <a:solidFill>
                  <a:srgbClr val="414042"/>
                </a:solidFill>
                <a:latin typeface="Arial"/>
                <a:cs typeface="Arial"/>
              </a:rPr>
              <a:t>system is </a:t>
            </a:r>
            <a:r>
              <a:rPr dirty="0" sz="4300" spc="-5" b="1">
                <a:solidFill>
                  <a:srgbClr val="414042"/>
                </a:solidFill>
                <a:latin typeface="Arial"/>
                <a:cs typeface="Arial"/>
              </a:rPr>
              <a:t>used in a  context</a:t>
            </a:r>
            <a:endParaRPr sz="4300">
              <a:latin typeface="Arial"/>
              <a:cs typeface="Arial"/>
            </a:endParaRPr>
          </a:p>
          <a:p>
            <a:pPr marL="469900" marR="306705" indent="-457834">
              <a:lnSpc>
                <a:spcPct val="100000"/>
              </a:lnSpc>
              <a:spcBef>
                <a:spcPts val="103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4300" spc="-5">
                <a:solidFill>
                  <a:srgbClr val="414042"/>
                </a:solidFill>
                <a:latin typeface="Arial"/>
                <a:cs typeface="Arial"/>
              </a:rPr>
              <a:t>Identify the </a:t>
            </a:r>
            <a:r>
              <a:rPr dirty="0" sz="4300" spc="-5" b="1">
                <a:solidFill>
                  <a:srgbClr val="414042"/>
                </a:solidFill>
                <a:latin typeface="Arial"/>
                <a:cs typeface="Arial"/>
              </a:rPr>
              <a:t>operational needs </a:t>
            </a:r>
            <a:r>
              <a:rPr dirty="0" sz="4300" spc="-5">
                <a:solidFill>
                  <a:srgbClr val="414042"/>
                </a:solidFill>
                <a:latin typeface="Arial"/>
                <a:cs typeface="Arial"/>
              </a:rPr>
              <a:t>of the  diverse actors</a:t>
            </a:r>
            <a:endParaRPr sz="43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03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4300" spc="-5">
                <a:solidFill>
                  <a:srgbClr val="414042"/>
                </a:solidFill>
                <a:latin typeface="Arial"/>
                <a:cs typeface="Arial"/>
              </a:rPr>
              <a:t>Identify the </a:t>
            </a:r>
            <a:r>
              <a:rPr dirty="0" sz="4300" spc="-5" b="1">
                <a:solidFill>
                  <a:srgbClr val="414042"/>
                </a:solidFill>
                <a:latin typeface="Arial"/>
                <a:cs typeface="Arial"/>
              </a:rPr>
              <a:t>external</a:t>
            </a:r>
            <a:r>
              <a:rPr dirty="0" sz="4300" spc="45" b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300" spc="-5" b="1">
                <a:solidFill>
                  <a:srgbClr val="414042"/>
                </a:solidFill>
                <a:latin typeface="Arial"/>
                <a:cs typeface="Arial"/>
              </a:rPr>
              <a:t>interfaces</a:t>
            </a:r>
            <a:endParaRPr sz="4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9933" y="4955285"/>
            <a:ext cx="3580129" cy="1766570"/>
          </a:xfrm>
          <a:prstGeom prst="rect">
            <a:avLst/>
          </a:prstGeom>
          <a:solidFill>
            <a:srgbClr val="971B1E"/>
          </a:solidFill>
          <a:ln w="25907">
            <a:solidFill>
              <a:srgbClr val="6D111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57925" y="5191886"/>
            <a:ext cx="890269" cy="922019"/>
            <a:chOff x="6257925" y="5191886"/>
            <a:chExt cx="890269" cy="922019"/>
          </a:xfrm>
        </p:grpSpPr>
        <p:sp>
          <p:nvSpPr>
            <p:cNvPr id="7" name="object 7"/>
            <p:cNvSpPr/>
            <p:nvPr/>
          </p:nvSpPr>
          <p:spPr>
            <a:xfrm>
              <a:off x="6270625" y="5204586"/>
              <a:ext cx="864869" cy="896619"/>
            </a:xfrm>
            <a:custGeom>
              <a:avLst/>
              <a:gdLst/>
              <a:ahLst/>
              <a:cxnLst/>
              <a:rect l="l" t="t" r="r" b="b"/>
              <a:pathLst>
                <a:path w="864870" h="896620">
                  <a:moveTo>
                    <a:pt x="475106" y="0"/>
                  </a:moveTo>
                  <a:lnTo>
                    <a:pt x="194817" y="255778"/>
                  </a:lnTo>
                  <a:lnTo>
                    <a:pt x="0" y="42290"/>
                  </a:lnTo>
                  <a:lnTo>
                    <a:pt x="109220" y="724903"/>
                  </a:lnTo>
                  <a:lnTo>
                    <a:pt x="779018" y="896023"/>
                  </a:lnTo>
                  <a:lnTo>
                    <a:pt x="584200" y="682599"/>
                  </a:lnTo>
                  <a:lnTo>
                    <a:pt x="864489" y="426859"/>
                  </a:lnTo>
                  <a:lnTo>
                    <a:pt x="475106" y="0"/>
                  </a:lnTo>
                  <a:close/>
                </a:path>
              </a:pathLst>
            </a:custGeom>
            <a:solidFill>
              <a:srgbClr val="97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70625" y="5204586"/>
              <a:ext cx="864869" cy="896619"/>
            </a:xfrm>
            <a:custGeom>
              <a:avLst/>
              <a:gdLst/>
              <a:ahLst/>
              <a:cxnLst/>
              <a:rect l="l" t="t" r="r" b="b"/>
              <a:pathLst>
                <a:path w="864870" h="896620">
                  <a:moveTo>
                    <a:pt x="0" y="42290"/>
                  </a:moveTo>
                  <a:lnTo>
                    <a:pt x="194817" y="255778"/>
                  </a:lnTo>
                  <a:lnTo>
                    <a:pt x="475106" y="0"/>
                  </a:lnTo>
                  <a:lnTo>
                    <a:pt x="864489" y="426859"/>
                  </a:lnTo>
                  <a:lnTo>
                    <a:pt x="584200" y="682599"/>
                  </a:lnTo>
                  <a:lnTo>
                    <a:pt x="779018" y="896023"/>
                  </a:lnTo>
                  <a:lnTo>
                    <a:pt x="109220" y="724903"/>
                  </a:lnTo>
                  <a:lnTo>
                    <a:pt x="0" y="42290"/>
                  </a:lnTo>
                  <a:close/>
                </a:path>
              </a:pathLst>
            </a:custGeom>
            <a:ln w="25399">
              <a:solidFill>
                <a:srgbClr val="6D11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7998586" y="4658867"/>
            <a:ext cx="1979295" cy="542925"/>
            <a:chOff x="7998586" y="4658867"/>
            <a:chExt cx="1979295" cy="542925"/>
          </a:xfrm>
        </p:grpSpPr>
        <p:sp>
          <p:nvSpPr>
            <p:cNvPr id="10" name="object 10"/>
            <p:cNvSpPr/>
            <p:nvPr/>
          </p:nvSpPr>
          <p:spPr>
            <a:xfrm>
              <a:off x="8019287" y="4678679"/>
              <a:ext cx="1158240" cy="5227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004682" y="4664963"/>
              <a:ext cx="1142746" cy="5076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004682" y="4664963"/>
              <a:ext cx="1143000" cy="508000"/>
            </a:xfrm>
            <a:custGeom>
              <a:avLst/>
              <a:gdLst/>
              <a:ahLst/>
              <a:cxnLst/>
              <a:rect l="l" t="t" r="r" b="b"/>
              <a:pathLst>
                <a:path w="1143000" h="508000">
                  <a:moveTo>
                    <a:pt x="550799" y="143637"/>
                  </a:moveTo>
                  <a:lnTo>
                    <a:pt x="644906" y="143637"/>
                  </a:lnTo>
                  <a:lnTo>
                    <a:pt x="644906" y="307086"/>
                  </a:lnTo>
                  <a:lnTo>
                    <a:pt x="645237" y="340973"/>
                  </a:lnTo>
                  <a:lnTo>
                    <a:pt x="647852" y="386935"/>
                  </a:lnTo>
                  <a:lnTo>
                    <a:pt x="669036" y="425831"/>
                  </a:lnTo>
                  <a:lnTo>
                    <a:pt x="703834" y="435610"/>
                  </a:lnTo>
                  <a:lnTo>
                    <a:pt x="715599" y="434796"/>
                  </a:lnTo>
                  <a:lnTo>
                    <a:pt x="755798" y="415424"/>
                  </a:lnTo>
                  <a:lnTo>
                    <a:pt x="776249" y="376277"/>
                  </a:lnTo>
                  <a:lnTo>
                    <a:pt x="779730" y="328271"/>
                  </a:lnTo>
                  <a:lnTo>
                    <a:pt x="780161" y="293624"/>
                  </a:lnTo>
                  <a:lnTo>
                    <a:pt x="780161" y="143637"/>
                  </a:lnTo>
                  <a:lnTo>
                    <a:pt x="874268" y="143637"/>
                  </a:lnTo>
                  <a:lnTo>
                    <a:pt x="874268" y="499237"/>
                  </a:lnTo>
                  <a:lnTo>
                    <a:pt x="786892" y="499237"/>
                  </a:lnTo>
                  <a:lnTo>
                    <a:pt x="786892" y="446024"/>
                  </a:lnTo>
                  <a:lnTo>
                    <a:pt x="776414" y="459476"/>
                  </a:lnTo>
                  <a:lnTo>
                    <a:pt x="735838" y="490855"/>
                  </a:lnTo>
                  <a:lnTo>
                    <a:pt x="686367" y="506339"/>
                  </a:lnTo>
                  <a:lnTo>
                    <a:pt x="669036" y="507365"/>
                  </a:lnTo>
                  <a:lnTo>
                    <a:pt x="651583" y="506368"/>
                  </a:lnTo>
                  <a:lnTo>
                    <a:pt x="604774" y="491617"/>
                  </a:lnTo>
                  <a:lnTo>
                    <a:pt x="570859" y="460827"/>
                  </a:lnTo>
                  <a:lnTo>
                    <a:pt x="553958" y="413480"/>
                  </a:lnTo>
                  <a:lnTo>
                    <a:pt x="550799" y="368681"/>
                  </a:lnTo>
                  <a:lnTo>
                    <a:pt x="550799" y="143637"/>
                  </a:lnTo>
                  <a:close/>
                </a:path>
                <a:path w="1143000" h="508000">
                  <a:moveTo>
                    <a:pt x="238378" y="84709"/>
                  </a:moveTo>
                  <a:lnTo>
                    <a:pt x="183070" y="95202"/>
                  </a:lnTo>
                  <a:lnTo>
                    <a:pt x="139573" y="126746"/>
                  </a:lnTo>
                  <a:lnTo>
                    <a:pt x="111506" y="179451"/>
                  </a:lnTo>
                  <a:lnTo>
                    <a:pt x="102108" y="253492"/>
                  </a:lnTo>
                  <a:lnTo>
                    <a:pt x="104513" y="292667"/>
                  </a:lnTo>
                  <a:lnTo>
                    <a:pt x="123753" y="355826"/>
                  </a:lnTo>
                  <a:lnTo>
                    <a:pt x="161137" y="398692"/>
                  </a:lnTo>
                  <a:lnTo>
                    <a:pt x="210044" y="420219"/>
                  </a:lnTo>
                  <a:lnTo>
                    <a:pt x="238378" y="422910"/>
                  </a:lnTo>
                  <a:lnTo>
                    <a:pt x="266688" y="420243"/>
                  </a:lnTo>
                  <a:lnTo>
                    <a:pt x="315352" y="398906"/>
                  </a:lnTo>
                  <a:lnTo>
                    <a:pt x="352309" y="356233"/>
                  </a:lnTo>
                  <a:lnTo>
                    <a:pt x="371272" y="292173"/>
                  </a:lnTo>
                  <a:lnTo>
                    <a:pt x="373634" y="252094"/>
                  </a:lnTo>
                  <a:lnTo>
                    <a:pt x="371324" y="212588"/>
                  </a:lnTo>
                  <a:lnTo>
                    <a:pt x="352845" y="149671"/>
                  </a:lnTo>
                  <a:lnTo>
                    <a:pt x="316674" y="108069"/>
                  </a:lnTo>
                  <a:lnTo>
                    <a:pt x="267525" y="87304"/>
                  </a:lnTo>
                  <a:lnTo>
                    <a:pt x="238378" y="84709"/>
                  </a:lnTo>
                  <a:close/>
                </a:path>
                <a:path w="1143000" h="508000">
                  <a:moveTo>
                    <a:pt x="1070737" y="18034"/>
                  </a:moveTo>
                  <a:lnTo>
                    <a:pt x="1070737" y="143637"/>
                  </a:lnTo>
                  <a:lnTo>
                    <a:pt x="1134999" y="143637"/>
                  </a:lnTo>
                  <a:lnTo>
                    <a:pt x="1134999" y="218694"/>
                  </a:lnTo>
                  <a:lnTo>
                    <a:pt x="1070737" y="218694"/>
                  </a:lnTo>
                  <a:lnTo>
                    <a:pt x="1070737" y="361950"/>
                  </a:lnTo>
                  <a:lnTo>
                    <a:pt x="1071701" y="406866"/>
                  </a:lnTo>
                  <a:lnTo>
                    <a:pt x="1080897" y="424561"/>
                  </a:lnTo>
                  <a:lnTo>
                    <a:pt x="1085215" y="427736"/>
                  </a:lnTo>
                  <a:lnTo>
                    <a:pt x="1090549" y="429260"/>
                  </a:lnTo>
                  <a:lnTo>
                    <a:pt x="1096772" y="429260"/>
                  </a:lnTo>
                  <a:lnTo>
                    <a:pt x="1104060" y="428690"/>
                  </a:lnTo>
                  <a:lnTo>
                    <a:pt x="1112789" y="426989"/>
                  </a:lnTo>
                  <a:lnTo>
                    <a:pt x="1122971" y="424170"/>
                  </a:lnTo>
                  <a:lnTo>
                    <a:pt x="1134618" y="420243"/>
                  </a:lnTo>
                  <a:lnTo>
                    <a:pt x="1142746" y="493268"/>
                  </a:lnTo>
                  <a:lnTo>
                    <a:pt x="1125741" y="499435"/>
                  </a:lnTo>
                  <a:lnTo>
                    <a:pt x="1107678" y="503840"/>
                  </a:lnTo>
                  <a:lnTo>
                    <a:pt x="1088542" y="506483"/>
                  </a:lnTo>
                  <a:lnTo>
                    <a:pt x="1068324" y="507365"/>
                  </a:lnTo>
                  <a:lnTo>
                    <a:pt x="1055945" y="506819"/>
                  </a:lnTo>
                  <a:lnTo>
                    <a:pt x="1012953" y="494204"/>
                  </a:lnTo>
                  <a:lnTo>
                    <a:pt x="984424" y="460724"/>
                  </a:lnTo>
                  <a:lnTo>
                    <a:pt x="977010" y="415194"/>
                  </a:lnTo>
                  <a:lnTo>
                    <a:pt x="976249" y="373761"/>
                  </a:lnTo>
                  <a:lnTo>
                    <a:pt x="976249" y="218694"/>
                  </a:lnTo>
                  <a:lnTo>
                    <a:pt x="933069" y="218694"/>
                  </a:lnTo>
                  <a:lnTo>
                    <a:pt x="933069" y="143637"/>
                  </a:lnTo>
                  <a:lnTo>
                    <a:pt x="976249" y="143637"/>
                  </a:lnTo>
                  <a:lnTo>
                    <a:pt x="976249" y="73025"/>
                  </a:lnTo>
                  <a:lnTo>
                    <a:pt x="1070737" y="18034"/>
                  </a:lnTo>
                  <a:close/>
                </a:path>
                <a:path w="1143000" h="508000">
                  <a:moveTo>
                    <a:pt x="237363" y="0"/>
                  </a:moveTo>
                  <a:lnTo>
                    <a:pt x="288938" y="4212"/>
                  </a:lnTo>
                  <a:lnTo>
                    <a:pt x="335073" y="16843"/>
                  </a:lnTo>
                  <a:lnTo>
                    <a:pt x="375755" y="37879"/>
                  </a:lnTo>
                  <a:lnTo>
                    <a:pt x="410972" y="67310"/>
                  </a:lnTo>
                  <a:lnTo>
                    <a:pt x="439475" y="104239"/>
                  </a:lnTo>
                  <a:lnTo>
                    <a:pt x="459835" y="147764"/>
                  </a:lnTo>
                  <a:lnTo>
                    <a:pt x="472051" y="197862"/>
                  </a:lnTo>
                  <a:lnTo>
                    <a:pt x="476123" y="254508"/>
                  </a:lnTo>
                  <a:lnTo>
                    <a:pt x="472094" y="310707"/>
                  </a:lnTo>
                  <a:lnTo>
                    <a:pt x="459994" y="360441"/>
                  </a:lnTo>
                  <a:lnTo>
                    <a:pt x="439797" y="403723"/>
                  </a:lnTo>
                  <a:lnTo>
                    <a:pt x="411480" y="440563"/>
                  </a:lnTo>
                  <a:lnTo>
                    <a:pt x="376473" y="469900"/>
                  </a:lnTo>
                  <a:lnTo>
                    <a:pt x="336026" y="490855"/>
                  </a:lnTo>
                  <a:lnTo>
                    <a:pt x="290125" y="503428"/>
                  </a:lnTo>
                  <a:lnTo>
                    <a:pt x="238760" y="507619"/>
                  </a:lnTo>
                  <a:lnTo>
                    <a:pt x="186801" y="503449"/>
                  </a:lnTo>
                  <a:lnTo>
                    <a:pt x="140461" y="490934"/>
                  </a:lnTo>
                  <a:lnTo>
                    <a:pt x="99742" y="470060"/>
                  </a:lnTo>
                  <a:lnTo>
                    <a:pt x="64643" y="440817"/>
                  </a:lnTo>
                  <a:lnTo>
                    <a:pt x="36379" y="404258"/>
                  </a:lnTo>
                  <a:lnTo>
                    <a:pt x="16176" y="361426"/>
                  </a:lnTo>
                  <a:lnTo>
                    <a:pt x="4046" y="312283"/>
                  </a:lnTo>
                  <a:lnTo>
                    <a:pt x="0" y="256794"/>
                  </a:lnTo>
                  <a:lnTo>
                    <a:pt x="1404" y="220841"/>
                  </a:lnTo>
                  <a:lnTo>
                    <a:pt x="12644" y="157888"/>
                  </a:lnTo>
                  <a:lnTo>
                    <a:pt x="31549" y="112650"/>
                  </a:lnTo>
                  <a:lnTo>
                    <a:pt x="54357" y="78984"/>
                  </a:lnTo>
                  <a:lnTo>
                    <a:pt x="82958" y="49649"/>
                  </a:lnTo>
                  <a:lnTo>
                    <a:pt x="114684" y="27551"/>
                  </a:lnTo>
                  <a:lnTo>
                    <a:pt x="155406" y="10929"/>
                  </a:lnTo>
                  <a:lnTo>
                    <a:pt x="208313" y="1214"/>
                  </a:lnTo>
                  <a:lnTo>
                    <a:pt x="237363" y="0"/>
                  </a:lnTo>
                  <a:close/>
                </a:path>
              </a:pathLst>
            </a:custGeom>
            <a:ln w="12192">
              <a:solidFill>
                <a:srgbClr val="971B1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209531" y="4952999"/>
              <a:ext cx="199644" cy="10972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194419" y="4939167"/>
              <a:ext cx="184848" cy="9409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194419" y="4939167"/>
              <a:ext cx="185420" cy="94615"/>
            </a:xfrm>
            <a:custGeom>
              <a:avLst/>
              <a:gdLst/>
              <a:ahLst/>
              <a:cxnLst/>
              <a:rect l="l" t="t" r="r" b="b"/>
              <a:pathLst>
                <a:path w="185420" h="94614">
                  <a:moveTo>
                    <a:pt x="0" y="94096"/>
                  </a:moveTo>
                  <a:lnTo>
                    <a:pt x="184848" y="94096"/>
                  </a:lnTo>
                  <a:lnTo>
                    <a:pt x="184848" y="0"/>
                  </a:lnTo>
                  <a:lnTo>
                    <a:pt x="0" y="0"/>
                  </a:lnTo>
                  <a:lnTo>
                    <a:pt x="0" y="94096"/>
                  </a:lnTo>
                  <a:close/>
                </a:path>
              </a:pathLst>
            </a:custGeom>
            <a:ln w="12192">
              <a:solidFill>
                <a:srgbClr val="971B1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445751" y="4686299"/>
              <a:ext cx="531876" cy="50749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431400" y="4673345"/>
              <a:ext cx="516381" cy="49085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431400" y="4673345"/>
              <a:ext cx="516890" cy="490855"/>
            </a:xfrm>
            <a:custGeom>
              <a:avLst/>
              <a:gdLst/>
              <a:ahLst/>
              <a:cxnLst/>
              <a:rect l="l" t="t" r="r" b="b"/>
              <a:pathLst>
                <a:path w="516890" h="490854">
                  <a:moveTo>
                    <a:pt x="396875" y="127253"/>
                  </a:moveTo>
                  <a:lnTo>
                    <a:pt x="440505" y="133522"/>
                  </a:lnTo>
                  <a:lnTo>
                    <a:pt x="476408" y="151209"/>
                  </a:lnTo>
                  <a:lnTo>
                    <a:pt x="503967" y="185689"/>
                  </a:lnTo>
                  <a:lnTo>
                    <a:pt x="515064" y="233489"/>
                  </a:lnTo>
                  <a:lnTo>
                    <a:pt x="516381" y="269874"/>
                  </a:lnTo>
                  <a:lnTo>
                    <a:pt x="516381" y="490854"/>
                  </a:lnTo>
                  <a:lnTo>
                    <a:pt x="422275" y="490854"/>
                  </a:lnTo>
                  <a:lnTo>
                    <a:pt x="422275" y="309371"/>
                  </a:lnTo>
                  <a:lnTo>
                    <a:pt x="421895" y="283134"/>
                  </a:lnTo>
                  <a:lnTo>
                    <a:pt x="416305" y="234949"/>
                  </a:lnTo>
                  <a:lnTo>
                    <a:pt x="389503" y="204513"/>
                  </a:lnTo>
                  <a:lnTo>
                    <a:pt x="363981" y="199262"/>
                  </a:lnTo>
                  <a:lnTo>
                    <a:pt x="352099" y="200096"/>
                  </a:lnTo>
                  <a:lnTo>
                    <a:pt x="311213" y="219833"/>
                  </a:lnTo>
                  <a:lnTo>
                    <a:pt x="290329" y="261542"/>
                  </a:lnTo>
                  <a:lnTo>
                    <a:pt x="286710" y="302361"/>
                  </a:lnTo>
                  <a:lnTo>
                    <a:pt x="286257" y="329818"/>
                  </a:lnTo>
                  <a:lnTo>
                    <a:pt x="286257" y="490854"/>
                  </a:lnTo>
                  <a:lnTo>
                    <a:pt x="192277" y="490854"/>
                  </a:lnTo>
                  <a:lnTo>
                    <a:pt x="192277" y="135254"/>
                  </a:lnTo>
                  <a:lnTo>
                    <a:pt x="279653" y="135254"/>
                  </a:lnTo>
                  <a:lnTo>
                    <a:pt x="279653" y="187451"/>
                  </a:lnTo>
                  <a:lnTo>
                    <a:pt x="304417" y="161115"/>
                  </a:lnTo>
                  <a:lnTo>
                    <a:pt x="332216" y="142303"/>
                  </a:lnTo>
                  <a:lnTo>
                    <a:pt x="363039" y="131016"/>
                  </a:lnTo>
                  <a:lnTo>
                    <a:pt x="396875" y="127253"/>
                  </a:lnTo>
                  <a:close/>
                </a:path>
                <a:path w="516890" h="490854">
                  <a:moveTo>
                    <a:pt x="0" y="0"/>
                  </a:moveTo>
                  <a:lnTo>
                    <a:pt x="99187" y="0"/>
                  </a:lnTo>
                  <a:lnTo>
                    <a:pt x="99187" y="490854"/>
                  </a:lnTo>
                  <a:lnTo>
                    <a:pt x="0" y="49085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971B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7377430" y="5490209"/>
            <a:ext cx="3190240" cy="661035"/>
            <a:chOff x="7377430" y="5490209"/>
            <a:chExt cx="3190240" cy="661035"/>
          </a:xfrm>
        </p:grpSpPr>
        <p:sp>
          <p:nvSpPr>
            <p:cNvPr id="20" name="object 20"/>
            <p:cNvSpPr/>
            <p:nvPr/>
          </p:nvSpPr>
          <p:spPr>
            <a:xfrm>
              <a:off x="7397496" y="5509259"/>
              <a:ext cx="3169920" cy="64160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383526" y="5496305"/>
              <a:ext cx="3154045" cy="62617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515348" y="5810326"/>
              <a:ext cx="139065" cy="12470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101582" y="5694121"/>
              <a:ext cx="185928" cy="23053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431530" y="5691784"/>
              <a:ext cx="170180" cy="23487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012430" y="5691784"/>
              <a:ext cx="170180" cy="23487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383526" y="5496305"/>
              <a:ext cx="3154045" cy="626745"/>
            </a:xfrm>
            <a:custGeom>
              <a:avLst/>
              <a:gdLst/>
              <a:ahLst/>
              <a:cxnLst/>
              <a:rect l="l" t="t" r="r" b="b"/>
              <a:pathLst>
                <a:path w="3154045" h="626745">
                  <a:moveTo>
                    <a:pt x="2601214" y="127228"/>
                  </a:moveTo>
                  <a:lnTo>
                    <a:pt x="2659522" y="134219"/>
                  </a:lnTo>
                  <a:lnTo>
                    <a:pt x="2704592" y="155194"/>
                  </a:lnTo>
                  <a:lnTo>
                    <a:pt x="2737516" y="190477"/>
                  </a:lnTo>
                  <a:lnTo>
                    <a:pt x="2759582" y="240411"/>
                  </a:lnTo>
                  <a:lnTo>
                    <a:pt x="2666873" y="257162"/>
                  </a:lnTo>
                  <a:lnTo>
                    <a:pt x="2663773" y="244122"/>
                  </a:lnTo>
                  <a:lnTo>
                    <a:pt x="2659221" y="232798"/>
                  </a:lnTo>
                  <a:lnTo>
                    <a:pt x="2626614" y="204747"/>
                  </a:lnTo>
                  <a:lnTo>
                    <a:pt x="2602610" y="201231"/>
                  </a:lnTo>
                  <a:lnTo>
                    <a:pt x="2585892" y="202748"/>
                  </a:lnTo>
                  <a:lnTo>
                    <a:pt x="2546477" y="225513"/>
                  </a:lnTo>
                  <a:lnTo>
                    <a:pt x="2526831" y="280295"/>
                  </a:lnTo>
                  <a:lnTo>
                    <a:pt x="2525522" y="306717"/>
                  </a:lnTo>
                  <a:lnTo>
                    <a:pt x="2526855" y="336037"/>
                  </a:lnTo>
                  <a:lnTo>
                    <a:pt x="2537523" y="380743"/>
                  </a:lnTo>
                  <a:lnTo>
                    <a:pt x="2571702" y="415717"/>
                  </a:lnTo>
                  <a:lnTo>
                    <a:pt x="2603880" y="422249"/>
                  </a:lnTo>
                  <a:lnTo>
                    <a:pt x="2616694" y="421297"/>
                  </a:lnTo>
                  <a:lnTo>
                    <a:pt x="2655700" y="398019"/>
                  </a:lnTo>
                  <a:lnTo>
                    <a:pt x="2671953" y="354596"/>
                  </a:lnTo>
                  <a:lnTo>
                    <a:pt x="2764281" y="370344"/>
                  </a:lnTo>
                  <a:lnTo>
                    <a:pt x="2743327" y="426181"/>
                  </a:lnTo>
                  <a:lnTo>
                    <a:pt x="2709037" y="466445"/>
                  </a:lnTo>
                  <a:lnTo>
                    <a:pt x="2661253" y="490808"/>
                  </a:lnTo>
                  <a:lnTo>
                    <a:pt x="2599563" y="498932"/>
                  </a:lnTo>
                  <a:lnTo>
                    <a:pt x="2562508" y="495855"/>
                  </a:lnTo>
                  <a:lnTo>
                    <a:pt x="2500354" y="471243"/>
                  </a:lnTo>
                  <a:lnTo>
                    <a:pt x="2454894" y="422729"/>
                  </a:lnTo>
                  <a:lnTo>
                    <a:pt x="2431653" y="354582"/>
                  </a:lnTo>
                  <a:lnTo>
                    <a:pt x="2428748" y="313410"/>
                  </a:lnTo>
                  <a:lnTo>
                    <a:pt x="2431672" y="271814"/>
                  </a:lnTo>
                  <a:lnTo>
                    <a:pt x="2455001" y="203253"/>
                  </a:lnTo>
                  <a:lnTo>
                    <a:pt x="2500665" y="154826"/>
                  </a:lnTo>
                  <a:lnTo>
                    <a:pt x="2563618" y="130295"/>
                  </a:lnTo>
                  <a:lnTo>
                    <a:pt x="2601214" y="127228"/>
                  </a:lnTo>
                  <a:close/>
                </a:path>
                <a:path w="3154045" h="626745">
                  <a:moveTo>
                    <a:pt x="2207514" y="127228"/>
                  </a:moveTo>
                  <a:lnTo>
                    <a:pt x="2262473" y="130952"/>
                  </a:lnTo>
                  <a:lnTo>
                    <a:pt x="2301240" y="142125"/>
                  </a:lnTo>
                  <a:lnTo>
                    <a:pt x="2337244" y="169005"/>
                  </a:lnTo>
                  <a:lnTo>
                    <a:pt x="2354103" y="212496"/>
                  </a:lnTo>
                  <a:lnTo>
                    <a:pt x="2357247" y="264185"/>
                  </a:lnTo>
                  <a:lnTo>
                    <a:pt x="2356230" y="374027"/>
                  </a:lnTo>
                  <a:lnTo>
                    <a:pt x="2356514" y="395930"/>
                  </a:lnTo>
                  <a:lnTo>
                    <a:pt x="2360676" y="443179"/>
                  </a:lnTo>
                  <a:lnTo>
                    <a:pt x="2377694" y="490893"/>
                  </a:lnTo>
                  <a:lnTo>
                    <a:pt x="2284603" y="490893"/>
                  </a:lnTo>
                  <a:lnTo>
                    <a:pt x="2273934" y="457517"/>
                  </a:lnTo>
                  <a:lnTo>
                    <a:pt x="2272792" y="453834"/>
                  </a:lnTo>
                  <a:lnTo>
                    <a:pt x="2272156" y="452043"/>
                  </a:lnTo>
                  <a:lnTo>
                    <a:pt x="2259867" y="463035"/>
                  </a:lnTo>
                  <a:lnTo>
                    <a:pt x="2247185" y="472560"/>
                  </a:lnTo>
                  <a:lnTo>
                    <a:pt x="2206640" y="492336"/>
                  </a:lnTo>
                  <a:lnTo>
                    <a:pt x="2161921" y="498932"/>
                  </a:lnTo>
                  <a:lnTo>
                    <a:pt x="2135941" y="497068"/>
                  </a:lnTo>
                  <a:lnTo>
                    <a:pt x="2092698" y="482162"/>
                  </a:lnTo>
                  <a:lnTo>
                    <a:pt x="2061598" y="453242"/>
                  </a:lnTo>
                  <a:lnTo>
                    <a:pt x="2045787" y="415566"/>
                  </a:lnTo>
                  <a:lnTo>
                    <a:pt x="2043810" y="393776"/>
                  </a:lnTo>
                  <a:lnTo>
                    <a:pt x="2044696" y="379116"/>
                  </a:lnTo>
                  <a:lnTo>
                    <a:pt x="2058162" y="340029"/>
                  </a:lnTo>
                  <a:lnTo>
                    <a:pt x="2086308" y="310840"/>
                  </a:lnTo>
                  <a:lnTo>
                    <a:pt x="2130186" y="292111"/>
                  </a:lnTo>
                  <a:lnTo>
                    <a:pt x="2173351" y="281940"/>
                  </a:lnTo>
                  <a:lnTo>
                    <a:pt x="2203783" y="275845"/>
                  </a:lnTo>
                  <a:lnTo>
                    <a:pt x="2229167" y="269963"/>
                  </a:lnTo>
                  <a:lnTo>
                    <a:pt x="2249503" y="264291"/>
                  </a:lnTo>
                  <a:lnTo>
                    <a:pt x="2264791" y="258826"/>
                  </a:lnTo>
                  <a:lnTo>
                    <a:pt x="2264791" y="249453"/>
                  </a:lnTo>
                  <a:lnTo>
                    <a:pt x="2251329" y="210781"/>
                  </a:lnTo>
                  <a:lnTo>
                    <a:pt x="2200782" y="199224"/>
                  </a:lnTo>
                  <a:lnTo>
                    <a:pt x="2188920" y="199841"/>
                  </a:lnTo>
                  <a:lnTo>
                    <a:pt x="2148919" y="222705"/>
                  </a:lnTo>
                  <a:lnTo>
                    <a:pt x="2138933" y="243763"/>
                  </a:lnTo>
                  <a:lnTo>
                    <a:pt x="2053463" y="228358"/>
                  </a:lnTo>
                  <a:lnTo>
                    <a:pt x="2073084" y="183486"/>
                  </a:lnTo>
                  <a:lnTo>
                    <a:pt x="2102993" y="152006"/>
                  </a:lnTo>
                  <a:lnTo>
                    <a:pt x="2146728" y="133426"/>
                  </a:lnTo>
                  <a:lnTo>
                    <a:pt x="2174984" y="128778"/>
                  </a:lnTo>
                  <a:lnTo>
                    <a:pt x="2207514" y="127228"/>
                  </a:lnTo>
                  <a:close/>
                </a:path>
                <a:path w="3154045" h="626745">
                  <a:moveTo>
                    <a:pt x="1810893" y="127228"/>
                  </a:moveTo>
                  <a:lnTo>
                    <a:pt x="1849391" y="130505"/>
                  </a:lnTo>
                  <a:lnTo>
                    <a:pt x="1915531" y="156712"/>
                  </a:lnTo>
                  <a:lnTo>
                    <a:pt x="1965676" y="207571"/>
                  </a:lnTo>
                  <a:lnTo>
                    <a:pt x="1991445" y="273788"/>
                  </a:lnTo>
                  <a:lnTo>
                    <a:pt x="1994662" y="312077"/>
                  </a:lnTo>
                  <a:lnTo>
                    <a:pt x="1991419" y="350698"/>
                  </a:lnTo>
                  <a:lnTo>
                    <a:pt x="1965408" y="417588"/>
                  </a:lnTo>
                  <a:lnTo>
                    <a:pt x="1914898" y="469078"/>
                  </a:lnTo>
                  <a:lnTo>
                    <a:pt x="1849366" y="495615"/>
                  </a:lnTo>
                  <a:lnTo>
                    <a:pt x="1811527" y="498932"/>
                  </a:lnTo>
                  <a:lnTo>
                    <a:pt x="1787354" y="497550"/>
                  </a:lnTo>
                  <a:lnTo>
                    <a:pt x="1740769" y="486496"/>
                  </a:lnTo>
                  <a:lnTo>
                    <a:pt x="1697448" y="464486"/>
                  </a:lnTo>
                  <a:lnTo>
                    <a:pt x="1663678" y="432090"/>
                  </a:lnTo>
                  <a:lnTo>
                    <a:pt x="1640651" y="389518"/>
                  </a:lnTo>
                  <a:lnTo>
                    <a:pt x="1629082" y="337531"/>
                  </a:lnTo>
                  <a:lnTo>
                    <a:pt x="1627631" y="308051"/>
                  </a:lnTo>
                  <a:lnTo>
                    <a:pt x="1629082" y="284800"/>
                  </a:lnTo>
                  <a:lnTo>
                    <a:pt x="1640651" y="239431"/>
                  </a:lnTo>
                  <a:lnTo>
                    <a:pt x="1663539" y="196671"/>
                  </a:lnTo>
                  <a:lnTo>
                    <a:pt x="1696269" y="163181"/>
                  </a:lnTo>
                  <a:lnTo>
                    <a:pt x="1738044" y="140226"/>
                  </a:lnTo>
                  <a:lnTo>
                    <a:pt x="1785340" y="128673"/>
                  </a:lnTo>
                  <a:lnTo>
                    <a:pt x="1810893" y="127228"/>
                  </a:lnTo>
                  <a:close/>
                </a:path>
                <a:path w="3154045" h="626745">
                  <a:moveTo>
                    <a:pt x="1547114" y="127228"/>
                  </a:moveTo>
                  <a:lnTo>
                    <a:pt x="1563066" y="128338"/>
                  </a:lnTo>
                  <a:lnTo>
                    <a:pt x="1578721" y="131667"/>
                  </a:lnTo>
                  <a:lnTo>
                    <a:pt x="1594066" y="137215"/>
                  </a:lnTo>
                  <a:lnTo>
                    <a:pt x="1609090" y="144983"/>
                  </a:lnTo>
                  <a:lnTo>
                    <a:pt x="1580006" y="227025"/>
                  </a:lnTo>
                  <a:lnTo>
                    <a:pt x="1568315" y="220283"/>
                  </a:lnTo>
                  <a:lnTo>
                    <a:pt x="1557051" y="215469"/>
                  </a:lnTo>
                  <a:lnTo>
                    <a:pt x="1546217" y="212582"/>
                  </a:lnTo>
                  <a:lnTo>
                    <a:pt x="1535810" y="211620"/>
                  </a:lnTo>
                  <a:lnTo>
                    <a:pt x="1526285" y="212299"/>
                  </a:lnTo>
                  <a:lnTo>
                    <a:pt x="1490011" y="237780"/>
                  </a:lnTo>
                  <a:lnTo>
                    <a:pt x="1477265" y="279972"/>
                  </a:lnTo>
                  <a:lnTo>
                    <a:pt x="1473317" y="339574"/>
                  </a:lnTo>
                  <a:lnTo>
                    <a:pt x="1472819" y="381050"/>
                  </a:lnTo>
                  <a:lnTo>
                    <a:pt x="1472819" y="490893"/>
                  </a:lnTo>
                  <a:lnTo>
                    <a:pt x="1378712" y="490893"/>
                  </a:lnTo>
                  <a:lnTo>
                    <a:pt x="1378712" y="135267"/>
                  </a:lnTo>
                  <a:lnTo>
                    <a:pt x="1466088" y="135267"/>
                  </a:lnTo>
                  <a:lnTo>
                    <a:pt x="1466088" y="185826"/>
                  </a:lnTo>
                  <a:lnTo>
                    <a:pt x="1477041" y="169443"/>
                  </a:lnTo>
                  <a:lnTo>
                    <a:pt x="1506474" y="138620"/>
                  </a:lnTo>
                  <a:lnTo>
                    <a:pt x="1536066" y="127940"/>
                  </a:lnTo>
                  <a:lnTo>
                    <a:pt x="1547114" y="127228"/>
                  </a:lnTo>
                  <a:close/>
                </a:path>
                <a:path w="3154045" h="626745">
                  <a:moveTo>
                    <a:pt x="1159509" y="127228"/>
                  </a:moveTo>
                  <a:lnTo>
                    <a:pt x="1216755" y="139369"/>
                  </a:lnTo>
                  <a:lnTo>
                    <a:pt x="1264666" y="175780"/>
                  </a:lnTo>
                  <a:lnTo>
                    <a:pt x="1297066" y="233883"/>
                  </a:lnTo>
                  <a:lnTo>
                    <a:pt x="1307846" y="311073"/>
                  </a:lnTo>
                  <a:lnTo>
                    <a:pt x="1305131" y="353126"/>
                  </a:lnTo>
                  <a:lnTo>
                    <a:pt x="1283414" y="422362"/>
                  </a:lnTo>
                  <a:lnTo>
                    <a:pt x="1241456" y="471146"/>
                  </a:lnTo>
                  <a:lnTo>
                    <a:pt x="1188688" y="495844"/>
                  </a:lnTo>
                  <a:lnTo>
                    <a:pt x="1158875" y="498932"/>
                  </a:lnTo>
                  <a:lnTo>
                    <a:pt x="1144466" y="498198"/>
                  </a:lnTo>
                  <a:lnTo>
                    <a:pt x="1105407" y="487210"/>
                  </a:lnTo>
                  <a:lnTo>
                    <a:pt x="1068189" y="460212"/>
                  </a:lnTo>
                  <a:lnTo>
                    <a:pt x="1055116" y="447027"/>
                  </a:lnTo>
                  <a:lnTo>
                    <a:pt x="1055116" y="626173"/>
                  </a:lnTo>
                  <a:lnTo>
                    <a:pt x="961008" y="626173"/>
                  </a:lnTo>
                  <a:lnTo>
                    <a:pt x="961008" y="135267"/>
                  </a:lnTo>
                  <a:lnTo>
                    <a:pt x="1048766" y="135267"/>
                  </a:lnTo>
                  <a:lnTo>
                    <a:pt x="1048766" y="187502"/>
                  </a:lnTo>
                  <a:lnTo>
                    <a:pt x="1058005" y="174737"/>
                  </a:lnTo>
                  <a:lnTo>
                    <a:pt x="1094867" y="143967"/>
                  </a:lnTo>
                  <a:lnTo>
                    <a:pt x="1142176" y="128275"/>
                  </a:lnTo>
                  <a:lnTo>
                    <a:pt x="1159509" y="127228"/>
                  </a:lnTo>
                  <a:close/>
                </a:path>
                <a:path w="3154045" h="626745">
                  <a:moveTo>
                    <a:pt x="740409" y="127228"/>
                  </a:moveTo>
                  <a:lnTo>
                    <a:pt x="797655" y="139369"/>
                  </a:lnTo>
                  <a:lnTo>
                    <a:pt x="845566" y="175780"/>
                  </a:lnTo>
                  <a:lnTo>
                    <a:pt x="877966" y="233883"/>
                  </a:lnTo>
                  <a:lnTo>
                    <a:pt x="888746" y="311073"/>
                  </a:lnTo>
                  <a:lnTo>
                    <a:pt x="886031" y="353126"/>
                  </a:lnTo>
                  <a:lnTo>
                    <a:pt x="864314" y="422362"/>
                  </a:lnTo>
                  <a:lnTo>
                    <a:pt x="822356" y="471146"/>
                  </a:lnTo>
                  <a:lnTo>
                    <a:pt x="769588" y="495844"/>
                  </a:lnTo>
                  <a:lnTo>
                    <a:pt x="739775" y="498932"/>
                  </a:lnTo>
                  <a:lnTo>
                    <a:pt x="725366" y="498198"/>
                  </a:lnTo>
                  <a:lnTo>
                    <a:pt x="686307" y="487210"/>
                  </a:lnTo>
                  <a:lnTo>
                    <a:pt x="649089" y="460212"/>
                  </a:lnTo>
                  <a:lnTo>
                    <a:pt x="636016" y="447027"/>
                  </a:lnTo>
                  <a:lnTo>
                    <a:pt x="636016" y="626173"/>
                  </a:lnTo>
                  <a:lnTo>
                    <a:pt x="541908" y="626173"/>
                  </a:lnTo>
                  <a:lnTo>
                    <a:pt x="541908" y="135267"/>
                  </a:lnTo>
                  <a:lnTo>
                    <a:pt x="629666" y="135267"/>
                  </a:lnTo>
                  <a:lnTo>
                    <a:pt x="629666" y="187502"/>
                  </a:lnTo>
                  <a:lnTo>
                    <a:pt x="638905" y="174737"/>
                  </a:lnTo>
                  <a:lnTo>
                    <a:pt x="675767" y="143967"/>
                  </a:lnTo>
                  <a:lnTo>
                    <a:pt x="723076" y="128275"/>
                  </a:lnTo>
                  <a:lnTo>
                    <a:pt x="740409" y="127228"/>
                  </a:lnTo>
                  <a:close/>
                </a:path>
                <a:path w="3154045" h="626745">
                  <a:moveTo>
                    <a:pt x="242443" y="114503"/>
                  </a:moveTo>
                  <a:lnTo>
                    <a:pt x="176149" y="296672"/>
                  </a:lnTo>
                  <a:lnTo>
                    <a:pt x="310133" y="296672"/>
                  </a:lnTo>
                  <a:lnTo>
                    <a:pt x="242443" y="114503"/>
                  </a:lnTo>
                  <a:close/>
                </a:path>
                <a:path w="3154045" h="626745">
                  <a:moveTo>
                    <a:pt x="2830195" y="0"/>
                  </a:moveTo>
                  <a:lnTo>
                    <a:pt x="2924302" y="0"/>
                  </a:lnTo>
                  <a:lnTo>
                    <a:pt x="2924302" y="180479"/>
                  </a:lnTo>
                  <a:lnTo>
                    <a:pt x="2948183" y="157184"/>
                  </a:lnTo>
                  <a:lnTo>
                    <a:pt x="2974292" y="140542"/>
                  </a:lnTo>
                  <a:lnTo>
                    <a:pt x="3002615" y="130557"/>
                  </a:lnTo>
                  <a:lnTo>
                    <a:pt x="3033141" y="127228"/>
                  </a:lnTo>
                  <a:lnTo>
                    <a:pt x="3049004" y="127983"/>
                  </a:lnTo>
                  <a:lnTo>
                    <a:pt x="3091688" y="139280"/>
                  </a:lnTo>
                  <a:lnTo>
                    <a:pt x="3123674" y="161135"/>
                  </a:lnTo>
                  <a:lnTo>
                    <a:pt x="3146238" y="200480"/>
                  </a:lnTo>
                  <a:lnTo>
                    <a:pt x="3152822" y="240663"/>
                  </a:lnTo>
                  <a:lnTo>
                    <a:pt x="3154045" y="282270"/>
                  </a:lnTo>
                  <a:lnTo>
                    <a:pt x="3154045" y="490893"/>
                  </a:lnTo>
                  <a:lnTo>
                    <a:pt x="3059938" y="490893"/>
                  </a:lnTo>
                  <a:lnTo>
                    <a:pt x="3059938" y="303034"/>
                  </a:lnTo>
                  <a:lnTo>
                    <a:pt x="3059604" y="277624"/>
                  </a:lnTo>
                  <a:lnTo>
                    <a:pt x="3054604" y="232041"/>
                  </a:lnTo>
                  <a:lnTo>
                    <a:pt x="3028469" y="204218"/>
                  </a:lnTo>
                  <a:lnTo>
                    <a:pt x="3001645" y="199224"/>
                  </a:lnTo>
                  <a:lnTo>
                    <a:pt x="2990240" y="199936"/>
                  </a:lnTo>
                  <a:lnTo>
                    <a:pt x="2951241" y="217026"/>
                  </a:lnTo>
                  <a:lnTo>
                    <a:pt x="2929124" y="257771"/>
                  </a:lnTo>
                  <a:lnTo>
                    <a:pt x="2924302" y="312750"/>
                  </a:lnTo>
                  <a:lnTo>
                    <a:pt x="2924302" y="490893"/>
                  </a:lnTo>
                  <a:lnTo>
                    <a:pt x="2830195" y="490893"/>
                  </a:lnTo>
                  <a:lnTo>
                    <a:pt x="2830195" y="0"/>
                  </a:lnTo>
                  <a:close/>
                </a:path>
                <a:path w="3154045" h="626745">
                  <a:moveTo>
                    <a:pt x="191262" y="0"/>
                  </a:moveTo>
                  <a:lnTo>
                    <a:pt x="296037" y="0"/>
                  </a:lnTo>
                  <a:lnTo>
                    <a:pt x="492632" y="490893"/>
                  </a:lnTo>
                  <a:lnTo>
                    <a:pt x="384809" y="490893"/>
                  </a:lnTo>
                  <a:lnTo>
                    <a:pt x="341883" y="379387"/>
                  </a:lnTo>
                  <a:lnTo>
                    <a:pt x="145669" y="379387"/>
                  </a:lnTo>
                  <a:lnTo>
                    <a:pt x="105155" y="490893"/>
                  </a:lnTo>
                  <a:lnTo>
                    <a:pt x="0" y="490893"/>
                  </a:lnTo>
                  <a:lnTo>
                    <a:pt x="191262" y="0"/>
                  </a:lnTo>
                  <a:close/>
                </a:path>
              </a:pathLst>
            </a:custGeom>
            <a:ln w="12192">
              <a:solidFill>
                <a:srgbClr val="971B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14004" y="85343"/>
            <a:ext cx="2554224" cy="64891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5589" y="540511"/>
            <a:ext cx="532638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711316"/>
                </a:solidFill>
                <a:latin typeface="Carlito"/>
                <a:cs typeface="Carlito"/>
              </a:rPr>
              <a:t>ISE&amp;PPOOA </a:t>
            </a:r>
            <a:r>
              <a:rPr dirty="0" sz="2400" spc="-5">
                <a:solidFill>
                  <a:srgbClr val="711316"/>
                </a:solidFill>
                <a:latin typeface="Carlito"/>
                <a:cs typeface="Carlito"/>
              </a:rPr>
              <a:t>Mission dimension </a:t>
            </a:r>
            <a:r>
              <a:rPr dirty="0" sz="2400" spc="-10">
                <a:solidFill>
                  <a:srgbClr val="711316"/>
                </a:solidFill>
                <a:latin typeface="Carlito"/>
                <a:cs typeface="Carlito"/>
              </a:rPr>
              <a:t>subprocess  Step </a:t>
            </a:r>
            <a:r>
              <a:rPr dirty="0" sz="2400">
                <a:solidFill>
                  <a:srgbClr val="711316"/>
                </a:solidFill>
                <a:latin typeface="Carlito"/>
                <a:cs typeface="Carlito"/>
              </a:rPr>
              <a:t>1. </a:t>
            </a:r>
            <a:r>
              <a:rPr dirty="0" sz="2400" spc="-15">
                <a:solidFill>
                  <a:srgbClr val="711316"/>
                </a:solidFill>
                <a:latin typeface="Carlito"/>
                <a:cs typeface="Carlito"/>
              </a:rPr>
              <a:t>Elaborate </a:t>
            </a:r>
            <a:r>
              <a:rPr dirty="0" sz="2400" spc="-25">
                <a:solidFill>
                  <a:srgbClr val="711316"/>
                </a:solidFill>
                <a:latin typeface="Carlito"/>
                <a:cs typeface="Carlito"/>
              </a:rPr>
              <a:t>system</a:t>
            </a:r>
            <a:r>
              <a:rPr dirty="0" sz="2400" spc="-30">
                <a:solidFill>
                  <a:srgbClr val="711316"/>
                </a:solidFill>
                <a:latin typeface="Carlito"/>
                <a:cs typeface="Carlito"/>
              </a:rPr>
              <a:t> </a:t>
            </a:r>
            <a:r>
              <a:rPr dirty="0" sz="2400" spc="-15">
                <a:solidFill>
                  <a:srgbClr val="711316"/>
                </a:solidFill>
                <a:latin typeface="Carlito"/>
                <a:cs typeface="Carlito"/>
              </a:rPr>
              <a:t>context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170789" y="2121534"/>
            <a:ext cx="8466455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9039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 system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operates in a context consisting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of  the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environment and other</a:t>
            </a:r>
            <a:r>
              <a:rPr dirty="0" sz="2400" spc="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systems.</a:t>
            </a:r>
            <a:endParaRPr sz="24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buChar char="•"/>
              <a:tabLst>
                <a:tab pos="377825" algn="l"/>
                <a:tab pos="378460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The Context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may be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considered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as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external</a:t>
            </a:r>
            <a:r>
              <a:rPr dirty="0" sz="2400" spc="6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users,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external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systems,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natural environment,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threats,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and</a:t>
            </a:r>
            <a:r>
              <a:rPr dirty="0" sz="2400" spc="6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resources.</a:t>
            </a:r>
            <a:endParaRPr sz="2400">
              <a:latin typeface="Arial"/>
              <a:cs typeface="Arial"/>
            </a:endParaRPr>
          </a:p>
          <a:p>
            <a:pPr marL="95885" marR="688340" indent="-83820">
              <a:lnSpc>
                <a:spcPct val="100000"/>
              </a:lnSpc>
              <a:buChar char="•"/>
              <a:tabLst>
                <a:tab pos="299085" algn="l"/>
                <a:tab pos="299720" algn="l"/>
                <a:tab pos="6451600" algn="l"/>
              </a:tabLst>
            </a:pPr>
            <a:r>
              <a:rPr dirty="0" sz="2400" spc="-10">
                <a:solidFill>
                  <a:srgbClr val="414042"/>
                </a:solidFill>
                <a:latin typeface="Arial"/>
                <a:cs typeface="Arial"/>
              </a:rPr>
              <a:t>Next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slide shows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context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of the system represented  as an SysML IBD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(internal block diagram) where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 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diverse entities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of the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context</a:t>
            </a:r>
            <a:r>
              <a:rPr dirty="0" sz="2400" spc="8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are</a:t>
            </a:r>
            <a:r>
              <a:rPr dirty="0" sz="2400" spc="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represented	</a:t>
            </a:r>
            <a:r>
              <a:rPr dirty="0" sz="2400" spc="-10">
                <a:solidFill>
                  <a:srgbClr val="414042"/>
                </a:solidFill>
                <a:latin typeface="Arial"/>
                <a:cs typeface="Arial"/>
              </a:rPr>
              <a:t>as</a:t>
            </a:r>
            <a:r>
              <a:rPr dirty="0" sz="2400" spc="-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blocks</a:t>
            </a:r>
            <a:endParaRPr sz="24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  <a:tab pos="299720" algn="l"/>
              </a:tabLst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main external interfaces are represented as</a:t>
            </a:r>
            <a:r>
              <a:rPr dirty="0" sz="2400" spc="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well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0772" y="435940"/>
            <a:ext cx="540385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IMD Context</a:t>
            </a:r>
            <a:r>
              <a:rPr dirty="0" sz="4400" spc="-60"/>
              <a:t> </a:t>
            </a:r>
            <a:r>
              <a:rPr dirty="0" sz="4400"/>
              <a:t>Diagram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1927860" y="1298447"/>
            <a:ext cx="8182356" cy="5422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5589" y="540511"/>
            <a:ext cx="532638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711316"/>
                </a:solidFill>
                <a:latin typeface="Carlito"/>
                <a:cs typeface="Carlito"/>
              </a:rPr>
              <a:t>ISE&amp;PPOOA </a:t>
            </a:r>
            <a:r>
              <a:rPr dirty="0" sz="2400" spc="-5">
                <a:solidFill>
                  <a:srgbClr val="711316"/>
                </a:solidFill>
                <a:latin typeface="Carlito"/>
                <a:cs typeface="Carlito"/>
              </a:rPr>
              <a:t>Mission dimension </a:t>
            </a:r>
            <a:r>
              <a:rPr dirty="0" sz="2400" spc="-10">
                <a:solidFill>
                  <a:srgbClr val="711316"/>
                </a:solidFill>
                <a:latin typeface="Carlito"/>
                <a:cs typeface="Carlito"/>
              </a:rPr>
              <a:t>subprocess  Step </a:t>
            </a:r>
            <a:r>
              <a:rPr dirty="0" sz="2400">
                <a:solidFill>
                  <a:srgbClr val="711316"/>
                </a:solidFill>
                <a:latin typeface="Carlito"/>
                <a:cs typeface="Carlito"/>
              </a:rPr>
              <a:t>2. </a:t>
            </a:r>
            <a:r>
              <a:rPr dirty="0" sz="2400" spc="-5">
                <a:solidFill>
                  <a:srgbClr val="711316"/>
                </a:solidFill>
                <a:latin typeface="Carlito"/>
                <a:cs typeface="Carlito"/>
              </a:rPr>
              <a:t>Identify </a:t>
            </a:r>
            <a:r>
              <a:rPr dirty="0" sz="2400">
                <a:solidFill>
                  <a:srgbClr val="711316"/>
                </a:solidFill>
                <a:latin typeface="Carlito"/>
                <a:cs typeface="Carlito"/>
              </a:rPr>
              <a:t>main</a:t>
            </a:r>
            <a:r>
              <a:rPr dirty="0" sz="2400" spc="-30">
                <a:solidFill>
                  <a:srgbClr val="711316"/>
                </a:solidFill>
                <a:latin typeface="Carlito"/>
                <a:cs typeface="Carlito"/>
              </a:rPr>
              <a:t> </a:t>
            </a:r>
            <a:r>
              <a:rPr dirty="0" sz="2400" spc="-15">
                <a:solidFill>
                  <a:srgbClr val="711316"/>
                </a:solidFill>
                <a:latin typeface="Carlito"/>
                <a:cs typeface="Carlito"/>
              </a:rPr>
              <a:t>actors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14716" y="65531"/>
            <a:ext cx="2621279" cy="6655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8891" y="2210561"/>
            <a:ext cx="6650990" cy="1854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95885" marR="5080" indent="-83820">
              <a:lnSpc>
                <a:spcPct val="100000"/>
              </a:lnSpc>
              <a:spcBef>
                <a:spcPts val="100"/>
              </a:spcBef>
              <a:buChar char="•"/>
              <a:tabLst>
                <a:tab pos="299720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Based on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context diagram,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main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actors 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(external entities) interacting with the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system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are  identified.</a:t>
            </a:r>
            <a:endParaRPr sz="2400">
              <a:latin typeface="Arial"/>
              <a:cs typeface="Arial"/>
            </a:endParaRPr>
          </a:p>
          <a:p>
            <a:pPr algn="just" marL="12700" marR="328930">
              <a:lnSpc>
                <a:spcPct val="100000"/>
              </a:lnSpc>
              <a:buChar char="•"/>
              <a:tabLst>
                <a:tab pos="299720" algn="l"/>
              </a:tabLst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Actors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are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not </a:t>
            </a:r>
            <a:r>
              <a:rPr dirty="0" sz="2400" spc="-10">
                <a:solidFill>
                  <a:srgbClr val="414042"/>
                </a:solidFill>
                <a:latin typeface="Arial"/>
                <a:cs typeface="Arial"/>
              </a:rPr>
              <a:t>only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human roles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but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devices,  other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systems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</a:t>
            </a:r>
            <a:r>
              <a:rPr dirty="0" sz="2400" spc="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environment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31875" y="1114425"/>
            <a:ext cx="2982595" cy="59690"/>
          </a:xfrm>
          <a:custGeom>
            <a:avLst/>
            <a:gdLst/>
            <a:ahLst/>
            <a:cxnLst/>
            <a:rect l="l" t="t" r="r" b="b"/>
            <a:pathLst>
              <a:path w="2982595" h="59690">
                <a:moveTo>
                  <a:pt x="2982493" y="0"/>
                </a:moveTo>
                <a:lnTo>
                  <a:pt x="0" y="0"/>
                </a:lnTo>
                <a:lnTo>
                  <a:pt x="0" y="59436"/>
                </a:lnTo>
                <a:lnTo>
                  <a:pt x="2982493" y="59436"/>
                </a:lnTo>
                <a:lnTo>
                  <a:pt x="2982493" y="0"/>
                </a:lnTo>
                <a:close/>
              </a:path>
            </a:pathLst>
          </a:custGeom>
          <a:solidFill>
            <a:srgbClr val="971B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300926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latin typeface="Arial"/>
                <a:cs typeface="Arial"/>
              </a:rPr>
              <a:t>IM</a:t>
            </a:r>
            <a:r>
              <a:rPr dirty="0" sz="4400" spc="5" b="1">
                <a:latin typeface="Arial"/>
                <a:cs typeface="Arial"/>
              </a:rPr>
              <a:t>D</a:t>
            </a:r>
            <a:r>
              <a:rPr dirty="0" sz="4400" spc="-5" b="1">
                <a:latin typeface="Arial"/>
                <a:cs typeface="Arial"/>
              </a:rPr>
              <a:t>-</a:t>
            </a:r>
            <a:r>
              <a:rPr dirty="0" sz="4400" b="1">
                <a:latin typeface="Arial"/>
                <a:cs typeface="Arial"/>
              </a:rPr>
              <a:t>Actors</a:t>
            </a:r>
            <a:endParaRPr sz="4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719124" y="1524127"/>
            <a:ext cx="3667760" cy="4537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9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3700" spc="-5">
                <a:solidFill>
                  <a:srgbClr val="414042"/>
                </a:solidFill>
                <a:latin typeface="Arial"/>
                <a:cs typeface="Arial"/>
              </a:rPr>
              <a:t>User</a:t>
            </a:r>
            <a:endParaRPr sz="3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3700" spc="-5">
                <a:solidFill>
                  <a:srgbClr val="414042"/>
                </a:solidFill>
                <a:latin typeface="Arial"/>
                <a:cs typeface="Arial"/>
              </a:rPr>
              <a:t>Hacker</a:t>
            </a:r>
            <a:endParaRPr sz="3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3700" spc="-5">
                <a:solidFill>
                  <a:srgbClr val="414042"/>
                </a:solidFill>
                <a:latin typeface="Arial"/>
                <a:cs typeface="Arial"/>
              </a:rPr>
              <a:t>Hospital</a:t>
            </a:r>
            <a:endParaRPr sz="3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3700" spc="-10">
                <a:solidFill>
                  <a:srgbClr val="414042"/>
                </a:solidFill>
                <a:latin typeface="Arial"/>
                <a:cs typeface="Arial"/>
              </a:rPr>
              <a:t>Auxiliary</a:t>
            </a:r>
            <a:r>
              <a:rPr dirty="0" sz="3700" spc="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700" spc="-10">
                <a:solidFill>
                  <a:srgbClr val="414042"/>
                </a:solidFill>
                <a:latin typeface="Arial"/>
                <a:cs typeface="Arial"/>
              </a:rPr>
              <a:t>power</a:t>
            </a:r>
            <a:endParaRPr sz="3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3700" spc="-5">
                <a:solidFill>
                  <a:srgbClr val="414042"/>
                </a:solidFill>
                <a:latin typeface="Arial"/>
                <a:cs typeface="Arial"/>
              </a:rPr>
              <a:t>Computer</a:t>
            </a:r>
            <a:endParaRPr sz="3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3700" spc="-5">
                <a:solidFill>
                  <a:srgbClr val="414042"/>
                </a:solidFill>
                <a:latin typeface="Arial"/>
                <a:cs typeface="Arial"/>
              </a:rPr>
              <a:t>Patient</a:t>
            </a:r>
            <a:endParaRPr sz="3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3700" spc="-10">
                <a:solidFill>
                  <a:srgbClr val="414042"/>
                </a:solidFill>
                <a:latin typeface="Arial"/>
                <a:cs typeface="Arial"/>
              </a:rPr>
              <a:t>Near</a:t>
            </a:r>
            <a:r>
              <a:rPr dirty="0" sz="3700" spc="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700" spc="-5">
                <a:solidFill>
                  <a:srgbClr val="414042"/>
                </a:solidFill>
                <a:latin typeface="Arial"/>
                <a:cs typeface="Arial"/>
              </a:rPr>
              <a:t>device</a:t>
            </a:r>
            <a:endParaRPr sz="3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3700" spc="-5">
                <a:solidFill>
                  <a:srgbClr val="414042"/>
                </a:solidFill>
                <a:latin typeface="Arial"/>
                <a:cs typeface="Arial"/>
              </a:rPr>
              <a:t>Obstacle</a:t>
            </a:r>
            <a:endParaRPr sz="3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5589" y="540511"/>
            <a:ext cx="532638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711316"/>
                </a:solidFill>
                <a:latin typeface="Carlito"/>
                <a:cs typeface="Carlito"/>
              </a:rPr>
              <a:t>ISE&amp;PPOOA </a:t>
            </a:r>
            <a:r>
              <a:rPr dirty="0" sz="2400" spc="-5">
                <a:solidFill>
                  <a:srgbClr val="711316"/>
                </a:solidFill>
                <a:latin typeface="Carlito"/>
                <a:cs typeface="Carlito"/>
              </a:rPr>
              <a:t>Mission dimension </a:t>
            </a:r>
            <a:r>
              <a:rPr dirty="0" sz="2400" spc="-10">
                <a:solidFill>
                  <a:srgbClr val="711316"/>
                </a:solidFill>
                <a:latin typeface="Carlito"/>
                <a:cs typeface="Carlito"/>
              </a:rPr>
              <a:t>subprocess  Step </a:t>
            </a:r>
            <a:r>
              <a:rPr dirty="0" sz="2400">
                <a:solidFill>
                  <a:srgbClr val="711316"/>
                </a:solidFill>
                <a:latin typeface="Carlito"/>
                <a:cs typeface="Carlito"/>
              </a:rPr>
              <a:t>3. </a:t>
            </a:r>
            <a:r>
              <a:rPr dirty="0" sz="2400" spc="-5">
                <a:solidFill>
                  <a:srgbClr val="711316"/>
                </a:solidFill>
                <a:latin typeface="Carlito"/>
                <a:cs typeface="Carlito"/>
              </a:rPr>
              <a:t>Describe use cases </a:t>
            </a:r>
            <a:r>
              <a:rPr dirty="0" sz="2400">
                <a:solidFill>
                  <a:srgbClr val="711316"/>
                </a:solidFill>
                <a:latin typeface="Carlito"/>
                <a:cs typeface="Carlito"/>
              </a:rPr>
              <a:t>and</a:t>
            </a:r>
            <a:r>
              <a:rPr dirty="0" sz="2400" spc="-50">
                <a:solidFill>
                  <a:srgbClr val="711316"/>
                </a:solidFill>
                <a:latin typeface="Carlito"/>
                <a:cs typeface="Carlito"/>
              </a:rPr>
              <a:t> </a:t>
            </a:r>
            <a:r>
              <a:rPr dirty="0" sz="2400" spc="-5">
                <a:solidFill>
                  <a:srgbClr val="711316"/>
                </a:solidFill>
                <a:latin typeface="Carlito"/>
                <a:cs typeface="Carlito"/>
              </a:rPr>
              <a:t>scenarios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00416" y="0"/>
            <a:ext cx="2639568" cy="670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66089" y="2020061"/>
            <a:ext cx="7198359" cy="368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6520" marR="127000" indent="-838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Use cases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represented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in next slides are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main  interactions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of the system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external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 actors.</a:t>
            </a:r>
            <a:endParaRPr sz="2400">
              <a:latin typeface="Arial"/>
              <a:cs typeface="Arial"/>
            </a:endParaRPr>
          </a:p>
          <a:p>
            <a:pPr marL="12700" marR="31877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Use cases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representing safety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security 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concerns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are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considered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as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well. They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are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labelled  CUM (Misuse</a:t>
            </a:r>
            <a:r>
              <a:rPr dirty="0" sz="2400" spc="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cases)</a:t>
            </a:r>
            <a:endParaRPr sz="24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use case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may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have more than one</a:t>
            </a:r>
            <a:r>
              <a:rPr dirty="0" sz="2400" spc="-7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scenario</a:t>
            </a:r>
            <a:endParaRPr sz="2400">
              <a:latin typeface="Arial"/>
              <a:cs typeface="Arial"/>
            </a:endParaRPr>
          </a:p>
          <a:p>
            <a:pPr marL="96520" marR="177165" indent="-838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Here use cases and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their scenarios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are described  textually using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</a:t>
            </a:r>
            <a:r>
              <a:rPr dirty="0" sz="2400" spc="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template.</a:t>
            </a:r>
            <a:endParaRPr sz="2400">
              <a:latin typeface="Arial"/>
              <a:cs typeface="Arial"/>
            </a:endParaRPr>
          </a:p>
          <a:p>
            <a:pPr marL="96520" marR="5080" indent="-83820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Other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representations such as sequence diagrams  or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activity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diagrams are</a:t>
            </a:r>
            <a:r>
              <a:rPr dirty="0" sz="2400" spc="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allowed.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689800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05380" algn="l"/>
              </a:tabLst>
            </a:pPr>
            <a:r>
              <a:rPr dirty="0" sz="4400"/>
              <a:t>IMD use	and misuse</a:t>
            </a:r>
            <a:r>
              <a:rPr dirty="0" sz="4400" spc="-55"/>
              <a:t> </a:t>
            </a:r>
            <a:r>
              <a:rPr dirty="0" sz="4400"/>
              <a:t>cases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/>
              <a:t>Operate on the</a:t>
            </a:r>
            <a:r>
              <a:rPr dirty="0" spc="-15"/>
              <a:t> </a:t>
            </a:r>
            <a:r>
              <a:rPr dirty="0"/>
              <a:t>patient</a:t>
            </a: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/>
              <a:t>Diagnose the</a:t>
            </a:r>
            <a:r>
              <a:rPr dirty="0" spc="-20"/>
              <a:t> </a:t>
            </a:r>
            <a:r>
              <a:rPr dirty="0"/>
              <a:t>patient</a:t>
            </a: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/>
              <a:t>Communicate patient</a:t>
            </a:r>
            <a:r>
              <a:rPr dirty="0" spc="-70"/>
              <a:t> </a:t>
            </a:r>
            <a:r>
              <a:rPr dirty="0"/>
              <a:t>results</a:t>
            </a: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/>
              <a:t>Manage and store</a:t>
            </a:r>
            <a:r>
              <a:rPr dirty="0" spc="-40"/>
              <a:t> </a:t>
            </a:r>
            <a:r>
              <a:rPr dirty="0"/>
              <a:t>results</a:t>
            </a:r>
          </a:p>
          <a:p>
            <a:pPr marL="469900" marR="1250315" indent="-457834">
              <a:lnSpc>
                <a:spcPts val="2500"/>
              </a:lnSpc>
              <a:spcBef>
                <a:spcPts val="60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/>
              <a:t>Prepare the</a:t>
            </a:r>
            <a:r>
              <a:rPr dirty="0" spc="-55"/>
              <a:t> </a:t>
            </a:r>
            <a:r>
              <a:rPr dirty="0"/>
              <a:t>surgical  intervention</a:t>
            </a:r>
          </a:p>
          <a:p>
            <a:pPr marL="469900" indent="-457834">
              <a:lnSpc>
                <a:spcPct val="100000"/>
              </a:lnSpc>
              <a:spcBef>
                <a:spcPts val="1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/>
              <a:t>Report system</a:t>
            </a:r>
            <a:r>
              <a:rPr dirty="0" spc="-55"/>
              <a:t> </a:t>
            </a:r>
            <a:r>
              <a:rPr dirty="0"/>
              <a:t>status</a:t>
            </a: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/>
              <a:t>Report system</a:t>
            </a:r>
            <a:r>
              <a:rPr dirty="0" spc="-55"/>
              <a:t> </a:t>
            </a:r>
            <a:r>
              <a:rPr dirty="0"/>
              <a:t>location</a:t>
            </a: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/>
              <a:t>Manage</a:t>
            </a:r>
            <a:r>
              <a:rPr dirty="0" spc="-20"/>
              <a:t> </a:t>
            </a:r>
            <a:r>
              <a:rPr dirty="0"/>
              <a:t>power</a:t>
            </a:r>
          </a:p>
          <a:p>
            <a:pPr marL="469900" marR="5080" indent="-457834">
              <a:lnSpc>
                <a:spcPts val="2500"/>
              </a:lnSpc>
              <a:spcBef>
                <a:spcPts val="60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/>
              <a:t>Report periodically about</a:t>
            </a:r>
            <a:r>
              <a:rPr dirty="0" spc="-70"/>
              <a:t> </a:t>
            </a:r>
            <a:r>
              <a:rPr dirty="0" spc="-5"/>
              <a:t>the  </a:t>
            </a:r>
            <a:r>
              <a:rPr dirty="0"/>
              <a:t>implanted system</a:t>
            </a:r>
            <a:r>
              <a:rPr dirty="0" spc="-40"/>
              <a:t> </a:t>
            </a:r>
            <a:r>
              <a:rPr dirty="0"/>
              <a:t>status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0629" y="1560702"/>
            <a:ext cx="4821555" cy="3117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Harm the</a:t>
            </a:r>
            <a:r>
              <a:rPr dirty="0" sz="2600" spc="-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patient</a:t>
            </a:r>
            <a:endParaRPr sz="26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Cause</a:t>
            </a:r>
            <a:r>
              <a:rPr dirty="0" sz="2600" spc="-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EMI</a:t>
            </a:r>
            <a:endParaRPr sz="26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Prevent</a:t>
            </a:r>
            <a:r>
              <a:rPr dirty="0" sz="2600" spc="-6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communication</a:t>
            </a:r>
            <a:endParaRPr sz="26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Prevent energy</a:t>
            </a:r>
            <a:r>
              <a:rPr dirty="0" sz="2600" spc="-7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transfer</a:t>
            </a:r>
            <a:endParaRPr sz="26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Harm the</a:t>
            </a:r>
            <a:r>
              <a:rPr dirty="0" sz="2600" spc="-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user</a:t>
            </a:r>
            <a:endParaRPr sz="26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Hack the</a:t>
            </a:r>
            <a:r>
              <a:rPr dirty="0" sz="2600" spc="-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system</a:t>
            </a:r>
            <a:endParaRPr sz="2600">
              <a:latin typeface="Arial"/>
              <a:cs typeface="Arial"/>
            </a:endParaRPr>
          </a:p>
          <a:p>
            <a:pPr marL="469900" marR="5080" indent="-457834">
              <a:lnSpc>
                <a:spcPts val="2500"/>
              </a:lnSpc>
              <a:spcBef>
                <a:spcPts val="60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A non-system related</a:t>
            </a:r>
            <a:r>
              <a:rPr dirty="0" sz="2600" spc="-2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medical  emergency</a:t>
            </a:r>
            <a:r>
              <a:rPr dirty="0" sz="2600" spc="-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arises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0772" y="26923"/>
            <a:ext cx="3468370" cy="1244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IMD Use</a:t>
            </a:r>
            <a:r>
              <a:rPr dirty="0" spc="-55"/>
              <a:t> </a:t>
            </a:r>
            <a:r>
              <a:rPr dirty="0" spc="-5"/>
              <a:t>cases  diagram</a:t>
            </a:r>
          </a:p>
        </p:txBody>
      </p:sp>
      <p:sp>
        <p:nvSpPr>
          <p:cNvPr id="4" name="object 4"/>
          <p:cNvSpPr/>
          <p:nvPr/>
        </p:nvSpPr>
        <p:spPr>
          <a:xfrm>
            <a:off x="4892040" y="0"/>
            <a:ext cx="5600700" cy="68427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515238"/>
            <a:ext cx="999363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IMD- Use Case </a:t>
            </a:r>
            <a:r>
              <a:rPr dirty="0" spc="-10"/>
              <a:t>UC1: </a:t>
            </a:r>
            <a:r>
              <a:rPr dirty="0" spc="-5"/>
              <a:t>Operate on the</a:t>
            </a:r>
            <a:r>
              <a:rPr dirty="0" spc="110"/>
              <a:t> </a:t>
            </a:r>
            <a:r>
              <a:rPr dirty="0" spc="-5"/>
              <a:t>patient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124" y="1568323"/>
            <a:ext cx="10012680" cy="448246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469900" marR="622935" indent="-457834">
              <a:lnSpc>
                <a:spcPts val="4640"/>
              </a:lnSpc>
              <a:spcBef>
                <a:spcPts val="680"/>
              </a:spcBef>
              <a:buFont typeface="Arial"/>
              <a:buChar char="•"/>
              <a:tabLst>
                <a:tab pos="469900" algn="l"/>
                <a:tab pos="470534" algn="l"/>
              </a:tabLst>
            </a:pPr>
            <a:r>
              <a:rPr dirty="0" sz="4300" spc="-5" b="1">
                <a:solidFill>
                  <a:srgbClr val="414042"/>
                </a:solidFill>
                <a:latin typeface="Arial"/>
                <a:cs typeface="Arial"/>
              </a:rPr>
              <a:t>Scenario 1</a:t>
            </a:r>
            <a:r>
              <a:rPr dirty="0" sz="4300" spc="-5">
                <a:solidFill>
                  <a:srgbClr val="414042"/>
                </a:solidFill>
                <a:latin typeface="Arial"/>
                <a:cs typeface="Arial"/>
              </a:rPr>
              <a:t>: The physician perform</a:t>
            </a:r>
            <a:r>
              <a:rPr dirty="0" sz="4300" spc="-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300" spc="-5">
                <a:solidFill>
                  <a:srgbClr val="414042"/>
                </a:solidFill>
                <a:latin typeface="Arial"/>
                <a:cs typeface="Arial"/>
              </a:rPr>
              <a:t>a  surgery only with the</a:t>
            </a:r>
            <a:r>
              <a:rPr dirty="0" sz="4300" spc="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300" spc="-5">
                <a:solidFill>
                  <a:srgbClr val="414042"/>
                </a:solidFill>
                <a:latin typeface="Arial"/>
                <a:cs typeface="Arial"/>
              </a:rPr>
              <a:t>system</a:t>
            </a:r>
            <a:endParaRPr sz="4300">
              <a:latin typeface="Arial"/>
              <a:cs typeface="Arial"/>
            </a:endParaRPr>
          </a:p>
          <a:p>
            <a:pPr marL="469900" marR="5080" indent="-457834">
              <a:lnSpc>
                <a:spcPts val="4640"/>
              </a:lnSpc>
              <a:spcBef>
                <a:spcPts val="1045"/>
              </a:spcBef>
              <a:buFont typeface="Arial"/>
              <a:buChar char="•"/>
              <a:tabLst>
                <a:tab pos="469900" algn="l"/>
                <a:tab pos="470534" algn="l"/>
              </a:tabLst>
            </a:pPr>
            <a:r>
              <a:rPr dirty="0" sz="4300" spc="-5" b="1">
                <a:solidFill>
                  <a:srgbClr val="414042"/>
                </a:solidFill>
                <a:latin typeface="Arial"/>
                <a:cs typeface="Arial"/>
              </a:rPr>
              <a:t>Scenario 2</a:t>
            </a:r>
            <a:r>
              <a:rPr dirty="0" sz="4300" spc="-5">
                <a:solidFill>
                  <a:srgbClr val="414042"/>
                </a:solidFill>
                <a:latin typeface="Arial"/>
                <a:cs typeface="Arial"/>
              </a:rPr>
              <a:t>: Surgery performed using a  combination of</a:t>
            </a:r>
            <a:r>
              <a:rPr dirty="0" sz="4300" spc="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300" spc="-5">
                <a:solidFill>
                  <a:srgbClr val="414042"/>
                </a:solidFill>
                <a:latin typeface="Arial"/>
                <a:cs typeface="Arial"/>
              </a:rPr>
              <a:t>systems</a:t>
            </a:r>
            <a:endParaRPr sz="4300">
              <a:latin typeface="Arial"/>
              <a:cs typeface="Arial"/>
            </a:endParaRPr>
          </a:p>
          <a:p>
            <a:pPr marL="469900" marR="702945" indent="-457834">
              <a:lnSpc>
                <a:spcPct val="90000"/>
              </a:lnSpc>
              <a:spcBef>
                <a:spcPts val="969"/>
              </a:spcBef>
              <a:buFont typeface="Arial"/>
              <a:buChar char="•"/>
              <a:tabLst>
                <a:tab pos="469900" algn="l"/>
                <a:tab pos="470534" algn="l"/>
              </a:tabLst>
            </a:pPr>
            <a:r>
              <a:rPr dirty="0" sz="4300" spc="-5" b="1">
                <a:solidFill>
                  <a:srgbClr val="414042"/>
                </a:solidFill>
                <a:latin typeface="Arial"/>
                <a:cs typeface="Arial"/>
              </a:rPr>
              <a:t>Scenario 3</a:t>
            </a:r>
            <a:r>
              <a:rPr dirty="0" sz="4300" spc="-5">
                <a:solidFill>
                  <a:srgbClr val="414042"/>
                </a:solidFill>
                <a:latin typeface="Arial"/>
                <a:cs typeface="Arial"/>
              </a:rPr>
              <a:t>: (Semi) permanent  implantation of the system inside the  patient's</a:t>
            </a:r>
            <a:r>
              <a:rPr dirty="0" sz="4300" spc="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300" spc="-70">
                <a:solidFill>
                  <a:srgbClr val="414042"/>
                </a:solidFill>
                <a:latin typeface="Arial"/>
                <a:cs typeface="Arial"/>
              </a:rPr>
              <a:t>body.</a:t>
            </a:r>
            <a:endParaRPr sz="4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11633"/>
            <a:ext cx="10166350" cy="18548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IMD- Use Case UC1: Operate on the </a:t>
            </a:r>
            <a:r>
              <a:rPr dirty="0"/>
              <a:t>patient-  </a:t>
            </a:r>
            <a:r>
              <a:rPr dirty="0" spc="-5"/>
              <a:t>Scenario 1. The physician perform a surgery  only with the</a:t>
            </a:r>
            <a:r>
              <a:rPr dirty="0" spc="25"/>
              <a:t> </a:t>
            </a:r>
            <a:r>
              <a:rPr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0772" y="2145029"/>
            <a:ext cx="9645650" cy="323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physician inserts the system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inside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patient's</a:t>
            </a:r>
            <a:r>
              <a:rPr dirty="0" sz="2700" spc="-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700" spc="-45">
                <a:solidFill>
                  <a:srgbClr val="414042"/>
                </a:solidFill>
                <a:latin typeface="Arial"/>
                <a:cs typeface="Arial"/>
              </a:rPr>
              <a:t>body.</a:t>
            </a:r>
            <a:endParaRPr sz="27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buAutoNum type="arabicPeriod"/>
              <a:tabLst>
                <a:tab pos="527685" algn="l"/>
                <a:tab pos="528320" algn="l"/>
              </a:tabLst>
            </a:pP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physician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guides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the system inside the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patient's</a:t>
            </a:r>
            <a:r>
              <a:rPr dirty="0" sz="2700" spc="-6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700" spc="-45">
                <a:solidFill>
                  <a:srgbClr val="414042"/>
                </a:solidFill>
                <a:latin typeface="Arial"/>
                <a:cs typeface="Arial"/>
              </a:rPr>
              <a:t>body.</a:t>
            </a:r>
            <a:endParaRPr sz="27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buAutoNum type="arabicPeriod"/>
              <a:tabLst>
                <a:tab pos="527685" algn="l"/>
                <a:tab pos="528320" algn="l"/>
              </a:tabLst>
            </a:pP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system transmit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its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status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position to the</a:t>
            </a:r>
            <a:r>
              <a:rPr dirty="0" sz="2700" spc="-6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physician.</a:t>
            </a:r>
            <a:endParaRPr sz="27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buAutoNum type="arabicPeriod"/>
              <a:tabLst>
                <a:tab pos="527685" algn="l"/>
                <a:tab pos="528320" algn="l"/>
              </a:tabLst>
            </a:pP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system transmits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that it has arrived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at the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surgery</a:t>
            </a:r>
            <a:r>
              <a:rPr dirty="0" sz="2700" spc="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point.</a:t>
            </a:r>
            <a:endParaRPr sz="27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buAutoNum type="arabicPeriod"/>
              <a:tabLst>
                <a:tab pos="527685" algn="l"/>
                <a:tab pos="528320" algn="l"/>
              </a:tabLst>
            </a:pP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physician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commands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the system to</a:t>
            </a:r>
            <a:r>
              <a:rPr dirty="0" sz="2700" spc="-4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operate.</a:t>
            </a:r>
            <a:endParaRPr sz="27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system transmits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the end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of the</a:t>
            </a:r>
            <a:r>
              <a:rPr dirty="0" sz="2700" spc="-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700" spc="-30">
                <a:solidFill>
                  <a:srgbClr val="414042"/>
                </a:solidFill>
                <a:latin typeface="Arial"/>
                <a:cs typeface="Arial"/>
              </a:rPr>
              <a:t>surgery.</a:t>
            </a:r>
            <a:endParaRPr sz="2700">
              <a:latin typeface="Arial"/>
              <a:cs typeface="Arial"/>
            </a:endParaRPr>
          </a:p>
          <a:p>
            <a:pPr marL="527685" marR="481330" indent="-515620">
              <a:lnSpc>
                <a:spcPts val="2590"/>
              </a:lnSpc>
              <a:spcBef>
                <a:spcPts val="62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physician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commands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the system to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comeback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to</a:t>
            </a:r>
            <a:r>
              <a:rPr dirty="0" sz="2700" spc="-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the  extraction</a:t>
            </a:r>
            <a:r>
              <a:rPr dirty="0" sz="2700" spc="-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414042"/>
                </a:solidFill>
                <a:latin typeface="Arial"/>
                <a:cs typeface="Arial"/>
              </a:rPr>
              <a:t>point.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5589" y="540511"/>
            <a:ext cx="5326380" cy="1123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711316"/>
                </a:solidFill>
                <a:latin typeface="Carlito"/>
                <a:cs typeface="Carlito"/>
              </a:rPr>
              <a:t>ISE&amp;PPOOA </a:t>
            </a:r>
            <a:r>
              <a:rPr dirty="0" sz="2400" spc="-5">
                <a:solidFill>
                  <a:srgbClr val="711316"/>
                </a:solidFill>
                <a:latin typeface="Carlito"/>
                <a:cs typeface="Carlito"/>
              </a:rPr>
              <a:t>Mission dimension </a:t>
            </a:r>
            <a:r>
              <a:rPr dirty="0" sz="2400" spc="-10">
                <a:solidFill>
                  <a:srgbClr val="711316"/>
                </a:solidFill>
                <a:latin typeface="Carlito"/>
                <a:cs typeface="Carlito"/>
              </a:rPr>
              <a:t>subprocess  Step </a:t>
            </a:r>
            <a:r>
              <a:rPr dirty="0" sz="2400">
                <a:solidFill>
                  <a:srgbClr val="711316"/>
                </a:solidFill>
                <a:latin typeface="Carlito"/>
                <a:cs typeface="Carlito"/>
              </a:rPr>
              <a:t>4. </a:t>
            </a:r>
            <a:r>
              <a:rPr dirty="0" sz="2400" spc="-5">
                <a:solidFill>
                  <a:srgbClr val="711316"/>
                </a:solidFill>
                <a:latin typeface="Carlito"/>
                <a:cs typeface="Carlito"/>
              </a:rPr>
              <a:t>Identify </a:t>
            </a:r>
            <a:r>
              <a:rPr dirty="0" sz="2400">
                <a:solidFill>
                  <a:srgbClr val="711316"/>
                </a:solidFill>
                <a:latin typeface="Carlito"/>
                <a:cs typeface="Carlito"/>
              </a:rPr>
              <a:t>the </a:t>
            </a:r>
            <a:r>
              <a:rPr dirty="0" sz="2400" spc="-10">
                <a:solidFill>
                  <a:srgbClr val="711316"/>
                </a:solidFill>
                <a:latin typeface="Carlito"/>
                <a:cs typeface="Carlito"/>
              </a:rPr>
              <a:t>operational </a:t>
            </a:r>
            <a:r>
              <a:rPr dirty="0" sz="2400" spc="-5">
                <a:solidFill>
                  <a:srgbClr val="711316"/>
                </a:solidFill>
                <a:latin typeface="Carlito"/>
                <a:cs typeface="Carlito"/>
              </a:rPr>
              <a:t>needs  associated </a:t>
            </a:r>
            <a:r>
              <a:rPr dirty="0" sz="2400" spc="-15">
                <a:solidFill>
                  <a:srgbClr val="711316"/>
                </a:solidFill>
                <a:latin typeface="Carlito"/>
                <a:cs typeface="Carlito"/>
              </a:rPr>
              <a:t>to</a:t>
            </a:r>
            <a:r>
              <a:rPr dirty="0" sz="2400" spc="-25">
                <a:solidFill>
                  <a:srgbClr val="711316"/>
                </a:solidFill>
                <a:latin typeface="Carlito"/>
                <a:cs typeface="Carlito"/>
              </a:rPr>
              <a:t> </a:t>
            </a:r>
            <a:r>
              <a:rPr dirty="0" sz="2400" spc="-5">
                <a:solidFill>
                  <a:srgbClr val="711316"/>
                </a:solidFill>
                <a:latin typeface="Carlito"/>
                <a:cs typeface="Carlito"/>
              </a:rPr>
              <a:t>scenarios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72628" y="161542"/>
            <a:ext cx="2598420" cy="6605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31291" y="2601214"/>
            <a:ext cx="5042535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800" spc="-10">
                <a:solidFill>
                  <a:srgbClr val="414042"/>
                </a:solidFill>
                <a:latin typeface="Carlito"/>
                <a:cs typeface="Carlito"/>
              </a:rPr>
              <a:t>Here operational </a:t>
            </a:r>
            <a:r>
              <a:rPr dirty="0" sz="1800">
                <a:solidFill>
                  <a:srgbClr val="414042"/>
                </a:solidFill>
                <a:latin typeface="Carlito"/>
                <a:cs typeface="Carlito"/>
              </a:rPr>
              <a:t>needs </a:t>
            </a:r>
            <a:r>
              <a:rPr dirty="0" sz="1800" spc="-10">
                <a:solidFill>
                  <a:srgbClr val="414042"/>
                </a:solidFill>
                <a:latin typeface="Carlito"/>
                <a:cs typeface="Carlito"/>
              </a:rPr>
              <a:t>are </a:t>
            </a:r>
            <a:r>
              <a:rPr dirty="0" sz="1800" spc="-5">
                <a:solidFill>
                  <a:srgbClr val="414042"/>
                </a:solidFill>
                <a:latin typeface="Carlito"/>
                <a:cs typeface="Carlito"/>
              </a:rPr>
              <a:t>defined in </a:t>
            </a:r>
            <a:r>
              <a:rPr dirty="0" sz="1800">
                <a:solidFill>
                  <a:srgbClr val="414042"/>
                </a:solidFill>
                <a:latin typeface="Carlito"/>
                <a:cs typeface="Carlito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Carlito"/>
                <a:cs typeface="Carlito"/>
              </a:rPr>
              <a:t>answer  </a:t>
            </a:r>
            <a:r>
              <a:rPr dirty="0" sz="1800" spc="-10">
                <a:solidFill>
                  <a:srgbClr val="414042"/>
                </a:solidFill>
                <a:latin typeface="Carlito"/>
                <a:cs typeface="Carlito"/>
              </a:rPr>
              <a:t>to </a:t>
            </a:r>
            <a:r>
              <a:rPr dirty="0" sz="1800">
                <a:solidFill>
                  <a:srgbClr val="414042"/>
                </a:solidFill>
                <a:latin typeface="Carlito"/>
                <a:cs typeface="Carlito"/>
              </a:rPr>
              <a:t>the </a:t>
            </a:r>
            <a:r>
              <a:rPr dirty="0" sz="1800" spc="-10">
                <a:solidFill>
                  <a:srgbClr val="414042"/>
                </a:solidFill>
                <a:latin typeface="Carlito"/>
                <a:cs typeface="Carlito"/>
              </a:rPr>
              <a:t>question </a:t>
            </a:r>
            <a:r>
              <a:rPr dirty="0" sz="1800" spc="-5">
                <a:solidFill>
                  <a:srgbClr val="414042"/>
                </a:solidFill>
                <a:latin typeface="Carlito"/>
                <a:cs typeface="Carlito"/>
              </a:rPr>
              <a:t>“What </a:t>
            </a:r>
            <a:r>
              <a:rPr dirty="0" sz="1800" spc="-10">
                <a:solidFill>
                  <a:srgbClr val="414042"/>
                </a:solidFill>
                <a:latin typeface="Carlito"/>
                <a:cs typeface="Carlito"/>
              </a:rPr>
              <a:t>problem are we </a:t>
            </a:r>
            <a:r>
              <a:rPr dirty="0" sz="1800">
                <a:solidFill>
                  <a:srgbClr val="414042"/>
                </a:solidFill>
                <a:latin typeface="Carlito"/>
                <a:cs typeface="Carlito"/>
              </a:rPr>
              <a:t>trying </a:t>
            </a:r>
            <a:r>
              <a:rPr dirty="0" sz="1800" spc="-10">
                <a:solidFill>
                  <a:srgbClr val="414042"/>
                </a:solidFill>
                <a:latin typeface="Carlito"/>
                <a:cs typeface="Carlito"/>
              </a:rPr>
              <a:t>to  solve </a:t>
            </a:r>
            <a:r>
              <a:rPr dirty="0" sz="1800" spc="-5">
                <a:solidFill>
                  <a:srgbClr val="414042"/>
                </a:solidFill>
                <a:latin typeface="Carlito"/>
                <a:cs typeface="Carlito"/>
              </a:rPr>
              <a:t>with </a:t>
            </a:r>
            <a:r>
              <a:rPr dirty="0" sz="1800">
                <a:solidFill>
                  <a:srgbClr val="414042"/>
                </a:solidFill>
                <a:latin typeface="Carlito"/>
                <a:cs typeface="Carlito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Carlito"/>
                <a:cs typeface="Carlito"/>
              </a:rPr>
              <a:t>new </a:t>
            </a:r>
            <a:r>
              <a:rPr dirty="0" sz="1800" spc="-20">
                <a:solidFill>
                  <a:srgbClr val="414042"/>
                </a:solidFill>
                <a:latin typeface="Carlito"/>
                <a:cs typeface="Carlito"/>
              </a:rPr>
              <a:t>system </a:t>
            </a:r>
            <a:r>
              <a:rPr dirty="0" sz="1800" spc="-10">
                <a:solidFill>
                  <a:srgbClr val="414042"/>
                </a:solidFill>
                <a:latin typeface="Carlito"/>
                <a:cs typeface="Carlito"/>
              </a:rPr>
              <a:t>operating </a:t>
            </a:r>
            <a:r>
              <a:rPr dirty="0" sz="1800">
                <a:solidFill>
                  <a:srgbClr val="414042"/>
                </a:solidFill>
                <a:latin typeface="Carlito"/>
                <a:cs typeface="Carlito"/>
              </a:rPr>
              <a:t>in a </a:t>
            </a:r>
            <a:r>
              <a:rPr dirty="0" sz="1800" spc="-5">
                <a:solidFill>
                  <a:srgbClr val="414042"/>
                </a:solidFill>
                <a:latin typeface="Carlito"/>
                <a:cs typeface="Carlito"/>
              </a:rPr>
              <a:t>particular  </a:t>
            </a:r>
            <a:r>
              <a:rPr dirty="0" sz="1800" spc="-10">
                <a:solidFill>
                  <a:srgbClr val="414042"/>
                </a:solidFill>
                <a:latin typeface="Carlito"/>
                <a:cs typeface="Carlito"/>
              </a:rPr>
              <a:t>context?”</a:t>
            </a:r>
            <a:endParaRPr sz="1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800" spc="-5">
                <a:solidFill>
                  <a:srgbClr val="414042"/>
                </a:solidFill>
                <a:latin typeface="Carlito"/>
                <a:cs typeface="Carlito"/>
              </a:rPr>
              <a:t>Some </a:t>
            </a:r>
            <a:r>
              <a:rPr dirty="0" sz="1800" spc="-10">
                <a:solidFill>
                  <a:srgbClr val="414042"/>
                </a:solidFill>
                <a:latin typeface="Carlito"/>
                <a:cs typeface="Carlito"/>
              </a:rPr>
              <a:t>authors </a:t>
            </a:r>
            <a:r>
              <a:rPr dirty="0" sz="1800" spc="-5">
                <a:solidFill>
                  <a:srgbClr val="414042"/>
                </a:solidFill>
                <a:latin typeface="Carlito"/>
                <a:cs typeface="Carlito"/>
              </a:rPr>
              <a:t>call </a:t>
            </a:r>
            <a:r>
              <a:rPr dirty="0" sz="1800">
                <a:solidFill>
                  <a:srgbClr val="414042"/>
                </a:solidFill>
                <a:latin typeface="Carlito"/>
                <a:cs typeface="Carlito"/>
              </a:rPr>
              <a:t>them </a:t>
            </a:r>
            <a:r>
              <a:rPr dirty="0" sz="1800" spc="-5">
                <a:solidFill>
                  <a:srgbClr val="414042"/>
                </a:solidFill>
                <a:latin typeface="Carlito"/>
                <a:cs typeface="Carlito"/>
              </a:rPr>
              <a:t>user or </a:t>
            </a:r>
            <a:r>
              <a:rPr dirty="0" sz="1800" spc="-15">
                <a:solidFill>
                  <a:srgbClr val="414042"/>
                </a:solidFill>
                <a:latin typeface="Carlito"/>
                <a:cs typeface="Carlito"/>
              </a:rPr>
              <a:t>stakeholder</a:t>
            </a:r>
            <a:r>
              <a:rPr dirty="0" sz="1800" spc="35">
                <a:solidFill>
                  <a:srgbClr val="414042"/>
                </a:solidFill>
                <a:latin typeface="Carlito"/>
                <a:cs typeface="Carlito"/>
              </a:rPr>
              <a:t> </a:t>
            </a:r>
            <a:r>
              <a:rPr dirty="0" sz="1800">
                <a:solidFill>
                  <a:srgbClr val="414042"/>
                </a:solidFill>
                <a:latin typeface="Carlito"/>
                <a:cs typeface="Carlito"/>
              </a:rPr>
              <a:t>needs</a:t>
            </a:r>
            <a:endParaRPr sz="1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800">
                <a:solidFill>
                  <a:srgbClr val="414042"/>
                </a:solidFill>
                <a:latin typeface="Carlito"/>
                <a:cs typeface="Carlito"/>
              </a:rPr>
              <a:t>An </a:t>
            </a:r>
            <a:r>
              <a:rPr dirty="0" sz="1800" spc="-10">
                <a:solidFill>
                  <a:srgbClr val="414042"/>
                </a:solidFill>
                <a:latin typeface="Carlito"/>
                <a:cs typeface="Carlito"/>
              </a:rPr>
              <a:t>operational </a:t>
            </a:r>
            <a:r>
              <a:rPr dirty="0" sz="1800" spc="-5">
                <a:solidFill>
                  <a:srgbClr val="414042"/>
                </a:solidFill>
                <a:latin typeface="Carlito"/>
                <a:cs typeface="Carlito"/>
              </a:rPr>
              <a:t>need </a:t>
            </a:r>
            <a:r>
              <a:rPr dirty="0" sz="1800" spc="-15">
                <a:solidFill>
                  <a:srgbClr val="414042"/>
                </a:solidFill>
                <a:latin typeface="Carlito"/>
                <a:cs typeface="Carlito"/>
              </a:rPr>
              <a:t>may </a:t>
            </a:r>
            <a:r>
              <a:rPr dirty="0" sz="1800">
                <a:solidFill>
                  <a:srgbClr val="414042"/>
                </a:solidFill>
                <a:latin typeface="Carlito"/>
                <a:cs typeface="Carlito"/>
              </a:rPr>
              <a:t>appear </a:t>
            </a:r>
            <a:r>
              <a:rPr dirty="0" sz="1800" spc="-5">
                <a:solidFill>
                  <a:srgbClr val="414042"/>
                </a:solidFill>
                <a:latin typeface="Carlito"/>
                <a:cs typeface="Carlito"/>
              </a:rPr>
              <a:t>in</a:t>
            </a:r>
            <a:r>
              <a:rPr dirty="0" sz="1800" spc="40">
                <a:solidFill>
                  <a:srgbClr val="414042"/>
                </a:solidFill>
                <a:latin typeface="Carlito"/>
                <a:cs typeface="Carlito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Carlito"/>
                <a:cs typeface="Carlito"/>
              </a:rPr>
              <a:t>multiple</a:t>
            </a:r>
            <a:endParaRPr sz="1800">
              <a:latin typeface="Carlito"/>
              <a:cs typeface="Carlito"/>
            </a:endParaRPr>
          </a:p>
          <a:p>
            <a:pPr marL="299085">
              <a:lnSpc>
                <a:spcPct val="100000"/>
              </a:lnSpc>
            </a:pPr>
            <a:r>
              <a:rPr dirty="0" sz="1800" spc="-10">
                <a:solidFill>
                  <a:srgbClr val="414042"/>
                </a:solidFill>
                <a:latin typeface="Carlito"/>
                <a:cs typeface="Carlito"/>
              </a:rPr>
              <a:t>scenarios</a:t>
            </a:r>
            <a:endParaRPr sz="1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800" spc="-5">
                <a:solidFill>
                  <a:srgbClr val="414042"/>
                </a:solidFill>
                <a:latin typeface="Carlito"/>
                <a:cs typeface="Carlito"/>
              </a:rPr>
              <a:t>Identify MoEs </a:t>
            </a:r>
            <a:r>
              <a:rPr dirty="0" sz="1800" spc="-15">
                <a:solidFill>
                  <a:srgbClr val="414042"/>
                </a:solidFill>
                <a:latin typeface="Carlito"/>
                <a:cs typeface="Carlito"/>
              </a:rPr>
              <a:t>related </a:t>
            </a:r>
            <a:r>
              <a:rPr dirty="0" sz="1800" spc="-10">
                <a:solidFill>
                  <a:srgbClr val="414042"/>
                </a:solidFill>
                <a:latin typeface="Carlito"/>
                <a:cs typeface="Carlito"/>
              </a:rPr>
              <a:t>to </a:t>
            </a:r>
            <a:r>
              <a:rPr dirty="0" sz="1800">
                <a:solidFill>
                  <a:srgbClr val="414042"/>
                </a:solidFill>
                <a:latin typeface="Carlito"/>
                <a:cs typeface="Carlito"/>
              </a:rPr>
              <a:t>the</a:t>
            </a:r>
            <a:r>
              <a:rPr dirty="0" sz="1800" spc="45">
                <a:solidFill>
                  <a:srgbClr val="414042"/>
                </a:solidFill>
                <a:latin typeface="Carlito"/>
                <a:cs typeface="Carlito"/>
              </a:rPr>
              <a:t> </a:t>
            </a:r>
            <a:r>
              <a:rPr dirty="0" sz="1800">
                <a:solidFill>
                  <a:srgbClr val="414042"/>
                </a:solidFill>
                <a:latin typeface="Carlito"/>
                <a:cs typeface="Carlito"/>
              </a:rPr>
              <a:t>mission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3463" y="162509"/>
            <a:ext cx="10220325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236085" marR="5080" indent="-422402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Operational needs related </a:t>
            </a:r>
            <a:r>
              <a:rPr dirty="0"/>
              <a:t>to </a:t>
            </a:r>
            <a:r>
              <a:rPr dirty="0" spc="-5"/>
              <a:t>UC 1 scenario 1  ( 1 of 3)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124" y="1580514"/>
            <a:ext cx="10109835" cy="405066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469900" marR="142875" indent="-457834">
              <a:lnSpc>
                <a:spcPts val="1920"/>
              </a:lnSpc>
              <a:spcBef>
                <a:spcPts val="56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ON1.1_1. The surgeon can insert the system inside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patient's body by means of</a:t>
            </a:r>
            <a:r>
              <a:rPr dirty="0" sz="2000" spc="-29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  needle whose diameter is less than 1 </a:t>
            </a:r>
            <a:r>
              <a:rPr dirty="0" sz="2000" spc="5">
                <a:solidFill>
                  <a:srgbClr val="414042"/>
                </a:solidFill>
                <a:latin typeface="Arial"/>
                <a:cs typeface="Arial"/>
              </a:rPr>
              <a:t>+/-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0.1</a:t>
            </a:r>
            <a:r>
              <a:rPr dirty="0" sz="2000" spc="-18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mm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2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ON1.1_2. The surgeon can inject the system immersed in saline or other suitable</a:t>
            </a:r>
            <a:r>
              <a:rPr dirty="0" sz="2000" spc="-27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fluid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ON1.1_3. The surgeon can inject the system inside an</a:t>
            </a:r>
            <a:r>
              <a:rPr dirty="0" sz="2000" spc="-24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artery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ON1.1_4. Patient's tissues pressure will not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affect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the system</a:t>
            </a:r>
            <a:r>
              <a:rPr dirty="0" sz="2000" spc="-229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performance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ON1.1_5. Patient's tissues will not </a:t>
            </a:r>
            <a:r>
              <a:rPr dirty="0" sz="2000" spc="-10">
                <a:solidFill>
                  <a:srgbClr val="414042"/>
                </a:solidFill>
                <a:latin typeface="Arial"/>
                <a:cs typeface="Arial"/>
              </a:rPr>
              <a:t>affect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chemically the system</a:t>
            </a:r>
            <a:r>
              <a:rPr dirty="0" sz="2000" spc="-17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performance</a:t>
            </a:r>
            <a:endParaRPr sz="2000">
              <a:latin typeface="Arial"/>
              <a:cs typeface="Arial"/>
            </a:endParaRPr>
          </a:p>
          <a:p>
            <a:pPr marL="469900" marR="370840" indent="-457834">
              <a:lnSpc>
                <a:spcPct val="80000"/>
              </a:lnSpc>
              <a:spcBef>
                <a:spcPts val="48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ON1.1_6. The electrical properties of the patient's tissues will not </a:t>
            </a:r>
            <a:r>
              <a:rPr dirty="0" sz="2000" spc="-10">
                <a:solidFill>
                  <a:srgbClr val="414042"/>
                </a:solidFill>
                <a:latin typeface="Arial"/>
                <a:cs typeface="Arial"/>
              </a:rPr>
              <a:t>affect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the</a:t>
            </a:r>
            <a:r>
              <a:rPr dirty="0" sz="2000" spc="-26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system  performance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ON1.1_7. Patient's temperature will not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affect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the system</a:t>
            </a:r>
            <a:r>
              <a:rPr dirty="0" sz="2000" spc="-204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performance</a:t>
            </a:r>
            <a:endParaRPr sz="2000">
              <a:latin typeface="Arial"/>
              <a:cs typeface="Arial"/>
            </a:endParaRPr>
          </a:p>
          <a:p>
            <a:pPr marL="469900" marR="49530" indent="-457834">
              <a:lnSpc>
                <a:spcPct val="80000"/>
              </a:lnSpc>
              <a:spcBef>
                <a:spcPts val="484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ON1.1_8. The surgeon can activate the system motion immediately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after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the</a:t>
            </a:r>
            <a:r>
              <a:rPr dirty="0" sz="2000" spc="-26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insertion  inside the patient's</a:t>
            </a:r>
            <a:r>
              <a:rPr dirty="0" sz="2000" spc="-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body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ON1.1_9. The surgeon can command the system to move</a:t>
            </a:r>
            <a:r>
              <a:rPr dirty="0" sz="2000" spc="-26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autonomously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ts val="216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ON1.1_10. The surgeon is informed if there is any obstacle which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affects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the</a:t>
            </a:r>
            <a:r>
              <a:rPr dirty="0" sz="2000" spc="-28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system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ts val="2160"/>
              </a:lnSpc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motion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2302" y="210438"/>
            <a:ext cx="10219690" cy="1244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236085" marR="5080" indent="-422402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Operational needs related to UC 1 scenario 1  ( 2 of 3)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4111" y="1543303"/>
            <a:ext cx="10522585" cy="4305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800" spc="-20">
                <a:solidFill>
                  <a:srgbClr val="414042"/>
                </a:solidFill>
                <a:latin typeface="Arial"/>
                <a:cs typeface="Arial"/>
              </a:rPr>
              <a:t>ON1.1_11.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surgeon can command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system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to</a:t>
            </a:r>
            <a:r>
              <a:rPr dirty="0" sz="1800" spc="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rotate.</a:t>
            </a:r>
            <a:endParaRPr sz="18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ON1.1_12.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surgeon can guide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system</a:t>
            </a:r>
            <a:r>
              <a:rPr dirty="0" sz="1800" spc="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414042"/>
                </a:solidFill>
                <a:latin typeface="Arial"/>
                <a:cs typeface="Arial"/>
              </a:rPr>
              <a:t>manually.</a:t>
            </a:r>
            <a:endParaRPr sz="1800">
              <a:latin typeface="Arial"/>
              <a:cs typeface="Arial"/>
            </a:endParaRPr>
          </a:p>
          <a:p>
            <a:pPr marL="469900" indent="-457200">
              <a:lnSpc>
                <a:spcPts val="1945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ON1.1_13.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surgeon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will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know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system position inside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patient's body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with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 accuracy</a:t>
            </a:r>
            <a:r>
              <a:rPr dirty="0" sz="1800" spc="2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ts val="1945"/>
              </a:lnSpc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0.1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mm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and a precision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0.1</a:t>
            </a:r>
            <a:r>
              <a:rPr dirty="0" sz="1800" spc="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mm.</a:t>
            </a:r>
            <a:endParaRPr sz="1800">
              <a:latin typeface="Arial"/>
              <a:cs typeface="Arial"/>
            </a:endParaRPr>
          </a:p>
          <a:p>
            <a:pPr marL="469900" indent="-457200">
              <a:lnSpc>
                <a:spcPts val="1945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ON1.1_14.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surgeon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will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know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system rotation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state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using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symmetry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axes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</a:t>
            </a:r>
            <a:r>
              <a:rPr dirty="0" sz="1800" spc="1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device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ts val="1945"/>
              </a:lnSpc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as reference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with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 accuracy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1 degree and a precision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1</a:t>
            </a:r>
            <a:r>
              <a:rPr dirty="0" sz="1800" spc="1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degree.</a:t>
            </a:r>
            <a:endParaRPr sz="18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ON1.1_15.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surgeon can verify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correct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functioning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the system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at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any</a:t>
            </a:r>
            <a:r>
              <a:rPr dirty="0" sz="1800" spc="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time.</a:t>
            </a:r>
            <a:endParaRPr sz="1800">
              <a:latin typeface="Arial"/>
              <a:cs typeface="Arial"/>
            </a:endParaRPr>
          </a:p>
          <a:p>
            <a:pPr marL="469900" marR="5080" indent="-457200">
              <a:lnSpc>
                <a:spcPct val="80000"/>
              </a:lnSpc>
              <a:spcBef>
                <a:spcPts val="4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ON1.1_16.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surgeon can verify that the system has achieved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surgery point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with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 accuracy 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0.1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mm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and a precision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0.1</a:t>
            </a:r>
            <a:r>
              <a:rPr dirty="0" sz="1800" spc="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mm.</a:t>
            </a:r>
            <a:endParaRPr sz="1800">
              <a:latin typeface="Arial"/>
              <a:cs typeface="Arial"/>
            </a:endParaRPr>
          </a:p>
          <a:p>
            <a:pPr marL="469900" indent="-457200">
              <a:lnSpc>
                <a:spcPts val="1945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ON1.1_17.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surgeon can stabilize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system motion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with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 accuracy of 0.1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mm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and</a:t>
            </a:r>
            <a:r>
              <a:rPr dirty="0" sz="1800" spc="10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ts val="1945"/>
              </a:lnSpc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precision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0.1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mm.</a:t>
            </a:r>
            <a:endParaRPr sz="1800">
              <a:latin typeface="Arial"/>
              <a:cs typeface="Arial"/>
            </a:endParaRPr>
          </a:p>
          <a:p>
            <a:pPr marL="469900" marR="663575" indent="-457200">
              <a:lnSpc>
                <a:spcPct val="80000"/>
              </a:lnSpc>
              <a:spcBef>
                <a:spcPts val="4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ON1.1_18.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surgeon can stabilize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system rotation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with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 accuracy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1 degree and a  precision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1</a:t>
            </a:r>
            <a:r>
              <a:rPr dirty="0" sz="1800" spc="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degree.</a:t>
            </a:r>
            <a:endParaRPr sz="1800">
              <a:latin typeface="Arial"/>
              <a:cs typeface="Arial"/>
            </a:endParaRPr>
          </a:p>
          <a:p>
            <a:pPr marL="469900" marR="180975" indent="-457200">
              <a:lnSpc>
                <a:spcPct val="80000"/>
              </a:lnSpc>
              <a:spcBef>
                <a:spcPts val="4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ON1.1_19.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surgeon can command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autonomous stabilization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the system motion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with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  accuracy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0.1 mm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and a precision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0.1</a:t>
            </a:r>
            <a:r>
              <a:rPr dirty="0" sz="1800" spc="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mm.</a:t>
            </a:r>
            <a:endParaRPr sz="1800">
              <a:latin typeface="Arial"/>
              <a:cs typeface="Arial"/>
            </a:endParaRPr>
          </a:p>
          <a:p>
            <a:pPr marL="469900" marR="104775" indent="-457200">
              <a:lnSpc>
                <a:spcPts val="1730"/>
              </a:lnSpc>
              <a:spcBef>
                <a:spcPts val="42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ON1.1_20.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surgeon can command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autonomous stabilization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the system rotation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with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  accuracy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1 degree and a precision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1</a:t>
            </a:r>
            <a:r>
              <a:rPr dirty="0" sz="1800" spc="4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degree.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9372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343" y="210438"/>
            <a:ext cx="10219690" cy="1244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236085" marR="5080" indent="-422402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Operational needs related to UC 1 scenario 1  ( 3 of 3)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3671" y="1681048"/>
            <a:ext cx="10502900" cy="39655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5"/>
              </a:spcBef>
              <a:buChar char="•"/>
              <a:tabLst>
                <a:tab pos="469265" algn="l"/>
                <a:tab pos="470534" algn="l"/>
              </a:tabLst>
            </a:pP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ON1.1_21. </a:t>
            </a:r>
            <a:r>
              <a:rPr dirty="0" sz="1700" spc="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surgeon can command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activation or deactivation of the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system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sensors at any</a:t>
            </a:r>
            <a:r>
              <a:rPr dirty="0" sz="1700" spc="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time.</a:t>
            </a:r>
            <a:endParaRPr sz="1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  <a:tab pos="470534" algn="l"/>
              </a:tabLst>
            </a:pP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ON1.1_22. System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data transmission </a:t>
            </a:r>
            <a:r>
              <a:rPr dirty="0" sz="1700" spc="-10">
                <a:solidFill>
                  <a:srgbClr val="414042"/>
                </a:solidFill>
                <a:latin typeface="Arial"/>
                <a:cs typeface="Arial"/>
              </a:rPr>
              <a:t>will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have a minimum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bandwidth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of 50</a:t>
            </a:r>
            <a:r>
              <a:rPr dirty="0" sz="1700" spc="7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kHz.</a:t>
            </a:r>
            <a:endParaRPr sz="1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265" algn="l"/>
                <a:tab pos="470534" algn="l"/>
              </a:tabLst>
            </a:pP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ON1.1_23.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Surgeon commands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to the system will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have a minimum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bandwidth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of 50</a:t>
            </a:r>
            <a:r>
              <a:rPr dirty="0" sz="1700" spc="10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kHz.</a:t>
            </a:r>
            <a:endParaRPr sz="1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265" algn="l"/>
                <a:tab pos="470534" algn="l"/>
              </a:tabLst>
            </a:pP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ON1.1_24. </a:t>
            </a:r>
            <a:r>
              <a:rPr dirty="0" sz="1700" spc="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surgeon can command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 activation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or deactivation of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 system actuators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at any</a:t>
            </a:r>
            <a:r>
              <a:rPr dirty="0" sz="1700" spc="20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time.</a:t>
            </a:r>
            <a:endParaRPr sz="1700">
              <a:latin typeface="Arial"/>
              <a:cs typeface="Arial"/>
            </a:endParaRPr>
          </a:p>
          <a:p>
            <a:pPr marL="469900" indent="-457834">
              <a:lnSpc>
                <a:spcPts val="1835"/>
              </a:lnSpc>
              <a:buChar char="•"/>
              <a:tabLst>
                <a:tab pos="469265" algn="l"/>
                <a:tab pos="470534" algn="l"/>
              </a:tabLst>
            </a:pP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ON1.1_25. </a:t>
            </a:r>
            <a:r>
              <a:rPr dirty="0" sz="1700" spc="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surgeon can measure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 system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surgery duration </a:t>
            </a:r>
            <a:r>
              <a:rPr dirty="0" sz="1700" spc="-10">
                <a:solidFill>
                  <a:srgbClr val="414042"/>
                </a:solidFill>
                <a:latin typeface="Arial"/>
                <a:cs typeface="Arial"/>
              </a:rPr>
              <a:t>with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an accuracy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better than 0.01</a:t>
            </a:r>
            <a:r>
              <a:rPr dirty="0" sz="1700" spc="15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</a:t>
            </a:r>
            <a:endParaRPr sz="1700">
              <a:latin typeface="Arial"/>
              <a:cs typeface="Arial"/>
            </a:endParaRPr>
          </a:p>
          <a:p>
            <a:pPr marL="469900">
              <a:lnSpc>
                <a:spcPts val="1835"/>
              </a:lnSpc>
            </a:pP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and a precision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better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than 0.01</a:t>
            </a:r>
            <a:r>
              <a:rPr dirty="0" sz="1700" spc="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s.</a:t>
            </a:r>
            <a:endParaRPr sz="1700">
              <a:latin typeface="Arial"/>
              <a:cs typeface="Arial"/>
            </a:endParaRPr>
          </a:p>
          <a:p>
            <a:pPr marL="469900" marR="811530" indent="-457834">
              <a:lnSpc>
                <a:spcPts val="1630"/>
              </a:lnSpc>
              <a:spcBef>
                <a:spcPts val="395"/>
              </a:spcBef>
              <a:buChar char="•"/>
              <a:tabLst>
                <a:tab pos="469265" algn="l"/>
                <a:tab pos="470534" algn="l"/>
              </a:tabLst>
            </a:pP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ON1.1_26. </a:t>
            </a:r>
            <a:r>
              <a:rPr dirty="0" sz="1700" spc="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surgeon can command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 system to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shut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down its actuators after 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surgery is  finished.</a:t>
            </a:r>
            <a:endParaRPr sz="1700">
              <a:latin typeface="Arial"/>
              <a:cs typeface="Arial"/>
            </a:endParaRPr>
          </a:p>
          <a:p>
            <a:pPr marL="469900" marR="138430" indent="-457834">
              <a:lnSpc>
                <a:spcPct val="80000"/>
              </a:lnSpc>
              <a:spcBef>
                <a:spcPts val="425"/>
              </a:spcBef>
              <a:buChar char="•"/>
              <a:tabLst>
                <a:tab pos="469265" algn="l"/>
                <a:tab pos="470534" algn="l"/>
              </a:tabLst>
            </a:pP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ON1.1_27. </a:t>
            </a:r>
            <a:r>
              <a:rPr dirty="0" sz="1700" spc="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surgeon can command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 system to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detect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surgery completion automatically using 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its</a:t>
            </a:r>
            <a:r>
              <a:rPr dirty="0" sz="1700" spc="-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sensors.</a:t>
            </a:r>
            <a:endParaRPr sz="1700">
              <a:latin typeface="Arial"/>
              <a:cs typeface="Arial"/>
            </a:endParaRPr>
          </a:p>
          <a:p>
            <a:pPr marL="469900" indent="-457834">
              <a:lnSpc>
                <a:spcPts val="1835"/>
              </a:lnSpc>
              <a:buChar char="•"/>
              <a:tabLst>
                <a:tab pos="469265" algn="l"/>
                <a:tab pos="470534" algn="l"/>
              </a:tabLst>
            </a:pP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ON1.1_28. </a:t>
            </a:r>
            <a:r>
              <a:rPr dirty="0" sz="1700" spc="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surgeon can guide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 system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manually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towards the extraction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point </a:t>
            </a:r>
            <a:r>
              <a:rPr dirty="0" sz="1700" spc="-10">
                <a:solidFill>
                  <a:srgbClr val="414042"/>
                </a:solidFill>
                <a:latin typeface="Arial"/>
                <a:cs typeface="Arial"/>
              </a:rPr>
              <a:t>with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an accuracy</a:t>
            </a:r>
            <a:r>
              <a:rPr dirty="0" sz="1700" spc="19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of</a:t>
            </a:r>
            <a:endParaRPr sz="1700">
              <a:latin typeface="Arial"/>
              <a:cs typeface="Arial"/>
            </a:endParaRPr>
          </a:p>
          <a:p>
            <a:pPr marL="469900">
              <a:lnSpc>
                <a:spcPts val="1835"/>
              </a:lnSpc>
            </a:pP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0.1 </a:t>
            </a:r>
            <a:r>
              <a:rPr dirty="0" sz="1700" spc="5">
                <a:solidFill>
                  <a:srgbClr val="414042"/>
                </a:solidFill>
                <a:latin typeface="Arial"/>
                <a:cs typeface="Arial"/>
              </a:rPr>
              <a:t>mm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and a precision of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0.1</a:t>
            </a:r>
            <a:r>
              <a:rPr dirty="0" sz="1700" spc="-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mm.</a:t>
            </a:r>
            <a:endParaRPr sz="1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265" algn="l"/>
                <a:tab pos="470534" algn="l"/>
              </a:tabLst>
            </a:pP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ON1.1_29. </a:t>
            </a:r>
            <a:r>
              <a:rPr dirty="0" sz="1700" spc="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surgeon can command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 system to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go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 extraction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point in an autonomous</a:t>
            </a:r>
            <a:r>
              <a:rPr dirty="0" sz="1700" spc="1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 spc="-40">
                <a:solidFill>
                  <a:srgbClr val="414042"/>
                </a:solidFill>
                <a:latin typeface="Arial"/>
                <a:cs typeface="Arial"/>
              </a:rPr>
              <a:t>way.</a:t>
            </a:r>
            <a:endParaRPr sz="1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265" algn="l"/>
                <a:tab pos="470534" algn="l"/>
              </a:tabLst>
            </a:pP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ON1.1_30. </a:t>
            </a:r>
            <a:r>
              <a:rPr dirty="0" sz="1700" spc="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system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must be biocompatible </a:t>
            </a:r>
            <a:r>
              <a:rPr dirty="0" sz="1700" spc="-10">
                <a:solidFill>
                  <a:srgbClr val="414042"/>
                </a:solidFill>
                <a:latin typeface="Arial"/>
                <a:cs typeface="Arial"/>
              </a:rPr>
              <a:t>with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patient's</a:t>
            </a:r>
            <a:r>
              <a:rPr dirty="0" sz="1700" spc="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tissues.</a:t>
            </a:r>
            <a:endParaRPr sz="1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265" algn="l"/>
                <a:tab pos="470534" algn="l"/>
              </a:tabLst>
            </a:pP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ON1.1_31. </a:t>
            </a:r>
            <a:r>
              <a:rPr dirty="0" sz="1700" spc="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surgeon can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fix 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duration of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</a:t>
            </a:r>
            <a:r>
              <a:rPr dirty="0" sz="1700" spc="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414042"/>
                </a:solidFill>
                <a:latin typeface="Arial"/>
                <a:cs typeface="Arial"/>
              </a:rPr>
              <a:t>surgery.</a:t>
            </a:r>
            <a:endParaRPr sz="17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265" algn="l"/>
                <a:tab pos="470534" algn="l"/>
              </a:tabLst>
            </a:pP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ON1.1_32. </a:t>
            </a:r>
            <a:r>
              <a:rPr dirty="0" sz="1700" spc="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surgeon can use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 system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continuously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without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any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interruption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during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the</a:t>
            </a:r>
            <a:r>
              <a:rPr dirty="0" sz="1700" spc="1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whole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0922" y="5568188"/>
            <a:ext cx="223456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duration of the</a:t>
            </a:r>
            <a:r>
              <a:rPr dirty="0" sz="1700" spc="-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414042"/>
                </a:solidFill>
                <a:latin typeface="Arial"/>
                <a:cs typeface="Arial"/>
              </a:rPr>
              <a:t>surgery.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58928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</a:t>
            </a:r>
            <a:r>
              <a:rPr dirty="0" sz="1400" spc="5">
                <a:solidFill>
                  <a:srgbClr val="414042"/>
                </a:solidFill>
                <a:latin typeface="Arial Black"/>
                <a:cs typeface="Arial Black"/>
              </a:rPr>
              <a:t>B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S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35994" y="5646569"/>
            <a:ext cx="937260" cy="4902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4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0371" y="6420406"/>
            <a:ext cx="2196465" cy="252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10">
                <a:solidFill>
                  <a:srgbClr val="929292"/>
                </a:solidFill>
                <a:latin typeface="Arial"/>
                <a:cs typeface="Arial"/>
                <a:hlinkClick r:id="rId2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20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704151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Measure of </a:t>
            </a:r>
            <a:r>
              <a:rPr dirty="0" sz="4400" spc="-5"/>
              <a:t>Efficiency</a:t>
            </a:r>
            <a:r>
              <a:rPr dirty="0" sz="4400" spc="-85"/>
              <a:t> </a:t>
            </a:r>
            <a:r>
              <a:rPr dirty="0" sz="4400"/>
              <a:t>(MoE)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719124" y="1536319"/>
            <a:ext cx="10545445" cy="394906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469900" marR="5080" indent="-457834">
              <a:lnSpc>
                <a:spcPct val="80000"/>
              </a:lnSpc>
              <a:spcBef>
                <a:spcPts val="890"/>
              </a:spcBef>
              <a:buChar char="•"/>
              <a:tabLst>
                <a:tab pos="469900" algn="l"/>
                <a:tab pos="470534" algn="l"/>
                <a:tab pos="10090785" algn="l"/>
              </a:tabLst>
            </a:pP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An MoE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represents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a stakeholder expectation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that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is 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critical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the success of </a:t>
            </a:r>
            <a:r>
              <a:rPr dirty="0" sz="3300" spc="-1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system/mission,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and 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failure to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attain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its critical value,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attribute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or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feature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will  cause the stakeholder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to judge</a:t>
            </a:r>
            <a:r>
              <a:rPr dirty="0" sz="3300" spc="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the</a:t>
            </a:r>
            <a:r>
              <a:rPr dirty="0" sz="3300" spc="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system/mission	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a  failure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(Expanded Guidance for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NASA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Systems 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Engineering,</a:t>
            </a:r>
            <a:r>
              <a:rPr dirty="0" sz="3300" spc="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2016)</a:t>
            </a:r>
            <a:endParaRPr sz="3300">
              <a:latin typeface="Arial"/>
              <a:cs typeface="Arial"/>
            </a:endParaRPr>
          </a:p>
          <a:p>
            <a:pPr marL="469900" marR="282575" indent="-469900">
              <a:lnSpc>
                <a:spcPct val="90000"/>
              </a:lnSpc>
              <a:spcBef>
                <a:spcPts val="40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Example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of MoE </a:t>
            </a:r>
            <a:r>
              <a:rPr dirty="0" sz="3300" spc="-5">
                <a:solidFill>
                  <a:srgbClr val="414042"/>
                </a:solidFill>
                <a:latin typeface="Arial"/>
                <a:cs typeface="Arial"/>
              </a:rPr>
              <a:t>we identified related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3300" spc="-10">
                <a:solidFill>
                  <a:srgbClr val="414042"/>
                </a:solidFill>
                <a:latin typeface="Arial"/>
                <a:cs typeface="Arial"/>
              </a:rPr>
              <a:t>IMD </a:t>
            </a:r>
            <a:r>
              <a:rPr dirty="0" sz="3300">
                <a:solidFill>
                  <a:srgbClr val="414042"/>
                </a:solidFill>
                <a:latin typeface="Arial"/>
                <a:cs typeface="Arial"/>
              </a:rPr>
              <a:t>energy: </a:t>
            </a:r>
            <a:r>
              <a:rPr dirty="0" sz="3300">
                <a:solidFill>
                  <a:srgbClr val="711316"/>
                </a:solidFill>
                <a:latin typeface="Arial"/>
                <a:cs typeface="Arial"/>
              </a:rPr>
              <a:t> </a:t>
            </a:r>
            <a:r>
              <a:rPr dirty="0" sz="3300" spc="-10">
                <a:solidFill>
                  <a:srgbClr val="711316"/>
                </a:solidFill>
                <a:latin typeface="Arial"/>
                <a:cs typeface="Arial"/>
              </a:rPr>
              <a:t>Availability </a:t>
            </a:r>
            <a:r>
              <a:rPr dirty="0" sz="3300">
                <a:solidFill>
                  <a:srgbClr val="711316"/>
                </a:solidFill>
                <a:latin typeface="Arial"/>
                <a:cs typeface="Arial"/>
              </a:rPr>
              <a:t>of </a:t>
            </a:r>
            <a:r>
              <a:rPr dirty="0" sz="3300" spc="-5">
                <a:solidFill>
                  <a:srgbClr val="711316"/>
                </a:solidFill>
                <a:latin typeface="Arial"/>
                <a:cs typeface="Arial"/>
              </a:rPr>
              <a:t>energy </a:t>
            </a:r>
            <a:r>
              <a:rPr dirty="0" sz="3300">
                <a:solidFill>
                  <a:srgbClr val="711316"/>
                </a:solidFill>
                <a:latin typeface="Arial"/>
                <a:cs typeface="Arial"/>
              </a:rPr>
              <a:t>to </a:t>
            </a:r>
            <a:r>
              <a:rPr dirty="0" sz="3300" spc="-10">
                <a:solidFill>
                  <a:srgbClr val="711316"/>
                </a:solidFill>
                <a:latin typeface="Arial"/>
                <a:cs typeface="Arial"/>
              </a:rPr>
              <a:t>the </a:t>
            </a:r>
            <a:r>
              <a:rPr dirty="0" sz="3300">
                <a:solidFill>
                  <a:srgbClr val="711316"/>
                </a:solidFill>
                <a:latin typeface="Arial"/>
                <a:cs typeface="Arial"/>
              </a:rPr>
              <a:t>device for </a:t>
            </a:r>
            <a:r>
              <a:rPr dirty="0" sz="3300" spc="-5">
                <a:solidFill>
                  <a:srgbClr val="711316"/>
                </a:solidFill>
                <a:latin typeface="Arial"/>
                <a:cs typeface="Arial"/>
              </a:rPr>
              <a:t>performing  </a:t>
            </a:r>
            <a:r>
              <a:rPr dirty="0" sz="3300">
                <a:solidFill>
                  <a:srgbClr val="711316"/>
                </a:solidFill>
                <a:latin typeface="Arial"/>
                <a:cs typeface="Arial"/>
              </a:rPr>
              <a:t>navigation and other </a:t>
            </a:r>
            <a:r>
              <a:rPr dirty="0" sz="3300" spc="-5">
                <a:solidFill>
                  <a:srgbClr val="711316"/>
                </a:solidFill>
                <a:latin typeface="Arial"/>
                <a:cs typeface="Arial"/>
              </a:rPr>
              <a:t>functions </a:t>
            </a:r>
            <a:r>
              <a:rPr dirty="0" sz="3300">
                <a:solidFill>
                  <a:srgbClr val="711316"/>
                </a:solidFill>
                <a:latin typeface="Arial"/>
                <a:cs typeface="Arial"/>
              </a:rPr>
              <a:t>during the</a:t>
            </a:r>
            <a:r>
              <a:rPr dirty="0" sz="3300" spc="-5">
                <a:solidFill>
                  <a:srgbClr val="711316"/>
                </a:solidFill>
                <a:latin typeface="Arial"/>
                <a:cs typeface="Arial"/>
              </a:rPr>
              <a:t> patient</a:t>
            </a:r>
            <a:endParaRPr sz="3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47996" y="5359400"/>
            <a:ext cx="310134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711316"/>
                </a:solidFill>
                <a:latin typeface="Arial"/>
                <a:cs typeface="Arial"/>
              </a:rPr>
              <a:t>intervention</a:t>
            </a:r>
            <a:r>
              <a:rPr dirty="0" sz="3300" spc="-90">
                <a:solidFill>
                  <a:srgbClr val="711316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711316"/>
                </a:solidFill>
                <a:latin typeface="Arial"/>
                <a:cs typeface="Arial"/>
              </a:rPr>
              <a:t>time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58928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</a:t>
            </a:r>
            <a:r>
              <a:rPr dirty="0" sz="1400" spc="5">
                <a:solidFill>
                  <a:srgbClr val="414042"/>
                </a:solidFill>
                <a:latin typeface="Arial Black"/>
                <a:cs typeface="Arial Black"/>
              </a:rPr>
              <a:t>B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S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5589" y="540511"/>
            <a:ext cx="532638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711316"/>
                </a:solidFill>
                <a:latin typeface="Carlito"/>
                <a:cs typeface="Carlito"/>
              </a:rPr>
              <a:t>ISE&amp;PPOOA </a:t>
            </a:r>
            <a:r>
              <a:rPr dirty="0" sz="2400" spc="-5">
                <a:solidFill>
                  <a:srgbClr val="711316"/>
                </a:solidFill>
                <a:latin typeface="Carlito"/>
                <a:cs typeface="Carlito"/>
              </a:rPr>
              <a:t>Mission dimension </a:t>
            </a:r>
            <a:r>
              <a:rPr dirty="0" sz="2400" spc="-10">
                <a:solidFill>
                  <a:srgbClr val="711316"/>
                </a:solidFill>
                <a:latin typeface="Carlito"/>
                <a:cs typeface="Carlito"/>
              </a:rPr>
              <a:t>subprocess  Step </a:t>
            </a:r>
            <a:r>
              <a:rPr dirty="0" sz="2400">
                <a:solidFill>
                  <a:srgbClr val="711316"/>
                </a:solidFill>
                <a:latin typeface="Carlito"/>
                <a:cs typeface="Carlito"/>
              </a:rPr>
              <a:t>5. </a:t>
            </a:r>
            <a:r>
              <a:rPr dirty="0" sz="2400" spc="-10">
                <a:solidFill>
                  <a:srgbClr val="711316"/>
                </a:solidFill>
                <a:latin typeface="Carlito"/>
                <a:cs typeface="Carlito"/>
              </a:rPr>
              <a:t>Define external</a:t>
            </a:r>
            <a:r>
              <a:rPr dirty="0" sz="2400" spc="-45">
                <a:solidFill>
                  <a:srgbClr val="711316"/>
                </a:solidFill>
                <a:latin typeface="Carlito"/>
                <a:cs typeface="Carlito"/>
              </a:rPr>
              <a:t> </a:t>
            </a:r>
            <a:r>
              <a:rPr dirty="0" sz="2400" spc="-10">
                <a:solidFill>
                  <a:srgbClr val="711316"/>
                </a:solidFill>
                <a:latin typeface="Carlito"/>
                <a:cs typeface="Carlito"/>
              </a:rPr>
              <a:t>interfaces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06511" y="76200"/>
            <a:ext cx="2612136" cy="66354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78942" y="2134361"/>
            <a:ext cx="7278370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5885" marR="666115" indent="-838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external interfaces identified in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context  diagram are</a:t>
            </a:r>
            <a:r>
              <a:rPr dirty="0" sz="2400" spc="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described</a:t>
            </a:r>
            <a:endParaRPr sz="2400">
              <a:latin typeface="Arial"/>
              <a:cs typeface="Arial"/>
            </a:endParaRPr>
          </a:p>
          <a:p>
            <a:pPr marL="95885" marR="5080" indent="-838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For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data external interfaces we recommend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use 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of a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data</a:t>
            </a:r>
            <a:r>
              <a:rPr dirty="0" sz="2400" spc="-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dictionary</a:t>
            </a:r>
            <a:endParaRPr sz="2400">
              <a:latin typeface="Arial"/>
              <a:cs typeface="Arial"/>
            </a:endParaRPr>
          </a:p>
          <a:p>
            <a:pPr marL="95885" marR="106680" indent="-838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For mass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and/or energy external interfaces we use  a template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describe</a:t>
            </a:r>
            <a:r>
              <a:rPr dirty="0" sz="2400" spc="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them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35994" y="5646569"/>
            <a:ext cx="937260" cy="4902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4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58928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</a:t>
            </a:r>
            <a:r>
              <a:rPr dirty="0" sz="1400" spc="5">
                <a:solidFill>
                  <a:srgbClr val="414042"/>
                </a:solidFill>
                <a:latin typeface="Arial Black"/>
                <a:cs typeface="Arial Black"/>
              </a:rPr>
              <a:t>B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S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0"/>
            <a:ext cx="9514840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5087620" algn="l"/>
              </a:tabLst>
            </a:pPr>
            <a:r>
              <a:rPr dirty="0" spc="-5"/>
              <a:t>Example</a:t>
            </a:r>
            <a:r>
              <a:rPr dirty="0" spc="35"/>
              <a:t> </a:t>
            </a:r>
            <a:r>
              <a:rPr dirty="0" spc="-5"/>
              <a:t>of</a:t>
            </a:r>
            <a:r>
              <a:rPr dirty="0" spc="15"/>
              <a:t> </a:t>
            </a:r>
            <a:r>
              <a:rPr dirty="0" spc="-5"/>
              <a:t>interface-	</a:t>
            </a:r>
            <a:r>
              <a:rPr dirty="0" spc="-15"/>
              <a:t>Transmitted</a:t>
            </a:r>
            <a:r>
              <a:rPr dirty="0" spc="-55"/>
              <a:t> </a:t>
            </a:r>
            <a:r>
              <a:rPr dirty="0" spc="-5"/>
              <a:t>Energy  1/2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46577" y="4222445"/>
            <a:ext cx="5752465" cy="148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414042"/>
                </a:solidFill>
                <a:latin typeface="Arial"/>
                <a:cs typeface="Arial"/>
              </a:rPr>
              <a:t>Transmitted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energy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interface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description:  electromagnetic radiation in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range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of  2,5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GHz or less with a beam dispersion on  the patient's skin no larger than 1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cm</a:t>
            </a:r>
            <a:r>
              <a:rPr dirty="0" sz="2400" spc="7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14042"/>
                </a:solidFill>
                <a:latin typeface="Arial"/>
                <a:cs typeface="Arial"/>
              </a:rPr>
              <a:t>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43327" y="1319783"/>
            <a:ext cx="6323076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135994" y="5646569"/>
            <a:ext cx="937260" cy="4902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4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46577" y="5714742"/>
            <a:ext cx="1279525" cy="366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55"/>
              </a:lnSpc>
            </a:pPr>
            <a:r>
              <a:rPr dirty="0" sz="2400" spc="-20">
                <a:solidFill>
                  <a:srgbClr val="414042"/>
                </a:solidFill>
                <a:latin typeface="Arial"/>
                <a:cs typeface="Arial"/>
              </a:rPr>
              <a:t>diameter.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58928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</a:t>
            </a:r>
            <a:r>
              <a:rPr dirty="0" sz="1400" spc="5">
                <a:solidFill>
                  <a:srgbClr val="414042"/>
                </a:solidFill>
                <a:latin typeface="Arial Black"/>
                <a:cs typeface="Arial Black"/>
              </a:rPr>
              <a:t>B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S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35994" y="5646569"/>
            <a:ext cx="937260" cy="4902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4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0371" y="6420406"/>
            <a:ext cx="2196465" cy="252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10">
                <a:solidFill>
                  <a:srgbClr val="929292"/>
                </a:solidFill>
                <a:latin typeface="Arial"/>
                <a:cs typeface="Arial"/>
                <a:hlinkClick r:id="rId2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515238"/>
            <a:ext cx="1011872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Example of </a:t>
            </a:r>
            <a:r>
              <a:rPr dirty="0" spc="-10"/>
              <a:t>Interface-Transmitted </a:t>
            </a:r>
            <a:r>
              <a:rPr dirty="0" spc="-5"/>
              <a:t>Energy</a:t>
            </a:r>
            <a:r>
              <a:rPr dirty="0" spc="80"/>
              <a:t> </a:t>
            </a:r>
            <a:r>
              <a:rPr dirty="0" spc="-5"/>
              <a:t>2/2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124" y="1513459"/>
            <a:ext cx="8360409" cy="4293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9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Frequency : 2.45 ± 0.05</a:t>
            </a:r>
            <a:r>
              <a:rPr dirty="0" sz="4000" spc="6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GHz</a:t>
            </a:r>
            <a:endParaRPr sz="4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Electric field: 100 ± 0.1</a:t>
            </a:r>
            <a:r>
              <a:rPr dirty="0" sz="4000" spc="4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V/m</a:t>
            </a:r>
            <a:endParaRPr sz="4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Beam diameter on skin: 10 ± 1</a:t>
            </a:r>
            <a:r>
              <a:rPr dirty="0" sz="4000" spc="6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mm</a:t>
            </a:r>
            <a:endParaRPr sz="4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Signal properties:</a:t>
            </a:r>
            <a:r>
              <a:rPr dirty="0" sz="4000" spc="-4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TBD</a:t>
            </a:r>
            <a:endParaRPr sz="4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Electromagnetic </a:t>
            </a:r>
            <a:r>
              <a:rPr dirty="0" sz="4000" spc="-10">
                <a:solidFill>
                  <a:srgbClr val="414042"/>
                </a:solidFill>
                <a:latin typeface="Arial"/>
                <a:cs typeface="Arial"/>
              </a:rPr>
              <a:t>effects:</a:t>
            </a:r>
            <a:r>
              <a:rPr dirty="0" sz="4000" spc="-4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TBD</a:t>
            </a:r>
            <a:endParaRPr sz="4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Electromagnetic compatibility:</a:t>
            </a:r>
            <a:r>
              <a:rPr dirty="0" sz="4000" spc="-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TBD</a:t>
            </a:r>
            <a:endParaRPr sz="4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Electromagnetic interference:</a:t>
            </a:r>
            <a:r>
              <a:rPr dirty="0" sz="4000" spc="-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4000" spc="-5">
                <a:solidFill>
                  <a:srgbClr val="414042"/>
                </a:solidFill>
                <a:latin typeface="Arial"/>
                <a:cs typeface="Arial"/>
              </a:rPr>
              <a:t>TBD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0535"/>
            <a:ext cx="58928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</a:t>
            </a:r>
            <a:r>
              <a:rPr dirty="0" sz="1400" spc="5">
                <a:solidFill>
                  <a:srgbClr val="414042"/>
                </a:solidFill>
                <a:latin typeface="Arial Black"/>
                <a:cs typeface="Arial Black"/>
              </a:rPr>
              <a:t>B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S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35994" y="5646569"/>
            <a:ext cx="937260" cy="4902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4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dirty="0" spc="-5"/>
              <a:t>24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301307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250"/>
              <a:t>To</a:t>
            </a:r>
            <a:r>
              <a:rPr dirty="0" sz="4400" spc="-50"/>
              <a:t> </a:t>
            </a:r>
            <a:r>
              <a:rPr dirty="0" sz="4400"/>
              <a:t>conclude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1285" rIns="0" bIns="0" rtlCol="0" vert="horz">
            <a:spAutoFit/>
          </a:bodyPr>
          <a:lstStyle/>
          <a:p>
            <a:pPr marL="469900" marR="27940" indent="-457834">
              <a:lnSpc>
                <a:spcPts val="3550"/>
              </a:lnSpc>
              <a:spcBef>
                <a:spcPts val="95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pc="-210"/>
              <a:t>To </a:t>
            </a:r>
            <a:r>
              <a:rPr dirty="0" spc="-5"/>
              <a:t>conclude, we emphasize that a good model of  the mission dimension is critical for an </a:t>
            </a:r>
            <a:r>
              <a:rPr dirty="0" spc="-5" b="1">
                <a:latin typeface="Arial"/>
                <a:cs typeface="Arial"/>
              </a:rPr>
              <a:t>“out-in”  modeling </a:t>
            </a:r>
            <a:r>
              <a:rPr dirty="0" spc="-5"/>
              <a:t>of a customer-oriented</a:t>
            </a:r>
            <a:r>
              <a:rPr dirty="0" spc="90"/>
              <a:t> </a:t>
            </a:r>
            <a:r>
              <a:rPr dirty="0" spc="-5"/>
              <a:t>system.</a:t>
            </a:r>
          </a:p>
          <a:p>
            <a:pPr marL="469900" marR="952500" indent="-457834">
              <a:lnSpc>
                <a:spcPts val="3550"/>
              </a:lnSpc>
              <a:spcBef>
                <a:spcPts val="894"/>
              </a:spcBef>
              <a:buChar char="•"/>
              <a:tabLst>
                <a:tab pos="469900" algn="l"/>
                <a:tab pos="470534" algn="l"/>
                <a:tab pos="4601210" algn="l"/>
              </a:tabLst>
            </a:pPr>
            <a:r>
              <a:rPr dirty="0" spc="-70"/>
              <a:t>Technology, </a:t>
            </a:r>
            <a:r>
              <a:rPr dirty="0" spc="-5"/>
              <a:t>for example energy transfer and  energy</a:t>
            </a:r>
            <a:r>
              <a:rPr dirty="0" spc="70"/>
              <a:t> </a:t>
            </a:r>
            <a:r>
              <a:rPr dirty="0" spc="-5"/>
              <a:t>harvesting,	</a:t>
            </a:r>
            <a:r>
              <a:rPr dirty="0" spc="-10"/>
              <a:t>is </a:t>
            </a:r>
            <a:r>
              <a:rPr dirty="0" spc="-5"/>
              <a:t>an important</a:t>
            </a:r>
            <a:r>
              <a:rPr dirty="0" spc="45"/>
              <a:t> </a:t>
            </a:r>
            <a:r>
              <a:rPr dirty="0" spc="-5"/>
              <a:t>issue</a:t>
            </a:r>
          </a:p>
          <a:p>
            <a:pPr marL="469900" marR="5080" indent="-457834">
              <a:lnSpc>
                <a:spcPct val="80000"/>
              </a:lnSpc>
              <a:spcBef>
                <a:spcPts val="92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pc="-5"/>
              <a:t>but in domains as medical applications the users  </a:t>
            </a:r>
            <a:r>
              <a:rPr dirty="0" spc="-10"/>
              <a:t>and </a:t>
            </a:r>
            <a:r>
              <a:rPr dirty="0" spc="-5"/>
              <a:t>the </a:t>
            </a:r>
            <a:r>
              <a:rPr dirty="0" spc="-10"/>
              <a:t>patients are more important </a:t>
            </a:r>
            <a:r>
              <a:rPr dirty="0" spc="-5"/>
              <a:t>so </a:t>
            </a:r>
            <a:r>
              <a:rPr dirty="0"/>
              <a:t>“</a:t>
            </a:r>
            <a:r>
              <a:rPr dirty="0" b="1">
                <a:latin typeface="Arial"/>
                <a:cs typeface="Arial"/>
              </a:rPr>
              <a:t>out-in”  </a:t>
            </a:r>
            <a:r>
              <a:rPr dirty="0" spc="-5" b="1">
                <a:latin typeface="Arial"/>
                <a:cs typeface="Arial"/>
              </a:rPr>
              <a:t>approaches </a:t>
            </a:r>
            <a:r>
              <a:rPr dirty="0" spc="-5"/>
              <a:t>to the system modeling are the</a:t>
            </a:r>
            <a:r>
              <a:rPr dirty="0" spc="160"/>
              <a:t> </a:t>
            </a:r>
            <a:r>
              <a:rPr dirty="0" spc="-5"/>
              <a:t>best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76629" y="5359400"/>
            <a:ext cx="1433195" cy="589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5">
                <a:solidFill>
                  <a:srgbClr val="414042"/>
                </a:solidFill>
                <a:latin typeface="Arial"/>
                <a:cs typeface="Arial"/>
              </a:rPr>
              <a:t>optio</a:t>
            </a:r>
            <a:r>
              <a:rPr dirty="0" sz="3700" spc="-20">
                <a:solidFill>
                  <a:srgbClr val="414042"/>
                </a:solidFill>
                <a:latin typeface="Arial"/>
                <a:cs typeface="Arial"/>
              </a:rPr>
              <a:t>n</a:t>
            </a:r>
            <a:r>
              <a:rPr dirty="0" sz="3700" spc="-5">
                <a:solidFill>
                  <a:srgbClr val="414042"/>
                </a:solidFill>
                <a:latin typeface="Arial"/>
                <a:cs typeface="Arial"/>
              </a:rPr>
              <a:t>.</a:t>
            </a:r>
            <a:endParaRPr sz="3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7541" y="3783913"/>
            <a:ext cx="27565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414042"/>
                </a:solidFill>
                <a:latin typeface="Arial"/>
                <a:cs typeface="Arial"/>
                <a:hlinkClick r:id="rId2"/>
              </a:rPr>
              <a:t>www.incose.org/iw2021/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648443" y="4637532"/>
            <a:ext cx="2549651" cy="22204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756138" y="5458764"/>
            <a:ext cx="119443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8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720851"/>
            <a:ext cx="12173712" cy="16550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Sampson, Mark (DI SW LCS PMT ENT)</dc:creator>
  <cp:keywords>C_Unrestricted</cp:keywords>
  <dc:title>PowerPoint Presentation</dc:title>
  <dcterms:created xsi:type="dcterms:W3CDTF">2021-02-27T17:22:19Z</dcterms:created>
  <dcterms:modified xsi:type="dcterms:W3CDTF">2021-02-27T17:22:19Z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2021-02-27T00:00:00Z</vt:filetime>
  </property>
</Properties>
</file>
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770" r:id="rId5"/>
    <p:sldId id="396" r:id="rId6"/>
    <p:sldId id="714" r:id="rId7"/>
    <p:sldId id="2165" r:id="rId8"/>
    <p:sldId id="2158" r:id="rId9"/>
    <p:sldId id="2160" r:id="rId10"/>
    <p:sldId id="727" r:id="rId11"/>
    <p:sldId id="609" r:id="rId12"/>
    <p:sldId id="2168" r:id="rId13"/>
    <p:sldId id="2162" r:id="rId14"/>
    <p:sldId id="762" r:id="rId15"/>
    <p:sldId id="768" r:id="rId16"/>
    <p:sldId id="776" r:id="rId17"/>
    <p:sldId id="778" r:id="rId18"/>
    <p:sldId id="263" r:id="rId19"/>
    <p:sldId id="767" r:id="rId20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E1B"/>
    <a:srgbClr val="F05124"/>
    <a:srgbClr val="034EA2"/>
    <a:srgbClr val="4987C7"/>
    <a:srgbClr val="00A39C"/>
    <a:srgbClr val="7B8EA1"/>
    <a:srgbClr val="22AE8F"/>
    <a:srgbClr val="85B6E2"/>
    <a:srgbClr val="7554A3"/>
    <a:srgbClr val="1D7B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napVertSplitter="1" vertBarState="minimized" horzBarState="maximized">
    <p:restoredLeft sz="5647" autoAdjust="0"/>
    <p:restoredTop sz="92871" autoAdjust="0"/>
  </p:normalViewPr>
  <p:slideViewPr>
    <p:cSldViewPr snapToGrid="0">
      <p:cViewPr varScale="1">
        <p:scale>
          <a:sx n="116" d="100"/>
          <a:sy n="116" d="100"/>
        </p:scale>
        <p:origin x="126" y="3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54C65A-A5B0-41A4-A45E-AD60463533A6}" type="doc">
      <dgm:prSet loTypeId="urn:microsoft.com/office/officeart/2005/8/layout/radial1" loCatId="relationship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467A333-6628-4878-9F4D-122BA2059500}">
      <dgm:prSet phldrT="[Text]" custT="1"/>
      <dgm:spPr/>
      <dgm:t>
        <a:bodyPr/>
        <a:lstStyle/>
        <a:p>
          <a:pPr algn="ctr"/>
          <a:r>
            <a:rPr lang="en-US" sz="1600" b="0" dirty="0">
              <a:effectLst/>
            </a:rPr>
            <a:t>Terminology</a:t>
          </a:r>
        </a:p>
      </dgm:t>
    </dgm:pt>
    <dgm:pt modelId="{D8E5B605-8FFB-4B9C-80CF-8D7DC21C8A2E}" type="parTrans" cxnId="{B9A7CA35-DABE-4A19-831B-1AE8ABE5BB09}">
      <dgm:prSet/>
      <dgm:spPr/>
      <dgm:t>
        <a:bodyPr/>
        <a:lstStyle/>
        <a:p>
          <a:pPr algn="ctr"/>
          <a:endParaRPr lang="en-US" b="0"/>
        </a:p>
      </dgm:t>
    </dgm:pt>
    <dgm:pt modelId="{D8D6359A-BCA5-4D5A-B579-B9170D4E3720}" type="sibTrans" cxnId="{B9A7CA35-DABE-4A19-831B-1AE8ABE5BB09}">
      <dgm:prSet/>
      <dgm:spPr/>
      <dgm:t>
        <a:bodyPr/>
        <a:lstStyle/>
        <a:p>
          <a:pPr algn="ctr"/>
          <a:endParaRPr lang="en-US" b="0"/>
        </a:p>
      </dgm:t>
    </dgm:pt>
    <dgm:pt modelId="{25EC3F60-A198-471F-A67C-E6056DF81E90}">
      <dgm:prSet phldrT="[Text]" custT="1"/>
      <dgm:spPr/>
      <dgm:t>
        <a:bodyPr/>
        <a:lstStyle/>
        <a:p>
          <a:pPr algn="ctr"/>
          <a:r>
            <a: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Security</a:t>
          </a:r>
        </a:p>
        <a:p>
          <a:pPr algn="ctr"/>
          <a:r>
            <a: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Trustworthiness</a:t>
          </a:r>
        </a:p>
      </dgm:t>
    </dgm:pt>
    <dgm:pt modelId="{E6904251-D720-48A8-B781-C01A628BC70A}" type="parTrans" cxnId="{0E03858E-072A-4054-8A92-55D277E3B876}">
      <dgm:prSet custT="1"/>
      <dgm:spPr/>
      <dgm:t>
        <a:bodyPr/>
        <a:lstStyle/>
        <a:p>
          <a:pPr algn="ctr"/>
          <a:endParaRPr lang="en-US" sz="500" b="0">
            <a:effectLst/>
          </a:endParaRPr>
        </a:p>
      </dgm:t>
    </dgm:pt>
    <dgm:pt modelId="{C5EC7E41-0052-4336-A872-2B90B43F124E}" type="sibTrans" cxnId="{0E03858E-072A-4054-8A92-55D277E3B876}">
      <dgm:prSet/>
      <dgm:spPr/>
      <dgm:t>
        <a:bodyPr/>
        <a:lstStyle/>
        <a:p>
          <a:pPr algn="ctr"/>
          <a:endParaRPr lang="en-US" b="0"/>
        </a:p>
      </dgm:t>
    </dgm:pt>
    <dgm:pt modelId="{A90D434D-C153-49FB-8B51-3F0F67891E01}">
      <dgm:prSet phldrT="[Text]" custT="1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pPr algn="ctr"/>
          <a:r>
            <a: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Common Characteristics</a:t>
          </a:r>
        </a:p>
      </dgm:t>
    </dgm:pt>
    <dgm:pt modelId="{39029C91-2565-477E-9A6F-34A1CD161806}" type="parTrans" cxnId="{7789A56A-F0E0-49B2-9BFE-34DA48D7D149}">
      <dgm:prSet custT="1"/>
      <dgm:spPr/>
      <dgm:t>
        <a:bodyPr/>
        <a:lstStyle/>
        <a:p>
          <a:pPr algn="ctr"/>
          <a:endParaRPr lang="en-US" sz="500" b="0">
            <a:effectLst/>
          </a:endParaRPr>
        </a:p>
      </dgm:t>
    </dgm:pt>
    <dgm:pt modelId="{A0B60AC4-5108-4E97-B0B9-EA9BA2CACCA1}" type="sibTrans" cxnId="{7789A56A-F0E0-49B2-9BFE-34DA48D7D149}">
      <dgm:prSet/>
      <dgm:spPr/>
      <dgm:t>
        <a:bodyPr/>
        <a:lstStyle/>
        <a:p>
          <a:pPr algn="ctr"/>
          <a:endParaRPr lang="en-US" b="0"/>
        </a:p>
      </dgm:t>
    </dgm:pt>
    <dgm:pt modelId="{318FCDAE-451B-42F3-9E3E-353AB18CE995}">
      <dgm:prSet phldrT="[Text]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 algn="ctr"/>
          <a:r>
            <a: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Enabling</a:t>
          </a:r>
        </a:p>
        <a:p>
          <a:pPr algn="ctr"/>
          <a:r>
            <a: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Technologies </a:t>
          </a:r>
        </a:p>
      </dgm:t>
    </dgm:pt>
    <dgm:pt modelId="{43300389-C01B-4E02-8491-85315BD5FFEC}" type="parTrans" cxnId="{57B8BFF5-B7AB-4DE4-851D-6EAF8598990E}">
      <dgm:prSet custT="1"/>
      <dgm:spPr/>
      <dgm:t>
        <a:bodyPr/>
        <a:lstStyle/>
        <a:p>
          <a:pPr algn="ctr"/>
          <a:endParaRPr lang="en-US" sz="500" b="0">
            <a:effectLst/>
          </a:endParaRPr>
        </a:p>
      </dgm:t>
    </dgm:pt>
    <dgm:pt modelId="{BDF4B1A6-A274-439C-B1CD-0C705E90CE86}" type="sibTrans" cxnId="{57B8BFF5-B7AB-4DE4-851D-6EAF8598990E}">
      <dgm:prSet/>
      <dgm:spPr/>
      <dgm:t>
        <a:bodyPr/>
        <a:lstStyle/>
        <a:p>
          <a:pPr algn="ctr"/>
          <a:endParaRPr lang="en-US" b="0"/>
        </a:p>
      </dgm:t>
    </dgm:pt>
    <dgm:pt modelId="{2E2BA956-3E23-4C3F-8F8A-89AC89DF4CB6}">
      <dgm:prSet phldrT="[Text]" custT="1"/>
      <dgm:spPr/>
      <dgm:t>
        <a:bodyPr/>
        <a:lstStyle/>
        <a:p>
          <a:pPr algn="ctr"/>
          <a:r>
            <a: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Platform</a:t>
          </a:r>
        </a:p>
        <a:p>
          <a:pPr algn="ctr"/>
          <a:r>
            <a: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Stacks</a:t>
          </a:r>
        </a:p>
      </dgm:t>
    </dgm:pt>
    <dgm:pt modelId="{6CDEAFB7-6156-4563-B7F2-194B2EAEC78E}" type="parTrans" cxnId="{2B514E0C-4168-4F7C-AEE9-3226947DA142}">
      <dgm:prSet custT="1"/>
      <dgm:spPr/>
      <dgm:t>
        <a:bodyPr/>
        <a:lstStyle/>
        <a:p>
          <a:pPr algn="ctr"/>
          <a:endParaRPr lang="en-US" sz="500" b="0">
            <a:effectLst/>
          </a:endParaRPr>
        </a:p>
      </dgm:t>
    </dgm:pt>
    <dgm:pt modelId="{BFC3D5C8-7DD6-4066-BC82-0CE069A209B5}" type="sibTrans" cxnId="{2B514E0C-4168-4F7C-AEE9-3226947DA142}">
      <dgm:prSet/>
      <dgm:spPr/>
      <dgm:t>
        <a:bodyPr/>
        <a:lstStyle/>
        <a:p>
          <a:pPr algn="ctr"/>
          <a:endParaRPr lang="en-US" b="0"/>
        </a:p>
      </dgm:t>
    </dgm:pt>
    <dgm:pt modelId="{7C12EEE3-05F6-400A-AEFE-7051CBA9C9AF}">
      <dgm:prSet phldrT="[Text]" custT="1"/>
      <dgm:spPr/>
      <dgm:t>
        <a:bodyPr/>
        <a:lstStyle/>
        <a:p>
          <a:pPr algn="ctr"/>
          <a:r>
            <a: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Taxonomy </a:t>
          </a:r>
        </a:p>
        <a:p>
          <a:pPr algn="ctr"/>
          <a:r>
            <a: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Types</a:t>
          </a:r>
        </a:p>
      </dgm:t>
    </dgm:pt>
    <dgm:pt modelId="{7987FFAE-7E72-4ACD-91FA-264C2A6EAEE9}" type="parTrans" cxnId="{19DE3086-87C0-4893-B8ED-53A44BF5DDC0}">
      <dgm:prSet custT="1"/>
      <dgm:spPr/>
      <dgm:t>
        <a:bodyPr/>
        <a:lstStyle/>
        <a:p>
          <a:pPr algn="ctr"/>
          <a:endParaRPr lang="en-US" sz="500" b="0">
            <a:effectLst/>
          </a:endParaRPr>
        </a:p>
      </dgm:t>
    </dgm:pt>
    <dgm:pt modelId="{D111448A-70CF-4821-81F9-41DCB621291F}" type="sibTrans" cxnId="{19DE3086-87C0-4893-B8ED-53A44BF5DDC0}">
      <dgm:prSet/>
      <dgm:spPr/>
      <dgm:t>
        <a:bodyPr/>
        <a:lstStyle/>
        <a:p>
          <a:pPr algn="ctr"/>
          <a:endParaRPr lang="en-US" b="0"/>
        </a:p>
      </dgm:t>
    </dgm:pt>
    <dgm:pt modelId="{9FA45081-4E47-4940-A75D-381D344C3D44}" type="pres">
      <dgm:prSet presAssocID="{5154C65A-A5B0-41A4-A45E-AD60463533A6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87CE30F-C863-4B2C-9044-5540DE020E9D}" type="pres">
      <dgm:prSet presAssocID="{9467A333-6628-4878-9F4D-122BA2059500}" presName="centerShape" presStyleLbl="node0" presStyleIdx="0" presStyleCnt="1"/>
      <dgm:spPr/>
    </dgm:pt>
    <dgm:pt modelId="{AA0452A0-F47D-4E93-A74F-4335F8B2A541}" type="pres">
      <dgm:prSet presAssocID="{E6904251-D720-48A8-B781-C01A628BC70A}" presName="Name9" presStyleLbl="parChTrans1D2" presStyleIdx="0" presStyleCnt="5"/>
      <dgm:spPr/>
    </dgm:pt>
    <dgm:pt modelId="{8D46EAE3-1881-416C-835A-19E66E05ED7B}" type="pres">
      <dgm:prSet presAssocID="{E6904251-D720-48A8-B781-C01A628BC70A}" presName="connTx" presStyleLbl="parChTrans1D2" presStyleIdx="0" presStyleCnt="5"/>
      <dgm:spPr/>
    </dgm:pt>
    <dgm:pt modelId="{4D951460-93F8-4640-979C-7467E2E088EE}" type="pres">
      <dgm:prSet presAssocID="{25EC3F60-A198-471F-A67C-E6056DF81E90}" presName="node" presStyleLbl="node1" presStyleIdx="0" presStyleCnt="5">
        <dgm:presLayoutVars>
          <dgm:bulletEnabled val="1"/>
        </dgm:presLayoutVars>
      </dgm:prSet>
      <dgm:spPr/>
    </dgm:pt>
    <dgm:pt modelId="{675F0835-093A-40F6-A3CD-F5CE8942900A}" type="pres">
      <dgm:prSet presAssocID="{39029C91-2565-477E-9A6F-34A1CD161806}" presName="Name9" presStyleLbl="parChTrans1D2" presStyleIdx="1" presStyleCnt="5"/>
      <dgm:spPr/>
    </dgm:pt>
    <dgm:pt modelId="{34C624A1-8762-4B89-8ABC-32A7B027C972}" type="pres">
      <dgm:prSet presAssocID="{39029C91-2565-477E-9A6F-34A1CD161806}" presName="connTx" presStyleLbl="parChTrans1D2" presStyleIdx="1" presStyleCnt="5"/>
      <dgm:spPr/>
    </dgm:pt>
    <dgm:pt modelId="{3E3E8BA1-7E0B-4564-943D-E6B2EE95D772}" type="pres">
      <dgm:prSet presAssocID="{A90D434D-C153-49FB-8B51-3F0F67891E01}" presName="node" presStyleLbl="node1" presStyleIdx="1" presStyleCnt="5">
        <dgm:presLayoutVars>
          <dgm:bulletEnabled val="1"/>
        </dgm:presLayoutVars>
      </dgm:prSet>
      <dgm:spPr/>
    </dgm:pt>
    <dgm:pt modelId="{FBFCF10D-5C40-4A9C-BB93-6AB3526D78BA}" type="pres">
      <dgm:prSet presAssocID="{43300389-C01B-4E02-8491-85315BD5FFEC}" presName="Name9" presStyleLbl="parChTrans1D2" presStyleIdx="2" presStyleCnt="5"/>
      <dgm:spPr/>
    </dgm:pt>
    <dgm:pt modelId="{98EEA344-C13E-4E16-BA8B-5DFB16AC8CB2}" type="pres">
      <dgm:prSet presAssocID="{43300389-C01B-4E02-8491-85315BD5FFEC}" presName="connTx" presStyleLbl="parChTrans1D2" presStyleIdx="2" presStyleCnt="5"/>
      <dgm:spPr/>
    </dgm:pt>
    <dgm:pt modelId="{713B59DF-FB42-4F70-ADB1-DAA4F6B9A056}" type="pres">
      <dgm:prSet presAssocID="{318FCDAE-451B-42F3-9E3E-353AB18CE995}" presName="node" presStyleLbl="node1" presStyleIdx="2" presStyleCnt="5">
        <dgm:presLayoutVars>
          <dgm:bulletEnabled val="1"/>
        </dgm:presLayoutVars>
      </dgm:prSet>
      <dgm:spPr/>
    </dgm:pt>
    <dgm:pt modelId="{79632D9A-CB10-415F-B904-B86D65A48DE1}" type="pres">
      <dgm:prSet presAssocID="{6CDEAFB7-6156-4563-B7F2-194B2EAEC78E}" presName="Name9" presStyleLbl="parChTrans1D2" presStyleIdx="3" presStyleCnt="5"/>
      <dgm:spPr/>
    </dgm:pt>
    <dgm:pt modelId="{A8E7B953-CF49-4DB7-ACAB-B1C9B7EFB6A3}" type="pres">
      <dgm:prSet presAssocID="{6CDEAFB7-6156-4563-B7F2-194B2EAEC78E}" presName="connTx" presStyleLbl="parChTrans1D2" presStyleIdx="3" presStyleCnt="5"/>
      <dgm:spPr/>
    </dgm:pt>
    <dgm:pt modelId="{D1F48121-2658-46BC-AB84-BEDE4D27252C}" type="pres">
      <dgm:prSet presAssocID="{2E2BA956-3E23-4C3F-8F8A-89AC89DF4CB6}" presName="node" presStyleLbl="node1" presStyleIdx="3" presStyleCnt="5">
        <dgm:presLayoutVars>
          <dgm:bulletEnabled val="1"/>
        </dgm:presLayoutVars>
      </dgm:prSet>
      <dgm:spPr/>
    </dgm:pt>
    <dgm:pt modelId="{5BE2E3B0-AD3C-498E-B0C3-C328CE9340E5}" type="pres">
      <dgm:prSet presAssocID="{7987FFAE-7E72-4ACD-91FA-264C2A6EAEE9}" presName="Name9" presStyleLbl="parChTrans1D2" presStyleIdx="4" presStyleCnt="5"/>
      <dgm:spPr/>
    </dgm:pt>
    <dgm:pt modelId="{E76E731F-7A90-4004-B67E-8CBEAEF5FDB7}" type="pres">
      <dgm:prSet presAssocID="{7987FFAE-7E72-4ACD-91FA-264C2A6EAEE9}" presName="connTx" presStyleLbl="parChTrans1D2" presStyleIdx="4" presStyleCnt="5"/>
      <dgm:spPr/>
    </dgm:pt>
    <dgm:pt modelId="{C3E09D0A-18FF-4E94-8B44-B45F1A861374}" type="pres">
      <dgm:prSet presAssocID="{7C12EEE3-05F6-400A-AEFE-7051CBA9C9AF}" presName="node" presStyleLbl="node1" presStyleIdx="4" presStyleCnt="5">
        <dgm:presLayoutVars>
          <dgm:bulletEnabled val="1"/>
        </dgm:presLayoutVars>
      </dgm:prSet>
      <dgm:spPr/>
    </dgm:pt>
  </dgm:ptLst>
  <dgm:cxnLst>
    <dgm:cxn modelId="{2B514E0C-4168-4F7C-AEE9-3226947DA142}" srcId="{9467A333-6628-4878-9F4D-122BA2059500}" destId="{2E2BA956-3E23-4C3F-8F8A-89AC89DF4CB6}" srcOrd="3" destOrd="0" parTransId="{6CDEAFB7-6156-4563-B7F2-194B2EAEC78E}" sibTransId="{BFC3D5C8-7DD6-4066-BC82-0CE069A209B5}"/>
    <dgm:cxn modelId="{0EE7ED21-AC3D-47D4-9F07-B791DD1EE5F2}" type="presOf" srcId="{6CDEAFB7-6156-4563-B7F2-194B2EAEC78E}" destId="{A8E7B953-CF49-4DB7-ACAB-B1C9B7EFB6A3}" srcOrd="1" destOrd="0" presId="urn:microsoft.com/office/officeart/2005/8/layout/radial1"/>
    <dgm:cxn modelId="{B9A7CA35-DABE-4A19-831B-1AE8ABE5BB09}" srcId="{5154C65A-A5B0-41A4-A45E-AD60463533A6}" destId="{9467A333-6628-4878-9F4D-122BA2059500}" srcOrd="0" destOrd="0" parTransId="{D8E5B605-8FFB-4B9C-80CF-8D7DC21C8A2E}" sibTransId="{D8D6359A-BCA5-4D5A-B579-B9170D4E3720}"/>
    <dgm:cxn modelId="{03AE6337-4373-4364-A16A-1E830627129B}" type="presOf" srcId="{9467A333-6628-4878-9F4D-122BA2059500}" destId="{287CE30F-C863-4B2C-9044-5540DE020E9D}" srcOrd="0" destOrd="0" presId="urn:microsoft.com/office/officeart/2005/8/layout/radial1"/>
    <dgm:cxn modelId="{3034943D-DCDB-42F8-8CC2-4824E08A41F2}" type="presOf" srcId="{43300389-C01B-4E02-8491-85315BD5FFEC}" destId="{FBFCF10D-5C40-4A9C-BB93-6AB3526D78BA}" srcOrd="0" destOrd="0" presId="urn:microsoft.com/office/officeart/2005/8/layout/radial1"/>
    <dgm:cxn modelId="{9B157563-28B4-4000-BF0D-6FDF4D8B3753}" type="presOf" srcId="{E6904251-D720-48A8-B781-C01A628BC70A}" destId="{8D46EAE3-1881-416C-835A-19E66E05ED7B}" srcOrd="1" destOrd="0" presId="urn:microsoft.com/office/officeart/2005/8/layout/radial1"/>
    <dgm:cxn modelId="{7789A56A-F0E0-49B2-9BFE-34DA48D7D149}" srcId="{9467A333-6628-4878-9F4D-122BA2059500}" destId="{A90D434D-C153-49FB-8B51-3F0F67891E01}" srcOrd="1" destOrd="0" parTransId="{39029C91-2565-477E-9A6F-34A1CD161806}" sibTransId="{A0B60AC4-5108-4E97-B0B9-EA9BA2CACCA1}"/>
    <dgm:cxn modelId="{2391564B-0588-4EC5-96F7-F000DE2AAC91}" type="presOf" srcId="{43300389-C01B-4E02-8491-85315BD5FFEC}" destId="{98EEA344-C13E-4E16-BA8B-5DFB16AC8CB2}" srcOrd="1" destOrd="0" presId="urn:microsoft.com/office/officeart/2005/8/layout/radial1"/>
    <dgm:cxn modelId="{973C8F4C-8E64-4B0F-9F37-A9FDFA58B85E}" type="presOf" srcId="{A90D434D-C153-49FB-8B51-3F0F67891E01}" destId="{3E3E8BA1-7E0B-4564-943D-E6B2EE95D772}" srcOrd="0" destOrd="0" presId="urn:microsoft.com/office/officeart/2005/8/layout/radial1"/>
    <dgm:cxn modelId="{5DA7E752-70F6-4B41-ACC1-469250946EE6}" type="presOf" srcId="{7987FFAE-7E72-4ACD-91FA-264C2A6EAEE9}" destId="{E76E731F-7A90-4004-B67E-8CBEAEF5FDB7}" srcOrd="1" destOrd="0" presId="urn:microsoft.com/office/officeart/2005/8/layout/radial1"/>
    <dgm:cxn modelId="{7337AA7F-EC37-4941-8A5B-9DD091EA24B0}" type="presOf" srcId="{2E2BA956-3E23-4C3F-8F8A-89AC89DF4CB6}" destId="{D1F48121-2658-46BC-AB84-BEDE4D27252C}" srcOrd="0" destOrd="0" presId="urn:microsoft.com/office/officeart/2005/8/layout/radial1"/>
    <dgm:cxn modelId="{19DE3086-87C0-4893-B8ED-53A44BF5DDC0}" srcId="{9467A333-6628-4878-9F4D-122BA2059500}" destId="{7C12EEE3-05F6-400A-AEFE-7051CBA9C9AF}" srcOrd="4" destOrd="0" parTransId="{7987FFAE-7E72-4ACD-91FA-264C2A6EAEE9}" sibTransId="{D111448A-70CF-4821-81F9-41DCB621291F}"/>
    <dgm:cxn modelId="{AE899D8D-1C2E-43E7-83EC-967277C9812B}" type="presOf" srcId="{7987FFAE-7E72-4ACD-91FA-264C2A6EAEE9}" destId="{5BE2E3B0-AD3C-498E-B0C3-C328CE9340E5}" srcOrd="0" destOrd="0" presId="urn:microsoft.com/office/officeart/2005/8/layout/radial1"/>
    <dgm:cxn modelId="{0E03858E-072A-4054-8A92-55D277E3B876}" srcId="{9467A333-6628-4878-9F4D-122BA2059500}" destId="{25EC3F60-A198-471F-A67C-E6056DF81E90}" srcOrd="0" destOrd="0" parTransId="{E6904251-D720-48A8-B781-C01A628BC70A}" sibTransId="{C5EC7E41-0052-4336-A872-2B90B43F124E}"/>
    <dgm:cxn modelId="{BACC4B92-63F4-495B-8F0C-13F6B803E34C}" type="presOf" srcId="{25EC3F60-A198-471F-A67C-E6056DF81E90}" destId="{4D951460-93F8-4640-979C-7467E2E088EE}" srcOrd="0" destOrd="0" presId="urn:microsoft.com/office/officeart/2005/8/layout/radial1"/>
    <dgm:cxn modelId="{5D2395A0-F1EB-44AA-881A-6E1B919F7B00}" type="presOf" srcId="{39029C91-2565-477E-9A6F-34A1CD161806}" destId="{675F0835-093A-40F6-A3CD-F5CE8942900A}" srcOrd="0" destOrd="0" presId="urn:microsoft.com/office/officeart/2005/8/layout/radial1"/>
    <dgm:cxn modelId="{A021F6B0-19C2-41C6-9ABF-0BF171307B65}" type="presOf" srcId="{6CDEAFB7-6156-4563-B7F2-194B2EAEC78E}" destId="{79632D9A-CB10-415F-B904-B86D65A48DE1}" srcOrd="0" destOrd="0" presId="urn:microsoft.com/office/officeart/2005/8/layout/radial1"/>
    <dgm:cxn modelId="{7091A9BE-6878-4B4E-8489-A71BFA65D85E}" type="presOf" srcId="{7C12EEE3-05F6-400A-AEFE-7051CBA9C9AF}" destId="{C3E09D0A-18FF-4E94-8B44-B45F1A861374}" srcOrd="0" destOrd="0" presId="urn:microsoft.com/office/officeart/2005/8/layout/radial1"/>
    <dgm:cxn modelId="{B73694D4-91B3-4446-8ED1-D82B0B2E558E}" type="presOf" srcId="{E6904251-D720-48A8-B781-C01A628BC70A}" destId="{AA0452A0-F47D-4E93-A74F-4335F8B2A541}" srcOrd="0" destOrd="0" presId="urn:microsoft.com/office/officeart/2005/8/layout/radial1"/>
    <dgm:cxn modelId="{B7ACEFDD-4EE3-4CFE-99F4-3773A1CBA7D6}" type="presOf" srcId="{5154C65A-A5B0-41A4-A45E-AD60463533A6}" destId="{9FA45081-4E47-4940-A75D-381D344C3D44}" srcOrd="0" destOrd="0" presId="urn:microsoft.com/office/officeart/2005/8/layout/radial1"/>
    <dgm:cxn modelId="{2722CAE8-136D-442F-A045-5DC2F1C9C641}" type="presOf" srcId="{39029C91-2565-477E-9A6F-34A1CD161806}" destId="{34C624A1-8762-4B89-8ABC-32A7B027C972}" srcOrd="1" destOrd="0" presId="urn:microsoft.com/office/officeart/2005/8/layout/radial1"/>
    <dgm:cxn modelId="{F53CF9F3-DC90-46E3-A56E-640E71C19E13}" type="presOf" srcId="{318FCDAE-451B-42F3-9E3E-353AB18CE995}" destId="{713B59DF-FB42-4F70-ADB1-DAA4F6B9A056}" srcOrd="0" destOrd="0" presId="urn:microsoft.com/office/officeart/2005/8/layout/radial1"/>
    <dgm:cxn modelId="{57B8BFF5-B7AB-4DE4-851D-6EAF8598990E}" srcId="{9467A333-6628-4878-9F4D-122BA2059500}" destId="{318FCDAE-451B-42F3-9E3E-353AB18CE995}" srcOrd="2" destOrd="0" parTransId="{43300389-C01B-4E02-8491-85315BD5FFEC}" sibTransId="{BDF4B1A6-A274-439C-B1CD-0C705E90CE86}"/>
    <dgm:cxn modelId="{DED10973-FB1F-4D99-8A42-2A9A16540DA6}" type="presParOf" srcId="{9FA45081-4E47-4940-A75D-381D344C3D44}" destId="{287CE30F-C863-4B2C-9044-5540DE020E9D}" srcOrd="0" destOrd="0" presId="urn:microsoft.com/office/officeart/2005/8/layout/radial1"/>
    <dgm:cxn modelId="{8F47C012-A98A-40B9-A1D1-56A4C1F30DF7}" type="presParOf" srcId="{9FA45081-4E47-4940-A75D-381D344C3D44}" destId="{AA0452A0-F47D-4E93-A74F-4335F8B2A541}" srcOrd="1" destOrd="0" presId="urn:microsoft.com/office/officeart/2005/8/layout/radial1"/>
    <dgm:cxn modelId="{90571B58-CE2E-4187-B626-1DA60F0DC633}" type="presParOf" srcId="{AA0452A0-F47D-4E93-A74F-4335F8B2A541}" destId="{8D46EAE3-1881-416C-835A-19E66E05ED7B}" srcOrd="0" destOrd="0" presId="urn:microsoft.com/office/officeart/2005/8/layout/radial1"/>
    <dgm:cxn modelId="{826CFB9A-8DD0-4EC4-9B0F-0517383A276F}" type="presParOf" srcId="{9FA45081-4E47-4940-A75D-381D344C3D44}" destId="{4D951460-93F8-4640-979C-7467E2E088EE}" srcOrd="2" destOrd="0" presId="urn:microsoft.com/office/officeart/2005/8/layout/radial1"/>
    <dgm:cxn modelId="{B51FD418-4903-45C9-9482-0E6D2C0F546B}" type="presParOf" srcId="{9FA45081-4E47-4940-A75D-381D344C3D44}" destId="{675F0835-093A-40F6-A3CD-F5CE8942900A}" srcOrd="3" destOrd="0" presId="urn:microsoft.com/office/officeart/2005/8/layout/radial1"/>
    <dgm:cxn modelId="{B37FF229-CD43-4CBA-B0B3-3B802C9BCA61}" type="presParOf" srcId="{675F0835-093A-40F6-A3CD-F5CE8942900A}" destId="{34C624A1-8762-4B89-8ABC-32A7B027C972}" srcOrd="0" destOrd="0" presId="urn:microsoft.com/office/officeart/2005/8/layout/radial1"/>
    <dgm:cxn modelId="{D8BB16D3-B395-4B8A-A25A-2FC9652BD5CD}" type="presParOf" srcId="{9FA45081-4E47-4940-A75D-381D344C3D44}" destId="{3E3E8BA1-7E0B-4564-943D-E6B2EE95D772}" srcOrd="4" destOrd="0" presId="urn:microsoft.com/office/officeart/2005/8/layout/radial1"/>
    <dgm:cxn modelId="{5195AEC0-0E94-46AB-A1B1-EB6708989F19}" type="presParOf" srcId="{9FA45081-4E47-4940-A75D-381D344C3D44}" destId="{FBFCF10D-5C40-4A9C-BB93-6AB3526D78BA}" srcOrd="5" destOrd="0" presId="urn:microsoft.com/office/officeart/2005/8/layout/radial1"/>
    <dgm:cxn modelId="{2F874359-6A13-4619-96C7-818889BC13EE}" type="presParOf" srcId="{FBFCF10D-5C40-4A9C-BB93-6AB3526D78BA}" destId="{98EEA344-C13E-4E16-BA8B-5DFB16AC8CB2}" srcOrd="0" destOrd="0" presId="urn:microsoft.com/office/officeart/2005/8/layout/radial1"/>
    <dgm:cxn modelId="{E72E044C-CBA0-4914-8863-799990FCB1C5}" type="presParOf" srcId="{9FA45081-4E47-4940-A75D-381D344C3D44}" destId="{713B59DF-FB42-4F70-ADB1-DAA4F6B9A056}" srcOrd="6" destOrd="0" presId="urn:microsoft.com/office/officeart/2005/8/layout/radial1"/>
    <dgm:cxn modelId="{CAF12770-D75E-4D49-94C5-DA60627BA0C5}" type="presParOf" srcId="{9FA45081-4E47-4940-A75D-381D344C3D44}" destId="{79632D9A-CB10-415F-B904-B86D65A48DE1}" srcOrd="7" destOrd="0" presId="urn:microsoft.com/office/officeart/2005/8/layout/radial1"/>
    <dgm:cxn modelId="{45638918-9B7F-4783-9D8B-21B650F4E49E}" type="presParOf" srcId="{79632D9A-CB10-415F-B904-B86D65A48DE1}" destId="{A8E7B953-CF49-4DB7-ACAB-B1C9B7EFB6A3}" srcOrd="0" destOrd="0" presId="urn:microsoft.com/office/officeart/2005/8/layout/radial1"/>
    <dgm:cxn modelId="{D1DD335B-9305-49A8-9336-E12A64567C2B}" type="presParOf" srcId="{9FA45081-4E47-4940-A75D-381D344C3D44}" destId="{D1F48121-2658-46BC-AB84-BEDE4D27252C}" srcOrd="8" destOrd="0" presId="urn:microsoft.com/office/officeart/2005/8/layout/radial1"/>
    <dgm:cxn modelId="{38A2EE93-F70E-4A50-BA15-65A22C410B43}" type="presParOf" srcId="{9FA45081-4E47-4940-A75D-381D344C3D44}" destId="{5BE2E3B0-AD3C-498E-B0C3-C328CE9340E5}" srcOrd="9" destOrd="0" presId="urn:microsoft.com/office/officeart/2005/8/layout/radial1"/>
    <dgm:cxn modelId="{FD34C1AE-2E4B-4964-9F2B-FCB9051FC179}" type="presParOf" srcId="{5BE2E3B0-AD3C-498E-B0C3-C328CE9340E5}" destId="{E76E731F-7A90-4004-B67E-8CBEAEF5FDB7}" srcOrd="0" destOrd="0" presId="urn:microsoft.com/office/officeart/2005/8/layout/radial1"/>
    <dgm:cxn modelId="{2C3F31C1-7E00-42BF-9CC3-5E607AA8A27B}" type="presParOf" srcId="{9FA45081-4E47-4940-A75D-381D344C3D44}" destId="{C3E09D0A-18FF-4E94-8B44-B45F1A861374}" srcOrd="10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154C65A-A5B0-41A4-A45E-AD60463533A6}" type="doc">
      <dgm:prSet loTypeId="urn:microsoft.com/office/officeart/2005/8/layout/radial1" loCatId="relationship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467A333-6628-4878-9F4D-122BA2059500}">
      <dgm:prSet phldrT="[Text]" custT="1"/>
      <dgm:spPr/>
      <dgm:t>
        <a:bodyPr/>
        <a:lstStyle/>
        <a:p>
          <a:pPr algn="ctr"/>
          <a:r>
            <a:rPr lang="en-US" sz="1600" b="0" dirty="0">
              <a:effectLst/>
            </a:rPr>
            <a:t>Terminology</a:t>
          </a:r>
        </a:p>
      </dgm:t>
    </dgm:pt>
    <dgm:pt modelId="{D8E5B605-8FFB-4B9C-80CF-8D7DC21C8A2E}" type="parTrans" cxnId="{B9A7CA35-DABE-4A19-831B-1AE8ABE5BB09}">
      <dgm:prSet/>
      <dgm:spPr/>
      <dgm:t>
        <a:bodyPr/>
        <a:lstStyle/>
        <a:p>
          <a:pPr algn="ctr"/>
          <a:endParaRPr lang="en-US" b="0"/>
        </a:p>
      </dgm:t>
    </dgm:pt>
    <dgm:pt modelId="{D8D6359A-BCA5-4D5A-B579-B9170D4E3720}" type="sibTrans" cxnId="{B9A7CA35-DABE-4A19-831B-1AE8ABE5BB09}">
      <dgm:prSet/>
      <dgm:spPr/>
      <dgm:t>
        <a:bodyPr/>
        <a:lstStyle/>
        <a:p>
          <a:pPr algn="ctr"/>
          <a:endParaRPr lang="en-US" b="0"/>
        </a:p>
      </dgm:t>
    </dgm:pt>
    <dgm:pt modelId="{25EC3F60-A198-471F-A67C-E6056DF81E90}">
      <dgm:prSet phldrT="[Text]" custT="1"/>
      <dgm:spPr/>
      <dgm:t>
        <a:bodyPr/>
        <a:lstStyle/>
        <a:p>
          <a:pPr algn="ctr"/>
          <a:r>
            <a: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Security</a:t>
          </a:r>
        </a:p>
        <a:p>
          <a:pPr algn="ctr"/>
          <a:r>
            <a: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Trustworthiness</a:t>
          </a:r>
        </a:p>
      </dgm:t>
    </dgm:pt>
    <dgm:pt modelId="{E6904251-D720-48A8-B781-C01A628BC70A}" type="parTrans" cxnId="{0E03858E-072A-4054-8A92-55D277E3B876}">
      <dgm:prSet custT="1"/>
      <dgm:spPr/>
      <dgm:t>
        <a:bodyPr/>
        <a:lstStyle/>
        <a:p>
          <a:pPr algn="ctr"/>
          <a:endParaRPr lang="en-US" sz="500" b="0">
            <a:effectLst/>
          </a:endParaRPr>
        </a:p>
      </dgm:t>
    </dgm:pt>
    <dgm:pt modelId="{C5EC7E41-0052-4336-A872-2B90B43F124E}" type="sibTrans" cxnId="{0E03858E-072A-4054-8A92-55D277E3B876}">
      <dgm:prSet/>
      <dgm:spPr/>
      <dgm:t>
        <a:bodyPr/>
        <a:lstStyle/>
        <a:p>
          <a:pPr algn="ctr"/>
          <a:endParaRPr lang="en-US" b="0"/>
        </a:p>
      </dgm:t>
    </dgm:pt>
    <dgm:pt modelId="{A90D434D-C153-49FB-8B51-3F0F67891E01}">
      <dgm:prSet phldrT="[Text]" custT="1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pPr algn="ctr"/>
          <a:r>
            <a: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Common Characteristics</a:t>
          </a:r>
        </a:p>
      </dgm:t>
    </dgm:pt>
    <dgm:pt modelId="{39029C91-2565-477E-9A6F-34A1CD161806}" type="parTrans" cxnId="{7789A56A-F0E0-49B2-9BFE-34DA48D7D149}">
      <dgm:prSet custT="1"/>
      <dgm:spPr/>
      <dgm:t>
        <a:bodyPr/>
        <a:lstStyle/>
        <a:p>
          <a:pPr algn="ctr"/>
          <a:endParaRPr lang="en-US" sz="500" b="0">
            <a:effectLst/>
          </a:endParaRPr>
        </a:p>
      </dgm:t>
    </dgm:pt>
    <dgm:pt modelId="{A0B60AC4-5108-4E97-B0B9-EA9BA2CACCA1}" type="sibTrans" cxnId="{7789A56A-F0E0-49B2-9BFE-34DA48D7D149}">
      <dgm:prSet/>
      <dgm:spPr/>
      <dgm:t>
        <a:bodyPr/>
        <a:lstStyle/>
        <a:p>
          <a:pPr algn="ctr"/>
          <a:endParaRPr lang="en-US" b="0"/>
        </a:p>
      </dgm:t>
    </dgm:pt>
    <dgm:pt modelId="{318FCDAE-451B-42F3-9E3E-353AB18CE995}">
      <dgm:prSet phldrT="[Text]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 algn="ctr"/>
          <a:r>
            <a: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Enabling</a:t>
          </a:r>
        </a:p>
        <a:p>
          <a:pPr algn="ctr"/>
          <a:r>
            <a: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Technologies </a:t>
          </a:r>
        </a:p>
      </dgm:t>
    </dgm:pt>
    <dgm:pt modelId="{43300389-C01B-4E02-8491-85315BD5FFEC}" type="parTrans" cxnId="{57B8BFF5-B7AB-4DE4-851D-6EAF8598990E}">
      <dgm:prSet custT="1"/>
      <dgm:spPr/>
      <dgm:t>
        <a:bodyPr/>
        <a:lstStyle/>
        <a:p>
          <a:pPr algn="ctr"/>
          <a:endParaRPr lang="en-US" sz="500" b="0">
            <a:effectLst/>
          </a:endParaRPr>
        </a:p>
      </dgm:t>
    </dgm:pt>
    <dgm:pt modelId="{BDF4B1A6-A274-439C-B1CD-0C705E90CE86}" type="sibTrans" cxnId="{57B8BFF5-B7AB-4DE4-851D-6EAF8598990E}">
      <dgm:prSet/>
      <dgm:spPr/>
      <dgm:t>
        <a:bodyPr/>
        <a:lstStyle/>
        <a:p>
          <a:pPr algn="ctr"/>
          <a:endParaRPr lang="en-US" b="0"/>
        </a:p>
      </dgm:t>
    </dgm:pt>
    <dgm:pt modelId="{2E2BA956-3E23-4C3F-8F8A-89AC89DF4CB6}">
      <dgm:prSet phldrT="[Text]" custT="1"/>
      <dgm:spPr/>
      <dgm:t>
        <a:bodyPr/>
        <a:lstStyle/>
        <a:p>
          <a:pPr algn="ctr"/>
          <a:r>
            <a: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Platform</a:t>
          </a:r>
        </a:p>
        <a:p>
          <a:pPr algn="ctr"/>
          <a:r>
            <a: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Stacks</a:t>
          </a:r>
        </a:p>
      </dgm:t>
    </dgm:pt>
    <dgm:pt modelId="{6CDEAFB7-6156-4563-B7F2-194B2EAEC78E}" type="parTrans" cxnId="{2B514E0C-4168-4F7C-AEE9-3226947DA142}">
      <dgm:prSet custT="1"/>
      <dgm:spPr/>
      <dgm:t>
        <a:bodyPr/>
        <a:lstStyle/>
        <a:p>
          <a:pPr algn="ctr"/>
          <a:endParaRPr lang="en-US" sz="500" b="0">
            <a:effectLst/>
          </a:endParaRPr>
        </a:p>
      </dgm:t>
    </dgm:pt>
    <dgm:pt modelId="{BFC3D5C8-7DD6-4066-BC82-0CE069A209B5}" type="sibTrans" cxnId="{2B514E0C-4168-4F7C-AEE9-3226947DA142}">
      <dgm:prSet/>
      <dgm:spPr/>
      <dgm:t>
        <a:bodyPr/>
        <a:lstStyle/>
        <a:p>
          <a:pPr algn="ctr"/>
          <a:endParaRPr lang="en-US" b="0"/>
        </a:p>
      </dgm:t>
    </dgm:pt>
    <dgm:pt modelId="{7C12EEE3-05F6-400A-AEFE-7051CBA9C9AF}">
      <dgm:prSet phldrT="[Text]" custT="1"/>
      <dgm:spPr/>
      <dgm:t>
        <a:bodyPr/>
        <a:lstStyle/>
        <a:p>
          <a:pPr algn="ctr"/>
          <a:r>
            <a: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Taxonomy </a:t>
          </a:r>
        </a:p>
        <a:p>
          <a:pPr algn="ctr"/>
          <a:r>
            <a: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Types</a:t>
          </a:r>
        </a:p>
      </dgm:t>
    </dgm:pt>
    <dgm:pt modelId="{7987FFAE-7E72-4ACD-91FA-264C2A6EAEE9}" type="parTrans" cxnId="{19DE3086-87C0-4893-B8ED-53A44BF5DDC0}">
      <dgm:prSet custT="1"/>
      <dgm:spPr/>
      <dgm:t>
        <a:bodyPr/>
        <a:lstStyle/>
        <a:p>
          <a:pPr algn="ctr"/>
          <a:endParaRPr lang="en-US" sz="500" b="0">
            <a:effectLst/>
          </a:endParaRPr>
        </a:p>
      </dgm:t>
    </dgm:pt>
    <dgm:pt modelId="{D111448A-70CF-4821-81F9-41DCB621291F}" type="sibTrans" cxnId="{19DE3086-87C0-4893-B8ED-53A44BF5DDC0}">
      <dgm:prSet/>
      <dgm:spPr/>
      <dgm:t>
        <a:bodyPr/>
        <a:lstStyle/>
        <a:p>
          <a:pPr algn="ctr"/>
          <a:endParaRPr lang="en-US" b="0"/>
        </a:p>
      </dgm:t>
    </dgm:pt>
    <dgm:pt modelId="{9FA45081-4E47-4940-A75D-381D344C3D44}" type="pres">
      <dgm:prSet presAssocID="{5154C65A-A5B0-41A4-A45E-AD60463533A6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87CE30F-C863-4B2C-9044-5540DE020E9D}" type="pres">
      <dgm:prSet presAssocID="{9467A333-6628-4878-9F4D-122BA2059500}" presName="centerShape" presStyleLbl="node0" presStyleIdx="0" presStyleCnt="1"/>
      <dgm:spPr/>
    </dgm:pt>
    <dgm:pt modelId="{AA0452A0-F47D-4E93-A74F-4335F8B2A541}" type="pres">
      <dgm:prSet presAssocID="{E6904251-D720-48A8-B781-C01A628BC70A}" presName="Name9" presStyleLbl="parChTrans1D2" presStyleIdx="0" presStyleCnt="5"/>
      <dgm:spPr/>
    </dgm:pt>
    <dgm:pt modelId="{8D46EAE3-1881-416C-835A-19E66E05ED7B}" type="pres">
      <dgm:prSet presAssocID="{E6904251-D720-48A8-B781-C01A628BC70A}" presName="connTx" presStyleLbl="parChTrans1D2" presStyleIdx="0" presStyleCnt="5"/>
      <dgm:spPr/>
    </dgm:pt>
    <dgm:pt modelId="{4D951460-93F8-4640-979C-7467E2E088EE}" type="pres">
      <dgm:prSet presAssocID="{25EC3F60-A198-471F-A67C-E6056DF81E90}" presName="node" presStyleLbl="node1" presStyleIdx="0" presStyleCnt="5">
        <dgm:presLayoutVars>
          <dgm:bulletEnabled val="1"/>
        </dgm:presLayoutVars>
      </dgm:prSet>
      <dgm:spPr/>
    </dgm:pt>
    <dgm:pt modelId="{675F0835-093A-40F6-A3CD-F5CE8942900A}" type="pres">
      <dgm:prSet presAssocID="{39029C91-2565-477E-9A6F-34A1CD161806}" presName="Name9" presStyleLbl="parChTrans1D2" presStyleIdx="1" presStyleCnt="5"/>
      <dgm:spPr/>
    </dgm:pt>
    <dgm:pt modelId="{34C624A1-8762-4B89-8ABC-32A7B027C972}" type="pres">
      <dgm:prSet presAssocID="{39029C91-2565-477E-9A6F-34A1CD161806}" presName="connTx" presStyleLbl="parChTrans1D2" presStyleIdx="1" presStyleCnt="5"/>
      <dgm:spPr/>
    </dgm:pt>
    <dgm:pt modelId="{3E3E8BA1-7E0B-4564-943D-E6B2EE95D772}" type="pres">
      <dgm:prSet presAssocID="{A90D434D-C153-49FB-8B51-3F0F67891E01}" presName="node" presStyleLbl="node1" presStyleIdx="1" presStyleCnt="5">
        <dgm:presLayoutVars>
          <dgm:bulletEnabled val="1"/>
        </dgm:presLayoutVars>
      </dgm:prSet>
      <dgm:spPr/>
    </dgm:pt>
    <dgm:pt modelId="{FBFCF10D-5C40-4A9C-BB93-6AB3526D78BA}" type="pres">
      <dgm:prSet presAssocID="{43300389-C01B-4E02-8491-85315BD5FFEC}" presName="Name9" presStyleLbl="parChTrans1D2" presStyleIdx="2" presStyleCnt="5"/>
      <dgm:spPr/>
    </dgm:pt>
    <dgm:pt modelId="{98EEA344-C13E-4E16-BA8B-5DFB16AC8CB2}" type="pres">
      <dgm:prSet presAssocID="{43300389-C01B-4E02-8491-85315BD5FFEC}" presName="connTx" presStyleLbl="parChTrans1D2" presStyleIdx="2" presStyleCnt="5"/>
      <dgm:spPr/>
    </dgm:pt>
    <dgm:pt modelId="{713B59DF-FB42-4F70-ADB1-DAA4F6B9A056}" type="pres">
      <dgm:prSet presAssocID="{318FCDAE-451B-42F3-9E3E-353AB18CE995}" presName="node" presStyleLbl="node1" presStyleIdx="2" presStyleCnt="5">
        <dgm:presLayoutVars>
          <dgm:bulletEnabled val="1"/>
        </dgm:presLayoutVars>
      </dgm:prSet>
      <dgm:spPr/>
    </dgm:pt>
    <dgm:pt modelId="{79632D9A-CB10-415F-B904-B86D65A48DE1}" type="pres">
      <dgm:prSet presAssocID="{6CDEAFB7-6156-4563-B7F2-194B2EAEC78E}" presName="Name9" presStyleLbl="parChTrans1D2" presStyleIdx="3" presStyleCnt="5"/>
      <dgm:spPr/>
    </dgm:pt>
    <dgm:pt modelId="{A8E7B953-CF49-4DB7-ACAB-B1C9B7EFB6A3}" type="pres">
      <dgm:prSet presAssocID="{6CDEAFB7-6156-4563-B7F2-194B2EAEC78E}" presName="connTx" presStyleLbl="parChTrans1D2" presStyleIdx="3" presStyleCnt="5"/>
      <dgm:spPr/>
    </dgm:pt>
    <dgm:pt modelId="{D1F48121-2658-46BC-AB84-BEDE4D27252C}" type="pres">
      <dgm:prSet presAssocID="{2E2BA956-3E23-4C3F-8F8A-89AC89DF4CB6}" presName="node" presStyleLbl="node1" presStyleIdx="3" presStyleCnt="5">
        <dgm:presLayoutVars>
          <dgm:bulletEnabled val="1"/>
        </dgm:presLayoutVars>
      </dgm:prSet>
      <dgm:spPr/>
    </dgm:pt>
    <dgm:pt modelId="{5BE2E3B0-AD3C-498E-B0C3-C328CE9340E5}" type="pres">
      <dgm:prSet presAssocID="{7987FFAE-7E72-4ACD-91FA-264C2A6EAEE9}" presName="Name9" presStyleLbl="parChTrans1D2" presStyleIdx="4" presStyleCnt="5"/>
      <dgm:spPr/>
    </dgm:pt>
    <dgm:pt modelId="{E76E731F-7A90-4004-B67E-8CBEAEF5FDB7}" type="pres">
      <dgm:prSet presAssocID="{7987FFAE-7E72-4ACD-91FA-264C2A6EAEE9}" presName="connTx" presStyleLbl="parChTrans1D2" presStyleIdx="4" presStyleCnt="5"/>
      <dgm:spPr/>
    </dgm:pt>
    <dgm:pt modelId="{C3E09D0A-18FF-4E94-8B44-B45F1A861374}" type="pres">
      <dgm:prSet presAssocID="{7C12EEE3-05F6-400A-AEFE-7051CBA9C9AF}" presName="node" presStyleLbl="node1" presStyleIdx="4" presStyleCnt="5">
        <dgm:presLayoutVars>
          <dgm:bulletEnabled val="1"/>
        </dgm:presLayoutVars>
      </dgm:prSet>
      <dgm:spPr/>
    </dgm:pt>
  </dgm:ptLst>
  <dgm:cxnLst>
    <dgm:cxn modelId="{2B514E0C-4168-4F7C-AEE9-3226947DA142}" srcId="{9467A333-6628-4878-9F4D-122BA2059500}" destId="{2E2BA956-3E23-4C3F-8F8A-89AC89DF4CB6}" srcOrd="3" destOrd="0" parTransId="{6CDEAFB7-6156-4563-B7F2-194B2EAEC78E}" sibTransId="{BFC3D5C8-7DD6-4066-BC82-0CE069A209B5}"/>
    <dgm:cxn modelId="{0EE7ED21-AC3D-47D4-9F07-B791DD1EE5F2}" type="presOf" srcId="{6CDEAFB7-6156-4563-B7F2-194B2EAEC78E}" destId="{A8E7B953-CF49-4DB7-ACAB-B1C9B7EFB6A3}" srcOrd="1" destOrd="0" presId="urn:microsoft.com/office/officeart/2005/8/layout/radial1"/>
    <dgm:cxn modelId="{B9A7CA35-DABE-4A19-831B-1AE8ABE5BB09}" srcId="{5154C65A-A5B0-41A4-A45E-AD60463533A6}" destId="{9467A333-6628-4878-9F4D-122BA2059500}" srcOrd="0" destOrd="0" parTransId="{D8E5B605-8FFB-4B9C-80CF-8D7DC21C8A2E}" sibTransId="{D8D6359A-BCA5-4D5A-B579-B9170D4E3720}"/>
    <dgm:cxn modelId="{03AE6337-4373-4364-A16A-1E830627129B}" type="presOf" srcId="{9467A333-6628-4878-9F4D-122BA2059500}" destId="{287CE30F-C863-4B2C-9044-5540DE020E9D}" srcOrd="0" destOrd="0" presId="urn:microsoft.com/office/officeart/2005/8/layout/radial1"/>
    <dgm:cxn modelId="{3034943D-DCDB-42F8-8CC2-4824E08A41F2}" type="presOf" srcId="{43300389-C01B-4E02-8491-85315BD5FFEC}" destId="{FBFCF10D-5C40-4A9C-BB93-6AB3526D78BA}" srcOrd="0" destOrd="0" presId="urn:microsoft.com/office/officeart/2005/8/layout/radial1"/>
    <dgm:cxn modelId="{9B157563-28B4-4000-BF0D-6FDF4D8B3753}" type="presOf" srcId="{E6904251-D720-48A8-B781-C01A628BC70A}" destId="{8D46EAE3-1881-416C-835A-19E66E05ED7B}" srcOrd="1" destOrd="0" presId="urn:microsoft.com/office/officeart/2005/8/layout/radial1"/>
    <dgm:cxn modelId="{7789A56A-F0E0-49B2-9BFE-34DA48D7D149}" srcId="{9467A333-6628-4878-9F4D-122BA2059500}" destId="{A90D434D-C153-49FB-8B51-3F0F67891E01}" srcOrd="1" destOrd="0" parTransId="{39029C91-2565-477E-9A6F-34A1CD161806}" sibTransId="{A0B60AC4-5108-4E97-B0B9-EA9BA2CACCA1}"/>
    <dgm:cxn modelId="{2391564B-0588-4EC5-96F7-F000DE2AAC91}" type="presOf" srcId="{43300389-C01B-4E02-8491-85315BD5FFEC}" destId="{98EEA344-C13E-4E16-BA8B-5DFB16AC8CB2}" srcOrd="1" destOrd="0" presId="urn:microsoft.com/office/officeart/2005/8/layout/radial1"/>
    <dgm:cxn modelId="{973C8F4C-8E64-4B0F-9F37-A9FDFA58B85E}" type="presOf" srcId="{A90D434D-C153-49FB-8B51-3F0F67891E01}" destId="{3E3E8BA1-7E0B-4564-943D-E6B2EE95D772}" srcOrd="0" destOrd="0" presId="urn:microsoft.com/office/officeart/2005/8/layout/radial1"/>
    <dgm:cxn modelId="{5DA7E752-70F6-4B41-ACC1-469250946EE6}" type="presOf" srcId="{7987FFAE-7E72-4ACD-91FA-264C2A6EAEE9}" destId="{E76E731F-7A90-4004-B67E-8CBEAEF5FDB7}" srcOrd="1" destOrd="0" presId="urn:microsoft.com/office/officeart/2005/8/layout/radial1"/>
    <dgm:cxn modelId="{7337AA7F-EC37-4941-8A5B-9DD091EA24B0}" type="presOf" srcId="{2E2BA956-3E23-4C3F-8F8A-89AC89DF4CB6}" destId="{D1F48121-2658-46BC-AB84-BEDE4D27252C}" srcOrd="0" destOrd="0" presId="urn:microsoft.com/office/officeart/2005/8/layout/radial1"/>
    <dgm:cxn modelId="{19DE3086-87C0-4893-B8ED-53A44BF5DDC0}" srcId="{9467A333-6628-4878-9F4D-122BA2059500}" destId="{7C12EEE3-05F6-400A-AEFE-7051CBA9C9AF}" srcOrd="4" destOrd="0" parTransId="{7987FFAE-7E72-4ACD-91FA-264C2A6EAEE9}" sibTransId="{D111448A-70CF-4821-81F9-41DCB621291F}"/>
    <dgm:cxn modelId="{AE899D8D-1C2E-43E7-83EC-967277C9812B}" type="presOf" srcId="{7987FFAE-7E72-4ACD-91FA-264C2A6EAEE9}" destId="{5BE2E3B0-AD3C-498E-B0C3-C328CE9340E5}" srcOrd="0" destOrd="0" presId="urn:microsoft.com/office/officeart/2005/8/layout/radial1"/>
    <dgm:cxn modelId="{0E03858E-072A-4054-8A92-55D277E3B876}" srcId="{9467A333-6628-4878-9F4D-122BA2059500}" destId="{25EC3F60-A198-471F-A67C-E6056DF81E90}" srcOrd="0" destOrd="0" parTransId="{E6904251-D720-48A8-B781-C01A628BC70A}" sibTransId="{C5EC7E41-0052-4336-A872-2B90B43F124E}"/>
    <dgm:cxn modelId="{BACC4B92-63F4-495B-8F0C-13F6B803E34C}" type="presOf" srcId="{25EC3F60-A198-471F-A67C-E6056DF81E90}" destId="{4D951460-93F8-4640-979C-7467E2E088EE}" srcOrd="0" destOrd="0" presId="urn:microsoft.com/office/officeart/2005/8/layout/radial1"/>
    <dgm:cxn modelId="{5D2395A0-F1EB-44AA-881A-6E1B919F7B00}" type="presOf" srcId="{39029C91-2565-477E-9A6F-34A1CD161806}" destId="{675F0835-093A-40F6-A3CD-F5CE8942900A}" srcOrd="0" destOrd="0" presId="urn:microsoft.com/office/officeart/2005/8/layout/radial1"/>
    <dgm:cxn modelId="{A021F6B0-19C2-41C6-9ABF-0BF171307B65}" type="presOf" srcId="{6CDEAFB7-6156-4563-B7F2-194B2EAEC78E}" destId="{79632D9A-CB10-415F-B904-B86D65A48DE1}" srcOrd="0" destOrd="0" presId="urn:microsoft.com/office/officeart/2005/8/layout/radial1"/>
    <dgm:cxn modelId="{7091A9BE-6878-4B4E-8489-A71BFA65D85E}" type="presOf" srcId="{7C12EEE3-05F6-400A-AEFE-7051CBA9C9AF}" destId="{C3E09D0A-18FF-4E94-8B44-B45F1A861374}" srcOrd="0" destOrd="0" presId="urn:microsoft.com/office/officeart/2005/8/layout/radial1"/>
    <dgm:cxn modelId="{B73694D4-91B3-4446-8ED1-D82B0B2E558E}" type="presOf" srcId="{E6904251-D720-48A8-B781-C01A628BC70A}" destId="{AA0452A0-F47D-4E93-A74F-4335F8B2A541}" srcOrd="0" destOrd="0" presId="urn:microsoft.com/office/officeart/2005/8/layout/radial1"/>
    <dgm:cxn modelId="{B7ACEFDD-4EE3-4CFE-99F4-3773A1CBA7D6}" type="presOf" srcId="{5154C65A-A5B0-41A4-A45E-AD60463533A6}" destId="{9FA45081-4E47-4940-A75D-381D344C3D44}" srcOrd="0" destOrd="0" presId="urn:microsoft.com/office/officeart/2005/8/layout/radial1"/>
    <dgm:cxn modelId="{2722CAE8-136D-442F-A045-5DC2F1C9C641}" type="presOf" srcId="{39029C91-2565-477E-9A6F-34A1CD161806}" destId="{34C624A1-8762-4B89-8ABC-32A7B027C972}" srcOrd="1" destOrd="0" presId="urn:microsoft.com/office/officeart/2005/8/layout/radial1"/>
    <dgm:cxn modelId="{F53CF9F3-DC90-46E3-A56E-640E71C19E13}" type="presOf" srcId="{318FCDAE-451B-42F3-9E3E-353AB18CE995}" destId="{713B59DF-FB42-4F70-ADB1-DAA4F6B9A056}" srcOrd="0" destOrd="0" presId="urn:microsoft.com/office/officeart/2005/8/layout/radial1"/>
    <dgm:cxn modelId="{57B8BFF5-B7AB-4DE4-851D-6EAF8598990E}" srcId="{9467A333-6628-4878-9F4D-122BA2059500}" destId="{318FCDAE-451B-42F3-9E3E-353AB18CE995}" srcOrd="2" destOrd="0" parTransId="{43300389-C01B-4E02-8491-85315BD5FFEC}" sibTransId="{BDF4B1A6-A274-439C-B1CD-0C705E90CE86}"/>
    <dgm:cxn modelId="{DED10973-FB1F-4D99-8A42-2A9A16540DA6}" type="presParOf" srcId="{9FA45081-4E47-4940-A75D-381D344C3D44}" destId="{287CE30F-C863-4B2C-9044-5540DE020E9D}" srcOrd="0" destOrd="0" presId="urn:microsoft.com/office/officeart/2005/8/layout/radial1"/>
    <dgm:cxn modelId="{8F47C012-A98A-40B9-A1D1-56A4C1F30DF7}" type="presParOf" srcId="{9FA45081-4E47-4940-A75D-381D344C3D44}" destId="{AA0452A0-F47D-4E93-A74F-4335F8B2A541}" srcOrd="1" destOrd="0" presId="urn:microsoft.com/office/officeart/2005/8/layout/radial1"/>
    <dgm:cxn modelId="{90571B58-CE2E-4187-B626-1DA60F0DC633}" type="presParOf" srcId="{AA0452A0-F47D-4E93-A74F-4335F8B2A541}" destId="{8D46EAE3-1881-416C-835A-19E66E05ED7B}" srcOrd="0" destOrd="0" presId="urn:microsoft.com/office/officeart/2005/8/layout/radial1"/>
    <dgm:cxn modelId="{826CFB9A-8DD0-4EC4-9B0F-0517383A276F}" type="presParOf" srcId="{9FA45081-4E47-4940-A75D-381D344C3D44}" destId="{4D951460-93F8-4640-979C-7467E2E088EE}" srcOrd="2" destOrd="0" presId="urn:microsoft.com/office/officeart/2005/8/layout/radial1"/>
    <dgm:cxn modelId="{B51FD418-4903-45C9-9482-0E6D2C0F546B}" type="presParOf" srcId="{9FA45081-4E47-4940-A75D-381D344C3D44}" destId="{675F0835-093A-40F6-A3CD-F5CE8942900A}" srcOrd="3" destOrd="0" presId="urn:microsoft.com/office/officeart/2005/8/layout/radial1"/>
    <dgm:cxn modelId="{B37FF229-CD43-4CBA-B0B3-3B802C9BCA61}" type="presParOf" srcId="{675F0835-093A-40F6-A3CD-F5CE8942900A}" destId="{34C624A1-8762-4B89-8ABC-32A7B027C972}" srcOrd="0" destOrd="0" presId="urn:microsoft.com/office/officeart/2005/8/layout/radial1"/>
    <dgm:cxn modelId="{D8BB16D3-B395-4B8A-A25A-2FC9652BD5CD}" type="presParOf" srcId="{9FA45081-4E47-4940-A75D-381D344C3D44}" destId="{3E3E8BA1-7E0B-4564-943D-E6B2EE95D772}" srcOrd="4" destOrd="0" presId="urn:microsoft.com/office/officeart/2005/8/layout/radial1"/>
    <dgm:cxn modelId="{5195AEC0-0E94-46AB-A1B1-EB6708989F19}" type="presParOf" srcId="{9FA45081-4E47-4940-A75D-381D344C3D44}" destId="{FBFCF10D-5C40-4A9C-BB93-6AB3526D78BA}" srcOrd="5" destOrd="0" presId="urn:microsoft.com/office/officeart/2005/8/layout/radial1"/>
    <dgm:cxn modelId="{2F874359-6A13-4619-96C7-818889BC13EE}" type="presParOf" srcId="{FBFCF10D-5C40-4A9C-BB93-6AB3526D78BA}" destId="{98EEA344-C13E-4E16-BA8B-5DFB16AC8CB2}" srcOrd="0" destOrd="0" presId="urn:microsoft.com/office/officeart/2005/8/layout/radial1"/>
    <dgm:cxn modelId="{E72E044C-CBA0-4914-8863-799990FCB1C5}" type="presParOf" srcId="{9FA45081-4E47-4940-A75D-381D344C3D44}" destId="{713B59DF-FB42-4F70-ADB1-DAA4F6B9A056}" srcOrd="6" destOrd="0" presId="urn:microsoft.com/office/officeart/2005/8/layout/radial1"/>
    <dgm:cxn modelId="{CAF12770-D75E-4D49-94C5-DA60627BA0C5}" type="presParOf" srcId="{9FA45081-4E47-4940-A75D-381D344C3D44}" destId="{79632D9A-CB10-415F-B904-B86D65A48DE1}" srcOrd="7" destOrd="0" presId="urn:microsoft.com/office/officeart/2005/8/layout/radial1"/>
    <dgm:cxn modelId="{45638918-9B7F-4783-9D8B-21B650F4E49E}" type="presParOf" srcId="{79632D9A-CB10-415F-B904-B86D65A48DE1}" destId="{A8E7B953-CF49-4DB7-ACAB-B1C9B7EFB6A3}" srcOrd="0" destOrd="0" presId="urn:microsoft.com/office/officeart/2005/8/layout/radial1"/>
    <dgm:cxn modelId="{D1DD335B-9305-49A8-9336-E12A64567C2B}" type="presParOf" srcId="{9FA45081-4E47-4940-A75D-381D344C3D44}" destId="{D1F48121-2658-46BC-AB84-BEDE4D27252C}" srcOrd="8" destOrd="0" presId="urn:microsoft.com/office/officeart/2005/8/layout/radial1"/>
    <dgm:cxn modelId="{38A2EE93-F70E-4A50-BA15-65A22C410B43}" type="presParOf" srcId="{9FA45081-4E47-4940-A75D-381D344C3D44}" destId="{5BE2E3B0-AD3C-498E-B0C3-C328CE9340E5}" srcOrd="9" destOrd="0" presId="urn:microsoft.com/office/officeart/2005/8/layout/radial1"/>
    <dgm:cxn modelId="{FD34C1AE-2E4B-4964-9F2B-FCB9051FC179}" type="presParOf" srcId="{5BE2E3B0-AD3C-498E-B0C3-C328CE9340E5}" destId="{E76E731F-7A90-4004-B67E-8CBEAEF5FDB7}" srcOrd="0" destOrd="0" presId="urn:microsoft.com/office/officeart/2005/8/layout/radial1"/>
    <dgm:cxn modelId="{2C3F31C1-7E00-42BF-9CC3-5E607AA8A27B}" type="presParOf" srcId="{9FA45081-4E47-4940-A75D-381D344C3D44}" destId="{C3E09D0A-18FF-4E94-8B44-B45F1A861374}" srcOrd="10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7CE30F-C863-4B2C-9044-5540DE020E9D}">
      <dsp:nvSpPr>
        <dsp:cNvPr id="0" name=""/>
        <dsp:cNvSpPr/>
      </dsp:nvSpPr>
      <dsp:spPr>
        <a:xfrm>
          <a:off x="3563863" y="1939344"/>
          <a:ext cx="1489501" cy="148950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>
              <a:effectLst/>
            </a:rPr>
            <a:t>Terminology</a:t>
          </a:r>
        </a:p>
      </dsp:txBody>
      <dsp:txXfrm>
        <a:off x="3781995" y="2157476"/>
        <a:ext cx="1053237" cy="1053237"/>
      </dsp:txXfrm>
    </dsp:sp>
    <dsp:sp modelId="{AA0452A0-F47D-4E93-A74F-4335F8B2A541}">
      <dsp:nvSpPr>
        <dsp:cNvPr id="0" name=""/>
        <dsp:cNvSpPr/>
      </dsp:nvSpPr>
      <dsp:spPr>
        <a:xfrm rot="16200000">
          <a:off x="4085106" y="1700280"/>
          <a:ext cx="447014" cy="31113"/>
        </a:xfrm>
        <a:custGeom>
          <a:avLst/>
          <a:gdLst/>
          <a:ahLst/>
          <a:cxnLst/>
          <a:rect l="0" t="0" r="0" b="0"/>
          <a:pathLst>
            <a:path>
              <a:moveTo>
                <a:pt x="0" y="15556"/>
              </a:moveTo>
              <a:lnTo>
                <a:pt x="447014" y="1555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b="0" kern="1200">
            <a:effectLst/>
          </a:endParaRPr>
        </a:p>
      </dsp:txBody>
      <dsp:txXfrm>
        <a:off x="4297438" y="1704661"/>
        <a:ext cx="22350" cy="22350"/>
      </dsp:txXfrm>
    </dsp:sp>
    <dsp:sp modelId="{4D951460-93F8-4640-979C-7467E2E088EE}">
      <dsp:nvSpPr>
        <dsp:cNvPr id="0" name=""/>
        <dsp:cNvSpPr/>
      </dsp:nvSpPr>
      <dsp:spPr>
        <a:xfrm>
          <a:off x="3563863" y="2828"/>
          <a:ext cx="1489501" cy="1489501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Security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Trustworthiness</a:t>
          </a:r>
        </a:p>
      </dsp:txBody>
      <dsp:txXfrm>
        <a:off x="3781995" y="220960"/>
        <a:ext cx="1053237" cy="1053237"/>
      </dsp:txXfrm>
    </dsp:sp>
    <dsp:sp modelId="{675F0835-093A-40F6-A3CD-F5CE8942900A}">
      <dsp:nvSpPr>
        <dsp:cNvPr id="0" name=""/>
        <dsp:cNvSpPr/>
      </dsp:nvSpPr>
      <dsp:spPr>
        <a:xfrm rot="20520000">
          <a:off x="5005974" y="2369330"/>
          <a:ext cx="447014" cy="31113"/>
        </a:xfrm>
        <a:custGeom>
          <a:avLst/>
          <a:gdLst/>
          <a:ahLst/>
          <a:cxnLst/>
          <a:rect l="0" t="0" r="0" b="0"/>
          <a:pathLst>
            <a:path>
              <a:moveTo>
                <a:pt x="0" y="15556"/>
              </a:moveTo>
              <a:lnTo>
                <a:pt x="447014" y="1555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b="0" kern="1200">
            <a:effectLst/>
          </a:endParaRPr>
        </a:p>
      </dsp:txBody>
      <dsp:txXfrm>
        <a:off x="5218306" y="2373711"/>
        <a:ext cx="22350" cy="22350"/>
      </dsp:txXfrm>
    </dsp:sp>
    <dsp:sp modelId="{3E3E8BA1-7E0B-4564-943D-E6B2EE95D772}">
      <dsp:nvSpPr>
        <dsp:cNvPr id="0" name=""/>
        <dsp:cNvSpPr/>
      </dsp:nvSpPr>
      <dsp:spPr>
        <a:xfrm>
          <a:off x="5405599" y="1340927"/>
          <a:ext cx="1489501" cy="1489501"/>
        </a:xfrm>
        <a:prstGeom prst="ellipse">
          <a:avLst/>
        </a:prstGeom>
        <a:solidFill>
          <a:schemeClr val="accent6">
            <a:lumMod val="60000"/>
            <a:lumOff val="4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Common Characteristics</a:t>
          </a:r>
        </a:p>
      </dsp:txBody>
      <dsp:txXfrm>
        <a:off x="5623731" y="1559059"/>
        <a:ext cx="1053237" cy="1053237"/>
      </dsp:txXfrm>
    </dsp:sp>
    <dsp:sp modelId="{FBFCF10D-5C40-4A9C-BB93-6AB3526D78BA}">
      <dsp:nvSpPr>
        <dsp:cNvPr id="0" name=""/>
        <dsp:cNvSpPr/>
      </dsp:nvSpPr>
      <dsp:spPr>
        <a:xfrm rot="3240000">
          <a:off x="4654234" y="3451875"/>
          <a:ext cx="447014" cy="31113"/>
        </a:xfrm>
        <a:custGeom>
          <a:avLst/>
          <a:gdLst/>
          <a:ahLst/>
          <a:cxnLst/>
          <a:rect l="0" t="0" r="0" b="0"/>
          <a:pathLst>
            <a:path>
              <a:moveTo>
                <a:pt x="0" y="15556"/>
              </a:moveTo>
              <a:lnTo>
                <a:pt x="447014" y="1555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b="0" kern="1200">
            <a:effectLst/>
          </a:endParaRPr>
        </a:p>
      </dsp:txBody>
      <dsp:txXfrm>
        <a:off x="4866566" y="3456256"/>
        <a:ext cx="22350" cy="22350"/>
      </dsp:txXfrm>
    </dsp:sp>
    <dsp:sp modelId="{713B59DF-FB42-4F70-ADB1-DAA4F6B9A056}">
      <dsp:nvSpPr>
        <dsp:cNvPr id="0" name=""/>
        <dsp:cNvSpPr/>
      </dsp:nvSpPr>
      <dsp:spPr>
        <a:xfrm>
          <a:off x="4702118" y="3506018"/>
          <a:ext cx="1489501" cy="1489501"/>
        </a:xfrm>
        <a:prstGeom prst="ellipse">
          <a:avLst/>
        </a:prstGeom>
        <a:solidFill>
          <a:schemeClr val="accent1">
            <a:lumMod val="60000"/>
            <a:lumOff val="4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Enabling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Technologies </a:t>
          </a:r>
        </a:p>
      </dsp:txBody>
      <dsp:txXfrm>
        <a:off x="4920250" y="3724150"/>
        <a:ext cx="1053237" cy="1053237"/>
      </dsp:txXfrm>
    </dsp:sp>
    <dsp:sp modelId="{79632D9A-CB10-415F-B904-B86D65A48DE1}">
      <dsp:nvSpPr>
        <dsp:cNvPr id="0" name=""/>
        <dsp:cNvSpPr/>
      </dsp:nvSpPr>
      <dsp:spPr>
        <a:xfrm rot="7560000">
          <a:off x="3515978" y="3451875"/>
          <a:ext cx="447014" cy="31113"/>
        </a:xfrm>
        <a:custGeom>
          <a:avLst/>
          <a:gdLst/>
          <a:ahLst/>
          <a:cxnLst/>
          <a:rect l="0" t="0" r="0" b="0"/>
          <a:pathLst>
            <a:path>
              <a:moveTo>
                <a:pt x="0" y="15556"/>
              </a:moveTo>
              <a:lnTo>
                <a:pt x="447014" y="1555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b="0" kern="1200">
            <a:effectLst/>
          </a:endParaRPr>
        </a:p>
      </dsp:txBody>
      <dsp:txXfrm rot="10800000">
        <a:off x="3728310" y="3456256"/>
        <a:ext cx="22350" cy="22350"/>
      </dsp:txXfrm>
    </dsp:sp>
    <dsp:sp modelId="{D1F48121-2658-46BC-AB84-BEDE4D27252C}">
      <dsp:nvSpPr>
        <dsp:cNvPr id="0" name=""/>
        <dsp:cNvSpPr/>
      </dsp:nvSpPr>
      <dsp:spPr>
        <a:xfrm>
          <a:off x="2425607" y="3506018"/>
          <a:ext cx="1489501" cy="1489501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Platform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Stacks</a:t>
          </a:r>
        </a:p>
      </dsp:txBody>
      <dsp:txXfrm>
        <a:off x="2643739" y="3724150"/>
        <a:ext cx="1053237" cy="1053237"/>
      </dsp:txXfrm>
    </dsp:sp>
    <dsp:sp modelId="{5BE2E3B0-AD3C-498E-B0C3-C328CE9340E5}">
      <dsp:nvSpPr>
        <dsp:cNvPr id="0" name=""/>
        <dsp:cNvSpPr/>
      </dsp:nvSpPr>
      <dsp:spPr>
        <a:xfrm rot="11880000">
          <a:off x="3164238" y="2369330"/>
          <a:ext cx="447014" cy="31113"/>
        </a:xfrm>
        <a:custGeom>
          <a:avLst/>
          <a:gdLst/>
          <a:ahLst/>
          <a:cxnLst/>
          <a:rect l="0" t="0" r="0" b="0"/>
          <a:pathLst>
            <a:path>
              <a:moveTo>
                <a:pt x="0" y="15556"/>
              </a:moveTo>
              <a:lnTo>
                <a:pt x="447014" y="1555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b="0" kern="1200">
            <a:effectLst/>
          </a:endParaRPr>
        </a:p>
      </dsp:txBody>
      <dsp:txXfrm rot="10800000">
        <a:off x="3376570" y="2373711"/>
        <a:ext cx="22350" cy="22350"/>
      </dsp:txXfrm>
    </dsp:sp>
    <dsp:sp modelId="{C3E09D0A-18FF-4E94-8B44-B45F1A861374}">
      <dsp:nvSpPr>
        <dsp:cNvPr id="0" name=""/>
        <dsp:cNvSpPr/>
      </dsp:nvSpPr>
      <dsp:spPr>
        <a:xfrm>
          <a:off x="1722127" y="1340927"/>
          <a:ext cx="1489501" cy="1489501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Taxonomy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Types</a:t>
          </a:r>
        </a:p>
      </dsp:txBody>
      <dsp:txXfrm>
        <a:off x="1940259" y="1559059"/>
        <a:ext cx="1053237" cy="10532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7CE30F-C863-4B2C-9044-5540DE020E9D}">
      <dsp:nvSpPr>
        <dsp:cNvPr id="0" name=""/>
        <dsp:cNvSpPr/>
      </dsp:nvSpPr>
      <dsp:spPr>
        <a:xfrm>
          <a:off x="3563863" y="1939344"/>
          <a:ext cx="1489501" cy="148950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>
              <a:effectLst/>
            </a:rPr>
            <a:t>Terminology</a:t>
          </a:r>
        </a:p>
      </dsp:txBody>
      <dsp:txXfrm>
        <a:off x="3781995" y="2157476"/>
        <a:ext cx="1053237" cy="1053237"/>
      </dsp:txXfrm>
    </dsp:sp>
    <dsp:sp modelId="{AA0452A0-F47D-4E93-A74F-4335F8B2A541}">
      <dsp:nvSpPr>
        <dsp:cNvPr id="0" name=""/>
        <dsp:cNvSpPr/>
      </dsp:nvSpPr>
      <dsp:spPr>
        <a:xfrm rot="16200000">
          <a:off x="4085106" y="1700280"/>
          <a:ext cx="447014" cy="31113"/>
        </a:xfrm>
        <a:custGeom>
          <a:avLst/>
          <a:gdLst/>
          <a:ahLst/>
          <a:cxnLst/>
          <a:rect l="0" t="0" r="0" b="0"/>
          <a:pathLst>
            <a:path>
              <a:moveTo>
                <a:pt x="0" y="15556"/>
              </a:moveTo>
              <a:lnTo>
                <a:pt x="447014" y="1555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b="0" kern="1200">
            <a:effectLst/>
          </a:endParaRPr>
        </a:p>
      </dsp:txBody>
      <dsp:txXfrm>
        <a:off x="4297438" y="1704661"/>
        <a:ext cx="22350" cy="22350"/>
      </dsp:txXfrm>
    </dsp:sp>
    <dsp:sp modelId="{4D951460-93F8-4640-979C-7467E2E088EE}">
      <dsp:nvSpPr>
        <dsp:cNvPr id="0" name=""/>
        <dsp:cNvSpPr/>
      </dsp:nvSpPr>
      <dsp:spPr>
        <a:xfrm>
          <a:off x="3563863" y="2828"/>
          <a:ext cx="1489501" cy="1489501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Security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Trustworthiness</a:t>
          </a:r>
        </a:p>
      </dsp:txBody>
      <dsp:txXfrm>
        <a:off x="3781995" y="220960"/>
        <a:ext cx="1053237" cy="1053237"/>
      </dsp:txXfrm>
    </dsp:sp>
    <dsp:sp modelId="{675F0835-093A-40F6-A3CD-F5CE8942900A}">
      <dsp:nvSpPr>
        <dsp:cNvPr id="0" name=""/>
        <dsp:cNvSpPr/>
      </dsp:nvSpPr>
      <dsp:spPr>
        <a:xfrm rot="20520000">
          <a:off x="5005974" y="2369330"/>
          <a:ext cx="447014" cy="31113"/>
        </a:xfrm>
        <a:custGeom>
          <a:avLst/>
          <a:gdLst/>
          <a:ahLst/>
          <a:cxnLst/>
          <a:rect l="0" t="0" r="0" b="0"/>
          <a:pathLst>
            <a:path>
              <a:moveTo>
                <a:pt x="0" y="15556"/>
              </a:moveTo>
              <a:lnTo>
                <a:pt x="447014" y="1555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b="0" kern="1200">
            <a:effectLst/>
          </a:endParaRPr>
        </a:p>
      </dsp:txBody>
      <dsp:txXfrm>
        <a:off x="5218306" y="2373711"/>
        <a:ext cx="22350" cy="22350"/>
      </dsp:txXfrm>
    </dsp:sp>
    <dsp:sp modelId="{3E3E8BA1-7E0B-4564-943D-E6B2EE95D772}">
      <dsp:nvSpPr>
        <dsp:cNvPr id="0" name=""/>
        <dsp:cNvSpPr/>
      </dsp:nvSpPr>
      <dsp:spPr>
        <a:xfrm>
          <a:off x="5405599" y="1340927"/>
          <a:ext cx="1489501" cy="1489501"/>
        </a:xfrm>
        <a:prstGeom prst="ellipse">
          <a:avLst/>
        </a:prstGeom>
        <a:solidFill>
          <a:schemeClr val="accent6">
            <a:lumMod val="60000"/>
            <a:lumOff val="4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Common Characteristics</a:t>
          </a:r>
        </a:p>
      </dsp:txBody>
      <dsp:txXfrm>
        <a:off x="5623731" y="1559059"/>
        <a:ext cx="1053237" cy="1053237"/>
      </dsp:txXfrm>
    </dsp:sp>
    <dsp:sp modelId="{FBFCF10D-5C40-4A9C-BB93-6AB3526D78BA}">
      <dsp:nvSpPr>
        <dsp:cNvPr id="0" name=""/>
        <dsp:cNvSpPr/>
      </dsp:nvSpPr>
      <dsp:spPr>
        <a:xfrm rot="3240000">
          <a:off x="4654234" y="3451875"/>
          <a:ext cx="447014" cy="31113"/>
        </a:xfrm>
        <a:custGeom>
          <a:avLst/>
          <a:gdLst/>
          <a:ahLst/>
          <a:cxnLst/>
          <a:rect l="0" t="0" r="0" b="0"/>
          <a:pathLst>
            <a:path>
              <a:moveTo>
                <a:pt x="0" y="15556"/>
              </a:moveTo>
              <a:lnTo>
                <a:pt x="447014" y="1555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b="0" kern="1200">
            <a:effectLst/>
          </a:endParaRPr>
        </a:p>
      </dsp:txBody>
      <dsp:txXfrm>
        <a:off x="4866566" y="3456256"/>
        <a:ext cx="22350" cy="22350"/>
      </dsp:txXfrm>
    </dsp:sp>
    <dsp:sp modelId="{713B59DF-FB42-4F70-ADB1-DAA4F6B9A056}">
      <dsp:nvSpPr>
        <dsp:cNvPr id="0" name=""/>
        <dsp:cNvSpPr/>
      </dsp:nvSpPr>
      <dsp:spPr>
        <a:xfrm>
          <a:off x="4702118" y="3506018"/>
          <a:ext cx="1489501" cy="1489501"/>
        </a:xfrm>
        <a:prstGeom prst="ellipse">
          <a:avLst/>
        </a:prstGeom>
        <a:solidFill>
          <a:schemeClr val="accent1">
            <a:lumMod val="60000"/>
            <a:lumOff val="4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Enabling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Technologies </a:t>
          </a:r>
        </a:p>
      </dsp:txBody>
      <dsp:txXfrm>
        <a:off x="4920250" y="3724150"/>
        <a:ext cx="1053237" cy="1053237"/>
      </dsp:txXfrm>
    </dsp:sp>
    <dsp:sp modelId="{79632D9A-CB10-415F-B904-B86D65A48DE1}">
      <dsp:nvSpPr>
        <dsp:cNvPr id="0" name=""/>
        <dsp:cNvSpPr/>
      </dsp:nvSpPr>
      <dsp:spPr>
        <a:xfrm rot="7560000">
          <a:off x="3515978" y="3451875"/>
          <a:ext cx="447014" cy="31113"/>
        </a:xfrm>
        <a:custGeom>
          <a:avLst/>
          <a:gdLst/>
          <a:ahLst/>
          <a:cxnLst/>
          <a:rect l="0" t="0" r="0" b="0"/>
          <a:pathLst>
            <a:path>
              <a:moveTo>
                <a:pt x="0" y="15556"/>
              </a:moveTo>
              <a:lnTo>
                <a:pt x="447014" y="1555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b="0" kern="1200">
            <a:effectLst/>
          </a:endParaRPr>
        </a:p>
      </dsp:txBody>
      <dsp:txXfrm rot="10800000">
        <a:off x="3728310" y="3456256"/>
        <a:ext cx="22350" cy="22350"/>
      </dsp:txXfrm>
    </dsp:sp>
    <dsp:sp modelId="{D1F48121-2658-46BC-AB84-BEDE4D27252C}">
      <dsp:nvSpPr>
        <dsp:cNvPr id="0" name=""/>
        <dsp:cNvSpPr/>
      </dsp:nvSpPr>
      <dsp:spPr>
        <a:xfrm>
          <a:off x="2425607" y="3506018"/>
          <a:ext cx="1489501" cy="1489501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Platform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Stacks</a:t>
          </a:r>
        </a:p>
      </dsp:txBody>
      <dsp:txXfrm>
        <a:off x="2643739" y="3724150"/>
        <a:ext cx="1053237" cy="1053237"/>
      </dsp:txXfrm>
    </dsp:sp>
    <dsp:sp modelId="{5BE2E3B0-AD3C-498E-B0C3-C328CE9340E5}">
      <dsp:nvSpPr>
        <dsp:cNvPr id="0" name=""/>
        <dsp:cNvSpPr/>
      </dsp:nvSpPr>
      <dsp:spPr>
        <a:xfrm rot="11880000">
          <a:off x="3164238" y="2369330"/>
          <a:ext cx="447014" cy="31113"/>
        </a:xfrm>
        <a:custGeom>
          <a:avLst/>
          <a:gdLst/>
          <a:ahLst/>
          <a:cxnLst/>
          <a:rect l="0" t="0" r="0" b="0"/>
          <a:pathLst>
            <a:path>
              <a:moveTo>
                <a:pt x="0" y="15556"/>
              </a:moveTo>
              <a:lnTo>
                <a:pt x="447014" y="1555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b="0" kern="1200">
            <a:effectLst/>
          </a:endParaRPr>
        </a:p>
      </dsp:txBody>
      <dsp:txXfrm rot="10800000">
        <a:off x="3376570" y="2373711"/>
        <a:ext cx="22350" cy="22350"/>
      </dsp:txXfrm>
    </dsp:sp>
    <dsp:sp modelId="{C3E09D0A-18FF-4E94-8B44-B45F1A861374}">
      <dsp:nvSpPr>
        <dsp:cNvPr id="0" name=""/>
        <dsp:cNvSpPr/>
      </dsp:nvSpPr>
      <dsp:spPr>
        <a:xfrm>
          <a:off x="1722127" y="1340927"/>
          <a:ext cx="1489501" cy="1489501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Taxonomy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Types</a:t>
          </a:r>
        </a:p>
      </dsp:txBody>
      <dsp:txXfrm>
        <a:off x="1940259" y="1559059"/>
        <a:ext cx="1053237" cy="10532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BCE62A8-7E94-49BC-8621-12A0497BD095}" type="datetimeFigureOut">
              <a:rPr lang="en-US" smtClean="0"/>
              <a:t>11/16/2020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67713C2D-6DAD-4B2F-8BAD-E2E60092F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91754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2AA35B27-FC83-4C74-B3EA-562A0BFAF1DA}" type="datetimeFigureOut">
              <a:rPr lang="en-US" smtClean="0"/>
              <a:t>11/16/2020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18AEB4F-9A24-4AB5-A444-3ADB62278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1436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week to 2 weeks for iteration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8AEB4F-9A24-4AB5-A444-3ADB622784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8763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8AEB4F-9A24-4AB5-A444-3ADB622784C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313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8AEB4F-9A24-4AB5-A444-3ADB622784C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825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;;;;;;;;;;;;;;;;;;;;;;;;;;;;;;;;;;;;;;;;;;;;;;;;;;;;;;;;;;;;;;;;;;;;;;;;;;;;;;;;;;;;;;l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;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8AEB4F-9A24-4AB5-A444-3ADB622784C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747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34E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/>
          <p:cNvSpPr/>
          <p:nvPr/>
        </p:nvSpPr>
        <p:spPr>
          <a:xfrm>
            <a:off x="838200" y="869568"/>
            <a:ext cx="798369" cy="798369"/>
          </a:xfrm>
          <a:prstGeom prst="ellipse">
            <a:avLst/>
          </a:prstGeom>
          <a:solidFill>
            <a:srgbClr val="00C459">
              <a:alpha val="7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509784" y="3296098"/>
            <a:ext cx="453127" cy="453127"/>
          </a:xfrm>
          <a:prstGeom prst="ellipse">
            <a:avLst/>
          </a:prstGeom>
          <a:solidFill>
            <a:schemeClr val="accent1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148006" y="1409612"/>
            <a:ext cx="2151485" cy="2151485"/>
          </a:xfrm>
          <a:prstGeom prst="ellipse">
            <a:avLst/>
          </a:prstGeom>
          <a:solidFill>
            <a:schemeClr val="bg2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 userDrawn="1"/>
        </p:nvSpPr>
        <p:spPr>
          <a:xfrm>
            <a:off x="10007316" y="3075143"/>
            <a:ext cx="927969" cy="927969"/>
          </a:xfrm>
          <a:prstGeom prst="ellipse">
            <a:avLst/>
          </a:prstGeom>
          <a:solidFill>
            <a:schemeClr val="accent2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5" name="Freeform 14"/>
          <p:cNvSpPr/>
          <p:nvPr userDrawn="1"/>
        </p:nvSpPr>
        <p:spPr>
          <a:xfrm flipH="1">
            <a:off x="10007316" y="2790662"/>
            <a:ext cx="2186006" cy="3789321"/>
          </a:xfrm>
          <a:custGeom>
            <a:avLst/>
            <a:gdLst>
              <a:gd name="connsiteX0" fmla="*/ 372517 w 2795044"/>
              <a:gd name="connsiteY0" fmla="*/ 0 h 4845054"/>
              <a:gd name="connsiteX1" fmla="*/ 2795044 w 2795044"/>
              <a:gd name="connsiteY1" fmla="*/ 2422527 h 4845054"/>
              <a:gd name="connsiteX2" fmla="*/ 372517 w 2795044"/>
              <a:gd name="connsiteY2" fmla="*/ 4845054 h 4845054"/>
              <a:gd name="connsiteX3" fmla="*/ 124828 w 2795044"/>
              <a:gd name="connsiteY3" fmla="*/ 4832547 h 4845054"/>
              <a:gd name="connsiteX4" fmla="*/ 0 w 2795044"/>
              <a:gd name="connsiteY4" fmla="*/ 4813496 h 4845054"/>
              <a:gd name="connsiteX5" fmla="*/ 0 w 2795044"/>
              <a:gd name="connsiteY5" fmla="*/ 31558 h 4845054"/>
              <a:gd name="connsiteX6" fmla="*/ 124828 w 2795044"/>
              <a:gd name="connsiteY6" fmla="*/ 12507 h 4845054"/>
              <a:gd name="connsiteX7" fmla="*/ 372517 w 2795044"/>
              <a:gd name="connsiteY7" fmla="*/ 0 h 4845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95044" h="4845054">
                <a:moveTo>
                  <a:pt x="372517" y="0"/>
                </a:moveTo>
                <a:cubicBezTo>
                  <a:pt x="1710442" y="0"/>
                  <a:pt x="2795044" y="1084602"/>
                  <a:pt x="2795044" y="2422527"/>
                </a:cubicBezTo>
                <a:cubicBezTo>
                  <a:pt x="2795044" y="3760452"/>
                  <a:pt x="1710442" y="4845054"/>
                  <a:pt x="372517" y="4845054"/>
                </a:cubicBezTo>
                <a:cubicBezTo>
                  <a:pt x="288897" y="4845054"/>
                  <a:pt x="206266" y="4840818"/>
                  <a:pt x="124828" y="4832547"/>
                </a:cubicBezTo>
                <a:lnTo>
                  <a:pt x="0" y="4813496"/>
                </a:lnTo>
                <a:lnTo>
                  <a:pt x="0" y="31558"/>
                </a:lnTo>
                <a:lnTo>
                  <a:pt x="124828" y="12507"/>
                </a:lnTo>
                <a:cubicBezTo>
                  <a:pt x="206266" y="4237"/>
                  <a:pt x="288897" y="0"/>
                  <a:pt x="372517" y="0"/>
                </a:cubicBezTo>
                <a:close/>
              </a:path>
            </a:pathLst>
          </a:custGeom>
          <a:solidFill>
            <a:srgbClr val="326FB4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 userDrawn="1"/>
        </p:nvSpPr>
        <p:spPr>
          <a:xfrm>
            <a:off x="10955042" y="5680502"/>
            <a:ext cx="611654" cy="611654"/>
          </a:xfrm>
          <a:prstGeom prst="ellipse">
            <a:avLst/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 userDrawn="1"/>
        </p:nvSpPr>
        <p:spPr>
          <a:xfrm>
            <a:off x="9618604" y="4844787"/>
            <a:ext cx="1735196" cy="1735196"/>
          </a:xfrm>
          <a:prstGeom prst="ellipse">
            <a:avLst/>
          </a:prstGeom>
          <a:solidFill>
            <a:schemeClr val="bg1"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9078FF-B56D-488A-B93D-8C50531D031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426886" y="2953883"/>
            <a:ext cx="9144000" cy="1303596"/>
          </a:xfrm>
        </p:spPr>
        <p:txBody>
          <a:bodyPr anchor="ctr"/>
          <a:lstStyle>
            <a:lvl1pPr algn="ctr">
              <a:defRPr sz="6000" b="1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F1E494-4736-4125-A498-B42E1E98C495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5057750"/>
            <a:ext cx="9144000" cy="456778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655207"/>
            <a:ext cx="5486400" cy="1674951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1256256" y="1086534"/>
            <a:ext cx="1186508" cy="1186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6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27BE2-6929-463D-9A0E-27E9460EA21E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836676" y="1350453"/>
            <a:ext cx="10515600" cy="4988795"/>
          </a:xfrm>
        </p:spPr>
        <p:txBody>
          <a:bodyPr/>
          <a:lstStyle>
            <a:lvl1pPr>
              <a:buClr>
                <a:srgbClr val="F7941D"/>
              </a:buClr>
              <a:buSzPct val="100000"/>
              <a:defRPr sz="2400"/>
            </a:lvl1pPr>
            <a:lvl2pPr>
              <a:buClr>
                <a:schemeClr val="tx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Date Placeholder 35"/>
          <p:cNvSpPr>
            <a:spLocks noGrp="1"/>
          </p:cNvSpPr>
          <p:nvPr userDrawn="1">
            <p:ph type="dt" sz="half" idx="14"/>
          </p:nvPr>
        </p:nvSpPr>
        <p:spPr/>
        <p:txBody>
          <a:bodyPr/>
          <a:lstStyle/>
          <a:p>
            <a:r>
              <a:rPr lang="en-US"/>
              <a:t>2020-05-16</a:t>
            </a:r>
          </a:p>
        </p:txBody>
      </p:sp>
      <p:sp>
        <p:nvSpPr>
          <p:cNvPr id="37" name="Footer Placeholder 36"/>
          <p:cNvSpPr>
            <a:spLocks noGrp="1"/>
          </p:cNvSpPr>
          <p:nvPr userDrawn="1"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" name="Slide Number Placeholder 37"/>
          <p:cNvSpPr>
            <a:spLocks noGrp="1"/>
          </p:cNvSpPr>
          <p:nvPr userDrawn="1">
            <p:ph type="sldNum" sz="quarter" idx="16"/>
          </p:nvPr>
        </p:nvSpPr>
        <p:spPr>
          <a:xfrm>
            <a:off x="11368512" y="6356350"/>
            <a:ext cx="588818" cy="365125"/>
          </a:xfrm>
        </p:spPr>
        <p:txBody>
          <a:bodyPr/>
          <a:lstStyle>
            <a:lvl1pPr algn="ctr">
              <a:defRPr/>
            </a:lvl1pPr>
          </a:lstStyle>
          <a:p>
            <a:fld id="{EA358FA9-F386-4A12-B482-464C32CE575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E65EE2-5635-4C5D-8131-361B9802D922}"/>
              </a:ext>
            </a:extLst>
          </p:cNvPr>
          <p:cNvSpPr/>
          <p:nvPr userDrawn="1"/>
        </p:nvSpPr>
        <p:spPr>
          <a:xfrm>
            <a:off x="0" y="0"/>
            <a:ext cx="12192000" cy="931122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C66519-DD0B-4374-8217-6D6F8CC25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61277"/>
            <a:ext cx="10515600" cy="869845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3262A37-01F5-45C4-82F5-49C70BA04B38}"/>
              </a:ext>
            </a:extLst>
          </p:cNvPr>
          <p:cNvCxnSpPr/>
          <p:nvPr userDrawn="1"/>
        </p:nvCxnSpPr>
        <p:spPr>
          <a:xfrm>
            <a:off x="3048" y="955480"/>
            <a:ext cx="12188952" cy="0"/>
          </a:xfrm>
          <a:prstGeom prst="line">
            <a:avLst/>
          </a:prstGeom>
          <a:ln w="76200">
            <a:solidFill>
              <a:srgbClr val="9395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861AD11D-63D7-4763-A80B-DDB59C13DE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67" t="877" r="68933" b="59649"/>
          <a:stretch/>
        </p:blipFill>
        <p:spPr>
          <a:xfrm>
            <a:off x="11002752" y="246105"/>
            <a:ext cx="731520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905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861AD11D-63D7-4763-A80B-DDB59C13DE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67" t="877" r="68933" b="59649"/>
          <a:stretch/>
        </p:blipFill>
        <p:spPr>
          <a:xfrm>
            <a:off x="11276442" y="6279568"/>
            <a:ext cx="731520" cy="438912"/>
          </a:xfrm>
          <a:prstGeom prst="rect">
            <a:avLst/>
          </a:prstGeom>
        </p:spPr>
      </p:pic>
      <p:sp>
        <p:nvSpPr>
          <p:cNvPr id="36" name="Date Placeholder 35"/>
          <p:cNvSpPr>
            <a:spLocks noGrp="1"/>
          </p:cNvSpPr>
          <p:nvPr userDrawn="1">
            <p:ph type="dt" sz="half" idx="14"/>
          </p:nvPr>
        </p:nvSpPr>
        <p:spPr/>
        <p:txBody>
          <a:bodyPr/>
          <a:lstStyle/>
          <a:p>
            <a:r>
              <a:rPr lang="en-US"/>
              <a:t>2020-05-16</a:t>
            </a:r>
          </a:p>
        </p:txBody>
      </p:sp>
      <p:sp>
        <p:nvSpPr>
          <p:cNvPr id="37" name="Footer Placeholder 36"/>
          <p:cNvSpPr>
            <a:spLocks noGrp="1"/>
          </p:cNvSpPr>
          <p:nvPr userDrawn="1"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" name="Slide Number Placeholder 37"/>
          <p:cNvSpPr>
            <a:spLocks noGrp="1"/>
          </p:cNvSpPr>
          <p:nvPr userDrawn="1">
            <p:ph type="sldNum" sz="quarter" idx="16"/>
          </p:nvPr>
        </p:nvSpPr>
        <p:spPr>
          <a:xfrm>
            <a:off x="11353800" y="6356350"/>
            <a:ext cx="588818" cy="365125"/>
          </a:xfrm>
        </p:spPr>
        <p:txBody>
          <a:bodyPr/>
          <a:lstStyle>
            <a:lvl1pPr algn="ctr">
              <a:defRPr/>
            </a:lvl1pPr>
          </a:lstStyle>
          <a:p>
            <a:fld id="{EA358FA9-F386-4A12-B482-464C32CE575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E65EE2-5635-4C5D-8131-361B9802D922}"/>
              </a:ext>
            </a:extLst>
          </p:cNvPr>
          <p:cNvSpPr/>
          <p:nvPr userDrawn="1"/>
        </p:nvSpPr>
        <p:spPr>
          <a:xfrm>
            <a:off x="0" y="0"/>
            <a:ext cx="12192000" cy="13462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C66519-DD0B-4374-8217-6D6F8CC25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61277"/>
            <a:ext cx="10515600" cy="1325563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3262A37-01F5-45C4-82F5-49C70BA04B38}"/>
              </a:ext>
            </a:extLst>
          </p:cNvPr>
          <p:cNvCxnSpPr/>
          <p:nvPr userDrawn="1"/>
        </p:nvCxnSpPr>
        <p:spPr>
          <a:xfrm>
            <a:off x="0" y="1378373"/>
            <a:ext cx="12188952" cy="0"/>
          </a:xfrm>
          <a:prstGeom prst="line">
            <a:avLst/>
          </a:prstGeom>
          <a:ln w="76200">
            <a:solidFill>
              <a:srgbClr val="9395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4E22E8B-D220-416C-95A4-73AFE090E0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buClr>
                <a:schemeClr val="accent2"/>
              </a:buClr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C57709D6-DEC3-41F8-8E5B-526AAA18C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buClr>
                <a:schemeClr val="accent2"/>
              </a:buClr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53891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902A70AB-C5E0-4182-A412-7EBB0125DC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67" t="877" r="68933" b="59649"/>
          <a:stretch/>
        </p:blipFill>
        <p:spPr>
          <a:xfrm>
            <a:off x="11276442" y="6279568"/>
            <a:ext cx="731520" cy="438912"/>
          </a:xfrm>
          <a:prstGeom prst="rect">
            <a:avLst/>
          </a:prstGeom>
        </p:spPr>
      </p:pic>
      <p:sp>
        <p:nvSpPr>
          <p:cNvPr id="25" name="Date Placeholder 35">
            <a:extLst>
              <a:ext uri="{FF2B5EF4-FFF2-40B4-BE49-F238E27FC236}">
                <a16:creationId xmlns:a16="http://schemas.microsoft.com/office/drawing/2014/main" id="{B1F121D8-051A-4F4C-8623-98F1260A1CB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2020-05-16</a:t>
            </a:r>
          </a:p>
        </p:txBody>
      </p:sp>
      <p:sp>
        <p:nvSpPr>
          <p:cNvPr id="26" name="Footer Placeholder 36">
            <a:extLst>
              <a:ext uri="{FF2B5EF4-FFF2-40B4-BE49-F238E27FC236}">
                <a16:creationId xmlns:a16="http://schemas.microsoft.com/office/drawing/2014/main" id="{1186F3A4-02DF-438F-A96D-5A616B66F43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Slide Number Placeholder 37">
            <a:extLst>
              <a:ext uri="{FF2B5EF4-FFF2-40B4-BE49-F238E27FC236}">
                <a16:creationId xmlns:a16="http://schemas.microsoft.com/office/drawing/2014/main" id="{26D0D916-9988-4506-B1D2-26E3A5CCB70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53800" y="6356350"/>
            <a:ext cx="588818" cy="365125"/>
          </a:xfrm>
        </p:spPr>
        <p:txBody>
          <a:bodyPr/>
          <a:lstStyle>
            <a:lvl1pPr algn="ctr">
              <a:defRPr/>
            </a:lvl1pPr>
          </a:lstStyle>
          <a:p>
            <a:fld id="{EA358FA9-F386-4A12-B482-464C32CE575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646629B-6672-4286-BBEA-840A6FEB26A3}"/>
              </a:ext>
            </a:extLst>
          </p:cNvPr>
          <p:cNvSpPr/>
          <p:nvPr userDrawn="1"/>
        </p:nvSpPr>
        <p:spPr>
          <a:xfrm>
            <a:off x="0" y="0"/>
            <a:ext cx="12192000" cy="13462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4B3FB89-5D9E-417F-A1E7-0A30E7CE1CD1}"/>
              </a:ext>
            </a:extLst>
          </p:cNvPr>
          <p:cNvCxnSpPr/>
          <p:nvPr userDrawn="1"/>
        </p:nvCxnSpPr>
        <p:spPr>
          <a:xfrm>
            <a:off x="0" y="1378373"/>
            <a:ext cx="12188952" cy="0"/>
          </a:xfrm>
          <a:prstGeom prst="line">
            <a:avLst/>
          </a:prstGeom>
          <a:ln w="76200">
            <a:solidFill>
              <a:srgbClr val="9395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itle 1">
            <a:extLst>
              <a:ext uri="{FF2B5EF4-FFF2-40B4-BE49-F238E27FC236}">
                <a16:creationId xmlns:a16="http://schemas.microsoft.com/office/drawing/2014/main" id="{6B16A2E2-2E87-4BDD-9654-AFD356C4C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61277"/>
            <a:ext cx="10515600" cy="1325563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8277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Break">
    <p:bg>
      <p:bgPr>
        <a:solidFill>
          <a:srgbClr val="034E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 userDrawn="1"/>
        </p:nvGrpSpPr>
        <p:grpSpPr>
          <a:xfrm>
            <a:off x="295743" y="278648"/>
            <a:ext cx="1058839" cy="1469212"/>
            <a:chOff x="295743" y="278648"/>
            <a:chExt cx="1058839" cy="1469212"/>
          </a:xfrm>
        </p:grpSpPr>
        <p:sp>
          <p:nvSpPr>
            <p:cNvPr id="5" name="Oval 4"/>
            <p:cNvSpPr/>
            <p:nvPr userDrawn="1"/>
          </p:nvSpPr>
          <p:spPr>
            <a:xfrm rot="21430362">
              <a:off x="295743" y="1385061"/>
              <a:ext cx="362799" cy="362799"/>
            </a:xfrm>
            <a:prstGeom prst="ellipse">
              <a:avLst/>
            </a:prstGeom>
            <a:solidFill>
              <a:srgbClr val="F8961D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 userDrawn="1"/>
          </p:nvSpPr>
          <p:spPr>
            <a:xfrm rot="21030870">
              <a:off x="446702" y="1120454"/>
              <a:ext cx="138209" cy="13820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 userDrawn="1"/>
          </p:nvSpPr>
          <p:spPr>
            <a:xfrm rot="21030870">
              <a:off x="554603" y="861630"/>
              <a:ext cx="138209" cy="13820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 userDrawn="1"/>
          </p:nvSpPr>
          <p:spPr>
            <a:xfrm rot="21030870">
              <a:off x="723951" y="613612"/>
              <a:ext cx="138209" cy="13820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 userDrawn="1"/>
          </p:nvSpPr>
          <p:spPr>
            <a:xfrm rot="21030870">
              <a:off x="939994" y="415759"/>
              <a:ext cx="138209" cy="13820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 userDrawn="1"/>
          </p:nvSpPr>
          <p:spPr>
            <a:xfrm rot="21030870">
              <a:off x="1216373" y="278648"/>
              <a:ext cx="138209" cy="13820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/>
          <p:cNvGrpSpPr/>
          <p:nvPr userDrawn="1"/>
        </p:nvGrpSpPr>
        <p:grpSpPr>
          <a:xfrm rot="10800000">
            <a:off x="10752161" y="5069700"/>
            <a:ext cx="1058839" cy="1469212"/>
            <a:chOff x="295743" y="278648"/>
            <a:chExt cx="1058839" cy="1469212"/>
          </a:xfrm>
        </p:grpSpPr>
        <p:sp>
          <p:nvSpPr>
            <p:cNvPr id="13" name="Oval 12"/>
            <p:cNvSpPr/>
            <p:nvPr userDrawn="1"/>
          </p:nvSpPr>
          <p:spPr>
            <a:xfrm rot="21430362">
              <a:off x="295743" y="1385061"/>
              <a:ext cx="362799" cy="362799"/>
            </a:xfrm>
            <a:prstGeom prst="ellipse">
              <a:avLst/>
            </a:prstGeom>
            <a:solidFill>
              <a:srgbClr val="F8961D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 userDrawn="1"/>
          </p:nvSpPr>
          <p:spPr>
            <a:xfrm rot="21030870">
              <a:off x="446702" y="1120454"/>
              <a:ext cx="138209" cy="13820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 userDrawn="1"/>
          </p:nvSpPr>
          <p:spPr>
            <a:xfrm rot="21030870">
              <a:off x="554603" y="861630"/>
              <a:ext cx="138209" cy="13820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 userDrawn="1"/>
          </p:nvSpPr>
          <p:spPr>
            <a:xfrm rot="21030870">
              <a:off x="723951" y="613612"/>
              <a:ext cx="138209" cy="13820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 userDrawn="1"/>
          </p:nvSpPr>
          <p:spPr>
            <a:xfrm rot="21030870">
              <a:off x="939994" y="415759"/>
              <a:ext cx="138209" cy="13820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 userDrawn="1"/>
          </p:nvSpPr>
          <p:spPr>
            <a:xfrm rot="21030870">
              <a:off x="1216373" y="278648"/>
              <a:ext cx="138209" cy="13820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69618F3F-2ABF-4459-9284-29700F0258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5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Section break</a:t>
            </a:r>
          </a:p>
        </p:txBody>
      </p:sp>
    </p:spTree>
    <p:extLst>
      <p:ext uri="{BB962C8B-B14F-4D97-AF65-F5344CB8AC3E}">
        <p14:creationId xmlns:p14="http://schemas.microsoft.com/office/powerpoint/2010/main" val="2739154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Page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902A70AB-C5E0-4182-A412-7EBB0125DC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67" t="877" r="68933" b="59649"/>
          <a:stretch/>
        </p:blipFill>
        <p:spPr>
          <a:xfrm>
            <a:off x="11276442" y="6279568"/>
            <a:ext cx="731520" cy="438912"/>
          </a:xfrm>
          <a:prstGeom prst="rect">
            <a:avLst/>
          </a:prstGeom>
        </p:spPr>
      </p:pic>
      <p:sp>
        <p:nvSpPr>
          <p:cNvPr id="25" name="Date Placeholder 35">
            <a:extLst>
              <a:ext uri="{FF2B5EF4-FFF2-40B4-BE49-F238E27FC236}">
                <a16:creationId xmlns:a16="http://schemas.microsoft.com/office/drawing/2014/main" id="{B1F121D8-051A-4F4C-8623-98F1260A1CB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2020-05-16</a:t>
            </a:r>
          </a:p>
        </p:txBody>
      </p:sp>
      <p:sp>
        <p:nvSpPr>
          <p:cNvPr id="26" name="Footer Placeholder 36">
            <a:extLst>
              <a:ext uri="{FF2B5EF4-FFF2-40B4-BE49-F238E27FC236}">
                <a16:creationId xmlns:a16="http://schemas.microsoft.com/office/drawing/2014/main" id="{1186F3A4-02DF-438F-A96D-5A616B66F43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Slide Number Placeholder 37">
            <a:extLst>
              <a:ext uri="{FF2B5EF4-FFF2-40B4-BE49-F238E27FC236}">
                <a16:creationId xmlns:a16="http://schemas.microsoft.com/office/drawing/2014/main" id="{26D0D916-9988-4506-B1D2-26E3A5CCB70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53800" y="6356350"/>
            <a:ext cx="588818" cy="365125"/>
          </a:xfrm>
        </p:spPr>
        <p:txBody>
          <a:bodyPr/>
          <a:lstStyle>
            <a:lvl1pPr algn="ctr">
              <a:defRPr/>
            </a:lvl1pPr>
          </a:lstStyle>
          <a:p>
            <a:fld id="{EA358FA9-F386-4A12-B482-464C32CE57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043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5777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D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591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Blue_withPage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D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D7FD18C-E25E-43A2-9CAD-6DEC223C29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67" t="877" r="68933" b="59649"/>
          <a:stretch/>
        </p:blipFill>
        <p:spPr>
          <a:xfrm>
            <a:off x="11276442" y="6279568"/>
            <a:ext cx="731520" cy="438912"/>
          </a:xfrm>
          <a:prstGeom prst="rect">
            <a:avLst/>
          </a:prstGeom>
        </p:spPr>
      </p:pic>
      <p:sp>
        <p:nvSpPr>
          <p:cNvPr id="23" name="Slide Number Placeholder 37">
            <a:extLst>
              <a:ext uri="{FF2B5EF4-FFF2-40B4-BE49-F238E27FC236}">
                <a16:creationId xmlns:a16="http://schemas.microsoft.com/office/drawing/2014/main" id="{1E9C6EF1-F1DE-473D-AC0B-94E59E3AE52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53800" y="6356350"/>
            <a:ext cx="588818" cy="365125"/>
          </a:xfrm>
        </p:spPr>
        <p:txBody>
          <a:bodyPr/>
          <a:lstStyle>
            <a:lvl1pPr algn="ctr">
              <a:defRPr/>
            </a:lvl1pPr>
          </a:lstStyle>
          <a:p>
            <a:fld id="{EA358FA9-F386-4A12-B482-464C32CE575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35">
            <a:extLst>
              <a:ext uri="{FF2B5EF4-FFF2-40B4-BE49-F238E27FC236}">
                <a16:creationId xmlns:a16="http://schemas.microsoft.com/office/drawing/2014/main" id="{2CA6F28B-C080-48F0-8D75-94208B11E04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2020-05-16</a:t>
            </a:r>
          </a:p>
        </p:txBody>
      </p:sp>
      <p:sp>
        <p:nvSpPr>
          <p:cNvPr id="6" name="Footer Placeholder 36">
            <a:extLst>
              <a:ext uri="{FF2B5EF4-FFF2-40B4-BE49-F238E27FC236}">
                <a16:creationId xmlns:a16="http://schemas.microsoft.com/office/drawing/2014/main" id="{69397C78-A924-4CC3-B931-B736F5C071F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67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D65528-1CB3-436D-BB16-1DD1A82B5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0B96C-5600-4F30-B2E5-48AD4116C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7794E-6D1B-4566-A546-EF2F0A7B0F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2020-05-16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5911E-2B9C-415D-B821-8DAD7C7F77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2706F-717A-4858-B886-4D5755F5E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58FA9-F386-4A12-B482-464C32CE5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123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52" r:id="rId4"/>
    <p:sldLayoutId id="2147483655" r:id="rId5"/>
    <p:sldLayoutId id="2147483664" r:id="rId6"/>
    <p:sldLayoutId id="2147483653" r:id="rId7"/>
    <p:sldLayoutId id="2147483654" r:id="rId8"/>
    <p:sldLayoutId id="2147483663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1E85B1-E459-4FBB-A55A-AE4D22241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5799" y="2532184"/>
            <a:ext cx="8258785" cy="2769577"/>
          </a:xfrm>
        </p:spPr>
        <p:txBody>
          <a:bodyPr>
            <a:noAutofit/>
          </a:bodyPr>
          <a:lstStyle/>
          <a:p>
            <a:pPr algn="l"/>
            <a:r>
              <a:rPr lang="en-US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&gt; 3T </a:t>
            </a:r>
            <a:r>
              <a:rPr lang="en-US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</a:rPr>
              <a:t>Working Group Updates</a:t>
            </a:r>
            <a:br>
              <a:rPr lang="en-US" sz="4000" b="1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2800" b="1" dirty="0">
                <a:solidFill>
                  <a:srgbClr val="FFC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      </a:t>
            </a:r>
            <a:r>
              <a:rPr lang="en-US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3T Terminology, Taxonomy, Technology</a:t>
            </a:r>
            <a:br>
              <a:rPr lang="en-US" sz="2800" dirty="0"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2800" dirty="0">
                <a:latin typeface="Calibri" panose="020F0502020204030204" pitchFamily="34" charset="0"/>
                <a:ea typeface="Times New Roman" panose="02020603050405020304" pitchFamily="18" charset="0"/>
              </a:rPr>
              <a:t>    	- </a:t>
            </a: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Definition Release Plan</a:t>
            </a:r>
            <a:br>
              <a:rPr lang="en-US" sz="2800" dirty="0"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2800" dirty="0">
                <a:latin typeface="Calibri" panose="020F0502020204030204" pitchFamily="34" charset="0"/>
                <a:ea typeface="Times New Roman" panose="02020603050405020304" pitchFamily="18" charset="0"/>
              </a:rPr>
              <a:t>    	- </a:t>
            </a: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Whitepaper -  Phase II Release</a:t>
            </a:r>
            <a:b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   	- </a:t>
            </a: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Security and Trustworthiness Subgroup Update</a:t>
            </a:r>
            <a:b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         - Platform Stack  </a:t>
            </a: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Open Source </a:t>
            </a:r>
            <a:b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</a:br>
            <a:b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&gt;</a:t>
            </a: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New Working Group</a:t>
            </a:r>
            <a:b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   </a:t>
            </a:r>
            <a:r>
              <a:rPr lang="en-US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Healthcare and Life Science</a:t>
            </a:r>
            <a:br>
              <a:rPr lang="en-US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</a:br>
            <a:br>
              <a:rPr lang="en-US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&gt;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</a:rPr>
              <a:t>Liaison and Regional Branch Update</a:t>
            </a:r>
            <a:endParaRPr lang="en-US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8BFC83-405D-4D7A-9258-3D93A9401E3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03038" y="6356350"/>
            <a:ext cx="588962" cy="365125"/>
          </a:xfrm>
        </p:spPr>
        <p:txBody>
          <a:bodyPr/>
          <a:lstStyle/>
          <a:p>
            <a:fld id="{EA358FA9-F386-4A12-B482-464C32CE5754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ABC6A9-3288-48E1-9F22-9F0A718EC39C}"/>
              </a:ext>
            </a:extLst>
          </p:cNvPr>
          <p:cNvSpPr txBox="1"/>
          <p:nvPr/>
        </p:nvSpPr>
        <p:spPr>
          <a:xfrm>
            <a:off x="-1472299" y="269304"/>
            <a:ext cx="141166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rgbClr val="F8CE1B"/>
                </a:solidFill>
                <a:latin typeface="Calibri Light" panose="020F0302020204030204"/>
                <a:ea typeface="+mj-ea"/>
                <a:cs typeface="+mj-cs"/>
              </a:rPr>
              <a:t>Organizational Overview</a:t>
            </a:r>
            <a:endParaRPr lang="en-US" b="1" dirty="0">
              <a:solidFill>
                <a:srgbClr val="F8CE1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864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A1605C-062A-4962-B917-4998AA14E0F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A358FA9-F386-4A12-B482-464C32CE5754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E34793E-28CE-4243-A9EC-A65BCF7F29DE}"/>
              </a:ext>
            </a:extLst>
          </p:cNvPr>
          <p:cNvGraphicFramePr/>
          <p:nvPr/>
        </p:nvGraphicFramePr>
        <p:xfrm>
          <a:off x="1787386" y="1723127"/>
          <a:ext cx="8617228" cy="49983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EDE514D8-2917-4FE2-885D-CDD9AD0A1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76200"/>
            <a:ext cx="11363325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Technology, Terminology &amp; Taxonomy Working Group</a:t>
            </a:r>
          </a:p>
        </p:txBody>
      </p:sp>
    </p:spTree>
    <p:extLst>
      <p:ext uri="{BB962C8B-B14F-4D97-AF65-F5344CB8AC3E}">
        <p14:creationId xmlns:p14="http://schemas.microsoft.com/office/powerpoint/2010/main" val="2094056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E3AA82-77FA-4D99-8141-924DFC395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470" y="2082240"/>
            <a:ext cx="5276530" cy="3820830"/>
          </a:xfrm>
        </p:spPr>
        <p:txBody>
          <a:bodyPr>
            <a:normAutofit fontScale="92500" lnSpcReduction="20000"/>
          </a:bodyPr>
          <a:lstStyle/>
          <a:p>
            <a:pPr marL="0" marR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1900" b="1" dirty="0">
              <a:solidFill>
                <a:srgbClr val="002060"/>
              </a:solidFill>
              <a:latin typeface="Calibri Light" panose="020F0302020204030204" pitchFamily="34" charset="0"/>
              <a:ea typeface="Times New Roman" panose="02020603050405020304" pitchFamily="18" charset="0"/>
            </a:endParaRPr>
          </a:p>
          <a:p>
            <a:pPr marL="0" marR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 b="1" dirty="0">
                <a:solidFill>
                  <a:srgbClr val="002060"/>
                </a:solidFill>
                <a:latin typeface="Calibri Light" panose="020F03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1900" b="1" u="sng" dirty="0">
                <a:solidFill>
                  <a:srgbClr val="002060"/>
                </a:solidFill>
                <a:latin typeface="Calibri Light" panose="020F0302020204030204" pitchFamily="34" charset="0"/>
                <a:ea typeface="Times New Roman" panose="02020603050405020304" pitchFamily="18" charset="0"/>
              </a:rPr>
              <a:t>Introduction and  Scope</a:t>
            </a:r>
            <a:endParaRPr lang="en-US" sz="100" b="1" u="sng" dirty="0">
              <a:solidFill>
                <a:srgbClr val="2F5496"/>
              </a:solidFill>
              <a:latin typeface="Calibri Light" panose="020F0302020204030204" pitchFamily="34" charset="0"/>
              <a:ea typeface="Calibri" panose="020F0502020204030204" pitchFamily="34" charset="0"/>
            </a:endParaRPr>
          </a:p>
          <a:p>
            <a:pPr marL="0" marR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sz="1700" b="1" dirty="0">
                <a:solidFill>
                  <a:srgbClr val="2F5496"/>
                </a:solidFill>
                <a:latin typeface="Calibri Light" panose="020F0302020204030204" pitchFamily="34" charset="0"/>
              </a:rPr>
              <a:t>Definition Process</a:t>
            </a:r>
          </a:p>
          <a:p>
            <a:pPr marL="457200" lvl="1">
              <a:lnSpc>
                <a:spcPct val="105000"/>
              </a:lnSpc>
              <a:spcBef>
                <a:spcPts val="200"/>
              </a:spcBef>
            </a:pPr>
            <a:r>
              <a:rPr lang="en-US" sz="1400" b="1" dirty="0">
                <a:solidFill>
                  <a:srgbClr val="1F3763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</a:rPr>
              <a:t>What is included</a:t>
            </a:r>
            <a:endParaRPr lang="en-US" sz="1400" b="1" dirty="0">
              <a:solidFill>
                <a:srgbClr val="1F3763"/>
              </a:solidFill>
              <a:effectLst/>
              <a:latin typeface="Calibri Light" panose="020F0302020204030204" pitchFamily="34" charset="0"/>
              <a:ea typeface="Calibri" panose="020F0502020204030204" pitchFamily="34" charset="0"/>
            </a:endParaRPr>
          </a:p>
          <a:p>
            <a:pPr marL="457200" lvl="1">
              <a:lnSpc>
                <a:spcPct val="105000"/>
              </a:lnSpc>
              <a:spcBef>
                <a:spcPts val="200"/>
              </a:spcBef>
            </a:pPr>
            <a:r>
              <a:rPr lang="en-US" sz="1400" b="1" dirty="0">
                <a:solidFill>
                  <a:srgbClr val="1F3763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</a:rPr>
              <a:t>What is Excluded</a:t>
            </a:r>
            <a:endParaRPr lang="en-US" sz="1400" b="1" dirty="0">
              <a:solidFill>
                <a:srgbClr val="1F3763"/>
              </a:solidFill>
              <a:effectLst/>
              <a:latin typeface="Calibri Light" panose="020F0302020204030204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105000"/>
              </a:lnSpc>
              <a:spcBef>
                <a:spcPts val="1200"/>
              </a:spcBef>
              <a:buNone/>
            </a:pPr>
            <a:r>
              <a:rPr lang="en-US" sz="1900" b="1" u="sng" dirty="0">
                <a:solidFill>
                  <a:srgbClr val="002060"/>
                </a:solidFill>
                <a:latin typeface="Calibri Light" panose="020F0302020204030204" pitchFamily="34" charset="0"/>
              </a:rPr>
              <a:t>Vocabulary and Terminology</a:t>
            </a:r>
          </a:p>
          <a:p>
            <a:pPr marL="0">
              <a:lnSpc>
                <a:spcPct val="105000"/>
              </a:lnSpc>
              <a:spcBef>
                <a:spcPts val="200"/>
              </a:spcBef>
            </a:pPr>
            <a:r>
              <a:rPr lang="en-US" sz="1700" b="1" dirty="0">
                <a:solidFill>
                  <a:srgbClr val="2F5496"/>
                </a:solidFill>
                <a:latin typeface="Calibri Light" panose="020F0302020204030204" pitchFamily="34" charset="0"/>
              </a:rPr>
              <a:t>Definition</a:t>
            </a:r>
          </a:p>
          <a:p>
            <a:pPr marL="0">
              <a:lnSpc>
                <a:spcPct val="105000"/>
              </a:lnSpc>
              <a:spcBef>
                <a:spcPts val="200"/>
              </a:spcBef>
            </a:pPr>
            <a:r>
              <a:rPr lang="en-US" sz="1700" b="1" dirty="0">
                <a:solidFill>
                  <a:srgbClr val="2F5496"/>
                </a:solidFill>
                <a:latin typeface="Calibri Light" panose="020F0302020204030204" pitchFamily="34" charset="0"/>
                <a:ea typeface="Times New Roman" panose="02020603050405020304" pitchFamily="18" charset="0"/>
              </a:rPr>
              <a:t>Supporting </a:t>
            </a:r>
            <a:r>
              <a:rPr lang="en-US" sz="17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</a:rPr>
              <a:t>Statements</a:t>
            </a:r>
          </a:p>
          <a:p>
            <a:pPr marL="0">
              <a:lnSpc>
                <a:spcPct val="105000"/>
              </a:lnSpc>
              <a:spcBef>
                <a:spcPts val="200"/>
              </a:spcBef>
            </a:pPr>
            <a:r>
              <a:rPr lang="en-US" sz="1700" b="1" dirty="0">
                <a:solidFill>
                  <a:srgbClr val="2F5496"/>
                </a:solidFill>
                <a:latin typeface="Calibri Light" panose="020F0302020204030204" pitchFamily="34" charset="0"/>
                <a:ea typeface="Calibri" panose="020F0502020204030204" pitchFamily="34" charset="0"/>
              </a:rPr>
              <a:t>Elaboration Description</a:t>
            </a:r>
          </a:p>
          <a:p>
            <a:pPr marL="0">
              <a:lnSpc>
                <a:spcPct val="105000"/>
              </a:lnSpc>
              <a:spcBef>
                <a:spcPts val="200"/>
              </a:spcBef>
            </a:pPr>
            <a:endParaRPr lang="en-US" sz="1700" b="1" dirty="0">
              <a:solidFill>
                <a:srgbClr val="2F5496"/>
              </a:solidFill>
              <a:latin typeface="Calibri Light" panose="020F0302020204030204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105000"/>
              </a:lnSpc>
              <a:spcBef>
                <a:spcPts val="200"/>
              </a:spcBef>
              <a:buNone/>
            </a:pPr>
            <a:r>
              <a:rPr lang="en-US" sz="18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</a:rPr>
              <a:t>TBD: </a:t>
            </a:r>
          </a:p>
          <a:p>
            <a:pPr marL="0" indent="0">
              <a:lnSpc>
                <a:spcPct val="125000"/>
              </a:lnSpc>
              <a:spcBef>
                <a:spcPts val="1200"/>
              </a:spcBef>
              <a:buNone/>
            </a:pPr>
            <a:r>
              <a:rPr lang="en-US" sz="1800" b="1" u="sng" dirty="0">
                <a:solidFill>
                  <a:srgbClr val="002060"/>
                </a:solidFill>
                <a:latin typeface="Calibri Light" panose="020F0302020204030204" pitchFamily="34" charset="0"/>
              </a:rPr>
              <a:t>Types of Digital Twins</a:t>
            </a:r>
          </a:p>
          <a:p>
            <a:pPr marL="0">
              <a:lnSpc>
                <a:spcPct val="115000"/>
              </a:lnSpc>
              <a:spcBef>
                <a:spcPts val="200"/>
              </a:spcBef>
            </a:pPr>
            <a:r>
              <a:rPr lang="en-US" sz="1400" b="1" dirty="0">
                <a:solidFill>
                  <a:srgbClr val="2F5496"/>
                </a:solidFill>
                <a:latin typeface="Calibri Light" panose="020F0302020204030204" pitchFamily="34" charset="0"/>
              </a:rPr>
              <a:t>High level view - Taxonomy</a:t>
            </a:r>
          </a:p>
          <a:p>
            <a:pPr marL="0" marR="0" indent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A833E-A589-4880-A385-849B16DBC6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358FA9-F386-4A12-B482-464C32CE575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0A1844-61C8-40D2-9B08-F1E85D975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61277"/>
            <a:ext cx="10898124" cy="1325563"/>
          </a:xfrm>
        </p:spPr>
        <p:txBody>
          <a:bodyPr>
            <a:normAutofit/>
          </a:bodyPr>
          <a:lstStyle/>
          <a:p>
            <a:r>
              <a:rPr lang="en-US" dirty="0"/>
              <a:t>Technical Reports: Phased Release Proposal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E4A5104A-A0D4-4A9E-94C0-FA5E8EF7F98C}"/>
              </a:ext>
            </a:extLst>
          </p:cNvPr>
          <p:cNvSpPr txBox="1">
            <a:spLocks/>
          </p:cNvSpPr>
          <p:nvPr/>
        </p:nvSpPr>
        <p:spPr>
          <a:xfrm>
            <a:off x="4793039" y="1962883"/>
            <a:ext cx="5827889" cy="46791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7941D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1900" b="1" dirty="0">
              <a:solidFill>
                <a:srgbClr val="002060"/>
              </a:solidFill>
              <a:latin typeface="Calibri Light" panose="020F0302020204030204" pitchFamily="34" charset="0"/>
            </a:endParaRPr>
          </a:p>
          <a:p>
            <a:pPr marL="0" marR="0" indent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 b="1" u="sng" dirty="0">
                <a:solidFill>
                  <a:srgbClr val="002060"/>
                </a:solidFill>
                <a:latin typeface="Calibri Light" panose="020F0302020204030204" pitchFamily="34" charset="0"/>
              </a:rPr>
              <a:t>Platform Stack</a:t>
            </a:r>
          </a:p>
          <a:p>
            <a:pPr marL="0" marR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sz="17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</a:rPr>
              <a:t>Layered stack diagram</a:t>
            </a:r>
            <a:endParaRPr lang="en-US" sz="1700" b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Calibri" panose="020F0502020204030204" pitchFamily="34" charset="0"/>
            </a:endParaRPr>
          </a:p>
          <a:p>
            <a:pPr marL="0" marR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sz="17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</a:rPr>
              <a:t>Open Source consideration</a:t>
            </a:r>
            <a:endParaRPr lang="en-US" sz="1700" b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Calibri" panose="020F0502020204030204" pitchFamily="34" charset="0"/>
            </a:endParaRPr>
          </a:p>
          <a:p>
            <a:pPr marL="0" marR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sz="17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</a:rPr>
              <a:t>External Data provisioning</a:t>
            </a:r>
            <a:endParaRPr lang="en-US" sz="1700" b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115000"/>
              </a:lnSpc>
              <a:spcBef>
                <a:spcPts val="1200"/>
              </a:spcBef>
              <a:buNone/>
            </a:pPr>
            <a:r>
              <a:rPr lang="en-US" sz="1900" b="1" u="sng" dirty="0">
                <a:solidFill>
                  <a:srgbClr val="002060"/>
                </a:solidFill>
                <a:latin typeface="Calibri Light" panose="020F0302020204030204" pitchFamily="34" charset="0"/>
              </a:rPr>
              <a:t>Lifecycle Phases</a:t>
            </a:r>
          </a:p>
          <a:p>
            <a:pPr marL="0">
              <a:lnSpc>
                <a:spcPct val="105000"/>
              </a:lnSpc>
              <a:spcBef>
                <a:spcPts val="200"/>
              </a:spcBef>
            </a:pPr>
            <a:r>
              <a:rPr lang="en-US" sz="1700" b="1" dirty="0">
                <a:solidFill>
                  <a:srgbClr val="2F5496"/>
                </a:solidFill>
                <a:latin typeface="Calibri Light" panose="020F0302020204030204" pitchFamily="34" charset="0"/>
              </a:rPr>
              <a:t>Digital Twin View  (Virtualized)</a:t>
            </a:r>
          </a:p>
          <a:p>
            <a:pPr marL="0">
              <a:lnSpc>
                <a:spcPct val="105000"/>
              </a:lnSpc>
              <a:spcBef>
                <a:spcPts val="200"/>
              </a:spcBef>
            </a:pPr>
            <a:r>
              <a:rPr lang="en-US" sz="1700" b="1" dirty="0">
                <a:solidFill>
                  <a:srgbClr val="2F5496"/>
                </a:solidFill>
                <a:latin typeface="Calibri Light" panose="020F0302020204030204" pitchFamily="34" charset="0"/>
              </a:rPr>
              <a:t>Asset / Entity View  (OT)</a:t>
            </a:r>
          </a:p>
          <a:p>
            <a:pPr marL="0">
              <a:lnSpc>
                <a:spcPct val="105000"/>
              </a:lnSpc>
              <a:spcBef>
                <a:spcPts val="200"/>
              </a:spcBef>
            </a:pPr>
            <a:r>
              <a:rPr lang="en-US" sz="1700" b="1" i="1" dirty="0">
                <a:solidFill>
                  <a:srgbClr val="FF0000"/>
                </a:solidFill>
                <a:latin typeface="Calibri Light" panose="020F0302020204030204" pitchFamily="34" charset="0"/>
              </a:rPr>
              <a:t>Maturity Model</a:t>
            </a:r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F7941D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Framework </a:t>
            </a:r>
          </a:p>
          <a:p>
            <a:pPr marL="0" marR="0" lvl="0" indent="-228600" algn="l" defTabSz="914400" rtl="0" eaLnBrk="1" fontAlgn="auto" latinLnBrk="0" hangingPunct="1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F7941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F5496"/>
                </a:solidFill>
                <a:effectLst/>
                <a:uLnTx/>
                <a:uFillTx/>
                <a:latin typeface="Calibri Light" panose="020F0302020204030204" pitchFamily="34" charset="0"/>
                <a:ea typeface="Times New Roman" panose="02020603050405020304" pitchFamily="18" charset="0"/>
                <a:cs typeface="+mn-cs"/>
              </a:rPr>
              <a:t>Common Characteristics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2F5496"/>
              </a:solidFill>
              <a:effectLst/>
              <a:uLnTx/>
              <a:uFillTx/>
              <a:latin typeface="Calibri Light" panose="020F0302020204030204" pitchFamily="34" charset="0"/>
              <a:ea typeface="Calibri" panose="020F0502020204030204" pitchFamily="34" charset="0"/>
              <a:cs typeface="+mn-cs"/>
            </a:endParaRPr>
          </a:p>
          <a:p>
            <a:pPr marL="0" marR="0" lvl="0" indent="-228600" algn="l" defTabSz="914400" rtl="0" eaLnBrk="1" fontAlgn="auto" latinLnBrk="0" hangingPunct="1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F7941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F5496"/>
                </a:solidFill>
                <a:effectLst/>
                <a:uLnTx/>
                <a:uFillTx/>
                <a:latin typeface="Calibri Light" panose="020F0302020204030204" pitchFamily="34" charset="0"/>
                <a:ea typeface="Times New Roman" panose="02020603050405020304" pitchFamily="18" charset="0"/>
                <a:cs typeface="+mn-cs"/>
              </a:rPr>
              <a:t>Enabling Technologies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2F5496"/>
              </a:solidFill>
              <a:effectLst/>
              <a:uLnTx/>
              <a:uFillTx/>
              <a:latin typeface="Calibri Light" panose="020F0302020204030204" pitchFamily="34" charset="0"/>
              <a:ea typeface="Calibri" panose="020F0502020204030204" pitchFamily="34" charset="0"/>
              <a:cs typeface="+mn-cs"/>
            </a:endParaRPr>
          </a:p>
          <a:p>
            <a:pPr marL="0" marR="0" lvl="0" indent="-228600" algn="l" defTabSz="914400" rtl="0" eaLnBrk="1" fontAlgn="auto" latinLnBrk="0" hangingPunct="1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F7941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F5496"/>
                </a:solidFill>
                <a:effectLst/>
                <a:uLnTx/>
                <a:uFillTx/>
                <a:latin typeface="Calibri Light" panose="020F0302020204030204" pitchFamily="34" charset="0"/>
                <a:ea typeface="Times New Roman" panose="02020603050405020304" pitchFamily="18" charset="0"/>
                <a:cs typeface="+mn-cs"/>
              </a:rPr>
              <a:t>Blueprint: Reference architecture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2F5496"/>
              </a:solidFill>
              <a:effectLst/>
              <a:uLnTx/>
              <a:uFillTx/>
              <a:latin typeface="Calibri Light" panose="020F0302020204030204" pitchFamily="34" charset="0"/>
              <a:ea typeface="Calibri" panose="020F0502020204030204" pitchFamily="34" charset="0"/>
              <a:cs typeface="+mn-cs"/>
            </a:endParaRPr>
          </a:p>
          <a:p>
            <a:pPr marL="0">
              <a:lnSpc>
                <a:spcPct val="105000"/>
              </a:lnSpc>
              <a:spcBef>
                <a:spcPts val="200"/>
              </a:spcBef>
            </a:pPr>
            <a:endParaRPr lang="en-US" sz="1700" b="1" dirty="0">
              <a:solidFill>
                <a:srgbClr val="2F5496"/>
              </a:solidFill>
              <a:latin typeface="Calibri Light" panose="020F030202020403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F7941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2F5496"/>
              </a:solidFill>
              <a:effectLst/>
              <a:uLnTx/>
              <a:uFillTx/>
              <a:latin typeface="Calibri Light" panose="020F0302020204030204" pitchFamily="34" charset="0"/>
              <a:ea typeface="Calibri" panose="020F0502020204030204" pitchFamily="34" charset="0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F7941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2F5496"/>
              </a:solidFill>
              <a:effectLst/>
              <a:uLnTx/>
              <a:uFillTx/>
              <a:latin typeface="Calibri Light" panose="020F0302020204030204" pitchFamily="34" charset="0"/>
              <a:ea typeface="Calibri" panose="020F0502020204030204" pitchFamily="34" charset="0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F7941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2F5496"/>
              </a:solidFill>
              <a:effectLst/>
              <a:uLnTx/>
              <a:uFillTx/>
              <a:latin typeface="Calibri Light" panose="020F0302020204030204" pitchFamily="34" charset="0"/>
              <a:ea typeface="Calibri" panose="020F0502020204030204" pitchFamily="34" charset="0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11892F-3062-4FA8-A455-3760302D9C10}"/>
              </a:ext>
            </a:extLst>
          </p:cNvPr>
          <p:cNvSpPr/>
          <p:nvPr/>
        </p:nvSpPr>
        <p:spPr>
          <a:xfrm>
            <a:off x="697832" y="1447799"/>
            <a:ext cx="3352800" cy="5273675"/>
          </a:xfrm>
          <a:prstGeom prst="rect">
            <a:avLst/>
          </a:prstGeom>
          <a:noFill/>
          <a:ln w="38100">
            <a:solidFill>
              <a:srgbClr val="F051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3C839FD8-F29F-46C7-A034-E37FD20013C5}"/>
              </a:ext>
            </a:extLst>
          </p:cNvPr>
          <p:cNvSpPr txBox="1">
            <a:spLocks/>
          </p:cNvSpPr>
          <p:nvPr/>
        </p:nvSpPr>
        <p:spPr>
          <a:xfrm>
            <a:off x="8416319" y="2487955"/>
            <a:ext cx="5827889" cy="42150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7941D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F7941D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Use Cases Examples</a:t>
            </a:r>
          </a:p>
          <a:p>
            <a:pPr marL="0" marR="0" lvl="0" indent="-228600" algn="l" defTabSz="914400" rtl="0" eaLnBrk="1" fontAlgn="auto" latinLnBrk="0" hangingPunct="1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F7941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5496"/>
                </a:solidFill>
                <a:effectLst/>
                <a:uLnTx/>
                <a:uFillTx/>
                <a:latin typeface="Calibri Light" panose="020F0302020204030204" pitchFamily="34" charset="0"/>
                <a:ea typeface="Times New Roman" panose="02020603050405020304" pitchFamily="18" charset="0"/>
                <a:cs typeface="+mn-cs"/>
              </a:rPr>
              <a:t>High Level - overview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2F5496"/>
              </a:solidFill>
              <a:effectLst/>
              <a:uLnTx/>
              <a:uFillTx/>
              <a:latin typeface="Calibri Light" panose="020F0302020204030204" pitchFamily="34" charset="0"/>
              <a:ea typeface="Calibri" panose="020F0502020204030204" pitchFamily="34" charset="0"/>
              <a:cs typeface="+mn-cs"/>
            </a:endParaRPr>
          </a:p>
          <a:p>
            <a:pPr marL="0" marR="0" lvl="0" indent="-228600" algn="l" defTabSz="914400" rtl="0" eaLnBrk="1" fontAlgn="auto" latinLnBrk="0" hangingPunct="1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F7941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5496"/>
                </a:solidFill>
                <a:effectLst/>
                <a:uLnTx/>
                <a:uFillTx/>
                <a:latin typeface="Calibri Light" panose="020F0302020204030204" pitchFamily="34" charset="0"/>
                <a:ea typeface="Times New Roman" panose="02020603050405020304" pitchFamily="18" charset="0"/>
                <a:cs typeface="+mn-cs"/>
              </a:rPr>
              <a:t>Case Study – advance view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2F5496"/>
              </a:solidFill>
              <a:effectLst/>
              <a:uLnTx/>
              <a:uFillTx/>
              <a:latin typeface="Calibri Light" panose="020F0302020204030204" pitchFamily="34" charset="0"/>
              <a:ea typeface="Calibri" panose="020F050202020403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F7941D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1700" b="1" i="0" u="sng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Next Installment</a:t>
            </a:r>
          </a:p>
          <a:p>
            <a:pPr marL="0" marR="0" lvl="0" indent="-228600" algn="l" defTabSz="914400" rtl="0" eaLnBrk="1" fontAlgn="auto" latinLnBrk="0" hangingPunct="1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F7941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F5496"/>
                </a:solidFill>
                <a:effectLst/>
                <a:uLnTx/>
                <a:uFillTx/>
                <a:latin typeface="Calibri Light" panose="020F0302020204030204" pitchFamily="34" charset="0"/>
                <a:ea typeface="Times New Roman" panose="02020603050405020304" pitchFamily="18" charset="0"/>
                <a:cs typeface="+mn-cs"/>
              </a:rPr>
              <a:t>Updates on Use case analysis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2F5496"/>
              </a:solidFill>
              <a:effectLst/>
              <a:uLnTx/>
              <a:uFillTx/>
              <a:latin typeface="Calibri Light" panose="020F0302020204030204" pitchFamily="34" charset="0"/>
              <a:ea typeface="Calibri" panose="020F0502020204030204" pitchFamily="34" charset="0"/>
              <a:cs typeface="+mn-cs"/>
            </a:endParaRPr>
          </a:p>
          <a:p>
            <a:pPr marL="0" marR="0" lvl="0" indent="-228600" algn="l" defTabSz="914400" rtl="0" eaLnBrk="1" fontAlgn="auto" latinLnBrk="0" hangingPunct="1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F7941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F5496"/>
                </a:solidFill>
                <a:effectLst/>
                <a:uLnTx/>
                <a:uFillTx/>
                <a:latin typeface="Calibri Light" panose="020F0302020204030204" pitchFamily="34" charset="0"/>
                <a:ea typeface="Calibri" panose="020F0502020204030204" pitchFamily="34" charset="0"/>
                <a:cs typeface="+mn-cs"/>
              </a:rPr>
              <a:t>Case Study detail</a:t>
            </a:r>
          </a:p>
          <a:p>
            <a:pPr marL="0" marR="0" lvl="0" indent="-228600" algn="l" defTabSz="914400" rtl="0" eaLnBrk="1" fontAlgn="auto" latinLnBrk="0" hangingPunct="1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F7941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F5496"/>
                </a:solidFill>
                <a:effectLst/>
                <a:uLnTx/>
                <a:uFillTx/>
                <a:latin typeface="Calibri Light" panose="020F0302020204030204" pitchFamily="34" charset="0"/>
                <a:ea typeface="Calibri" panose="020F0502020204030204" pitchFamily="34" charset="0"/>
                <a:cs typeface="+mn-cs"/>
              </a:rPr>
              <a:t>RO</a:t>
            </a:r>
            <a:r>
              <a:rPr lang="en-US" sz="1600" b="1" dirty="0">
                <a:solidFill>
                  <a:srgbClr val="2F5496"/>
                </a:solidFill>
                <a:latin typeface="Calibri Light" panose="020F0302020204030204" pitchFamily="34" charset="0"/>
                <a:ea typeface="Calibri" panose="020F0502020204030204" pitchFamily="34" charset="0"/>
              </a:rPr>
              <a:t>I , Business Outcome, Value at Stake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2F5496"/>
              </a:solidFill>
              <a:effectLst/>
              <a:uLnTx/>
              <a:uFillTx/>
              <a:latin typeface="Calibri Light" panose="020F0302020204030204" pitchFamily="34" charset="0"/>
              <a:ea typeface="Calibri" panose="020F0502020204030204" pitchFamily="34" charset="0"/>
              <a:cs typeface="+mn-cs"/>
            </a:endParaRPr>
          </a:p>
          <a:p>
            <a:pPr marL="0" marR="0" lvl="0" indent="-228600" algn="l" defTabSz="914400" rtl="0" eaLnBrk="1" fontAlgn="auto" latinLnBrk="0" hangingPunct="1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F7941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2F5496"/>
              </a:solidFill>
              <a:effectLst/>
              <a:uLnTx/>
              <a:uFillTx/>
              <a:latin typeface="Calibri Light" panose="020F0302020204030204" pitchFamily="34" charset="0"/>
              <a:ea typeface="Calibri" panose="020F050202020403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F7941D"/>
              </a:buClr>
              <a:buSzPct val="100000"/>
              <a:buNone/>
              <a:tabLst/>
              <a:defRPr/>
            </a:pPr>
            <a:endParaRPr kumimoji="0" lang="en-US" sz="100" b="1" i="0" u="none" strike="noStrike" kern="1200" cap="none" spc="0" normalizeH="0" baseline="0" noProof="0" dirty="0">
              <a:ln>
                <a:noFill/>
              </a:ln>
              <a:solidFill>
                <a:srgbClr val="2F5496"/>
              </a:solidFill>
              <a:effectLst/>
              <a:uLnTx/>
              <a:uFillTx/>
              <a:latin typeface="Calibri Light" panose="020F0302020204030204" pitchFamily="34" charset="0"/>
              <a:ea typeface="Calibri" panose="020F050202020403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F7941D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 sz="1700" b="1" u="sng" dirty="0">
                <a:solidFill>
                  <a:srgbClr val="002060"/>
                </a:solidFill>
                <a:latin typeface="Calibri Light" panose="020F0302020204030204" pitchFamily="34" charset="0"/>
              </a:rPr>
              <a:t>References</a:t>
            </a:r>
            <a:r>
              <a:rPr kumimoji="0" lang="en-US" sz="1700" b="1" i="0" u="sng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 </a:t>
            </a:r>
          </a:p>
          <a:p>
            <a:pPr marL="0" marR="0" lvl="0" indent="-228600" algn="l" defTabSz="914400" rtl="0" eaLnBrk="1" fontAlgn="auto" latinLnBrk="0" hangingPunct="1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F7941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F5496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Platform 4.0 and IIC  DT Admin Shell WP</a:t>
            </a:r>
          </a:p>
          <a:p>
            <a:pPr marL="0" marR="0" lvl="0" indent="-228600" algn="l" defTabSz="914400" rtl="0" eaLnBrk="1" fontAlgn="auto" latinLnBrk="0" hangingPunct="1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F7941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F5496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Digital Twin Whitepapers  utilized</a:t>
            </a:r>
          </a:p>
          <a:p>
            <a:pPr marL="0" marR="0" lvl="0" indent="-228600" algn="l" defTabSz="914400" rtl="0" eaLnBrk="1" fontAlgn="auto" latinLnBrk="0" hangingPunct="1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F7941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dirty="0">
                <a:solidFill>
                  <a:srgbClr val="2F5496"/>
                </a:solidFill>
                <a:latin typeface="Calibri Light" panose="020F0302020204030204" pitchFamily="34" charset="0"/>
              </a:rPr>
              <a:t>…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2F5496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F7941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2F5496"/>
              </a:solidFill>
              <a:effectLst/>
              <a:uLnTx/>
              <a:uFillTx/>
              <a:latin typeface="Calibri Light" panose="020F0302020204030204" pitchFamily="34" charset="0"/>
              <a:ea typeface="Calibri" panose="020F0502020204030204" pitchFamily="34" charset="0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F7941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2F5496"/>
              </a:solidFill>
              <a:effectLst/>
              <a:uLnTx/>
              <a:uFillTx/>
              <a:latin typeface="Calibri Light" panose="020F0302020204030204" pitchFamily="34" charset="0"/>
              <a:ea typeface="Calibri" panose="020F0502020204030204" pitchFamily="34" charset="0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F7941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2F5496"/>
              </a:solidFill>
              <a:effectLst/>
              <a:uLnTx/>
              <a:uFillTx/>
              <a:latin typeface="Calibri Light" panose="020F0302020204030204" pitchFamily="34" charset="0"/>
              <a:ea typeface="Calibri" panose="020F0502020204030204" pitchFamily="34" charset="0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C9C7B4-4049-479E-B47C-F69C0EDB7B5C}"/>
              </a:ext>
            </a:extLst>
          </p:cNvPr>
          <p:cNvSpPr/>
          <p:nvPr/>
        </p:nvSpPr>
        <p:spPr>
          <a:xfrm>
            <a:off x="4541238" y="1447799"/>
            <a:ext cx="3352800" cy="5273675"/>
          </a:xfrm>
          <a:prstGeom prst="rect">
            <a:avLst/>
          </a:prstGeom>
          <a:noFill/>
          <a:ln w="38100">
            <a:solidFill>
              <a:srgbClr val="F051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7BEBCE-5664-4212-AE62-9A67B47D53B3}"/>
              </a:ext>
            </a:extLst>
          </p:cNvPr>
          <p:cNvSpPr/>
          <p:nvPr/>
        </p:nvSpPr>
        <p:spPr>
          <a:xfrm>
            <a:off x="8254984" y="1447800"/>
            <a:ext cx="3784615" cy="5273675"/>
          </a:xfrm>
          <a:prstGeom prst="rect">
            <a:avLst/>
          </a:prstGeom>
          <a:noFill/>
          <a:ln w="38100">
            <a:solidFill>
              <a:srgbClr val="F051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54CDDD-CD4D-4CF5-99E5-D95911502694}"/>
              </a:ext>
            </a:extLst>
          </p:cNvPr>
          <p:cNvSpPr txBox="1"/>
          <p:nvPr/>
        </p:nvSpPr>
        <p:spPr>
          <a:xfrm>
            <a:off x="1015413" y="1554910"/>
            <a:ext cx="24872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Phase 1 – Doc Release</a:t>
            </a:r>
          </a:p>
          <a:p>
            <a:r>
              <a:rPr lang="en-US" b="1" dirty="0">
                <a:highlight>
                  <a:srgbClr val="FFFF00"/>
                </a:highlight>
              </a:rPr>
              <a:t> Definition / Description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FC7138-A2F5-474D-ABBC-23CBBD2A3520}"/>
              </a:ext>
            </a:extLst>
          </p:cNvPr>
          <p:cNvSpPr txBox="1"/>
          <p:nvPr/>
        </p:nvSpPr>
        <p:spPr>
          <a:xfrm>
            <a:off x="4553717" y="1554911"/>
            <a:ext cx="22956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Phase 2 – Doc Release</a:t>
            </a:r>
          </a:p>
          <a:p>
            <a:pPr algn="ctr"/>
            <a:r>
              <a:rPr lang="en-US" b="1" dirty="0">
                <a:highlight>
                  <a:srgbClr val="FFFF00"/>
                </a:highlight>
              </a:rPr>
              <a:t>Stack/Lifecycle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7EF184-13B2-43CD-9D17-A20B75A99968}"/>
              </a:ext>
            </a:extLst>
          </p:cNvPr>
          <p:cNvSpPr txBox="1"/>
          <p:nvPr/>
        </p:nvSpPr>
        <p:spPr>
          <a:xfrm>
            <a:off x="8496697" y="1554911"/>
            <a:ext cx="22956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Phase 3 – Doc Release</a:t>
            </a:r>
          </a:p>
          <a:p>
            <a:pPr algn="ctr"/>
            <a:r>
              <a:rPr lang="en-US" b="1" dirty="0">
                <a:highlight>
                  <a:srgbClr val="FFFF00"/>
                </a:highlight>
              </a:rPr>
              <a:t>Use Case/Case Study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5E156D-269A-451C-AD75-17F22C57BB39}"/>
              </a:ext>
            </a:extLst>
          </p:cNvPr>
          <p:cNvCxnSpPr>
            <a:cxnSpLocks/>
          </p:cNvCxnSpPr>
          <p:nvPr/>
        </p:nvCxnSpPr>
        <p:spPr>
          <a:xfrm>
            <a:off x="8319835" y="5126691"/>
            <a:ext cx="3702346" cy="0"/>
          </a:xfrm>
          <a:prstGeom prst="line">
            <a:avLst/>
          </a:prstGeom>
          <a:ln w="38100">
            <a:solidFill>
              <a:srgbClr val="F051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0190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A1605C-062A-4962-B917-4998AA14E0F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A358FA9-F386-4A12-B482-464C32CE5754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E34793E-28CE-4243-A9EC-A65BCF7F29DE}"/>
              </a:ext>
            </a:extLst>
          </p:cNvPr>
          <p:cNvGraphicFramePr/>
          <p:nvPr/>
        </p:nvGraphicFramePr>
        <p:xfrm>
          <a:off x="1787386" y="1723127"/>
          <a:ext cx="8617228" cy="49983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EDE514D8-2917-4FE2-885D-CDD9AD0A1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76200"/>
            <a:ext cx="11363325" cy="1325563"/>
          </a:xfrm>
        </p:spPr>
        <p:txBody>
          <a:bodyPr>
            <a:normAutofit/>
          </a:bodyPr>
          <a:lstStyle/>
          <a:p>
            <a:r>
              <a:rPr lang="en-US" sz="4000" dirty="0"/>
              <a:t>Focus – Security and Trustworthiness Sub-Group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2DC5F1-5BAD-4A59-9A60-8F1F52ABAD4E}"/>
              </a:ext>
            </a:extLst>
          </p:cNvPr>
          <p:cNvSpPr/>
          <p:nvPr/>
        </p:nvSpPr>
        <p:spPr>
          <a:xfrm>
            <a:off x="4957010" y="1646127"/>
            <a:ext cx="2277979" cy="1653139"/>
          </a:xfrm>
          <a:prstGeom prst="rect">
            <a:avLst/>
          </a:prstGeom>
          <a:noFill/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97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14DE6A-C77F-3D47-B615-21605E8586E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A358FA9-F386-4A12-B482-464C32CE5754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F3545D-8578-4922-960E-42A2D67F3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917" y="3076526"/>
            <a:ext cx="5306165" cy="70494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AA6EB3C-2688-0A45-BBDE-3202A6358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 Whitepaper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12F15D-1F84-F84C-B392-6306AA07A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17" y="2347480"/>
            <a:ext cx="11276301" cy="45105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6ABBD0-3EF3-4753-A466-AE73808D8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075" y="1360661"/>
            <a:ext cx="7850399" cy="104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722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9BBA36F-242E-4370-9ABB-FAB7E0653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724" y="3099056"/>
            <a:ext cx="5026134" cy="343985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32EAD6-26EE-40C0-88AF-A51F3D3E13D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A358FA9-F386-4A12-B482-464C32CE5754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E441FF-9474-4E09-91B5-C306C4B02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61277"/>
            <a:ext cx="11355324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New Member: TUV SUD </a:t>
            </a:r>
            <a:br>
              <a:rPr lang="en-US" dirty="0"/>
            </a:br>
            <a:r>
              <a:rPr lang="en-US" dirty="0"/>
              <a:t>Lead effort on Safety , Reliability </a:t>
            </a:r>
          </a:p>
        </p:txBody>
      </p:sp>
      <p:pic>
        <p:nvPicPr>
          <p:cNvPr id="1026" name="Picture 2" descr="The trustworthiness Target Model">
            <a:extLst>
              <a:ext uri="{FF2B5EF4-FFF2-40B4-BE49-F238E27FC236}">
                <a16:creationId xmlns:a16="http://schemas.microsoft.com/office/drawing/2014/main" id="{57D6B3B5-B3AC-430A-AE7C-D1DF43410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426" y="1545338"/>
            <a:ext cx="4743895" cy="4993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C1E213C-FF40-4796-8DD9-63FDC0097192}"/>
              </a:ext>
            </a:extLst>
          </p:cNvPr>
          <p:cNvCxnSpPr>
            <a:cxnSpLocks/>
          </p:cNvCxnSpPr>
          <p:nvPr/>
        </p:nvCxnSpPr>
        <p:spPr>
          <a:xfrm flipH="1">
            <a:off x="3917027" y="2536588"/>
            <a:ext cx="4215865" cy="49409"/>
          </a:xfrm>
          <a:prstGeom prst="straightConnector1">
            <a:avLst/>
          </a:prstGeom>
          <a:ln w="762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TÜV SÜD Logo">
            <a:extLst>
              <a:ext uri="{FF2B5EF4-FFF2-40B4-BE49-F238E27FC236}">
                <a16:creationId xmlns:a16="http://schemas.microsoft.com/office/drawing/2014/main" id="{A9309BFD-0E6F-4C63-BA3B-E49E46294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433" y="1545338"/>
            <a:ext cx="1912677" cy="1912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4066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CF68CF-ADE7-462B-B500-21BD4C49B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Expanded Stack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40E1C3-5830-40C6-B70B-1D5E41D78435}"/>
              </a:ext>
            </a:extLst>
          </p:cNvPr>
          <p:cNvSpPr/>
          <p:nvPr/>
        </p:nvSpPr>
        <p:spPr>
          <a:xfrm>
            <a:off x="1429791" y="1493518"/>
            <a:ext cx="9742516" cy="447310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Systems of Digital Twins / etc.</a:t>
            </a:r>
          </a:p>
          <a:p>
            <a:r>
              <a:rPr lang="en-GB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…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67438A-69E2-421F-A4FC-56B91D2BDA98}"/>
              </a:ext>
            </a:extLst>
          </p:cNvPr>
          <p:cNvSpPr/>
          <p:nvPr/>
        </p:nvSpPr>
        <p:spPr>
          <a:xfrm>
            <a:off x="1667967" y="2507530"/>
            <a:ext cx="8333219" cy="3325705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400" b="1" dirty="0"/>
              <a:t>Digital</a:t>
            </a:r>
          </a:p>
          <a:p>
            <a:r>
              <a:rPr lang="en-GB" sz="1400" b="1" dirty="0"/>
              <a:t>Twin</a:t>
            </a:r>
          </a:p>
          <a:p>
            <a:r>
              <a:rPr lang="en-GB" sz="1400" b="1" dirty="0"/>
              <a:t>System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F6FC07-31DA-416D-9EFA-7AB3D83C13F7}"/>
              </a:ext>
            </a:extLst>
          </p:cNvPr>
          <p:cNvSpPr/>
          <p:nvPr/>
        </p:nvSpPr>
        <p:spPr>
          <a:xfrm>
            <a:off x="11355775" y="1493518"/>
            <a:ext cx="670482" cy="44731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dirty="0"/>
              <a:t>Real World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6113A7C-2E1C-4F63-8DCD-C4B76588050B}"/>
              </a:ext>
            </a:extLst>
          </p:cNvPr>
          <p:cNvSpPr/>
          <p:nvPr/>
        </p:nvSpPr>
        <p:spPr>
          <a:xfrm>
            <a:off x="9482718" y="2127855"/>
            <a:ext cx="671199" cy="278682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1600" dirty="0"/>
              <a:t>Synchronisation Mechanisms</a:t>
            </a:r>
            <a:endParaRPr lang="en-GB" sz="12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AB2AE10-3C13-4AE6-8568-A5D090B95602}"/>
              </a:ext>
            </a:extLst>
          </p:cNvPr>
          <p:cNvSpPr/>
          <p:nvPr/>
        </p:nvSpPr>
        <p:spPr>
          <a:xfrm rot="5400000">
            <a:off x="9073911" y="3419295"/>
            <a:ext cx="3219892" cy="67048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Management &amp; Automation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4007CD8-7477-4B6A-90CB-741B2DB14046}"/>
              </a:ext>
            </a:extLst>
          </p:cNvPr>
          <p:cNvGrpSpPr/>
          <p:nvPr/>
        </p:nvGrpSpPr>
        <p:grpSpPr>
          <a:xfrm>
            <a:off x="4896420" y="2144590"/>
            <a:ext cx="4952750" cy="3633068"/>
            <a:chOff x="629509" y="1532633"/>
            <a:chExt cx="6939692" cy="5188841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AF2BF5DF-0D1D-4EB3-AE26-48E0ED459B05}"/>
                </a:ext>
              </a:extLst>
            </p:cNvPr>
            <p:cNvGrpSpPr/>
            <p:nvPr/>
          </p:nvGrpSpPr>
          <p:grpSpPr>
            <a:xfrm>
              <a:off x="629510" y="1532633"/>
              <a:ext cx="6180561" cy="1058105"/>
              <a:chOff x="629510" y="1532633"/>
              <a:chExt cx="6180561" cy="1058105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E5AB748-2ECE-4302-9C07-CDCCC25B2600}"/>
                  </a:ext>
                </a:extLst>
              </p:cNvPr>
              <p:cNvSpPr/>
              <p:nvPr/>
            </p:nvSpPr>
            <p:spPr>
              <a:xfrm>
                <a:off x="629510" y="1532633"/>
                <a:ext cx="6180561" cy="468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/>
                  <a:t>Applications</a:t>
                </a:r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9C709877-F284-429A-8A2C-B86BA1A16912}"/>
                  </a:ext>
                </a:extLst>
              </p:cNvPr>
              <p:cNvGrpSpPr/>
              <p:nvPr/>
            </p:nvGrpSpPr>
            <p:grpSpPr>
              <a:xfrm>
                <a:off x="629510" y="2122738"/>
                <a:ext cx="6180561" cy="468000"/>
                <a:chOff x="159748" y="2687193"/>
                <a:chExt cx="6180561" cy="958623"/>
              </a:xfrm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C702B25B-9FC9-46AF-A849-C4F62FC7D4EB}"/>
                    </a:ext>
                  </a:extLst>
                </p:cNvPr>
                <p:cNvSpPr/>
                <p:nvPr/>
              </p:nvSpPr>
              <p:spPr>
                <a:xfrm>
                  <a:off x="3593100" y="2687193"/>
                  <a:ext cx="2747209" cy="95862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1400" dirty="0"/>
                    <a:t>Services</a:t>
                  </a: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2AED7BB0-AE0F-47B9-8203-FC32C09095E7}"/>
                    </a:ext>
                  </a:extLst>
                </p:cNvPr>
                <p:cNvSpPr/>
                <p:nvPr/>
              </p:nvSpPr>
              <p:spPr>
                <a:xfrm>
                  <a:off x="159748" y="2687193"/>
                  <a:ext cx="1716676" cy="958623"/>
                </a:xfrm>
                <a:prstGeom prst="rect">
                  <a:avLst/>
                </a:prstGeom>
                <a:solidFill>
                  <a:srgbClr val="80A6D0"/>
                </a:solidFill>
                <a:ln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>
                  <a:normAutofit fontScale="85000" lnSpcReduction="20000"/>
                </a:bodyPr>
                <a:lstStyle/>
                <a:p>
                  <a:pPr algn="ctr"/>
                  <a:r>
                    <a:rPr lang="en-GB" sz="1200" dirty="0"/>
                    <a:t>Visualisation / Render Services</a:t>
                  </a: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D21B8919-DD7F-4926-BDC3-CF0B1CB38B5C}"/>
                    </a:ext>
                  </a:extLst>
                </p:cNvPr>
                <p:cNvSpPr/>
                <p:nvPr/>
              </p:nvSpPr>
              <p:spPr>
                <a:xfrm>
                  <a:off x="1876424" y="2687193"/>
                  <a:ext cx="1716676" cy="958623"/>
                </a:xfrm>
                <a:prstGeom prst="rect">
                  <a:avLst/>
                </a:prstGeom>
                <a:solidFill>
                  <a:srgbClr val="80A6D0"/>
                </a:solidFill>
                <a:ln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1400" dirty="0"/>
                    <a:t>Analytics</a:t>
                  </a:r>
                </a:p>
              </p:txBody>
            </p:sp>
          </p:grp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08CBC04B-5343-432B-8702-14DD7CC817F9}"/>
                </a:ext>
              </a:extLst>
            </p:cNvPr>
            <p:cNvGrpSpPr/>
            <p:nvPr/>
          </p:nvGrpSpPr>
          <p:grpSpPr>
            <a:xfrm>
              <a:off x="629510" y="2712843"/>
              <a:ext cx="6180561" cy="1648210"/>
              <a:chOff x="629510" y="2712843"/>
              <a:chExt cx="6180561" cy="164821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14F35A3-BF4A-4929-A834-50A8579648DA}"/>
                  </a:ext>
                </a:extLst>
              </p:cNvPr>
              <p:cNvSpPr/>
              <p:nvPr/>
            </p:nvSpPr>
            <p:spPr>
              <a:xfrm>
                <a:off x="629510" y="3302948"/>
                <a:ext cx="6180560" cy="46800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>
                    <a:solidFill>
                      <a:schemeClr val="tx1"/>
                    </a:solidFill>
                  </a:rPr>
                  <a:t>Simulations / Predictive Models</a:t>
                </a:r>
                <a:endParaRPr lang="en-GB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CE07454-07D4-4EB9-8C90-D2F273469E98}"/>
                  </a:ext>
                </a:extLst>
              </p:cNvPr>
              <p:cNvSpPr/>
              <p:nvPr/>
            </p:nvSpPr>
            <p:spPr>
              <a:xfrm>
                <a:off x="629510" y="2712843"/>
                <a:ext cx="6180561" cy="468000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/>
                  <a:t>Service Interfaces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4BE0E7E-6CC5-4693-A9D6-CF22491B3275}"/>
                  </a:ext>
                </a:extLst>
              </p:cNvPr>
              <p:cNvSpPr/>
              <p:nvPr/>
            </p:nvSpPr>
            <p:spPr>
              <a:xfrm>
                <a:off x="629510" y="3893053"/>
                <a:ext cx="6180560" cy="46800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>
                    <a:solidFill>
                      <a:schemeClr val="tx1"/>
                    </a:solidFill>
                  </a:rPr>
                  <a:t>Representational Models</a:t>
                </a: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FE3B6A74-87B4-4088-B149-6A2104E1704C}"/>
                </a:ext>
              </a:extLst>
            </p:cNvPr>
            <p:cNvGrpSpPr/>
            <p:nvPr/>
          </p:nvGrpSpPr>
          <p:grpSpPr>
            <a:xfrm>
              <a:off x="629509" y="4483158"/>
              <a:ext cx="6939692" cy="2238316"/>
              <a:chOff x="629509" y="4483158"/>
              <a:chExt cx="6939692" cy="2238316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D431EE3-5975-42E0-9C6C-38FD00EE58FC}"/>
                  </a:ext>
                </a:extLst>
              </p:cNvPr>
              <p:cNvSpPr/>
              <p:nvPr/>
            </p:nvSpPr>
            <p:spPr>
              <a:xfrm>
                <a:off x="629511" y="4483158"/>
                <a:ext cx="6180560" cy="468000"/>
              </a:xfrm>
              <a:prstGeom prst="rect">
                <a:avLst/>
              </a:prstGeom>
              <a:solidFill>
                <a:srgbClr val="97BB3D"/>
              </a:solidFill>
              <a:ln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dirty="0"/>
                  <a:t>Software Platform / Tooling Stack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363EDFA-A50C-4533-9031-B8ECAB2D90CC}"/>
                  </a:ext>
                </a:extLst>
              </p:cNvPr>
              <p:cNvSpPr/>
              <p:nvPr/>
            </p:nvSpPr>
            <p:spPr>
              <a:xfrm>
                <a:off x="629511" y="5663368"/>
                <a:ext cx="6939690" cy="468000"/>
              </a:xfrm>
              <a:prstGeom prst="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/>
                  <a:t>Orchestration</a:t>
                </a:r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2577598F-2F3E-4771-9B7F-D16E766E0884}"/>
                  </a:ext>
                </a:extLst>
              </p:cNvPr>
              <p:cNvGrpSpPr/>
              <p:nvPr/>
            </p:nvGrpSpPr>
            <p:grpSpPr>
              <a:xfrm>
                <a:off x="629511" y="6253474"/>
                <a:ext cx="6939690" cy="468000"/>
                <a:chOff x="150538" y="6620027"/>
                <a:chExt cx="6180560" cy="468000"/>
              </a:xfrm>
            </p:grpSpPr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B9F67726-FE16-4DB2-8AFB-0C88F6383006}"/>
                    </a:ext>
                  </a:extLst>
                </p:cNvPr>
                <p:cNvSpPr/>
                <p:nvPr/>
              </p:nvSpPr>
              <p:spPr>
                <a:xfrm>
                  <a:off x="150538" y="6620027"/>
                  <a:ext cx="1980000" cy="468000"/>
                </a:xfrm>
                <a:prstGeom prst="rect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1600" dirty="0"/>
                    <a:t>Compute</a:t>
                  </a: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D175A914-8444-4BDD-9AC5-45408C39AE1D}"/>
                    </a:ext>
                  </a:extLst>
                </p:cNvPr>
                <p:cNvSpPr/>
                <p:nvPr/>
              </p:nvSpPr>
              <p:spPr>
                <a:xfrm>
                  <a:off x="2250818" y="6620027"/>
                  <a:ext cx="1980000" cy="468000"/>
                </a:xfrm>
                <a:prstGeom prst="rect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1400" dirty="0"/>
                    <a:t>Networking</a:t>
                  </a: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2075ED5E-CC35-4855-BD54-E5D81A4EB31F}"/>
                    </a:ext>
                  </a:extLst>
                </p:cNvPr>
                <p:cNvSpPr/>
                <p:nvPr/>
              </p:nvSpPr>
              <p:spPr>
                <a:xfrm>
                  <a:off x="4351098" y="6620027"/>
                  <a:ext cx="1980000" cy="468000"/>
                </a:xfrm>
                <a:prstGeom prst="rect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1600" dirty="0"/>
                    <a:t>Data Storage</a:t>
                  </a:r>
                </a:p>
              </p:txBody>
            </p:sp>
          </p:grp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4BA2354-4D10-4743-8FDA-185F8C885B26}"/>
                  </a:ext>
                </a:extLst>
              </p:cNvPr>
              <p:cNvSpPr/>
              <p:nvPr/>
            </p:nvSpPr>
            <p:spPr>
              <a:xfrm>
                <a:off x="629509" y="5073263"/>
                <a:ext cx="6207015" cy="468000"/>
              </a:xfrm>
              <a:prstGeom prst="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/>
                  <a:t>Platform APIs</a:t>
                </a: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6D4A2BA-0D3A-4974-8CB8-DDFC1898FA47}"/>
              </a:ext>
            </a:extLst>
          </p:cNvPr>
          <p:cNvGrpSpPr/>
          <p:nvPr/>
        </p:nvGrpSpPr>
        <p:grpSpPr>
          <a:xfrm>
            <a:off x="1747963" y="2145234"/>
            <a:ext cx="2958807" cy="3632424"/>
            <a:chOff x="-3867197" y="1533552"/>
            <a:chExt cx="4225844" cy="5187922"/>
          </a:xfrm>
        </p:grpSpPr>
        <p:sp>
          <p:nvSpPr>
            <p:cNvPr id="2" name="Trapezoid 1">
              <a:extLst>
                <a:ext uri="{FF2B5EF4-FFF2-40B4-BE49-F238E27FC236}">
                  <a16:creationId xmlns:a16="http://schemas.microsoft.com/office/drawing/2014/main" id="{A25DDC20-890A-4C15-B6E7-90DEDCDF504F}"/>
                </a:ext>
              </a:extLst>
            </p:cNvPr>
            <p:cNvSpPr/>
            <p:nvPr/>
          </p:nvSpPr>
          <p:spPr>
            <a:xfrm>
              <a:off x="-3867197" y="4482238"/>
              <a:ext cx="4225844" cy="2239236"/>
            </a:xfrm>
            <a:prstGeom prst="trapezoid">
              <a:avLst>
                <a:gd name="adj" fmla="val 34085"/>
              </a:avLst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IT/OT Platform</a:t>
              </a:r>
            </a:p>
          </p:txBody>
        </p:sp>
        <p:sp>
          <p:nvSpPr>
            <p:cNvPr id="7" name="Trapezoid 6">
              <a:extLst>
                <a:ext uri="{FF2B5EF4-FFF2-40B4-BE49-F238E27FC236}">
                  <a16:creationId xmlns:a16="http://schemas.microsoft.com/office/drawing/2014/main" id="{1C2CD08A-5E5B-4A35-BE4E-08D59E2FE4C2}"/>
                </a:ext>
              </a:extLst>
            </p:cNvPr>
            <p:cNvSpPr/>
            <p:nvPr/>
          </p:nvSpPr>
          <p:spPr>
            <a:xfrm>
              <a:off x="-3086100" y="3302948"/>
              <a:ext cx="2663650" cy="1057185"/>
            </a:xfrm>
            <a:prstGeom prst="trapezoid">
              <a:avLst>
                <a:gd name="adj" fmla="val 43218"/>
              </a:avLst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600" dirty="0">
                  <a:solidFill>
                    <a:schemeClr val="tx1"/>
                  </a:solidFill>
                </a:rPr>
                <a:t>Digital Twin</a:t>
              </a:r>
            </a:p>
          </p:txBody>
        </p:sp>
        <p:sp>
          <p:nvSpPr>
            <p:cNvPr id="8" name="Trapezoid 7">
              <a:extLst>
                <a:ext uri="{FF2B5EF4-FFF2-40B4-BE49-F238E27FC236}">
                  <a16:creationId xmlns:a16="http://schemas.microsoft.com/office/drawing/2014/main" id="{95D44DCF-7200-47C7-96D2-E4E6EE6640EC}"/>
                </a:ext>
              </a:extLst>
            </p:cNvPr>
            <p:cNvSpPr/>
            <p:nvPr/>
          </p:nvSpPr>
          <p:spPr>
            <a:xfrm>
              <a:off x="-2602999" y="2712843"/>
              <a:ext cx="1694950" cy="468000"/>
            </a:xfrm>
            <a:prstGeom prst="trapezoid">
              <a:avLst>
                <a:gd name="adj" fmla="val 73654"/>
              </a:avLst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100" dirty="0"/>
                <a:t>Service Interfaces</a:t>
              </a: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1E0D087-CB6D-4B21-BDE7-C9B1E8FAF07D}"/>
                </a:ext>
              </a:extLst>
            </p:cNvPr>
            <p:cNvSpPr/>
            <p:nvPr/>
          </p:nvSpPr>
          <p:spPr>
            <a:xfrm>
              <a:off x="-3867197" y="1533552"/>
              <a:ext cx="4225844" cy="1057185"/>
            </a:xfrm>
            <a:custGeom>
              <a:avLst/>
              <a:gdLst>
                <a:gd name="connsiteX0" fmla="*/ 0 w 4313804"/>
                <a:gd name="connsiteY0" fmla="*/ 0 h 958623"/>
                <a:gd name="connsiteX1" fmla="*/ 4313804 w 4313804"/>
                <a:gd name="connsiteY1" fmla="*/ 0 h 958623"/>
                <a:gd name="connsiteX2" fmla="*/ 3130719 w 4313804"/>
                <a:gd name="connsiteY2" fmla="*/ 958623 h 958623"/>
                <a:gd name="connsiteX3" fmla="*/ 1183085 w 4313804"/>
                <a:gd name="connsiteY3" fmla="*/ 958623 h 958623"/>
                <a:gd name="connsiteX0" fmla="*/ 0 w 4313804"/>
                <a:gd name="connsiteY0" fmla="*/ 0 h 958623"/>
                <a:gd name="connsiteX1" fmla="*/ 4313804 w 4313804"/>
                <a:gd name="connsiteY1" fmla="*/ 0 h 958623"/>
                <a:gd name="connsiteX2" fmla="*/ 3130719 w 4313804"/>
                <a:gd name="connsiteY2" fmla="*/ 958623 h 958623"/>
                <a:gd name="connsiteX3" fmla="*/ 1617391 w 4313804"/>
                <a:gd name="connsiteY3" fmla="*/ 958623 h 958623"/>
                <a:gd name="connsiteX4" fmla="*/ 0 w 4313804"/>
                <a:gd name="connsiteY4" fmla="*/ 0 h 958623"/>
                <a:gd name="connsiteX0" fmla="*/ 0 w 4313804"/>
                <a:gd name="connsiteY0" fmla="*/ 0 h 958623"/>
                <a:gd name="connsiteX1" fmla="*/ 4313804 w 4313804"/>
                <a:gd name="connsiteY1" fmla="*/ 0 h 958623"/>
                <a:gd name="connsiteX2" fmla="*/ 3130719 w 4313804"/>
                <a:gd name="connsiteY2" fmla="*/ 958623 h 958623"/>
                <a:gd name="connsiteX3" fmla="*/ 1617391 w 4313804"/>
                <a:gd name="connsiteY3" fmla="*/ 958623 h 958623"/>
                <a:gd name="connsiteX4" fmla="*/ 0 w 4313804"/>
                <a:gd name="connsiteY4" fmla="*/ 0 h 958623"/>
                <a:gd name="connsiteX0" fmla="*/ 0 w 4313804"/>
                <a:gd name="connsiteY0" fmla="*/ 0 h 958623"/>
                <a:gd name="connsiteX1" fmla="*/ 4313804 w 4313804"/>
                <a:gd name="connsiteY1" fmla="*/ 0 h 958623"/>
                <a:gd name="connsiteX2" fmla="*/ 2527877 w 4313804"/>
                <a:gd name="connsiteY2" fmla="*/ 958623 h 958623"/>
                <a:gd name="connsiteX3" fmla="*/ 1617391 w 4313804"/>
                <a:gd name="connsiteY3" fmla="*/ 958623 h 958623"/>
                <a:gd name="connsiteX4" fmla="*/ 0 w 4313804"/>
                <a:gd name="connsiteY4" fmla="*/ 0 h 958623"/>
                <a:gd name="connsiteX0" fmla="*/ 0 w 4313804"/>
                <a:gd name="connsiteY0" fmla="*/ 0 h 958623"/>
                <a:gd name="connsiteX1" fmla="*/ 4313804 w 4313804"/>
                <a:gd name="connsiteY1" fmla="*/ 0 h 958623"/>
                <a:gd name="connsiteX2" fmla="*/ 2644556 w 4313804"/>
                <a:gd name="connsiteY2" fmla="*/ 958623 h 958623"/>
                <a:gd name="connsiteX3" fmla="*/ 1617391 w 4313804"/>
                <a:gd name="connsiteY3" fmla="*/ 958623 h 958623"/>
                <a:gd name="connsiteX4" fmla="*/ 0 w 4313804"/>
                <a:gd name="connsiteY4" fmla="*/ 0 h 958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13804" h="958623">
                  <a:moveTo>
                    <a:pt x="0" y="0"/>
                  </a:moveTo>
                  <a:lnTo>
                    <a:pt x="4313804" y="0"/>
                  </a:lnTo>
                  <a:lnTo>
                    <a:pt x="2644556" y="958623"/>
                  </a:lnTo>
                  <a:lnTo>
                    <a:pt x="1617391" y="95862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GB" sz="1600" dirty="0"/>
                <a:t>Applications</a:t>
              </a:r>
            </a:p>
            <a:p>
              <a:pPr algn="ctr"/>
              <a:r>
                <a:rPr lang="en-GB" sz="1600" dirty="0"/>
                <a:t>&amp; Services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00FFF78-E205-485F-922D-A8A00DDFDCA6}"/>
              </a:ext>
            </a:extLst>
          </p:cNvPr>
          <p:cNvGrpSpPr/>
          <p:nvPr/>
        </p:nvGrpSpPr>
        <p:grpSpPr>
          <a:xfrm rot="10800000">
            <a:off x="151885" y="1662545"/>
            <a:ext cx="962012" cy="4231179"/>
            <a:chOff x="10193669" y="1662545"/>
            <a:chExt cx="962012" cy="423117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F5C0E68-DE14-4A5E-BE0F-DB41D89498FD}"/>
                </a:ext>
              </a:extLst>
            </p:cNvPr>
            <p:cNvSpPr/>
            <p:nvPr/>
          </p:nvSpPr>
          <p:spPr>
            <a:xfrm>
              <a:off x="10193669" y="1662545"/>
              <a:ext cx="962012" cy="4231179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vert" rtlCol="0" anchor="t"/>
            <a:lstStyle/>
            <a:p>
              <a:pPr algn="ctr"/>
              <a:r>
                <a:rPr lang="en-GB" sz="1600" dirty="0"/>
                <a:t>Security, Trust, &amp; Governance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F57B2A09-CD6D-4FCA-9552-50A85E5E105B}"/>
                </a:ext>
              </a:extLst>
            </p:cNvPr>
            <p:cNvGrpSpPr/>
            <p:nvPr/>
          </p:nvGrpSpPr>
          <p:grpSpPr>
            <a:xfrm>
              <a:off x="10271543" y="1735927"/>
              <a:ext cx="493436" cy="4099608"/>
              <a:chOff x="9423142" y="1738230"/>
              <a:chExt cx="608932" cy="5676634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5953B080-507D-4B47-9761-1AFD11E5F7F9}"/>
                  </a:ext>
                </a:extLst>
              </p:cNvPr>
              <p:cNvSpPr/>
              <p:nvPr/>
            </p:nvSpPr>
            <p:spPr>
              <a:xfrm>
                <a:off x="9423142" y="1738230"/>
                <a:ext cx="608932" cy="1071646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vert" wrap="square" lIns="36000" tIns="36000" rIns="36000" bIns="36000" rtlCol="0" anchor="ctr">
                <a:noAutofit/>
              </a:bodyPr>
              <a:lstStyle/>
              <a:p>
                <a:pPr algn="ctr"/>
                <a:r>
                  <a:rPr lang="en-GB" sz="1200" dirty="0"/>
                  <a:t>Privacy</a:t>
                </a: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F6E8F0A-AEF7-4B33-B07F-0E8AB5FA8D8D}"/>
                  </a:ext>
                </a:extLst>
              </p:cNvPr>
              <p:cNvSpPr/>
              <p:nvPr/>
            </p:nvSpPr>
            <p:spPr>
              <a:xfrm>
                <a:off x="9423142" y="2889477"/>
                <a:ext cx="608932" cy="1071646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vert" wrap="square" lIns="36000" tIns="36000" rIns="36000" bIns="36000" rtlCol="0" anchor="ctr">
                <a:noAutofit/>
              </a:bodyPr>
              <a:lstStyle/>
              <a:p>
                <a:pPr algn="ctr"/>
                <a:r>
                  <a:rPr lang="en-GB" sz="1200" dirty="0"/>
                  <a:t>Security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7817AD0B-3858-4D52-B830-4E347657EF84}"/>
                  </a:ext>
                </a:extLst>
              </p:cNvPr>
              <p:cNvSpPr/>
              <p:nvPr/>
            </p:nvSpPr>
            <p:spPr>
              <a:xfrm>
                <a:off x="9423142" y="4040725"/>
                <a:ext cx="608932" cy="1071646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vert" wrap="square" lIns="36000" tIns="36000" rIns="36000" bIns="36000" rtlCol="0" anchor="ctr">
                <a:noAutofit/>
              </a:bodyPr>
              <a:lstStyle/>
              <a:p>
                <a:pPr algn="ctr"/>
                <a:r>
                  <a:rPr lang="en-GB" sz="1200" dirty="0"/>
                  <a:t>Safety</a:t>
                </a: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BE4450DB-3FD6-4ACD-B458-42AC322F2773}"/>
                  </a:ext>
                </a:extLst>
              </p:cNvPr>
              <p:cNvSpPr/>
              <p:nvPr/>
            </p:nvSpPr>
            <p:spPr>
              <a:xfrm>
                <a:off x="9423142" y="5191971"/>
                <a:ext cx="608932" cy="1071646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vert" wrap="square" lIns="36000" tIns="36000" rIns="36000" bIns="36000" rtlCol="0" anchor="ctr">
                <a:noAutofit/>
              </a:bodyPr>
              <a:lstStyle/>
              <a:p>
                <a:pPr algn="ctr"/>
                <a:r>
                  <a:rPr lang="en-GB" sz="1200" dirty="0"/>
                  <a:t>Resilience</a:t>
                </a: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A461CC2F-18BC-4C03-9A3B-1464F010DC2A}"/>
                  </a:ext>
                </a:extLst>
              </p:cNvPr>
              <p:cNvSpPr/>
              <p:nvPr/>
            </p:nvSpPr>
            <p:spPr>
              <a:xfrm>
                <a:off x="9423142" y="6343218"/>
                <a:ext cx="608932" cy="1071646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vert" wrap="square" lIns="36000" tIns="36000" rIns="36000" bIns="36000" rtlCol="0" anchor="ctr">
                <a:noAutofit/>
              </a:bodyPr>
              <a:lstStyle/>
              <a:p>
                <a:pPr algn="ctr"/>
                <a:r>
                  <a:rPr lang="en-GB" sz="1200" dirty="0"/>
                  <a:t>Reliability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62136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System(s) of Digital Twins">
            <a:extLst>
              <a:ext uri="{FF2B5EF4-FFF2-40B4-BE49-F238E27FC236}">
                <a16:creationId xmlns:a16="http://schemas.microsoft.com/office/drawing/2014/main" id="{CBEE9D29-8686-47AA-99FA-C3D7A36C6677}"/>
              </a:ext>
            </a:extLst>
          </p:cNvPr>
          <p:cNvGrpSpPr/>
          <p:nvPr/>
        </p:nvGrpSpPr>
        <p:grpSpPr>
          <a:xfrm>
            <a:off x="601613" y="114641"/>
            <a:ext cx="7578168" cy="6532902"/>
            <a:chOff x="-1132146" y="2349524"/>
            <a:chExt cx="4859690" cy="4189388"/>
          </a:xfrm>
        </p:grpSpPr>
        <p:sp>
          <p:nvSpPr>
            <p:cNvPr id="21" name="Hexagon 20">
              <a:extLst>
                <a:ext uri="{FF2B5EF4-FFF2-40B4-BE49-F238E27FC236}">
                  <a16:creationId xmlns:a16="http://schemas.microsoft.com/office/drawing/2014/main" id="{E3BC99C0-9CFF-45B4-A26B-64E64E4F19EA}"/>
                </a:ext>
              </a:extLst>
            </p:cNvPr>
            <p:cNvSpPr/>
            <p:nvPr/>
          </p:nvSpPr>
          <p:spPr>
            <a:xfrm>
              <a:off x="-1132146" y="2349524"/>
              <a:ext cx="4859690" cy="4189388"/>
            </a:xfrm>
            <a:prstGeom prst="hexagon">
              <a:avLst/>
            </a:prstGeom>
            <a:ln>
              <a:prstDash val="lg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rtlCol="0" anchor="t">
              <a:normAutofit/>
            </a:bodyPr>
            <a:lstStyle/>
            <a:p>
              <a:pPr algn="ctr"/>
              <a:endParaRPr lang="en-GB" sz="2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EA11768-C744-43A1-B264-9636BA9A155A}"/>
                </a:ext>
              </a:extLst>
            </p:cNvPr>
            <p:cNvSpPr txBox="1"/>
            <p:nvPr/>
          </p:nvSpPr>
          <p:spPr>
            <a:xfrm>
              <a:off x="248179" y="2351852"/>
              <a:ext cx="2122311" cy="30615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System(s) of Digital Twins</a:t>
              </a:r>
            </a:p>
          </p:txBody>
        </p:sp>
      </p:grpSp>
      <p:grpSp>
        <p:nvGrpSpPr>
          <p:cNvPr id="18" name="Digital Twin System">
            <a:extLst>
              <a:ext uri="{FF2B5EF4-FFF2-40B4-BE49-F238E27FC236}">
                <a16:creationId xmlns:a16="http://schemas.microsoft.com/office/drawing/2014/main" id="{4D7C2CB6-CD6A-4743-BC11-D244EDC8CDAA}"/>
              </a:ext>
            </a:extLst>
          </p:cNvPr>
          <p:cNvGrpSpPr/>
          <p:nvPr/>
        </p:nvGrpSpPr>
        <p:grpSpPr>
          <a:xfrm>
            <a:off x="2437657" y="1843314"/>
            <a:ext cx="5240400" cy="4517585"/>
            <a:chOff x="-1132146" y="2349524"/>
            <a:chExt cx="4859690" cy="4189388"/>
          </a:xfrm>
        </p:grpSpPr>
        <p:sp>
          <p:nvSpPr>
            <p:cNvPr id="15" name="Hexagon 14">
              <a:extLst>
                <a:ext uri="{FF2B5EF4-FFF2-40B4-BE49-F238E27FC236}">
                  <a16:creationId xmlns:a16="http://schemas.microsoft.com/office/drawing/2014/main" id="{67115CEE-693D-4464-AFE0-3FB78BFF2C7A}"/>
                </a:ext>
              </a:extLst>
            </p:cNvPr>
            <p:cNvSpPr/>
            <p:nvPr/>
          </p:nvSpPr>
          <p:spPr>
            <a:xfrm>
              <a:off x="-1132146" y="2349524"/>
              <a:ext cx="4859690" cy="4189388"/>
            </a:xfrm>
            <a:prstGeom prst="hexagon">
              <a:avLst/>
            </a:prstGeom>
            <a:ln>
              <a:prstDash val="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lIns="0" tIns="0" rIns="0" bIns="0" rtlCol="0" anchor="t">
              <a:normAutofit/>
            </a:bodyPr>
            <a:lstStyle/>
            <a:p>
              <a:pPr algn="ctr"/>
              <a:endParaRPr lang="en-GB" sz="2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9905213-843A-43FD-BEFF-03A0622902D6}"/>
                </a:ext>
              </a:extLst>
            </p:cNvPr>
            <p:cNvSpPr txBox="1"/>
            <p:nvPr/>
          </p:nvSpPr>
          <p:spPr>
            <a:xfrm>
              <a:off x="39524" y="2351852"/>
              <a:ext cx="2539621" cy="47030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2">
                      <a:lumMod val="75000"/>
                    </a:schemeClr>
                  </a:solidFill>
                </a:rPr>
                <a:t>Digital Twin System</a:t>
              </a:r>
            </a:p>
          </p:txBody>
        </p:sp>
      </p:grpSp>
      <p:sp>
        <p:nvSpPr>
          <p:cNvPr id="5" name="Digital Twin">
            <a:extLst>
              <a:ext uri="{FF2B5EF4-FFF2-40B4-BE49-F238E27FC236}">
                <a16:creationId xmlns:a16="http://schemas.microsoft.com/office/drawing/2014/main" id="{20586698-BC9C-48FA-9C7E-822242711276}"/>
              </a:ext>
            </a:extLst>
          </p:cNvPr>
          <p:cNvSpPr/>
          <p:nvPr/>
        </p:nvSpPr>
        <p:spPr>
          <a:xfrm>
            <a:off x="3478153" y="2643414"/>
            <a:ext cx="2311794" cy="1992928"/>
          </a:xfrm>
          <a:prstGeom prst="hexago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GB" sz="3200" dirty="0">
                <a:solidFill>
                  <a:sysClr val="windowText" lastClr="000000"/>
                </a:solidFill>
              </a:rPr>
              <a:t>Digital</a:t>
            </a:r>
          </a:p>
          <a:p>
            <a:pPr algn="ctr"/>
            <a:r>
              <a:rPr lang="en-GB" sz="3200" dirty="0">
                <a:solidFill>
                  <a:sysClr val="windowText" lastClr="000000"/>
                </a:solidFill>
              </a:rPr>
              <a:t>Twin</a:t>
            </a:r>
          </a:p>
        </p:txBody>
      </p:sp>
      <p:sp>
        <p:nvSpPr>
          <p:cNvPr id="9" name="IT/OT">
            <a:extLst>
              <a:ext uri="{FF2B5EF4-FFF2-40B4-BE49-F238E27FC236}">
                <a16:creationId xmlns:a16="http://schemas.microsoft.com/office/drawing/2014/main" id="{A7A54A1F-0BA9-42AB-BE72-4976A234E951}"/>
              </a:ext>
            </a:extLst>
          </p:cNvPr>
          <p:cNvSpPr/>
          <p:nvPr/>
        </p:nvSpPr>
        <p:spPr>
          <a:xfrm>
            <a:off x="3167812" y="5528385"/>
            <a:ext cx="1249911" cy="1077510"/>
          </a:xfrm>
          <a:prstGeom prst="hexag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GB" sz="2000" dirty="0"/>
              <a:t>IT/OT</a:t>
            </a:r>
          </a:p>
          <a:p>
            <a:pPr algn="ctr"/>
            <a:r>
              <a:rPr lang="en-GB" sz="2000" dirty="0"/>
              <a:t>System</a:t>
            </a:r>
          </a:p>
        </p:txBody>
      </p:sp>
      <p:grpSp>
        <p:nvGrpSpPr>
          <p:cNvPr id="51" name="IT System">
            <a:extLst>
              <a:ext uri="{FF2B5EF4-FFF2-40B4-BE49-F238E27FC236}">
                <a16:creationId xmlns:a16="http://schemas.microsoft.com/office/drawing/2014/main" id="{936389CA-260B-4AC8-A1C9-376B451C03A5}"/>
              </a:ext>
            </a:extLst>
          </p:cNvPr>
          <p:cNvGrpSpPr/>
          <p:nvPr/>
        </p:nvGrpSpPr>
        <p:grpSpPr>
          <a:xfrm>
            <a:off x="2616034" y="5163311"/>
            <a:ext cx="2374095" cy="2148766"/>
            <a:chOff x="4135418" y="-2177946"/>
            <a:chExt cx="2374095" cy="2148766"/>
          </a:xfrm>
        </p:grpSpPr>
        <p:sp>
          <p:nvSpPr>
            <p:cNvPr id="30" name="Hexagon 29">
              <a:extLst>
                <a:ext uri="{FF2B5EF4-FFF2-40B4-BE49-F238E27FC236}">
                  <a16:creationId xmlns:a16="http://schemas.microsoft.com/office/drawing/2014/main" id="{C6E3ED6D-7A41-4EA5-ADEE-14A05CB89780}"/>
                </a:ext>
              </a:extLst>
            </p:cNvPr>
            <p:cNvSpPr/>
            <p:nvPr/>
          </p:nvSpPr>
          <p:spPr>
            <a:xfrm>
              <a:off x="4135418" y="-2084459"/>
              <a:ext cx="2314316" cy="1995101"/>
            </a:xfrm>
            <a:prstGeom prst="hexagon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GB" sz="1600" dirty="0"/>
                <a:t>Compute Platform</a:t>
              </a:r>
            </a:p>
          </p:txBody>
        </p:sp>
        <p:sp>
          <p:nvSpPr>
            <p:cNvPr id="28" name="Hexagon 27">
              <a:extLst>
                <a:ext uri="{FF2B5EF4-FFF2-40B4-BE49-F238E27FC236}">
                  <a16:creationId xmlns:a16="http://schemas.microsoft.com/office/drawing/2014/main" id="{C0285BDB-F274-4249-B903-C4452411830F}"/>
                </a:ext>
              </a:extLst>
            </p:cNvPr>
            <p:cNvSpPr/>
            <p:nvPr/>
          </p:nvSpPr>
          <p:spPr>
            <a:xfrm>
              <a:off x="4290156" y="-948084"/>
              <a:ext cx="1065928" cy="918904"/>
            </a:xfrm>
            <a:prstGeom prst="hexagon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en-GB" sz="1400" dirty="0"/>
                <a:t>Compute</a:t>
              </a:r>
            </a:p>
          </p:txBody>
        </p:sp>
        <p:sp>
          <p:nvSpPr>
            <p:cNvPr id="29" name="Hexagon 28">
              <a:extLst>
                <a:ext uri="{FF2B5EF4-FFF2-40B4-BE49-F238E27FC236}">
                  <a16:creationId xmlns:a16="http://schemas.microsoft.com/office/drawing/2014/main" id="{76017A60-148A-4FC9-82F2-E1D42A60B666}"/>
                </a:ext>
              </a:extLst>
            </p:cNvPr>
            <p:cNvSpPr/>
            <p:nvPr/>
          </p:nvSpPr>
          <p:spPr>
            <a:xfrm>
              <a:off x="5439828" y="-948084"/>
              <a:ext cx="1065928" cy="918904"/>
            </a:xfrm>
            <a:prstGeom prst="hexagon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en-GB" sz="1400" dirty="0"/>
                <a:t>Data</a:t>
              </a:r>
            </a:p>
            <a:p>
              <a:pPr algn="ctr"/>
              <a:r>
                <a:rPr lang="en-GB" sz="1400" dirty="0"/>
                <a:t>Storage</a:t>
              </a:r>
            </a:p>
          </p:txBody>
        </p:sp>
        <p:sp>
          <p:nvSpPr>
            <p:cNvPr id="31" name="Hexagon 30">
              <a:extLst>
                <a:ext uri="{FF2B5EF4-FFF2-40B4-BE49-F238E27FC236}">
                  <a16:creationId xmlns:a16="http://schemas.microsoft.com/office/drawing/2014/main" id="{804BC2DE-0FC5-40C8-856C-2A93A1B567A1}"/>
                </a:ext>
              </a:extLst>
            </p:cNvPr>
            <p:cNvSpPr/>
            <p:nvPr/>
          </p:nvSpPr>
          <p:spPr>
            <a:xfrm>
              <a:off x="4290156" y="-2175427"/>
              <a:ext cx="1065928" cy="918904"/>
            </a:xfrm>
            <a:prstGeom prst="hexagon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GB" sz="1400" dirty="0"/>
                <a:t>Orchestration</a:t>
              </a:r>
            </a:p>
          </p:txBody>
        </p:sp>
        <p:sp>
          <p:nvSpPr>
            <p:cNvPr id="90" name="Hexagon 89">
              <a:extLst>
                <a:ext uri="{FF2B5EF4-FFF2-40B4-BE49-F238E27FC236}">
                  <a16:creationId xmlns:a16="http://schemas.microsoft.com/office/drawing/2014/main" id="{2D9B29DA-EF3D-4DAB-B3C6-28A57D9B8301}"/>
                </a:ext>
              </a:extLst>
            </p:cNvPr>
            <p:cNvSpPr/>
            <p:nvPr/>
          </p:nvSpPr>
          <p:spPr>
            <a:xfrm>
              <a:off x="5443585" y="-2177946"/>
              <a:ext cx="1065928" cy="918904"/>
            </a:xfrm>
            <a:prstGeom prst="hexagon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GB" sz="1400" dirty="0"/>
                <a:t>Networking</a:t>
              </a:r>
            </a:p>
          </p:txBody>
        </p:sp>
      </p:grpSp>
      <p:grpSp>
        <p:nvGrpSpPr>
          <p:cNvPr id="7" name="Virtaul Representation">
            <a:extLst>
              <a:ext uri="{FF2B5EF4-FFF2-40B4-BE49-F238E27FC236}">
                <a16:creationId xmlns:a16="http://schemas.microsoft.com/office/drawing/2014/main" id="{ACF25C60-97A4-4969-B4D3-7DA1BE7BDFF7}"/>
              </a:ext>
            </a:extLst>
          </p:cNvPr>
          <p:cNvGrpSpPr/>
          <p:nvPr/>
        </p:nvGrpSpPr>
        <p:grpSpPr>
          <a:xfrm>
            <a:off x="3224939" y="2637081"/>
            <a:ext cx="2762513" cy="2421687"/>
            <a:chOff x="-3993911" y="-1289420"/>
            <a:chExt cx="2762513" cy="2421687"/>
          </a:xfrm>
        </p:grpSpPr>
        <p:sp>
          <p:nvSpPr>
            <p:cNvPr id="34" name="Hexagon 33">
              <a:extLst>
                <a:ext uri="{FF2B5EF4-FFF2-40B4-BE49-F238E27FC236}">
                  <a16:creationId xmlns:a16="http://schemas.microsoft.com/office/drawing/2014/main" id="{21241C34-12FC-456F-80E9-4F123377D15E}"/>
                </a:ext>
              </a:extLst>
            </p:cNvPr>
            <p:cNvSpPr/>
            <p:nvPr/>
          </p:nvSpPr>
          <p:spPr>
            <a:xfrm>
              <a:off x="-3738240" y="-1289420"/>
              <a:ext cx="2314316" cy="1995101"/>
            </a:xfrm>
            <a:prstGeom prst="hexagon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en-GB" sz="1600" dirty="0"/>
                <a:t>Virtual</a:t>
              </a:r>
            </a:p>
            <a:p>
              <a:pPr algn="ctr"/>
              <a:r>
                <a:rPr lang="en-GB" sz="1600" dirty="0"/>
                <a:t>Representation</a:t>
              </a:r>
            </a:p>
          </p:txBody>
        </p:sp>
        <p:sp>
          <p:nvSpPr>
            <p:cNvPr id="35" name="Hexagon 34">
              <a:extLst>
                <a:ext uri="{FF2B5EF4-FFF2-40B4-BE49-F238E27FC236}">
                  <a16:creationId xmlns:a16="http://schemas.microsoft.com/office/drawing/2014/main" id="{47F02634-43CE-4B5F-814B-BD94120A4D69}"/>
                </a:ext>
              </a:extLst>
            </p:cNvPr>
            <p:cNvSpPr/>
            <p:nvPr/>
          </p:nvSpPr>
          <p:spPr>
            <a:xfrm>
              <a:off x="-2395026" y="-171901"/>
              <a:ext cx="1163628" cy="1003128"/>
            </a:xfrm>
            <a:prstGeom prst="hexagon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endParaRPr lang="en-GB" sz="1100" dirty="0"/>
            </a:p>
            <a:p>
              <a:pPr algn="ctr"/>
              <a:r>
                <a:rPr lang="en-GB" sz="1100" dirty="0"/>
                <a:t>Representational</a:t>
              </a:r>
            </a:p>
            <a:p>
              <a:pPr algn="ctr"/>
              <a:r>
                <a:rPr lang="en-GB" sz="1100" dirty="0"/>
                <a:t>Models</a:t>
              </a:r>
            </a:p>
          </p:txBody>
        </p:sp>
        <p:sp>
          <p:nvSpPr>
            <p:cNvPr id="36" name="Hexagon 35">
              <a:extLst>
                <a:ext uri="{FF2B5EF4-FFF2-40B4-BE49-F238E27FC236}">
                  <a16:creationId xmlns:a16="http://schemas.microsoft.com/office/drawing/2014/main" id="{E0001569-5779-4BC2-ADB4-39ACFF801AD0}"/>
                </a:ext>
              </a:extLst>
            </p:cNvPr>
            <p:cNvSpPr/>
            <p:nvPr/>
          </p:nvSpPr>
          <p:spPr>
            <a:xfrm>
              <a:off x="-3805471" y="-171901"/>
              <a:ext cx="1163628" cy="1003128"/>
            </a:xfrm>
            <a:prstGeom prst="hexagon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GB" sz="1200" dirty="0"/>
                <a:t>Predictive</a:t>
              </a:r>
            </a:p>
            <a:p>
              <a:pPr algn="ctr"/>
              <a:r>
                <a:rPr lang="en-GB" sz="1200" dirty="0"/>
                <a:t>Models</a:t>
              </a:r>
            </a:p>
          </p:txBody>
        </p:sp>
        <p:sp>
          <p:nvSpPr>
            <p:cNvPr id="37" name="Hexagon 36">
              <a:extLst>
                <a:ext uri="{FF2B5EF4-FFF2-40B4-BE49-F238E27FC236}">
                  <a16:creationId xmlns:a16="http://schemas.microsoft.com/office/drawing/2014/main" id="{9973774B-B0E1-4ADC-801E-88CD0CA24DEA}"/>
                </a:ext>
              </a:extLst>
            </p:cNvPr>
            <p:cNvSpPr/>
            <p:nvPr/>
          </p:nvSpPr>
          <p:spPr>
            <a:xfrm>
              <a:off x="-3946151" y="509427"/>
              <a:ext cx="722494" cy="622840"/>
            </a:xfrm>
            <a:prstGeom prst="hexagon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GB" sz="1050" dirty="0"/>
                <a:t>Simulations</a:t>
              </a:r>
            </a:p>
          </p:txBody>
        </p:sp>
        <p:sp>
          <p:nvSpPr>
            <p:cNvPr id="38" name="Hexagon 37">
              <a:extLst>
                <a:ext uri="{FF2B5EF4-FFF2-40B4-BE49-F238E27FC236}">
                  <a16:creationId xmlns:a16="http://schemas.microsoft.com/office/drawing/2014/main" id="{FB83C5C2-1E8C-465C-80F6-977B98B89D5E}"/>
                </a:ext>
              </a:extLst>
            </p:cNvPr>
            <p:cNvSpPr/>
            <p:nvPr/>
          </p:nvSpPr>
          <p:spPr>
            <a:xfrm>
              <a:off x="-3993911" y="-497216"/>
              <a:ext cx="722494" cy="622840"/>
            </a:xfrm>
            <a:prstGeom prst="hexagon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GB" sz="1050" dirty="0"/>
                <a:t>AIs</a:t>
              </a:r>
            </a:p>
          </p:txBody>
        </p:sp>
      </p:grpSp>
      <p:sp>
        <p:nvSpPr>
          <p:cNvPr id="13" name="Real World">
            <a:extLst>
              <a:ext uri="{FF2B5EF4-FFF2-40B4-BE49-F238E27FC236}">
                <a16:creationId xmlns:a16="http://schemas.microsoft.com/office/drawing/2014/main" id="{AA7524A5-F5DD-4B21-A803-C479C8D34522}"/>
              </a:ext>
            </a:extLst>
          </p:cNvPr>
          <p:cNvSpPr/>
          <p:nvPr/>
        </p:nvSpPr>
        <p:spPr>
          <a:xfrm>
            <a:off x="8432760" y="3601243"/>
            <a:ext cx="3582428" cy="3088300"/>
          </a:xfrm>
          <a:prstGeom prst="hexag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GB" sz="3600" dirty="0"/>
              <a:t>Real World</a:t>
            </a:r>
          </a:p>
        </p:txBody>
      </p:sp>
      <p:sp>
        <p:nvSpPr>
          <p:cNvPr id="27" name="People">
            <a:extLst>
              <a:ext uri="{FF2B5EF4-FFF2-40B4-BE49-F238E27FC236}">
                <a16:creationId xmlns:a16="http://schemas.microsoft.com/office/drawing/2014/main" id="{EE47B77D-A762-4CA3-B077-DE3E30CC1C3D}"/>
              </a:ext>
            </a:extLst>
          </p:cNvPr>
          <p:cNvSpPr/>
          <p:nvPr/>
        </p:nvSpPr>
        <p:spPr>
          <a:xfrm>
            <a:off x="8593829" y="5666200"/>
            <a:ext cx="1065928" cy="918904"/>
          </a:xfrm>
          <a:prstGeom prst="hexag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GB" sz="1400" dirty="0"/>
              <a:t>Personnel</a:t>
            </a:r>
          </a:p>
          <a:p>
            <a:pPr algn="ctr"/>
            <a:r>
              <a:rPr lang="en-GB" sz="1400" dirty="0"/>
              <a:t>/ People</a:t>
            </a:r>
          </a:p>
        </p:txBody>
      </p:sp>
      <p:sp>
        <p:nvSpPr>
          <p:cNvPr id="39" name="IoT">
            <a:extLst>
              <a:ext uri="{FF2B5EF4-FFF2-40B4-BE49-F238E27FC236}">
                <a16:creationId xmlns:a16="http://schemas.microsoft.com/office/drawing/2014/main" id="{9452DAB0-392C-4A7F-AE92-112B24CAFF37}"/>
              </a:ext>
            </a:extLst>
          </p:cNvPr>
          <p:cNvSpPr/>
          <p:nvPr/>
        </p:nvSpPr>
        <p:spPr>
          <a:xfrm>
            <a:off x="8432759" y="3243786"/>
            <a:ext cx="1666587" cy="1436714"/>
          </a:xfrm>
          <a:prstGeom prst="hexag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GB" dirty="0"/>
              <a:t>IoT</a:t>
            </a:r>
          </a:p>
          <a:p>
            <a:pPr algn="ctr"/>
            <a:r>
              <a:rPr lang="en-GB" dirty="0"/>
              <a:t>Systems</a:t>
            </a:r>
          </a:p>
        </p:txBody>
      </p:sp>
      <p:sp>
        <p:nvSpPr>
          <p:cNvPr id="14" name="Service Interfaces">
            <a:extLst>
              <a:ext uri="{FF2B5EF4-FFF2-40B4-BE49-F238E27FC236}">
                <a16:creationId xmlns:a16="http://schemas.microsoft.com/office/drawing/2014/main" id="{7B24D917-7A38-4986-95B2-87655317D652}"/>
              </a:ext>
            </a:extLst>
          </p:cNvPr>
          <p:cNvSpPr/>
          <p:nvPr/>
        </p:nvSpPr>
        <p:spPr>
          <a:xfrm>
            <a:off x="600436" y="2897557"/>
            <a:ext cx="2198561" cy="1895312"/>
          </a:xfrm>
          <a:prstGeom prst="hexagon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GB" sz="2800" dirty="0"/>
              <a:t>Services Interfaces</a:t>
            </a:r>
          </a:p>
        </p:txBody>
      </p:sp>
      <p:sp>
        <p:nvSpPr>
          <p:cNvPr id="16" name="Apps &amp; Services">
            <a:extLst>
              <a:ext uri="{FF2B5EF4-FFF2-40B4-BE49-F238E27FC236}">
                <a16:creationId xmlns:a16="http://schemas.microsoft.com/office/drawing/2014/main" id="{E3251453-B577-431A-B91C-43E5CA7CFA25}"/>
              </a:ext>
            </a:extLst>
          </p:cNvPr>
          <p:cNvSpPr/>
          <p:nvPr/>
        </p:nvSpPr>
        <p:spPr>
          <a:xfrm>
            <a:off x="1935933" y="531774"/>
            <a:ext cx="2198562" cy="1895310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GB" sz="2800" dirty="0"/>
              <a:t>Apps &amp; Services</a:t>
            </a:r>
          </a:p>
        </p:txBody>
      </p:sp>
      <p:sp>
        <p:nvSpPr>
          <p:cNvPr id="23" name="Synchronisation Mechanisms">
            <a:extLst>
              <a:ext uri="{FF2B5EF4-FFF2-40B4-BE49-F238E27FC236}">
                <a16:creationId xmlns:a16="http://schemas.microsoft.com/office/drawing/2014/main" id="{C02BE336-A867-415C-A983-CF8BBD9C469B}"/>
              </a:ext>
            </a:extLst>
          </p:cNvPr>
          <p:cNvSpPr/>
          <p:nvPr/>
        </p:nvSpPr>
        <p:spPr>
          <a:xfrm>
            <a:off x="5812756" y="2510655"/>
            <a:ext cx="2065442" cy="1780552"/>
          </a:xfrm>
          <a:prstGeom prst="hexag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GB" dirty="0"/>
              <a:t>Synchronisation Mechanisms</a:t>
            </a:r>
          </a:p>
        </p:txBody>
      </p:sp>
      <p:sp>
        <p:nvSpPr>
          <p:cNvPr id="50" name="Security, Trust, &amp; Governance">
            <a:extLst>
              <a:ext uri="{FF2B5EF4-FFF2-40B4-BE49-F238E27FC236}">
                <a16:creationId xmlns:a16="http://schemas.microsoft.com/office/drawing/2014/main" id="{D803E6AF-C0DF-479B-A4C4-9EB2275EC567}"/>
              </a:ext>
            </a:extLst>
          </p:cNvPr>
          <p:cNvSpPr/>
          <p:nvPr/>
        </p:nvSpPr>
        <p:spPr>
          <a:xfrm>
            <a:off x="5814878" y="4723669"/>
            <a:ext cx="2065442" cy="1780552"/>
          </a:xfrm>
          <a:prstGeom prst="hexago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GB" dirty="0"/>
              <a:t>Security, Trust, &amp; Governance</a:t>
            </a:r>
          </a:p>
        </p:txBody>
      </p:sp>
      <p:grpSp>
        <p:nvGrpSpPr>
          <p:cNvPr id="40" name="Service Interfaces Expanded">
            <a:extLst>
              <a:ext uri="{FF2B5EF4-FFF2-40B4-BE49-F238E27FC236}">
                <a16:creationId xmlns:a16="http://schemas.microsoft.com/office/drawing/2014/main" id="{59D3F030-4361-4385-8D5B-A612C056B1C6}"/>
              </a:ext>
            </a:extLst>
          </p:cNvPr>
          <p:cNvGrpSpPr/>
          <p:nvPr/>
        </p:nvGrpSpPr>
        <p:grpSpPr>
          <a:xfrm>
            <a:off x="-193401" y="2816628"/>
            <a:ext cx="3419202" cy="2564706"/>
            <a:chOff x="-3805471" y="-2119234"/>
            <a:chExt cx="3933479" cy="2950461"/>
          </a:xfrm>
        </p:grpSpPr>
        <p:sp>
          <p:nvSpPr>
            <p:cNvPr id="65" name="Hexagon 64">
              <a:extLst>
                <a:ext uri="{FF2B5EF4-FFF2-40B4-BE49-F238E27FC236}">
                  <a16:creationId xmlns:a16="http://schemas.microsoft.com/office/drawing/2014/main" id="{3A3D0560-3184-46BB-B5D1-E59D812BFC3E}"/>
                </a:ext>
              </a:extLst>
            </p:cNvPr>
            <p:cNvSpPr/>
            <p:nvPr/>
          </p:nvSpPr>
          <p:spPr>
            <a:xfrm>
              <a:off x="-3469182" y="-2119234"/>
              <a:ext cx="3311535" cy="2854772"/>
            </a:xfrm>
            <a:prstGeom prst="hexagon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en-GB" sz="1600" b="1" dirty="0"/>
                <a:t>Service</a:t>
              </a:r>
            </a:p>
            <a:p>
              <a:pPr algn="ctr"/>
              <a:r>
                <a:rPr lang="en-GB" sz="1600" b="1" dirty="0"/>
                <a:t>Interfaces</a:t>
              </a:r>
            </a:p>
          </p:txBody>
        </p:sp>
        <p:sp>
          <p:nvSpPr>
            <p:cNvPr id="41" name="Hexagon 40">
              <a:extLst>
                <a:ext uri="{FF2B5EF4-FFF2-40B4-BE49-F238E27FC236}">
                  <a16:creationId xmlns:a16="http://schemas.microsoft.com/office/drawing/2014/main" id="{4772E038-7613-4A6A-B5F4-32BB5407F3D3}"/>
                </a:ext>
              </a:extLst>
            </p:cNvPr>
            <p:cNvSpPr/>
            <p:nvPr/>
          </p:nvSpPr>
          <p:spPr>
            <a:xfrm>
              <a:off x="-3496940" y="-1044487"/>
              <a:ext cx="1868141" cy="1610467"/>
            </a:xfrm>
            <a:prstGeom prst="hexagon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lIns="0" tIns="0" rIns="0" bIns="0" rtlCol="0" anchor="t">
              <a:normAutofit/>
            </a:bodyPr>
            <a:lstStyle/>
            <a:p>
              <a:pPr algn="ctr"/>
              <a:endParaRPr lang="en-GB" sz="1600" dirty="0"/>
            </a:p>
            <a:p>
              <a:pPr algn="ctr"/>
              <a:r>
                <a:rPr lang="en-GB" sz="1600" dirty="0"/>
                <a:t>Data Integration</a:t>
              </a:r>
            </a:p>
          </p:txBody>
        </p:sp>
        <p:sp>
          <p:nvSpPr>
            <p:cNvPr id="42" name="Hexagon 41">
              <a:extLst>
                <a:ext uri="{FF2B5EF4-FFF2-40B4-BE49-F238E27FC236}">
                  <a16:creationId xmlns:a16="http://schemas.microsoft.com/office/drawing/2014/main" id="{E97A1671-78B4-4AA2-9AC0-B46B8BED5B4A}"/>
                </a:ext>
              </a:extLst>
            </p:cNvPr>
            <p:cNvSpPr/>
            <p:nvPr/>
          </p:nvSpPr>
          <p:spPr>
            <a:xfrm>
              <a:off x="-2511140" y="-171901"/>
              <a:ext cx="1163628" cy="1003128"/>
            </a:xfrm>
            <a:prstGeom prst="hexagon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GB" sz="1400" dirty="0"/>
                <a:t>Model</a:t>
              </a:r>
            </a:p>
            <a:p>
              <a:pPr algn="ctr"/>
              <a:r>
                <a:rPr lang="en-GB" sz="1400" dirty="0"/>
                <a:t>Integration</a:t>
              </a:r>
            </a:p>
          </p:txBody>
        </p:sp>
        <p:sp>
          <p:nvSpPr>
            <p:cNvPr id="43" name="Hexagon 42">
              <a:extLst>
                <a:ext uri="{FF2B5EF4-FFF2-40B4-BE49-F238E27FC236}">
                  <a16:creationId xmlns:a16="http://schemas.microsoft.com/office/drawing/2014/main" id="{B8686A32-F39E-4C0A-8834-9BD52748C85D}"/>
                </a:ext>
              </a:extLst>
            </p:cNvPr>
            <p:cNvSpPr/>
            <p:nvPr/>
          </p:nvSpPr>
          <p:spPr>
            <a:xfrm>
              <a:off x="-3805471" y="-171901"/>
              <a:ext cx="1163628" cy="1003128"/>
            </a:xfrm>
            <a:prstGeom prst="hexagon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GB" sz="1200" dirty="0"/>
                <a:t>Interoperability</a:t>
              </a:r>
            </a:p>
          </p:txBody>
        </p:sp>
        <p:sp>
          <p:nvSpPr>
            <p:cNvPr id="66" name="Hexagon 65">
              <a:extLst>
                <a:ext uri="{FF2B5EF4-FFF2-40B4-BE49-F238E27FC236}">
                  <a16:creationId xmlns:a16="http://schemas.microsoft.com/office/drawing/2014/main" id="{A02E7758-078D-41EE-A235-96A2C4FB6658}"/>
                </a:ext>
              </a:extLst>
            </p:cNvPr>
            <p:cNvSpPr/>
            <p:nvPr/>
          </p:nvSpPr>
          <p:spPr>
            <a:xfrm>
              <a:off x="-1578414" y="-1314942"/>
              <a:ext cx="1661575" cy="1432393"/>
            </a:xfrm>
            <a:prstGeom prst="hexagon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en-GB" sz="1400" dirty="0"/>
                <a:t>Protocols</a:t>
              </a:r>
            </a:p>
          </p:txBody>
        </p:sp>
        <p:sp>
          <p:nvSpPr>
            <p:cNvPr id="67" name="Hexagon 66">
              <a:extLst>
                <a:ext uri="{FF2B5EF4-FFF2-40B4-BE49-F238E27FC236}">
                  <a16:creationId xmlns:a16="http://schemas.microsoft.com/office/drawing/2014/main" id="{E0252640-A69E-4322-85A1-30638A7E3320}"/>
                </a:ext>
              </a:extLst>
            </p:cNvPr>
            <p:cNvSpPr/>
            <p:nvPr/>
          </p:nvSpPr>
          <p:spPr>
            <a:xfrm>
              <a:off x="-1035620" y="-732425"/>
              <a:ext cx="1163628" cy="1003128"/>
            </a:xfrm>
            <a:prstGeom prst="hexagon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GB" sz="1400" dirty="0"/>
                <a:t>APIs</a:t>
              </a:r>
            </a:p>
          </p:txBody>
        </p:sp>
      </p:grpSp>
      <p:grpSp>
        <p:nvGrpSpPr>
          <p:cNvPr id="8" name="Apps &amp; Services Expanded">
            <a:extLst>
              <a:ext uri="{FF2B5EF4-FFF2-40B4-BE49-F238E27FC236}">
                <a16:creationId xmlns:a16="http://schemas.microsoft.com/office/drawing/2014/main" id="{9B21D7AC-E4BF-441D-8E1D-CCCB3D67C633}"/>
              </a:ext>
            </a:extLst>
          </p:cNvPr>
          <p:cNvGrpSpPr/>
          <p:nvPr/>
        </p:nvGrpSpPr>
        <p:grpSpPr>
          <a:xfrm>
            <a:off x="1549176" y="138183"/>
            <a:ext cx="2933924" cy="2611210"/>
            <a:chOff x="7592364" y="-1395598"/>
            <a:chExt cx="3678366" cy="3273767"/>
          </a:xfrm>
        </p:grpSpPr>
        <p:sp>
          <p:nvSpPr>
            <p:cNvPr id="68" name="Hexagon 67">
              <a:extLst>
                <a:ext uri="{FF2B5EF4-FFF2-40B4-BE49-F238E27FC236}">
                  <a16:creationId xmlns:a16="http://schemas.microsoft.com/office/drawing/2014/main" id="{A0B4D6E9-5DE6-493C-92B9-89102B6E0D9D}"/>
                </a:ext>
              </a:extLst>
            </p:cNvPr>
            <p:cNvSpPr/>
            <p:nvPr/>
          </p:nvSpPr>
          <p:spPr>
            <a:xfrm>
              <a:off x="7699376" y="-1395598"/>
              <a:ext cx="3571354" cy="3078756"/>
            </a:xfrm>
            <a:prstGeom prst="hexagon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0" tIns="0" rIns="0" bIns="0" rtlCol="0" anchor="t">
              <a:normAutofit/>
            </a:bodyPr>
            <a:lstStyle/>
            <a:p>
              <a:pPr algn="ctr"/>
              <a:r>
                <a:rPr lang="en-GB" sz="1600" b="1" dirty="0"/>
                <a:t>Apps &amp; Services</a:t>
              </a:r>
            </a:p>
          </p:txBody>
        </p:sp>
        <p:sp>
          <p:nvSpPr>
            <p:cNvPr id="2" name="Hexagon 1">
              <a:extLst>
                <a:ext uri="{FF2B5EF4-FFF2-40B4-BE49-F238E27FC236}">
                  <a16:creationId xmlns:a16="http://schemas.microsoft.com/office/drawing/2014/main" id="{63AFD72E-D050-47BC-851D-424B5FB0BB5E}"/>
                </a:ext>
              </a:extLst>
            </p:cNvPr>
            <p:cNvSpPr/>
            <p:nvPr/>
          </p:nvSpPr>
          <p:spPr>
            <a:xfrm>
              <a:off x="7648576" y="-464344"/>
              <a:ext cx="2314316" cy="1995101"/>
            </a:xfrm>
            <a:prstGeom prst="hexagon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GB" sz="1400" dirty="0"/>
                <a:t>Visualisation</a:t>
              </a:r>
            </a:p>
          </p:txBody>
        </p:sp>
        <p:sp>
          <p:nvSpPr>
            <p:cNvPr id="24" name="Hexagon 23">
              <a:extLst>
                <a:ext uri="{FF2B5EF4-FFF2-40B4-BE49-F238E27FC236}">
                  <a16:creationId xmlns:a16="http://schemas.microsoft.com/office/drawing/2014/main" id="{ED4AE448-4465-430F-8DD4-08406E25342E}"/>
                </a:ext>
              </a:extLst>
            </p:cNvPr>
            <p:cNvSpPr/>
            <p:nvPr/>
          </p:nvSpPr>
          <p:spPr>
            <a:xfrm>
              <a:off x="7592364" y="867364"/>
              <a:ext cx="1065928" cy="918904"/>
            </a:xfrm>
            <a:prstGeom prst="hexagon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GB" sz="1200" dirty="0"/>
                <a:t>Rendering</a:t>
              </a:r>
            </a:p>
            <a:p>
              <a:pPr algn="ctr"/>
              <a:r>
                <a:rPr lang="en-GB" sz="1200" dirty="0"/>
                <a:t>Engine</a:t>
              </a:r>
            </a:p>
          </p:txBody>
        </p:sp>
        <p:sp>
          <p:nvSpPr>
            <p:cNvPr id="26" name="Hexagon 25">
              <a:extLst>
                <a:ext uri="{FF2B5EF4-FFF2-40B4-BE49-F238E27FC236}">
                  <a16:creationId xmlns:a16="http://schemas.microsoft.com/office/drawing/2014/main" id="{6960515F-C886-4FF4-A7A3-927DE7011F2D}"/>
                </a:ext>
              </a:extLst>
            </p:cNvPr>
            <p:cNvSpPr/>
            <p:nvPr/>
          </p:nvSpPr>
          <p:spPr>
            <a:xfrm>
              <a:off x="7613961" y="-699757"/>
              <a:ext cx="1065928" cy="918904"/>
            </a:xfrm>
            <a:prstGeom prst="hexagon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GB" sz="1200" dirty="0"/>
                <a:t>Analytics</a:t>
              </a:r>
            </a:p>
          </p:txBody>
        </p:sp>
        <p:sp>
          <p:nvSpPr>
            <p:cNvPr id="32" name="Hexagon 31">
              <a:extLst>
                <a:ext uri="{FF2B5EF4-FFF2-40B4-BE49-F238E27FC236}">
                  <a16:creationId xmlns:a16="http://schemas.microsoft.com/office/drawing/2014/main" id="{3D6FC402-FD1C-420F-83CC-8467F003D032}"/>
                </a:ext>
              </a:extLst>
            </p:cNvPr>
            <p:cNvSpPr/>
            <p:nvPr/>
          </p:nvSpPr>
          <p:spPr>
            <a:xfrm>
              <a:off x="9011245" y="671345"/>
              <a:ext cx="1399914" cy="1206824"/>
            </a:xfrm>
            <a:prstGeom prst="hexagon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GB" sz="1200" dirty="0"/>
                <a:t>User</a:t>
              </a:r>
            </a:p>
            <a:p>
              <a:pPr algn="ctr"/>
              <a:r>
                <a:rPr lang="en-GB" sz="1200" dirty="0"/>
                <a:t>Interfaces</a:t>
              </a:r>
            </a:p>
          </p:txBody>
        </p:sp>
        <p:sp>
          <p:nvSpPr>
            <p:cNvPr id="25" name="Hexagon 24">
              <a:extLst>
                <a:ext uri="{FF2B5EF4-FFF2-40B4-BE49-F238E27FC236}">
                  <a16:creationId xmlns:a16="http://schemas.microsoft.com/office/drawing/2014/main" id="{B247CD43-8F8D-481A-A402-300F5BCC4E5B}"/>
                </a:ext>
              </a:extLst>
            </p:cNvPr>
            <p:cNvSpPr/>
            <p:nvPr/>
          </p:nvSpPr>
          <p:spPr>
            <a:xfrm>
              <a:off x="9590166" y="125833"/>
              <a:ext cx="1065928" cy="918904"/>
            </a:xfrm>
            <a:prstGeom prst="hexagon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GB" sz="1200" dirty="0"/>
                <a:t>Web</a:t>
              </a:r>
            </a:p>
            <a:p>
              <a:pPr algn="ctr"/>
              <a:r>
                <a:rPr lang="en-GB" sz="1200" dirty="0"/>
                <a:t>Dashboard</a:t>
              </a:r>
            </a:p>
            <a:p>
              <a:pPr algn="ctr"/>
              <a:r>
                <a:rPr lang="en-GB" sz="1200" dirty="0"/>
                <a:t>(</a:t>
              </a:r>
              <a:r>
                <a:rPr lang="en-GB" sz="1100" i="1" dirty="0"/>
                <a:t>e.g. BI</a:t>
              </a:r>
              <a:r>
                <a:rPr lang="en-GB" sz="1200" dirty="0"/>
                <a:t>)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C1A8A1B9-082B-4230-9B6F-C22E65962962}"/>
              </a:ext>
            </a:extLst>
          </p:cNvPr>
          <p:cNvGrpSpPr/>
          <p:nvPr/>
        </p:nvGrpSpPr>
        <p:grpSpPr>
          <a:xfrm>
            <a:off x="4332574" y="1395860"/>
            <a:ext cx="7919283" cy="3749533"/>
            <a:chOff x="4332574" y="1395860"/>
            <a:chExt cx="7919283" cy="3749533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CFD55639-BF74-4553-9EDB-9D95D1A690A4}"/>
                </a:ext>
              </a:extLst>
            </p:cNvPr>
            <p:cNvGrpSpPr/>
            <p:nvPr/>
          </p:nvGrpSpPr>
          <p:grpSpPr>
            <a:xfrm>
              <a:off x="7433060" y="4064000"/>
              <a:ext cx="1418840" cy="1081393"/>
              <a:chOff x="7433060" y="4064000"/>
              <a:chExt cx="1418840" cy="1081393"/>
            </a:xfrm>
          </p:grpSpPr>
          <p:cxnSp>
            <p:nvCxnSpPr>
              <p:cNvPr id="58" name="Straight Arrow Connector 52">
                <a:extLst>
                  <a:ext uri="{FF2B5EF4-FFF2-40B4-BE49-F238E27FC236}">
                    <a16:creationId xmlns:a16="http://schemas.microsoft.com/office/drawing/2014/main" id="{5D540CA4-F0A8-4D77-9AA8-3ACFF1992D7C}"/>
                  </a:ext>
                </a:extLst>
              </p:cNvPr>
              <p:cNvCxnSpPr>
                <a:cxnSpLocks/>
                <a:stCxn id="23" idx="1"/>
                <a:endCxn id="13" idx="3"/>
              </p:cNvCxnSpPr>
              <p:nvPr/>
            </p:nvCxnSpPr>
            <p:spPr>
              <a:xfrm rot="16200000" flipH="1">
                <a:off x="7505817" y="4218450"/>
                <a:ext cx="854186" cy="999700"/>
              </a:xfrm>
              <a:prstGeom prst="curvedConnector2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DB7B582-4EE3-4A1A-A075-C698161FD51F}"/>
                  </a:ext>
                </a:extLst>
              </p:cNvPr>
              <p:cNvSpPr txBox="1"/>
              <p:nvPr/>
            </p:nvSpPr>
            <p:spPr>
              <a:xfrm>
                <a:off x="7671096" y="4064000"/>
                <a:ext cx="1180804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b="1" i="1" dirty="0"/>
                  <a:t>Realisation</a:t>
                </a:r>
                <a:r>
                  <a:rPr lang="en-GB" sz="1400" i="1" dirty="0"/>
                  <a:t> of the impact in the Real World</a:t>
                </a:r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38503414-5209-4CF1-AE1F-7C4DD6A97D79}"/>
                </a:ext>
              </a:extLst>
            </p:cNvPr>
            <p:cNvGrpSpPr/>
            <p:nvPr/>
          </p:nvGrpSpPr>
          <p:grpSpPr>
            <a:xfrm>
              <a:off x="5736670" y="1395860"/>
              <a:ext cx="6515187" cy="2358739"/>
              <a:chOff x="5736670" y="1395860"/>
              <a:chExt cx="6515187" cy="2358739"/>
            </a:xfrm>
          </p:grpSpPr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8BC877A4-1279-458A-AA52-C802F6001CA8}"/>
                  </a:ext>
                </a:extLst>
              </p:cNvPr>
              <p:cNvGrpSpPr/>
              <p:nvPr/>
            </p:nvGrpSpPr>
            <p:grpSpPr>
              <a:xfrm>
                <a:off x="7433061" y="1395860"/>
                <a:ext cx="4818796" cy="2205384"/>
                <a:chOff x="7433061" y="1395860"/>
                <a:chExt cx="4818796" cy="2205384"/>
              </a:xfrm>
            </p:grpSpPr>
            <p:cxnSp>
              <p:nvCxnSpPr>
                <p:cNvPr id="53" name="Straight Arrow Connector 52">
                  <a:extLst>
                    <a:ext uri="{FF2B5EF4-FFF2-40B4-BE49-F238E27FC236}">
                      <a16:creationId xmlns:a16="http://schemas.microsoft.com/office/drawing/2014/main" id="{09740EB8-9E32-49D2-A71F-9BABAF93F6B8}"/>
                    </a:ext>
                  </a:extLst>
                </p:cNvPr>
                <p:cNvCxnSpPr>
                  <a:cxnSpLocks/>
                  <a:stCxn id="13" idx="5"/>
                  <a:endCxn id="23" idx="5"/>
                </p:cNvCxnSpPr>
                <p:nvPr/>
              </p:nvCxnSpPr>
              <p:spPr>
                <a:xfrm rot="16200000" flipV="1">
                  <a:off x="8792793" y="1150923"/>
                  <a:ext cx="1090589" cy="3810053"/>
                </a:xfrm>
                <a:prstGeom prst="curvedConnector3">
                  <a:avLst>
                    <a:gd name="adj1" fmla="val 100998"/>
                  </a:avLst>
                </a:prstGeom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CC87280-D32C-44CA-86D8-CF8CAD7CF48B}"/>
                    </a:ext>
                  </a:extLst>
                </p:cNvPr>
                <p:cNvSpPr txBox="1"/>
                <p:nvPr/>
              </p:nvSpPr>
              <p:spPr>
                <a:xfrm>
                  <a:off x="10234371" y="1395860"/>
                  <a:ext cx="2017486" cy="16004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342900" indent="-342900">
                    <a:buAutoNum type="arabicPeriod"/>
                  </a:pPr>
                  <a:r>
                    <a:rPr lang="en-GB" sz="1400" b="1" i="1" dirty="0"/>
                    <a:t>Instantiation</a:t>
                  </a:r>
                  <a:r>
                    <a:rPr lang="en-GB" sz="1400" i="1" dirty="0"/>
                    <a:t> of the Digital Twin from Real World Data</a:t>
                  </a:r>
                </a:p>
                <a:p>
                  <a:pPr marL="342900" indent="-342900">
                    <a:buAutoNum type="arabicPeriod"/>
                  </a:pPr>
                  <a:r>
                    <a:rPr lang="en-GB" sz="1400" b="1" i="1" dirty="0"/>
                    <a:t>Synchronisation</a:t>
                  </a:r>
                  <a:r>
                    <a:rPr lang="en-GB" sz="1400" i="1" dirty="0"/>
                    <a:t>/updating the Digital Twin with Real World Data</a:t>
                  </a:r>
                </a:p>
              </p:txBody>
            </p:sp>
          </p:grpSp>
          <p:cxnSp>
            <p:nvCxnSpPr>
              <p:cNvPr id="70" name="Straight Arrow Connector 52">
                <a:extLst>
                  <a:ext uri="{FF2B5EF4-FFF2-40B4-BE49-F238E27FC236}">
                    <a16:creationId xmlns:a16="http://schemas.microsoft.com/office/drawing/2014/main" id="{A54DDF94-AAA3-490D-95A0-DBB87340A4E9}"/>
                  </a:ext>
                </a:extLst>
              </p:cNvPr>
              <p:cNvCxnSpPr>
                <a:cxnSpLocks/>
                <a:stCxn id="23" idx="3"/>
                <a:endCxn id="35" idx="5"/>
              </p:cNvCxnSpPr>
              <p:nvPr/>
            </p:nvCxnSpPr>
            <p:spPr>
              <a:xfrm rot="10800000" flipV="1">
                <a:off x="5736670" y="3400930"/>
                <a:ext cx="76086" cy="353669"/>
              </a:xfrm>
              <a:prstGeom prst="curvedConnector2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cxnSp>
          <p:nvCxnSpPr>
            <p:cNvPr id="79" name="Straight Arrow Connector 52">
              <a:extLst>
                <a:ext uri="{FF2B5EF4-FFF2-40B4-BE49-F238E27FC236}">
                  <a16:creationId xmlns:a16="http://schemas.microsoft.com/office/drawing/2014/main" id="{186BF631-F9A9-405B-9F9E-9A8D68942A64}"/>
                </a:ext>
              </a:extLst>
            </p:cNvPr>
            <p:cNvCxnSpPr>
              <a:cxnSpLocks/>
              <a:stCxn id="35" idx="3"/>
              <a:endCxn id="36" idx="0"/>
            </p:cNvCxnSpPr>
            <p:nvPr/>
          </p:nvCxnSpPr>
          <p:spPr>
            <a:xfrm flipH="1">
              <a:off x="4577007" y="4256164"/>
              <a:ext cx="246817" cy="0"/>
            </a:xfrm>
            <a:prstGeom prst="straightConnector1">
              <a:avLst/>
            </a:prstGeom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2" name="Straight Arrow Connector 52">
              <a:extLst>
                <a:ext uri="{FF2B5EF4-FFF2-40B4-BE49-F238E27FC236}">
                  <a16:creationId xmlns:a16="http://schemas.microsoft.com/office/drawing/2014/main" id="{4E5DC1DD-2A21-4C00-B596-C52B7BE7282E}"/>
                </a:ext>
              </a:extLst>
            </p:cNvPr>
            <p:cNvCxnSpPr>
              <a:cxnSpLocks/>
              <a:stCxn id="36" idx="1"/>
              <a:endCxn id="35" idx="2"/>
            </p:cNvCxnSpPr>
            <p:nvPr/>
          </p:nvCxnSpPr>
          <p:spPr>
            <a:xfrm rot="16200000" flipH="1">
              <a:off x="4700415" y="4383537"/>
              <a:ext cx="12700" cy="748381"/>
            </a:xfrm>
            <a:prstGeom prst="curvedConnector3">
              <a:avLst>
                <a:gd name="adj1" fmla="val 200000"/>
              </a:avLst>
            </a:prstGeom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5" name="Straight Arrow Connector 52">
              <a:extLst>
                <a:ext uri="{FF2B5EF4-FFF2-40B4-BE49-F238E27FC236}">
                  <a16:creationId xmlns:a16="http://schemas.microsoft.com/office/drawing/2014/main" id="{33568ED6-45CF-4059-AC1D-7971F11BB4BA}"/>
                </a:ext>
              </a:extLst>
            </p:cNvPr>
            <p:cNvCxnSpPr>
              <a:cxnSpLocks/>
              <a:stCxn id="35" idx="0"/>
              <a:endCxn id="23" idx="2"/>
            </p:cNvCxnSpPr>
            <p:nvPr/>
          </p:nvCxnSpPr>
          <p:spPr>
            <a:xfrm>
              <a:off x="5987452" y="4256164"/>
              <a:ext cx="270442" cy="35043"/>
            </a:xfrm>
            <a:prstGeom prst="straightConnector1">
              <a:avLst/>
            </a:prstGeom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69ECAA2A-6AC1-46EE-B890-3D43169A3471}"/>
              </a:ext>
            </a:extLst>
          </p:cNvPr>
          <p:cNvGrpSpPr/>
          <p:nvPr/>
        </p:nvGrpSpPr>
        <p:grpSpPr>
          <a:xfrm>
            <a:off x="719302" y="1366015"/>
            <a:ext cx="3914748" cy="1817081"/>
            <a:chOff x="719302" y="1366015"/>
            <a:chExt cx="3914748" cy="1817081"/>
          </a:xfrm>
        </p:grpSpPr>
        <p:cxnSp>
          <p:nvCxnSpPr>
            <p:cNvPr id="91" name="Straight Arrow Connector 52">
              <a:extLst>
                <a:ext uri="{FF2B5EF4-FFF2-40B4-BE49-F238E27FC236}">
                  <a16:creationId xmlns:a16="http://schemas.microsoft.com/office/drawing/2014/main" id="{BF80D7D0-E64F-41E2-AD51-A818DC24E8ED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537849" y="3064583"/>
              <a:ext cx="1254920" cy="118513"/>
            </a:xfrm>
            <a:prstGeom prst="curvedConnector3">
              <a:avLst>
                <a:gd name="adj1" fmla="val 50000"/>
              </a:avLst>
            </a:prstGeom>
            <a:ln w="38100" cap="flat" cmpd="sng" algn="ctr">
              <a:solidFill>
                <a:schemeClr val="tx1"/>
              </a:solidFill>
              <a:prstDash val="sysDot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7" name="Straight Arrow Connector 52">
              <a:extLst>
                <a:ext uri="{FF2B5EF4-FFF2-40B4-BE49-F238E27FC236}">
                  <a16:creationId xmlns:a16="http://schemas.microsoft.com/office/drawing/2014/main" id="{7A61BF91-6B7D-4F36-B978-6F6AA1A7E8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36174" y="2231500"/>
              <a:ext cx="597876" cy="427845"/>
            </a:xfrm>
            <a:prstGeom prst="straightConnector1">
              <a:avLst/>
            </a:prstGeom>
            <a:ln w="38100" cap="flat" cmpd="sng" algn="ctr">
              <a:solidFill>
                <a:schemeClr val="tx1"/>
              </a:solidFill>
              <a:prstDash val="sysDot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3" name="Straight Arrow Connector 52">
              <a:extLst>
                <a:ext uri="{FF2B5EF4-FFF2-40B4-BE49-F238E27FC236}">
                  <a16:creationId xmlns:a16="http://schemas.microsoft.com/office/drawing/2014/main" id="{C62C9A95-4CF4-418F-86DB-216B8A9302EB}"/>
                </a:ext>
              </a:extLst>
            </p:cNvPr>
            <p:cNvCxnSpPr>
              <a:cxnSpLocks/>
              <a:stCxn id="68" idx="3"/>
              <a:endCxn id="65" idx="4"/>
            </p:cNvCxnSpPr>
            <p:nvPr/>
          </p:nvCxnSpPr>
          <p:spPr>
            <a:xfrm rot="10800000" flipV="1">
              <a:off x="719302" y="1366015"/>
              <a:ext cx="915228" cy="1450613"/>
            </a:xfrm>
            <a:prstGeom prst="curvedConnector2">
              <a:avLst/>
            </a:prstGeom>
            <a:ln w="38100" cap="flat" cmpd="sng" algn="ctr">
              <a:solidFill>
                <a:schemeClr val="tx1"/>
              </a:solidFill>
              <a:prstDash val="sysDot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55FEA780-9D96-456A-A9BA-630BE9C67DA9}"/>
              </a:ext>
            </a:extLst>
          </p:cNvPr>
          <p:cNvSpPr txBox="1"/>
          <p:nvPr/>
        </p:nvSpPr>
        <p:spPr>
          <a:xfrm rot="19476698">
            <a:off x="10376979" y="83973"/>
            <a:ext cx="19505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rgbClr val="FF0000"/>
                </a:solidFill>
              </a:rPr>
              <a:t>WIP</a:t>
            </a:r>
          </a:p>
        </p:txBody>
      </p:sp>
    </p:spTree>
    <p:extLst>
      <p:ext uri="{BB962C8B-B14F-4D97-AF65-F5344CB8AC3E}">
        <p14:creationId xmlns:p14="http://schemas.microsoft.com/office/powerpoint/2010/main" val="972669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27" grpId="0" animBg="1"/>
      <p:bldP spid="39" grpId="0" animBg="1"/>
      <p:bldP spid="14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B793A0-AAB2-4C20-A002-72284B902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1512059"/>
            <a:ext cx="10127657" cy="5203467"/>
          </a:xfrm>
        </p:spPr>
        <p:txBody>
          <a:bodyPr>
            <a:normAutofit fontScale="92500" lnSpcReduction="10000"/>
          </a:bodyPr>
          <a:lstStyle/>
          <a:p>
            <a:pPr marL="0" marR="0" algn="just">
              <a:spcBef>
                <a:spcPts val="0"/>
              </a:spcBef>
              <a:spcAft>
                <a:spcPts val="600"/>
              </a:spcAft>
              <a:tabLst>
                <a:tab pos="365760" algn="l"/>
              </a:tabLst>
            </a:pPr>
            <a:endParaRPr lang="en-US" sz="1100" dirty="0">
              <a:effectLst/>
              <a:latin typeface="Garamond" panose="020204040303010108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365760" algn="l"/>
              </a:tabLst>
            </a:pP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 Digital Twin workflow (from engineering model to embedded code)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365760" algn="l"/>
              </a:tabLst>
            </a:pP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 key technologies required to build a multi-physics, equation-based, twin </a:t>
            </a:r>
          </a:p>
          <a:p>
            <a:pPr marL="0" marR="0" lvl="0" indent="0" algn="just">
              <a:spcBef>
                <a:spcPts val="0"/>
              </a:spcBef>
              <a:spcAft>
                <a:spcPts val="600"/>
              </a:spcAft>
              <a:buNone/>
              <a:tabLst>
                <a:tab pos="365760" algn="l"/>
              </a:tabLst>
            </a:pP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   (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Modelica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Julia, Ansys Simulation, etc.)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365760" algn="l"/>
              </a:tabLst>
            </a:pP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 key technologies for integrating equation-based twin with the information twin </a:t>
            </a:r>
          </a:p>
          <a:p>
            <a:pPr marL="0" marR="0" lvl="0" indent="0" algn="just">
              <a:spcBef>
                <a:spcPts val="0"/>
              </a:spcBef>
              <a:spcAft>
                <a:spcPts val="600"/>
              </a:spcAft>
              <a:buNone/>
              <a:tabLst>
                <a:tab pos="365760" algn="l"/>
              </a:tabLst>
            </a:pP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  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(MSFT Twin Builder, DTDL, DDS, etc.)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365760" algn="l"/>
              </a:tabLst>
            </a:pP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 key technologies needed to interface the equation-based twin with automation and control systems (IEC 61131, IEC61499, IEC 61508 etc.)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365760" algn="l"/>
              </a:tabLst>
            </a:pP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 pathway to develop </a:t>
            </a:r>
            <a:r>
              <a:rPr lang="en-US" sz="2000" u="sng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Opensource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modeling languages and reference models that allow us to:</a:t>
            </a:r>
          </a:p>
          <a:p>
            <a:pPr marL="742950" marR="0" lvl="1" indent="-285750" algn="just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>
                <a:tab pos="365760" algn="l"/>
              </a:tabLst>
            </a:pP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Build Multiphysics models for systems of systems</a:t>
            </a:r>
          </a:p>
          <a:p>
            <a:pPr marL="742950" marR="0" lvl="1" indent="-285750" algn="just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>
                <a:tab pos="365760" algn="l"/>
              </a:tabLst>
            </a:pP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Interface automation &amp; control systems with the models</a:t>
            </a:r>
          </a:p>
          <a:p>
            <a:pPr marL="742950" marR="0" lvl="1" indent="-285750" algn="just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>
                <a:tab pos="365760" algn="l"/>
              </a:tabLst>
            </a:pP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Interface the equation and information models</a:t>
            </a:r>
          </a:p>
          <a:p>
            <a:pPr marL="742950" marR="0" lvl="1" indent="-285750" algn="just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>
                <a:tab pos="365760" algn="l"/>
              </a:tabLst>
            </a:pP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Export engineering quality control code from the model</a:t>
            </a:r>
          </a:p>
          <a:p>
            <a:pPr marL="742950" marR="0" lvl="1" indent="-285750" algn="just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>
                <a:tab pos="365760" algn="l"/>
              </a:tabLst>
            </a:pP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Export embeddable code from the model that can be used at the edge</a:t>
            </a:r>
          </a:p>
          <a:p>
            <a:pPr marL="742950" marR="0" lvl="1" indent="-285750" algn="just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>
                <a:tab pos="365760" algn="l"/>
              </a:tabLst>
            </a:pP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Co-simulate models from different vendors </a:t>
            </a:r>
          </a:p>
          <a:p>
            <a:pPr marL="457200" marR="0" lvl="1" indent="0" algn="just">
              <a:spcBef>
                <a:spcPts val="0"/>
              </a:spcBef>
              <a:spcAft>
                <a:spcPts val="600"/>
              </a:spcAft>
              <a:buNone/>
              <a:tabLst>
                <a:tab pos="365760" algn="l"/>
              </a:tabLst>
            </a:pP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 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(e.g. an FEA or CFD model run in-the-loop with an automation model) 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5A454D-1522-410D-807C-48FF8741BD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A358FA9-F386-4A12-B482-464C32CE5754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449390A-D67C-4B7B-93BD-BC2022D04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739" y="0"/>
            <a:ext cx="11259530" cy="869845"/>
          </a:xfrm>
        </p:spPr>
        <p:txBody>
          <a:bodyPr>
            <a:normAutofit fontScale="90000"/>
          </a:bodyPr>
          <a:lstStyle/>
          <a:p>
            <a:r>
              <a:rPr lang="en-US" dirty="0"/>
              <a:t>Expand Platform Stack to 3T Sub-Group: Include Focus on Open Source</a:t>
            </a:r>
          </a:p>
        </p:txBody>
      </p:sp>
    </p:spTree>
    <p:extLst>
      <p:ext uri="{BB962C8B-B14F-4D97-AF65-F5344CB8AC3E}">
        <p14:creationId xmlns:p14="http://schemas.microsoft.com/office/powerpoint/2010/main" val="3097091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08706-B0FE-4430-8595-AF0DD7872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Healthcare and Life Science</a:t>
            </a:r>
          </a:p>
        </p:txBody>
      </p:sp>
    </p:spTree>
    <p:extLst>
      <p:ext uri="{BB962C8B-B14F-4D97-AF65-F5344CB8AC3E}">
        <p14:creationId xmlns:p14="http://schemas.microsoft.com/office/powerpoint/2010/main" val="2957163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63CB2D-B087-441C-A5C8-874D4302032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A358FA9-F386-4A12-B482-464C32CE5754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29662AE-6086-421B-886C-364E53B88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Planned New Working Group Focus Areas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4C9F271-E17A-45E0-BA1C-323534695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670" y="1238210"/>
            <a:ext cx="11895631" cy="5861508"/>
          </a:xfrm>
        </p:spPr>
        <p:txBody>
          <a:bodyPr>
            <a:norm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To Explore Use Cases for Digital Twins in Healthcare and Life Science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en-CA" sz="1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Clinical diagnostic; sensors for electroencephalography (EEG) and electrocardiogram (ECG); 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en-CA" sz="1400" dirty="0">
                <a:latin typeface="Calibri" panose="020F0502020204030204" pitchFamily="34" charset="0"/>
                <a:ea typeface="Times New Roman" panose="02020603050405020304" pitchFamily="18" charset="0"/>
              </a:rPr>
              <a:t>Real time </a:t>
            </a:r>
            <a:r>
              <a:rPr lang="en-CA" sz="1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health system (RTHS) capabilities to provide real-time monitoring and other data sources that can lead to better-informed care pathways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endParaRPr lang="en-CA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To Define and Identify Types of  Applications for Digital Twins in Healthcare and Life Science</a:t>
            </a:r>
            <a:endParaRPr lang="en-CA" sz="1400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indent="-342900"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CA" sz="1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Pharma research and development 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en-CA" sz="1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Care delivery (e.g. clinical communication and collaboration) 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en-CA" sz="1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Patient engagement (e.g. Interactive patient care)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en-CA" sz="1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Facilities and operations (e.g. RTHS supply chain)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en-CA" sz="1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Management and administration (e.g. Health care information exchange)</a:t>
            </a:r>
            <a:endParaRPr lang="en-CA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CA" sz="20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To Explore </a:t>
            </a:r>
            <a:r>
              <a:rPr lang="en-CA" sz="200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&amp; </a:t>
            </a:r>
            <a:r>
              <a:rPr lang="en-CA" sz="20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Identify Implementation Scenarios for Healthcare and Life Science Digital Twins</a:t>
            </a:r>
            <a:endParaRPr lang="en-CA" sz="1400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indent="-342900"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CA" sz="1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Explore combining data from multiple sources to expose the measurable effect of one biological system on another</a:t>
            </a:r>
          </a:p>
          <a:p>
            <a:pPr marL="342900" indent="-342900"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CA" sz="1400" dirty="0">
                <a:latin typeface="Calibri" panose="020F0502020204030204" pitchFamily="34" charset="0"/>
              </a:rPr>
              <a:t>Providing a more detailed and quantitative view of a patient – “Digital Twin of Self”</a:t>
            </a:r>
            <a:endParaRPr lang="en-CA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en-CA" sz="1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Remove gaps in information available to give the physician the greatest opportunity  to understand  overall health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en-CA" sz="1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Provide patients  holisti</a:t>
            </a:r>
            <a:r>
              <a:rPr lang="en-CA" sz="1400" dirty="0">
                <a:latin typeface="Calibri" panose="020F0502020204030204" pitchFamily="34" charset="0"/>
                <a:ea typeface="Times New Roman" panose="02020603050405020304" pitchFamily="18" charset="0"/>
              </a:rPr>
              <a:t>c view for</a:t>
            </a:r>
            <a:r>
              <a:rPr lang="en-CA" sz="1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continued wellness in the most efficient possible manner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en-CA" sz="1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Provide technology-based mechanisms to collect accurate data for the various decision contexts within the Healthcare delivery organization 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US" dirty="0"/>
              <a:t>Co-Chair Meeting:  </a:t>
            </a:r>
            <a:r>
              <a:rPr lang="en-US" dirty="0" err="1"/>
              <a:t>HealthSkouts</a:t>
            </a:r>
            <a:r>
              <a:rPr lang="en-US" dirty="0"/>
              <a:t>: Dr. Koen , Dell Life Sciences</a:t>
            </a:r>
          </a:p>
          <a:p>
            <a:r>
              <a:rPr lang="en-US" dirty="0"/>
              <a:t>Infrastructure:  Established on Causeway</a:t>
            </a:r>
          </a:p>
          <a:p>
            <a:r>
              <a:rPr lang="en-US" dirty="0"/>
              <a:t>Kick-off meeting:  Post - Member meeting introduction</a:t>
            </a:r>
          </a:p>
          <a:p>
            <a:endParaRPr lang="en-US" sz="14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892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AA0021-AFC5-4DD2-82B7-6F4987409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Strong interest from Members</a:t>
            </a:r>
          </a:p>
          <a:p>
            <a:pPr lvl="1"/>
            <a:r>
              <a:rPr lang="en-US" dirty="0"/>
              <a:t>Life Sciences </a:t>
            </a:r>
          </a:p>
          <a:p>
            <a:pPr lvl="1"/>
            <a:r>
              <a:rPr lang="en-US" dirty="0"/>
              <a:t>Wellness Centers</a:t>
            </a:r>
          </a:p>
          <a:p>
            <a:pPr lvl="1"/>
            <a:r>
              <a:rPr lang="en-US" dirty="0"/>
              <a:t>Healthcare  approaches</a:t>
            </a:r>
          </a:p>
          <a:p>
            <a:pPr lvl="1"/>
            <a:r>
              <a:rPr lang="en-US" dirty="0"/>
              <a:t>Organizational focus</a:t>
            </a:r>
          </a:p>
          <a:p>
            <a:pPr lvl="1"/>
            <a:r>
              <a:rPr lang="en-US" dirty="0"/>
              <a:t>Practitioners – MDs</a:t>
            </a:r>
          </a:p>
          <a:p>
            <a:pPr lvl="1"/>
            <a:r>
              <a:rPr lang="en-US" dirty="0"/>
              <a:t>Implementers of Digital twins</a:t>
            </a:r>
          </a:p>
          <a:p>
            <a:r>
              <a:rPr lang="en-US" dirty="0"/>
              <a:t>Co -Chairs Identified</a:t>
            </a:r>
          </a:p>
          <a:p>
            <a:pPr lvl="1"/>
            <a:r>
              <a:rPr lang="en-US" dirty="0"/>
              <a:t>Life Science &amp; Healthcare</a:t>
            </a:r>
          </a:p>
          <a:p>
            <a:r>
              <a:rPr lang="en-US" dirty="0"/>
              <a:t>Proposed Charter in review</a:t>
            </a:r>
          </a:p>
          <a:p>
            <a:r>
              <a:rPr lang="en-US" dirty="0"/>
              <a:t>Initial Objectives identified</a:t>
            </a:r>
          </a:p>
          <a:p>
            <a:pPr lvl="1"/>
            <a:r>
              <a:rPr lang="en-US" dirty="0"/>
              <a:t>Align to Digital Twin Lifecycle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FE050C-BFD9-4F7C-9FF0-73A91EC8E2E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A358FA9-F386-4A12-B482-464C32CE5754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B155B05-7E89-4971-A2E7-E4C8755F5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Healthcare and Life Science Working Group Members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F35900-FF16-494B-B0F6-9BE2562C7554}"/>
              </a:ext>
            </a:extLst>
          </p:cNvPr>
          <p:cNvSpPr txBox="1"/>
          <p:nvPr/>
        </p:nvSpPr>
        <p:spPr>
          <a:xfrm>
            <a:off x="6458552" y="931122"/>
            <a:ext cx="7625613" cy="621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FA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Dell  - Life Sciences </a:t>
            </a:r>
            <a:endParaRPr lang="en-US" sz="1600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 err="1">
                <a:solidFill>
                  <a:srgbClr val="FA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HealthSkout</a:t>
            </a:r>
            <a:r>
              <a:rPr lang="en-US" sz="1600" b="1" dirty="0">
                <a:solidFill>
                  <a:srgbClr val="FA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-Digital Twin of Self</a:t>
            </a:r>
            <a:endParaRPr lang="en-US" sz="1600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Microsoft  - Lifesciences division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Thynkli</a:t>
            </a: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- digital twin coordination / integration Life science -pharma and healthcare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Gafcon</a:t>
            </a: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- digital twin of system of systems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Slingshot - Bio -Modeling w/ real world data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Green Alliance -Life Science technology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Well Care - Healthcare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Dr. </a:t>
            </a:r>
            <a:r>
              <a:rPr lang="en-US" sz="16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Kutter</a:t>
            </a: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- email - FDA , Governance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Dr. </a:t>
            </a:r>
            <a:r>
              <a:rPr lang="en-US" sz="16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Joanthan</a:t>
            </a: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Mcoy</a:t>
            </a: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- Family Care Space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Brian Stark - Banta Medical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iVeia</a:t>
            </a: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- Life Sciences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Jon Geater - </a:t>
            </a:r>
            <a:r>
              <a:rPr lang="en-US" sz="16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Jitsuin</a:t>
            </a: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- Privacy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7C64A0-3411-4105-A5E1-EAE5D03FB66C}"/>
              </a:ext>
            </a:extLst>
          </p:cNvPr>
          <p:cNvCxnSpPr>
            <a:cxnSpLocks/>
          </p:cNvCxnSpPr>
          <p:nvPr/>
        </p:nvCxnSpPr>
        <p:spPr>
          <a:xfrm flipV="1">
            <a:off x="4934465" y="1128584"/>
            <a:ext cx="1359243" cy="3789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28EE9F-2517-4561-9961-CAF5C825FA80}"/>
              </a:ext>
            </a:extLst>
          </p:cNvPr>
          <p:cNvCxnSpPr>
            <a:cxnSpLocks/>
          </p:cNvCxnSpPr>
          <p:nvPr/>
        </p:nvCxnSpPr>
        <p:spPr>
          <a:xfrm>
            <a:off x="4786184" y="4917989"/>
            <a:ext cx="1672368" cy="18405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292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743E31-09E1-4303-9AFB-13D4F61AE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dirty="0"/>
              <a:t>Growth: Liaisons &amp; Regional Teams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D6395D-779B-47CE-BEF9-C54F1F63192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03038" y="6356350"/>
            <a:ext cx="588962" cy="365125"/>
          </a:xfrm>
        </p:spPr>
        <p:txBody>
          <a:bodyPr/>
          <a:lstStyle/>
          <a:p>
            <a:fld id="{EA358FA9-F386-4A12-B482-464C32CE5754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746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855BA7-E9F6-492C-B5FA-3A75E0C29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753" y="1086201"/>
            <a:ext cx="10991530" cy="4988795"/>
          </a:xfrm>
        </p:spPr>
        <p:txBody>
          <a:bodyPr>
            <a:noAutofit/>
          </a:bodyPr>
          <a:lstStyle/>
          <a:p>
            <a:r>
              <a:rPr lang="en-US" sz="2000" dirty="0"/>
              <a:t>IIC  - Signed </a:t>
            </a:r>
          </a:p>
          <a:p>
            <a:r>
              <a:rPr lang="en-US" sz="2000" dirty="0"/>
              <a:t>Building Smart- Signed</a:t>
            </a:r>
          </a:p>
          <a:p>
            <a:r>
              <a:rPr lang="en-US" sz="2000" dirty="0"/>
              <a:t>CDBB – Center for Digitally Built Britain  - in progress</a:t>
            </a:r>
          </a:p>
          <a:p>
            <a:r>
              <a:rPr lang="en-US" sz="2000" dirty="0"/>
              <a:t>CPC  - Construction Progress Congress – in progress</a:t>
            </a:r>
          </a:p>
          <a:p>
            <a:r>
              <a:rPr lang="en-US" sz="2000" dirty="0"/>
              <a:t>SCCANZ – Smart City Council for Australia and New Zealand – In progress</a:t>
            </a:r>
          </a:p>
          <a:p>
            <a:r>
              <a:rPr lang="en-US" sz="2000" dirty="0"/>
              <a:t>Platform 4.0  Industry  - in progress</a:t>
            </a:r>
          </a:p>
          <a:p>
            <a:r>
              <a:rPr lang="en-US" sz="2000" dirty="0"/>
              <a:t>AI Med -  Medical – in progress</a:t>
            </a:r>
          </a:p>
          <a:p>
            <a:r>
              <a:rPr lang="en-US" sz="2000" dirty="0"/>
              <a:t>Singapore Virtual City – in progress (via ASTAR)</a:t>
            </a:r>
          </a:p>
          <a:p>
            <a:r>
              <a:rPr lang="en-US" sz="2000" dirty="0">
                <a:solidFill>
                  <a:srgbClr val="F05124"/>
                </a:solidFill>
              </a:rPr>
              <a:t>CABA – Continental Building Association</a:t>
            </a:r>
          </a:p>
          <a:p>
            <a:r>
              <a:rPr lang="en-US" sz="2000" dirty="0">
                <a:solidFill>
                  <a:srgbClr val="F05124"/>
                </a:solidFill>
              </a:rPr>
              <a:t>GMG  -  Global Mining Group</a:t>
            </a:r>
          </a:p>
          <a:p>
            <a:r>
              <a:rPr lang="en-US" sz="2000" dirty="0" err="1">
                <a:solidFill>
                  <a:srgbClr val="F05124"/>
                </a:solidFill>
              </a:rPr>
              <a:t>Austmine</a:t>
            </a:r>
            <a:r>
              <a:rPr lang="en-US" sz="2000" dirty="0">
                <a:solidFill>
                  <a:srgbClr val="F05124"/>
                </a:solidFill>
              </a:rPr>
              <a:t> – Australia Mining</a:t>
            </a:r>
          </a:p>
          <a:p>
            <a:r>
              <a:rPr lang="en-US" sz="2000" dirty="0">
                <a:solidFill>
                  <a:srgbClr val="F05124"/>
                </a:solidFill>
              </a:rPr>
              <a:t>OSMG – Open Source </a:t>
            </a:r>
            <a:r>
              <a:rPr lang="en-US" sz="2000" dirty="0" err="1">
                <a:solidFill>
                  <a:srgbClr val="F05124"/>
                </a:solidFill>
              </a:rPr>
              <a:t>Modelica</a:t>
            </a:r>
            <a:r>
              <a:rPr lang="en-US" sz="2000" dirty="0">
                <a:solidFill>
                  <a:srgbClr val="F05124"/>
                </a:solidFill>
              </a:rPr>
              <a:t> Group</a:t>
            </a:r>
          </a:p>
          <a:p>
            <a:r>
              <a:rPr lang="en-US" sz="2000" dirty="0">
                <a:solidFill>
                  <a:srgbClr val="F05124"/>
                </a:solidFill>
              </a:rPr>
              <a:t>IDTA – Discussions in progress</a:t>
            </a:r>
          </a:p>
          <a:p>
            <a:r>
              <a:rPr lang="en-US" sz="2000" dirty="0">
                <a:solidFill>
                  <a:srgbClr val="F05124"/>
                </a:solidFill>
              </a:rPr>
              <a:t>OMP –Open Manufacture Platform (Bosch , MS)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5A0DD3-9287-433A-8ADA-B0A0122A7B0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A358FA9-F386-4A12-B482-464C32CE5754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FE702C-67E1-4FB2-943A-EEABC51AC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Liaisons – Collaborations  in Progress</a:t>
            </a:r>
          </a:p>
        </p:txBody>
      </p:sp>
    </p:spTree>
    <p:extLst>
      <p:ext uri="{BB962C8B-B14F-4D97-AF65-F5344CB8AC3E}">
        <p14:creationId xmlns:p14="http://schemas.microsoft.com/office/powerpoint/2010/main" val="3037287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5" y="-119955"/>
            <a:ext cx="10717149" cy="1325563"/>
          </a:xfrm>
        </p:spPr>
        <p:txBody>
          <a:bodyPr>
            <a:normAutofit/>
          </a:bodyPr>
          <a:lstStyle/>
          <a:p>
            <a:r>
              <a:rPr kumimoji="1" lang="en-US" altLang="ja-JP" dirty="0"/>
              <a:t>Strategic Objectives of Digital Twin Consortium Regional Teams</a:t>
            </a:r>
            <a:endParaRPr kumimoji="1" lang="ja-JP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6587" y="1989161"/>
            <a:ext cx="10717149" cy="4988795"/>
          </a:xfrm>
        </p:spPr>
        <p:txBody>
          <a:bodyPr/>
          <a:lstStyle/>
          <a:p>
            <a:r>
              <a:rPr lang="en-US" altLang="ja-JP" dirty="0"/>
              <a:t>The purpose of a </a:t>
            </a:r>
            <a:r>
              <a:rPr lang="en-US" altLang="ja-JP" i="1" dirty="0"/>
              <a:t>Regional Team </a:t>
            </a:r>
            <a:r>
              <a:rPr lang="en-US" altLang="ja-JP" dirty="0"/>
              <a:t>is to facilitate local Digital Twin Consortium activities that can sometimes be hindered by language, culture and time zones, and to take advantage of access to local officials and official documents.</a:t>
            </a:r>
          </a:p>
          <a:p>
            <a:endParaRPr lang="en-US" altLang="ja-JP" dirty="0"/>
          </a:p>
          <a:p>
            <a:r>
              <a:rPr lang="en-US" altLang="ja-JP" dirty="0"/>
              <a:t>Regional teams and their meeting are </a:t>
            </a:r>
            <a:r>
              <a:rPr lang="en-US" altLang="ja-JP" dirty="0">
                <a:solidFill>
                  <a:srgbClr val="FF0000"/>
                </a:solidFill>
              </a:rPr>
              <a:t>open to all Digital Twin Consortium members </a:t>
            </a:r>
            <a:r>
              <a:rPr lang="en-US" altLang="ja-JP" dirty="0"/>
              <a:t>and will be held at the convenience of regional members in terms of language, culture and time zones.</a:t>
            </a:r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E03FC22D-B811-194B-97FA-96217E562CA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72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97E9A98C-E11E-4BFB-9F2F-D20EA2EA4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742" y="1288776"/>
            <a:ext cx="9491078" cy="5504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A37568-93C8-4E54-9200-C504C5CA2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1891" y="2445975"/>
            <a:ext cx="2191565" cy="3035286"/>
          </a:xfrm>
        </p:spPr>
        <p:txBody>
          <a:bodyPr>
            <a:normAutofit fontScale="92500" lnSpcReduction="20000"/>
          </a:bodyPr>
          <a:lstStyle/>
          <a:p>
            <a:r>
              <a:rPr lang="en-US" sz="1600" b="1" dirty="0"/>
              <a:t>Africa</a:t>
            </a:r>
          </a:p>
          <a:p>
            <a:r>
              <a:rPr lang="en-US" sz="1600" b="1" dirty="0"/>
              <a:t>Australia</a:t>
            </a:r>
          </a:p>
          <a:p>
            <a:r>
              <a:rPr lang="en-US" sz="1600" b="1" dirty="0"/>
              <a:t>Canada</a:t>
            </a:r>
          </a:p>
          <a:p>
            <a:r>
              <a:rPr lang="en-US" sz="1600" b="1" dirty="0"/>
              <a:t>Germany</a:t>
            </a:r>
          </a:p>
          <a:p>
            <a:r>
              <a:rPr lang="en-US" sz="1600" b="1" dirty="0"/>
              <a:t>Italy</a:t>
            </a:r>
          </a:p>
          <a:p>
            <a:r>
              <a:rPr lang="en-US" sz="1600" b="1" dirty="0"/>
              <a:t>Japan</a:t>
            </a:r>
          </a:p>
          <a:p>
            <a:r>
              <a:rPr lang="en-US" sz="1600" b="1" dirty="0"/>
              <a:t>Korea</a:t>
            </a:r>
          </a:p>
          <a:p>
            <a:r>
              <a:rPr lang="en-US" sz="1600" b="1" dirty="0"/>
              <a:t>Spain</a:t>
            </a:r>
          </a:p>
          <a:p>
            <a:r>
              <a:rPr lang="en-US" sz="1600" b="1" dirty="0"/>
              <a:t>North America </a:t>
            </a:r>
          </a:p>
          <a:p>
            <a:r>
              <a:rPr lang="en-US" sz="1600" b="1" dirty="0"/>
              <a:t>South America</a:t>
            </a:r>
          </a:p>
          <a:p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A966B3-6DDD-4262-82E7-0E25765BDED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A358FA9-F386-4A12-B482-464C32CE5754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8107F10-7B9F-462F-B219-7A52E3EB3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Regional Team Expansion In </a:t>
            </a:r>
            <a:r>
              <a:rPr lang="en-US" dirty="0" err="1"/>
              <a:t>Progess</a:t>
            </a:r>
            <a:endParaRPr lang="en-US" dirty="0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338F7217-D1A4-47B1-9815-1DCC5499F84F}"/>
              </a:ext>
            </a:extLst>
          </p:cNvPr>
          <p:cNvSpPr/>
          <p:nvPr/>
        </p:nvSpPr>
        <p:spPr>
          <a:xfrm>
            <a:off x="8446185" y="5115577"/>
            <a:ext cx="378570" cy="323862"/>
          </a:xfrm>
          <a:prstGeom prst="star5">
            <a:avLst/>
          </a:prstGeom>
          <a:solidFill>
            <a:srgbClr val="F0512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F01BAE01-F4C2-4F44-9A11-EAE4903C74BE}"/>
              </a:ext>
            </a:extLst>
          </p:cNvPr>
          <p:cNvSpPr/>
          <p:nvPr/>
        </p:nvSpPr>
        <p:spPr>
          <a:xfrm>
            <a:off x="5486896" y="3427312"/>
            <a:ext cx="378570" cy="323862"/>
          </a:xfrm>
          <a:prstGeom prst="star5">
            <a:avLst/>
          </a:prstGeom>
          <a:solidFill>
            <a:srgbClr val="F0512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CFD20DF7-01DC-4F68-B2CC-B2BE54CA1F4B}"/>
              </a:ext>
            </a:extLst>
          </p:cNvPr>
          <p:cNvSpPr/>
          <p:nvPr/>
        </p:nvSpPr>
        <p:spPr>
          <a:xfrm>
            <a:off x="3342709" y="5324167"/>
            <a:ext cx="378570" cy="323862"/>
          </a:xfrm>
          <a:prstGeom prst="star5">
            <a:avLst/>
          </a:prstGeom>
          <a:solidFill>
            <a:srgbClr val="F0512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D1494007-7244-42BC-9C2C-1AB13941DF21}"/>
              </a:ext>
            </a:extLst>
          </p:cNvPr>
          <p:cNvSpPr/>
          <p:nvPr/>
        </p:nvSpPr>
        <p:spPr>
          <a:xfrm>
            <a:off x="3233281" y="3070059"/>
            <a:ext cx="378570" cy="323862"/>
          </a:xfrm>
          <a:prstGeom prst="star5">
            <a:avLst/>
          </a:prstGeom>
          <a:solidFill>
            <a:srgbClr val="F0512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297D90B6-D97F-40AC-9CCE-92BC070F542A}"/>
              </a:ext>
            </a:extLst>
          </p:cNvPr>
          <p:cNvSpPr/>
          <p:nvPr/>
        </p:nvSpPr>
        <p:spPr>
          <a:xfrm>
            <a:off x="5498281" y="2891771"/>
            <a:ext cx="378570" cy="323862"/>
          </a:xfrm>
          <a:prstGeom prst="star5">
            <a:avLst/>
          </a:prstGeom>
          <a:solidFill>
            <a:srgbClr val="F0512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5BEC8862-2DD6-405D-A5C8-18E74E0C8562}"/>
              </a:ext>
            </a:extLst>
          </p:cNvPr>
          <p:cNvSpPr/>
          <p:nvPr/>
        </p:nvSpPr>
        <p:spPr>
          <a:xfrm>
            <a:off x="4879018" y="4259476"/>
            <a:ext cx="378570" cy="323862"/>
          </a:xfrm>
          <a:prstGeom prst="star5">
            <a:avLst>
              <a:gd name="adj" fmla="val 16410"/>
              <a:gd name="hf" fmla="val 105146"/>
              <a:gd name="vf" fmla="val 110557"/>
            </a:avLst>
          </a:prstGeom>
          <a:solidFill>
            <a:srgbClr val="F0512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30652E6-51A1-4040-9E7B-E1764340D660}"/>
              </a:ext>
            </a:extLst>
          </p:cNvPr>
          <p:cNvSpPr/>
          <p:nvPr/>
        </p:nvSpPr>
        <p:spPr>
          <a:xfrm>
            <a:off x="3130452" y="4800738"/>
            <a:ext cx="1312792" cy="1514421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E325F34-70C6-4097-A9C3-246A8E4BBA2E}"/>
              </a:ext>
            </a:extLst>
          </p:cNvPr>
          <p:cNvSpPr/>
          <p:nvPr/>
        </p:nvSpPr>
        <p:spPr>
          <a:xfrm>
            <a:off x="2414252" y="2391314"/>
            <a:ext cx="1435149" cy="1224940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AE5A210-BC00-4923-8032-238544C90B72}"/>
              </a:ext>
            </a:extLst>
          </p:cNvPr>
          <p:cNvSpPr/>
          <p:nvPr/>
        </p:nvSpPr>
        <p:spPr>
          <a:xfrm>
            <a:off x="4780707" y="2747467"/>
            <a:ext cx="1435149" cy="1224940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0699495-1447-4085-9A23-DC93D01E7313}"/>
              </a:ext>
            </a:extLst>
          </p:cNvPr>
          <p:cNvSpPr/>
          <p:nvPr/>
        </p:nvSpPr>
        <p:spPr>
          <a:xfrm>
            <a:off x="7917895" y="4826969"/>
            <a:ext cx="1435149" cy="1224940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084CE47-1F03-40CF-A332-E06B041D8044}"/>
              </a:ext>
            </a:extLst>
          </p:cNvPr>
          <p:cNvSpPr/>
          <p:nvPr/>
        </p:nvSpPr>
        <p:spPr>
          <a:xfrm>
            <a:off x="4710946" y="3972407"/>
            <a:ext cx="1097938" cy="1224940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2D55C6-1971-4DCA-B762-BBBD26B0289F}"/>
              </a:ext>
            </a:extLst>
          </p:cNvPr>
          <p:cNvSpPr txBox="1"/>
          <p:nvPr/>
        </p:nvSpPr>
        <p:spPr>
          <a:xfrm>
            <a:off x="4699256" y="5579874"/>
            <a:ext cx="19965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Nigeria, Ghana: </a:t>
            </a:r>
          </a:p>
          <a:p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Transportation &amp; Energy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0C156C-F897-4666-AC52-B1733EE4CE8E}"/>
              </a:ext>
            </a:extLst>
          </p:cNvPr>
          <p:cNvSpPr txBox="1"/>
          <p:nvPr/>
        </p:nvSpPr>
        <p:spPr>
          <a:xfrm>
            <a:off x="1052549" y="4906987"/>
            <a:ext cx="167757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Chile: </a:t>
            </a:r>
          </a:p>
          <a:p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Sustainable Foods</a:t>
            </a:r>
          </a:p>
          <a:p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Water Management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975E6F9-5B9A-41B7-9957-8F1C210B3229}"/>
              </a:ext>
            </a:extLst>
          </p:cNvPr>
          <p:cNvCxnSpPr/>
          <p:nvPr/>
        </p:nvCxnSpPr>
        <p:spPr>
          <a:xfrm flipV="1">
            <a:off x="4974172" y="4667893"/>
            <a:ext cx="94131" cy="10734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BE72638-92BC-424D-BF18-82C02FBB1C14}"/>
              </a:ext>
            </a:extLst>
          </p:cNvPr>
          <p:cNvCxnSpPr>
            <a:cxnSpLocks/>
          </p:cNvCxnSpPr>
          <p:nvPr/>
        </p:nvCxnSpPr>
        <p:spPr>
          <a:xfrm>
            <a:off x="1632146" y="5083468"/>
            <a:ext cx="1626268" cy="321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32C89BC-FA44-4E0B-8FF5-0700839E2960}"/>
              </a:ext>
            </a:extLst>
          </p:cNvPr>
          <p:cNvSpPr txBox="1"/>
          <p:nvPr/>
        </p:nvSpPr>
        <p:spPr>
          <a:xfrm>
            <a:off x="3889708" y="3493689"/>
            <a:ext cx="1266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Italy: </a:t>
            </a:r>
          </a:p>
          <a:p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Manufacturing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D10820C-8494-4CE0-82B4-0E9D04951E93}"/>
              </a:ext>
            </a:extLst>
          </p:cNvPr>
          <p:cNvCxnSpPr>
            <a:cxnSpLocks/>
          </p:cNvCxnSpPr>
          <p:nvPr/>
        </p:nvCxnSpPr>
        <p:spPr>
          <a:xfrm flipV="1">
            <a:off x="4443244" y="3544647"/>
            <a:ext cx="1219285" cy="158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Star: 5 Points 38">
            <a:extLst>
              <a:ext uri="{FF2B5EF4-FFF2-40B4-BE49-F238E27FC236}">
                <a16:creationId xmlns:a16="http://schemas.microsoft.com/office/drawing/2014/main" id="{679AADAA-31AC-4597-B54B-42B0173E1928}"/>
              </a:ext>
            </a:extLst>
          </p:cNvPr>
          <p:cNvSpPr/>
          <p:nvPr/>
        </p:nvSpPr>
        <p:spPr>
          <a:xfrm>
            <a:off x="2730124" y="2497114"/>
            <a:ext cx="378570" cy="323862"/>
          </a:xfrm>
          <a:prstGeom prst="star5">
            <a:avLst/>
          </a:prstGeom>
          <a:solidFill>
            <a:srgbClr val="F0512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Star: 5 Points 49">
            <a:extLst>
              <a:ext uri="{FF2B5EF4-FFF2-40B4-BE49-F238E27FC236}">
                <a16:creationId xmlns:a16="http://schemas.microsoft.com/office/drawing/2014/main" id="{1FBF66A6-9136-4BEC-9462-985437E05DD4}"/>
              </a:ext>
            </a:extLst>
          </p:cNvPr>
          <p:cNvSpPr/>
          <p:nvPr/>
        </p:nvSpPr>
        <p:spPr>
          <a:xfrm>
            <a:off x="8476822" y="3589243"/>
            <a:ext cx="378570" cy="323862"/>
          </a:xfrm>
          <a:prstGeom prst="star5">
            <a:avLst/>
          </a:prstGeom>
          <a:solidFill>
            <a:srgbClr val="F0512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8C16A2E-B8E2-4C08-B7EA-D40B7AD8E391}"/>
              </a:ext>
            </a:extLst>
          </p:cNvPr>
          <p:cNvSpPr/>
          <p:nvPr/>
        </p:nvSpPr>
        <p:spPr>
          <a:xfrm>
            <a:off x="7706549" y="3304615"/>
            <a:ext cx="1435149" cy="1224940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Star: 5 Points 53">
            <a:extLst>
              <a:ext uri="{FF2B5EF4-FFF2-40B4-BE49-F238E27FC236}">
                <a16:creationId xmlns:a16="http://schemas.microsoft.com/office/drawing/2014/main" id="{53EB092E-4A79-409F-B166-E8FD39884CBA}"/>
              </a:ext>
            </a:extLst>
          </p:cNvPr>
          <p:cNvSpPr/>
          <p:nvPr/>
        </p:nvSpPr>
        <p:spPr>
          <a:xfrm>
            <a:off x="8103761" y="3724957"/>
            <a:ext cx="378570" cy="323862"/>
          </a:xfrm>
          <a:prstGeom prst="star5">
            <a:avLst/>
          </a:prstGeom>
          <a:solidFill>
            <a:srgbClr val="F0512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279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34EA2"/>
      </a:accent1>
      <a:accent2>
        <a:srgbClr val="F7941D"/>
      </a:accent2>
      <a:accent3>
        <a:srgbClr val="7554A3"/>
      </a:accent3>
      <a:accent4>
        <a:srgbClr val="F8CE1B"/>
      </a:accent4>
      <a:accent5>
        <a:srgbClr val="1D7B65"/>
      </a:accent5>
      <a:accent6>
        <a:srgbClr val="BB362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0D0EA53274F749A9707DED30BE6961" ma:contentTypeVersion="2" ma:contentTypeDescription="Create a new document." ma:contentTypeScope="" ma:versionID="bc28f70201a7953e00c3ded81db1ac08">
  <xsd:schema xmlns:xsd="http://www.w3.org/2001/XMLSchema" xmlns:xs="http://www.w3.org/2001/XMLSchema" xmlns:p="http://schemas.microsoft.com/office/2006/metadata/properties" xmlns:ns2="19482f59-fe31-4720-9061-6cbd95dcc49e" targetNamespace="http://schemas.microsoft.com/office/2006/metadata/properties" ma:root="true" ma:fieldsID="891cd30150569374a0e534fcebe22f59" ns2:_="">
    <xsd:import namespace="19482f59-fe31-4720-9061-6cbd95dcc49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2f59-fe31-4720-9061-6cbd95dcc4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D558AE-87C5-4683-8D2C-D0F0F12F25D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D3B0FFB-5536-4ECF-8B4D-60F2108A42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9482f59-fe31-4720-9061-6cbd95dcc4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9436AB8-712B-411F-B374-1C802C52CF6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6753</TotalTime>
  <Words>1249</Words>
  <Application>Microsoft Office PowerPoint</Application>
  <PresentationFormat>Widescreen</PresentationFormat>
  <Paragraphs>302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Garamond</vt:lpstr>
      <vt:lpstr>Symbol</vt:lpstr>
      <vt:lpstr>Office Theme</vt:lpstr>
      <vt:lpstr> &gt; 3T Working Group Updates        3T Terminology, Taxonomy, Technology      - Definition Release Plan      - Whitepaper -  Phase II Release      - Security and Trustworthiness Subgroup Update            - Platform Stack   Open Source   &gt; New Working Group      Healthcare and Life Science  &gt; Liaison and Regional Branch Update</vt:lpstr>
      <vt:lpstr>Technology, Terminology &amp; Taxonomy Working Group</vt:lpstr>
      <vt:lpstr>Technical Reports: Phased Release Proposal</vt:lpstr>
      <vt:lpstr>Focus – Security and Trustworthiness Sub-Group</vt:lpstr>
      <vt:lpstr>Position Whitepaper</vt:lpstr>
      <vt:lpstr>New Member: TUV SUD  Lead effort on Safety , Reliability </vt:lpstr>
      <vt:lpstr>Expanded Stack</vt:lpstr>
      <vt:lpstr>PowerPoint Presentation</vt:lpstr>
      <vt:lpstr>Expand Platform Stack to 3T Sub-Group: Include Focus on Open Source</vt:lpstr>
      <vt:lpstr>Healthcare and Life Science</vt:lpstr>
      <vt:lpstr>Planned New Working Group Focus Areas</vt:lpstr>
      <vt:lpstr>Initial Healthcare and Life Science Working Group Members</vt:lpstr>
      <vt:lpstr>Growth: Liaisons &amp; Regional Teams</vt:lpstr>
      <vt:lpstr>Liaisons – Collaborations  in Progress</vt:lpstr>
      <vt:lpstr>Strategic Objectives of Digital Twin Consortium Regional Teams</vt:lpstr>
      <vt:lpstr>Regional Team Expansion In Progess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Twin Definition</dc:title>
  <dc:creator>Daniel</dc:creator>
  <cp:lastModifiedBy>Dan Isaacs</cp:lastModifiedBy>
  <cp:revision>140</cp:revision>
  <dcterms:created xsi:type="dcterms:W3CDTF">2020-10-02T15:09:08Z</dcterms:created>
  <dcterms:modified xsi:type="dcterms:W3CDTF">2020-11-16T19:16:52Z</dcterms:modified>
</cp:coreProperties>
</file>
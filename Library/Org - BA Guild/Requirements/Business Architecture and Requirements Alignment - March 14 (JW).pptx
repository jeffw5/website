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9" r:id="rId2"/>
    <p:sldId id="258" r:id="rId3"/>
    <p:sldId id="260" r:id="rId4"/>
    <p:sldId id="261" r:id="rId5"/>
    <p:sldId id="266" r:id="rId6"/>
    <p:sldId id="267" r:id="rId7"/>
    <p:sldId id="265" r:id="rId8"/>
    <p:sldId id="264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778" autoAdjust="0"/>
  </p:normalViewPr>
  <p:slideViewPr>
    <p:cSldViewPr>
      <p:cViewPr>
        <p:scale>
          <a:sx n="77" d="100"/>
          <a:sy n="77" d="100"/>
        </p:scale>
        <p:origin x="-392" y="-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3/26/14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3/26/14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F5204-EB12-4271-A49D-308523C9B9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D93F-2F16-497E-AAD8-99CA589E2FBC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201"/>
            <a:ext cx="1851787" cy="761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653D-A0A2-4408-9084-8C41698F747C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9525-FDCA-44F4-8D1B-619BFA3B5A47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201"/>
            <a:ext cx="1851787" cy="761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5490-BD44-4C45-ABDD-4E5FEA1051C0}" type="datetime1">
              <a:rPr lang="en-US" smtClean="0"/>
              <a:t>3/26/14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BB21-8781-4FBA-81AE-9FD0D0556B9A}" type="datetime1">
              <a:rPr lang="en-US" smtClean="0"/>
              <a:t>3/26/14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6781800" cy="85344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EE9-42A5-4FCC-8F01-4B1E585CBAA1}" type="datetime1">
              <a:rPr lang="en-US" smtClean="0"/>
              <a:t>3/26/14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52B99-3668-41D2-9A3A-E4168CA722FE}" type="datetime1">
              <a:rPr lang="en-US" smtClean="0"/>
              <a:t>3/26/14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76201"/>
            <a:ext cx="1851787" cy="761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C38B1-42A9-415F-8632-51A0142175A2}" type="datetime1">
              <a:rPr lang="en-US" smtClean="0"/>
              <a:t>3/26/14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76201"/>
            <a:ext cx="1851787" cy="761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46EDC-5C57-46E9-A2E2-B5A382AC3237}" type="datetime1">
              <a:rPr lang="en-US" smtClean="0"/>
              <a:t>3/26/14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201"/>
            <a:ext cx="1851787" cy="761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304800"/>
            <a:ext cx="6797040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BC74-678B-46D4-8D58-EE074163C0E9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91B5-1AB4-4FC0-AF03-0E1B92ACC0D8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AF18350-F0F1-4241-9E53-0805AD3B5393}" type="datetime1">
              <a:rPr lang="en-US" smtClean="0"/>
              <a:t>3/26/14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26999"/>
            <a:ext cx="1851787" cy="761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www.businessarchitectureguild.org/Webinar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Architecture and requirements alignment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Progress Update, White Paper, and BIZBOK Plans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62400" y="3429000"/>
            <a:ext cx="4572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Presented by:</a:t>
            </a:r>
          </a:p>
          <a:p>
            <a:endParaRPr lang="en-US" dirty="0" smtClean="0"/>
          </a:p>
          <a:p>
            <a:r>
              <a:rPr lang="en-US" sz="2000" b="1" dirty="0" smtClean="0"/>
              <a:t>Alex Randell</a:t>
            </a:r>
          </a:p>
          <a:p>
            <a:r>
              <a:rPr lang="en-US" dirty="0" smtClean="0"/>
              <a:t>Business Architect, Principal Financial Group</a:t>
            </a:r>
          </a:p>
          <a:p>
            <a:r>
              <a:rPr lang="en-US" dirty="0" smtClean="0"/>
              <a:t>Collaboration Team Lead, Business   Architecture &amp; Requirements Alignment</a:t>
            </a:r>
          </a:p>
          <a:p>
            <a:endParaRPr lang="en-US" dirty="0"/>
          </a:p>
          <a:p>
            <a:r>
              <a:rPr lang="en-US" sz="2000" b="1" dirty="0" smtClean="0"/>
              <a:t>Eric Spellman</a:t>
            </a:r>
          </a:p>
          <a:p>
            <a:r>
              <a:rPr lang="en-US" dirty="0" smtClean="0"/>
              <a:t>Practice Director, Magic Hat Consultant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Charter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315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Purpose</a:t>
            </a:r>
            <a:r>
              <a:rPr lang="en-US" dirty="0"/>
              <a:t>: </a:t>
            </a:r>
            <a:r>
              <a:rPr lang="en-US" dirty="0" smtClean="0"/>
              <a:t>“Highlight </a:t>
            </a:r>
            <a:r>
              <a:rPr lang="en-US" dirty="0"/>
              <a:t>how to use business architecture to improve, frame and organize business </a:t>
            </a:r>
            <a:r>
              <a:rPr lang="en-US" dirty="0" smtClean="0"/>
              <a:t>requirements”</a:t>
            </a:r>
          </a:p>
          <a:p>
            <a:endParaRPr lang="en-US" dirty="0"/>
          </a:p>
          <a:p>
            <a:r>
              <a:rPr lang="en-US" b="1" dirty="0" smtClean="0"/>
              <a:t>Goals</a:t>
            </a:r>
            <a:r>
              <a:rPr lang="en-US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Formulate structure for aligning requirements to business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Document position via white paper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Update BIZBOK section 6.3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r>
              <a:rPr lang="en-US" dirty="0" smtClean="0"/>
              <a:t>Timeline: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White Paper – March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BIZBOK Updates – July &amp; December 2014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68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Progress To Date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5052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Meeting every two weeks as a larger group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White paper group working daily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Multiple options for what to align, at multiple levels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Primary alignment is capabilities to requirements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Not building specific connections to levels of requirements at this point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1600199"/>
            <a:ext cx="34681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Webinar</a:t>
            </a:r>
          </a:p>
          <a:p>
            <a:r>
              <a:rPr lang="en-US" dirty="0" smtClean="0"/>
              <a:t>March 12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Overview of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Highlighted importance of using business architecture as a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Available to members at:</a:t>
            </a:r>
          </a:p>
          <a:p>
            <a:r>
              <a:rPr lang="en-US" sz="1400" u="sng" dirty="0">
                <a:hlinkClick r:id="rId2"/>
              </a:rPr>
              <a:t>http://www.businessarchitectureguild.org/Webinars</a:t>
            </a:r>
            <a:r>
              <a:rPr lang="en-US" sz="1400" dirty="0"/>
              <a:t> 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0" y="1784865"/>
            <a:ext cx="0" cy="29395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7709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Paper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9962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US" b="1" dirty="0" smtClean="0"/>
              <a:t>Cross Industry Challenges</a:t>
            </a:r>
          </a:p>
          <a:p>
            <a:pPr marL="7429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smtClean="0"/>
              <a:t>Product development</a:t>
            </a:r>
            <a:r>
              <a:rPr lang="en-US" dirty="0" smtClean="0"/>
              <a:t>: 4 of 5 new products will fail</a:t>
            </a:r>
          </a:p>
          <a:p>
            <a:pPr marL="7429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smtClean="0"/>
              <a:t>Business Analysis and Requirements Management</a:t>
            </a:r>
          </a:p>
          <a:p>
            <a:pPr marL="1200150" lvl="4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70% of failed projects identify business requirements as primary root cause</a:t>
            </a:r>
          </a:p>
          <a:p>
            <a:pPr marL="1200150" lvl="4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$</a:t>
            </a:r>
            <a:r>
              <a:rPr lang="en-US" dirty="0" smtClean="0"/>
              <a:t>45 billion associated with rework</a:t>
            </a:r>
          </a:p>
        </p:txBody>
      </p:sp>
    </p:spTree>
    <p:extLst>
      <p:ext uri="{BB962C8B-B14F-4D97-AF65-F5344CB8AC3E}">
        <p14:creationId xmlns:p14="http://schemas.microsoft.com/office/powerpoint/2010/main" val="3840398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Paper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996294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US" b="1" dirty="0" smtClean="0"/>
              <a:t>Why?</a:t>
            </a:r>
          </a:p>
          <a:p>
            <a:pPr marL="7429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Inability </a:t>
            </a:r>
            <a:r>
              <a:rPr lang="en-US" dirty="0"/>
              <a:t>of organizations to link the relevancy of their products to what their </a:t>
            </a:r>
            <a:r>
              <a:rPr lang="en-US" dirty="0" smtClean="0"/>
              <a:t>customers </a:t>
            </a:r>
            <a:r>
              <a:rPr lang="en-US" dirty="0"/>
              <a:t>are trying to get done in their </a:t>
            </a:r>
            <a:r>
              <a:rPr lang="en-US" dirty="0" smtClean="0"/>
              <a:t>lives</a:t>
            </a:r>
          </a:p>
          <a:p>
            <a:pPr marL="7429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Business </a:t>
            </a:r>
            <a:r>
              <a:rPr lang="en-US" dirty="0"/>
              <a:t>requirements tend to lose focus on the </a:t>
            </a:r>
            <a:r>
              <a:rPr lang="en-US" dirty="0" smtClean="0"/>
              <a:t>customer</a:t>
            </a:r>
          </a:p>
          <a:p>
            <a:pPr marL="7429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Requirements </a:t>
            </a:r>
            <a:r>
              <a:rPr lang="en-US" dirty="0"/>
              <a:t>lack a holistic frame of reference that enables requirements analysts to drive and trace requirements from customer need, through strategy, and down to the solutions being </a:t>
            </a:r>
            <a:r>
              <a:rPr lang="en-US" dirty="0" smtClean="0"/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1677269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in thinking &amp; planning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6</a:t>
            </a:fld>
            <a:endParaRPr lang="en-US"/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auto">
          <a:xfrm>
            <a:off x="2743200" y="1066800"/>
            <a:ext cx="1133621" cy="36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29" tIns="45714" rIns="91429" bIns="45714">
            <a:spAutoFit/>
          </a:bodyPr>
          <a:lstStyle/>
          <a:p>
            <a:r>
              <a:rPr lang="en-US" sz="1800" b="1" dirty="0" smtClean="0">
                <a:solidFill>
                  <a:srgbClr val="003300"/>
                </a:solidFill>
                <a:latin typeface="Arial"/>
                <a:cs typeface="Arial"/>
              </a:rPr>
              <a:t>Reactive</a:t>
            </a:r>
            <a:endParaRPr lang="en-US" sz="1800" b="1" dirty="0">
              <a:solidFill>
                <a:srgbClr val="003300"/>
              </a:solidFill>
              <a:latin typeface="Arial"/>
              <a:cs typeface="Arial"/>
            </a:endParaRPr>
          </a:p>
        </p:txBody>
      </p:sp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5635999" y="1066799"/>
            <a:ext cx="2864865" cy="369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29" tIns="45714" rIns="91429" bIns="45714">
            <a:spAutoFit/>
          </a:bodyPr>
          <a:lstStyle/>
          <a:p>
            <a:r>
              <a:rPr lang="en-US" sz="1800" b="1" dirty="0" smtClean="0">
                <a:solidFill>
                  <a:srgbClr val="003300"/>
                </a:solidFill>
                <a:latin typeface="Arial"/>
                <a:cs typeface="Arial"/>
              </a:rPr>
              <a:t>Proactive and Predictive</a:t>
            </a:r>
            <a:endParaRPr lang="en-US" sz="1800" b="1" dirty="0">
              <a:solidFill>
                <a:srgbClr val="003300"/>
              </a:solidFill>
              <a:latin typeface="Arial"/>
              <a:cs typeface="Arial"/>
            </a:endParaRP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gray">
          <a:xfrm>
            <a:off x="1878013" y="1547811"/>
            <a:ext cx="2952750" cy="8223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91429" tIns="45714" rIns="91429" bIns="45714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Requirements as a means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Arial"/>
                <a:cs typeface="Arial"/>
              </a:rPr>
              <a:t>towards an end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angle 37"/>
          <p:cNvSpPr>
            <a:spLocks noChangeArrowheads="1"/>
          </p:cNvSpPr>
          <p:nvPr/>
        </p:nvSpPr>
        <p:spPr bwMode="gray">
          <a:xfrm>
            <a:off x="5262562" y="1543050"/>
            <a:ext cx="3384550" cy="827087"/>
          </a:xfrm>
          <a:prstGeom prst="rect">
            <a:avLst/>
          </a:prstGeom>
          <a:solidFill>
            <a:srgbClr val="003399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/>
          <a:lstStyle/>
          <a:p>
            <a:pPr algn="ctr"/>
            <a:endParaRPr lang="en-US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Requirements are a core asset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/>
                <a:cs typeface="Arial"/>
              </a:rPr>
              <a:t>(treated as IP)</a:t>
            </a:r>
            <a:endParaRPr lang="en-US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307844" y="1762792"/>
            <a:ext cx="1520957" cy="738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Font typeface="Times" pitchFamily="18" charset="0"/>
              <a:buNone/>
            </a:pPr>
            <a:r>
              <a:rPr lang="en-US" sz="1400" b="1" dirty="0" smtClean="0">
                <a:solidFill>
                  <a:srgbClr val="003300"/>
                </a:solidFill>
                <a:latin typeface="Arial"/>
                <a:cs typeface="Arial"/>
              </a:rPr>
              <a:t>Shift in Strategic Thinking</a:t>
            </a:r>
          </a:p>
        </p:txBody>
      </p:sp>
      <p:sp>
        <p:nvSpPr>
          <p:cNvPr id="11" name="Rectangle 48"/>
          <p:cNvSpPr>
            <a:spLocks noChangeArrowheads="1"/>
          </p:cNvSpPr>
          <p:nvPr/>
        </p:nvSpPr>
        <p:spPr bwMode="auto">
          <a:xfrm>
            <a:off x="228600" y="2955925"/>
            <a:ext cx="1681632" cy="954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9" tIns="45714" rIns="91429" bIns="45714">
            <a:spAutoFit/>
          </a:bodyPr>
          <a:lstStyle/>
          <a:p>
            <a:pPr algn="ctr">
              <a:spcBef>
                <a:spcPct val="50000"/>
              </a:spcBef>
              <a:buClr>
                <a:schemeClr val="tx2"/>
              </a:buClr>
              <a:buFont typeface="Times" pitchFamily="18" charset="0"/>
              <a:buNone/>
            </a:pPr>
            <a:r>
              <a:rPr lang="en-US" sz="1400" b="1" dirty="0" smtClean="0">
                <a:solidFill>
                  <a:srgbClr val="003300"/>
                </a:solidFill>
                <a:latin typeface="Arial"/>
                <a:cs typeface="Arial"/>
              </a:rPr>
              <a:t>Shift in Organization Planning &amp; Execution</a:t>
            </a:r>
            <a:endParaRPr lang="en-US" sz="1400" b="1" dirty="0">
              <a:solidFill>
                <a:srgbClr val="003300"/>
              </a:solidFill>
              <a:latin typeface="Arial"/>
              <a:cs typeface="Arial"/>
            </a:endParaRPr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gray">
          <a:xfrm>
            <a:off x="1878013" y="2586036"/>
            <a:ext cx="2952750" cy="18716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91429" tIns="45714" rIns="91429" bIns="45714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/>
                <a:cs typeface="Arial"/>
              </a:rPr>
              <a:t>4 out of 5 Products Fail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/>
                <a:cs typeface="Arial"/>
              </a:rPr>
              <a:t>70% Software Projects Fail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/>
                <a:cs typeface="Arial"/>
              </a:rPr>
              <a:t>Execution not aligned with Strategy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/>
                <a:cs typeface="Arial"/>
              </a:rPr>
              <a:t>Requirements are fragmented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  <a:latin typeface="Arial"/>
                <a:cs typeface="Arial"/>
              </a:rPr>
              <a:t>Ineffective use of Resources</a:t>
            </a:r>
          </a:p>
        </p:txBody>
      </p:sp>
      <p:sp>
        <p:nvSpPr>
          <p:cNvPr id="13" name="Rectangle 51"/>
          <p:cNvSpPr>
            <a:spLocks noChangeArrowheads="1"/>
          </p:cNvSpPr>
          <p:nvPr/>
        </p:nvSpPr>
        <p:spPr bwMode="gray">
          <a:xfrm>
            <a:off x="5262562" y="2586036"/>
            <a:ext cx="3384550" cy="1871663"/>
          </a:xfrm>
          <a:prstGeom prst="rect">
            <a:avLst/>
          </a:prstGeom>
          <a:solidFill>
            <a:srgbClr val="003399"/>
          </a:solidFill>
          <a:ln>
            <a:noFill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80% + Products are Successful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Organization leads the marketplace</a:t>
            </a:r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ZERO Projects fail due to requirements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Organization is Agile &amp; Responsive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Requirements are supported by a 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foundation of Business Architecture</a:t>
            </a:r>
            <a:endParaRPr lang="en-US" sz="1400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4" name="Picture 61" descr="forwardbutt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133600"/>
            <a:ext cx="750887" cy="77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946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PAper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9962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 smtClean="0"/>
              <a:t>How Business Architecture can mitigate these risks: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smtClean="0"/>
              <a:t>Perspective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Align customer value with </a:t>
            </a:r>
            <a:r>
              <a:rPr lang="en-US" sz="1600" dirty="0"/>
              <a:t>strategies, value streams, business capabilities, and planning roadmaps</a:t>
            </a:r>
            <a:endParaRPr lang="en-US" sz="1600" dirty="0" smtClean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smtClean="0"/>
              <a:t>Requirements Analysis Framework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smtClean="0"/>
              <a:t>Big Picture:</a:t>
            </a:r>
            <a:r>
              <a:rPr lang="en-US" sz="1600" dirty="0" smtClean="0"/>
              <a:t> provide a visual </a:t>
            </a:r>
            <a:r>
              <a:rPr lang="en-US" sz="1600" dirty="0"/>
              <a:t>business context </a:t>
            </a:r>
            <a:r>
              <a:rPr lang="en-US" sz="1600" dirty="0" smtClean="0"/>
              <a:t>and </a:t>
            </a:r>
            <a:r>
              <a:rPr lang="en-US" sz="1600" dirty="0"/>
              <a:t>s</a:t>
            </a:r>
            <a:r>
              <a:rPr lang="en-US" sz="1600" dirty="0" smtClean="0"/>
              <a:t>tructural components needed to perform thorough analysis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smtClean="0"/>
              <a:t>Traceability:</a:t>
            </a:r>
            <a:r>
              <a:rPr lang="en-US" sz="1600" dirty="0" smtClean="0"/>
              <a:t> ability to answer </a:t>
            </a:r>
            <a:r>
              <a:rPr lang="en-US" sz="1600" dirty="0"/>
              <a:t>the question of why the requirement </a:t>
            </a:r>
            <a:r>
              <a:rPr lang="en-US" sz="1600" dirty="0" smtClean="0"/>
              <a:t>exists – traceable logic from business strategy through solution deployment 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smtClean="0"/>
              <a:t>Reuse:</a:t>
            </a:r>
            <a:r>
              <a:rPr lang="en-US" sz="1600" dirty="0" smtClean="0"/>
              <a:t> requirements catalogued by capabilities within value stream stages</a:t>
            </a:r>
          </a:p>
        </p:txBody>
      </p:sp>
    </p:spTree>
    <p:extLst>
      <p:ext uri="{BB962C8B-B14F-4D97-AF65-F5344CB8AC3E}">
        <p14:creationId xmlns:p14="http://schemas.microsoft.com/office/powerpoint/2010/main" val="26012235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White PAper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33738"/>
            <a:ext cx="8269305" cy="486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302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6.3 changes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315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Current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Thorough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Covers why, benefits, and principles – so minimal changes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smtClean="0"/>
              <a:t>Plans for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Strengthen core of ‘capabilities to requirements’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Increase use of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Add/strength Overview, Guidelines, and Usage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29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 @ Business Architecture Guild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315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Publish white paper – multiple venues – April/May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Complete 1</a:t>
            </a:r>
            <a:r>
              <a:rPr lang="en-US" baseline="30000" dirty="0" smtClean="0"/>
              <a:t>st</a:t>
            </a:r>
            <a:r>
              <a:rPr lang="en-US" dirty="0" smtClean="0"/>
              <a:t> round of section 6.3 changes for v4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Draft complete in April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Published in July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Consider follow-on white paper –  Q3/Q4 of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Publish 2</a:t>
            </a:r>
            <a:r>
              <a:rPr lang="en-US" baseline="30000" dirty="0" smtClean="0"/>
              <a:t>nd</a:t>
            </a:r>
            <a:r>
              <a:rPr lang="en-US" dirty="0" smtClean="0"/>
              <a:t> round of section 6.3 changes – December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sz="2400" b="1" dirty="0" smtClean="0"/>
              <a:t>Feedback / Questions?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746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171</TotalTime>
  <Words>614</Words>
  <Application>Microsoft Macintosh PowerPoint</Application>
  <PresentationFormat>On-screen Show (4:3)</PresentationFormat>
  <Paragraphs>120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Angles</vt:lpstr>
      <vt:lpstr>Business Architecture and requirements alignment</vt:lpstr>
      <vt:lpstr>Group Charter</vt:lpstr>
      <vt:lpstr>Progress To Date</vt:lpstr>
      <vt:lpstr>White Paper</vt:lpstr>
      <vt:lpstr>White Paper</vt:lpstr>
      <vt:lpstr>Shift in thinking &amp; planning</vt:lpstr>
      <vt:lpstr>White PAper</vt:lpstr>
      <vt:lpstr>White PAper</vt:lpstr>
      <vt:lpstr>Section 6.3 changes</vt:lpstr>
      <vt:lpstr>Next Steps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23</cp:revision>
  <dcterms:created xsi:type="dcterms:W3CDTF">2012-10-06T17:50:46Z</dcterms:created>
  <dcterms:modified xsi:type="dcterms:W3CDTF">2014-03-26T19:33:45Z</dcterms:modified>
</cp:coreProperties>
</file>
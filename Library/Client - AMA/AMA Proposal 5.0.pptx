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2"/>
  </p:notesMasterIdLst>
  <p:handoutMasterIdLst>
    <p:handoutMasterId r:id="rId23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5" r:id="rId16"/>
    <p:sldId id="272" r:id="rId17"/>
    <p:sldId id="276" r:id="rId18"/>
    <p:sldId id="273" r:id="rId19"/>
    <p:sldId id="270" r:id="rId20"/>
    <p:sldId id="274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102" d="100"/>
          <a:sy n="102" d="100"/>
        </p:scale>
        <p:origin x="-3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4B53DBB6-96D7-41B4-A2E5-982BEEBCE3A0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D77E5467-4B2D-4E44-8363-CF295ED35EEB}" type="presOf" srcId="{CAE624CA-334A-4EB5-BD8E-55849449CB58}" destId="{1700B4C8-12E4-4D00-876C-94377F786E85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D1D8F734-6FC9-46FB-8AAB-1793374DB0BF}" type="presOf" srcId="{E20769C5-73DC-4E8A-913F-24C08F2848CC}" destId="{D7B10E75-58CC-4807-BD47-EBDD0F301C5F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E28D9035-97C4-41EB-8003-12D940579F40}" type="presOf" srcId="{973D7B39-D5D2-4B89-A3E7-1C0B9FD794DD}" destId="{3260B18C-0F12-415C-B2B5-B0D612D38936}" srcOrd="0" destOrd="0" presId="urn:microsoft.com/office/officeart/2005/8/layout/funnel1"/>
    <dgm:cxn modelId="{8393CDFA-7965-4B5A-AE99-BE90C5410D45}" type="presOf" srcId="{39749F21-8792-4349-A6A7-BF01EB94F789}" destId="{0B61870B-E2AE-47B9-90BE-64D52B77842D}" srcOrd="0" destOrd="0" presId="urn:microsoft.com/office/officeart/2005/8/layout/funnel1"/>
    <dgm:cxn modelId="{39E7F857-758C-428F-A175-1A5EC0C01116}" type="presParOf" srcId="{D7B10E75-58CC-4807-BD47-EBDD0F301C5F}" destId="{E1C58007-ADFE-400C-A7E7-0C16929F4834}" srcOrd="0" destOrd="0" presId="urn:microsoft.com/office/officeart/2005/8/layout/funnel1"/>
    <dgm:cxn modelId="{EAC90AC9-29FF-40D5-95C8-716C03FEFD61}" type="presParOf" srcId="{D7B10E75-58CC-4807-BD47-EBDD0F301C5F}" destId="{BE474BB7-A5E2-4490-A567-03B382957073}" srcOrd="1" destOrd="0" presId="urn:microsoft.com/office/officeart/2005/8/layout/funnel1"/>
    <dgm:cxn modelId="{EFA693D5-1402-4ADF-8C9C-844B8D56F919}" type="presParOf" srcId="{D7B10E75-58CC-4807-BD47-EBDD0F301C5F}" destId="{0B61870B-E2AE-47B9-90BE-64D52B77842D}" srcOrd="2" destOrd="0" presId="urn:microsoft.com/office/officeart/2005/8/layout/funnel1"/>
    <dgm:cxn modelId="{4EB44B82-6C04-4875-8068-46CAF77CD5C6}" type="presParOf" srcId="{D7B10E75-58CC-4807-BD47-EBDD0F301C5F}" destId="{3260B18C-0F12-415C-B2B5-B0D612D38936}" srcOrd="3" destOrd="0" presId="urn:microsoft.com/office/officeart/2005/8/layout/funnel1"/>
    <dgm:cxn modelId="{03ABA694-FF55-4D5A-9D65-0DA8B61C6F37}" type="presParOf" srcId="{D7B10E75-58CC-4807-BD47-EBDD0F301C5F}" destId="{F96B2562-BEBF-42CE-9FF0-1BBD38426426}" srcOrd="4" destOrd="0" presId="urn:microsoft.com/office/officeart/2005/8/layout/funnel1"/>
    <dgm:cxn modelId="{C9E7B409-92C8-48B4-8BA3-AC57E3DF8873}" type="presParOf" srcId="{D7B10E75-58CC-4807-BD47-EBDD0F301C5F}" destId="{1700B4C8-12E4-4D00-876C-94377F786E85}" srcOrd="5" destOrd="0" presId="urn:microsoft.com/office/officeart/2005/8/layout/funnel1"/>
    <dgm:cxn modelId="{632CC4FB-1988-4F8D-99C3-B8B6227AE55F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E32315AD-287F-4C5A-8178-9C12FB284AE9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CA40C782-E768-4900-8453-D6EEBE7A0856}" type="presOf" srcId="{673AE5C1-39E1-47D6-9713-8CA9BE6EA1DA}" destId="{F6218397-5286-4BF9-91BC-3A8217C085AF}" srcOrd="0" destOrd="0" presId="urn:microsoft.com/office/officeart/2005/8/layout/hProcess9"/>
    <dgm:cxn modelId="{204E9FB7-1034-451D-879A-529763B18033}" type="presOf" srcId="{56F0B946-F863-43B5-9AE7-3ED2571CC1F7}" destId="{D195289F-4E10-4B57-8C58-6BB3CB9CCF4B}" srcOrd="0" destOrd="0" presId="urn:microsoft.com/office/officeart/2005/8/layout/hProcess9"/>
    <dgm:cxn modelId="{331C9E4D-3B97-454D-B6E3-904B6713F6FD}" type="presOf" srcId="{F75D5E40-C0EA-4FAA-9275-3C70938E00EE}" destId="{EDBBB759-F01A-4C3B-A1A8-D2C8F1E5A578}" srcOrd="0" destOrd="0" presId="urn:microsoft.com/office/officeart/2005/8/layout/hProcess9"/>
    <dgm:cxn modelId="{EC5932F4-A118-4A15-9D10-E01638BB7D78}" type="presParOf" srcId="{F6218397-5286-4BF9-91BC-3A8217C085AF}" destId="{57B6F08F-F180-42E5-86EE-1F47EC70A8B7}" srcOrd="0" destOrd="0" presId="urn:microsoft.com/office/officeart/2005/8/layout/hProcess9"/>
    <dgm:cxn modelId="{A5FAB8E3-7753-469D-A4B6-B4EDCEDE9CF5}" type="presParOf" srcId="{F6218397-5286-4BF9-91BC-3A8217C085AF}" destId="{ED339E6A-99DE-44B5-8942-676116993976}" srcOrd="1" destOrd="0" presId="urn:microsoft.com/office/officeart/2005/8/layout/hProcess9"/>
    <dgm:cxn modelId="{75F663C9-0005-4388-B97F-4E789864985E}" type="presParOf" srcId="{ED339E6A-99DE-44B5-8942-676116993976}" destId="{D195289F-4E10-4B57-8C58-6BB3CB9CCF4B}" srcOrd="0" destOrd="0" presId="urn:microsoft.com/office/officeart/2005/8/layout/hProcess9"/>
    <dgm:cxn modelId="{4E10D462-BE8B-4A56-BC43-1A58D4C9567B}" type="presParOf" srcId="{ED339E6A-99DE-44B5-8942-676116993976}" destId="{B5A6657B-DFA9-42AD-BD72-82BAEBF8B87E}" srcOrd="1" destOrd="0" presId="urn:microsoft.com/office/officeart/2005/8/layout/hProcess9"/>
    <dgm:cxn modelId="{7F3B2439-53D4-4760-A727-A26725EC6599}" type="presParOf" srcId="{ED339E6A-99DE-44B5-8942-676116993976}" destId="{EDBBB759-F01A-4C3B-A1A8-D2C8F1E5A578}" srcOrd="2" destOrd="0" presId="urn:microsoft.com/office/officeart/2005/8/layout/hProcess9"/>
    <dgm:cxn modelId="{929A9DDA-E11C-4BFE-AF26-B168B9AE7B5A}" type="presParOf" srcId="{ED339E6A-99DE-44B5-8942-676116993976}" destId="{7E687DF4-201B-4FB8-B89C-9863D30313FA}" srcOrd="3" destOrd="0" presId="urn:microsoft.com/office/officeart/2005/8/layout/hProcess9"/>
    <dgm:cxn modelId="{5DE68921-0322-4125-8026-012E7DCF02D4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(Hospitals, Alt. Sites, Home)</a:t>
          </a:r>
          <a:endParaRPr lang="en-US" sz="1600" dirty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6EE1283D-151F-4334-BE97-8BA325C33E19}" type="presOf" srcId="{8073C779-336E-46C9-860C-3C4F4AECF67F}" destId="{4BA2D08E-3F37-4C9B-AF1A-AF070EDB1AF8}" srcOrd="0" destOrd="0" presId="urn:microsoft.com/office/officeart/2005/8/layout/pyramid2"/>
    <dgm:cxn modelId="{B21148E8-00C8-445D-8697-F59E1E03C256}" type="presOf" srcId="{1492EAF2-D809-4557-BCF4-56061EA4F8E2}" destId="{14F6B660-5636-4F93-AFFF-4992B4D5718E}" srcOrd="0" destOrd="0" presId="urn:microsoft.com/office/officeart/2005/8/layout/pyramid2"/>
    <dgm:cxn modelId="{2A3543EF-EECA-4063-B47E-944D0AFFD8E6}" type="presOf" srcId="{191EE3EC-BB60-4377-95CE-6E6D00913C3A}" destId="{2D970AC9-46C8-4548-96E5-DA10D684460C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A3810F14-2E91-4EA1-BCB2-AC96034E6470}" type="presOf" srcId="{AF417CDC-9B3A-41AC-A68E-E0C6538CA504}" destId="{2EEF81A0-E70C-4C7C-B4B0-9EE9E25D31EE}" srcOrd="0" destOrd="0" presId="urn:microsoft.com/office/officeart/2005/8/layout/pyramid2"/>
    <dgm:cxn modelId="{0B165261-116B-4D1A-87BC-37B61811503F}" type="presParOf" srcId="{2EEF81A0-E70C-4C7C-B4B0-9EE9E25D31EE}" destId="{C17817A9-C4DE-49BF-8C1D-4124E047DFB9}" srcOrd="0" destOrd="0" presId="urn:microsoft.com/office/officeart/2005/8/layout/pyramid2"/>
    <dgm:cxn modelId="{FB8A4268-3D48-4448-9650-B9C8A141CF74}" type="presParOf" srcId="{2EEF81A0-E70C-4C7C-B4B0-9EE9E25D31EE}" destId="{97D661A3-DA34-4970-9A0D-34E97679DFC9}" srcOrd="1" destOrd="0" presId="urn:microsoft.com/office/officeart/2005/8/layout/pyramid2"/>
    <dgm:cxn modelId="{05801D98-F778-4CE6-8F00-E17A83516C84}" type="presParOf" srcId="{97D661A3-DA34-4970-9A0D-34E97679DFC9}" destId="{2D970AC9-46C8-4548-96E5-DA10D684460C}" srcOrd="0" destOrd="0" presId="urn:microsoft.com/office/officeart/2005/8/layout/pyramid2"/>
    <dgm:cxn modelId="{343A1CF6-5F6E-497D-9525-2564AAEADF10}" type="presParOf" srcId="{97D661A3-DA34-4970-9A0D-34E97679DFC9}" destId="{CA9EF443-F792-497B-BD71-3BD6E3ACADF1}" srcOrd="1" destOrd="0" presId="urn:microsoft.com/office/officeart/2005/8/layout/pyramid2"/>
    <dgm:cxn modelId="{CF6937C1-C0CE-4E04-868A-C37B73B83DC4}" type="presParOf" srcId="{97D661A3-DA34-4970-9A0D-34E97679DFC9}" destId="{4BA2D08E-3F37-4C9B-AF1A-AF070EDB1AF8}" srcOrd="2" destOrd="0" presId="urn:microsoft.com/office/officeart/2005/8/layout/pyramid2"/>
    <dgm:cxn modelId="{7E515947-360E-44CF-A9A2-9F501487D519}" type="presParOf" srcId="{97D661A3-DA34-4970-9A0D-34E97679DFC9}" destId="{C68BBD7D-9B64-4267-B8C1-9603A80ED08A}" srcOrd="3" destOrd="0" presId="urn:microsoft.com/office/officeart/2005/8/layout/pyramid2"/>
    <dgm:cxn modelId="{E75545B6-7F3D-452A-91AC-19079E9B6816}" type="presParOf" srcId="{97D661A3-DA34-4970-9A0D-34E97679DFC9}" destId="{14F6B660-5636-4F93-AFFF-4992B4D5718E}" srcOrd="4" destOrd="0" presId="urn:microsoft.com/office/officeart/2005/8/layout/pyramid2"/>
    <dgm:cxn modelId="{AE182FC0-3601-4561-809A-046D6969CE1D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354CA971-1877-4963-A2BB-135428611037}" type="presOf" srcId="{D6F595D2-470C-401C-A533-3E80B84244AA}" destId="{07AFC6E7-B973-46CA-8BED-AD11916A26C6}" srcOrd="1" destOrd="0" presId="urn:microsoft.com/office/officeart/2005/8/layout/cycle2"/>
    <dgm:cxn modelId="{2F0F4320-A845-4B39-A254-718A2EC4D76D}" type="presOf" srcId="{723CC3D7-5D8F-4BE3-AE6D-CE228595E268}" destId="{C3DD57C0-4A46-47E8-A3EB-683924E5F05E}" srcOrd="0" destOrd="0" presId="urn:microsoft.com/office/officeart/2005/8/layout/cycle2"/>
    <dgm:cxn modelId="{40AE9B77-7F91-4AFC-B4EF-7DB8A399F384}" type="presOf" srcId="{45C84ECF-EE1B-4B49-8EF8-7CAEF2A5F7D7}" destId="{DBEDE08A-D6E8-4108-896E-C113DB47C979}" srcOrd="1" destOrd="0" presId="urn:microsoft.com/office/officeart/2005/8/layout/cycle2"/>
    <dgm:cxn modelId="{BEAAD8BD-30BA-4EF6-BFC1-3830F4C2C98E}" type="presOf" srcId="{2D59D820-0CB4-4E1F-92BB-95FFDD082F73}" destId="{225F2983-0321-4A3D-86C7-7E3CCDC569BC}" srcOrd="0" destOrd="0" presId="urn:microsoft.com/office/officeart/2005/8/layout/cycle2"/>
    <dgm:cxn modelId="{A4433A16-48F6-48F7-856A-9E9BBDBC49AC}" type="presOf" srcId="{ACC9FE0A-FD41-47FD-A639-30E1D7390D3C}" destId="{F38FA08F-FE08-42BB-8EE8-5C1C65DF85EB}" srcOrd="1" destOrd="0" presId="urn:microsoft.com/office/officeart/2005/8/layout/cycle2"/>
    <dgm:cxn modelId="{3993E6AF-50BE-4607-805C-75760156EC02}" type="presOf" srcId="{F1CE9FE8-D255-4002-AFE1-7D2B290D77A4}" destId="{0BB1AB6A-657E-4BE7-B826-04310CB87FD6}" srcOrd="0" destOrd="0" presId="urn:microsoft.com/office/officeart/2005/8/layout/cycle2"/>
    <dgm:cxn modelId="{16240303-29ED-48F1-815A-801CD3FCE4B6}" type="presOf" srcId="{D6F595D2-470C-401C-A533-3E80B84244AA}" destId="{E7314FF0-C3D4-4067-9A96-DAE7F230A6B3}" srcOrd="0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A5D684EA-FA1B-4B67-96D9-057DFD770C82}" type="presOf" srcId="{73A865D5-5B91-4B22-BA06-C26D9BCB2EE5}" destId="{C25E6119-54FA-4530-870F-778E283C0BD5}" srcOrd="0" destOrd="0" presId="urn:microsoft.com/office/officeart/2005/8/layout/cycle2"/>
    <dgm:cxn modelId="{22E91B80-EB3C-4B23-9285-E5669527C98B}" type="presOf" srcId="{73A865D5-5B91-4B22-BA06-C26D9BCB2EE5}" destId="{DBE7C2DC-A3D5-4950-9D16-A38DF0EA4010}" srcOrd="1" destOrd="0" presId="urn:microsoft.com/office/officeart/2005/8/layout/cycle2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BD36A24-62F4-4BBB-8A9A-ABDF574E79E5}" type="presOf" srcId="{45C84ECF-EE1B-4B49-8EF8-7CAEF2A5F7D7}" destId="{A7D0551F-936B-4658-B33F-A836AF1BBB65}" srcOrd="0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EB97AD3A-498F-4DEE-8DB0-4306A85AB3C9}" type="presOf" srcId="{55E28E46-380A-467B-AE34-589B0252C611}" destId="{A2460FAC-F0F1-4820-B573-16079F413D80}" srcOrd="1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FD46FCC0-5F65-4239-BD84-E4CF0C41C15D}" type="presOf" srcId="{ACC9FE0A-FD41-47FD-A639-30E1D7390D3C}" destId="{3D2113D7-D3E7-4CB9-BC98-536F54DAF21C}" srcOrd="0" destOrd="0" presId="urn:microsoft.com/office/officeart/2005/8/layout/cycle2"/>
    <dgm:cxn modelId="{2E9F8112-EA74-4A02-98C1-4F11FA857FC1}" type="presOf" srcId="{6C0CCD30-116E-48B1-9F0C-6D8A7EE2F2A8}" destId="{A7C42B21-429E-4C68-A376-78D2C78D89EA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BF0A08F2-C4C5-4986-9A44-D6184141B56C}" type="presOf" srcId="{D9EF2CA6-CB89-4C75-A47A-2A8DFD1700AB}" destId="{C6CB6EE8-F817-48B1-A2A4-7074F5E20ADC}" srcOrd="0" destOrd="0" presId="urn:microsoft.com/office/officeart/2005/8/layout/cycle2"/>
    <dgm:cxn modelId="{527A875E-E385-47CD-8952-55931BB9A674}" type="presOf" srcId="{6C9C8D6C-34E9-4C0C-BCBD-DFB9CDC55631}" destId="{DEEF388A-0A0E-4C93-AF3E-70FF1B41590B}" srcOrd="0" destOrd="0" presId="urn:microsoft.com/office/officeart/2005/8/layout/cycle2"/>
    <dgm:cxn modelId="{DEBC7E03-93FB-455E-A071-64973BD961FC}" type="presOf" srcId="{55E28E46-380A-467B-AE34-589B0252C611}" destId="{3B18EA10-55B7-4FA2-B1AF-880978BD726E}" srcOrd="0" destOrd="0" presId="urn:microsoft.com/office/officeart/2005/8/layout/cycle2"/>
    <dgm:cxn modelId="{CDA1EE88-11E2-4EC0-AE42-A66B374CC6C5}" type="presParOf" srcId="{DEEF388A-0A0E-4C93-AF3E-70FF1B41590B}" destId="{C6CB6EE8-F817-48B1-A2A4-7074F5E20ADC}" srcOrd="0" destOrd="0" presId="urn:microsoft.com/office/officeart/2005/8/layout/cycle2"/>
    <dgm:cxn modelId="{384275B7-3A04-47A5-9376-DE05C176A2AF}" type="presParOf" srcId="{DEEF388A-0A0E-4C93-AF3E-70FF1B41590B}" destId="{E7314FF0-C3D4-4067-9A96-DAE7F230A6B3}" srcOrd="1" destOrd="0" presId="urn:microsoft.com/office/officeart/2005/8/layout/cycle2"/>
    <dgm:cxn modelId="{906E51E1-C2BD-41F3-9085-DA0DD5B15883}" type="presParOf" srcId="{E7314FF0-C3D4-4067-9A96-DAE7F230A6B3}" destId="{07AFC6E7-B973-46CA-8BED-AD11916A26C6}" srcOrd="0" destOrd="0" presId="urn:microsoft.com/office/officeart/2005/8/layout/cycle2"/>
    <dgm:cxn modelId="{BAC8B3E8-4AB5-4B3A-A4E3-FC8998F28E31}" type="presParOf" srcId="{DEEF388A-0A0E-4C93-AF3E-70FF1B41590B}" destId="{0BB1AB6A-657E-4BE7-B826-04310CB87FD6}" srcOrd="2" destOrd="0" presId="urn:microsoft.com/office/officeart/2005/8/layout/cycle2"/>
    <dgm:cxn modelId="{B8A525C4-97F4-4F56-B22F-BBD412A68A9F}" type="presParOf" srcId="{DEEF388A-0A0E-4C93-AF3E-70FF1B41590B}" destId="{3D2113D7-D3E7-4CB9-BC98-536F54DAF21C}" srcOrd="3" destOrd="0" presId="urn:microsoft.com/office/officeart/2005/8/layout/cycle2"/>
    <dgm:cxn modelId="{27640018-03E2-4291-9E02-B26E2CAD521E}" type="presParOf" srcId="{3D2113D7-D3E7-4CB9-BC98-536F54DAF21C}" destId="{F38FA08F-FE08-42BB-8EE8-5C1C65DF85EB}" srcOrd="0" destOrd="0" presId="urn:microsoft.com/office/officeart/2005/8/layout/cycle2"/>
    <dgm:cxn modelId="{F3C70AF2-4B0B-4EC7-8496-5214102AEA4D}" type="presParOf" srcId="{DEEF388A-0A0E-4C93-AF3E-70FF1B41590B}" destId="{A7C42B21-429E-4C68-A376-78D2C78D89EA}" srcOrd="4" destOrd="0" presId="urn:microsoft.com/office/officeart/2005/8/layout/cycle2"/>
    <dgm:cxn modelId="{72433398-358C-4442-8C4B-4458D10A0976}" type="presParOf" srcId="{DEEF388A-0A0E-4C93-AF3E-70FF1B41590B}" destId="{3B18EA10-55B7-4FA2-B1AF-880978BD726E}" srcOrd="5" destOrd="0" presId="urn:microsoft.com/office/officeart/2005/8/layout/cycle2"/>
    <dgm:cxn modelId="{E51D4CC2-133A-4FE9-ACF4-3818F46EA74C}" type="presParOf" srcId="{3B18EA10-55B7-4FA2-B1AF-880978BD726E}" destId="{A2460FAC-F0F1-4820-B573-16079F413D80}" srcOrd="0" destOrd="0" presId="urn:microsoft.com/office/officeart/2005/8/layout/cycle2"/>
    <dgm:cxn modelId="{1455D5C1-1EF9-472B-8793-F63B0CBE85D5}" type="presParOf" srcId="{DEEF388A-0A0E-4C93-AF3E-70FF1B41590B}" destId="{225F2983-0321-4A3D-86C7-7E3CCDC569BC}" srcOrd="6" destOrd="0" presId="urn:microsoft.com/office/officeart/2005/8/layout/cycle2"/>
    <dgm:cxn modelId="{19A8F474-9B9B-4827-ADA6-31B060D6EB0B}" type="presParOf" srcId="{DEEF388A-0A0E-4C93-AF3E-70FF1B41590B}" destId="{A7D0551F-936B-4658-B33F-A836AF1BBB65}" srcOrd="7" destOrd="0" presId="urn:microsoft.com/office/officeart/2005/8/layout/cycle2"/>
    <dgm:cxn modelId="{07C6B696-880E-46EC-8FDA-05F191B9B0B7}" type="presParOf" srcId="{A7D0551F-936B-4658-B33F-A836AF1BBB65}" destId="{DBEDE08A-D6E8-4108-896E-C113DB47C979}" srcOrd="0" destOrd="0" presId="urn:microsoft.com/office/officeart/2005/8/layout/cycle2"/>
    <dgm:cxn modelId="{6AA42819-08B5-4E7B-8073-86DDDE16BD8B}" type="presParOf" srcId="{DEEF388A-0A0E-4C93-AF3E-70FF1B41590B}" destId="{C3DD57C0-4A46-47E8-A3EB-683924E5F05E}" srcOrd="8" destOrd="0" presId="urn:microsoft.com/office/officeart/2005/8/layout/cycle2"/>
    <dgm:cxn modelId="{D3716DF0-E003-43E5-9030-54E7DAB89203}" type="presParOf" srcId="{DEEF388A-0A0E-4C93-AF3E-70FF1B41590B}" destId="{C25E6119-54FA-4530-870F-778E283C0BD5}" srcOrd="9" destOrd="0" presId="urn:microsoft.com/office/officeart/2005/8/layout/cycle2"/>
    <dgm:cxn modelId="{BE3A3D76-1DB0-4B4E-8776-675E69D4A176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(Hospitals, Alt. Sites, Home)</a:t>
          </a:r>
          <a:endParaRPr lang="en-US" sz="1600" kern="1200" dirty="0"/>
        </a:p>
      </dsp:txBody>
      <dsp:txXfrm>
        <a:off x="2918459" y="3023438"/>
        <a:ext cx="3103880" cy="11303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78425-4FD2-43EE-91BD-BCFC307291F8}" type="datetime1">
              <a:rPr lang="en-US"/>
              <a:pPr/>
              <a:t>8/7/2009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4E737C-C255-453C-8F0B-6BB8CAB56B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38B5F877-A15A-47D9-96AB-6BF40B71EAB5}" type="datetime1">
              <a:rPr lang="en-US"/>
              <a:pPr/>
              <a:t>8/7/2009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E35D1681-EA57-4A8E-9AFA-5549DF72F7B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C0F159D-9258-4456-ACAD-B6DC6063ED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D26F5A-CFD1-4443-B8D2-F55750699C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9600DA93-BED3-4A2E-ADB3-D5CB6E2791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14D7C4C-8711-4B79-B9CE-B36453064F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CD7AF8B-134D-4BBB-9775-B72507E5DA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A082BF2-F9F0-4E7A-85DC-6DCB549857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315F2CE5-EFFD-41CE-84A4-989AB2A3B7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14BD375D-7C67-4B13-A1C2-407AAEC3B3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D17112B3-EAB6-4BF2-A057-568461F473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4F57B9A-091F-4719-AA80-C17736E8F1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fld id="{98D26F5A-CFD1-4443-B8D2-F55750699CD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A New Value Proposition</a:t>
            </a:r>
            <a:br>
              <a:rPr lang="en-US" b="1" smtClean="0"/>
            </a:br>
            <a:r>
              <a:rPr lang="en-US" b="1" smtClean="0"/>
              <a:t>for the AMA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7413" y="3733800"/>
            <a:ext cx="274478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Current Challenges</a:t>
            </a:r>
          </a:p>
          <a:p>
            <a:pPr eaLnBrk="1" hangingPunct="1"/>
            <a:r>
              <a:rPr lang="en-US" sz="2400" dirty="0" smtClean="0"/>
              <a:t>AMA’s Role in Healthcare Reform</a:t>
            </a:r>
          </a:p>
          <a:p>
            <a:pPr eaLnBrk="1" hangingPunct="1"/>
            <a:r>
              <a:rPr lang="en-US" sz="2400" dirty="0" smtClean="0"/>
              <a:t>Needs of the providers</a:t>
            </a:r>
          </a:p>
          <a:p>
            <a:pPr eaLnBrk="1" hangingPunct="1"/>
            <a:r>
              <a:rPr lang="en-US" sz="2400" dirty="0" smtClean="0"/>
              <a:t>Needs of the practitioners</a:t>
            </a:r>
          </a:p>
          <a:p>
            <a:pPr eaLnBrk="1" hangingPunct="1"/>
            <a:r>
              <a:rPr lang="en-US" sz="2400" dirty="0" smtClean="0"/>
              <a:t>Needs of the patients</a:t>
            </a:r>
          </a:p>
          <a:p>
            <a:pPr eaLnBrk="1" hangingPunct="1"/>
            <a:r>
              <a:rPr lang="en-US" sz="2400" dirty="0" smtClean="0"/>
              <a:t>AMA’s Opportunity to enable Value</a:t>
            </a:r>
          </a:p>
          <a:p>
            <a:pPr eaLnBrk="1" hangingPunct="1"/>
            <a:r>
              <a:rPr lang="en-US" sz="2400" dirty="0" smtClean="0"/>
              <a:t>AMA at the forefront of Healthcare</a:t>
            </a:r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914400" y="45720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Current Challenges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Eroding </a:t>
            </a:r>
            <a:r>
              <a:rPr lang="en-US" sz="2400" dirty="0" smtClean="0"/>
              <a:t>member base.  </a:t>
            </a:r>
          </a:p>
          <a:p>
            <a:pPr eaLnBrk="1" hangingPunct="1"/>
            <a:r>
              <a:rPr lang="en-US" sz="2400" dirty="0" smtClean="0"/>
              <a:t>Aging membership.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Decline profits.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Not perceived as an innovation leader. 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Healthcare is </a:t>
            </a:r>
            <a:r>
              <a:rPr lang="en-US" sz="2400" dirty="0" smtClean="0"/>
              <a:t>fractionalized across the continuum of care.</a:t>
            </a:r>
          </a:p>
          <a:p>
            <a:pPr eaLnBrk="1" hangingPunct="1"/>
            <a:r>
              <a:rPr lang="en-US" sz="2400" dirty="0" smtClean="0"/>
              <a:t>Healthcare </a:t>
            </a:r>
            <a:r>
              <a:rPr lang="en-US" sz="2400" dirty="0" smtClean="0"/>
              <a:t>reform is best driven by </a:t>
            </a:r>
            <a:r>
              <a:rPr lang="en-US" sz="2400" dirty="0" smtClean="0"/>
              <a:t>providers &amp; practitioners and not the government.</a:t>
            </a:r>
          </a:p>
          <a:p>
            <a:pPr eaLnBrk="1" hangingPunct="1"/>
            <a:r>
              <a:rPr lang="en-US" sz="2400" dirty="0" smtClean="0"/>
              <a:t>Need for clear leadership to drive reform, innovation, and unification across the heatlhcare </a:t>
            </a:r>
            <a:r>
              <a:rPr lang="en-US" sz="2400" dirty="0" smtClean="0"/>
              <a:t>continuum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AMA’s Role in Healthcare Reform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Still a relevant voice that should be heard by the government. </a:t>
            </a:r>
          </a:p>
          <a:p>
            <a:r>
              <a:rPr lang="en-US" sz="2400" dirty="0" smtClean="0"/>
              <a:t>The stakeholders are looking for answers:</a:t>
            </a:r>
          </a:p>
          <a:p>
            <a:pPr lvl="1"/>
            <a:r>
              <a:rPr lang="en-US" sz="2000" dirty="0" smtClean="0"/>
              <a:t>Practitioners are worried about quality, timeliness, and effort of care</a:t>
            </a:r>
          </a:p>
          <a:p>
            <a:pPr lvl="1"/>
            <a:r>
              <a:rPr lang="en-US" sz="2000" dirty="0" smtClean="0"/>
              <a:t>Providers are worried about loss of control and revenue</a:t>
            </a:r>
          </a:p>
          <a:p>
            <a:pPr lvl="1"/>
            <a:r>
              <a:rPr lang="en-US" sz="2000" dirty="0" smtClean="0"/>
              <a:t>Patients are worried about quality of care, loss of control, and cost</a:t>
            </a:r>
          </a:p>
          <a:p>
            <a:r>
              <a:rPr lang="en-US" sz="2400" dirty="0" smtClean="0"/>
              <a:t>Opportunity for unifying leadership to provide guidance and direction for change (much of which will be disruptive). </a:t>
            </a:r>
          </a:p>
          <a:p>
            <a:r>
              <a:rPr lang="en-US" sz="2400" dirty="0" smtClean="0"/>
              <a:t>Opportunity to encourage collaboration and cooperation to solve the healthcare needs in the US and across the world.</a:t>
            </a:r>
          </a:p>
          <a:p>
            <a:r>
              <a:rPr lang="en-US" sz="2400" dirty="0" smtClean="0"/>
              <a:t>Opportunity to create a “system” of healthcare guided by consistent value-driven metrics (outcomes).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/>
              <a:t>To get </a:t>
            </a:r>
            <a:r>
              <a:rPr lang="en-US" sz="2400" dirty="0" smtClean="0"/>
              <a:t>pharmaceutical </a:t>
            </a:r>
            <a:r>
              <a:rPr lang="en-US" sz="2400" dirty="0" smtClean="0"/>
              <a:t>and device manufacturers, </a:t>
            </a:r>
            <a:r>
              <a:rPr lang="en-US" sz="2400" dirty="0" smtClean="0"/>
              <a:t>insurers</a:t>
            </a:r>
            <a:r>
              <a:rPr lang="en-US" sz="2400" dirty="0" smtClean="0"/>
              <a:t>, and healthcare suppliers to become aligned, unified and </a:t>
            </a:r>
            <a:r>
              <a:rPr lang="en-US" sz="2400" dirty="0" smtClean="0"/>
              <a:t>collaboratively </a:t>
            </a:r>
            <a:r>
              <a:rPr lang="en-US" sz="2400" dirty="0" smtClean="0"/>
              <a:t>by focusing on a consistent set of outcomes.</a:t>
            </a:r>
          </a:p>
          <a:p>
            <a:r>
              <a:rPr lang="en-US" sz="2400" dirty="0" smtClean="0"/>
              <a:t>To increase collaboration NOT competition.</a:t>
            </a:r>
          </a:p>
          <a:p>
            <a:r>
              <a:rPr lang="en-US" sz="2400" dirty="0" smtClean="0"/>
              <a:t>To understand how to identify, measure and deliver value throughout the healthcare value network.</a:t>
            </a:r>
          </a:p>
          <a:p>
            <a:r>
              <a:rPr lang="en-US" sz="2400" dirty="0" smtClean="0"/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Practitioners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improve diagnostic capabilities in a cost effective manner.</a:t>
            </a:r>
          </a:p>
          <a:p>
            <a:r>
              <a:rPr lang="en-US" sz="2400" dirty="0" smtClean="0"/>
              <a:t>To improve clinical processes. </a:t>
            </a:r>
          </a:p>
          <a:p>
            <a:r>
              <a:rPr lang="en-US" sz="2400" dirty="0" smtClean="0"/>
              <a:t>To provide consistent levels of quality.</a:t>
            </a:r>
          </a:p>
          <a:p>
            <a:r>
              <a:rPr lang="en-US" sz="2400" dirty="0" smtClean="0"/>
              <a:t>To move beyond service, where they can deliver a positive  experience. </a:t>
            </a:r>
          </a:p>
          <a:p>
            <a:r>
              <a:rPr lang="en-US" sz="2400" dirty="0" smtClean="0"/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Patients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400" dirty="0" smtClean="0"/>
              <a:t>To have affordable healthcare.</a:t>
            </a:r>
          </a:p>
          <a:p>
            <a:r>
              <a:rPr lang="en-US" sz="2400" dirty="0" smtClean="0"/>
              <a:t>To have attainable healthcare.</a:t>
            </a:r>
          </a:p>
          <a:p>
            <a:r>
              <a:rPr lang="en-US" sz="2400" dirty="0" smtClean="0"/>
              <a:t>To have more accessible healthcare. </a:t>
            </a:r>
          </a:p>
          <a:p>
            <a:r>
              <a:rPr lang="en-US" sz="2400" dirty="0" smtClean="0"/>
              <a:t>To have consistent levels of quality (results).</a:t>
            </a:r>
          </a:p>
          <a:p>
            <a:r>
              <a:rPr lang="en-US" sz="2400" dirty="0" smtClean="0"/>
              <a:t>To receive a total healthcare experience:</a:t>
            </a:r>
          </a:p>
          <a:p>
            <a:pPr lvl="1"/>
            <a:r>
              <a:rPr lang="en-US" sz="2400" dirty="0" smtClean="0"/>
              <a:t>Ensure their functional outcomes met.</a:t>
            </a:r>
          </a:p>
          <a:p>
            <a:pPr lvl="1"/>
            <a:r>
              <a:rPr lang="en-US" sz="2400" dirty="0" smtClean="0"/>
              <a:t>Ensure their emotional outcomes met.</a:t>
            </a:r>
          </a:p>
          <a:p>
            <a:pPr lvl="1"/>
            <a:r>
              <a:rPr lang="en-US" sz="2400" dirty="0" smtClean="0"/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AMA’s Opportunity to enable Value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Innovate current business model to address the needs of the providers, practitioners, and the patients (3Ps).</a:t>
            </a:r>
          </a:p>
          <a:p>
            <a:r>
              <a:rPr lang="en-US" sz="2400" dirty="0" smtClean="0"/>
              <a:t>Use a disciplined process to capture and assess the needs of the 3Ps in a quantifiable manner.</a:t>
            </a:r>
          </a:p>
          <a:p>
            <a:r>
              <a:rPr lang="en-US" sz="2400" dirty="0" smtClean="0"/>
              <a:t>Provide a centralized repository of unbiased needs of the 3Ps to identify opportunities for measuring &amp; creating value in US healthcare.</a:t>
            </a:r>
          </a:p>
          <a:p>
            <a:r>
              <a:rPr lang="en-US" sz="2400" dirty="0" smtClean="0"/>
              <a:t>License the information in a repository to the 3Ps to build a self-sustaining model for improving value delivery in healthcare</a:t>
            </a:r>
          </a:p>
          <a:p>
            <a:r>
              <a:rPr lang="en-US" sz="2400" dirty="0" smtClean="0"/>
              <a:t>Guide (and possibly drive) innovation in healthcare to create new value while reducing the overall costs for the 3Ps.</a:t>
            </a:r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 at the forefront of Healthcare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/>
              <a:t>Defining &amp; delivering the prescription for healthcare reform should come from within healthcare (not the government).</a:t>
            </a:r>
          </a:p>
          <a:p>
            <a:r>
              <a:rPr lang="en-US" sz="2400" dirty="0" smtClean="0"/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 smtClean="0"/>
              <a:t>Providing the practitioners with a consistent set of benchmarks for measuring the value they deliver to patients.</a:t>
            </a:r>
          </a:p>
          <a:p>
            <a:r>
              <a:rPr lang="en-US" sz="2400" dirty="0" smtClean="0"/>
              <a:t>Driving open innovation amongst the providers to create a more efficient process for guiding and creating value.</a:t>
            </a:r>
          </a:p>
          <a:p>
            <a:r>
              <a:rPr lang="en-US" sz="2400" dirty="0" smtClean="0"/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Moving from Assumptions to Implementation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Establish a program focused on mapping the Jobs &amp; Outcomes across the healthcare domain.</a:t>
            </a:r>
          </a:p>
          <a:p>
            <a:r>
              <a:rPr lang="en-US" sz="2400" dirty="0" smtClean="0"/>
              <a:t>Build a portfolio of unmet needs (opportunities) for improving value delivery to patients and practitioners.</a:t>
            </a:r>
          </a:p>
          <a:p>
            <a:r>
              <a:rPr lang="en-US" sz="2400" dirty="0" smtClean="0"/>
              <a:t>Establish a prioritization model to direct resources in an efficient manner.</a:t>
            </a:r>
          </a:p>
          <a:p>
            <a:r>
              <a:rPr lang="en-US" sz="2400" dirty="0" smtClean="0"/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/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Federated Portfolio of  Jobs &amp; Outcomes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Measurement Platform for Healthcare</a:t>
            </a:r>
            <a:endParaRPr lang="en-US" dirty="0"/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Jobs</a:t>
            </a:r>
            <a:endParaRPr lang="en-US" b="1" dirty="0"/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Domains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Prevention</a:t>
            </a:r>
            <a:endParaRPr lang="en-US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Diagnostics</a:t>
            </a:r>
            <a:endParaRPr lang="en-US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Treatment</a:t>
            </a:r>
            <a:endParaRPr lang="en-US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Maintenance</a:t>
            </a:r>
            <a:endParaRPr lang="en-US" b="1" dirty="0"/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124200" y="3276600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(Patients &amp; Practitioners)</a:t>
            </a:r>
            <a:endParaRPr lang="en-US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 portfolio of jobs &amp; outcomes:</a:t>
            </a:r>
          </a:p>
          <a:p>
            <a:pPr lvl="1"/>
            <a:r>
              <a:rPr lang="en-US" dirty="0" smtClean="0"/>
              <a:t>For measuring value</a:t>
            </a:r>
          </a:p>
          <a:p>
            <a:pPr lvl="1"/>
            <a:r>
              <a:rPr lang="en-US" dirty="0" smtClean="0"/>
              <a:t>For capturing customer* needs</a:t>
            </a:r>
          </a:p>
          <a:p>
            <a:pPr lvl="1"/>
            <a:r>
              <a:rPr lang="en-US" dirty="0" smtClean="0"/>
              <a:t>For guiding innovation</a:t>
            </a:r>
          </a:p>
          <a:p>
            <a:pPr lvl="1"/>
            <a:endParaRPr lang="en-US" dirty="0" smtClean="0"/>
          </a:p>
          <a:p>
            <a:pPr lvl="1">
              <a:buNone/>
            </a:pPr>
            <a:r>
              <a:rPr lang="en-US" dirty="0" smtClean="0"/>
              <a:t>* The focus is on Patients and Providers in the Healthcare Value Network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Value Platform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Compliance</a:t>
            </a:r>
          </a:p>
          <a:p>
            <a:pPr algn="ctr"/>
            <a:r>
              <a:rPr lang="en-US" b="1" dirty="0" smtClean="0"/>
              <a:t>Rules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Build an innovation portfolio to drive value by:</a:t>
            </a:r>
          </a:p>
          <a:p>
            <a:pPr lvl="1"/>
            <a:r>
              <a:rPr lang="en-US" sz="2400" dirty="0" smtClean="0"/>
              <a:t>Creating a portfolio of outcomes that can be used by the 3 Ps to measure value.</a:t>
            </a:r>
          </a:p>
          <a:p>
            <a:pPr lvl="1"/>
            <a:r>
              <a:rPr lang="en-US" sz="2400" dirty="0" smtClean="0"/>
              <a:t>Creating a portfolio of opportunities (IP)*.</a:t>
            </a:r>
          </a:p>
          <a:p>
            <a:pPr lvl="1"/>
            <a:r>
              <a:rPr lang="en-US" sz="2400" dirty="0" smtClean="0"/>
              <a:t>Leveraging open innovation to create a portfolio of ideas to address unmet needs.</a:t>
            </a:r>
          </a:p>
          <a:p>
            <a:pPr lvl="1"/>
            <a:r>
              <a:rPr lang="en-US" sz="2400" dirty="0" smtClean="0"/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dirty="0" smtClean="0"/>
              <a:t>Aligning sustainable value delivery within a system of healthcare.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dirty="0" smtClean="0"/>
              <a:t>Identifying priorities for healthcare upfront can:</a:t>
            </a:r>
          </a:p>
          <a:p>
            <a:pPr lvl="1"/>
            <a:r>
              <a:rPr lang="en-US" dirty="0" smtClean="0"/>
              <a:t>Reduce the risks for investments in new products and services.</a:t>
            </a:r>
          </a:p>
          <a:p>
            <a:pPr lvl="1"/>
            <a:r>
              <a:rPr lang="en-US" dirty="0" smtClean="0"/>
              <a:t>Focus 3</a:t>
            </a:r>
            <a:r>
              <a:rPr lang="en-US" baseline="30000" dirty="0" smtClean="0"/>
              <a:t>rd</a:t>
            </a:r>
            <a:r>
              <a:rPr lang="en-US" dirty="0" smtClean="0"/>
              <a:t> party resources more efficiently.</a:t>
            </a:r>
          </a:p>
          <a:p>
            <a:pPr lvl="1"/>
            <a:r>
              <a:rPr lang="en-US" dirty="0" smtClean="0"/>
              <a:t>Reduce the costs associated with investment planning.</a:t>
            </a:r>
          </a:p>
          <a:p>
            <a:pPr lvl="1"/>
            <a:r>
              <a:rPr lang="en-US" dirty="0" smtClean="0"/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managed IP model, will:</a:t>
            </a:r>
          </a:p>
          <a:p>
            <a:pPr lvl="1"/>
            <a:r>
              <a:rPr lang="en-US" dirty="0" smtClean="0"/>
              <a:t>Encourage open innovation to leverage mindshare across all disciplines to solve the healthcare needs.</a:t>
            </a:r>
          </a:p>
          <a:p>
            <a:pPr lvl="1"/>
            <a:r>
              <a:rPr lang="en-US" dirty="0" smtClean="0"/>
              <a:t>Promote collaboration instead of competition for new products &amp; services to:</a:t>
            </a:r>
          </a:p>
          <a:p>
            <a:pPr lvl="2"/>
            <a:r>
              <a:rPr lang="en-US" dirty="0" smtClean="0"/>
              <a:t>Bring new efficiencies to research and development.</a:t>
            </a:r>
          </a:p>
          <a:p>
            <a:pPr lvl="2"/>
            <a:r>
              <a:rPr lang="en-US" dirty="0" smtClean="0"/>
              <a:t>Reduce the costs and cycle time.</a:t>
            </a:r>
          </a:p>
          <a:p>
            <a:pPr lvl="2"/>
            <a:r>
              <a:rPr lang="en-US" dirty="0" smtClean="0"/>
              <a:t>Level the playing field of intellectual capital (IC) amongst providers and innovators.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Expanded </a:t>
            </a:r>
            <a:r>
              <a:rPr lang="en-US" dirty="0" smtClean="0"/>
              <a:t>Membership </a:t>
            </a:r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24200" y="533400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AMA</a:t>
            </a:r>
            <a:endParaRPr lang="en-US" sz="4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Guiding the Providers to deliver value to Patients &amp; Practitioners</a:t>
            </a:r>
          </a:p>
          <a:p>
            <a:endParaRPr lang="en-US" sz="1400" dirty="0" smtClean="0"/>
          </a:p>
          <a:p>
            <a:r>
              <a:rPr lang="en-US" sz="1400" dirty="0" smtClean="0"/>
              <a:t>Guiding Practitioners to measure and optimize the value they deliver to Patients</a:t>
            </a:r>
          </a:p>
          <a:p>
            <a:endParaRPr lang="en-US" sz="1400" dirty="0" smtClean="0"/>
          </a:p>
          <a:p>
            <a:r>
              <a:rPr lang="en-US" sz="1400" dirty="0" smtClean="0"/>
              <a:t>Providing Patients with a way to measure the value they should be receiving for healthcare throughout the continuum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Reducing Costs &amp; Driving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dirty="0" smtClean="0"/>
              <a:t>Today…</a:t>
            </a:r>
          </a:p>
          <a:p>
            <a:pPr lvl="1"/>
            <a:r>
              <a:rPr lang="en-US" dirty="0" smtClean="0"/>
              <a:t>Every company creates value based on their own perceived understanding of customer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  <a:r>
              <a:rPr lang="en-US" dirty="0" smtClean="0"/>
              <a:t> needs.</a:t>
            </a:r>
          </a:p>
          <a:p>
            <a:r>
              <a:rPr lang="en-US" dirty="0" smtClean="0"/>
              <a:t>Tomorrow…</a:t>
            </a:r>
          </a:p>
          <a:p>
            <a:pPr lvl="1"/>
            <a:r>
              <a:rPr lang="en-US" dirty="0" smtClean="0"/>
              <a:t>The AMA can provide a beacon of truth and leadership to:</a:t>
            </a:r>
          </a:p>
          <a:p>
            <a:pPr lvl="2"/>
            <a:r>
              <a:rPr lang="en-US" dirty="0" smtClean="0"/>
              <a:t>Understand customer needs throughout healthcare</a:t>
            </a:r>
          </a:p>
          <a:p>
            <a:pPr lvl="2"/>
            <a:r>
              <a:rPr lang="en-US" dirty="0" smtClean="0"/>
              <a:t>Guide providers to build the right products &amp; services</a:t>
            </a:r>
          </a:p>
          <a:p>
            <a:pPr lvl="2"/>
            <a:r>
              <a:rPr lang="en-US" dirty="0" smtClean="0"/>
              <a:t>Deliver value to customers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  <a:r>
              <a:rPr lang="en-US" dirty="0" smtClean="0"/>
              <a:t> throughout the healthcare continuum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43200" y="601980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* Practitioners &amp; Patients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New Business Model for Creating Value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6200" y="3429000"/>
            <a:ext cx="1371600" cy="761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752601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dirty="0" smtClean="0"/>
              <a:t>Provides new value creation</a:t>
            </a:r>
          </a:p>
          <a:p>
            <a:pPr marL="168275" indent="-168275"/>
            <a:r>
              <a:rPr lang="en-US" sz="1400" dirty="0" smtClean="0"/>
              <a:t>Repositioned for leading healthcare change</a:t>
            </a:r>
          </a:p>
          <a:p>
            <a:pPr marL="168275" indent="-168275"/>
            <a:r>
              <a:rPr lang="en-US" sz="1400" dirty="0" smtClean="0"/>
              <a:t>Relevant to all Providers, Practitioners, and Patients</a:t>
            </a:r>
          </a:p>
          <a:p>
            <a:pPr marL="168275" indent="-168275"/>
            <a:r>
              <a:rPr lang="en-US" sz="1400" dirty="0" smtClean="0"/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1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noProof="0" dirty="0" smtClean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Positioning the AMA to Lead Healthcare Reform</a:t>
            </a:r>
            <a:endParaRPr lang="en-US" dirty="0"/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AMA (Globally Focused)</a:t>
              </a:r>
              <a:endParaRPr lang="en-US" sz="1300" b="1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Advocacy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Groups</a:t>
              </a:r>
              <a:endParaRPr lang="en-US" sz="1300" b="1" kern="1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Disciplines</a:t>
              </a:r>
              <a:endParaRPr lang="en-US" sz="1300" b="1" kern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Providers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(Products &amp; Services)</a:t>
              </a:r>
              <a:endParaRPr lang="en-US" sz="1300" b="1" kern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Institutions</a:t>
              </a:r>
              <a:endParaRPr lang="en-US" sz="1300" b="1" kern="12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Government Bodies</a:t>
              </a:r>
              <a:endParaRPr lang="en-US" sz="1300" b="1" kern="1200" dirty="0"/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Driving Innovation</a:t>
            </a:r>
            <a:endParaRPr lang="en-US" b="1" dirty="0"/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Enabling Value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133600" y="3581400"/>
            <a:ext cx="480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8275" indent="-168275">
              <a:buFont typeface="Arial" pitchFamily="34" charset="0"/>
              <a:buChar char="•"/>
            </a:pPr>
            <a:r>
              <a:rPr lang="en-US" b="1" i="1" dirty="0" smtClean="0"/>
              <a:t>Advocacy Body for: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enablement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capture &amp; measurement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Collaboration  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Unification &amp; cooperation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4436</TotalTime>
  <Words>1326</Words>
  <Application>Microsoft Office PowerPoint</Application>
  <PresentationFormat>On-screen Show (4:3)</PresentationFormat>
  <Paragraphs>215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VEG</vt:lpstr>
      <vt:lpstr>A New Value Proposition for the AMA</vt:lpstr>
      <vt:lpstr>Outline</vt:lpstr>
      <vt:lpstr>Current Challenges</vt:lpstr>
      <vt:lpstr>AMA’s Role in Healthcare Reform</vt:lpstr>
      <vt:lpstr>Needs of the Providers</vt:lpstr>
      <vt:lpstr>Needs of the Practitioners</vt:lpstr>
      <vt:lpstr>Needs of the Patients</vt:lpstr>
      <vt:lpstr>AMA’s Opportunity to enable Value</vt:lpstr>
      <vt:lpstr>AMA at the forefront of Healthcare</vt:lpstr>
      <vt:lpstr>Moving from Assumptions to Implementation</vt:lpstr>
      <vt:lpstr>Value Measurement Platform for Healthcare</vt:lpstr>
      <vt:lpstr>Measuring Value for Healthcare</vt:lpstr>
      <vt:lpstr>Enabling Value for Healthcare</vt:lpstr>
      <vt:lpstr>Enabling Value for Healthcare</vt:lpstr>
      <vt:lpstr>Engaging Providers &amp; Innovators</vt:lpstr>
      <vt:lpstr>Engaging Providers &amp; Innovators</vt:lpstr>
      <vt:lpstr>An Expanded Membership Model</vt:lpstr>
      <vt:lpstr>Reducing Costs &amp; Driving Value</vt:lpstr>
      <vt:lpstr>A New Business Model for Creating Value</vt:lpstr>
      <vt:lpstr>Positioning the AMA to Lead Healthcare Reform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JW</cp:lastModifiedBy>
  <cp:revision>89</cp:revision>
  <dcterms:created xsi:type="dcterms:W3CDTF">2009-06-09T11:36:35Z</dcterms:created>
  <dcterms:modified xsi:type="dcterms:W3CDTF">2009-08-08T00:57:09Z</dcterms:modified>
</cp:coreProperties>
</file>
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customXml/itemProps1.xml" ContentType="application/vnd.openxmlformats-officedocument.customXmlPropertie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customXml/itemProps2.xml" ContentType="application/vnd.openxmlformats-officedocument.customXmlPropertie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1" r:id="rId2"/>
  </p:sldMasterIdLst>
  <p:notesMasterIdLst>
    <p:notesMasterId r:id="rId29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81" r:id="rId14"/>
    <p:sldId id="267" r:id="rId15"/>
    <p:sldId id="268" r:id="rId16"/>
    <p:sldId id="270" r:id="rId17"/>
    <p:sldId id="271" r:id="rId18"/>
    <p:sldId id="272" r:id="rId19"/>
    <p:sldId id="285" r:id="rId20"/>
    <p:sldId id="274" r:id="rId21"/>
    <p:sldId id="275" r:id="rId22"/>
    <p:sldId id="276" r:id="rId23"/>
    <p:sldId id="277" r:id="rId24"/>
    <p:sldId id="282" r:id="rId25"/>
    <p:sldId id="283" r:id="rId26"/>
    <p:sldId id="284" r:id="rId27"/>
    <p:sldId id="27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11" autoAdjust="0"/>
    <p:restoredTop sz="94660"/>
  </p:normalViewPr>
  <p:slideViewPr>
    <p:cSldViewPr>
      <p:cViewPr>
        <p:scale>
          <a:sx n="90" d="100"/>
          <a:sy n="90" d="100"/>
        </p:scale>
        <p:origin x="-750" y="1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customXml" Target="../customXml/item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EDF2B-C759-4ED4-B201-0C9399870FA2}" type="datetimeFigureOut">
              <a:rPr lang="en-US" smtClean="0"/>
              <a:pPr/>
              <a:t>10/2/2011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486CE-DDE7-4BFE-9DA6-48915E110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2B10-B31C-434B-BA08-FA37D1CC7D49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ppt_ExpertsMosaic_Color.jpg"/>
          <p:cNvPicPr>
            <a:picLocks noChangeAspect="1"/>
          </p:cNvPicPr>
          <p:nvPr/>
        </p:nvPicPr>
        <p:blipFill>
          <a:blip r:embed="rId3" cstate="print"/>
          <a:srcRect t="19317"/>
          <a:stretch>
            <a:fillRect/>
          </a:stretch>
        </p:blipFill>
        <p:spPr>
          <a:xfrm>
            <a:off x="0" y="1285860"/>
            <a:ext cx="9144000" cy="5572140"/>
          </a:xfrm>
          <a:prstGeom prst="rect">
            <a:avLst/>
          </a:prstGeom>
        </p:spPr>
      </p:pic>
      <p:sp>
        <p:nvSpPr>
          <p:cNvPr id="14" name="Freeform 30"/>
          <p:cNvSpPr>
            <a:spLocks/>
          </p:cNvSpPr>
          <p:nvPr>
            <p:custDataLst>
              <p:tags r:id="rId1"/>
            </p:custDataLst>
          </p:nvPr>
        </p:nvSpPr>
        <p:spPr bwMode="white">
          <a:xfrm>
            <a:off x="0" y="1146176"/>
            <a:ext cx="9144000" cy="5711825"/>
          </a:xfrm>
          <a:custGeom>
            <a:avLst/>
            <a:gdLst/>
            <a:ahLst/>
            <a:cxnLst>
              <a:cxn ang="0">
                <a:pos x="0" y="3638"/>
              </a:cxn>
              <a:cxn ang="0">
                <a:pos x="516" y="2658"/>
              </a:cxn>
              <a:cxn ang="0">
                <a:pos x="1352" y="2063"/>
              </a:cxn>
              <a:cxn ang="0">
                <a:pos x="3348" y="1519"/>
              </a:cxn>
              <a:cxn ang="0">
                <a:pos x="4987" y="1078"/>
              </a:cxn>
              <a:cxn ang="0">
                <a:pos x="5762" y="534"/>
              </a:cxn>
              <a:cxn ang="0">
                <a:pos x="5762" y="66"/>
              </a:cxn>
              <a:cxn ang="0">
                <a:pos x="4" y="68"/>
              </a:cxn>
            </a:cxnLst>
            <a:rect l="0" t="0" r="r" b="b"/>
            <a:pathLst>
              <a:path w="5762" h="3638">
                <a:moveTo>
                  <a:pt x="0" y="3638"/>
                </a:moveTo>
                <a:cubicBezTo>
                  <a:pt x="58" y="3452"/>
                  <a:pt x="291" y="2920"/>
                  <a:pt x="516" y="2658"/>
                </a:cubicBezTo>
                <a:cubicBezTo>
                  <a:pt x="794" y="2320"/>
                  <a:pt x="1284" y="2093"/>
                  <a:pt x="1352" y="2063"/>
                </a:cubicBezTo>
                <a:cubicBezTo>
                  <a:pt x="1942" y="1786"/>
                  <a:pt x="2872" y="1624"/>
                  <a:pt x="3348" y="1519"/>
                </a:cubicBezTo>
                <a:cubicBezTo>
                  <a:pt x="3895" y="1390"/>
                  <a:pt x="4592" y="1228"/>
                  <a:pt x="4987" y="1078"/>
                </a:cubicBezTo>
                <a:cubicBezTo>
                  <a:pt x="5384" y="933"/>
                  <a:pt x="5632" y="702"/>
                  <a:pt x="5762" y="534"/>
                </a:cubicBezTo>
                <a:cubicBezTo>
                  <a:pt x="5762" y="0"/>
                  <a:pt x="5762" y="61"/>
                  <a:pt x="5762" y="66"/>
                </a:cubicBezTo>
                <a:cubicBezTo>
                  <a:pt x="4803" y="66"/>
                  <a:pt x="1204" y="68"/>
                  <a:pt x="4" y="68"/>
                </a:cubicBezTo>
              </a:path>
            </a:pathLst>
          </a:custGeom>
          <a:gradFill flip="none" rotWithShape="1">
            <a:gsLst>
              <a:gs pos="0">
                <a:schemeClr val="tx2">
                  <a:alpha val="90000"/>
                </a:schemeClr>
              </a:gs>
              <a:gs pos="0">
                <a:schemeClr val="tx2">
                  <a:alpha val="90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2700000" scaled="0"/>
            <a:tileRect/>
          </a:gradFill>
          <a:ln w="19050" cap="flat" cmpd="sng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 eaLnBrk="0" hangingPunct="0">
              <a:lnSpc>
                <a:spcPct val="85000"/>
              </a:lnSpc>
              <a:defRPr/>
            </a:pPr>
            <a:endParaRPr lang="en-US" noProof="0"/>
          </a:p>
        </p:txBody>
      </p:sp>
      <p:pic>
        <p:nvPicPr>
          <p:cNvPr id="9" name="Picture 6" descr="OK_Capgemini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303335" y="368300"/>
            <a:ext cx="1992923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" y="2801938"/>
            <a:ext cx="4886325" cy="792162"/>
          </a:xfrm>
        </p:spPr>
        <p:txBody>
          <a:bodyPr lIns="324000" tIns="180000" rIns="0"/>
          <a:lstStyle>
            <a:lvl1pPr marL="3175" indent="0">
              <a:buFont typeface="Wingdings" pitchFamily="2" charset="2"/>
              <a:buNone/>
              <a:defRPr sz="20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r>
              <a:rPr lang="en-US" noProof="0" dirty="0" smtClean="0"/>
              <a:t>Click to edit Master sub-title style</a:t>
            </a:r>
            <a:endParaRPr lang="en-US" noProof="0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 bwMode="auto">
          <a:xfrm>
            <a:off x="0" y="1240390"/>
            <a:ext cx="9144000" cy="1512887"/>
          </a:xfrm>
        </p:spPr>
        <p:txBody>
          <a:bodyPr lIns="324000" tIns="396000" rIns="36000" bIns="36000" anchor="t"/>
          <a:lstStyle>
            <a:lvl1pPr marL="0" indent="0" algn="l">
              <a:tabLst/>
              <a:defRPr sz="3600">
                <a:solidFill>
                  <a:schemeClr val="tx2">
                    <a:lumMod val="20000"/>
                    <a:lumOff val="80000"/>
                  </a:schemeClr>
                </a:solidFill>
                <a:latin typeface="Arial Narrow" pitchFamily="34" charset="0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pic>
        <p:nvPicPr>
          <p:cNvPr id="8" name="Image 7" descr="Capgemini_Slogan_RGB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690289" y="373713"/>
            <a:ext cx="3214885" cy="36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ppt_KeyWords_Bkgd_OK.jpg"/>
          <p:cNvPicPr>
            <a:picLocks noChangeAspect="1"/>
          </p:cNvPicPr>
          <p:nvPr/>
        </p:nvPicPr>
        <p:blipFill>
          <a:blip r:embed="rId3" cstate="print"/>
          <a:srcRect b="20413"/>
          <a:stretch>
            <a:fillRect/>
          </a:stretch>
        </p:blipFill>
        <p:spPr>
          <a:xfrm>
            <a:off x="0" y="1285860"/>
            <a:ext cx="9144000" cy="5572140"/>
          </a:xfrm>
          <a:prstGeom prst="rect">
            <a:avLst/>
          </a:prstGeom>
        </p:spPr>
      </p:pic>
      <p:sp>
        <p:nvSpPr>
          <p:cNvPr id="14" name="Freeform 30"/>
          <p:cNvSpPr>
            <a:spLocks/>
          </p:cNvSpPr>
          <p:nvPr>
            <p:custDataLst>
              <p:tags r:id="rId1"/>
            </p:custDataLst>
          </p:nvPr>
        </p:nvSpPr>
        <p:spPr bwMode="white">
          <a:xfrm>
            <a:off x="0" y="1146176"/>
            <a:ext cx="9145108" cy="5711825"/>
          </a:xfrm>
          <a:custGeom>
            <a:avLst/>
            <a:gdLst/>
            <a:ahLst/>
            <a:cxnLst>
              <a:cxn ang="0">
                <a:pos x="0" y="3638"/>
              </a:cxn>
              <a:cxn ang="0">
                <a:pos x="516" y="2658"/>
              </a:cxn>
              <a:cxn ang="0">
                <a:pos x="1352" y="2063"/>
              </a:cxn>
              <a:cxn ang="0">
                <a:pos x="3348" y="1519"/>
              </a:cxn>
              <a:cxn ang="0">
                <a:pos x="4987" y="1078"/>
              </a:cxn>
              <a:cxn ang="0">
                <a:pos x="5762" y="534"/>
              </a:cxn>
              <a:cxn ang="0">
                <a:pos x="5762" y="66"/>
              </a:cxn>
              <a:cxn ang="0">
                <a:pos x="4" y="68"/>
              </a:cxn>
            </a:cxnLst>
            <a:rect l="0" t="0" r="r" b="b"/>
            <a:pathLst>
              <a:path w="5762" h="3638">
                <a:moveTo>
                  <a:pt x="0" y="3638"/>
                </a:moveTo>
                <a:cubicBezTo>
                  <a:pt x="58" y="3452"/>
                  <a:pt x="291" y="2920"/>
                  <a:pt x="516" y="2658"/>
                </a:cubicBezTo>
                <a:cubicBezTo>
                  <a:pt x="794" y="2320"/>
                  <a:pt x="1284" y="2093"/>
                  <a:pt x="1352" y="2063"/>
                </a:cubicBezTo>
                <a:cubicBezTo>
                  <a:pt x="1942" y="1786"/>
                  <a:pt x="2872" y="1624"/>
                  <a:pt x="3348" y="1519"/>
                </a:cubicBezTo>
                <a:cubicBezTo>
                  <a:pt x="3895" y="1390"/>
                  <a:pt x="4592" y="1228"/>
                  <a:pt x="4987" y="1078"/>
                </a:cubicBezTo>
                <a:cubicBezTo>
                  <a:pt x="5384" y="933"/>
                  <a:pt x="5632" y="702"/>
                  <a:pt x="5762" y="534"/>
                </a:cubicBezTo>
                <a:cubicBezTo>
                  <a:pt x="5762" y="0"/>
                  <a:pt x="5762" y="61"/>
                  <a:pt x="5762" y="66"/>
                </a:cubicBezTo>
                <a:cubicBezTo>
                  <a:pt x="4803" y="66"/>
                  <a:pt x="1204" y="68"/>
                  <a:pt x="4" y="68"/>
                </a:cubicBezTo>
              </a:path>
            </a:pathLst>
          </a:custGeom>
          <a:gradFill flip="none" rotWithShape="1">
            <a:gsLst>
              <a:gs pos="0">
                <a:schemeClr val="tx2">
                  <a:alpha val="90000"/>
                </a:schemeClr>
              </a:gs>
              <a:gs pos="0">
                <a:schemeClr val="tx2">
                  <a:alpha val="90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2700000" scaled="0"/>
            <a:tileRect/>
          </a:gradFill>
          <a:ln w="19050" cap="flat" cmpd="sng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 eaLnBrk="0" hangingPunct="0">
              <a:lnSpc>
                <a:spcPct val="85000"/>
              </a:lnSpc>
              <a:defRPr/>
            </a:pPr>
            <a:endParaRPr lang="en-US" noProof="0"/>
          </a:p>
        </p:txBody>
      </p:sp>
      <p:pic>
        <p:nvPicPr>
          <p:cNvPr id="9" name="Picture 6" descr="OK_Capgemini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303335" y="368300"/>
            <a:ext cx="1992923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" y="2801938"/>
            <a:ext cx="4886325" cy="792162"/>
          </a:xfrm>
        </p:spPr>
        <p:txBody>
          <a:bodyPr lIns="324000" tIns="180000" rIns="0"/>
          <a:lstStyle>
            <a:lvl1pPr marL="3175" indent="0">
              <a:buFont typeface="Wingdings" pitchFamily="2" charset="2"/>
              <a:buNone/>
              <a:defRPr sz="20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r>
              <a:rPr lang="en-US" noProof="0" smtClean="0"/>
              <a:t>Click to edit Master sub-title style</a:t>
            </a:r>
            <a:endParaRPr lang="en-US" noProof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 bwMode="auto">
          <a:xfrm>
            <a:off x="0" y="1240390"/>
            <a:ext cx="9144000" cy="151288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324000" tIns="396000" rIns="36000" bIns="3600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lang="en-US" sz="3600" b="1" kern="1200" noProof="0" dirty="0">
                <a:solidFill>
                  <a:schemeClr val="tx2">
                    <a:lumMod val="20000"/>
                    <a:lumOff val="80000"/>
                  </a:schemeClr>
                </a:solidFill>
                <a:latin typeface="Arial Narrow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pic>
        <p:nvPicPr>
          <p:cNvPr id="10" name="Image 9" descr="Capgemini_Slogan_RGB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690289" y="373713"/>
            <a:ext cx="3214885" cy="36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990600"/>
          </a:xfrm>
        </p:spPr>
        <p:txBody>
          <a:bodyPr tIns="180000" anchor="ctr" anchorCtr="0"/>
          <a:lstStyle>
            <a:lvl1pPr>
              <a:defRPr b="1" cap="small" baseline="0"/>
            </a:lvl1pPr>
          </a:lstStyle>
          <a:p>
            <a:r>
              <a:rPr lang="en-US" noProof="0" dirty="0" smtClean="0"/>
              <a:t>Click to edit title style</a:t>
            </a:r>
            <a:endParaRPr lang="en-US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0" y="990600"/>
            <a:ext cx="9144000" cy="5105401"/>
          </a:xfrm>
        </p:spPr>
        <p:txBody>
          <a:bodyPr/>
          <a:lstStyle>
            <a:lvl1pPr marL="265113" indent="-265113">
              <a:defRPr/>
            </a:lvl1pPr>
            <a:lvl2pPr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</p:txBody>
      </p:sp>
      <p:sp>
        <p:nvSpPr>
          <p:cNvPr id="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610316" y="6554854"/>
            <a:ext cx="526352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endParaRPr lang="en-US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724" y="6732066"/>
            <a:ext cx="197737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fld id="{B41AA925-2325-4C81-9F52-52BCD7E3D2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7"/>
          <p:cNvSpPr>
            <a:spLocks noGrp="1" noChangeArrowheads="1"/>
          </p:cNvSpPr>
          <p:nvPr>
            <p:ph type="dt" sz="half" idx="2"/>
          </p:nvPr>
        </p:nvSpPr>
        <p:spPr>
          <a:xfrm>
            <a:off x="6265761" y="6692904"/>
            <a:ext cx="2658462" cy="165100"/>
          </a:xfrm>
          <a:prstGeom prst="rect">
            <a:avLst/>
          </a:prstGeom>
          <a:ln/>
        </p:spPr>
        <p:txBody>
          <a:bodyPr/>
          <a:lstStyle>
            <a:lvl1pPr algn="r" eaLnBrk="0" hangingPunct="0">
              <a:lnSpc>
                <a:spcPct val="85000"/>
              </a:lnSpc>
              <a:defRPr sz="600" smtClean="0">
                <a:solidFill>
                  <a:schemeClr val="tx1"/>
                </a:solidFill>
              </a:defRPr>
            </a:lvl1pPr>
          </a:lstStyle>
          <a:p>
            <a:fld id="{A6B5E44E-53BD-4114-8083-A07569796DC3}" type="datetimeFigureOut">
              <a:rPr lang="en-US" smtClean="0"/>
              <a:pPr/>
              <a:t>10/2/2011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s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188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0" y="1439999"/>
            <a:ext cx="9144000" cy="4680000"/>
          </a:xfrm>
        </p:spPr>
        <p:txBody>
          <a:bodyPr/>
          <a:lstStyle>
            <a:lvl1pPr marL="273050" indent="-273050">
              <a:defRPr baseline="0">
                <a:solidFill>
                  <a:schemeClr val="tx1"/>
                </a:solidFill>
              </a:defRPr>
            </a:lvl1pPr>
            <a:lvl2pPr marL="531813" indent="-176213">
              <a:defRPr>
                <a:solidFill>
                  <a:schemeClr val="tx1"/>
                </a:solidFill>
              </a:defRPr>
            </a:lvl2pPr>
            <a:lvl3pPr marL="804863" indent="-177800">
              <a:buClr>
                <a:schemeClr val="accent1"/>
              </a:buClr>
              <a:buFont typeface="Courier New" pitchFamily="49" charset="0"/>
              <a:buChar char="o"/>
              <a:defRPr>
                <a:solidFill>
                  <a:schemeClr val="tx1"/>
                </a:solidFill>
              </a:defRPr>
            </a:lvl3pPr>
            <a:lvl4pPr marL="1160463" indent="-260350">
              <a:buClr>
                <a:schemeClr val="accent3"/>
              </a:buClr>
              <a:defRPr>
                <a:solidFill>
                  <a:schemeClr val="tx1"/>
                </a:solidFill>
              </a:defRPr>
            </a:lvl4pPr>
            <a:lvl5pPr marL="1433513" indent="-177800">
              <a:defRPr sz="1400" baseline="0"/>
            </a:lvl5pPr>
            <a:lvl6pPr>
              <a:buNone/>
              <a:defRPr/>
            </a:lvl6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  <a:p>
            <a:pPr lvl="4"/>
            <a:r>
              <a:rPr lang="en-US" noProof="0" dirty="0" smtClean="0"/>
              <a:t>Text style level 5</a:t>
            </a:r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610316" y="6554854"/>
            <a:ext cx="526352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endParaRPr lang="en-US"/>
          </a:p>
        </p:txBody>
      </p:sp>
      <p:sp>
        <p:nvSpPr>
          <p:cNvPr id="8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724" y="6732066"/>
            <a:ext cx="197737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fld id="{B41AA925-2325-4C81-9F52-52BCD7E3D2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17"/>
          <p:cNvSpPr>
            <a:spLocks noGrp="1" noChangeArrowheads="1"/>
          </p:cNvSpPr>
          <p:nvPr>
            <p:ph type="dt" sz="half" idx="2"/>
          </p:nvPr>
        </p:nvSpPr>
        <p:spPr>
          <a:xfrm>
            <a:off x="6265761" y="6692904"/>
            <a:ext cx="2658462" cy="165100"/>
          </a:xfrm>
          <a:prstGeom prst="rect">
            <a:avLst/>
          </a:prstGeom>
          <a:ln/>
        </p:spPr>
        <p:txBody>
          <a:bodyPr/>
          <a:lstStyle>
            <a:lvl1pPr algn="r" eaLnBrk="0" hangingPunct="0">
              <a:lnSpc>
                <a:spcPct val="85000"/>
              </a:lnSpc>
              <a:defRPr sz="600" smtClean="0">
                <a:solidFill>
                  <a:schemeClr val="tx1"/>
                </a:solidFill>
              </a:defRPr>
            </a:lvl1pPr>
          </a:lstStyle>
          <a:p>
            <a:fld id="{A6B5E44E-53BD-4114-8083-A07569796DC3}" type="datetimeFigureOut">
              <a:rPr lang="en-US" smtClean="0"/>
              <a:pPr/>
              <a:t>10/2/2011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Master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188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252000" rIns="72000" bIns="36000" numCol="1" anchor="ctr" anchorCtr="0" compatLnSpc="1">
            <a:prstTxWarp prst="textNoShape">
              <a:avLst/>
            </a:prstTxWarp>
          </a:bodyPr>
          <a:lstStyle>
            <a:lvl1pPr marL="714375" indent="-714375"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3000" b="1" noProof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0" y="2101755"/>
            <a:ext cx="9144000" cy="40244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288000" tIns="36000" rIns="72000" bIns="36000" numCol="1" anchor="t" anchorCtr="0" compatLnSpc="1">
            <a:prstTxWarp prst="textNoShape">
              <a:avLst/>
            </a:prstTxWarp>
          </a:bodyPr>
          <a:lstStyle>
            <a:lvl1pPr algn="l" defTabSz="714375" rtl="0" eaLnBrk="0" fontAlgn="base" hangingPunct="0">
              <a:spcBef>
                <a:spcPct val="20000"/>
              </a:spcBef>
              <a:spcAft>
                <a:spcPct val="0"/>
              </a:spcAft>
              <a:defRPr lang="fr-FR" sz="24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714375" rtl="0" eaLnBrk="0" fontAlgn="base" hangingPunct="0">
              <a:spcBef>
                <a:spcPct val="20000"/>
              </a:spcBef>
              <a:spcAft>
                <a:spcPct val="0"/>
              </a:spcAft>
              <a:defRPr lang="fr-FR" sz="20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714375" rtl="0" eaLnBrk="0" fontAlgn="base" hangingPunct="0">
              <a:spcBef>
                <a:spcPct val="20000"/>
              </a:spcBef>
              <a:spcAft>
                <a:spcPct val="0"/>
              </a:spcAft>
              <a:defRPr lang="fr-FR" sz="18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714375" rtl="0" eaLnBrk="0" fontAlgn="base" hangingPunct="0">
              <a:spcBef>
                <a:spcPct val="20000"/>
              </a:spcBef>
              <a:spcAft>
                <a:spcPct val="0"/>
              </a:spcAft>
              <a:defRPr lang="fr-FR" sz="16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7163" indent="-266700" algn="l" defTabSz="636588" rtl="0" eaLnBrk="0" fontAlgn="base" hangingPunct="0">
              <a:spcBef>
                <a:spcPct val="20000"/>
              </a:spcBef>
              <a:spcAft>
                <a:spcPct val="0"/>
              </a:spcAft>
              <a:defRPr lang="en-US" sz="14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  <a:p>
            <a:pPr lvl="4"/>
            <a:r>
              <a:rPr lang="en-US" noProof="0" dirty="0" smtClean="0"/>
              <a:t>Text style level 5</a:t>
            </a:r>
            <a:endParaRPr lang="en-US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0" y="1440001"/>
            <a:ext cx="9144000" cy="557473"/>
          </a:xfrm>
        </p:spPr>
        <p:txBody>
          <a:bodyPr/>
          <a:lstStyle>
            <a:lvl1pPr marL="0" indent="0">
              <a:buNone/>
              <a:defRPr sz="24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9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610316" y="6554854"/>
            <a:ext cx="526352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endParaRPr lang="en-US"/>
          </a:p>
        </p:txBody>
      </p:sp>
      <p:sp>
        <p:nvSpPr>
          <p:cNvPr id="10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724" y="6732066"/>
            <a:ext cx="197737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fld id="{B41AA925-2325-4C81-9F52-52BCD7E3D2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7"/>
          <p:cNvSpPr>
            <a:spLocks noGrp="1" noChangeArrowheads="1"/>
          </p:cNvSpPr>
          <p:nvPr>
            <p:ph type="dt" sz="half" idx="10"/>
          </p:nvPr>
        </p:nvSpPr>
        <p:spPr>
          <a:xfrm>
            <a:off x="6265761" y="6692904"/>
            <a:ext cx="2658462" cy="165100"/>
          </a:xfrm>
          <a:prstGeom prst="rect">
            <a:avLst/>
          </a:prstGeom>
          <a:ln/>
        </p:spPr>
        <p:txBody>
          <a:bodyPr/>
          <a:lstStyle>
            <a:lvl1pPr algn="r" eaLnBrk="0" hangingPunct="0">
              <a:lnSpc>
                <a:spcPct val="85000"/>
              </a:lnSpc>
              <a:defRPr sz="600" smtClean="0">
                <a:solidFill>
                  <a:schemeClr val="tx1"/>
                </a:solidFill>
              </a:defRPr>
            </a:lvl1pPr>
          </a:lstStyle>
          <a:p>
            <a:fld id="{A6B5E44E-53BD-4114-8083-A07569796DC3}" type="datetimeFigureOut">
              <a:rPr lang="en-US" smtClean="0"/>
              <a:pPr/>
              <a:t>10/2/2011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188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66154" y="1440000"/>
            <a:ext cx="4320000" cy="4633200"/>
          </a:xfrm>
        </p:spPr>
        <p:txBody>
          <a:bodyPr lIns="72000" rIns="36000"/>
          <a:lstStyle>
            <a:lvl1pPr>
              <a:defRPr sz="2000" baseline="0"/>
            </a:lvl1pPr>
            <a:lvl2pPr>
              <a:defRPr sz="1800"/>
            </a:lvl2pPr>
            <a:lvl3pPr>
              <a:defRPr sz="1600"/>
            </a:lvl3pPr>
            <a:lvl4pPr>
              <a:defRPr sz="1400" baseline="0"/>
            </a:lvl4pPr>
            <a:lvl5pPr marL="1350963" indent="-19050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title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52308" y="1440000"/>
            <a:ext cx="4320000" cy="4633200"/>
          </a:xfrm>
        </p:spPr>
        <p:txBody>
          <a:bodyPr lIns="72000" rIns="3600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 baseline="0"/>
            </a:lvl4pPr>
            <a:lvl5pPr marL="1350963" indent="-19050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title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8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610316" y="6554854"/>
            <a:ext cx="526352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endParaRPr lang="en-US"/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8940724" y="6732066"/>
            <a:ext cx="197737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fld id="{B41AA925-2325-4C81-9F52-52BCD7E3D2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7"/>
          <p:cNvSpPr>
            <a:spLocks noGrp="1" noChangeArrowheads="1"/>
          </p:cNvSpPr>
          <p:nvPr>
            <p:ph type="dt" sz="half" idx="11"/>
          </p:nvPr>
        </p:nvSpPr>
        <p:spPr>
          <a:xfrm>
            <a:off x="6265761" y="6692904"/>
            <a:ext cx="2658462" cy="165100"/>
          </a:xfrm>
          <a:prstGeom prst="rect">
            <a:avLst/>
          </a:prstGeom>
          <a:ln/>
        </p:spPr>
        <p:txBody>
          <a:bodyPr/>
          <a:lstStyle>
            <a:lvl1pPr algn="r" eaLnBrk="0" hangingPunct="0">
              <a:lnSpc>
                <a:spcPct val="85000"/>
              </a:lnSpc>
              <a:defRPr sz="600" smtClean="0">
                <a:solidFill>
                  <a:schemeClr val="tx1"/>
                </a:solidFill>
              </a:defRPr>
            </a:lvl1pPr>
          </a:lstStyle>
          <a:p>
            <a:fld id="{A6B5E44E-53BD-4114-8083-A07569796DC3}" type="datetimeFigureOut">
              <a:rPr lang="en-US" smtClean="0"/>
              <a:pPr/>
              <a:t>10/2/2011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88969" y="1440000"/>
            <a:ext cx="4308297" cy="639762"/>
          </a:xfrm>
        </p:spPr>
        <p:txBody>
          <a:bodyPr lIns="36000" rIns="36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88969" y="2092987"/>
            <a:ext cx="4308297" cy="3951288"/>
          </a:xfrm>
        </p:spPr>
        <p:txBody>
          <a:bodyPr lIns="72000" rIns="36000"/>
          <a:lstStyle>
            <a:lvl1pPr>
              <a:defRPr sz="2000" baseline="0"/>
            </a:lvl1pPr>
            <a:lvl2pPr>
              <a:defRPr sz="1800"/>
            </a:lvl2pPr>
            <a:lvl3pPr>
              <a:defRPr sz="1600"/>
            </a:lvl3pPr>
            <a:lvl4pPr>
              <a:defRPr sz="1400" baseline="0"/>
            </a:lvl4pPr>
            <a:lvl5pPr marL="1350963" indent="-19050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title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708260" y="1440000"/>
            <a:ext cx="4261470" cy="639762"/>
          </a:xfrm>
        </p:spPr>
        <p:txBody>
          <a:bodyPr lIns="36000" rIns="36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708260" y="2092987"/>
            <a:ext cx="4261470" cy="3951288"/>
          </a:xfrm>
        </p:spPr>
        <p:txBody>
          <a:bodyPr lIns="72000" rIns="3600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 baseline="0"/>
            </a:lvl4pPr>
            <a:lvl5pPr marL="1350963" indent="-19050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title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13" name="Rectangle 18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610316" y="6554854"/>
            <a:ext cx="526352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endParaRPr lang="en-US"/>
          </a:p>
        </p:txBody>
      </p:sp>
      <p:sp>
        <p:nvSpPr>
          <p:cNvPr id="14" name="Rectangle 19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940724" y="6732066"/>
            <a:ext cx="197737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fld id="{B41AA925-2325-4C81-9F52-52BCD7E3D2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7"/>
          <p:cNvSpPr>
            <a:spLocks noGrp="1" noChangeArrowheads="1"/>
          </p:cNvSpPr>
          <p:nvPr>
            <p:ph type="dt" sz="half" idx="12"/>
          </p:nvPr>
        </p:nvSpPr>
        <p:spPr>
          <a:xfrm>
            <a:off x="6265761" y="6692904"/>
            <a:ext cx="2658462" cy="165100"/>
          </a:xfrm>
          <a:prstGeom prst="rect">
            <a:avLst/>
          </a:prstGeom>
          <a:ln/>
        </p:spPr>
        <p:txBody>
          <a:bodyPr/>
          <a:lstStyle>
            <a:lvl1pPr algn="r" eaLnBrk="0" hangingPunct="0">
              <a:lnSpc>
                <a:spcPct val="85000"/>
              </a:lnSpc>
              <a:defRPr sz="600" smtClean="0">
                <a:solidFill>
                  <a:schemeClr val="tx1"/>
                </a:solidFill>
              </a:defRPr>
            </a:lvl1pPr>
          </a:lstStyle>
          <a:p>
            <a:fld id="{A6B5E44E-53BD-4114-8083-A07569796DC3}" type="datetimeFigureOut">
              <a:rPr lang="en-US" smtClean="0"/>
              <a:pPr/>
              <a:t>10/2/2011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s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188000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 smtClean="0"/>
              <a:t>More information</a:t>
            </a:r>
            <a:endParaRPr lang="en-US" noProof="0" dirty="0"/>
          </a:p>
        </p:txBody>
      </p:sp>
      <p:pic>
        <p:nvPicPr>
          <p:cNvPr id="7" name="Picture 12" descr="OK_Capgemini"/>
          <p:cNvPicPr>
            <a:picLocks noChangeAspect="1" noChangeArrowheads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3689" y="6381751"/>
            <a:ext cx="143900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26"/>
          <p:cNvSpPr>
            <a:spLocks noChangeArrowheads="1"/>
          </p:cNvSpPr>
          <p:nvPr/>
        </p:nvSpPr>
        <p:spPr bwMode="auto">
          <a:xfrm>
            <a:off x="0" y="6286501"/>
            <a:ext cx="9145108" cy="17463"/>
          </a:xfrm>
          <a:prstGeom prst="rect">
            <a:avLst/>
          </a:prstGeom>
          <a:gradFill rotWithShape="1">
            <a:gsLst>
              <a:gs pos="0">
                <a:schemeClr val="tx2">
                  <a:gamma/>
                  <a:tint val="22353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85000"/>
              </a:lnSpc>
              <a:defRPr/>
            </a:pPr>
            <a:endParaRPr lang="en-US" noProof="0"/>
          </a:p>
        </p:txBody>
      </p:sp>
      <p:sp>
        <p:nvSpPr>
          <p:cNvPr id="12" name="Freeform 23"/>
          <p:cNvSpPr>
            <a:spLocks/>
          </p:cNvSpPr>
          <p:nvPr/>
        </p:nvSpPr>
        <p:spPr bwMode="auto">
          <a:xfrm>
            <a:off x="0" y="1"/>
            <a:ext cx="3191608" cy="12350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" y="405"/>
              </a:cxn>
              <a:cxn ang="0">
                <a:pos x="1048" y="0"/>
              </a:cxn>
              <a:cxn ang="0">
                <a:pos x="0" y="0"/>
              </a:cxn>
            </a:cxnLst>
            <a:rect l="0" t="0" r="r" b="b"/>
            <a:pathLst>
              <a:path w="1048" h="405">
                <a:moveTo>
                  <a:pt x="0" y="0"/>
                </a:moveTo>
                <a:cubicBezTo>
                  <a:pt x="1" y="405"/>
                  <a:pt x="1" y="405"/>
                  <a:pt x="1" y="405"/>
                </a:cubicBezTo>
                <a:cubicBezTo>
                  <a:pt x="32" y="191"/>
                  <a:pt x="804" y="1"/>
                  <a:pt x="1048" y="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16200000" scaled="1"/>
            <a:tileRect/>
          </a:gra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 eaLnBrk="0" hangingPunct="0">
              <a:lnSpc>
                <a:spcPct val="85000"/>
              </a:lnSpc>
              <a:defRPr/>
            </a:pPr>
            <a:endParaRPr lang="en-US" noProof="0"/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7868890" y="6305551"/>
            <a:ext cx="1282453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lIns="36000" rIns="72000">
            <a:spAutoFit/>
          </a:bodyPr>
          <a:lstStyle/>
          <a:p>
            <a:pPr algn="r" eaLnBrk="0" hangingPunct="0">
              <a:spcBef>
                <a:spcPct val="10000"/>
              </a:spcBef>
              <a:defRPr/>
            </a:pPr>
            <a:r>
              <a:rPr lang="en-US" altLang="en-US" sz="1000" noProof="0" dirty="0" smtClean="0">
                <a:solidFill>
                  <a:schemeClr val="tx1"/>
                </a:solidFill>
              </a:rPr>
              <a:t>| Group</a:t>
            </a:r>
            <a:r>
              <a:rPr lang="en-US" altLang="en-US" sz="1000" baseline="0" noProof="0" dirty="0" smtClean="0">
                <a:solidFill>
                  <a:schemeClr val="tx1"/>
                </a:solidFill>
              </a:rPr>
              <a:t> Presentation</a:t>
            </a:r>
            <a:endParaRPr lang="en-US" altLang="en-US" sz="1000" noProof="0" dirty="0">
              <a:solidFill>
                <a:schemeClr val="tx1"/>
              </a:solidFill>
            </a:endParaRPr>
          </a:p>
        </p:txBody>
      </p:sp>
      <p:sp>
        <p:nvSpPr>
          <p:cNvPr id="11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610316" y="6554854"/>
            <a:ext cx="526352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endParaRPr lang="en-US"/>
          </a:p>
        </p:txBody>
      </p:sp>
      <p:sp>
        <p:nvSpPr>
          <p:cNvPr id="1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724" y="6732066"/>
            <a:ext cx="197737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fld id="{B41AA925-2325-4C81-9F52-52BCD7E3D2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7"/>
          <p:cNvSpPr>
            <a:spLocks noGrp="1" noChangeArrowheads="1"/>
          </p:cNvSpPr>
          <p:nvPr>
            <p:ph type="dt" sz="half" idx="2"/>
          </p:nvPr>
        </p:nvSpPr>
        <p:spPr>
          <a:xfrm>
            <a:off x="6265761" y="6692904"/>
            <a:ext cx="2658462" cy="165100"/>
          </a:xfrm>
          <a:prstGeom prst="rect">
            <a:avLst/>
          </a:prstGeom>
          <a:ln/>
        </p:spPr>
        <p:txBody>
          <a:bodyPr/>
          <a:lstStyle>
            <a:lvl1pPr algn="r" eaLnBrk="0" hangingPunct="0">
              <a:lnSpc>
                <a:spcPct val="85000"/>
              </a:lnSpc>
              <a:defRPr sz="600" smtClean="0">
                <a:solidFill>
                  <a:schemeClr val="tx1"/>
                </a:solidFill>
              </a:defRPr>
            </a:lvl1pPr>
          </a:lstStyle>
          <a:p>
            <a:fld id="{A6B5E44E-53BD-4114-8083-A07569796DC3}" type="datetimeFigureOut">
              <a:rPr lang="en-US" smtClean="0"/>
              <a:pPr/>
              <a:t>10/2/2011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1AA925-2325-4C81-9F52-52BCD7E3D2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A6B5E44E-53BD-4114-8083-A07569796DC3}" type="datetimeFigureOut">
              <a:rPr lang="en-US" smtClean="0"/>
              <a:pPr/>
              <a:t>10/2/2011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1" y="0"/>
            <a:ext cx="9144000" cy="6896100"/>
          </a:xfrm>
          <a:custGeom>
            <a:avLst/>
            <a:gdLst/>
            <a:ahLst/>
            <a:cxnLst>
              <a:cxn ang="0">
                <a:pos x="0" y="3797"/>
              </a:cxn>
              <a:cxn ang="0">
                <a:pos x="0" y="3252"/>
              </a:cxn>
              <a:cxn ang="0">
                <a:pos x="0" y="2159"/>
              </a:cxn>
              <a:cxn ang="0">
                <a:pos x="0" y="1611"/>
              </a:cxn>
              <a:cxn ang="0">
                <a:pos x="0" y="523"/>
              </a:cxn>
              <a:cxn ang="0">
                <a:pos x="0" y="387"/>
              </a:cxn>
              <a:cxn ang="0">
                <a:pos x="5760" y="9"/>
              </a:cxn>
              <a:cxn ang="0">
                <a:pos x="5760" y="312"/>
              </a:cxn>
              <a:cxn ang="0">
                <a:pos x="5760" y="377"/>
              </a:cxn>
              <a:cxn ang="0">
                <a:pos x="5760" y="786"/>
              </a:cxn>
              <a:cxn ang="0">
                <a:pos x="5760" y="1060"/>
              </a:cxn>
              <a:cxn ang="0">
                <a:pos x="5760" y="1262"/>
              </a:cxn>
              <a:cxn ang="0">
                <a:pos x="5758" y="1283"/>
              </a:cxn>
              <a:cxn ang="0">
                <a:pos x="5747" y="1301"/>
              </a:cxn>
              <a:cxn ang="0">
                <a:pos x="5719" y="1339"/>
              </a:cxn>
              <a:cxn ang="0">
                <a:pos x="5650" y="1406"/>
              </a:cxn>
              <a:cxn ang="0">
                <a:pos x="5597" y="1445"/>
              </a:cxn>
              <a:cxn ang="0">
                <a:pos x="5480" y="1515"/>
              </a:cxn>
              <a:cxn ang="0">
                <a:pos x="5295" y="1608"/>
              </a:cxn>
              <a:cxn ang="0">
                <a:pos x="5161" y="1663"/>
              </a:cxn>
              <a:cxn ang="0">
                <a:pos x="4893" y="1759"/>
              </a:cxn>
              <a:cxn ang="0">
                <a:pos x="4615" y="1845"/>
              </a:cxn>
              <a:cxn ang="0">
                <a:pos x="4188" y="1958"/>
              </a:cxn>
              <a:cxn ang="0">
                <a:pos x="3902" y="2027"/>
              </a:cxn>
              <a:cxn ang="0">
                <a:pos x="3614" y="2089"/>
              </a:cxn>
              <a:cxn ang="0">
                <a:pos x="2993" y="2192"/>
              </a:cxn>
              <a:cxn ang="0">
                <a:pos x="2444" y="2281"/>
              </a:cxn>
              <a:cxn ang="0">
                <a:pos x="2160" y="2348"/>
              </a:cxn>
              <a:cxn ang="0">
                <a:pos x="1880" y="2427"/>
              </a:cxn>
              <a:cxn ang="0">
                <a:pos x="1609" y="2517"/>
              </a:cxn>
              <a:cxn ang="0">
                <a:pos x="1410" y="2596"/>
              </a:cxn>
              <a:cxn ang="0">
                <a:pos x="1284" y="2655"/>
              </a:cxn>
              <a:cxn ang="0">
                <a:pos x="1102" y="2749"/>
              </a:cxn>
              <a:cxn ang="0">
                <a:pos x="931" y="2859"/>
              </a:cxn>
              <a:cxn ang="0">
                <a:pos x="822" y="2938"/>
              </a:cxn>
              <a:cxn ang="0">
                <a:pos x="672" y="3069"/>
              </a:cxn>
              <a:cxn ang="0">
                <a:pos x="531" y="3207"/>
              </a:cxn>
              <a:cxn ang="0">
                <a:pos x="447" y="3308"/>
              </a:cxn>
              <a:cxn ang="0">
                <a:pos x="329" y="3468"/>
              </a:cxn>
              <a:cxn ang="0">
                <a:pos x="227" y="3636"/>
              </a:cxn>
              <a:cxn ang="0">
                <a:pos x="167" y="3755"/>
              </a:cxn>
              <a:cxn ang="0">
                <a:pos x="92" y="3940"/>
              </a:cxn>
              <a:cxn ang="0">
                <a:pos x="35" y="4130"/>
              </a:cxn>
              <a:cxn ang="0">
                <a:pos x="7" y="4268"/>
              </a:cxn>
            </a:cxnLst>
            <a:rect l="0" t="0" r="r" b="b"/>
            <a:pathLst>
              <a:path w="5760" h="4339">
                <a:moveTo>
                  <a:pt x="0" y="4339"/>
                </a:moveTo>
                <a:lnTo>
                  <a:pt x="0" y="4339"/>
                </a:lnTo>
                <a:lnTo>
                  <a:pt x="0" y="3797"/>
                </a:lnTo>
                <a:lnTo>
                  <a:pt x="0" y="3797"/>
                </a:lnTo>
                <a:lnTo>
                  <a:pt x="0" y="3252"/>
                </a:lnTo>
                <a:lnTo>
                  <a:pt x="0" y="3252"/>
                </a:lnTo>
                <a:lnTo>
                  <a:pt x="0" y="2705"/>
                </a:lnTo>
                <a:lnTo>
                  <a:pt x="0" y="2705"/>
                </a:lnTo>
                <a:lnTo>
                  <a:pt x="0" y="2159"/>
                </a:lnTo>
                <a:lnTo>
                  <a:pt x="0" y="2159"/>
                </a:lnTo>
                <a:lnTo>
                  <a:pt x="0" y="1611"/>
                </a:lnTo>
                <a:lnTo>
                  <a:pt x="0" y="1611"/>
                </a:lnTo>
                <a:lnTo>
                  <a:pt x="0" y="1066"/>
                </a:lnTo>
                <a:lnTo>
                  <a:pt x="0" y="1066"/>
                </a:lnTo>
                <a:lnTo>
                  <a:pt x="0" y="523"/>
                </a:lnTo>
                <a:lnTo>
                  <a:pt x="0" y="523"/>
                </a:lnTo>
                <a:lnTo>
                  <a:pt x="0" y="387"/>
                </a:lnTo>
                <a:lnTo>
                  <a:pt x="0" y="387"/>
                </a:lnTo>
                <a:lnTo>
                  <a:pt x="0" y="0"/>
                </a:lnTo>
                <a:lnTo>
                  <a:pt x="155" y="9"/>
                </a:lnTo>
                <a:lnTo>
                  <a:pt x="5760" y="9"/>
                </a:lnTo>
                <a:lnTo>
                  <a:pt x="5760" y="310"/>
                </a:lnTo>
                <a:lnTo>
                  <a:pt x="5760" y="312"/>
                </a:lnTo>
                <a:lnTo>
                  <a:pt x="5760" y="312"/>
                </a:lnTo>
                <a:lnTo>
                  <a:pt x="5760" y="344"/>
                </a:lnTo>
                <a:lnTo>
                  <a:pt x="5760" y="377"/>
                </a:lnTo>
                <a:lnTo>
                  <a:pt x="5760" y="377"/>
                </a:lnTo>
                <a:lnTo>
                  <a:pt x="5760" y="512"/>
                </a:lnTo>
                <a:lnTo>
                  <a:pt x="5760" y="512"/>
                </a:lnTo>
                <a:lnTo>
                  <a:pt x="5760" y="786"/>
                </a:lnTo>
                <a:lnTo>
                  <a:pt x="5760" y="786"/>
                </a:lnTo>
                <a:lnTo>
                  <a:pt x="5760" y="1060"/>
                </a:lnTo>
                <a:lnTo>
                  <a:pt x="5760" y="1060"/>
                </a:lnTo>
                <a:lnTo>
                  <a:pt x="5760" y="1195"/>
                </a:lnTo>
                <a:lnTo>
                  <a:pt x="5760" y="1195"/>
                </a:lnTo>
                <a:lnTo>
                  <a:pt x="5760" y="1262"/>
                </a:lnTo>
                <a:lnTo>
                  <a:pt x="5760" y="1262"/>
                </a:lnTo>
                <a:lnTo>
                  <a:pt x="5758" y="1276"/>
                </a:lnTo>
                <a:lnTo>
                  <a:pt x="5758" y="1283"/>
                </a:lnTo>
                <a:lnTo>
                  <a:pt x="5755" y="1289"/>
                </a:lnTo>
                <a:lnTo>
                  <a:pt x="5755" y="1289"/>
                </a:lnTo>
                <a:lnTo>
                  <a:pt x="5747" y="1301"/>
                </a:lnTo>
                <a:lnTo>
                  <a:pt x="5740" y="1315"/>
                </a:lnTo>
                <a:lnTo>
                  <a:pt x="5740" y="1315"/>
                </a:lnTo>
                <a:lnTo>
                  <a:pt x="5719" y="1339"/>
                </a:lnTo>
                <a:lnTo>
                  <a:pt x="5699" y="1363"/>
                </a:lnTo>
                <a:lnTo>
                  <a:pt x="5674" y="1385"/>
                </a:lnTo>
                <a:lnTo>
                  <a:pt x="5650" y="1406"/>
                </a:lnTo>
                <a:lnTo>
                  <a:pt x="5650" y="1406"/>
                </a:lnTo>
                <a:lnTo>
                  <a:pt x="5624" y="1426"/>
                </a:lnTo>
                <a:lnTo>
                  <a:pt x="5597" y="1445"/>
                </a:lnTo>
                <a:lnTo>
                  <a:pt x="5541" y="1481"/>
                </a:lnTo>
                <a:lnTo>
                  <a:pt x="5541" y="1481"/>
                </a:lnTo>
                <a:lnTo>
                  <a:pt x="5480" y="1515"/>
                </a:lnTo>
                <a:lnTo>
                  <a:pt x="5419" y="1548"/>
                </a:lnTo>
                <a:lnTo>
                  <a:pt x="5356" y="1579"/>
                </a:lnTo>
                <a:lnTo>
                  <a:pt x="5295" y="1608"/>
                </a:lnTo>
                <a:lnTo>
                  <a:pt x="5295" y="1608"/>
                </a:lnTo>
                <a:lnTo>
                  <a:pt x="5229" y="1636"/>
                </a:lnTo>
                <a:lnTo>
                  <a:pt x="5161" y="1663"/>
                </a:lnTo>
                <a:lnTo>
                  <a:pt x="5096" y="1689"/>
                </a:lnTo>
                <a:lnTo>
                  <a:pt x="5028" y="1713"/>
                </a:lnTo>
                <a:lnTo>
                  <a:pt x="4893" y="1759"/>
                </a:lnTo>
                <a:lnTo>
                  <a:pt x="4756" y="1804"/>
                </a:lnTo>
                <a:lnTo>
                  <a:pt x="4756" y="1804"/>
                </a:lnTo>
                <a:lnTo>
                  <a:pt x="4615" y="1845"/>
                </a:lnTo>
                <a:lnTo>
                  <a:pt x="4472" y="1885"/>
                </a:lnTo>
                <a:lnTo>
                  <a:pt x="4332" y="1920"/>
                </a:lnTo>
                <a:lnTo>
                  <a:pt x="4188" y="1958"/>
                </a:lnTo>
                <a:lnTo>
                  <a:pt x="4188" y="1958"/>
                </a:lnTo>
                <a:lnTo>
                  <a:pt x="4046" y="1993"/>
                </a:lnTo>
                <a:lnTo>
                  <a:pt x="3902" y="2027"/>
                </a:lnTo>
                <a:lnTo>
                  <a:pt x="3758" y="2059"/>
                </a:lnTo>
                <a:lnTo>
                  <a:pt x="3614" y="2089"/>
                </a:lnTo>
                <a:lnTo>
                  <a:pt x="3614" y="2089"/>
                </a:lnTo>
                <a:lnTo>
                  <a:pt x="3511" y="2108"/>
                </a:lnTo>
                <a:lnTo>
                  <a:pt x="3363" y="2133"/>
                </a:lnTo>
                <a:lnTo>
                  <a:pt x="2993" y="2192"/>
                </a:lnTo>
                <a:lnTo>
                  <a:pt x="2641" y="2248"/>
                </a:lnTo>
                <a:lnTo>
                  <a:pt x="2515" y="2267"/>
                </a:lnTo>
                <a:lnTo>
                  <a:pt x="2444" y="2281"/>
                </a:lnTo>
                <a:lnTo>
                  <a:pt x="2444" y="2281"/>
                </a:lnTo>
                <a:lnTo>
                  <a:pt x="2302" y="2312"/>
                </a:lnTo>
                <a:lnTo>
                  <a:pt x="2160" y="2348"/>
                </a:lnTo>
                <a:lnTo>
                  <a:pt x="2018" y="2386"/>
                </a:lnTo>
                <a:lnTo>
                  <a:pt x="1880" y="2427"/>
                </a:lnTo>
                <a:lnTo>
                  <a:pt x="1880" y="2427"/>
                </a:lnTo>
                <a:lnTo>
                  <a:pt x="1742" y="2470"/>
                </a:lnTo>
                <a:lnTo>
                  <a:pt x="1677" y="2494"/>
                </a:lnTo>
                <a:lnTo>
                  <a:pt x="1609" y="2517"/>
                </a:lnTo>
                <a:lnTo>
                  <a:pt x="1541" y="2543"/>
                </a:lnTo>
                <a:lnTo>
                  <a:pt x="1475" y="2569"/>
                </a:lnTo>
                <a:lnTo>
                  <a:pt x="1410" y="2596"/>
                </a:lnTo>
                <a:lnTo>
                  <a:pt x="1346" y="2625"/>
                </a:lnTo>
                <a:lnTo>
                  <a:pt x="1346" y="2625"/>
                </a:lnTo>
                <a:lnTo>
                  <a:pt x="1284" y="2655"/>
                </a:lnTo>
                <a:lnTo>
                  <a:pt x="1222" y="2684"/>
                </a:lnTo>
                <a:lnTo>
                  <a:pt x="1162" y="2717"/>
                </a:lnTo>
                <a:lnTo>
                  <a:pt x="1102" y="2749"/>
                </a:lnTo>
                <a:lnTo>
                  <a:pt x="1043" y="2785"/>
                </a:lnTo>
                <a:lnTo>
                  <a:pt x="988" y="2821"/>
                </a:lnTo>
                <a:lnTo>
                  <a:pt x="931" y="2859"/>
                </a:lnTo>
                <a:lnTo>
                  <a:pt x="876" y="2899"/>
                </a:lnTo>
                <a:lnTo>
                  <a:pt x="876" y="2899"/>
                </a:lnTo>
                <a:lnTo>
                  <a:pt x="822" y="2938"/>
                </a:lnTo>
                <a:lnTo>
                  <a:pt x="771" y="2980"/>
                </a:lnTo>
                <a:lnTo>
                  <a:pt x="720" y="3023"/>
                </a:lnTo>
                <a:lnTo>
                  <a:pt x="672" y="3069"/>
                </a:lnTo>
                <a:lnTo>
                  <a:pt x="623" y="3113"/>
                </a:lnTo>
                <a:lnTo>
                  <a:pt x="576" y="3159"/>
                </a:lnTo>
                <a:lnTo>
                  <a:pt x="531" y="3207"/>
                </a:lnTo>
                <a:lnTo>
                  <a:pt x="487" y="3257"/>
                </a:lnTo>
                <a:lnTo>
                  <a:pt x="487" y="3257"/>
                </a:lnTo>
                <a:lnTo>
                  <a:pt x="447" y="3308"/>
                </a:lnTo>
                <a:lnTo>
                  <a:pt x="406" y="3360"/>
                </a:lnTo>
                <a:lnTo>
                  <a:pt x="366" y="3413"/>
                </a:lnTo>
                <a:lnTo>
                  <a:pt x="329" y="3468"/>
                </a:lnTo>
                <a:lnTo>
                  <a:pt x="292" y="3523"/>
                </a:lnTo>
                <a:lnTo>
                  <a:pt x="258" y="3579"/>
                </a:lnTo>
                <a:lnTo>
                  <a:pt x="227" y="3636"/>
                </a:lnTo>
                <a:lnTo>
                  <a:pt x="197" y="3694"/>
                </a:lnTo>
                <a:lnTo>
                  <a:pt x="197" y="3694"/>
                </a:lnTo>
                <a:lnTo>
                  <a:pt x="167" y="3755"/>
                </a:lnTo>
                <a:lnTo>
                  <a:pt x="140" y="3814"/>
                </a:lnTo>
                <a:lnTo>
                  <a:pt x="114" y="3876"/>
                </a:lnTo>
                <a:lnTo>
                  <a:pt x="92" y="3940"/>
                </a:lnTo>
                <a:lnTo>
                  <a:pt x="71" y="4003"/>
                </a:lnTo>
                <a:lnTo>
                  <a:pt x="53" y="4067"/>
                </a:lnTo>
                <a:lnTo>
                  <a:pt x="35" y="4130"/>
                </a:lnTo>
                <a:lnTo>
                  <a:pt x="20" y="4195"/>
                </a:lnTo>
                <a:lnTo>
                  <a:pt x="20" y="4195"/>
                </a:lnTo>
                <a:lnTo>
                  <a:pt x="7" y="4268"/>
                </a:lnTo>
                <a:lnTo>
                  <a:pt x="4" y="4303"/>
                </a:lnTo>
                <a:lnTo>
                  <a:pt x="0" y="433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 eaLnBrk="0" hangingPunct="0">
              <a:lnSpc>
                <a:spcPct val="85000"/>
              </a:lnSpc>
              <a:defRPr/>
            </a:pPr>
            <a:endParaRPr lang="en-US" noProof="0" dirty="0"/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0" y="903288"/>
            <a:ext cx="9144000" cy="1143000"/>
          </a:xfrm>
          <a:prstGeom prst="rect">
            <a:avLst/>
          </a:prstGeom>
        </p:spPr>
        <p:txBody>
          <a:bodyPr lIns="360000" rIns="36000" anchor="b"/>
          <a:lstStyle>
            <a:lvl1pPr algn="l">
              <a:defRPr sz="3600" b="1" baseline="0">
                <a:solidFill>
                  <a:schemeClr val="tx2"/>
                </a:solidFill>
                <a:latin typeface="Arial Narrow" pitchFamily="34" charset="0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>
            <a:spLocks/>
          </p:cNvSpPr>
          <p:nvPr userDrawn="1"/>
        </p:nvSpPr>
        <p:spPr bwMode="auto">
          <a:xfrm>
            <a:off x="1" y="0"/>
            <a:ext cx="9144000" cy="6896100"/>
          </a:xfrm>
          <a:custGeom>
            <a:avLst/>
            <a:gdLst/>
            <a:ahLst/>
            <a:cxnLst>
              <a:cxn ang="0">
                <a:pos x="0" y="3797"/>
              </a:cxn>
              <a:cxn ang="0">
                <a:pos x="0" y="3252"/>
              </a:cxn>
              <a:cxn ang="0">
                <a:pos x="0" y="2159"/>
              </a:cxn>
              <a:cxn ang="0">
                <a:pos x="0" y="1611"/>
              </a:cxn>
              <a:cxn ang="0">
                <a:pos x="0" y="523"/>
              </a:cxn>
              <a:cxn ang="0">
                <a:pos x="0" y="387"/>
              </a:cxn>
              <a:cxn ang="0">
                <a:pos x="5760" y="9"/>
              </a:cxn>
              <a:cxn ang="0">
                <a:pos x="5760" y="312"/>
              </a:cxn>
              <a:cxn ang="0">
                <a:pos x="5760" y="377"/>
              </a:cxn>
              <a:cxn ang="0">
                <a:pos x="5760" y="786"/>
              </a:cxn>
              <a:cxn ang="0">
                <a:pos x="5760" y="1060"/>
              </a:cxn>
              <a:cxn ang="0">
                <a:pos x="5760" y="1262"/>
              </a:cxn>
              <a:cxn ang="0">
                <a:pos x="5758" y="1283"/>
              </a:cxn>
              <a:cxn ang="0">
                <a:pos x="5747" y="1301"/>
              </a:cxn>
              <a:cxn ang="0">
                <a:pos x="5719" y="1339"/>
              </a:cxn>
              <a:cxn ang="0">
                <a:pos x="5650" y="1406"/>
              </a:cxn>
              <a:cxn ang="0">
                <a:pos x="5597" y="1445"/>
              </a:cxn>
              <a:cxn ang="0">
                <a:pos x="5480" y="1515"/>
              </a:cxn>
              <a:cxn ang="0">
                <a:pos x="5295" y="1608"/>
              </a:cxn>
              <a:cxn ang="0">
                <a:pos x="5161" y="1663"/>
              </a:cxn>
              <a:cxn ang="0">
                <a:pos x="4893" y="1759"/>
              </a:cxn>
              <a:cxn ang="0">
                <a:pos x="4615" y="1845"/>
              </a:cxn>
              <a:cxn ang="0">
                <a:pos x="4188" y="1958"/>
              </a:cxn>
              <a:cxn ang="0">
                <a:pos x="3902" y="2027"/>
              </a:cxn>
              <a:cxn ang="0">
                <a:pos x="3614" y="2089"/>
              </a:cxn>
              <a:cxn ang="0">
                <a:pos x="2993" y="2192"/>
              </a:cxn>
              <a:cxn ang="0">
                <a:pos x="2444" y="2281"/>
              </a:cxn>
              <a:cxn ang="0">
                <a:pos x="2160" y="2348"/>
              </a:cxn>
              <a:cxn ang="0">
                <a:pos x="1880" y="2427"/>
              </a:cxn>
              <a:cxn ang="0">
                <a:pos x="1609" y="2517"/>
              </a:cxn>
              <a:cxn ang="0">
                <a:pos x="1410" y="2596"/>
              </a:cxn>
              <a:cxn ang="0">
                <a:pos x="1284" y="2655"/>
              </a:cxn>
              <a:cxn ang="0">
                <a:pos x="1102" y="2749"/>
              </a:cxn>
              <a:cxn ang="0">
                <a:pos x="931" y="2859"/>
              </a:cxn>
              <a:cxn ang="0">
                <a:pos x="822" y="2938"/>
              </a:cxn>
              <a:cxn ang="0">
                <a:pos x="672" y="3069"/>
              </a:cxn>
              <a:cxn ang="0">
                <a:pos x="531" y="3207"/>
              </a:cxn>
              <a:cxn ang="0">
                <a:pos x="447" y="3308"/>
              </a:cxn>
              <a:cxn ang="0">
                <a:pos x="329" y="3468"/>
              </a:cxn>
              <a:cxn ang="0">
                <a:pos x="227" y="3636"/>
              </a:cxn>
              <a:cxn ang="0">
                <a:pos x="167" y="3755"/>
              </a:cxn>
              <a:cxn ang="0">
                <a:pos x="92" y="3940"/>
              </a:cxn>
              <a:cxn ang="0">
                <a:pos x="35" y="4130"/>
              </a:cxn>
              <a:cxn ang="0">
                <a:pos x="7" y="4268"/>
              </a:cxn>
            </a:cxnLst>
            <a:rect l="0" t="0" r="r" b="b"/>
            <a:pathLst>
              <a:path w="5760" h="4339">
                <a:moveTo>
                  <a:pt x="0" y="4339"/>
                </a:moveTo>
                <a:lnTo>
                  <a:pt x="0" y="4339"/>
                </a:lnTo>
                <a:lnTo>
                  <a:pt x="0" y="3797"/>
                </a:lnTo>
                <a:lnTo>
                  <a:pt x="0" y="3797"/>
                </a:lnTo>
                <a:lnTo>
                  <a:pt x="0" y="3252"/>
                </a:lnTo>
                <a:lnTo>
                  <a:pt x="0" y="3252"/>
                </a:lnTo>
                <a:lnTo>
                  <a:pt x="0" y="2705"/>
                </a:lnTo>
                <a:lnTo>
                  <a:pt x="0" y="2705"/>
                </a:lnTo>
                <a:lnTo>
                  <a:pt x="0" y="2159"/>
                </a:lnTo>
                <a:lnTo>
                  <a:pt x="0" y="2159"/>
                </a:lnTo>
                <a:lnTo>
                  <a:pt x="0" y="1611"/>
                </a:lnTo>
                <a:lnTo>
                  <a:pt x="0" y="1611"/>
                </a:lnTo>
                <a:lnTo>
                  <a:pt x="0" y="1066"/>
                </a:lnTo>
                <a:lnTo>
                  <a:pt x="0" y="1066"/>
                </a:lnTo>
                <a:lnTo>
                  <a:pt x="0" y="523"/>
                </a:lnTo>
                <a:lnTo>
                  <a:pt x="0" y="523"/>
                </a:lnTo>
                <a:lnTo>
                  <a:pt x="0" y="387"/>
                </a:lnTo>
                <a:lnTo>
                  <a:pt x="0" y="387"/>
                </a:lnTo>
                <a:lnTo>
                  <a:pt x="0" y="0"/>
                </a:lnTo>
                <a:lnTo>
                  <a:pt x="155" y="9"/>
                </a:lnTo>
                <a:lnTo>
                  <a:pt x="5760" y="9"/>
                </a:lnTo>
                <a:lnTo>
                  <a:pt x="5760" y="310"/>
                </a:lnTo>
                <a:lnTo>
                  <a:pt x="5760" y="312"/>
                </a:lnTo>
                <a:lnTo>
                  <a:pt x="5760" y="312"/>
                </a:lnTo>
                <a:lnTo>
                  <a:pt x="5760" y="344"/>
                </a:lnTo>
                <a:lnTo>
                  <a:pt x="5760" y="377"/>
                </a:lnTo>
                <a:lnTo>
                  <a:pt x="5760" y="377"/>
                </a:lnTo>
                <a:lnTo>
                  <a:pt x="5760" y="512"/>
                </a:lnTo>
                <a:lnTo>
                  <a:pt x="5760" y="512"/>
                </a:lnTo>
                <a:lnTo>
                  <a:pt x="5760" y="786"/>
                </a:lnTo>
                <a:lnTo>
                  <a:pt x="5760" y="786"/>
                </a:lnTo>
                <a:lnTo>
                  <a:pt x="5760" y="1060"/>
                </a:lnTo>
                <a:lnTo>
                  <a:pt x="5760" y="1060"/>
                </a:lnTo>
                <a:lnTo>
                  <a:pt x="5760" y="1195"/>
                </a:lnTo>
                <a:lnTo>
                  <a:pt x="5760" y="1195"/>
                </a:lnTo>
                <a:lnTo>
                  <a:pt x="5760" y="1262"/>
                </a:lnTo>
                <a:lnTo>
                  <a:pt x="5760" y="1262"/>
                </a:lnTo>
                <a:lnTo>
                  <a:pt x="5758" y="1276"/>
                </a:lnTo>
                <a:lnTo>
                  <a:pt x="5758" y="1283"/>
                </a:lnTo>
                <a:lnTo>
                  <a:pt x="5755" y="1289"/>
                </a:lnTo>
                <a:lnTo>
                  <a:pt x="5755" y="1289"/>
                </a:lnTo>
                <a:lnTo>
                  <a:pt x="5747" y="1301"/>
                </a:lnTo>
                <a:lnTo>
                  <a:pt x="5740" y="1315"/>
                </a:lnTo>
                <a:lnTo>
                  <a:pt x="5740" y="1315"/>
                </a:lnTo>
                <a:lnTo>
                  <a:pt x="5719" y="1339"/>
                </a:lnTo>
                <a:lnTo>
                  <a:pt x="5699" y="1363"/>
                </a:lnTo>
                <a:lnTo>
                  <a:pt x="5674" y="1385"/>
                </a:lnTo>
                <a:lnTo>
                  <a:pt x="5650" y="1406"/>
                </a:lnTo>
                <a:lnTo>
                  <a:pt x="5650" y="1406"/>
                </a:lnTo>
                <a:lnTo>
                  <a:pt x="5624" y="1426"/>
                </a:lnTo>
                <a:lnTo>
                  <a:pt x="5597" y="1445"/>
                </a:lnTo>
                <a:lnTo>
                  <a:pt x="5541" y="1481"/>
                </a:lnTo>
                <a:lnTo>
                  <a:pt x="5541" y="1481"/>
                </a:lnTo>
                <a:lnTo>
                  <a:pt x="5480" y="1515"/>
                </a:lnTo>
                <a:lnTo>
                  <a:pt x="5419" y="1548"/>
                </a:lnTo>
                <a:lnTo>
                  <a:pt x="5356" y="1579"/>
                </a:lnTo>
                <a:lnTo>
                  <a:pt x="5295" y="1608"/>
                </a:lnTo>
                <a:lnTo>
                  <a:pt x="5295" y="1608"/>
                </a:lnTo>
                <a:lnTo>
                  <a:pt x="5229" y="1636"/>
                </a:lnTo>
                <a:lnTo>
                  <a:pt x="5161" y="1663"/>
                </a:lnTo>
                <a:lnTo>
                  <a:pt x="5096" y="1689"/>
                </a:lnTo>
                <a:lnTo>
                  <a:pt x="5028" y="1713"/>
                </a:lnTo>
                <a:lnTo>
                  <a:pt x="4893" y="1759"/>
                </a:lnTo>
                <a:lnTo>
                  <a:pt x="4756" y="1804"/>
                </a:lnTo>
                <a:lnTo>
                  <a:pt x="4756" y="1804"/>
                </a:lnTo>
                <a:lnTo>
                  <a:pt x="4615" y="1845"/>
                </a:lnTo>
                <a:lnTo>
                  <a:pt x="4472" y="1885"/>
                </a:lnTo>
                <a:lnTo>
                  <a:pt x="4332" y="1920"/>
                </a:lnTo>
                <a:lnTo>
                  <a:pt x="4188" y="1958"/>
                </a:lnTo>
                <a:lnTo>
                  <a:pt x="4188" y="1958"/>
                </a:lnTo>
                <a:lnTo>
                  <a:pt x="4046" y="1993"/>
                </a:lnTo>
                <a:lnTo>
                  <a:pt x="3902" y="2027"/>
                </a:lnTo>
                <a:lnTo>
                  <a:pt x="3758" y="2059"/>
                </a:lnTo>
                <a:lnTo>
                  <a:pt x="3614" y="2089"/>
                </a:lnTo>
                <a:lnTo>
                  <a:pt x="3614" y="2089"/>
                </a:lnTo>
                <a:lnTo>
                  <a:pt x="3511" y="2108"/>
                </a:lnTo>
                <a:lnTo>
                  <a:pt x="3363" y="2133"/>
                </a:lnTo>
                <a:lnTo>
                  <a:pt x="2993" y="2192"/>
                </a:lnTo>
                <a:lnTo>
                  <a:pt x="2641" y="2248"/>
                </a:lnTo>
                <a:lnTo>
                  <a:pt x="2515" y="2267"/>
                </a:lnTo>
                <a:lnTo>
                  <a:pt x="2444" y="2281"/>
                </a:lnTo>
                <a:lnTo>
                  <a:pt x="2444" y="2281"/>
                </a:lnTo>
                <a:lnTo>
                  <a:pt x="2302" y="2312"/>
                </a:lnTo>
                <a:lnTo>
                  <a:pt x="2160" y="2348"/>
                </a:lnTo>
                <a:lnTo>
                  <a:pt x="2018" y="2386"/>
                </a:lnTo>
                <a:lnTo>
                  <a:pt x="1880" y="2427"/>
                </a:lnTo>
                <a:lnTo>
                  <a:pt x="1880" y="2427"/>
                </a:lnTo>
                <a:lnTo>
                  <a:pt x="1742" y="2470"/>
                </a:lnTo>
                <a:lnTo>
                  <a:pt x="1677" y="2494"/>
                </a:lnTo>
                <a:lnTo>
                  <a:pt x="1609" y="2517"/>
                </a:lnTo>
                <a:lnTo>
                  <a:pt x="1541" y="2543"/>
                </a:lnTo>
                <a:lnTo>
                  <a:pt x="1475" y="2569"/>
                </a:lnTo>
                <a:lnTo>
                  <a:pt x="1410" y="2596"/>
                </a:lnTo>
                <a:lnTo>
                  <a:pt x="1346" y="2625"/>
                </a:lnTo>
                <a:lnTo>
                  <a:pt x="1346" y="2625"/>
                </a:lnTo>
                <a:lnTo>
                  <a:pt x="1284" y="2655"/>
                </a:lnTo>
                <a:lnTo>
                  <a:pt x="1222" y="2684"/>
                </a:lnTo>
                <a:lnTo>
                  <a:pt x="1162" y="2717"/>
                </a:lnTo>
                <a:lnTo>
                  <a:pt x="1102" y="2749"/>
                </a:lnTo>
                <a:lnTo>
                  <a:pt x="1043" y="2785"/>
                </a:lnTo>
                <a:lnTo>
                  <a:pt x="988" y="2821"/>
                </a:lnTo>
                <a:lnTo>
                  <a:pt x="931" y="2859"/>
                </a:lnTo>
                <a:lnTo>
                  <a:pt x="876" y="2899"/>
                </a:lnTo>
                <a:lnTo>
                  <a:pt x="876" y="2899"/>
                </a:lnTo>
                <a:lnTo>
                  <a:pt x="822" y="2938"/>
                </a:lnTo>
                <a:lnTo>
                  <a:pt x="771" y="2980"/>
                </a:lnTo>
                <a:lnTo>
                  <a:pt x="720" y="3023"/>
                </a:lnTo>
                <a:lnTo>
                  <a:pt x="672" y="3069"/>
                </a:lnTo>
                <a:lnTo>
                  <a:pt x="623" y="3113"/>
                </a:lnTo>
                <a:lnTo>
                  <a:pt x="576" y="3159"/>
                </a:lnTo>
                <a:lnTo>
                  <a:pt x="531" y="3207"/>
                </a:lnTo>
                <a:lnTo>
                  <a:pt x="487" y="3257"/>
                </a:lnTo>
                <a:lnTo>
                  <a:pt x="487" y="3257"/>
                </a:lnTo>
                <a:lnTo>
                  <a:pt x="447" y="3308"/>
                </a:lnTo>
                <a:lnTo>
                  <a:pt x="406" y="3360"/>
                </a:lnTo>
                <a:lnTo>
                  <a:pt x="366" y="3413"/>
                </a:lnTo>
                <a:lnTo>
                  <a:pt x="329" y="3468"/>
                </a:lnTo>
                <a:lnTo>
                  <a:pt x="292" y="3523"/>
                </a:lnTo>
                <a:lnTo>
                  <a:pt x="258" y="3579"/>
                </a:lnTo>
                <a:lnTo>
                  <a:pt x="227" y="3636"/>
                </a:lnTo>
                <a:lnTo>
                  <a:pt x="197" y="3694"/>
                </a:lnTo>
                <a:lnTo>
                  <a:pt x="197" y="3694"/>
                </a:lnTo>
                <a:lnTo>
                  <a:pt x="167" y="3755"/>
                </a:lnTo>
                <a:lnTo>
                  <a:pt x="140" y="3814"/>
                </a:lnTo>
                <a:lnTo>
                  <a:pt x="114" y="3876"/>
                </a:lnTo>
                <a:lnTo>
                  <a:pt x="92" y="3940"/>
                </a:lnTo>
                <a:lnTo>
                  <a:pt x="71" y="4003"/>
                </a:lnTo>
                <a:lnTo>
                  <a:pt x="53" y="4067"/>
                </a:lnTo>
                <a:lnTo>
                  <a:pt x="35" y="4130"/>
                </a:lnTo>
                <a:lnTo>
                  <a:pt x="20" y="4195"/>
                </a:lnTo>
                <a:lnTo>
                  <a:pt x="20" y="4195"/>
                </a:lnTo>
                <a:lnTo>
                  <a:pt x="7" y="4268"/>
                </a:lnTo>
                <a:lnTo>
                  <a:pt x="4" y="4303"/>
                </a:lnTo>
                <a:lnTo>
                  <a:pt x="0" y="433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 eaLnBrk="0" hangingPunct="0">
              <a:lnSpc>
                <a:spcPct val="85000"/>
              </a:lnSpc>
              <a:defRPr/>
            </a:pPr>
            <a:endParaRPr lang="en-US" noProof="0" dirty="0"/>
          </a:p>
        </p:txBody>
      </p:sp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6817897" y="5376355"/>
            <a:ext cx="232610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360000" bIns="0">
            <a:spAutoFit/>
          </a:bodyPr>
          <a:lstStyle/>
          <a:p>
            <a:pPr algn="r">
              <a:spcBef>
                <a:spcPct val="20000"/>
              </a:spcBef>
              <a:defRPr/>
            </a:pPr>
            <a:r>
              <a:rPr lang="en-US" sz="1800" b="0" dirty="0">
                <a:solidFill>
                  <a:schemeClr val="bg1"/>
                </a:solidFill>
              </a:rPr>
              <a:t>www.capgemini.com</a:t>
            </a:r>
          </a:p>
        </p:txBody>
      </p:sp>
      <p:pic>
        <p:nvPicPr>
          <p:cNvPr id="7" name="Picture 9" descr="OK_Capgemini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6935" y="922007"/>
            <a:ext cx="4317023" cy="1017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 userDrawn="1"/>
        </p:nvSpPr>
        <p:spPr>
          <a:xfrm>
            <a:off x="0" y="6597650"/>
            <a:ext cx="9144000" cy="260350"/>
          </a:xfrm>
          <a:prstGeom prst="rect">
            <a:avLst/>
          </a:prstGeom>
        </p:spPr>
        <p:txBody>
          <a:bodyPr tIns="0" rIns="360000" bIns="180000" anchor="b">
            <a:spAutoFit/>
          </a:bodyPr>
          <a:lstStyle/>
          <a:p>
            <a:pPr algn="r" eaLnBrk="0" hangingPunct="0">
              <a:lnSpc>
                <a:spcPct val="85000"/>
              </a:lnSpc>
              <a:defRPr/>
            </a:pPr>
            <a:r>
              <a:rPr lang="en-US" sz="600" dirty="0">
                <a:solidFill>
                  <a:schemeClr val="bg1"/>
                </a:solidFill>
              </a:rPr>
              <a:t>The information contained in this presentation is </a:t>
            </a:r>
            <a:r>
              <a:rPr lang="en-US" sz="600" dirty="0" smtClean="0">
                <a:solidFill>
                  <a:schemeClr val="bg1"/>
                </a:solidFill>
              </a:rPr>
              <a:t>proprietary. </a:t>
            </a:r>
            <a:r>
              <a:rPr lang="en-US" sz="600" dirty="0">
                <a:solidFill>
                  <a:schemeClr val="bg1"/>
                </a:solidFill>
              </a:rPr>
              <a:t>©</a:t>
            </a:r>
            <a:r>
              <a:rPr lang="en-US" sz="600" dirty="0" smtClean="0">
                <a:solidFill>
                  <a:schemeClr val="bg1"/>
                </a:solidFill>
              </a:rPr>
              <a:t>2011 </a:t>
            </a:r>
            <a:r>
              <a:rPr lang="en-US" sz="600" dirty="0">
                <a:solidFill>
                  <a:schemeClr val="bg1"/>
                </a:solidFill>
              </a:rPr>
              <a:t>Capgemini. All rights reserved</a:t>
            </a:r>
          </a:p>
        </p:txBody>
      </p:sp>
      <p:pic>
        <p:nvPicPr>
          <p:cNvPr id="9" name="Image 8" descr="Capgemini_Slogan_White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368960" y="4856258"/>
            <a:ext cx="3511303" cy="393193"/>
          </a:xfrm>
          <a:prstGeom prst="rect">
            <a:avLst/>
          </a:prstGeom>
          <a:noFill/>
          <a:ln w="25400" cap="sq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1" y="0"/>
            <a:ext cx="9144000" cy="6896100"/>
          </a:xfrm>
          <a:custGeom>
            <a:avLst/>
            <a:gdLst/>
            <a:ahLst/>
            <a:cxnLst>
              <a:cxn ang="0">
                <a:pos x="0" y="3797"/>
              </a:cxn>
              <a:cxn ang="0">
                <a:pos x="0" y="3252"/>
              </a:cxn>
              <a:cxn ang="0">
                <a:pos x="0" y="2159"/>
              </a:cxn>
              <a:cxn ang="0">
                <a:pos x="0" y="1611"/>
              </a:cxn>
              <a:cxn ang="0">
                <a:pos x="0" y="523"/>
              </a:cxn>
              <a:cxn ang="0">
                <a:pos x="0" y="387"/>
              </a:cxn>
              <a:cxn ang="0">
                <a:pos x="5760" y="9"/>
              </a:cxn>
              <a:cxn ang="0">
                <a:pos x="5760" y="312"/>
              </a:cxn>
              <a:cxn ang="0">
                <a:pos x="5760" y="377"/>
              </a:cxn>
              <a:cxn ang="0">
                <a:pos x="5760" y="786"/>
              </a:cxn>
              <a:cxn ang="0">
                <a:pos x="5760" y="1060"/>
              </a:cxn>
              <a:cxn ang="0">
                <a:pos x="5760" y="1262"/>
              </a:cxn>
              <a:cxn ang="0">
                <a:pos x="5758" y="1283"/>
              </a:cxn>
              <a:cxn ang="0">
                <a:pos x="5747" y="1301"/>
              </a:cxn>
              <a:cxn ang="0">
                <a:pos x="5719" y="1339"/>
              </a:cxn>
              <a:cxn ang="0">
                <a:pos x="5650" y="1406"/>
              </a:cxn>
              <a:cxn ang="0">
                <a:pos x="5597" y="1445"/>
              </a:cxn>
              <a:cxn ang="0">
                <a:pos x="5480" y="1515"/>
              </a:cxn>
              <a:cxn ang="0">
                <a:pos x="5295" y="1608"/>
              </a:cxn>
              <a:cxn ang="0">
                <a:pos x="5161" y="1663"/>
              </a:cxn>
              <a:cxn ang="0">
                <a:pos x="4893" y="1759"/>
              </a:cxn>
              <a:cxn ang="0">
                <a:pos x="4615" y="1845"/>
              </a:cxn>
              <a:cxn ang="0">
                <a:pos x="4188" y="1958"/>
              </a:cxn>
              <a:cxn ang="0">
                <a:pos x="3902" y="2027"/>
              </a:cxn>
              <a:cxn ang="0">
                <a:pos x="3614" y="2089"/>
              </a:cxn>
              <a:cxn ang="0">
                <a:pos x="2993" y="2192"/>
              </a:cxn>
              <a:cxn ang="0">
                <a:pos x="2444" y="2281"/>
              </a:cxn>
              <a:cxn ang="0">
                <a:pos x="2160" y="2348"/>
              </a:cxn>
              <a:cxn ang="0">
                <a:pos x="1880" y="2427"/>
              </a:cxn>
              <a:cxn ang="0">
                <a:pos x="1609" y="2517"/>
              </a:cxn>
              <a:cxn ang="0">
                <a:pos x="1410" y="2596"/>
              </a:cxn>
              <a:cxn ang="0">
                <a:pos x="1284" y="2655"/>
              </a:cxn>
              <a:cxn ang="0">
                <a:pos x="1102" y="2749"/>
              </a:cxn>
              <a:cxn ang="0">
                <a:pos x="931" y="2859"/>
              </a:cxn>
              <a:cxn ang="0">
                <a:pos x="822" y="2938"/>
              </a:cxn>
              <a:cxn ang="0">
                <a:pos x="672" y="3069"/>
              </a:cxn>
              <a:cxn ang="0">
                <a:pos x="531" y="3207"/>
              </a:cxn>
              <a:cxn ang="0">
                <a:pos x="447" y="3308"/>
              </a:cxn>
              <a:cxn ang="0">
                <a:pos x="329" y="3468"/>
              </a:cxn>
              <a:cxn ang="0">
                <a:pos x="227" y="3636"/>
              </a:cxn>
              <a:cxn ang="0">
                <a:pos x="167" y="3755"/>
              </a:cxn>
              <a:cxn ang="0">
                <a:pos x="92" y="3940"/>
              </a:cxn>
              <a:cxn ang="0">
                <a:pos x="35" y="4130"/>
              </a:cxn>
              <a:cxn ang="0">
                <a:pos x="7" y="4268"/>
              </a:cxn>
            </a:cxnLst>
            <a:rect l="0" t="0" r="r" b="b"/>
            <a:pathLst>
              <a:path w="5760" h="4339">
                <a:moveTo>
                  <a:pt x="0" y="4339"/>
                </a:moveTo>
                <a:lnTo>
                  <a:pt x="0" y="4339"/>
                </a:lnTo>
                <a:lnTo>
                  <a:pt x="0" y="3797"/>
                </a:lnTo>
                <a:lnTo>
                  <a:pt x="0" y="3797"/>
                </a:lnTo>
                <a:lnTo>
                  <a:pt x="0" y="3252"/>
                </a:lnTo>
                <a:lnTo>
                  <a:pt x="0" y="3252"/>
                </a:lnTo>
                <a:lnTo>
                  <a:pt x="0" y="2705"/>
                </a:lnTo>
                <a:lnTo>
                  <a:pt x="0" y="2705"/>
                </a:lnTo>
                <a:lnTo>
                  <a:pt x="0" y="2159"/>
                </a:lnTo>
                <a:lnTo>
                  <a:pt x="0" y="2159"/>
                </a:lnTo>
                <a:lnTo>
                  <a:pt x="0" y="1611"/>
                </a:lnTo>
                <a:lnTo>
                  <a:pt x="0" y="1611"/>
                </a:lnTo>
                <a:lnTo>
                  <a:pt x="0" y="1066"/>
                </a:lnTo>
                <a:lnTo>
                  <a:pt x="0" y="1066"/>
                </a:lnTo>
                <a:lnTo>
                  <a:pt x="0" y="523"/>
                </a:lnTo>
                <a:lnTo>
                  <a:pt x="0" y="523"/>
                </a:lnTo>
                <a:lnTo>
                  <a:pt x="0" y="387"/>
                </a:lnTo>
                <a:lnTo>
                  <a:pt x="0" y="387"/>
                </a:lnTo>
                <a:lnTo>
                  <a:pt x="0" y="0"/>
                </a:lnTo>
                <a:lnTo>
                  <a:pt x="155" y="9"/>
                </a:lnTo>
                <a:lnTo>
                  <a:pt x="5760" y="9"/>
                </a:lnTo>
                <a:lnTo>
                  <a:pt x="5760" y="310"/>
                </a:lnTo>
                <a:lnTo>
                  <a:pt x="5760" y="312"/>
                </a:lnTo>
                <a:lnTo>
                  <a:pt x="5760" y="312"/>
                </a:lnTo>
                <a:lnTo>
                  <a:pt x="5760" y="344"/>
                </a:lnTo>
                <a:lnTo>
                  <a:pt x="5760" y="377"/>
                </a:lnTo>
                <a:lnTo>
                  <a:pt x="5760" y="377"/>
                </a:lnTo>
                <a:lnTo>
                  <a:pt x="5760" y="512"/>
                </a:lnTo>
                <a:lnTo>
                  <a:pt x="5760" y="512"/>
                </a:lnTo>
                <a:lnTo>
                  <a:pt x="5760" y="786"/>
                </a:lnTo>
                <a:lnTo>
                  <a:pt x="5760" y="786"/>
                </a:lnTo>
                <a:lnTo>
                  <a:pt x="5760" y="1060"/>
                </a:lnTo>
                <a:lnTo>
                  <a:pt x="5760" y="1060"/>
                </a:lnTo>
                <a:lnTo>
                  <a:pt x="5760" y="1195"/>
                </a:lnTo>
                <a:lnTo>
                  <a:pt x="5760" y="1195"/>
                </a:lnTo>
                <a:lnTo>
                  <a:pt x="5760" y="1262"/>
                </a:lnTo>
                <a:lnTo>
                  <a:pt x="5760" y="1262"/>
                </a:lnTo>
                <a:lnTo>
                  <a:pt x="5758" y="1276"/>
                </a:lnTo>
                <a:lnTo>
                  <a:pt x="5758" y="1283"/>
                </a:lnTo>
                <a:lnTo>
                  <a:pt x="5755" y="1289"/>
                </a:lnTo>
                <a:lnTo>
                  <a:pt x="5755" y="1289"/>
                </a:lnTo>
                <a:lnTo>
                  <a:pt x="5747" y="1301"/>
                </a:lnTo>
                <a:lnTo>
                  <a:pt x="5740" y="1315"/>
                </a:lnTo>
                <a:lnTo>
                  <a:pt x="5740" y="1315"/>
                </a:lnTo>
                <a:lnTo>
                  <a:pt x="5719" y="1339"/>
                </a:lnTo>
                <a:lnTo>
                  <a:pt x="5699" y="1363"/>
                </a:lnTo>
                <a:lnTo>
                  <a:pt x="5674" y="1385"/>
                </a:lnTo>
                <a:lnTo>
                  <a:pt x="5650" y="1406"/>
                </a:lnTo>
                <a:lnTo>
                  <a:pt x="5650" y="1406"/>
                </a:lnTo>
                <a:lnTo>
                  <a:pt x="5624" y="1426"/>
                </a:lnTo>
                <a:lnTo>
                  <a:pt x="5597" y="1445"/>
                </a:lnTo>
                <a:lnTo>
                  <a:pt x="5541" y="1481"/>
                </a:lnTo>
                <a:lnTo>
                  <a:pt x="5541" y="1481"/>
                </a:lnTo>
                <a:lnTo>
                  <a:pt x="5480" y="1515"/>
                </a:lnTo>
                <a:lnTo>
                  <a:pt x="5419" y="1548"/>
                </a:lnTo>
                <a:lnTo>
                  <a:pt x="5356" y="1579"/>
                </a:lnTo>
                <a:lnTo>
                  <a:pt x="5295" y="1608"/>
                </a:lnTo>
                <a:lnTo>
                  <a:pt x="5295" y="1608"/>
                </a:lnTo>
                <a:lnTo>
                  <a:pt x="5229" y="1636"/>
                </a:lnTo>
                <a:lnTo>
                  <a:pt x="5161" y="1663"/>
                </a:lnTo>
                <a:lnTo>
                  <a:pt x="5096" y="1689"/>
                </a:lnTo>
                <a:lnTo>
                  <a:pt x="5028" y="1713"/>
                </a:lnTo>
                <a:lnTo>
                  <a:pt x="4893" y="1759"/>
                </a:lnTo>
                <a:lnTo>
                  <a:pt x="4756" y="1804"/>
                </a:lnTo>
                <a:lnTo>
                  <a:pt x="4756" y="1804"/>
                </a:lnTo>
                <a:lnTo>
                  <a:pt x="4615" y="1845"/>
                </a:lnTo>
                <a:lnTo>
                  <a:pt x="4472" y="1885"/>
                </a:lnTo>
                <a:lnTo>
                  <a:pt x="4332" y="1920"/>
                </a:lnTo>
                <a:lnTo>
                  <a:pt x="4188" y="1958"/>
                </a:lnTo>
                <a:lnTo>
                  <a:pt x="4188" y="1958"/>
                </a:lnTo>
                <a:lnTo>
                  <a:pt x="4046" y="1993"/>
                </a:lnTo>
                <a:lnTo>
                  <a:pt x="3902" y="2027"/>
                </a:lnTo>
                <a:lnTo>
                  <a:pt x="3758" y="2059"/>
                </a:lnTo>
                <a:lnTo>
                  <a:pt x="3614" y="2089"/>
                </a:lnTo>
                <a:lnTo>
                  <a:pt x="3614" y="2089"/>
                </a:lnTo>
                <a:lnTo>
                  <a:pt x="3511" y="2108"/>
                </a:lnTo>
                <a:lnTo>
                  <a:pt x="3363" y="2133"/>
                </a:lnTo>
                <a:lnTo>
                  <a:pt x="2993" y="2192"/>
                </a:lnTo>
                <a:lnTo>
                  <a:pt x="2641" y="2248"/>
                </a:lnTo>
                <a:lnTo>
                  <a:pt x="2515" y="2267"/>
                </a:lnTo>
                <a:lnTo>
                  <a:pt x="2444" y="2281"/>
                </a:lnTo>
                <a:lnTo>
                  <a:pt x="2444" y="2281"/>
                </a:lnTo>
                <a:lnTo>
                  <a:pt x="2302" y="2312"/>
                </a:lnTo>
                <a:lnTo>
                  <a:pt x="2160" y="2348"/>
                </a:lnTo>
                <a:lnTo>
                  <a:pt x="2018" y="2386"/>
                </a:lnTo>
                <a:lnTo>
                  <a:pt x="1880" y="2427"/>
                </a:lnTo>
                <a:lnTo>
                  <a:pt x="1880" y="2427"/>
                </a:lnTo>
                <a:lnTo>
                  <a:pt x="1742" y="2470"/>
                </a:lnTo>
                <a:lnTo>
                  <a:pt x="1677" y="2494"/>
                </a:lnTo>
                <a:lnTo>
                  <a:pt x="1609" y="2517"/>
                </a:lnTo>
                <a:lnTo>
                  <a:pt x="1541" y="2543"/>
                </a:lnTo>
                <a:lnTo>
                  <a:pt x="1475" y="2569"/>
                </a:lnTo>
                <a:lnTo>
                  <a:pt x="1410" y="2596"/>
                </a:lnTo>
                <a:lnTo>
                  <a:pt x="1346" y="2625"/>
                </a:lnTo>
                <a:lnTo>
                  <a:pt x="1346" y="2625"/>
                </a:lnTo>
                <a:lnTo>
                  <a:pt x="1284" y="2655"/>
                </a:lnTo>
                <a:lnTo>
                  <a:pt x="1222" y="2684"/>
                </a:lnTo>
                <a:lnTo>
                  <a:pt x="1162" y="2717"/>
                </a:lnTo>
                <a:lnTo>
                  <a:pt x="1102" y="2749"/>
                </a:lnTo>
                <a:lnTo>
                  <a:pt x="1043" y="2785"/>
                </a:lnTo>
                <a:lnTo>
                  <a:pt x="988" y="2821"/>
                </a:lnTo>
                <a:lnTo>
                  <a:pt x="931" y="2859"/>
                </a:lnTo>
                <a:lnTo>
                  <a:pt x="876" y="2899"/>
                </a:lnTo>
                <a:lnTo>
                  <a:pt x="876" y="2899"/>
                </a:lnTo>
                <a:lnTo>
                  <a:pt x="822" y="2938"/>
                </a:lnTo>
                <a:lnTo>
                  <a:pt x="771" y="2980"/>
                </a:lnTo>
                <a:lnTo>
                  <a:pt x="720" y="3023"/>
                </a:lnTo>
                <a:lnTo>
                  <a:pt x="672" y="3069"/>
                </a:lnTo>
                <a:lnTo>
                  <a:pt x="623" y="3113"/>
                </a:lnTo>
                <a:lnTo>
                  <a:pt x="576" y="3159"/>
                </a:lnTo>
                <a:lnTo>
                  <a:pt x="531" y="3207"/>
                </a:lnTo>
                <a:lnTo>
                  <a:pt x="487" y="3257"/>
                </a:lnTo>
                <a:lnTo>
                  <a:pt x="487" y="3257"/>
                </a:lnTo>
                <a:lnTo>
                  <a:pt x="447" y="3308"/>
                </a:lnTo>
                <a:lnTo>
                  <a:pt x="406" y="3360"/>
                </a:lnTo>
                <a:lnTo>
                  <a:pt x="366" y="3413"/>
                </a:lnTo>
                <a:lnTo>
                  <a:pt x="329" y="3468"/>
                </a:lnTo>
                <a:lnTo>
                  <a:pt x="292" y="3523"/>
                </a:lnTo>
                <a:lnTo>
                  <a:pt x="258" y="3579"/>
                </a:lnTo>
                <a:lnTo>
                  <a:pt x="227" y="3636"/>
                </a:lnTo>
                <a:lnTo>
                  <a:pt x="197" y="3694"/>
                </a:lnTo>
                <a:lnTo>
                  <a:pt x="197" y="3694"/>
                </a:lnTo>
                <a:lnTo>
                  <a:pt x="167" y="3755"/>
                </a:lnTo>
                <a:lnTo>
                  <a:pt x="140" y="3814"/>
                </a:lnTo>
                <a:lnTo>
                  <a:pt x="114" y="3876"/>
                </a:lnTo>
                <a:lnTo>
                  <a:pt x="92" y="3940"/>
                </a:lnTo>
                <a:lnTo>
                  <a:pt x="71" y="4003"/>
                </a:lnTo>
                <a:lnTo>
                  <a:pt x="53" y="4067"/>
                </a:lnTo>
                <a:lnTo>
                  <a:pt x="35" y="4130"/>
                </a:lnTo>
                <a:lnTo>
                  <a:pt x="20" y="4195"/>
                </a:lnTo>
                <a:lnTo>
                  <a:pt x="20" y="4195"/>
                </a:lnTo>
                <a:lnTo>
                  <a:pt x="7" y="4268"/>
                </a:lnTo>
                <a:lnTo>
                  <a:pt x="4" y="4303"/>
                </a:lnTo>
                <a:lnTo>
                  <a:pt x="0" y="433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 eaLnBrk="0" hangingPunct="0">
              <a:lnSpc>
                <a:spcPct val="85000"/>
              </a:lnSpc>
              <a:defRPr/>
            </a:pPr>
            <a:endParaRPr lang="en-US" noProof="0" dirty="0"/>
          </a:p>
        </p:txBody>
      </p:sp>
      <p:sp>
        <p:nvSpPr>
          <p:cNvPr id="6" name="Titre 5"/>
          <p:cNvSpPr>
            <a:spLocks noGrp="1"/>
          </p:cNvSpPr>
          <p:nvPr>
            <p:ph type="title" hasCustomPrompt="1"/>
          </p:nvPr>
        </p:nvSpPr>
        <p:spPr>
          <a:xfrm>
            <a:off x="0" y="903600"/>
            <a:ext cx="9144000" cy="1143000"/>
          </a:xfrm>
          <a:prstGeom prst="rect">
            <a:avLst/>
          </a:prstGeom>
        </p:spPr>
        <p:txBody>
          <a:bodyPr lIns="360000" rIns="36000" anchor="b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600" b="1" kern="1200" baseline="0" noProof="0" dirty="0" smtClean="0">
                <a:solidFill>
                  <a:schemeClr val="tx2"/>
                </a:solidFill>
                <a:latin typeface="Arial Narrow" pitchFamily="34" charset="0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-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itre 7"/>
          <p:cNvSpPr>
            <a:spLocks noGrp="1"/>
          </p:cNvSpPr>
          <p:nvPr>
            <p:ph type="title" hasCustomPrompt="1"/>
          </p:nvPr>
        </p:nvSpPr>
        <p:spPr>
          <a:xfrm>
            <a:off x="0" y="4300728"/>
            <a:ext cx="9144000" cy="1143000"/>
          </a:xfrm>
          <a:prstGeom prst="rect">
            <a:avLst/>
          </a:prstGeom>
        </p:spPr>
        <p:txBody>
          <a:bodyPr lIns="360000" rIns="360000" anchor="t"/>
          <a:lstStyle>
            <a:lvl1pPr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lang="en-US" sz="3600" b="1" kern="1200" baseline="0" noProof="0" dirty="0">
                <a:solidFill>
                  <a:schemeClr val="tx2"/>
                </a:solidFill>
                <a:latin typeface="Arial Narrow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 smtClean="0"/>
              <a:t>Click to edit title style</a:t>
            </a:r>
            <a:endParaRPr lang="en-US" noProof="0" dirty="0"/>
          </a:p>
        </p:txBody>
      </p:sp>
      <p:sp>
        <p:nvSpPr>
          <p:cNvPr id="3" name="Freeform 7"/>
          <p:cNvSpPr>
            <a:spLocks/>
          </p:cNvSpPr>
          <p:nvPr userDrawn="1"/>
        </p:nvSpPr>
        <p:spPr bwMode="auto">
          <a:xfrm>
            <a:off x="1" y="0"/>
            <a:ext cx="9144000" cy="6896100"/>
          </a:xfrm>
          <a:custGeom>
            <a:avLst/>
            <a:gdLst/>
            <a:ahLst/>
            <a:cxnLst>
              <a:cxn ang="0">
                <a:pos x="0" y="3797"/>
              </a:cxn>
              <a:cxn ang="0">
                <a:pos x="0" y="3252"/>
              </a:cxn>
              <a:cxn ang="0">
                <a:pos x="0" y="2159"/>
              </a:cxn>
              <a:cxn ang="0">
                <a:pos x="0" y="1611"/>
              </a:cxn>
              <a:cxn ang="0">
                <a:pos x="0" y="523"/>
              </a:cxn>
              <a:cxn ang="0">
                <a:pos x="0" y="387"/>
              </a:cxn>
              <a:cxn ang="0">
                <a:pos x="5760" y="9"/>
              </a:cxn>
              <a:cxn ang="0">
                <a:pos x="5760" y="312"/>
              </a:cxn>
              <a:cxn ang="0">
                <a:pos x="5760" y="377"/>
              </a:cxn>
              <a:cxn ang="0">
                <a:pos x="5760" y="786"/>
              </a:cxn>
              <a:cxn ang="0">
                <a:pos x="5760" y="1060"/>
              </a:cxn>
              <a:cxn ang="0">
                <a:pos x="5760" y="1262"/>
              </a:cxn>
              <a:cxn ang="0">
                <a:pos x="5758" y="1283"/>
              </a:cxn>
              <a:cxn ang="0">
                <a:pos x="5747" y="1301"/>
              </a:cxn>
              <a:cxn ang="0">
                <a:pos x="5719" y="1339"/>
              </a:cxn>
              <a:cxn ang="0">
                <a:pos x="5650" y="1406"/>
              </a:cxn>
              <a:cxn ang="0">
                <a:pos x="5597" y="1445"/>
              </a:cxn>
              <a:cxn ang="0">
                <a:pos x="5480" y="1515"/>
              </a:cxn>
              <a:cxn ang="0">
                <a:pos x="5295" y="1608"/>
              </a:cxn>
              <a:cxn ang="0">
                <a:pos x="5161" y="1663"/>
              </a:cxn>
              <a:cxn ang="0">
                <a:pos x="4893" y="1759"/>
              </a:cxn>
              <a:cxn ang="0">
                <a:pos x="4615" y="1845"/>
              </a:cxn>
              <a:cxn ang="0">
                <a:pos x="4188" y="1958"/>
              </a:cxn>
              <a:cxn ang="0">
                <a:pos x="3902" y="2027"/>
              </a:cxn>
              <a:cxn ang="0">
                <a:pos x="3614" y="2089"/>
              </a:cxn>
              <a:cxn ang="0">
                <a:pos x="2993" y="2192"/>
              </a:cxn>
              <a:cxn ang="0">
                <a:pos x="2444" y="2281"/>
              </a:cxn>
              <a:cxn ang="0">
                <a:pos x="2160" y="2348"/>
              </a:cxn>
              <a:cxn ang="0">
                <a:pos x="1880" y="2427"/>
              </a:cxn>
              <a:cxn ang="0">
                <a:pos x="1609" y="2517"/>
              </a:cxn>
              <a:cxn ang="0">
                <a:pos x="1410" y="2596"/>
              </a:cxn>
              <a:cxn ang="0">
                <a:pos x="1284" y="2655"/>
              </a:cxn>
              <a:cxn ang="0">
                <a:pos x="1102" y="2749"/>
              </a:cxn>
              <a:cxn ang="0">
                <a:pos x="931" y="2859"/>
              </a:cxn>
              <a:cxn ang="0">
                <a:pos x="822" y="2938"/>
              </a:cxn>
              <a:cxn ang="0">
                <a:pos x="672" y="3069"/>
              </a:cxn>
              <a:cxn ang="0">
                <a:pos x="531" y="3207"/>
              </a:cxn>
              <a:cxn ang="0">
                <a:pos x="447" y="3308"/>
              </a:cxn>
              <a:cxn ang="0">
                <a:pos x="329" y="3468"/>
              </a:cxn>
              <a:cxn ang="0">
                <a:pos x="227" y="3636"/>
              </a:cxn>
              <a:cxn ang="0">
                <a:pos x="167" y="3755"/>
              </a:cxn>
              <a:cxn ang="0">
                <a:pos x="92" y="3940"/>
              </a:cxn>
              <a:cxn ang="0">
                <a:pos x="35" y="4130"/>
              </a:cxn>
              <a:cxn ang="0">
                <a:pos x="7" y="4268"/>
              </a:cxn>
            </a:cxnLst>
            <a:rect l="0" t="0" r="r" b="b"/>
            <a:pathLst>
              <a:path w="5760" h="4339">
                <a:moveTo>
                  <a:pt x="0" y="4339"/>
                </a:moveTo>
                <a:lnTo>
                  <a:pt x="0" y="4339"/>
                </a:lnTo>
                <a:lnTo>
                  <a:pt x="0" y="3797"/>
                </a:lnTo>
                <a:lnTo>
                  <a:pt x="0" y="3797"/>
                </a:lnTo>
                <a:lnTo>
                  <a:pt x="0" y="3252"/>
                </a:lnTo>
                <a:lnTo>
                  <a:pt x="0" y="3252"/>
                </a:lnTo>
                <a:lnTo>
                  <a:pt x="0" y="2705"/>
                </a:lnTo>
                <a:lnTo>
                  <a:pt x="0" y="2705"/>
                </a:lnTo>
                <a:lnTo>
                  <a:pt x="0" y="2159"/>
                </a:lnTo>
                <a:lnTo>
                  <a:pt x="0" y="2159"/>
                </a:lnTo>
                <a:lnTo>
                  <a:pt x="0" y="1611"/>
                </a:lnTo>
                <a:lnTo>
                  <a:pt x="0" y="1611"/>
                </a:lnTo>
                <a:lnTo>
                  <a:pt x="0" y="1066"/>
                </a:lnTo>
                <a:lnTo>
                  <a:pt x="0" y="1066"/>
                </a:lnTo>
                <a:lnTo>
                  <a:pt x="0" y="523"/>
                </a:lnTo>
                <a:lnTo>
                  <a:pt x="0" y="523"/>
                </a:lnTo>
                <a:lnTo>
                  <a:pt x="0" y="387"/>
                </a:lnTo>
                <a:lnTo>
                  <a:pt x="0" y="387"/>
                </a:lnTo>
                <a:lnTo>
                  <a:pt x="0" y="0"/>
                </a:lnTo>
                <a:lnTo>
                  <a:pt x="155" y="9"/>
                </a:lnTo>
                <a:lnTo>
                  <a:pt x="5760" y="9"/>
                </a:lnTo>
                <a:lnTo>
                  <a:pt x="5760" y="310"/>
                </a:lnTo>
                <a:lnTo>
                  <a:pt x="5760" y="312"/>
                </a:lnTo>
                <a:lnTo>
                  <a:pt x="5760" y="312"/>
                </a:lnTo>
                <a:lnTo>
                  <a:pt x="5760" y="344"/>
                </a:lnTo>
                <a:lnTo>
                  <a:pt x="5760" y="377"/>
                </a:lnTo>
                <a:lnTo>
                  <a:pt x="5760" y="377"/>
                </a:lnTo>
                <a:lnTo>
                  <a:pt x="5760" y="512"/>
                </a:lnTo>
                <a:lnTo>
                  <a:pt x="5760" y="512"/>
                </a:lnTo>
                <a:lnTo>
                  <a:pt x="5760" y="786"/>
                </a:lnTo>
                <a:lnTo>
                  <a:pt x="5760" y="786"/>
                </a:lnTo>
                <a:lnTo>
                  <a:pt x="5760" y="1060"/>
                </a:lnTo>
                <a:lnTo>
                  <a:pt x="5760" y="1060"/>
                </a:lnTo>
                <a:lnTo>
                  <a:pt x="5760" y="1195"/>
                </a:lnTo>
                <a:lnTo>
                  <a:pt x="5760" y="1195"/>
                </a:lnTo>
                <a:lnTo>
                  <a:pt x="5760" y="1262"/>
                </a:lnTo>
                <a:lnTo>
                  <a:pt x="5760" y="1262"/>
                </a:lnTo>
                <a:lnTo>
                  <a:pt x="5758" y="1276"/>
                </a:lnTo>
                <a:lnTo>
                  <a:pt x="5758" y="1283"/>
                </a:lnTo>
                <a:lnTo>
                  <a:pt x="5755" y="1289"/>
                </a:lnTo>
                <a:lnTo>
                  <a:pt x="5755" y="1289"/>
                </a:lnTo>
                <a:lnTo>
                  <a:pt x="5747" y="1301"/>
                </a:lnTo>
                <a:lnTo>
                  <a:pt x="5740" y="1315"/>
                </a:lnTo>
                <a:lnTo>
                  <a:pt x="5740" y="1315"/>
                </a:lnTo>
                <a:lnTo>
                  <a:pt x="5719" y="1339"/>
                </a:lnTo>
                <a:lnTo>
                  <a:pt x="5699" y="1363"/>
                </a:lnTo>
                <a:lnTo>
                  <a:pt x="5674" y="1385"/>
                </a:lnTo>
                <a:lnTo>
                  <a:pt x="5650" y="1406"/>
                </a:lnTo>
                <a:lnTo>
                  <a:pt x="5650" y="1406"/>
                </a:lnTo>
                <a:lnTo>
                  <a:pt x="5624" y="1426"/>
                </a:lnTo>
                <a:lnTo>
                  <a:pt x="5597" y="1445"/>
                </a:lnTo>
                <a:lnTo>
                  <a:pt x="5541" y="1481"/>
                </a:lnTo>
                <a:lnTo>
                  <a:pt x="5541" y="1481"/>
                </a:lnTo>
                <a:lnTo>
                  <a:pt x="5480" y="1515"/>
                </a:lnTo>
                <a:lnTo>
                  <a:pt x="5419" y="1548"/>
                </a:lnTo>
                <a:lnTo>
                  <a:pt x="5356" y="1579"/>
                </a:lnTo>
                <a:lnTo>
                  <a:pt x="5295" y="1608"/>
                </a:lnTo>
                <a:lnTo>
                  <a:pt x="5295" y="1608"/>
                </a:lnTo>
                <a:lnTo>
                  <a:pt x="5229" y="1636"/>
                </a:lnTo>
                <a:lnTo>
                  <a:pt x="5161" y="1663"/>
                </a:lnTo>
                <a:lnTo>
                  <a:pt x="5096" y="1689"/>
                </a:lnTo>
                <a:lnTo>
                  <a:pt x="5028" y="1713"/>
                </a:lnTo>
                <a:lnTo>
                  <a:pt x="4893" y="1759"/>
                </a:lnTo>
                <a:lnTo>
                  <a:pt x="4756" y="1804"/>
                </a:lnTo>
                <a:lnTo>
                  <a:pt x="4756" y="1804"/>
                </a:lnTo>
                <a:lnTo>
                  <a:pt x="4615" y="1845"/>
                </a:lnTo>
                <a:lnTo>
                  <a:pt x="4472" y="1885"/>
                </a:lnTo>
                <a:lnTo>
                  <a:pt x="4332" y="1920"/>
                </a:lnTo>
                <a:lnTo>
                  <a:pt x="4188" y="1958"/>
                </a:lnTo>
                <a:lnTo>
                  <a:pt x="4188" y="1958"/>
                </a:lnTo>
                <a:lnTo>
                  <a:pt x="4046" y="1993"/>
                </a:lnTo>
                <a:lnTo>
                  <a:pt x="3902" y="2027"/>
                </a:lnTo>
                <a:lnTo>
                  <a:pt x="3758" y="2059"/>
                </a:lnTo>
                <a:lnTo>
                  <a:pt x="3614" y="2089"/>
                </a:lnTo>
                <a:lnTo>
                  <a:pt x="3614" y="2089"/>
                </a:lnTo>
                <a:lnTo>
                  <a:pt x="3511" y="2108"/>
                </a:lnTo>
                <a:lnTo>
                  <a:pt x="3363" y="2133"/>
                </a:lnTo>
                <a:lnTo>
                  <a:pt x="2993" y="2192"/>
                </a:lnTo>
                <a:lnTo>
                  <a:pt x="2641" y="2248"/>
                </a:lnTo>
                <a:lnTo>
                  <a:pt x="2515" y="2267"/>
                </a:lnTo>
                <a:lnTo>
                  <a:pt x="2444" y="2281"/>
                </a:lnTo>
                <a:lnTo>
                  <a:pt x="2444" y="2281"/>
                </a:lnTo>
                <a:lnTo>
                  <a:pt x="2302" y="2312"/>
                </a:lnTo>
                <a:lnTo>
                  <a:pt x="2160" y="2348"/>
                </a:lnTo>
                <a:lnTo>
                  <a:pt x="2018" y="2386"/>
                </a:lnTo>
                <a:lnTo>
                  <a:pt x="1880" y="2427"/>
                </a:lnTo>
                <a:lnTo>
                  <a:pt x="1880" y="2427"/>
                </a:lnTo>
                <a:lnTo>
                  <a:pt x="1742" y="2470"/>
                </a:lnTo>
                <a:lnTo>
                  <a:pt x="1677" y="2494"/>
                </a:lnTo>
                <a:lnTo>
                  <a:pt x="1609" y="2517"/>
                </a:lnTo>
                <a:lnTo>
                  <a:pt x="1541" y="2543"/>
                </a:lnTo>
                <a:lnTo>
                  <a:pt x="1475" y="2569"/>
                </a:lnTo>
                <a:lnTo>
                  <a:pt x="1410" y="2596"/>
                </a:lnTo>
                <a:lnTo>
                  <a:pt x="1346" y="2625"/>
                </a:lnTo>
                <a:lnTo>
                  <a:pt x="1346" y="2625"/>
                </a:lnTo>
                <a:lnTo>
                  <a:pt x="1284" y="2655"/>
                </a:lnTo>
                <a:lnTo>
                  <a:pt x="1222" y="2684"/>
                </a:lnTo>
                <a:lnTo>
                  <a:pt x="1162" y="2717"/>
                </a:lnTo>
                <a:lnTo>
                  <a:pt x="1102" y="2749"/>
                </a:lnTo>
                <a:lnTo>
                  <a:pt x="1043" y="2785"/>
                </a:lnTo>
                <a:lnTo>
                  <a:pt x="988" y="2821"/>
                </a:lnTo>
                <a:lnTo>
                  <a:pt x="931" y="2859"/>
                </a:lnTo>
                <a:lnTo>
                  <a:pt x="876" y="2899"/>
                </a:lnTo>
                <a:lnTo>
                  <a:pt x="876" y="2899"/>
                </a:lnTo>
                <a:lnTo>
                  <a:pt x="822" y="2938"/>
                </a:lnTo>
                <a:lnTo>
                  <a:pt x="771" y="2980"/>
                </a:lnTo>
                <a:lnTo>
                  <a:pt x="720" y="3023"/>
                </a:lnTo>
                <a:lnTo>
                  <a:pt x="672" y="3069"/>
                </a:lnTo>
                <a:lnTo>
                  <a:pt x="623" y="3113"/>
                </a:lnTo>
                <a:lnTo>
                  <a:pt x="576" y="3159"/>
                </a:lnTo>
                <a:lnTo>
                  <a:pt x="531" y="3207"/>
                </a:lnTo>
                <a:lnTo>
                  <a:pt x="487" y="3257"/>
                </a:lnTo>
                <a:lnTo>
                  <a:pt x="487" y="3257"/>
                </a:lnTo>
                <a:lnTo>
                  <a:pt x="447" y="3308"/>
                </a:lnTo>
                <a:lnTo>
                  <a:pt x="406" y="3360"/>
                </a:lnTo>
                <a:lnTo>
                  <a:pt x="366" y="3413"/>
                </a:lnTo>
                <a:lnTo>
                  <a:pt x="329" y="3468"/>
                </a:lnTo>
                <a:lnTo>
                  <a:pt x="292" y="3523"/>
                </a:lnTo>
                <a:lnTo>
                  <a:pt x="258" y="3579"/>
                </a:lnTo>
                <a:lnTo>
                  <a:pt x="227" y="3636"/>
                </a:lnTo>
                <a:lnTo>
                  <a:pt x="197" y="3694"/>
                </a:lnTo>
                <a:lnTo>
                  <a:pt x="197" y="3694"/>
                </a:lnTo>
                <a:lnTo>
                  <a:pt x="167" y="3755"/>
                </a:lnTo>
                <a:lnTo>
                  <a:pt x="140" y="3814"/>
                </a:lnTo>
                <a:lnTo>
                  <a:pt x="114" y="3876"/>
                </a:lnTo>
                <a:lnTo>
                  <a:pt x="92" y="3940"/>
                </a:lnTo>
                <a:lnTo>
                  <a:pt x="71" y="4003"/>
                </a:lnTo>
                <a:lnTo>
                  <a:pt x="53" y="4067"/>
                </a:lnTo>
                <a:lnTo>
                  <a:pt x="35" y="4130"/>
                </a:lnTo>
                <a:lnTo>
                  <a:pt x="20" y="4195"/>
                </a:lnTo>
                <a:lnTo>
                  <a:pt x="20" y="4195"/>
                </a:lnTo>
                <a:lnTo>
                  <a:pt x="7" y="4268"/>
                </a:lnTo>
                <a:lnTo>
                  <a:pt x="4" y="4303"/>
                </a:lnTo>
                <a:lnTo>
                  <a:pt x="0" y="4339"/>
                </a:lnTo>
                <a:close/>
              </a:path>
            </a:pathLst>
          </a:custGeom>
          <a:blipFill dpi="0" rotWithShape="0">
            <a:blip r:embed="rId2" cstate="print"/>
            <a:srcRect/>
            <a:stretch>
              <a:fillRect r="-10000"/>
            </a:stretch>
          </a:blip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 eaLnBrk="0" hangingPunct="0">
              <a:lnSpc>
                <a:spcPct val="85000"/>
              </a:lnSpc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0" y="0"/>
            <a:ext cx="9144000" cy="11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252000" rIns="72000" bIns="36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dirty="0" smtClean="0"/>
              <a:t>Cliquez pour modifier le style du titre</a:t>
            </a:r>
            <a:endParaRPr lang="en-US" noProof="0" dirty="0" smtClean="0"/>
          </a:p>
        </p:txBody>
      </p:sp>
      <p:pic>
        <p:nvPicPr>
          <p:cNvPr id="21" name="Picture 12" descr="OK_Capgemini"/>
          <p:cNvPicPr>
            <a:picLocks noChangeAspect="1" noChangeArrowheads="1"/>
          </p:cNvPicPr>
          <p:nvPr/>
        </p:nvPicPr>
        <p:blipFill>
          <a:blip r:embed="rId1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6357" y="6381751"/>
            <a:ext cx="143900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610316" y="6554854"/>
            <a:ext cx="526352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endParaRPr lang="en-US"/>
          </a:p>
        </p:txBody>
      </p:sp>
      <p:sp>
        <p:nvSpPr>
          <p:cNvPr id="2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724" y="6732066"/>
            <a:ext cx="197737" cy="10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lnSpc>
                <a:spcPct val="85000"/>
              </a:lnSpc>
              <a:defRPr sz="800" b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fld id="{B41AA925-2325-4C81-9F52-52BCD7E3D2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Rectangle 26"/>
          <p:cNvSpPr>
            <a:spLocks noChangeArrowheads="1"/>
          </p:cNvSpPr>
          <p:nvPr/>
        </p:nvSpPr>
        <p:spPr bwMode="auto">
          <a:xfrm>
            <a:off x="0" y="6286501"/>
            <a:ext cx="9145108" cy="17463"/>
          </a:xfrm>
          <a:prstGeom prst="rect">
            <a:avLst/>
          </a:prstGeom>
          <a:gradFill rotWithShape="1">
            <a:gsLst>
              <a:gs pos="0">
                <a:schemeClr val="tx2">
                  <a:gamma/>
                  <a:tint val="22353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85000"/>
              </a:lnSpc>
              <a:defRPr/>
            </a:pPr>
            <a:endParaRPr lang="en-US" noProof="0"/>
          </a:p>
        </p:txBody>
      </p:sp>
      <p:sp>
        <p:nvSpPr>
          <p:cNvPr id="25" name="Rectangle 17"/>
          <p:cNvSpPr>
            <a:spLocks noGrp="1" noChangeArrowheads="1"/>
          </p:cNvSpPr>
          <p:nvPr>
            <p:ph type="dt" sz="half" idx="2"/>
          </p:nvPr>
        </p:nvSpPr>
        <p:spPr>
          <a:xfrm>
            <a:off x="6265761" y="6692904"/>
            <a:ext cx="2658462" cy="165100"/>
          </a:xfrm>
          <a:prstGeom prst="rect">
            <a:avLst/>
          </a:prstGeom>
          <a:ln/>
        </p:spPr>
        <p:txBody>
          <a:bodyPr/>
          <a:lstStyle>
            <a:lvl1pPr algn="r" eaLnBrk="0" hangingPunct="0">
              <a:lnSpc>
                <a:spcPct val="85000"/>
              </a:lnSpc>
              <a:defRPr sz="600" smtClean="0">
                <a:solidFill>
                  <a:schemeClr val="tx1"/>
                </a:solidFill>
              </a:defRPr>
            </a:lvl1pPr>
          </a:lstStyle>
          <a:p>
            <a:fld id="{A6B5E44E-53BD-4114-8083-A07569796DC3}" type="datetimeFigureOut">
              <a:rPr lang="en-US" smtClean="0"/>
              <a:pPr/>
              <a:t>10/2/2011</a:t>
            </a:fld>
            <a:endParaRPr lang="en-US"/>
          </a:p>
        </p:txBody>
      </p:sp>
      <p:grpSp>
        <p:nvGrpSpPr>
          <p:cNvPr id="2" name="Groupe 25"/>
          <p:cNvGrpSpPr/>
          <p:nvPr/>
        </p:nvGrpSpPr>
        <p:grpSpPr>
          <a:xfrm>
            <a:off x="0" y="1"/>
            <a:ext cx="3191608" cy="1235075"/>
            <a:chOff x="0" y="0"/>
            <a:chExt cx="3457575" cy="1235075"/>
          </a:xfrm>
        </p:grpSpPr>
        <p:sp>
          <p:nvSpPr>
            <p:cNvPr id="27" name="Freeform 23"/>
            <p:cNvSpPr>
              <a:spLocks/>
            </p:cNvSpPr>
            <p:nvPr/>
          </p:nvSpPr>
          <p:spPr bwMode="auto">
            <a:xfrm>
              <a:off x="0" y="0"/>
              <a:ext cx="3457575" cy="12350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405"/>
                </a:cxn>
                <a:cxn ang="0">
                  <a:pos x="1048" y="0"/>
                </a:cxn>
                <a:cxn ang="0">
                  <a:pos x="0" y="0"/>
                </a:cxn>
              </a:cxnLst>
              <a:rect l="0" t="0" r="r" b="b"/>
              <a:pathLst>
                <a:path w="1048" h="405">
                  <a:moveTo>
                    <a:pt x="0" y="0"/>
                  </a:moveTo>
                  <a:cubicBezTo>
                    <a:pt x="1" y="405"/>
                    <a:pt x="1" y="405"/>
                    <a:pt x="1" y="405"/>
                  </a:cubicBezTo>
                  <a:cubicBezTo>
                    <a:pt x="32" y="191"/>
                    <a:pt x="804" y="1"/>
                    <a:pt x="1048" y="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algn="ctr" eaLnBrk="0" hangingPunct="0">
                <a:lnSpc>
                  <a:spcPct val="85000"/>
                </a:lnSpc>
                <a:defRPr/>
              </a:pPr>
              <a:endParaRPr lang="en-US" noProof="0"/>
            </a:p>
          </p:txBody>
        </p:sp>
        <p:pic>
          <p:nvPicPr>
            <p:cNvPr id="28" name="Image 27" descr="CBE_Label_pptCorner.png"/>
            <p:cNvPicPr>
              <a:picLocks noChangeAspect="1"/>
            </p:cNvPicPr>
            <p:nvPr userDrawn="1"/>
          </p:nvPicPr>
          <p:blipFill>
            <a:blip r:embed="rId13" cstate="screen"/>
            <a:stretch>
              <a:fillRect/>
            </a:stretch>
          </p:blipFill>
          <p:spPr>
            <a:xfrm>
              <a:off x="160304" y="119554"/>
              <a:ext cx="524166" cy="522000"/>
            </a:xfrm>
            <a:prstGeom prst="rect">
              <a:avLst/>
            </a:prstGeom>
          </p:spPr>
        </p:pic>
      </p:grpSp>
      <p:sp>
        <p:nvSpPr>
          <p:cNvPr id="29" name="Espace réservé du texte 28"/>
          <p:cNvSpPr>
            <a:spLocks noGrp="1"/>
          </p:cNvSpPr>
          <p:nvPr>
            <p:ph type="body" idx="1"/>
          </p:nvPr>
        </p:nvSpPr>
        <p:spPr>
          <a:xfrm>
            <a:off x="0" y="1440000"/>
            <a:ext cx="9144000" cy="46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88000" tIns="36000" rIns="72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  <a:p>
            <a:pPr lvl="4"/>
            <a:r>
              <a:rPr lang="en-US" noProof="0" dirty="0" smtClean="0"/>
              <a:t>Text style level 5</a:t>
            </a:r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marL="0" indent="0" algn="ctr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lang="en-US" sz="3000" b="1" kern="1200" noProof="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714375" rtl="0" eaLnBrk="1" fontAlgn="base" latinLnBrk="0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lang="fr-FR" sz="240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66688" algn="l" defTabSz="714375" rtl="0" eaLnBrk="1" fontAlgn="base" latinLnBrk="0" hangingPunct="1">
        <a:spcBef>
          <a:spcPct val="20000"/>
        </a:spcBef>
        <a:spcAft>
          <a:spcPct val="0"/>
        </a:spcAft>
        <a:buClr>
          <a:schemeClr val="accent2"/>
        </a:buClr>
        <a:buFont typeface="Arial" pitchFamily="34" charset="0"/>
        <a:buChar char="•"/>
        <a:defRPr lang="fr-FR" sz="200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17550" indent="-177800" algn="l" defTabSz="714375" rtl="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lang="fr-FR" sz="1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176213" algn="l" defTabSz="714375" rtl="0" eaLnBrk="1" fontAlgn="base" latinLnBrk="0" hangingPunct="1">
        <a:spcBef>
          <a:spcPct val="20000"/>
        </a:spcBef>
        <a:spcAft>
          <a:spcPct val="0"/>
        </a:spcAft>
        <a:buClr>
          <a:schemeClr val="accent3"/>
        </a:buClr>
        <a:buFont typeface="Arial" pitchFamily="34" charset="0"/>
        <a:buChar char="–"/>
        <a:defRPr lang="fr-FR" sz="160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176213" algn="l" defTabSz="714375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»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group.org/archimate/doc/ts_archimate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.telin.nl/dsweb/View/Collection-4768" TargetMode="External"/><Relationship Id="rId5" Type="http://schemas.openxmlformats.org/officeDocument/2006/relationships/hyperlink" Target="http://www.sparxsystems.com.au/" TargetMode="External"/><Relationship Id="rId4" Type="http://schemas.openxmlformats.org/officeDocument/2006/relationships/hyperlink" Target="http://www.archimate.nl/en/start_using_archimate/good_practice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Adnaan </a:t>
            </a:r>
            <a:r>
              <a:rPr lang="en-US" dirty="0" err="1" smtClean="0"/>
              <a:t>Sikandar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dirty="0" err="1" smtClean="0"/>
              <a:t>Capgemini</a:t>
            </a:r>
            <a:r>
              <a:rPr lang="en-US" dirty="0" smtClean="0"/>
              <a:t> </a:t>
            </a:r>
            <a:r>
              <a:rPr lang="en-US" dirty="0" smtClean="0"/>
              <a:t>Canada Inc</a:t>
            </a:r>
            <a:r>
              <a:rPr lang="en-US" dirty="0" smtClean="0"/>
              <a:t>.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Adnaan.Sikandar@capgemini.com</a:t>
            </a:r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Enterprise Architecture Modeling</a:t>
            </a:r>
            <a:br>
              <a:rPr lang="en-US" dirty="0" smtClean="0"/>
            </a:br>
            <a:r>
              <a:rPr lang="en-US" dirty="0" smtClean="0"/>
              <a:t>With </a:t>
            </a:r>
            <a:r>
              <a:rPr lang="en-US" dirty="0" err="1" smtClean="0"/>
              <a:t>ArchiMate</a:t>
            </a:r>
            <a:r>
              <a:rPr lang="en-US" dirty="0" smtClean="0"/>
              <a:t> &amp; </a:t>
            </a:r>
            <a:r>
              <a:rPr lang="en-US" dirty="0" err="1" smtClean="0"/>
              <a:t>Sparx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ArchiMate</a:t>
            </a:r>
            <a:r>
              <a:rPr lang="en-US" dirty="0" smtClean="0"/>
              <a:t> Overview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err="1" smtClean="0"/>
              <a:t>ArchiMate</a:t>
            </a:r>
            <a:r>
              <a:rPr lang="en-US" dirty="0" smtClean="0"/>
              <a:t> Concepts</a:t>
            </a:r>
          </a:p>
          <a:p>
            <a:pPr lvl="1"/>
            <a:r>
              <a:rPr lang="en-US" dirty="0" smtClean="0"/>
              <a:t>Framework &amp; Concept</a:t>
            </a:r>
          </a:p>
          <a:p>
            <a:pPr lvl="1"/>
            <a:r>
              <a:rPr lang="en-US" dirty="0" smtClean="0"/>
              <a:t>Layers</a:t>
            </a:r>
          </a:p>
          <a:p>
            <a:pPr lvl="1"/>
            <a:r>
              <a:rPr lang="en-US" dirty="0" err="1" smtClean="0"/>
              <a:t>Metamodels</a:t>
            </a:r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r>
              <a:rPr lang="en-US" dirty="0" err="1" smtClean="0"/>
              <a:t>ArchiMate</a:t>
            </a:r>
            <a:r>
              <a:rPr lang="en-US" dirty="0" smtClean="0"/>
              <a:t> Viewpoints</a:t>
            </a:r>
          </a:p>
          <a:p>
            <a:pPr lvl="1"/>
            <a:r>
              <a:rPr lang="en-US" dirty="0" smtClean="0"/>
              <a:t>Information Structure Viewpoint</a:t>
            </a:r>
          </a:p>
          <a:p>
            <a:pPr lvl="1"/>
            <a:r>
              <a:rPr lang="en-US" dirty="0" smtClean="0"/>
              <a:t>Business Process Viewpoint</a:t>
            </a:r>
          </a:p>
          <a:p>
            <a:pPr lvl="1"/>
            <a:r>
              <a:rPr lang="en-US" dirty="0" smtClean="0"/>
              <a:t>Layered Viewpoint</a:t>
            </a:r>
          </a:p>
          <a:p>
            <a:pPr lvl="1"/>
            <a:r>
              <a:rPr lang="en-US" dirty="0" smtClean="0"/>
              <a:t>Infrastructure Viewpoint</a:t>
            </a:r>
          </a:p>
          <a:p>
            <a:pPr lvl="1"/>
            <a:r>
              <a:rPr lang="en-US" dirty="0" smtClean="0"/>
              <a:t>TOGAF ADM Viewpoints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ArchiMate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it?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ArchiMate is a modeling language for describing enterprise architectures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Broader scope than UML. UML is for software engineering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Supports EA frameworks like TOGAF &amp; </a:t>
            </a:r>
            <a:r>
              <a:rPr lang="en-US" dirty="0" err="1" smtClean="0"/>
              <a:t>Zachman</a:t>
            </a:r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Can be used to create IAF views and artifacts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err="1" smtClean="0"/>
              <a:t>ArchiMate</a:t>
            </a:r>
            <a:r>
              <a:rPr lang="en-US" dirty="0" smtClean="0"/>
              <a:t> viewpoints are more detailed than TOGAF’s architecture artifacts – TOGAF does not provide descriptions and examples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ArchiMate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Which version should I use?</a:t>
            </a:r>
          </a:p>
          <a:p>
            <a:pPr lvl="1"/>
            <a:r>
              <a:rPr lang="en-US" dirty="0" smtClean="0"/>
              <a:t>Technical Specification 1.0 (Approved)</a:t>
            </a:r>
          </a:p>
          <a:p>
            <a:pPr lvl="1"/>
            <a:r>
              <a:rPr lang="en-US" dirty="0" smtClean="0"/>
              <a:t>Technical Specification  2.0 (Under Review)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Is it a standard?</a:t>
            </a:r>
          </a:p>
          <a:p>
            <a:pPr lvl="1"/>
            <a:r>
              <a:rPr lang="en-US" dirty="0" smtClean="0"/>
              <a:t>The Open Group’s ArchiMate Forum – Stewards of the ArchiMate standard 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What about the license?</a:t>
            </a:r>
          </a:p>
          <a:p>
            <a:pPr lvl="1"/>
            <a:r>
              <a:rPr lang="en-US" dirty="0" smtClean="0"/>
              <a:t>Capgemini is an ArchiMate Forum member</a:t>
            </a:r>
          </a:p>
          <a:p>
            <a:pPr lvl="1"/>
            <a:r>
              <a:rPr lang="en-US" dirty="0" smtClean="0"/>
              <a:t>ArchiMate Forum members have commercial license to use it for consulting engagements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ArchiMate</a:t>
            </a:r>
            <a:r>
              <a:rPr lang="en-US" dirty="0" smtClean="0"/>
              <a:t> – Concepts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ArchiMate</a:t>
            </a:r>
            <a:r>
              <a:rPr lang="en-US" dirty="0" smtClean="0"/>
              <a:t> Framework</a:t>
            </a:r>
            <a:endParaRPr lang="en-US" dirty="0"/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638175" y="3360738"/>
            <a:ext cx="7277100" cy="955675"/>
            <a:chOff x="127" y="2592"/>
            <a:chExt cx="4865" cy="624"/>
          </a:xfrm>
        </p:grpSpPr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1152" y="2592"/>
              <a:ext cx="3840" cy="624"/>
              <a:chOff x="1152" y="1336"/>
              <a:chExt cx="3840" cy="1880"/>
            </a:xfrm>
          </p:grpSpPr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1152" y="1344"/>
                <a:ext cx="1056" cy="1872"/>
              </a:xfrm>
              <a:prstGeom prst="rect">
                <a:avLst/>
              </a:prstGeom>
              <a:solidFill>
                <a:srgbClr val="CCFFCC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2208" y="1344"/>
                <a:ext cx="480" cy="1872"/>
              </a:xfrm>
              <a:prstGeom prst="rect">
                <a:avLst/>
              </a:prstGeom>
              <a:gradFill rotWithShape="0">
                <a:gsLst>
                  <a:gs pos="0">
                    <a:srgbClr val="CCFFCC"/>
                  </a:gs>
                  <a:gs pos="100000">
                    <a:srgbClr val="FFFFCC"/>
                  </a:gs>
                </a:gsLst>
                <a:lin ang="0" scaled="1"/>
              </a:gra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3456" y="1344"/>
                <a:ext cx="576" cy="1872"/>
              </a:xfrm>
              <a:prstGeom prst="rect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CCFFFF"/>
                  </a:gs>
                </a:gsLst>
                <a:lin ang="0" scaled="1"/>
              </a:gra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3984" y="1344"/>
                <a:ext cx="1008" cy="1872"/>
              </a:xfrm>
              <a:prstGeom prst="rect">
                <a:avLst/>
              </a:prstGeom>
              <a:solidFill>
                <a:srgbClr val="CC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9"/>
              <p:cNvSpPr>
                <a:spLocks noChangeArrowheads="1"/>
              </p:cNvSpPr>
              <p:nvPr/>
            </p:nvSpPr>
            <p:spPr bwMode="auto">
              <a:xfrm>
                <a:off x="2640" y="1344"/>
                <a:ext cx="816" cy="1872"/>
              </a:xfrm>
              <a:prstGeom prst="rect">
                <a:avLst/>
              </a:prstGeom>
              <a:solidFill>
                <a:srgbClr val="FFFFCC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1152" y="1336"/>
                <a:ext cx="3838" cy="18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" name="Text Box 11"/>
            <p:cNvSpPr txBox="1">
              <a:spLocks noChangeArrowheads="1"/>
            </p:cNvSpPr>
            <p:nvPr/>
          </p:nvSpPr>
          <p:spPr bwMode="auto">
            <a:xfrm>
              <a:off x="127" y="2801"/>
              <a:ext cx="913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 i="0">
                  <a:solidFill>
                    <a:srgbClr val="000000"/>
                  </a:solidFill>
                </a:rPr>
                <a:t>Technology</a:t>
              </a:r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725487" y="2403475"/>
            <a:ext cx="7189788" cy="957263"/>
            <a:chOff x="186" y="1968"/>
            <a:chExt cx="4806" cy="624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1152" y="1968"/>
              <a:ext cx="3840" cy="624"/>
              <a:chOff x="1152" y="1336"/>
              <a:chExt cx="3840" cy="1880"/>
            </a:xfrm>
          </p:grpSpPr>
          <p:sp>
            <p:nvSpPr>
              <p:cNvPr id="17" name="Rectangle 14"/>
              <p:cNvSpPr>
                <a:spLocks noChangeArrowheads="1"/>
              </p:cNvSpPr>
              <p:nvPr/>
            </p:nvSpPr>
            <p:spPr bwMode="auto">
              <a:xfrm>
                <a:off x="1152" y="1344"/>
                <a:ext cx="1056" cy="1872"/>
              </a:xfrm>
              <a:prstGeom prst="rect">
                <a:avLst/>
              </a:prstGeom>
              <a:solidFill>
                <a:srgbClr val="CCFFCC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Rectangle 15"/>
              <p:cNvSpPr>
                <a:spLocks noChangeArrowheads="1"/>
              </p:cNvSpPr>
              <p:nvPr/>
            </p:nvSpPr>
            <p:spPr bwMode="auto">
              <a:xfrm>
                <a:off x="2208" y="1344"/>
                <a:ext cx="480" cy="1872"/>
              </a:xfrm>
              <a:prstGeom prst="rect">
                <a:avLst/>
              </a:prstGeom>
              <a:gradFill rotWithShape="0">
                <a:gsLst>
                  <a:gs pos="0">
                    <a:srgbClr val="CCFFCC"/>
                  </a:gs>
                  <a:gs pos="100000">
                    <a:srgbClr val="FFFFCC"/>
                  </a:gs>
                </a:gsLst>
                <a:lin ang="0" scaled="1"/>
              </a:gra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Rectangle 16"/>
              <p:cNvSpPr>
                <a:spLocks noChangeArrowheads="1"/>
              </p:cNvSpPr>
              <p:nvPr/>
            </p:nvSpPr>
            <p:spPr bwMode="auto">
              <a:xfrm>
                <a:off x="3456" y="1344"/>
                <a:ext cx="576" cy="1872"/>
              </a:xfrm>
              <a:prstGeom prst="rect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CCFFFF"/>
                  </a:gs>
                </a:gsLst>
                <a:lin ang="0" scaled="1"/>
              </a:gra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3984" y="1344"/>
                <a:ext cx="1008" cy="1872"/>
              </a:xfrm>
              <a:prstGeom prst="rect">
                <a:avLst/>
              </a:prstGeom>
              <a:solidFill>
                <a:srgbClr val="CC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Rectangle 18"/>
              <p:cNvSpPr>
                <a:spLocks noChangeArrowheads="1"/>
              </p:cNvSpPr>
              <p:nvPr/>
            </p:nvSpPr>
            <p:spPr bwMode="auto">
              <a:xfrm>
                <a:off x="2640" y="1344"/>
                <a:ext cx="816" cy="1872"/>
              </a:xfrm>
              <a:prstGeom prst="rect">
                <a:avLst/>
              </a:prstGeom>
              <a:solidFill>
                <a:srgbClr val="FFFFCC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Rectangle 19"/>
              <p:cNvSpPr>
                <a:spLocks noChangeArrowheads="1"/>
              </p:cNvSpPr>
              <p:nvPr/>
            </p:nvSpPr>
            <p:spPr bwMode="auto">
              <a:xfrm>
                <a:off x="1152" y="1336"/>
                <a:ext cx="3838" cy="18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6" name="Text Box 20"/>
            <p:cNvSpPr txBox="1">
              <a:spLocks noChangeArrowheads="1"/>
            </p:cNvSpPr>
            <p:nvPr/>
          </p:nvSpPr>
          <p:spPr bwMode="auto">
            <a:xfrm>
              <a:off x="186" y="2160"/>
              <a:ext cx="87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 i="0">
                  <a:solidFill>
                    <a:srgbClr val="000000"/>
                  </a:solidFill>
                </a:rPr>
                <a:t>Application</a:t>
              </a:r>
            </a:p>
          </p:txBody>
        </p:sp>
      </p:grpSp>
      <p:grpSp>
        <p:nvGrpSpPr>
          <p:cNvPr id="14" name="Group 21"/>
          <p:cNvGrpSpPr>
            <a:grpSpLocks/>
          </p:cNvGrpSpPr>
          <p:nvPr/>
        </p:nvGrpSpPr>
        <p:grpSpPr bwMode="auto">
          <a:xfrm>
            <a:off x="914400" y="1447800"/>
            <a:ext cx="7000875" cy="955675"/>
            <a:chOff x="312" y="1344"/>
            <a:chExt cx="4680" cy="624"/>
          </a:xfrm>
        </p:grpSpPr>
        <p:grpSp>
          <p:nvGrpSpPr>
            <p:cNvPr id="15" name="Group 22"/>
            <p:cNvGrpSpPr>
              <a:grpSpLocks/>
            </p:cNvGrpSpPr>
            <p:nvPr/>
          </p:nvGrpSpPr>
          <p:grpSpPr bwMode="auto">
            <a:xfrm>
              <a:off x="1152" y="1344"/>
              <a:ext cx="3840" cy="624"/>
              <a:chOff x="1152" y="1336"/>
              <a:chExt cx="3840" cy="1880"/>
            </a:xfrm>
          </p:grpSpPr>
          <p:sp>
            <p:nvSpPr>
              <p:cNvPr id="26" name="Rectangle 23"/>
              <p:cNvSpPr>
                <a:spLocks noChangeArrowheads="1"/>
              </p:cNvSpPr>
              <p:nvPr/>
            </p:nvSpPr>
            <p:spPr bwMode="auto">
              <a:xfrm>
                <a:off x="1152" y="1344"/>
                <a:ext cx="1056" cy="1872"/>
              </a:xfrm>
              <a:prstGeom prst="rect">
                <a:avLst/>
              </a:prstGeom>
              <a:solidFill>
                <a:srgbClr val="CCFFCC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2208" y="1344"/>
                <a:ext cx="480" cy="1872"/>
              </a:xfrm>
              <a:prstGeom prst="rect">
                <a:avLst/>
              </a:prstGeom>
              <a:gradFill rotWithShape="0">
                <a:gsLst>
                  <a:gs pos="0">
                    <a:srgbClr val="CCFFCC"/>
                  </a:gs>
                  <a:gs pos="100000">
                    <a:srgbClr val="FFFFCC"/>
                  </a:gs>
                </a:gsLst>
                <a:lin ang="0" scaled="1"/>
              </a:gra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Rectangle 25"/>
              <p:cNvSpPr>
                <a:spLocks noChangeArrowheads="1"/>
              </p:cNvSpPr>
              <p:nvPr/>
            </p:nvSpPr>
            <p:spPr bwMode="auto">
              <a:xfrm>
                <a:off x="3456" y="1344"/>
                <a:ext cx="576" cy="1872"/>
              </a:xfrm>
              <a:prstGeom prst="rect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CCFFFF"/>
                  </a:gs>
                </a:gsLst>
                <a:lin ang="0" scaled="1"/>
              </a:gra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Rectangle 26"/>
              <p:cNvSpPr>
                <a:spLocks noChangeArrowheads="1"/>
              </p:cNvSpPr>
              <p:nvPr/>
            </p:nvSpPr>
            <p:spPr bwMode="auto">
              <a:xfrm>
                <a:off x="3984" y="1344"/>
                <a:ext cx="1008" cy="1872"/>
              </a:xfrm>
              <a:prstGeom prst="rect">
                <a:avLst/>
              </a:prstGeom>
              <a:solidFill>
                <a:srgbClr val="CC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Rectangle 27"/>
              <p:cNvSpPr>
                <a:spLocks noChangeArrowheads="1"/>
              </p:cNvSpPr>
              <p:nvPr/>
            </p:nvSpPr>
            <p:spPr bwMode="auto">
              <a:xfrm>
                <a:off x="2640" y="1344"/>
                <a:ext cx="816" cy="1872"/>
              </a:xfrm>
              <a:prstGeom prst="rect">
                <a:avLst/>
              </a:prstGeom>
              <a:solidFill>
                <a:srgbClr val="FFFFCC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Rectangle 28"/>
              <p:cNvSpPr>
                <a:spLocks noChangeArrowheads="1"/>
              </p:cNvSpPr>
              <p:nvPr/>
            </p:nvSpPr>
            <p:spPr bwMode="auto">
              <a:xfrm>
                <a:off x="1152" y="1336"/>
                <a:ext cx="3838" cy="18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spcBef>
                    <a:spcPct val="0"/>
                  </a:spcBef>
                </a:pPr>
                <a:endParaRPr lang="en-US" sz="2000" i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Text Box 29"/>
            <p:cNvSpPr txBox="1">
              <a:spLocks noChangeArrowheads="1"/>
            </p:cNvSpPr>
            <p:nvPr/>
          </p:nvSpPr>
          <p:spPr bwMode="auto">
            <a:xfrm>
              <a:off x="312" y="1552"/>
              <a:ext cx="743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 i="0">
                  <a:solidFill>
                    <a:srgbClr val="000000"/>
                  </a:solidFill>
                </a:rPr>
                <a:t>Business</a:t>
              </a:r>
            </a:p>
          </p:txBody>
        </p:sp>
      </p:grpSp>
      <p:grpSp>
        <p:nvGrpSpPr>
          <p:cNvPr id="23" name="Group 31"/>
          <p:cNvGrpSpPr>
            <a:grpSpLocks/>
          </p:cNvGrpSpPr>
          <p:nvPr/>
        </p:nvGrpSpPr>
        <p:grpSpPr bwMode="auto">
          <a:xfrm>
            <a:off x="2428875" y="1447800"/>
            <a:ext cx="1712912" cy="4064000"/>
            <a:chOff x="2112" y="1328"/>
            <a:chExt cx="1079" cy="2560"/>
          </a:xfrm>
        </p:grpSpPr>
        <p:sp>
          <p:nvSpPr>
            <p:cNvPr id="33" name="Text Box 32"/>
            <p:cNvSpPr txBox="1">
              <a:spLocks noChangeArrowheads="1"/>
            </p:cNvSpPr>
            <p:nvPr/>
          </p:nvSpPr>
          <p:spPr bwMode="auto">
            <a:xfrm flipH="1">
              <a:off x="2112" y="3274"/>
              <a:ext cx="8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 i="0" dirty="0" smtClean="0">
                  <a:solidFill>
                    <a:srgbClr val="000000"/>
                  </a:solidFill>
                </a:rPr>
                <a:t>Information</a:t>
              </a:r>
              <a:endParaRPr lang="en-US" sz="1800" i="0" dirty="0">
                <a:solidFill>
                  <a:srgbClr val="000000"/>
                </a:solidFill>
              </a:endParaRPr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 flipV="1">
              <a:off x="3191" y="1328"/>
              <a:ext cx="0" cy="18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2503" y="3659"/>
              <a:ext cx="11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endParaRPr lang="en-US" sz="1800" i="0">
                <a:solidFill>
                  <a:srgbClr val="000000"/>
                </a:solidFill>
              </a:endParaRPr>
            </a:p>
          </p:txBody>
        </p:sp>
      </p:grpSp>
      <p:grpSp>
        <p:nvGrpSpPr>
          <p:cNvPr id="24" name="Group 35"/>
          <p:cNvGrpSpPr>
            <a:grpSpLocks/>
          </p:cNvGrpSpPr>
          <p:nvPr/>
        </p:nvGrpSpPr>
        <p:grpSpPr bwMode="auto">
          <a:xfrm>
            <a:off x="4549306" y="1447800"/>
            <a:ext cx="1530819" cy="4062660"/>
            <a:chOff x="2742" y="1344"/>
            <a:chExt cx="1023" cy="2652"/>
          </a:xfrm>
        </p:grpSpPr>
        <p:sp>
          <p:nvSpPr>
            <p:cNvPr id="37" name="Line 36"/>
            <p:cNvSpPr>
              <a:spLocks noChangeShapeType="1"/>
            </p:cNvSpPr>
            <p:nvPr/>
          </p:nvSpPr>
          <p:spPr bwMode="auto">
            <a:xfrm flipV="1">
              <a:off x="3765" y="1344"/>
              <a:ext cx="0" cy="18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8" name="Text Box 37"/>
            <p:cNvSpPr txBox="1">
              <a:spLocks noChangeArrowheads="1"/>
            </p:cNvSpPr>
            <p:nvPr/>
          </p:nvSpPr>
          <p:spPr bwMode="auto">
            <a:xfrm flipH="1">
              <a:off x="2742" y="3377"/>
              <a:ext cx="732" cy="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 i="0" dirty="0" smtClean="0">
                  <a:solidFill>
                    <a:srgbClr val="000000"/>
                  </a:solidFill>
                </a:rPr>
                <a:t>Behavior</a:t>
              </a:r>
              <a:endParaRPr lang="en-US" sz="1800" i="0" dirty="0">
                <a:solidFill>
                  <a:srgbClr val="000000"/>
                </a:solidFill>
              </a:endParaRPr>
            </a:p>
          </p:txBody>
        </p:sp>
        <p:sp>
          <p:nvSpPr>
            <p:cNvPr id="39" name="Text Box 38"/>
            <p:cNvSpPr txBox="1">
              <a:spLocks noChangeArrowheads="1"/>
            </p:cNvSpPr>
            <p:nvPr/>
          </p:nvSpPr>
          <p:spPr bwMode="auto">
            <a:xfrm>
              <a:off x="3036" y="3759"/>
              <a:ext cx="121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endParaRPr lang="en-US" sz="1800" i="0">
                <a:solidFill>
                  <a:srgbClr val="000000"/>
                </a:solidFill>
              </a:endParaRPr>
            </a:p>
          </p:txBody>
        </p:sp>
      </p:grpSp>
      <p:grpSp>
        <p:nvGrpSpPr>
          <p:cNvPr id="32" name="Group 39"/>
          <p:cNvGrpSpPr>
            <a:grpSpLocks/>
          </p:cNvGrpSpPr>
          <p:nvPr/>
        </p:nvGrpSpPr>
        <p:grpSpPr bwMode="auto">
          <a:xfrm>
            <a:off x="6473666" y="4562477"/>
            <a:ext cx="1121114" cy="949455"/>
            <a:chOff x="4029" y="3377"/>
            <a:chExt cx="748" cy="619"/>
          </a:xfrm>
        </p:grpSpPr>
        <p:sp>
          <p:nvSpPr>
            <p:cNvPr id="41" name="Text Box 40"/>
            <p:cNvSpPr txBox="1">
              <a:spLocks noChangeArrowheads="1"/>
            </p:cNvSpPr>
            <p:nvPr/>
          </p:nvSpPr>
          <p:spPr bwMode="auto">
            <a:xfrm flipH="1">
              <a:off x="4029" y="3377"/>
              <a:ext cx="748" cy="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 i="0" dirty="0" smtClean="0">
                  <a:solidFill>
                    <a:srgbClr val="000000"/>
                  </a:solidFill>
                </a:rPr>
                <a:t>Structure</a:t>
              </a:r>
              <a:endParaRPr lang="en-US" sz="1800" i="0" dirty="0">
                <a:solidFill>
                  <a:srgbClr val="000000"/>
                </a:solidFill>
              </a:endParaRPr>
            </a:p>
          </p:txBody>
        </p:sp>
        <p:sp>
          <p:nvSpPr>
            <p:cNvPr id="42" name="Text Box 41"/>
            <p:cNvSpPr txBox="1">
              <a:spLocks noChangeArrowheads="1"/>
            </p:cNvSpPr>
            <p:nvPr/>
          </p:nvSpPr>
          <p:spPr bwMode="auto">
            <a:xfrm>
              <a:off x="4336" y="3759"/>
              <a:ext cx="121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endParaRPr lang="en-US" sz="1800" i="0">
                <a:solidFill>
                  <a:srgbClr val="000000"/>
                </a:solidFill>
              </a:endParaRPr>
            </a:p>
          </p:txBody>
        </p:sp>
      </p:grpSp>
      <p:sp>
        <p:nvSpPr>
          <p:cNvPr id="43" name="Oval 42"/>
          <p:cNvSpPr>
            <a:spLocks noChangeArrowheads="1"/>
          </p:cNvSpPr>
          <p:nvPr/>
        </p:nvSpPr>
        <p:spPr bwMode="auto">
          <a:xfrm flipH="1">
            <a:off x="4181475" y="1776413"/>
            <a:ext cx="1206500" cy="574675"/>
          </a:xfrm>
          <a:prstGeom prst="ellipse">
            <a:avLst/>
          </a:prstGeom>
          <a:solidFill>
            <a:srgbClr val="A7A7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1600" b="1" i="0">
                <a:solidFill>
                  <a:srgbClr val="000000"/>
                </a:solidFill>
              </a:rPr>
              <a:t>Processes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 flipH="1">
            <a:off x="2314575" y="1733550"/>
            <a:ext cx="1619250" cy="576263"/>
          </a:xfrm>
          <a:prstGeom prst="ellipse">
            <a:avLst/>
          </a:prstGeom>
          <a:solidFill>
            <a:srgbClr val="A7A7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1600" b="1" i="0">
                <a:solidFill>
                  <a:srgbClr val="000000"/>
                </a:solidFill>
              </a:rPr>
              <a:t>Information</a:t>
            </a: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 flipH="1">
            <a:off x="2276475" y="2540000"/>
            <a:ext cx="1692275" cy="638175"/>
          </a:xfrm>
          <a:prstGeom prst="ellipse">
            <a:avLst/>
          </a:prstGeom>
          <a:solidFill>
            <a:srgbClr val="A7A7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1600" b="1" i="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46" name="Oval 45"/>
          <p:cNvSpPr>
            <a:spLocks noChangeArrowheads="1"/>
          </p:cNvSpPr>
          <p:nvPr/>
        </p:nvSpPr>
        <p:spPr bwMode="auto">
          <a:xfrm flipH="1">
            <a:off x="6115050" y="1666875"/>
            <a:ext cx="1749425" cy="566738"/>
          </a:xfrm>
          <a:prstGeom prst="ellipse">
            <a:avLst/>
          </a:prstGeom>
          <a:solidFill>
            <a:srgbClr val="A7A7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1600" b="1" i="0">
                <a:solidFill>
                  <a:srgbClr val="000000"/>
                </a:solidFill>
              </a:rPr>
              <a:t>Organisation</a:t>
            </a: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 flipH="1">
            <a:off x="3495675" y="1279525"/>
            <a:ext cx="1481137" cy="573088"/>
          </a:xfrm>
          <a:prstGeom prst="ellipse">
            <a:avLst/>
          </a:prstGeom>
          <a:solidFill>
            <a:srgbClr val="A7A7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1600" b="1" i="0">
                <a:solidFill>
                  <a:srgbClr val="000000"/>
                </a:solidFill>
              </a:rPr>
              <a:t> Products &amp; </a:t>
            </a:r>
            <a:br>
              <a:rPr lang="en-US" sz="1600" b="1" i="0">
                <a:solidFill>
                  <a:srgbClr val="000000"/>
                </a:solidFill>
              </a:rPr>
            </a:br>
            <a:r>
              <a:rPr lang="en-US" sz="1600" b="1" i="0">
                <a:solidFill>
                  <a:srgbClr val="000000"/>
                </a:solidFill>
              </a:rPr>
              <a:t>Services</a:t>
            </a:r>
          </a:p>
        </p:txBody>
      </p:sp>
      <p:sp>
        <p:nvSpPr>
          <p:cNvPr id="48" name="Oval 47"/>
          <p:cNvSpPr>
            <a:spLocks noChangeArrowheads="1"/>
          </p:cNvSpPr>
          <p:nvPr/>
        </p:nvSpPr>
        <p:spPr bwMode="auto">
          <a:xfrm flipH="1">
            <a:off x="4257675" y="2540000"/>
            <a:ext cx="3511550" cy="625475"/>
          </a:xfrm>
          <a:prstGeom prst="ellipse">
            <a:avLst/>
          </a:prstGeom>
          <a:solidFill>
            <a:srgbClr val="A7A7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1600" b="1" i="0">
                <a:solidFill>
                  <a:srgbClr val="000000"/>
                </a:solidFill>
              </a:rPr>
              <a:t>Applications</a:t>
            </a:r>
          </a:p>
        </p:txBody>
      </p:sp>
      <p:sp>
        <p:nvSpPr>
          <p:cNvPr id="49" name="Oval 48"/>
          <p:cNvSpPr>
            <a:spLocks noChangeArrowheads="1"/>
          </p:cNvSpPr>
          <p:nvPr/>
        </p:nvSpPr>
        <p:spPr bwMode="auto">
          <a:xfrm flipH="1">
            <a:off x="2638425" y="3530600"/>
            <a:ext cx="4784725" cy="625475"/>
          </a:xfrm>
          <a:prstGeom prst="ellipse">
            <a:avLst/>
          </a:prstGeom>
          <a:solidFill>
            <a:srgbClr val="A7A7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1600" b="1" i="0">
                <a:solidFill>
                  <a:srgbClr val="000000"/>
                </a:solidFill>
              </a:rPr>
              <a:t>Technical Infrastructure</a:t>
            </a:r>
          </a:p>
        </p:txBody>
      </p:sp>
      <p:sp>
        <p:nvSpPr>
          <p:cNvPr id="50" name="Oval 42"/>
          <p:cNvSpPr>
            <a:spLocks noChangeArrowheads="1"/>
          </p:cNvSpPr>
          <p:nvPr/>
        </p:nvSpPr>
        <p:spPr bwMode="auto">
          <a:xfrm flipH="1">
            <a:off x="5172075" y="1471613"/>
            <a:ext cx="1219200" cy="650875"/>
          </a:xfrm>
          <a:prstGeom prst="ellipse">
            <a:avLst/>
          </a:prstGeom>
          <a:solidFill>
            <a:srgbClr val="A7A7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1600" b="1" i="0">
                <a:solidFill>
                  <a:srgbClr val="000000"/>
                </a:solidFill>
              </a:rPr>
              <a:t>Business</a:t>
            </a:r>
          </a:p>
          <a:p>
            <a:pPr algn="ctr">
              <a:spcBef>
                <a:spcPct val="0"/>
              </a:spcBef>
            </a:pPr>
            <a:r>
              <a:rPr lang="en-US" sz="1600" b="1" i="0">
                <a:solidFill>
                  <a:srgbClr val="000000"/>
                </a:solidFill>
              </a:rPr>
              <a:t>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 autoUpdateAnimBg="0"/>
      <p:bldP spid="44" grpId="0" animBg="1" autoUpdateAnimBg="0"/>
      <p:bldP spid="45" grpId="0" animBg="1" autoUpdateAnimBg="0"/>
      <p:bldP spid="46" grpId="0" animBg="1" autoUpdateAnimBg="0"/>
      <p:bldP spid="47" grpId="0" animBg="1" autoUpdateAnimBg="0"/>
      <p:bldP spid="48" grpId="0" animBg="1" autoUpdateAnimBg="0"/>
      <p:bldP spid="49" grpId="0" animBg="1" autoUpdateAnimBg="0"/>
      <p:bldP spid="50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ArchiMate Concept</a:t>
            </a:r>
            <a:endParaRPr lang="en-US" dirty="0"/>
          </a:p>
        </p:txBody>
      </p:sp>
      <p:pic>
        <p:nvPicPr>
          <p:cNvPr id="5" name="Picture 4" descr="concepts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19200" y="1143000"/>
            <a:ext cx="6858000" cy="51162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ArchiMate</a:t>
            </a:r>
            <a:r>
              <a:rPr lang="en-US" dirty="0" smtClean="0"/>
              <a:t> Structure - Services</a:t>
            </a:r>
            <a:endParaRPr lang="en-US" dirty="0"/>
          </a:p>
        </p:txBody>
      </p:sp>
      <p:sp>
        <p:nvSpPr>
          <p:cNvPr id="9" name="Line 3"/>
          <p:cNvSpPr>
            <a:spLocks noChangeShapeType="1"/>
          </p:cNvSpPr>
          <p:nvPr/>
        </p:nvSpPr>
        <p:spPr bwMode="auto">
          <a:xfrm>
            <a:off x="1476375" y="5211762"/>
            <a:ext cx="6248400" cy="0"/>
          </a:xfrm>
          <a:prstGeom prst="line">
            <a:avLst/>
          </a:prstGeom>
          <a:noFill/>
          <a:ln w="28575">
            <a:solidFill>
              <a:srgbClr val="000099"/>
            </a:solidFill>
            <a:prstDash val="sysDot"/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 sz="1200"/>
          </a:p>
        </p:txBody>
      </p:sp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1476375" y="3738562"/>
            <a:ext cx="6248400" cy="0"/>
          </a:xfrm>
          <a:prstGeom prst="line">
            <a:avLst/>
          </a:prstGeom>
          <a:noFill/>
          <a:ln w="28575">
            <a:solidFill>
              <a:srgbClr val="000099"/>
            </a:solidFill>
            <a:prstDash val="sysDot"/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 sz="1200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1476375" y="2197100"/>
            <a:ext cx="6248400" cy="0"/>
          </a:xfrm>
          <a:prstGeom prst="line">
            <a:avLst/>
          </a:prstGeom>
          <a:noFill/>
          <a:ln w="28575">
            <a:solidFill>
              <a:srgbClr val="000099"/>
            </a:solidFill>
            <a:prstDash val="sysDot"/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 sz="12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2266950" y="1916112"/>
            <a:ext cx="1876425" cy="631825"/>
          </a:xfrm>
          <a:prstGeom prst="flowChartTerminator">
            <a:avLst/>
          </a:prstGeom>
          <a:solidFill>
            <a:srgbClr val="FFCC66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 eaLnBrk="0" hangingPunct="0">
              <a:spcBef>
                <a:spcPct val="0"/>
              </a:spcBef>
            </a:pPr>
            <a:r>
              <a:rPr lang="en-GB" sz="1200" i="0">
                <a:solidFill>
                  <a:srgbClr val="000000"/>
                </a:solidFill>
              </a:rPr>
              <a:t>External</a:t>
            </a:r>
          </a:p>
          <a:p>
            <a:pPr algn="ctr" eaLnBrk="0" hangingPunct="0">
              <a:spcBef>
                <a:spcPct val="0"/>
              </a:spcBef>
            </a:pPr>
            <a:r>
              <a:rPr lang="en-GB" sz="1200" i="0">
                <a:solidFill>
                  <a:srgbClr val="000000"/>
                </a:solidFill>
              </a:rPr>
              <a:t>business service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4324350" y="2687637"/>
            <a:ext cx="1876425" cy="630238"/>
          </a:xfrm>
          <a:prstGeom prst="flowChartTerminator">
            <a:avLst/>
          </a:prstGeom>
          <a:solidFill>
            <a:srgbClr val="FFFF66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 eaLnBrk="0" hangingPunct="0">
              <a:spcBef>
                <a:spcPct val="0"/>
              </a:spcBef>
            </a:pPr>
            <a:r>
              <a:rPr lang="en-GB" sz="1200" i="0">
                <a:solidFill>
                  <a:srgbClr val="000000"/>
                </a:solidFill>
              </a:rPr>
              <a:t>Internal</a:t>
            </a:r>
          </a:p>
          <a:p>
            <a:pPr algn="ctr" eaLnBrk="0" hangingPunct="0">
              <a:spcBef>
                <a:spcPct val="0"/>
              </a:spcBef>
            </a:pPr>
            <a:r>
              <a:rPr lang="en-GB" sz="1200" i="0">
                <a:solidFill>
                  <a:srgbClr val="000000"/>
                </a:solidFill>
              </a:rPr>
              <a:t>business service</a:t>
            </a:r>
          </a:p>
        </p:txBody>
      </p:sp>
      <p:sp>
        <p:nvSpPr>
          <p:cNvPr id="14" name="Line 8"/>
          <p:cNvSpPr>
            <a:spLocks noChangeShapeType="1"/>
          </p:cNvSpPr>
          <p:nvPr/>
        </p:nvSpPr>
        <p:spPr bwMode="auto">
          <a:xfrm flipH="1" flipV="1">
            <a:off x="4000500" y="2497137"/>
            <a:ext cx="403225" cy="2921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arrow" w="med" len="med"/>
          </a:ln>
        </p:spPr>
        <p:txBody>
          <a:bodyPr wrap="none" lIns="90488" tIns="44450" rIns="90488" bIns="44450" anchor="ctr"/>
          <a:lstStyle/>
          <a:p>
            <a:endParaRPr lang="en-US" sz="1200"/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 flipH="1" flipV="1">
            <a:off x="4067175" y="3983037"/>
            <a:ext cx="38100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arrow" w="med" len="med"/>
          </a:ln>
        </p:spPr>
        <p:txBody>
          <a:bodyPr wrap="none" lIns="90488" tIns="44450" rIns="90488" bIns="44450" anchor="ctr"/>
          <a:lstStyle/>
          <a:p>
            <a:endParaRPr lang="en-US" sz="1200"/>
          </a:p>
        </p:txBody>
      </p:sp>
      <p:sp>
        <p:nvSpPr>
          <p:cNvPr id="16" name="AutoShape 10"/>
          <p:cNvSpPr>
            <a:spLocks noChangeArrowheads="1"/>
          </p:cNvSpPr>
          <p:nvPr/>
        </p:nvSpPr>
        <p:spPr bwMode="auto">
          <a:xfrm>
            <a:off x="4343400" y="5562600"/>
            <a:ext cx="1828800" cy="630237"/>
          </a:xfrm>
          <a:prstGeom prst="flowChartTerminator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 eaLnBrk="0" hangingPunct="0">
              <a:spcBef>
                <a:spcPct val="0"/>
              </a:spcBef>
            </a:pPr>
            <a:r>
              <a:rPr lang="en-GB" sz="1200" i="0" dirty="0">
                <a:solidFill>
                  <a:srgbClr val="000000"/>
                </a:solidFill>
              </a:rPr>
              <a:t>Internal</a:t>
            </a:r>
          </a:p>
          <a:p>
            <a:pPr algn="ctr" eaLnBrk="0" hangingPunct="0">
              <a:spcBef>
                <a:spcPct val="0"/>
              </a:spcBef>
            </a:pPr>
            <a:r>
              <a:rPr lang="en-GB" sz="1200" i="0" dirty="0">
                <a:solidFill>
                  <a:srgbClr val="000000"/>
                </a:solidFill>
              </a:rPr>
              <a:t>infra. service</a:t>
            </a:r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 flipH="1" flipV="1">
            <a:off x="4011612" y="5421312"/>
            <a:ext cx="407988" cy="2381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arrow" w="med" len="med"/>
          </a:ln>
        </p:spPr>
        <p:txBody>
          <a:bodyPr wrap="none" lIns="90488" tIns="44450" rIns="90488" bIns="44450" anchor="ctr"/>
          <a:lstStyle/>
          <a:p>
            <a:endParaRPr lang="en-US" sz="1200"/>
          </a:p>
        </p:txBody>
      </p:sp>
      <p:sp>
        <p:nvSpPr>
          <p:cNvPr id="18" name="Line 12"/>
          <p:cNvSpPr>
            <a:spLocks noChangeShapeType="1"/>
          </p:cNvSpPr>
          <p:nvPr/>
        </p:nvSpPr>
        <p:spPr bwMode="auto">
          <a:xfrm flipV="1">
            <a:off x="3981450" y="3240087"/>
            <a:ext cx="45720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arrow" w="med" len="med"/>
          </a:ln>
        </p:spPr>
        <p:txBody>
          <a:bodyPr wrap="none" lIns="90488" tIns="44450" rIns="90488" bIns="44450" anchor="ctr"/>
          <a:lstStyle/>
          <a:p>
            <a:endParaRPr lang="en-US" sz="1200"/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 flipV="1">
            <a:off x="3887787" y="4721225"/>
            <a:ext cx="560388" cy="3492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arrow" w="med" len="med"/>
          </a:ln>
        </p:spPr>
        <p:txBody>
          <a:bodyPr wrap="none" lIns="90488" tIns="44450" rIns="90488" bIns="44450" anchor="ctr"/>
          <a:lstStyle/>
          <a:p>
            <a:endParaRPr lang="en-US" sz="1200"/>
          </a:p>
        </p:txBody>
      </p:sp>
      <p:sp>
        <p:nvSpPr>
          <p:cNvPr id="20" name="Line 14"/>
          <p:cNvSpPr>
            <a:spLocks noChangeShapeType="1"/>
          </p:cNvSpPr>
          <p:nvPr/>
        </p:nvSpPr>
        <p:spPr bwMode="auto">
          <a:xfrm flipV="1">
            <a:off x="3201987" y="4089400"/>
            <a:ext cx="0" cy="841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arrow" w="med" len="med"/>
          </a:ln>
        </p:spPr>
        <p:txBody>
          <a:bodyPr wrap="none" lIns="90488" tIns="44450" rIns="90488" bIns="44450" anchor="ctr"/>
          <a:lstStyle/>
          <a:p>
            <a:endParaRPr lang="en-US" sz="1200"/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 flipV="1">
            <a:off x="3201987" y="2547937"/>
            <a:ext cx="0" cy="911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arrow" w="med" len="med"/>
          </a:ln>
        </p:spPr>
        <p:txBody>
          <a:bodyPr wrap="none" lIns="90488" tIns="44450" rIns="90488" bIns="44450" anchor="ctr"/>
          <a:lstStyle/>
          <a:p>
            <a:endParaRPr lang="en-US" sz="1200"/>
          </a:p>
        </p:txBody>
      </p:sp>
      <p:sp>
        <p:nvSpPr>
          <p:cNvPr id="22" name="AutoShape 16"/>
          <p:cNvSpPr>
            <a:spLocks noChangeArrowheads="1"/>
          </p:cNvSpPr>
          <p:nvPr/>
        </p:nvSpPr>
        <p:spPr bwMode="auto">
          <a:xfrm>
            <a:off x="2314575" y="4932362"/>
            <a:ext cx="1752600" cy="631825"/>
          </a:xfrm>
          <a:prstGeom prst="flowChartTerminator">
            <a:avLst/>
          </a:prstGeom>
          <a:solidFill>
            <a:srgbClr val="99FF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 eaLnBrk="0" hangingPunct="0">
              <a:spcBef>
                <a:spcPct val="0"/>
              </a:spcBef>
            </a:pPr>
            <a:r>
              <a:rPr lang="en-GB" sz="1200" i="0">
                <a:solidFill>
                  <a:srgbClr val="000000"/>
                </a:solidFill>
              </a:rPr>
              <a:t>External</a:t>
            </a:r>
          </a:p>
          <a:p>
            <a:pPr algn="ctr" eaLnBrk="0" hangingPunct="0">
              <a:spcBef>
                <a:spcPct val="0"/>
              </a:spcBef>
            </a:pPr>
            <a:r>
              <a:rPr lang="en-GB" sz="1200" i="0">
                <a:solidFill>
                  <a:srgbClr val="000000"/>
                </a:solidFill>
              </a:rPr>
              <a:t>infra. service</a:t>
            </a:r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6641152" y="5246687"/>
            <a:ext cx="957571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spcBef>
                <a:spcPct val="0"/>
              </a:spcBef>
            </a:pPr>
            <a:r>
              <a:rPr lang="en-US" sz="1200" i="0">
                <a:solidFill>
                  <a:srgbClr val="000000"/>
                </a:solidFill>
              </a:rPr>
              <a:t>Technology</a:t>
            </a:r>
            <a:endParaRPr lang="en-GB" sz="1200" i="0">
              <a:solidFill>
                <a:srgbClr val="000000"/>
              </a:solidFill>
            </a:endParaRP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6686014" y="3738562"/>
            <a:ext cx="931346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spcBef>
                <a:spcPct val="0"/>
              </a:spcBef>
            </a:pPr>
            <a:r>
              <a:rPr lang="en-US" sz="1200" i="0">
                <a:solidFill>
                  <a:srgbClr val="000000"/>
                </a:solidFill>
              </a:rPr>
              <a:t>Application</a:t>
            </a:r>
            <a:endParaRPr lang="en-GB" sz="1200" i="0">
              <a:solidFill>
                <a:srgbClr val="000000"/>
              </a:solidFill>
            </a:endParaRPr>
          </a:p>
        </p:txBody>
      </p:sp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6844583" y="2197100"/>
            <a:ext cx="804708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spcBef>
                <a:spcPct val="0"/>
              </a:spcBef>
            </a:pPr>
            <a:r>
              <a:rPr lang="en-US" sz="1200" i="0">
                <a:solidFill>
                  <a:srgbClr val="000000"/>
                </a:solidFill>
              </a:rPr>
              <a:t>Business</a:t>
            </a:r>
            <a:endParaRPr lang="en-GB" sz="1200" i="0">
              <a:solidFill>
                <a:srgbClr val="000000"/>
              </a:solidFill>
            </a:endParaRP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3048000" y="1066800"/>
            <a:ext cx="363538" cy="487362"/>
            <a:chOff x="2130" y="576"/>
            <a:chExt cx="284" cy="388"/>
          </a:xfrm>
        </p:grpSpPr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2185" y="576"/>
              <a:ext cx="183" cy="145"/>
            </a:xfrm>
            <a:custGeom>
              <a:avLst/>
              <a:gdLst>
                <a:gd name="T0" fmla="*/ 3 w 366"/>
                <a:gd name="T1" fmla="*/ 1 h 291"/>
                <a:gd name="T2" fmla="*/ 3 w 366"/>
                <a:gd name="T3" fmla="*/ 0 h 291"/>
                <a:gd name="T4" fmla="*/ 3 w 366"/>
                <a:gd name="T5" fmla="*/ 0 h 291"/>
                <a:gd name="T6" fmla="*/ 3 w 366"/>
                <a:gd name="T7" fmla="*/ 0 h 291"/>
                <a:gd name="T8" fmla="*/ 3 w 366"/>
                <a:gd name="T9" fmla="*/ 0 h 291"/>
                <a:gd name="T10" fmla="*/ 3 w 366"/>
                <a:gd name="T11" fmla="*/ 0 h 291"/>
                <a:gd name="T12" fmla="*/ 3 w 366"/>
                <a:gd name="T13" fmla="*/ 0 h 291"/>
                <a:gd name="T14" fmla="*/ 1 w 366"/>
                <a:gd name="T15" fmla="*/ 0 h 291"/>
                <a:gd name="T16" fmla="*/ 1 w 366"/>
                <a:gd name="T17" fmla="*/ 0 h 291"/>
                <a:gd name="T18" fmla="*/ 1 w 366"/>
                <a:gd name="T19" fmla="*/ 0 h 291"/>
                <a:gd name="T20" fmla="*/ 1 w 366"/>
                <a:gd name="T21" fmla="*/ 0 h 291"/>
                <a:gd name="T22" fmla="*/ 1 w 366"/>
                <a:gd name="T23" fmla="*/ 0 h 291"/>
                <a:gd name="T24" fmla="*/ 1 w 366"/>
                <a:gd name="T25" fmla="*/ 0 h 291"/>
                <a:gd name="T26" fmla="*/ 1 w 366"/>
                <a:gd name="T27" fmla="*/ 0 h 291"/>
                <a:gd name="T28" fmla="*/ 1 w 366"/>
                <a:gd name="T29" fmla="*/ 0 h 291"/>
                <a:gd name="T30" fmla="*/ 1 w 366"/>
                <a:gd name="T31" fmla="*/ 0 h 291"/>
                <a:gd name="T32" fmla="*/ 0 w 366"/>
                <a:gd name="T33" fmla="*/ 1 h 291"/>
                <a:gd name="T34" fmla="*/ 0 w 366"/>
                <a:gd name="T35" fmla="*/ 1 h 291"/>
                <a:gd name="T36" fmla="*/ 1 w 366"/>
                <a:gd name="T37" fmla="*/ 1 h 291"/>
                <a:gd name="T38" fmla="*/ 1 w 366"/>
                <a:gd name="T39" fmla="*/ 1 h 291"/>
                <a:gd name="T40" fmla="*/ 1 w 366"/>
                <a:gd name="T41" fmla="*/ 1 h 291"/>
                <a:gd name="T42" fmla="*/ 1 w 366"/>
                <a:gd name="T43" fmla="*/ 2 h 291"/>
                <a:gd name="T44" fmla="*/ 1 w 366"/>
                <a:gd name="T45" fmla="*/ 2 h 291"/>
                <a:gd name="T46" fmla="*/ 1 w 366"/>
                <a:gd name="T47" fmla="*/ 2 h 291"/>
                <a:gd name="T48" fmla="*/ 1 w 366"/>
                <a:gd name="T49" fmla="*/ 2 h 291"/>
                <a:gd name="T50" fmla="*/ 1 w 366"/>
                <a:gd name="T51" fmla="*/ 2 h 291"/>
                <a:gd name="T52" fmla="*/ 1 w 366"/>
                <a:gd name="T53" fmla="*/ 2 h 291"/>
                <a:gd name="T54" fmla="*/ 3 w 366"/>
                <a:gd name="T55" fmla="*/ 2 h 291"/>
                <a:gd name="T56" fmla="*/ 3 w 366"/>
                <a:gd name="T57" fmla="*/ 2 h 291"/>
                <a:gd name="T58" fmla="*/ 3 w 366"/>
                <a:gd name="T59" fmla="*/ 1 h 291"/>
                <a:gd name="T60" fmla="*/ 3 w 366"/>
                <a:gd name="T61" fmla="*/ 1 h 291"/>
                <a:gd name="T62" fmla="*/ 3 w 366"/>
                <a:gd name="T63" fmla="*/ 1 h 291"/>
                <a:gd name="T64" fmla="*/ 3 w 366"/>
                <a:gd name="T65" fmla="*/ 1 h 291"/>
                <a:gd name="T66" fmla="*/ 3 w 366"/>
                <a:gd name="T67" fmla="*/ 1 h 29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66"/>
                <a:gd name="T103" fmla="*/ 0 h 291"/>
                <a:gd name="T104" fmla="*/ 366 w 366"/>
                <a:gd name="T105" fmla="*/ 291 h 29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66" h="291">
                  <a:moveTo>
                    <a:pt x="366" y="146"/>
                  </a:moveTo>
                  <a:lnTo>
                    <a:pt x="362" y="118"/>
                  </a:lnTo>
                  <a:lnTo>
                    <a:pt x="352" y="93"/>
                  </a:lnTo>
                  <a:lnTo>
                    <a:pt x="337" y="68"/>
                  </a:lnTo>
                  <a:lnTo>
                    <a:pt x="315" y="46"/>
                  </a:lnTo>
                  <a:lnTo>
                    <a:pt x="288" y="27"/>
                  </a:lnTo>
                  <a:lnTo>
                    <a:pt x="258" y="14"/>
                  </a:lnTo>
                  <a:lnTo>
                    <a:pt x="225" y="5"/>
                  </a:lnTo>
                  <a:lnTo>
                    <a:pt x="191" y="0"/>
                  </a:lnTo>
                  <a:lnTo>
                    <a:pt x="156" y="2"/>
                  </a:lnTo>
                  <a:lnTo>
                    <a:pt x="122" y="9"/>
                  </a:lnTo>
                  <a:lnTo>
                    <a:pt x="90" y="21"/>
                  </a:lnTo>
                  <a:lnTo>
                    <a:pt x="62" y="36"/>
                  </a:lnTo>
                  <a:lnTo>
                    <a:pt x="38" y="56"/>
                  </a:lnTo>
                  <a:lnTo>
                    <a:pt x="20" y="79"/>
                  </a:lnTo>
                  <a:lnTo>
                    <a:pt x="6" y="104"/>
                  </a:lnTo>
                  <a:lnTo>
                    <a:pt x="0" y="131"/>
                  </a:lnTo>
                  <a:lnTo>
                    <a:pt x="0" y="160"/>
                  </a:lnTo>
                  <a:lnTo>
                    <a:pt x="6" y="187"/>
                  </a:lnTo>
                  <a:lnTo>
                    <a:pt x="20" y="212"/>
                  </a:lnTo>
                  <a:lnTo>
                    <a:pt x="38" y="236"/>
                  </a:lnTo>
                  <a:lnTo>
                    <a:pt x="62" y="256"/>
                  </a:lnTo>
                  <a:lnTo>
                    <a:pt x="90" y="271"/>
                  </a:lnTo>
                  <a:lnTo>
                    <a:pt x="122" y="283"/>
                  </a:lnTo>
                  <a:lnTo>
                    <a:pt x="156" y="289"/>
                  </a:lnTo>
                  <a:lnTo>
                    <a:pt x="191" y="291"/>
                  </a:lnTo>
                  <a:lnTo>
                    <a:pt x="225" y="288"/>
                  </a:lnTo>
                  <a:lnTo>
                    <a:pt x="258" y="278"/>
                  </a:lnTo>
                  <a:lnTo>
                    <a:pt x="288" y="264"/>
                  </a:lnTo>
                  <a:lnTo>
                    <a:pt x="315" y="246"/>
                  </a:lnTo>
                  <a:lnTo>
                    <a:pt x="337" y="224"/>
                  </a:lnTo>
                  <a:lnTo>
                    <a:pt x="352" y="200"/>
                  </a:lnTo>
                  <a:lnTo>
                    <a:pt x="362" y="173"/>
                  </a:lnTo>
                  <a:lnTo>
                    <a:pt x="366" y="146"/>
                  </a:lnTo>
                  <a:close/>
                </a:path>
              </a:pathLst>
            </a:custGeom>
            <a:solidFill>
              <a:srgbClr val="FFFFFF"/>
            </a:solidFill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2276" y="721"/>
              <a:ext cx="0" cy="14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2139" y="757"/>
              <a:ext cx="27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 flipH="1">
              <a:off x="2130" y="855"/>
              <a:ext cx="137" cy="10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2267" y="855"/>
              <a:ext cx="138" cy="10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32" name="Rectangle 26"/>
          <p:cNvSpPr>
            <a:spLocks noChangeArrowheads="1"/>
          </p:cNvSpPr>
          <p:nvPr/>
        </p:nvSpPr>
        <p:spPr bwMode="auto">
          <a:xfrm>
            <a:off x="3578976" y="1149350"/>
            <a:ext cx="66524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>
              <a:spcBef>
                <a:spcPct val="0"/>
              </a:spcBef>
            </a:pPr>
            <a:r>
              <a:rPr lang="en-GB" sz="1200" i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 flipV="1">
            <a:off x="3201987" y="1555750"/>
            <a:ext cx="0" cy="3603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arrow" w="med" len="med"/>
          </a:ln>
        </p:spPr>
        <p:txBody>
          <a:bodyPr wrap="none" lIns="90488" tIns="44450" rIns="90488" bIns="44450" anchor="ctr"/>
          <a:lstStyle/>
          <a:p>
            <a:endParaRPr lang="en-US" sz="1200"/>
          </a:p>
        </p:txBody>
      </p:sp>
      <p:sp>
        <p:nvSpPr>
          <p:cNvPr id="34" name="AutoShape 28"/>
          <p:cNvSpPr>
            <a:spLocks noChangeArrowheads="1"/>
          </p:cNvSpPr>
          <p:nvPr/>
        </p:nvSpPr>
        <p:spPr bwMode="auto">
          <a:xfrm>
            <a:off x="2114550" y="3459162"/>
            <a:ext cx="2057400" cy="630238"/>
          </a:xfrm>
          <a:prstGeom prst="flowChartTerminator">
            <a:avLst/>
          </a:prstGeom>
          <a:solidFill>
            <a:srgbClr val="CCFF66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 eaLnBrk="0" hangingPunct="0">
              <a:spcBef>
                <a:spcPct val="0"/>
              </a:spcBef>
            </a:pPr>
            <a:r>
              <a:rPr lang="en-GB" sz="1200" i="0" dirty="0">
                <a:solidFill>
                  <a:srgbClr val="000000"/>
                </a:solidFill>
              </a:rPr>
              <a:t>External</a:t>
            </a:r>
          </a:p>
          <a:p>
            <a:pPr algn="ctr" eaLnBrk="0" hangingPunct="0">
              <a:spcBef>
                <a:spcPct val="0"/>
              </a:spcBef>
            </a:pPr>
            <a:r>
              <a:rPr lang="en-GB" sz="1200" i="0" dirty="0">
                <a:solidFill>
                  <a:srgbClr val="000000"/>
                </a:solidFill>
              </a:rPr>
              <a:t>application service</a:t>
            </a:r>
          </a:p>
        </p:txBody>
      </p:sp>
      <p:sp>
        <p:nvSpPr>
          <p:cNvPr id="35" name="AutoShape 29"/>
          <p:cNvSpPr>
            <a:spLocks noChangeArrowheads="1"/>
          </p:cNvSpPr>
          <p:nvPr/>
        </p:nvSpPr>
        <p:spPr bwMode="auto">
          <a:xfrm>
            <a:off x="4276725" y="4135437"/>
            <a:ext cx="2105025" cy="631825"/>
          </a:xfrm>
          <a:prstGeom prst="flowChartTerminator">
            <a:avLst/>
          </a:prstGeom>
          <a:solidFill>
            <a:srgbClr val="99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 eaLnBrk="0" hangingPunct="0">
              <a:spcBef>
                <a:spcPct val="0"/>
              </a:spcBef>
            </a:pPr>
            <a:r>
              <a:rPr lang="en-GB" sz="1200" i="0">
                <a:solidFill>
                  <a:srgbClr val="000000"/>
                </a:solidFill>
              </a:rPr>
              <a:t>Internal</a:t>
            </a:r>
          </a:p>
          <a:p>
            <a:pPr algn="ctr" eaLnBrk="0" hangingPunct="0">
              <a:spcBef>
                <a:spcPct val="0"/>
              </a:spcBef>
            </a:pPr>
            <a:r>
              <a:rPr lang="en-GB" sz="1200" i="0">
                <a:solidFill>
                  <a:srgbClr val="000000"/>
                </a:solidFill>
              </a:rPr>
              <a:t>application service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ArchiMate</a:t>
            </a:r>
            <a:r>
              <a:rPr lang="en-US" dirty="0" smtClean="0"/>
              <a:t> Structure - Layers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Layers</a:t>
            </a:r>
          </a:p>
          <a:p>
            <a:pPr lvl="1"/>
            <a:r>
              <a:rPr lang="en-US" sz="1800" dirty="0" smtClean="0"/>
              <a:t>Business Layer  - </a:t>
            </a:r>
            <a:r>
              <a:rPr lang="en-US" sz="1600" dirty="0" smtClean="0"/>
              <a:t>Offers products and services to external customers, which are realized in the organization by business processes performed by business actors</a:t>
            </a:r>
            <a:endParaRPr lang="en-US" sz="1800" dirty="0" smtClean="0"/>
          </a:p>
          <a:p>
            <a:pPr lvl="1"/>
            <a:r>
              <a:rPr lang="en-US" sz="1800" dirty="0" smtClean="0"/>
              <a:t>Application Layer  - </a:t>
            </a:r>
            <a:r>
              <a:rPr lang="en-US" sz="1600" dirty="0" smtClean="0"/>
              <a:t>Supports the business layer with application services which are realized by (software) applications.</a:t>
            </a:r>
            <a:endParaRPr lang="en-US" sz="1800" dirty="0" smtClean="0"/>
          </a:p>
          <a:p>
            <a:pPr lvl="1"/>
            <a:r>
              <a:rPr lang="en-US" sz="1800" dirty="0" smtClean="0"/>
              <a:t>Technology Layer - </a:t>
            </a:r>
            <a:r>
              <a:rPr lang="en-US" sz="1600" dirty="0" smtClean="0"/>
              <a:t>offers infrastructure services (e.g., processing, storage, and communication services) needed to run applications, realized by computer and communication hardware and system software.</a:t>
            </a:r>
            <a:endParaRPr lang="en-US" sz="1800" dirty="0" smtClean="0"/>
          </a:p>
          <a:p>
            <a:r>
              <a:rPr lang="en-US" dirty="0" smtClean="0"/>
              <a:t> Generic Metamodel For Each Layer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733800" y="4038600"/>
            <a:ext cx="4717108" cy="2167354"/>
            <a:chOff x="3886200" y="2895600"/>
            <a:chExt cx="4717108" cy="2167354"/>
          </a:xfrm>
        </p:grpSpPr>
        <p:sp>
          <p:nvSpPr>
            <p:cNvPr id="4" name="Text Box 3"/>
            <p:cNvSpPr txBox="1">
              <a:spLocks noChangeArrowheads="1"/>
            </p:cNvSpPr>
            <p:nvPr/>
          </p:nvSpPr>
          <p:spPr bwMode="auto">
            <a:xfrm>
              <a:off x="3886200" y="3886200"/>
              <a:ext cx="123666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i="0" dirty="0">
                  <a:solidFill>
                    <a:schemeClr val="tx1"/>
                  </a:solidFill>
                </a:rPr>
                <a:t>Internal</a:t>
              </a:r>
            </a:p>
          </p:txBody>
        </p:sp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3962400" y="3048000"/>
              <a:ext cx="124142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i="0" dirty="0">
                  <a:solidFill>
                    <a:schemeClr val="tx1"/>
                  </a:solidFill>
                </a:rPr>
                <a:t>External</a:t>
              </a: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4800600" y="4724400"/>
              <a:ext cx="138271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i="0" dirty="0" smtClean="0">
                  <a:solidFill>
                    <a:schemeClr val="tx1"/>
                  </a:solidFill>
                </a:rPr>
                <a:t>Information</a:t>
              </a:r>
              <a:endParaRPr lang="en-US" sz="1400" i="0" dirty="0">
                <a:solidFill>
                  <a:schemeClr val="tx1"/>
                </a:solidFill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6248400" y="4724400"/>
              <a:ext cx="114299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600" i="0" dirty="0" smtClean="0">
                  <a:solidFill>
                    <a:schemeClr val="tx1"/>
                  </a:solidFill>
                </a:rPr>
                <a:t>Behavior</a:t>
              </a:r>
              <a:endParaRPr lang="en-US" sz="1600" i="0" dirty="0">
                <a:solidFill>
                  <a:schemeClr val="tx1"/>
                </a:solidFill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7391400" y="4724400"/>
              <a:ext cx="121190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i="0" dirty="0" smtClean="0">
                  <a:solidFill>
                    <a:schemeClr val="tx1"/>
                  </a:solidFill>
                </a:rPr>
                <a:t>Structure</a:t>
              </a:r>
              <a:endParaRPr lang="en-US" sz="1400" i="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9" name="Object 10"/>
            <p:cNvGraphicFramePr>
              <a:graphicFrameLocks noChangeAspect="1"/>
            </p:cNvGraphicFramePr>
            <p:nvPr/>
          </p:nvGraphicFramePr>
          <p:xfrm>
            <a:off x="5181600" y="2895600"/>
            <a:ext cx="3200400" cy="1592602"/>
          </p:xfrm>
          <a:graphic>
            <a:graphicData uri="http://schemas.openxmlformats.org/presentationml/2006/ole">
              <p:oleObj spid="_x0000_s1026" name="Visio" r:id="rId4" imgW="5014722" imgH="2496312" progId="Visio.Drawing.11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009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66800"/>
            <a:ext cx="7924802" cy="48154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Metamodel – Business Layer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71800" y="4648200"/>
            <a:ext cx="9144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629400" y="4343400"/>
            <a:ext cx="9144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105400" y="4343400"/>
            <a:ext cx="9144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53000" y="5334000"/>
            <a:ext cx="9144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514600" y="5334000"/>
            <a:ext cx="9144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Language Notations</a:t>
            </a:r>
            <a:endParaRPr lang="en-US" dirty="0"/>
          </a:p>
        </p:txBody>
      </p:sp>
      <p:pic>
        <p:nvPicPr>
          <p:cNvPr id="5" name="Content Placeholder 4" descr="image161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43000" y="1066800"/>
            <a:ext cx="7391400" cy="5200378"/>
          </a:xfrm>
        </p:spPr>
      </p:pic>
      <p:sp>
        <p:nvSpPr>
          <p:cNvPr id="4" name="Rectangle 3"/>
          <p:cNvSpPr/>
          <p:nvPr/>
        </p:nvSpPr>
        <p:spPr>
          <a:xfrm>
            <a:off x="6934200" y="2590800"/>
            <a:ext cx="9144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58000" y="2209800"/>
            <a:ext cx="1143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58000" y="1752600"/>
            <a:ext cx="1143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724400" y="990600"/>
            <a:ext cx="1066800" cy="1295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590800" y="1600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667000" y="4267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Layer - </a:t>
            </a:r>
            <a:r>
              <a:rPr lang="en-US" dirty="0" err="1" smtClean="0"/>
              <a:t>Sparx</a:t>
            </a:r>
            <a:r>
              <a:rPr lang="en-US" dirty="0" smtClean="0"/>
              <a:t> Example</a:t>
            </a:r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2057400"/>
            <a:ext cx="8201025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Metamodel – Application Layer</a:t>
            </a:r>
            <a:endParaRPr lang="en-US" dirty="0"/>
          </a:p>
        </p:txBody>
      </p:sp>
      <p:pic>
        <p:nvPicPr>
          <p:cNvPr id="3" name="Picture 2" descr="image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981200"/>
            <a:ext cx="6640831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Metamodel – Technology Layer</a:t>
            </a:r>
            <a:endParaRPr lang="en-US" dirty="0"/>
          </a:p>
        </p:txBody>
      </p:sp>
      <p:pic>
        <p:nvPicPr>
          <p:cNvPr id="3" name="Picture 2" descr="image0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19200"/>
            <a:ext cx="7500147" cy="3124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ArchiMate</a:t>
            </a:r>
            <a:r>
              <a:rPr lang="en-US" dirty="0" smtClean="0"/>
              <a:t> – Viewpoints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</a:t>
            </a:r>
            <a:r>
              <a:rPr lang="en-US" dirty="0" err="1" smtClean="0"/>
              <a:t>ArchiMate</a:t>
            </a:r>
            <a:r>
              <a:rPr lang="en-US" dirty="0" smtClean="0"/>
              <a:t> Viewpoints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400" y="1219200"/>
            <a:ext cx="4308297" cy="39624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800" dirty="0" smtClean="0"/>
              <a:t>Introductory Viewpoint</a:t>
            </a:r>
          </a:p>
          <a:p>
            <a:r>
              <a:rPr lang="en-US" sz="1800" dirty="0" smtClean="0"/>
              <a:t>Organization Viewpoint</a:t>
            </a:r>
          </a:p>
          <a:p>
            <a:r>
              <a:rPr lang="en-US" sz="1800" b="1" dirty="0" smtClean="0"/>
              <a:t>Actor Co-operation Viewpoint</a:t>
            </a:r>
          </a:p>
          <a:p>
            <a:r>
              <a:rPr lang="en-US" sz="1800" dirty="0" smtClean="0"/>
              <a:t>Business Function Viewpoint</a:t>
            </a:r>
          </a:p>
          <a:p>
            <a:r>
              <a:rPr lang="en-US" sz="1800" b="1" dirty="0" smtClean="0"/>
              <a:t>Business Process Viewpoint</a:t>
            </a:r>
          </a:p>
          <a:p>
            <a:r>
              <a:rPr lang="en-US" sz="1800" dirty="0" smtClean="0"/>
              <a:t>Business Process Co-operation Viewpoint</a:t>
            </a:r>
          </a:p>
          <a:p>
            <a:r>
              <a:rPr lang="en-US" sz="1800" dirty="0" smtClean="0"/>
              <a:t>Product Viewpoint</a:t>
            </a:r>
          </a:p>
          <a:p>
            <a:r>
              <a:rPr lang="en-US" sz="1800" dirty="0" smtClean="0"/>
              <a:t>Application Behavior Viewpoint</a:t>
            </a:r>
          </a:p>
          <a:p>
            <a:r>
              <a:rPr lang="en-US" sz="1800" dirty="0" smtClean="0"/>
              <a:t>Application Co-operation Viewpoint</a:t>
            </a:r>
          </a:p>
          <a:p>
            <a:r>
              <a:rPr lang="en-US" sz="1800" dirty="0" smtClean="0"/>
              <a:t>Application Structure Viewpoint</a:t>
            </a:r>
          </a:p>
          <a:p>
            <a:r>
              <a:rPr lang="en-US" sz="1800" dirty="0" smtClean="0"/>
              <a:t>Application Usage Viewpoint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8260" y="1219200"/>
            <a:ext cx="4261470" cy="2971799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 smtClean="0"/>
              <a:t>Infrastructure Viewpoint</a:t>
            </a:r>
          </a:p>
          <a:p>
            <a:r>
              <a:rPr lang="en-US" dirty="0" smtClean="0"/>
              <a:t>Infrastructure Usage Viewpoint</a:t>
            </a:r>
          </a:p>
          <a:p>
            <a:r>
              <a:rPr lang="en-US" dirty="0" smtClean="0"/>
              <a:t>Implementation and Deployment Viewpoint</a:t>
            </a:r>
          </a:p>
          <a:p>
            <a:r>
              <a:rPr lang="en-US" dirty="0" smtClean="0"/>
              <a:t>Information Structure Viewpoint</a:t>
            </a:r>
          </a:p>
          <a:p>
            <a:r>
              <a:rPr lang="en-US" dirty="0" smtClean="0"/>
              <a:t>Service Realization Viewpoint</a:t>
            </a:r>
          </a:p>
          <a:p>
            <a:r>
              <a:rPr lang="en-US" b="1" dirty="0" smtClean="0"/>
              <a:t>Layered Viewpoint</a:t>
            </a:r>
          </a:p>
          <a:p>
            <a:r>
              <a:rPr lang="en-US" dirty="0" smtClean="0"/>
              <a:t>Landscape Map Viewpoint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Actor Co-Operation Viewpoint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1066800"/>
          <a:ext cx="7543800" cy="21336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057400"/>
                <a:gridCol w="5486400"/>
              </a:tblGrid>
              <a:tr h="304800">
                <a:tc gridSpan="2">
                  <a:txBody>
                    <a:bodyPr/>
                    <a:lstStyle/>
                    <a:p>
                      <a:r>
                        <a:rPr lang="en-US" sz="1100" dirty="0" smtClean="0"/>
                        <a:t>Layered View Point</a:t>
                      </a:r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Stakeholders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dirty="0" smtClean="0"/>
                        <a:t>Enterprise, process, and domain architects</a:t>
                      </a: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Concerns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dirty="0" smtClean="0"/>
                        <a:t>Relations of actors with their environment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Purpose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dirty="0" smtClean="0"/>
                        <a:t>Designing, deciding, informing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Abstraction Level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Details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layer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layer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Aspects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dirty="0" smtClean="0"/>
                        <a:t>Structure, behavior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image1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733800"/>
            <a:ext cx="4069433" cy="17375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Actor Co-Operation Viewpoint</a:t>
            </a:r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600200"/>
            <a:ext cx="6991350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Layered Viewpoint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1066800"/>
          <a:ext cx="7543800" cy="21336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057400"/>
                <a:gridCol w="5486400"/>
              </a:tblGrid>
              <a:tr h="304800">
                <a:tc gridSpan="2">
                  <a:txBody>
                    <a:bodyPr/>
                    <a:lstStyle/>
                    <a:p>
                      <a:r>
                        <a:rPr lang="en-US" sz="1100" dirty="0" smtClean="0"/>
                        <a:t>Layered View Point</a:t>
                      </a:r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Stakeholders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Enterprise, process, application, infrastructure, and domain architects 	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Concerns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Consistency, reduction of complexity, impact of change, flexibility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Purpose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Designing, deciding, informing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Abstraction Level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Overview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Layer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layer, application layer, technology layer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Aspects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Information, behavior, structure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concepts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19400" y="3581400"/>
            <a:ext cx="3283085" cy="24492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Layered Viewpoint – </a:t>
            </a:r>
            <a:r>
              <a:rPr lang="en-US" dirty="0" err="1" smtClean="0"/>
              <a:t>Sparx</a:t>
            </a:r>
            <a:r>
              <a:rPr lang="en-US" dirty="0" smtClean="0"/>
              <a:t> Example</a:t>
            </a:r>
            <a:endParaRPr 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838200"/>
            <a:ext cx="7148512" cy="5479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Process View Point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1066800"/>
          <a:ext cx="7543800" cy="21336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057400"/>
                <a:gridCol w="5486400"/>
              </a:tblGrid>
              <a:tr h="304800">
                <a:tc gridSpan="2">
                  <a:txBody>
                    <a:bodyPr/>
                    <a:lstStyle/>
                    <a:p>
                      <a:r>
                        <a:rPr lang="en-US" sz="1100" dirty="0" smtClean="0"/>
                        <a:t>Business Process View Point</a:t>
                      </a:r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Stakeholders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/>
                        <a:t>Process and domain architects, operational managers</a:t>
                      </a:r>
                      <a:endParaRPr lang="en-US" sz="11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Concerns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/>
                        <a:t>Structure of business processes, consistency and completeness, responsibilities</a:t>
                      </a:r>
                      <a:endParaRPr lang="en-US" sz="11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Purpose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/>
                        <a:t>Designing</a:t>
                      </a:r>
                      <a:endParaRPr lang="en-US" sz="11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Abstraction Level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/>
                        <a:t>Detail</a:t>
                      </a:r>
                      <a:endParaRPr lang="en-US" sz="11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Layer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/>
                        <a:t>Business layer </a:t>
                      </a:r>
                      <a:endParaRPr lang="en-US" sz="11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Aspects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/>
                        <a:t>Behavior</a:t>
                      </a:r>
                      <a:endParaRPr lang="en-US" sz="11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image12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19200" y="3733800"/>
            <a:ext cx="6579440" cy="23141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Process View Point – </a:t>
            </a:r>
            <a:r>
              <a:rPr lang="en-US" dirty="0" err="1" smtClean="0"/>
              <a:t>Sparx</a:t>
            </a:r>
            <a:r>
              <a:rPr lang="en-US" dirty="0" smtClean="0"/>
              <a:t> Example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8" y="823913"/>
            <a:ext cx="8315325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Infrastructure View Point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1066800"/>
          <a:ext cx="7543800" cy="21336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057400"/>
                <a:gridCol w="5486400"/>
              </a:tblGrid>
              <a:tr h="304800">
                <a:tc gridSpan="2">
                  <a:txBody>
                    <a:bodyPr/>
                    <a:lstStyle/>
                    <a:p>
                      <a:r>
                        <a:rPr lang="en-US" sz="1100" dirty="0" smtClean="0"/>
                        <a:t>Business Process View Point</a:t>
                      </a:r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Stakeholders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/>
                        <a:t>Infrastructure architects, Operational Managers</a:t>
                      </a:r>
                      <a:endParaRPr lang="en-US" sz="11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Concerns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Stability,</a:t>
                      </a:r>
                      <a:r>
                        <a:rPr lang="en-US" sz="1100" baseline="0" dirty="0" smtClean="0"/>
                        <a:t> security, dependencies, infrastructure costs</a:t>
                      </a:r>
                      <a:endParaRPr lang="en-US" sz="11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Purpose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/>
                        <a:t>Designing</a:t>
                      </a:r>
                      <a:endParaRPr lang="en-US" sz="11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Abstraction Level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/>
                        <a:t>Detail</a:t>
                      </a:r>
                      <a:endParaRPr lang="en-US" sz="11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dirty="0" smtClean="0"/>
                        <a:t>Layer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/>
                        <a:t>Technology</a:t>
                      </a:r>
                      <a:endParaRPr lang="en-US" sz="11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Aspects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/>
                        <a:t>Behavior, Structure</a:t>
                      </a:r>
                      <a:endParaRPr lang="en-US" sz="11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image1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886200"/>
            <a:ext cx="3619814" cy="2133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Infrastructure View Point – </a:t>
            </a:r>
            <a:r>
              <a:rPr lang="en-US" dirty="0" err="1" smtClean="0"/>
              <a:t>Sparx</a:t>
            </a:r>
            <a:r>
              <a:rPr lang="en-US" dirty="0" smtClean="0"/>
              <a:t> Example</a:t>
            </a:r>
            <a:endParaRPr lang="en-US" dirty="0"/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219200"/>
            <a:ext cx="8181975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Landscape View Point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99060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Baseline Application Model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Target Application Model </a:t>
            </a:r>
            <a:endParaRPr lang="en-US" dirty="0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371600"/>
            <a:ext cx="764857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3429000"/>
            <a:ext cx="764857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ArchiMate</a:t>
            </a:r>
            <a:r>
              <a:rPr lang="en-US" dirty="0" smtClean="0"/>
              <a:t>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hlinkClick r:id="rId3"/>
              </a:rPr>
              <a:t>ArchiMate</a:t>
            </a:r>
            <a:r>
              <a:rPr lang="en-US" dirty="0" smtClean="0">
                <a:hlinkClick r:id="rId3"/>
              </a:rPr>
              <a:t> 1.0 Technical Specification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hlinkClick r:id="rId4"/>
              </a:rPr>
              <a:t>ArchiMate</a:t>
            </a:r>
            <a:r>
              <a:rPr lang="en-US" dirty="0" smtClean="0">
                <a:hlinkClick r:id="rId4"/>
              </a:rPr>
              <a:t> Good Practices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hlinkClick r:id="rId5"/>
              </a:rPr>
              <a:t>Sparx</a:t>
            </a:r>
            <a:r>
              <a:rPr lang="en-US" dirty="0" smtClean="0">
                <a:hlinkClick r:id="rId5"/>
              </a:rPr>
              <a:t> Enterprise Architect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hlinkClick r:id="rId6"/>
              </a:rPr>
              <a:t>ArchiMate</a:t>
            </a:r>
            <a:r>
              <a:rPr lang="en-US" dirty="0" smtClean="0">
                <a:hlinkClick r:id="rId6"/>
              </a:rPr>
              <a:t> Presentations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RizCDI3sCkiGOfdTrEEhR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RizCDI3sCkiGOfdTrEEhRg"/>
</p:tagLst>
</file>

<file path=ppt/theme/theme1.xml><?xml version="1.0" encoding="utf-8"?>
<a:theme xmlns:a="http://schemas.openxmlformats.org/drawingml/2006/main" name="ppt_Capgemini_A4-External">
  <a:themeElements>
    <a:clrScheme name="Capgemini Palette">
      <a:dk1>
        <a:srgbClr val="000000"/>
      </a:dk1>
      <a:lt1>
        <a:srgbClr val="FFFFFF"/>
      </a:lt1>
      <a:dk2>
        <a:srgbClr val="009BCC"/>
      </a:dk2>
      <a:lt2>
        <a:srgbClr val="FFFFFF"/>
      </a:lt2>
      <a:accent1>
        <a:srgbClr val="FFBC1D"/>
      </a:accent1>
      <a:accent2>
        <a:srgbClr val="E65A0F"/>
      </a:accent2>
      <a:accent3>
        <a:srgbClr val="C8C500"/>
      </a:accent3>
      <a:accent4>
        <a:srgbClr val="C42F36"/>
      </a:accent4>
      <a:accent5>
        <a:srgbClr val="B4DFEE"/>
      </a:accent5>
      <a:accent6>
        <a:srgbClr val="E65A0F"/>
      </a:accent6>
      <a:hlink>
        <a:srgbClr val="4D740F"/>
      </a:hlink>
      <a:folHlink>
        <a:srgbClr val="C42F36"/>
      </a:folHlink>
    </a:clrScheme>
    <a:fontScheme name="Capgemini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ception personnalisée">
  <a:themeElements>
    <a:clrScheme name="Capgemini Palette">
      <a:dk1>
        <a:srgbClr val="000000"/>
      </a:dk1>
      <a:lt1>
        <a:srgbClr val="FFFFFF"/>
      </a:lt1>
      <a:dk2>
        <a:srgbClr val="009BCC"/>
      </a:dk2>
      <a:lt2>
        <a:srgbClr val="FFFFFF"/>
      </a:lt2>
      <a:accent1>
        <a:srgbClr val="FFBC1D"/>
      </a:accent1>
      <a:accent2>
        <a:srgbClr val="E65A0F"/>
      </a:accent2>
      <a:accent3>
        <a:srgbClr val="C8C500"/>
      </a:accent3>
      <a:accent4>
        <a:srgbClr val="C42F36"/>
      </a:accent4>
      <a:accent5>
        <a:srgbClr val="B4DFEE"/>
      </a:accent5>
      <a:accent6>
        <a:srgbClr val="E65A0F"/>
      </a:accent6>
      <a:hlink>
        <a:srgbClr val="4D740F"/>
      </a:hlink>
      <a:folHlink>
        <a:srgbClr val="C42F3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9B9498B2E904EB87819AD461AAE35" ma:contentTypeVersion="0" ma:contentTypeDescription="Create a new document." ma:contentTypeScope="" ma:versionID="a06d196b8c3939f506c49a2412a775c3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1D749DAD-D5E0-4259-BA62-C11D2F41F46C}"/>
</file>

<file path=customXml/itemProps2.xml><?xml version="1.0" encoding="utf-8"?>
<ds:datastoreItem xmlns:ds="http://schemas.openxmlformats.org/officeDocument/2006/customXml" ds:itemID="{A7164B3D-D613-4DE6-9736-53AEDB08DC19}"/>
</file>

<file path=customXml/itemProps3.xml><?xml version="1.0" encoding="utf-8"?>
<ds:datastoreItem xmlns:ds="http://schemas.openxmlformats.org/officeDocument/2006/customXml" ds:itemID="{F120575B-0393-4C4A-9346-5FD02E63ADC6}"/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602</Words>
  <Application>Microsoft Office PowerPoint</Application>
  <PresentationFormat>On-screen Show (4:3)</PresentationFormat>
  <Paragraphs>217</Paragraphs>
  <Slides>26</Slides>
  <Notes>25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ppt_Capgemini_A4-External</vt:lpstr>
      <vt:lpstr>Conception personnalisée</vt:lpstr>
      <vt:lpstr>Visio</vt:lpstr>
      <vt:lpstr>Enterprise Architecture Modeling With ArchiMate &amp; Sparx</vt:lpstr>
      <vt:lpstr>Agenda</vt:lpstr>
      <vt:lpstr>ArchiMate</vt:lpstr>
      <vt:lpstr>ArchiMate</vt:lpstr>
      <vt:lpstr>ArchiMate – Concepts</vt:lpstr>
      <vt:lpstr>ArchiMate Framework</vt:lpstr>
      <vt:lpstr>ArchiMate Concept</vt:lpstr>
      <vt:lpstr>ArchiMate Structure - Services</vt:lpstr>
      <vt:lpstr>ArchiMate Structure - Layers</vt:lpstr>
      <vt:lpstr>Metamodel – Business Layer</vt:lpstr>
      <vt:lpstr>Language Notations</vt:lpstr>
      <vt:lpstr>Business Layer - Sparx Example</vt:lpstr>
      <vt:lpstr>Metamodel – Application Layer</vt:lpstr>
      <vt:lpstr>Metamodel – Technology Layer</vt:lpstr>
      <vt:lpstr>ArchiMate – Viewpoints</vt:lpstr>
      <vt:lpstr>Basic ArchiMate Viewpoints</vt:lpstr>
      <vt:lpstr>Actor Co-Operation Viewpoint</vt:lpstr>
      <vt:lpstr>Actor Co-Operation Viewpoint</vt:lpstr>
      <vt:lpstr>Layered Viewpoint</vt:lpstr>
      <vt:lpstr>Layered Viewpoint – Sparx Example</vt:lpstr>
      <vt:lpstr>Business Process View Point</vt:lpstr>
      <vt:lpstr>Business Process View Point – Sparx Example</vt:lpstr>
      <vt:lpstr>Infrastructure View Point</vt:lpstr>
      <vt:lpstr>Infrastructure View Point – Sparx Example</vt:lpstr>
      <vt:lpstr>Application Landscape View Point</vt:lpstr>
      <vt:lpstr>ArchiMate Resources</vt:lpstr>
    </vt:vector>
  </TitlesOfParts>
  <Company>Capgemini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Architecture Modeling With ArchiMate &amp; Sparx</dc:title>
  <dc:creator>Adnaan Sikandar</dc:creator>
  <cp:lastModifiedBy>Registered User</cp:lastModifiedBy>
  <cp:revision>54</cp:revision>
  <dcterms:created xsi:type="dcterms:W3CDTF">2011-06-08T23:01:05Z</dcterms:created>
  <dcterms:modified xsi:type="dcterms:W3CDTF">2011-10-03T03:27:07Z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0x01010045B9B9498B2E904EB87819AD461AAE35</vt:lpwstr>
  </property>
</Properties>
</file>
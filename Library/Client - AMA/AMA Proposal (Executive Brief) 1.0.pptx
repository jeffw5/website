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6"/>
  </p:notesMasterIdLst>
  <p:handoutMasterIdLst>
    <p:handoutMasterId r:id="rId17"/>
  </p:handoutMasterIdLst>
  <p:sldIdLst>
    <p:sldId id="257" r:id="rId2"/>
    <p:sldId id="283" r:id="rId3"/>
    <p:sldId id="284" r:id="rId4"/>
    <p:sldId id="259" r:id="rId5"/>
    <p:sldId id="260" r:id="rId6"/>
    <p:sldId id="263" r:id="rId7"/>
    <p:sldId id="262" r:id="rId8"/>
    <p:sldId id="261" r:id="rId9"/>
    <p:sldId id="265" r:id="rId10"/>
    <p:sldId id="276" r:id="rId11"/>
    <p:sldId id="266" r:id="rId12"/>
    <p:sldId id="268" r:id="rId13"/>
    <p:sldId id="271" r:id="rId14"/>
    <p:sldId id="277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8F8183BF-8B88-4B8D-803F-D7F900E37297}" type="presOf" srcId="{DBB4C2F7-4009-4772-A287-018D1DFA27A3}" destId="{44FCDAAD-01F0-4B5F-AC01-AA624E3EDD7F}" srcOrd="0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F97A496A-1E42-4619-B712-FA49E8E0FB32}" type="presOf" srcId="{7CA238D8-41AA-42D1-A624-A4BE17E3489D}" destId="{19112690-9CC1-42CA-92EF-22A5046497D0}" srcOrd="0" destOrd="0" presId="urn:microsoft.com/office/officeart/2005/8/layout/vProcess5"/>
    <dgm:cxn modelId="{97401368-9CC1-4B46-869A-BFACB2071978}" type="presOf" srcId="{F8612028-6F88-4858-AC54-F76CAE6CE636}" destId="{55643E70-788A-439F-A22B-D54BB71AE1B4}" srcOrd="1" destOrd="1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173B5D9E-620E-4448-8430-88D26E18F9DE}" type="presOf" srcId="{DBB4C2F7-4009-4772-A287-018D1DFA27A3}" destId="{78F0F54D-BDA7-46C0-84B2-112BAAC12E67}" srcOrd="1" destOrd="0" presId="urn:microsoft.com/office/officeart/2005/8/layout/vProcess5"/>
    <dgm:cxn modelId="{969F60E9-399F-4721-811C-CFDAFBEEC567}" type="presOf" srcId="{B137D134-E00F-4B03-8649-9260A5728E45}" destId="{C67EC5E8-DE49-43E0-8D6A-67245C3D29F1}" srcOrd="1" destOrd="1" presId="urn:microsoft.com/office/officeart/2005/8/layout/vProcess5"/>
    <dgm:cxn modelId="{5A4F3D74-1B65-4C6D-8C66-829354959ABF}" type="presOf" srcId="{BF953B3E-FE0E-4132-8507-9B770972069A}" destId="{1E153542-D7E0-4561-8633-4F9C38EBC364}" srcOrd="0" destOrd="0" presId="urn:microsoft.com/office/officeart/2005/8/layout/vProcess5"/>
    <dgm:cxn modelId="{87865818-BDDA-4894-AC14-FF20E5EDEB6E}" type="presOf" srcId="{797F2B97-E140-44EC-B0A7-251A59CA45CE}" destId="{78F0F54D-BDA7-46C0-84B2-112BAAC12E67}" srcOrd="1" destOrd="1" presId="urn:microsoft.com/office/officeart/2005/8/layout/vProcess5"/>
    <dgm:cxn modelId="{FF9EE5F1-4E31-42B8-BD1B-988B7FAE156D}" type="presOf" srcId="{797F2B97-E140-44EC-B0A7-251A59CA45CE}" destId="{44FCDAAD-01F0-4B5F-AC01-AA624E3EDD7F}" srcOrd="0" destOrd="1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76AAAAE4-F669-4258-A904-113B696840DB}" type="presOf" srcId="{B137D134-E00F-4B03-8649-9260A5728E45}" destId="{19112690-9CC1-42CA-92EF-22A5046497D0}" srcOrd="0" destOrd="1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7E0227FC-4359-4C07-8214-E68641270586}" type="presOf" srcId="{7CA238D8-41AA-42D1-A624-A4BE17E3489D}" destId="{C67EC5E8-DE49-43E0-8D6A-67245C3D29F1}" srcOrd="1" destOrd="0" presId="urn:microsoft.com/office/officeart/2005/8/layout/vProcess5"/>
    <dgm:cxn modelId="{A100D246-4654-409B-90DE-70011E0C5EE9}" type="presOf" srcId="{1D895A9F-66CD-4D6A-87C1-D6070AA2D1F9}" destId="{55643E70-788A-439F-A22B-D54BB71AE1B4}" srcOrd="1" destOrd="0" presId="urn:microsoft.com/office/officeart/2005/8/layout/vProcess5"/>
    <dgm:cxn modelId="{A3280FA3-4726-4059-BF42-5FD5ABF12655}" type="presOf" srcId="{F8612028-6F88-4858-AC54-F76CAE6CE636}" destId="{F374B58B-DD19-4846-902F-F2A0A40B53F0}" srcOrd="0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731BCE9F-5CF2-4AE3-9513-2812FD4ED712}" type="presOf" srcId="{3EBECECA-EEE9-4671-989E-9D199CD8E4F3}" destId="{BC27DFCF-341C-4832-B707-7562421074B8}" srcOrd="0" destOrd="0" presId="urn:microsoft.com/office/officeart/2005/8/layout/vProcess5"/>
    <dgm:cxn modelId="{F9E84F6A-503A-42F0-B977-BE1EE364CC3C}" type="presOf" srcId="{1D895A9F-66CD-4D6A-87C1-D6070AA2D1F9}" destId="{F374B58B-DD19-4846-902F-F2A0A40B53F0}" srcOrd="0" destOrd="0" presId="urn:microsoft.com/office/officeart/2005/8/layout/vProcess5"/>
    <dgm:cxn modelId="{9E4B3D65-7867-46DE-984D-9D33B5A89C9B}" type="presOf" srcId="{1323FBD4-0185-4499-9C77-8B125A9EDECB}" destId="{6A0F8408-68AE-4879-BCBB-6F1D070EBBEC}" srcOrd="0" destOrd="0" presId="urn:microsoft.com/office/officeart/2005/8/layout/vProcess5"/>
    <dgm:cxn modelId="{E901AA8A-0F65-45DC-A2F6-0EE385B1D20D}" type="presParOf" srcId="{1E153542-D7E0-4561-8633-4F9C38EBC364}" destId="{7C6F8402-BB6D-4E54-A9CD-7AF6DDC9F657}" srcOrd="0" destOrd="0" presId="urn:microsoft.com/office/officeart/2005/8/layout/vProcess5"/>
    <dgm:cxn modelId="{A2A5C3DC-1495-4C03-AC16-55468342A75D}" type="presParOf" srcId="{1E153542-D7E0-4561-8633-4F9C38EBC364}" destId="{19112690-9CC1-42CA-92EF-22A5046497D0}" srcOrd="1" destOrd="0" presId="urn:microsoft.com/office/officeart/2005/8/layout/vProcess5"/>
    <dgm:cxn modelId="{D09C5166-B240-4F92-B01B-C2D2D7418FF4}" type="presParOf" srcId="{1E153542-D7E0-4561-8633-4F9C38EBC364}" destId="{44FCDAAD-01F0-4B5F-AC01-AA624E3EDD7F}" srcOrd="2" destOrd="0" presId="urn:microsoft.com/office/officeart/2005/8/layout/vProcess5"/>
    <dgm:cxn modelId="{C7F0D368-08B9-4640-A9C7-8E621EEA40D2}" type="presParOf" srcId="{1E153542-D7E0-4561-8633-4F9C38EBC364}" destId="{F374B58B-DD19-4846-902F-F2A0A40B53F0}" srcOrd="3" destOrd="0" presId="urn:microsoft.com/office/officeart/2005/8/layout/vProcess5"/>
    <dgm:cxn modelId="{6232EABD-F989-458B-B70E-EE19AB0398E7}" type="presParOf" srcId="{1E153542-D7E0-4561-8633-4F9C38EBC364}" destId="{6A0F8408-68AE-4879-BCBB-6F1D070EBBEC}" srcOrd="4" destOrd="0" presId="urn:microsoft.com/office/officeart/2005/8/layout/vProcess5"/>
    <dgm:cxn modelId="{A69B442C-0BD6-4B56-89D2-1804C4452C69}" type="presParOf" srcId="{1E153542-D7E0-4561-8633-4F9C38EBC364}" destId="{BC27DFCF-341C-4832-B707-7562421074B8}" srcOrd="5" destOrd="0" presId="urn:microsoft.com/office/officeart/2005/8/layout/vProcess5"/>
    <dgm:cxn modelId="{C2D2757A-C3C9-486D-BF3A-24A6CC6F92A2}" type="presParOf" srcId="{1E153542-D7E0-4561-8633-4F9C38EBC364}" destId="{C67EC5E8-DE49-43E0-8D6A-67245C3D29F1}" srcOrd="6" destOrd="0" presId="urn:microsoft.com/office/officeart/2005/8/layout/vProcess5"/>
    <dgm:cxn modelId="{BF34F124-8C5A-4898-9FDD-DE81493AC9E5}" type="presParOf" srcId="{1E153542-D7E0-4561-8633-4F9C38EBC364}" destId="{78F0F54D-BDA7-46C0-84B2-112BAAC12E67}" srcOrd="7" destOrd="0" presId="urn:microsoft.com/office/officeart/2005/8/layout/vProcess5"/>
    <dgm:cxn modelId="{AB4A6EAE-7A5B-4AC5-B19B-FE987777A098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5BB735-D62C-4A9F-9EA6-3D7C29558420}" type="presOf" srcId="{673AE5C1-39E1-47D6-9713-8CA9BE6EA1DA}" destId="{F6218397-5286-4BF9-91BC-3A8217C085AF}" srcOrd="0" destOrd="0" presId="urn:microsoft.com/office/officeart/2005/8/layout/hProcess9"/>
    <dgm:cxn modelId="{03E435AB-0AAF-4281-8868-DDED2AEDC476}" type="presOf" srcId="{5DCEAD6A-2995-470E-B294-EFE25C7FA270}" destId="{0564D69C-C697-46C9-AFEA-F63178C739BD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C4D08A56-6610-46D8-822B-E2656EEB3F47}" type="presOf" srcId="{56F0B946-F863-43B5-9AE7-3ED2571CC1F7}" destId="{D195289F-4E10-4B57-8C58-6BB3CB9CCF4B}" srcOrd="0" destOrd="0" presId="urn:microsoft.com/office/officeart/2005/8/layout/hProcess9"/>
    <dgm:cxn modelId="{84B97C2C-EF37-4E3C-8C22-167013D915EC}" type="presOf" srcId="{F75D5E40-C0EA-4FAA-9275-3C70938E00EE}" destId="{EDBBB759-F01A-4C3B-A1A8-D2C8F1E5A578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143FF3-D2F9-40D7-A686-892FA7BAE482}" type="presParOf" srcId="{F6218397-5286-4BF9-91BC-3A8217C085AF}" destId="{57B6F08F-F180-42E5-86EE-1F47EC70A8B7}" srcOrd="0" destOrd="0" presId="urn:microsoft.com/office/officeart/2005/8/layout/hProcess9"/>
    <dgm:cxn modelId="{33DCACD1-1374-445F-B4E0-ADD7E6590037}" type="presParOf" srcId="{F6218397-5286-4BF9-91BC-3A8217C085AF}" destId="{ED339E6A-99DE-44B5-8942-676116993976}" srcOrd="1" destOrd="0" presId="urn:microsoft.com/office/officeart/2005/8/layout/hProcess9"/>
    <dgm:cxn modelId="{DB23A0A1-B316-4F74-AA80-1D4F8729C208}" type="presParOf" srcId="{ED339E6A-99DE-44B5-8942-676116993976}" destId="{D195289F-4E10-4B57-8C58-6BB3CB9CCF4B}" srcOrd="0" destOrd="0" presId="urn:microsoft.com/office/officeart/2005/8/layout/hProcess9"/>
    <dgm:cxn modelId="{FF11F6E7-8BA4-4984-92CB-21FC6FEDA47B}" type="presParOf" srcId="{ED339E6A-99DE-44B5-8942-676116993976}" destId="{B5A6657B-DFA9-42AD-BD72-82BAEBF8B87E}" srcOrd="1" destOrd="0" presId="urn:microsoft.com/office/officeart/2005/8/layout/hProcess9"/>
    <dgm:cxn modelId="{960AECA3-3429-493F-97DC-E2C8CA120FF2}" type="presParOf" srcId="{ED339E6A-99DE-44B5-8942-676116993976}" destId="{EDBBB759-F01A-4C3B-A1A8-D2C8F1E5A578}" srcOrd="2" destOrd="0" presId="urn:microsoft.com/office/officeart/2005/8/layout/hProcess9"/>
    <dgm:cxn modelId="{E4112049-8ED3-4149-A1B6-A3D3DF078CF9}" type="presParOf" srcId="{ED339E6A-99DE-44B5-8942-676116993976}" destId="{7E687DF4-201B-4FB8-B89C-9863D30313FA}" srcOrd="3" destOrd="0" presId="urn:microsoft.com/office/officeart/2005/8/layout/hProcess9"/>
    <dgm:cxn modelId="{059E70AD-CF31-4471-9245-93B04D08FB2A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12/5/2009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12/5/2009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6487A0-066A-4A22-8DFD-9A39B981C7E8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2860BF-E294-4513-9F1C-003FAAC914C4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D134A0-657D-41F1-9E66-AB3AE6B97A02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14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ea typeface="ＭＳ Ｐゴシック" pitchFamily="34" charset="-128"/>
              </a:rPr>
              <a:t>A New Value Proposition</a:t>
            </a:r>
            <a:br>
              <a:rPr lang="en-US" b="1" smtClean="0">
                <a:ea typeface="ＭＳ Ｐゴシック" pitchFamily="34" charset="-128"/>
              </a:rPr>
            </a:br>
            <a:r>
              <a:rPr lang="en-US" b="1" smtClean="0">
                <a:ea typeface="ＭＳ Ｐゴシック" pitchFamily="34" charset="-128"/>
              </a:rPr>
              <a:t>for the AMA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q"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Implement a value-driven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measurement system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for healthcare to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expand the membership, relevancy, and revenue potential for the AMA.   </a:t>
            </a:r>
            <a:endParaRPr lang="en-US" b="1" i="1" dirty="0" smtClean="0">
              <a:solidFill>
                <a:schemeClr val="tx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continuous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efficiency)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across the continuum of care.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</a:t>
            </a:r>
            <a:r>
              <a:rPr lang="en-US" sz="1400" dirty="0" smtClean="0"/>
              <a:t>care organizations are increasingly concerned with looking beyond financial performance measures, while focusing on how to deliver higher quality care </a:t>
            </a:r>
            <a:r>
              <a:rPr lang="en-US" sz="1400" dirty="0" smtClean="0"/>
              <a:t>“</a:t>
            </a:r>
          </a:p>
          <a:p>
            <a:r>
              <a:rPr lang="en-US" sz="1400" dirty="0" smtClean="0"/>
              <a:t>      </a:t>
            </a:r>
            <a:r>
              <a:rPr lang="en-US" sz="1400" dirty="0" smtClean="0"/>
              <a:t>- </a:t>
            </a:r>
            <a:r>
              <a:rPr lang="en-US" sz="1400" dirty="0" smtClean="0"/>
              <a:t>Love, Dianne, Revere, Lee, and Black, Ken. (2008), </a:t>
            </a:r>
            <a:r>
              <a:rPr lang="en-US" sz="1400" i="1" dirty="0" smtClean="0"/>
              <a:t>Journal </a:t>
            </a:r>
            <a:r>
              <a:rPr lang="en-US" sz="1400" i="1" dirty="0" smtClean="0"/>
              <a:t>of Health Care </a:t>
            </a:r>
            <a:r>
              <a:rPr lang="en-US" sz="1400" i="1" dirty="0" smtClean="0"/>
              <a:t>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Eroding member base. 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Aging membership.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Decline in revenues from membership.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Not perceived as an innovation leader.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Value across the continuum of care is not measured from a patient (customer) perspective.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and becoming more distributed.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 for clear leadership to drive reform, innovation, and unification across the healthcare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3895AA-5A0D-4A2D-B0AA-2BADCF071D5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9800" y="1371600"/>
            <a:ext cx="2895600" cy="11695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“There should be no presumption that good quality is more costly. </a:t>
            </a:r>
            <a:r>
              <a:rPr lang="en-US" sz="1400" dirty="0" smtClean="0"/>
              <a:t> In </a:t>
            </a:r>
            <a:r>
              <a:rPr lang="en-US" sz="1400" dirty="0" smtClean="0"/>
              <a:t>health care…better providers are usually more </a:t>
            </a:r>
            <a:r>
              <a:rPr lang="en-US" sz="1400" dirty="0" smtClean="0"/>
              <a:t>efficient.”</a:t>
            </a:r>
          </a:p>
          <a:p>
            <a:r>
              <a:rPr lang="en-US" sz="1400" i="1" dirty="0" smtClean="0"/>
              <a:t>        - Redefining </a:t>
            </a:r>
            <a:r>
              <a:rPr lang="en-US" sz="1400" i="1" dirty="0" smtClean="0"/>
              <a:t>Health Care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AMA’s Role in Healthcare Reform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A relevant voice that should be heard by the government. </a:t>
            </a:r>
          </a:p>
          <a:p>
            <a:r>
              <a:rPr lang="en-US" sz="2400" smtClean="0">
                <a:ea typeface="ＭＳ Ｐゴシック" pitchFamily="34" charset="-128"/>
              </a:rPr>
              <a:t>Provide healthcare stakeholders with the following answers: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Practitioners are worried about quality, timeliness, and effort of care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Patients are worried about quality of care, loss of control, and cost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Providers are worried about loss of control and revenue</a:t>
            </a:r>
          </a:p>
          <a:p>
            <a:r>
              <a:rPr lang="en-US" sz="2400" smtClean="0">
                <a:ea typeface="ＭＳ Ｐゴシック" pitchFamily="34" charset="-128"/>
              </a:rPr>
              <a:t>Opportunity for unifying leadership to provide guidance and direction for change (much of which will be disruptive). </a:t>
            </a:r>
          </a:p>
          <a:p>
            <a:r>
              <a:rPr lang="en-US" sz="2400" smtClean="0">
                <a:ea typeface="ＭＳ Ｐゴシック" pitchFamily="34" charset="-128"/>
              </a:rPr>
              <a:t>Opportunity to encourage collaboration and cooperation to solve the healthcare needs in the US and across the world.</a:t>
            </a:r>
          </a:p>
          <a:p>
            <a:r>
              <a:rPr lang="en-US" sz="2400" smtClean="0">
                <a:ea typeface="ＭＳ Ｐゴシック" pitchFamily="34" charset="-128"/>
              </a:rPr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4A389A-525C-4005-8C8B-B939A4EADC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AMA at the forefront of Healthcare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281EFA-00CE-46BE-8631-FFAAC4DB71E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3048000" y="5181600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</a:t>
            </a:r>
            <a:r>
              <a:rPr lang="en-US" sz="1400" dirty="0" smtClean="0"/>
              <a:t>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</a:t>
            </a:r>
            <a:r>
              <a:rPr lang="en-US" dirty="0" smtClean="0">
                <a:ea typeface="ＭＳ Ｐゴシック" pitchFamily="34" charset="-128"/>
              </a:rPr>
              <a:t>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endParaRPr lang="en-US" dirty="0" smtClean="0">
              <a:solidFill>
                <a:schemeClr val="accent1">
                  <a:lumMod val="75000"/>
                </a:schemeClr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Value is created between the Patient &amp; Practitioner</a:t>
            </a:r>
            <a:endParaRPr lang="en-US" sz="2000" b="1" dirty="0" smtClean="0">
              <a:solidFill>
                <a:schemeClr val="accent1">
                  <a:lumMod val="75000"/>
                </a:schemeClr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Helene Sigman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8842</TotalTime>
  <Words>931</Words>
  <Application>Microsoft Office PowerPoint</Application>
  <PresentationFormat>On-screen Show (4:3)</PresentationFormat>
  <Paragraphs>131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VEG</vt:lpstr>
      <vt:lpstr>A New Value Proposition for the AMA</vt:lpstr>
      <vt:lpstr>Proposal</vt:lpstr>
      <vt:lpstr>The Vision</vt:lpstr>
      <vt:lpstr>Current Challenges</vt:lpstr>
      <vt:lpstr>AMA’s Role in Healthcare Reform</vt:lpstr>
      <vt:lpstr>Needs of the Patients</vt:lpstr>
      <vt:lpstr>Needs of the Practitioners</vt:lpstr>
      <vt:lpstr>Needs of the Providers</vt:lpstr>
      <vt:lpstr>AMA at the forefront of Healthcare</vt:lpstr>
      <vt:lpstr>An Expanded Membership Model</vt:lpstr>
      <vt:lpstr>Moving from Assumptions to Implementation</vt:lpstr>
      <vt:lpstr>Measuring Value for Healthcare</vt:lpstr>
      <vt:lpstr>Enabling Value for Healthcare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222</cp:revision>
  <dcterms:created xsi:type="dcterms:W3CDTF">2009-06-09T11:36:35Z</dcterms:created>
  <dcterms:modified xsi:type="dcterms:W3CDTF">2009-12-05T17:58:05Z</dcterms:modified>
</cp:coreProperties>
</file>
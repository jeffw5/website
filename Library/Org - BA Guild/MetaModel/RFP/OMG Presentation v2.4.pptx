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77" r:id="rId2"/>
    <p:sldId id="320" r:id="rId3"/>
    <p:sldId id="286" r:id="rId4"/>
    <p:sldId id="279" r:id="rId5"/>
    <p:sldId id="305" r:id="rId6"/>
    <p:sldId id="312" r:id="rId7"/>
    <p:sldId id="309" r:id="rId8"/>
    <p:sldId id="310" r:id="rId9"/>
    <p:sldId id="311" r:id="rId10"/>
    <p:sldId id="314" r:id="rId11"/>
    <p:sldId id="258" r:id="rId12"/>
    <p:sldId id="280" r:id="rId13"/>
    <p:sldId id="269" r:id="rId14"/>
    <p:sldId id="326" r:id="rId15"/>
    <p:sldId id="317" r:id="rId16"/>
    <p:sldId id="271" r:id="rId17"/>
    <p:sldId id="285" r:id="rId18"/>
    <p:sldId id="325" r:id="rId19"/>
    <p:sldId id="324" r:id="rId20"/>
    <p:sldId id="315" r:id="rId21"/>
    <p:sldId id="284" r:id="rId22"/>
    <p:sldId id="296" r:id="rId23"/>
    <p:sldId id="302" r:id="rId24"/>
    <p:sldId id="319" r:id="rId25"/>
    <p:sldId id="323" r:id="rId26"/>
    <p:sldId id="297" r:id="rId27"/>
    <p:sldId id="303" r:id="rId28"/>
    <p:sldId id="304" r:id="rId29"/>
    <p:sldId id="306" r:id="rId30"/>
    <p:sldId id="307" r:id="rId31"/>
    <p:sldId id="281" r:id="rId32"/>
    <p:sldId id="259" r:id="rId33"/>
    <p:sldId id="321" r:id="rId34"/>
    <p:sldId id="294" r:id="rId35"/>
    <p:sldId id="295" r:id="rId36"/>
  </p:sldIdLst>
  <p:sldSz cx="9144000" cy="6858000" type="screen4x3"/>
  <p:notesSz cx="7077075" cy="93694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loyd Dugan" initials="LD"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4"/>
    <p:restoredTop sz="94595"/>
  </p:normalViewPr>
  <p:slideViewPr>
    <p:cSldViewPr>
      <p:cViewPr varScale="1">
        <p:scale>
          <a:sx n="110" d="100"/>
          <a:sy n="110" d="100"/>
        </p:scale>
        <p:origin x="1644" y="102"/>
      </p:cViewPr>
      <p:guideLst>
        <p:guide orient="horz" pos="2160"/>
        <p:guide pos="2880"/>
      </p:guideLst>
    </p:cSldViewPr>
  </p:slideViewPr>
  <p:notesTextViewPr>
    <p:cViewPr>
      <p:scale>
        <a:sx n="1" d="1"/>
        <a:sy n="1" d="1"/>
      </p:scale>
      <p:origin x="0" y="0"/>
    </p:cViewPr>
  </p:notesTextViewPr>
  <p:sorterViewPr>
    <p:cViewPr>
      <p:scale>
        <a:sx n="66" d="100"/>
        <a:sy n="66" d="100"/>
      </p:scale>
      <p:origin x="0" y="13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683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08438" y="0"/>
            <a:ext cx="3067050" cy="468313"/>
          </a:xfrm>
          <a:prstGeom prst="rect">
            <a:avLst/>
          </a:prstGeom>
        </p:spPr>
        <p:txBody>
          <a:bodyPr vert="horz" lIns="91440" tIns="45720" rIns="91440" bIns="45720" rtlCol="0"/>
          <a:lstStyle>
            <a:lvl1pPr algn="r">
              <a:defRPr sz="1200"/>
            </a:lvl1pPr>
          </a:lstStyle>
          <a:p>
            <a:fld id="{7032625F-9001-466B-A9BA-A9B43729BDF4}" type="datetimeFigureOut">
              <a:rPr lang="en-US" smtClean="0"/>
              <a:t>6/14/2016</a:t>
            </a:fld>
            <a:endParaRPr lang="en-US"/>
          </a:p>
        </p:txBody>
      </p:sp>
      <p:sp>
        <p:nvSpPr>
          <p:cNvPr id="4" name="Slide Image Placeholder 3"/>
          <p:cNvSpPr>
            <a:spLocks noGrp="1" noRot="1" noChangeAspect="1"/>
          </p:cNvSpPr>
          <p:nvPr>
            <p:ph type="sldImg" idx="2"/>
          </p:nvPr>
        </p:nvSpPr>
        <p:spPr>
          <a:xfrm>
            <a:off x="1196975" y="703263"/>
            <a:ext cx="4683125" cy="35131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8025" y="4449763"/>
            <a:ext cx="5661025" cy="421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99525"/>
            <a:ext cx="3067050" cy="4683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08438" y="8899525"/>
            <a:ext cx="3067050" cy="468313"/>
          </a:xfrm>
          <a:prstGeom prst="rect">
            <a:avLst/>
          </a:prstGeom>
        </p:spPr>
        <p:txBody>
          <a:bodyPr vert="horz" lIns="91440" tIns="45720" rIns="91440" bIns="45720" rtlCol="0" anchor="b"/>
          <a:lstStyle>
            <a:lvl1pPr algn="r">
              <a:defRPr sz="1200"/>
            </a:lvl1pPr>
          </a:lstStyle>
          <a:p>
            <a:fld id="{6D8FBC6A-D929-477C-9F9C-F4D337BD5F76}" type="slidenum">
              <a:rPr lang="en-US" smtClean="0"/>
              <a:t>‹#›</a:t>
            </a:fld>
            <a:endParaRPr lang="en-US"/>
          </a:p>
        </p:txBody>
      </p:sp>
    </p:spTree>
    <p:extLst>
      <p:ext uri="{BB962C8B-B14F-4D97-AF65-F5344CB8AC3E}">
        <p14:creationId xmlns:p14="http://schemas.microsoft.com/office/powerpoint/2010/main" val="3420588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8</a:t>
            </a:fld>
            <a:endParaRPr lang="en-US" dirty="0"/>
          </a:p>
        </p:txBody>
      </p:sp>
    </p:spTree>
    <p:extLst>
      <p:ext uri="{BB962C8B-B14F-4D97-AF65-F5344CB8AC3E}">
        <p14:creationId xmlns:p14="http://schemas.microsoft.com/office/powerpoint/2010/main" val="2198386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12</a:t>
            </a:fld>
            <a:endParaRPr lang="en-US" dirty="0"/>
          </a:p>
        </p:txBody>
      </p:sp>
    </p:spTree>
    <p:extLst>
      <p:ext uri="{BB962C8B-B14F-4D97-AF65-F5344CB8AC3E}">
        <p14:creationId xmlns:p14="http://schemas.microsoft.com/office/powerpoint/2010/main" val="910123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22</a:t>
            </a:fld>
            <a:endParaRPr lang="en-US" dirty="0"/>
          </a:p>
        </p:txBody>
      </p:sp>
    </p:spTree>
    <p:extLst>
      <p:ext uri="{BB962C8B-B14F-4D97-AF65-F5344CB8AC3E}">
        <p14:creationId xmlns:p14="http://schemas.microsoft.com/office/powerpoint/2010/main" val="1536786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24</a:t>
            </a:fld>
            <a:endParaRPr lang="en-US" dirty="0"/>
          </a:p>
        </p:txBody>
      </p:sp>
    </p:spTree>
    <p:extLst>
      <p:ext uri="{BB962C8B-B14F-4D97-AF65-F5344CB8AC3E}">
        <p14:creationId xmlns:p14="http://schemas.microsoft.com/office/powerpoint/2010/main" val="140691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8FBC6A-D929-477C-9F9C-F4D337BD5F76}" type="slidenum">
              <a:rPr lang="en-US" smtClean="0"/>
              <a:t>35</a:t>
            </a:fld>
            <a:endParaRPr lang="en-US"/>
          </a:p>
        </p:txBody>
      </p:sp>
    </p:spTree>
    <p:extLst>
      <p:ext uri="{BB962C8B-B14F-4D97-AF65-F5344CB8AC3E}">
        <p14:creationId xmlns:p14="http://schemas.microsoft.com/office/powerpoint/2010/main" val="3889957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61A3D2C-5E65-4B68-B565-301B64090602}" type="datetime1">
              <a:rPr lang="en-US" smtClean="0"/>
              <a:t>6/14/2016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1222585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8175"/>
          </a:xfrm>
        </p:spPr>
        <p:txBody>
          <a:bodyPr/>
          <a:lstStyle>
            <a:lvl1pPr>
              <a:defRPr>
                <a:solidFill>
                  <a:schemeClr val="tx1">
                    <a:lumMod val="75000"/>
                    <a:lumOff val="25000"/>
                  </a:schemeClr>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2CCD05-AC5D-49F5-B5B7-E01B29DC1B77}" type="datetime1">
              <a:rPr lang="en-US" smtClean="0"/>
              <a:t>6/14/2016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cxnSp>
        <p:nvCxnSpPr>
          <p:cNvPr id="8" name="Straight Connector 7"/>
          <p:cNvCxnSpPr/>
          <p:nvPr userDrawn="1"/>
        </p:nvCxnSpPr>
        <p:spPr>
          <a:xfrm>
            <a:off x="304800" y="1066800"/>
            <a:ext cx="8534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742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68F366-8D6C-4C85-A952-5C64C8F8CF9F}" type="datetime1">
              <a:rPr lang="en-US" smtClean="0"/>
              <a:t>6/14/2016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537041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9ADA579-2817-4365-859E-D04FB2068D6B}" type="datetime1">
              <a:rPr lang="en-US" smtClean="0"/>
              <a:t>6/14/2016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3595843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EFFAB7-63AB-4725-9DA3-CCC026A92436}" type="datetime1">
              <a:rPr lang="en-US" smtClean="0"/>
              <a:t>6/14/2016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3953679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609BB18-C023-4962-A769-AE29C4AFAEAF}" type="datetime1">
              <a:rPr lang="en-US" smtClean="0"/>
              <a:t>6/14/2016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44063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20EAD3-4F0B-40E2-8719-8F77EABF423B}" type="datetime1">
              <a:rPr lang="en-US" smtClean="0"/>
              <a:t>6/14/2016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987377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F9060C-349F-4437-A578-B7374282C803}" type="datetime1">
              <a:rPr lang="en-US" smtClean="0"/>
              <a:t>6/14/2016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4202967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A4FF5D1-E9F3-474E-B151-DFAB1ADA3488}" type="datetime1">
              <a:rPr lang="en-US" smtClean="0"/>
              <a:t>6/14/2016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974248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6F70FF-937A-4BA4-A137-28698C3C2B88}" type="datetime1">
              <a:rPr lang="en-US" smtClean="0"/>
              <a:t>6/14/2016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063612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C33333-0D2F-4BB2-ADA7-AF0C88C7D658}" type="datetime1">
              <a:rPr lang="en-US" smtClean="0"/>
              <a:t>6/14/2016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3178535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E76F34-193D-42E5-9768-73F1D388AE41}" type="datetime1">
              <a:rPr lang="en-US" smtClean="0"/>
              <a:t>6/14/2016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701F13-D499-404E-A11B-CE66F4C6465F}" type="slidenum">
              <a:rPr lang="en-US" smtClean="0"/>
              <a:t>‹#›</a:t>
            </a:fld>
            <a:endParaRPr lang="en-US"/>
          </a:p>
        </p:txBody>
      </p:sp>
    </p:spTree>
    <p:extLst>
      <p:ext uri="{BB962C8B-B14F-4D97-AF65-F5344CB8AC3E}">
        <p14:creationId xmlns:p14="http://schemas.microsoft.com/office/powerpoint/2010/main" val="1433559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tiff"/><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tiff"/><Relationship Id="rId5" Type="http://schemas.openxmlformats.org/officeDocument/2006/relationships/image" Target="../media/image4.tiff"/><Relationship Id="rId4" Type="http://schemas.openxmlformats.org/officeDocument/2006/relationships/image" Target="../media/image3.tiff"/><Relationship Id="rId9" Type="http://schemas.openxmlformats.org/officeDocument/2006/relationships/image" Target="../media/image8.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wmf"/><Relationship Id="rId2" Type="http://schemas.openxmlformats.org/officeDocument/2006/relationships/image" Target="../media/image9.jpe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wmf"/><Relationship Id="rId4" Type="http://schemas.openxmlformats.org/officeDocument/2006/relationships/image" Target="../media/image11.wmf"/><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math.u-szeged.hu/tagok/mmaroti/pdf/2001%20On%20metamodel%20composition.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077200" cy="1676400"/>
          </a:xfrm>
        </p:spPr>
        <p:txBody>
          <a:bodyPr>
            <a:normAutofit fontScale="90000"/>
          </a:bodyPr>
          <a:lstStyle/>
          <a:p>
            <a:r>
              <a:rPr lang="en-US" b="1" dirty="0" smtClean="0">
                <a:solidFill>
                  <a:schemeClr val="tx2"/>
                </a:solidFill>
              </a:rPr>
              <a:t>Presentation To the OMG BMI WG</a:t>
            </a:r>
            <a:br>
              <a:rPr lang="en-US" b="1" dirty="0" smtClean="0">
                <a:solidFill>
                  <a:schemeClr val="tx2"/>
                </a:solidFill>
              </a:rPr>
            </a:br>
            <a:r>
              <a:rPr lang="en-US" b="1" dirty="0" smtClean="0">
                <a:solidFill>
                  <a:schemeClr val="tx2"/>
                </a:solidFill>
              </a:rPr>
              <a:t>On Proposed Business Architecture Meta Model as a Candidate Standard</a:t>
            </a:r>
            <a:endParaRPr lang="en-US" b="1" dirty="0">
              <a:solidFill>
                <a:schemeClr val="tx2"/>
              </a:solidFill>
            </a:endParaRPr>
          </a:p>
        </p:txBody>
      </p:sp>
      <p:sp>
        <p:nvSpPr>
          <p:cNvPr id="3" name="Subtitle 2"/>
          <p:cNvSpPr>
            <a:spLocks noGrp="1"/>
          </p:cNvSpPr>
          <p:nvPr>
            <p:ph type="subTitle" idx="1"/>
          </p:nvPr>
        </p:nvSpPr>
        <p:spPr>
          <a:xfrm>
            <a:off x="1371600" y="3200400"/>
            <a:ext cx="6400800" cy="1752600"/>
          </a:xfrm>
        </p:spPr>
        <p:txBody>
          <a:bodyPr>
            <a:normAutofit/>
          </a:bodyPr>
          <a:lstStyle/>
          <a:p>
            <a:r>
              <a:rPr lang="en-US" b="1" dirty="0" smtClean="0">
                <a:solidFill>
                  <a:schemeClr val="bg2">
                    <a:lumMod val="50000"/>
                  </a:schemeClr>
                </a:solidFill>
              </a:rPr>
              <a:t>Presented By the Business Architecture Guild</a:t>
            </a:r>
          </a:p>
          <a:p>
            <a:r>
              <a:rPr lang="en-US" b="1" dirty="0" smtClean="0">
                <a:solidFill>
                  <a:schemeClr val="bg2">
                    <a:lumMod val="50000"/>
                  </a:schemeClr>
                </a:solidFill>
              </a:rPr>
              <a:t>June 21, 2016</a:t>
            </a:r>
          </a:p>
        </p:txBody>
      </p:sp>
      <p:sp>
        <p:nvSpPr>
          <p:cNvPr id="4" name="TextBox 3"/>
          <p:cNvSpPr txBox="1"/>
          <p:nvPr/>
        </p:nvSpPr>
        <p:spPr>
          <a:xfrm>
            <a:off x="1447800" y="5181600"/>
            <a:ext cx="6781800" cy="1477328"/>
          </a:xfrm>
          <a:prstGeom prst="rect">
            <a:avLst/>
          </a:prstGeom>
          <a:noFill/>
        </p:spPr>
        <p:txBody>
          <a:bodyPr wrap="square" rtlCol="0">
            <a:spAutoFit/>
          </a:bodyPr>
          <a:lstStyle/>
          <a:p>
            <a:r>
              <a:rPr lang="en-US" u="sng" dirty="0" smtClean="0">
                <a:solidFill>
                  <a:schemeClr val="tx1">
                    <a:lumMod val="50000"/>
                    <a:lumOff val="50000"/>
                  </a:schemeClr>
                </a:solidFill>
              </a:rPr>
              <a:t>Prepared &amp; Presented on behalf of the Business Architecture Guild by</a:t>
            </a:r>
            <a:r>
              <a:rPr lang="en-US" dirty="0" smtClean="0">
                <a:solidFill>
                  <a:schemeClr val="tx1">
                    <a:lumMod val="50000"/>
                    <a:lumOff val="50000"/>
                  </a:schemeClr>
                </a:solidFill>
              </a:rPr>
              <a:t>:</a:t>
            </a:r>
          </a:p>
          <a:p>
            <a:r>
              <a:rPr lang="en-US" dirty="0" smtClean="0">
                <a:solidFill>
                  <a:schemeClr val="tx1">
                    <a:lumMod val="50000"/>
                    <a:lumOff val="50000"/>
                  </a:schemeClr>
                </a:solidFill>
                <a:ea typeface="Avenir Next" charset="0"/>
                <a:cs typeface="Avenir Next" charset="0"/>
              </a:rPr>
              <a:t>Lloyd Dugan, BPM, Inc.</a:t>
            </a:r>
          </a:p>
          <a:p>
            <a:r>
              <a:rPr lang="en-US" dirty="0" smtClean="0">
                <a:solidFill>
                  <a:schemeClr val="tx1">
                    <a:lumMod val="50000"/>
                    <a:lumOff val="50000"/>
                  </a:schemeClr>
                </a:solidFill>
                <a:ea typeface="Avenir Next" charset="0"/>
                <a:cs typeface="Avenir Next" charset="0"/>
              </a:rPr>
              <a:t>Jeffrey Wallk, The Value Enablement Group, Inc.</a:t>
            </a:r>
          </a:p>
          <a:p>
            <a:r>
              <a:rPr lang="en-US" dirty="0" smtClean="0">
                <a:solidFill>
                  <a:schemeClr val="tx1">
                    <a:lumMod val="50000"/>
                    <a:lumOff val="50000"/>
                  </a:schemeClr>
                </a:solidFill>
                <a:ea typeface="Avenir Next" charset="0"/>
                <a:cs typeface="Avenir Next" charset="0"/>
              </a:rPr>
              <a:t>Jim Rhyne, Thematix, Inc.</a:t>
            </a:r>
          </a:p>
          <a:p>
            <a:r>
              <a:rPr lang="en-US" dirty="0" smtClean="0">
                <a:solidFill>
                  <a:schemeClr val="tx1">
                    <a:lumMod val="50000"/>
                    <a:lumOff val="50000"/>
                  </a:schemeClr>
                </a:solidFill>
                <a:ea typeface="Avenir Next" charset="0"/>
                <a:cs typeface="Avenir Next" charset="0"/>
              </a:rPr>
              <a:t>William Ulrich, TSG Consulting, Inc.</a:t>
            </a:r>
          </a:p>
        </p:txBody>
      </p:sp>
      <p:sp>
        <p:nvSpPr>
          <p:cNvPr id="5" name="Date Placeholder 4"/>
          <p:cNvSpPr>
            <a:spLocks noGrp="1"/>
          </p:cNvSpPr>
          <p:nvPr>
            <p:ph type="dt" sz="half" idx="10"/>
          </p:nvPr>
        </p:nvSpPr>
        <p:spPr/>
        <p:txBody>
          <a:bodyPr/>
          <a:lstStyle/>
          <a:p>
            <a:fld id="{2847048A-0498-41CE-8C4B-EAB162757492}" type="datetime1">
              <a:rPr lang="en-US" smtClean="0"/>
              <a:t>6/14/2016</a:t>
            </a:fld>
            <a:endParaRPr lang="en-US" dirty="0"/>
          </a:p>
        </p:txBody>
      </p:sp>
      <p:sp>
        <p:nvSpPr>
          <p:cNvPr id="7" name="Slide Number Placeholder 6"/>
          <p:cNvSpPr>
            <a:spLocks noGrp="1"/>
          </p:cNvSpPr>
          <p:nvPr>
            <p:ph type="sldNum" sz="quarter" idx="12"/>
          </p:nvPr>
        </p:nvSpPr>
        <p:spPr/>
        <p:txBody>
          <a:bodyPr/>
          <a:lstStyle/>
          <a:p>
            <a:fld id="{C8701F13-D499-404E-A11B-CE66F4C6465F}" type="slidenum">
              <a:rPr lang="en-US" smtClean="0"/>
              <a:t>1</a:t>
            </a:fld>
            <a:endParaRPr lang="en-US" dirty="0"/>
          </a:p>
        </p:txBody>
      </p:sp>
    </p:spTree>
    <p:extLst>
      <p:ext uri="{BB962C8B-B14F-4D97-AF65-F5344CB8AC3E}">
        <p14:creationId xmlns:p14="http://schemas.microsoft.com/office/powerpoint/2010/main" val="1032375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Outline</a:t>
            </a:r>
            <a:endParaRPr lang="en-US" dirty="0"/>
          </a:p>
        </p:txBody>
      </p:sp>
      <p:sp>
        <p:nvSpPr>
          <p:cNvPr id="3" name="Content Placeholder 2"/>
          <p:cNvSpPr>
            <a:spLocks noGrp="1"/>
          </p:cNvSpPr>
          <p:nvPr>
            <p:ph idx="1"/>
          </p:nvPr>
        </p:nvSpPr>
        <p:spPr/>
        <p:txBody>
          <a:bodyPr>
            <a:normAutofit/>
          </a:bodyPr>
          <a:lstStyle/>
          <a:p>
            <a:pPr marL="400050" lvl="1" indent="0">
              <a:buNone/>
            </a:pPr>
            <a:r>
              <a:rPr lang="en-US" sz="3200" dirty="0" smtClean="0"/>
              <a:t>BA MM Relevancy &amp; Timeliness</a:t>
            </a:r>
          </a:p>
          <a:p>
            <a:pPr marL="400050" lvl="1" indent="0">
              <a:buNone/>
            </a:pPr>
            <a:endParaRPr lang="en-US" sz="3200" dirty="0"/>
          </a:p>
          <a:p>
            <a:pPr marL="400050" lvl="1" indent="0">
              <a:buNone/>
            </a:pPr>
            <a:r>
              <a:rPr lang="en-US" sz="3200" dirty="0" smtClean="0"/>
              <a:t>BA MM Overview</a:t>
            </a:r>
          </a:p>
          <a:p>
            <a:pPr marL="400050" lvl="1" indent="0">
              <a:buNone/>
            </a:pPr>
            <a:endParaRPr lang="en-US" sz="3200" dirty="0"/>
          </a:p>
          <a:p>
            <a:pPr marL="400050" lvl="1" indent="0">
              <a:buNone/>
            </a:pPr>
            <a:r>
              <a:rPr lang="en-US" sz="3200" dirty="0" smtClean="0"/>
              <a:t>BA MM Alignment With VDML MM</a:t>
            </a:r>
          </a:p>
          <a:p>
            <a:pPr marL="400050" lvl="1" indent="0">
              <a:buNone/>
            </a:pPr>
            <a:endParaRPr lang="en-US" sz="3200" dirty="0"/>
          </a:p>
          <a:p>
            <a:pPr marL="400050" lvl="1" indent="0">
              <a:buNone/>
            </a:pPr>
            <a:r>
              <a:rPr lang="en-US" sz="3200" dirty="0" smtClean="0"/>
              <a:t>Concluding Remarks</a:t>
            </a:r>
            <a:endParaRPr lang="en-US" sz="3200" dirty="0"/>
          </a:p>
        </p:txBody>
      </p:sp>
      <p:sp>
        <p:nvSpPr>
          <p:cNvPr id="4" name="Date Placeholder 3"/>
          <p:cNvSpPr>
            <a:spLocks noGrp="1"/>
          </p:cNvSpPr>
          <p:nvPr>
            <p:ph type="dt" sz="half" idx="10"/>
          </p:nvPr>
        </p:nvSpPr>
        <p:spPr/>
        <p:txBody>
          <a:bodyPr/>
          <a:lstStyle/>
          <a:p>
            <a:fld id="{F2412BC1-EB76-4F1D-8C46-69E200D20A7B}"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a:t>
            </a:fld>
            <a:endParaRPr lang="en-US" dirty="0"/>
          </a:p>
        </p:txBody>
      </p:sp>
    </p:spTree>
    <p:extLst>
      <p:ext uri="{BB962C8B-B14F-4D97-AF65-F5344CB8AC3E}">
        <p14:creationId xmlns:p14="http://schemas.microsoft.com/office/powerpoint/2010/main" val="30302202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BA MM relevancy &amp; TIMELINESS</a:t>
            </a:r>
            <a:endParaRPr lang="en-US" sz="3600" dirty="0">
              <a:solidFill>
                <a:schemeClr val="tx2"/>
              </a:solidFill>
            </a:endParaRPr>
          </a:p>
        </p:txBody>
      </p:sp>
      <p:sp>
        <p:nvSpPr>
          <p:cNvPr id="5" name="Text Placeholder 4"/>
          <p:cNvSpPr>
            <a:spLocks noGrp="1"/>
          </p:cNvSpPr>
          <p:nvPr>
            <p:ph type="body" idx="1"/>
          </p:nvPr>
        </p:nvSpPr>
        <p:spPr>
          <a:xfrm>
            <a:off x="533400" y="3881437"/>
            <a:ext cx="8040688" cy="1833563"/>
          </a:xfrm>
        </p:spPr>
        <p:txBody>
          <a:bodyPr anchor="t">
            <a:noAutofit/>
          </a:bodyPr>
          <a:lstStyle/>
          <a:p>
            <a:r>
              <a:rPr lang="en-US" sz="1600" b="1" dirty="0">
                <a:solidFill>
                  <a:schemeClr val="bg1">
                    <a:lumMod val="50000"/>
                  </a:schemeClr>
                </a:solidFill>
              </a:rPr>
              <a:t>Why </a:t>
            </a:r>
            <a:r>
              <a:rPr lang="en-US" sz="1600" b="1" dirty="0" smtClean="0">
                <a:solidFill>
                  <a:schemeClr val="bg1">
                    <a:lumMod val="50000"/>
                  </a:schemeClr>
                </a:solidFill>
              </a:rPr>
              <a:t>a BA MM?</a:t>
            </a:r>
            <a:endParaRPr lang="en-US" sz="1600" b="1" dirty="0">
              <a:solidFill>
                <a:schemeClr val="bg1">
                  <a:lumMod val="50000"/>
                </a:schemeClr>
              </a:solidFill>
            </a:endParaRPr>
          </a:p>
          <a:p>
            <a:r>
              <a:rPr lang="en-US" sz="1600" b="1" dirty="0" smtClean="0">
                <a:solidFill>
                  <a:schemeClr val="bg1">
                    <a:lumMod val="50000"/>
                  </a:schemeClr>
                </a:solidFill>
              </a:rPr>
              <a:t>Capability </a:t>
            </a:r>
            <a:r>
              <a:rPr lang="en-US" sz="1600" b="1" dirty="0">
                <a:solidFill>
                  <a:schemeClr val="bg1">
                    <a:lumMod val="50000"/>
                  </a:schemeClr>
                </a:solidFill>
              </a:rPr>
              <a:t>as the Centerpiece</a:t>
            </a:r>
          </a:p>
          <a:p>
            <a:r>
              <a:rPr lang="en-US" sz="1600" b="1" dirty="0" smtClean="0">
                <a:solidFill>
                  <a:schemeClr val="bg1">
                    <a:lumMod val="50000"/>
                  </a:schemeClr>
                </a:solidFill>
              </a:rPr>
              <a:t>Positioning BA MM</a:t>
            </a:r>
            <a:endParaRPr lang="en-US" sz="1600" b="1" dirty="0">
              <a:solidFill>
                <a:schemeClr val="bg1">
                  <a:lumMod val="50000"/>
                </a:schemeClr>
              </a:solidFill>
            </a:endParaRPr>
          </a:p>
          <a:p>
            <a:r>
              <a:rPr lang="en-US" sz="1600" b="1" dirty="0">
                <a:solidFill>
                  <a:schemeClr val="bg1">
                    <a:lumMod val="50000"/>
                  </a:schemeClr>
                </a:solidFill>
              </a:rPr>
              <a:t>Unification of Concerns</a:t>
            </a:r>
          </a:p>
          <a:p>
            <a:r>
              <a:rPr lang="en-US" sz="1600" b="1" dirty="0">
                <a:solidFill>
                  <a:schemeClr val="bg1">
                    <a:lumMod val="50000"/>
                  </a:schemeClr>
                </a:solidFill>
              </a:rPr>
              <a:t>Adoption of </a:t>
            </a:r>
            <a:r>
              <a:rPr lang="en-US" sz="1600" b="1" dirty="0" smtClean="0">
                <a:solidFill>
                  <a:schemeClr val="bg1">
                    <a:lumMod val="50000"/>
                  </a:schemeClr>
                </a:solidFill>
              </a:rPr>
              <a:t>BA MM</a:t>
            </a:r>
            <a:endParaRPr lang="en-US" sz="1600" b="1" dirty="0">
              <a:solidFill>
                <a:schemeClr val="bg1">
                  <a:lumMod val="50000"/>
                </a:schemeClr>
              </a:solidFill>
            </a:endParaRPr>
          </a:p>
          <a:p>
            <a:r>
              <a:rPr lang="en-US" sz="1600" b="1" dirty="0" smtClean="0">
                <a:solidFill>
                  <a:schemeClr val="bg1">
                    <a:lumMod val="50000"/>
                  </a:schemeClr>
                </a:solidFill>
              </a:rPr>
              <a:t>Scenario-Driven BA MM</a:t>
            </a:r>
            <a:endParaRPr lang="en-US" sz="1600" b="1" dirty="0">
              <a:solidFill>
                <a:schemeClr val="bg1">
                  <a:lumMod val="50000"/>
                </a:schemeClr>
              </a:solidFill>
            </a:endParaRPr>
          </a:p>
        </p:txBody>
      </p:sp>
      <p:sp>
        <p:nvSpPr>
          <p:cNvPr id="2" name="Date Placeholder 1"/>
          <p:cNvSpPr>
            <a:spLocks noGrp="1"/>
          </p:cNvSpPr>
          <p:nvPr>
            <p:ph type="dt" sz="half" idx="10"/>
          </p:nvPr>
        </p:nvSpPr>
        <p:spPr/>
        <p:txBody>
          <a:bodyPr/>
          <a:lstStyle/>
          <a:p>
            <a:fld id="{A7F17783-AB2C-4E94-AC84-72C4864B28BC}"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3</a:t>
            </a:fld>
            <a:endParaRPr lang="en-US" dirty="0"/>
          </a:p>
        </p:txBody>
      </p:sp>
    </p:spTree>
    <p:extLst>
      <p:ext uri="{BB962C8B-B14F-4D97-AF65-F5344CB8AC3E}">
        <p14:creationId xmlns:p14="http://schemas.microsoft.com/office/powerpoint/2010/main" val="2427002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Why a BA MM ?</a:t>
            </a:r>
            <a:endParaRPr lang="en-US" dirty="0"/>
          </a:p>
        </p:txBody>
      </p:sp>
      <p:sp>
        <p:nvSpPr>
          <p:cNvPr id="5" name="Content Placeholder 4"/>
          <p:cNvSpPr>
            <a:spLocks noGrp="1"/>
          </p:cNvSpPr>
          <p:nvPr>
            <p:ph idx="1"/>
          </p:nvPr>
        </p:nvSpPr>
        <p:spPr>
          <a:xfrm>
            <a:off x="381000" y="1600200"/>
            <a:ext cx="8458200" cy="4724400"/>
          </a:xfrm>
        </p:spPr>
        <p:txBody>
          <a:bodyPr>
            <a:normAutofit fontScale="70000" lnSpcReduction="20000"/>
          </a:bodyPr>
          <a:lstStyle/>
          <a:p>
            <a:pPr lvl="0"/>
            <a:r>
              <a:rPr lang="en-US" dirty="0" smtClean="0"/>
              <a:t>Business Architecture (BA) as a management discipline with its own practitioner community has matured to the point where a BA standard (from the OMG) will have meaningful and enduring value</a:t>
            </a:r>
          </a:p>
          <a:p>
            <a:pPr lvl="0"/>
            <a:endParaRPr lang="en-US" dirty="0" smtClean="0"/>
          </a:p>
          <a:p>
            <a:pPr lvl="0"/>
            <a:r>
              <a:rPr lang="en-US" dirty="0" smtClean="0"/>
              <a:t>A BA Meta Model (BA MM) for such a BA standard provides </a:t>
            </a:r>
            <a:r>
              <a:rPr lang="en-US" dirty="0"/>
              <a:t>organizations with a simple and easy to understand </a:t>
            </a:r>
            <a:r>
              <a:rPr lang="en-US" dirty="0" smtClean="0"/>
              <a:t>way to </a:t>
            </a:r>
            <a:r>
              <a:rPr lang="en-US" dirty="0"/>
              <a:t>define and align strategy with </a:t>
            </a:r>
            <a:r>
              <a:rPr lang="en-US" dirty="0" smtClean="0"/>
              <a:t>execution, using </a:t>
            </a:r>
            <a:r>
              <a:rPr lang="en-US" b="1" dirty="0" smtClean="0"/>
              <a:t>Capability </a:t>
            </a:r>
            <a:r>
              <a:rPr lang="en-US" dirty="0" smtClean="0"/>
              <a:t>as the centerpiece. </a:t>
            </a:r>
          </a:p>
          <a:p>
            <a:pPr lvl="0"/>
            <a:endParaRPr lang="en-US" dirty="0" smtClean="0"/>
          </a:p>
          <a:p>
            <a:pPr lvl="0"/>
            <a:r>
              <a:rPr lang="en-US" b="1" dirty="0" smtClean="0"/>
              <a:t>Capability</a:t>
            </a:r>
            <a:r>
              <a:rPr lang="en-US" dirty="0" smtClean="0"/>
              <a:t> </a:t>
            </a:r>
            <a:r>
              <a:rPr lang="en-US" dirty="0"/>
              <a:t>is </a:t>
            </a:r>
            <a:r>
              <a:rPr lang="en-US" dirty="0" smtClean="0"/>
              <a:t>the </a:t>
            </a:r>
            <a:r>
              <a:rPr lang="en-US" dirty="0"/>
              <a:t>natural starting point </a:t>
            </a:r>
            <a:r>
              <a:rPr lang="en-US" dirty="0" smtClean="0"/>
              <a:t>for a BA because it describes “what” a business does in a way that supports analysis of various related business management concerns by: </a:t>
            </a:r>
          </a:p>
          <a:p>
            <a:pPr lvl="1"/>
            <a:r>
              <a:rPr lang="en-US" dirty="0"/>
              <a:t>E</a:t>
            </a:r>
            <a:r>
              <a:rPr lang="en-US" dirty="0" smtClean="0"/>
              <a:t>ngaging </a:t>
            </a:r>
            <a:r>
              <a:rPr lang="en-US" dirty="0"/>
              <a:t>business and operational </a:t>
            </a:r>
            <a:r>
              <a:rPr lang="en-US" dirty="0" smtClean="0"/>
              <a:t>stakeholders </a:t>
            </a:r>
            <a:r>
              <a:rPr lang="en-US" dirty="0"/>
              <a:t>about their </a:t>
            </a:r>
            <a:r>
              <a:rPr lang="en-US" dirty="0" smtClean="0"/>
              <a:t>relevant concerns (current state), and </a:t>
            </a:r>
          </a:p>
          <a:p>
            <a:pPr lvl="1"/>
            <a:r>
              <a:rPr lang="en-US" dirty="0"/>
              <a:t>G</a:t>
            </a:r>
            <a:r>
              <a:rPr lang="en-US" dirty="0" smtClean="0"/>
              <a:t>uiding </a:t>
            </a:r>
            <a:r>
              <a:rPr lang="en-US" dirty="0"/>
              <a:t>them towards a </a:t>
            </a:r>
            <a:r>
              <a:rPr lang="en-US" dirty="0" smtClean="0"/>
              <a:t>progressive set of steps to achieve their goals and objectives (strategy) for the short term and over the long term (future states)</a:t>
            </a:r>
          </a:p>
          <a:p>
            <a:endParaRPr lang="en-US" dirty="0"/>
          </a:p>
        </p:txBody>
      </p:sp>
      <p:sp>
        <p:nvSpPr>
          <p:cNvPr id="2" name="Date Placeholder 1"/>
          <p:cNvSpPr>
            <a:spLocks noGrp="1"/>
          </p:cNvSpPr>
          <p:nvPr>
            <p:ph type="dt" sz="half" idx="10"/>
          </p:nvPr>
        </p:nvSpPr>
        <p:spPr/>
        <p:txBody>
          <a:bodyPr/>
          <a:lstStyle/>
          <a:p>
            <a:fld id="{CA67B900-6BD5-40B1-8724-E059ADB44EE2}"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4</a:t>
            </a:fld>
            <a:endParaRPr lang="en-US" dirty="0"/>
          </a:p>
        </p:txBody>
      </p:sp>
    </p:spTree>
    <p:extLst>
      <p:ext uri="{BB962C8B-B14F-4D97-AF65-F5344CB8AC3E}">
        <p14:creationId xmlns:p14="http://schemas.microsoft.com/office/powerpoint/2010/main" val="254110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par>
                                <p:cTn id="18" presetID="10" presetClass="entr" presetSubtype="0" fill="hold" grpId="0" nodeType="with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fade">
                                      <p:cBhvr>
                                        <p:cTn id="20" dur="500"/>
                                        <p:tgtEl>
                                          <p:spTgt spid="5">
                                            <p:txEl>
                                              <p:pRg st="5" end="5"/>
                                            </p:txEl>
                                          </p:spTgt>
                                        </p:tgtEl>
                                      </p:cBhvr>
                                    </p:animEffect>
                                  </p:childTnLst>
                                  <p:subTnLst>
                                    <p:animClr clrSpc="rgb" dir="cw">
                                      <p:cBhvr override="childStyle">
                                        <p:cTn dur="1" fill="hold" display="0" masterRel="nextClick" afterEffect="1"/>
                                        <p:tgtEl>
                                          <p:spTgt spid="5">
                                            <p:txEl>
                                              <p:pRg st="5" end="5"/>
                                            </p:txEl>
                                          </p:spTgt>
                                        </p:tgtEl>
                                        <p:attrNameLst>
                                          <p:attrName>ppt_c</p:attrName>
                                        </p:attrNameLst>
                                      </p:cBhvr>
                                      <p:to>
                                        <a:srgbClr val="808080"/>
                                      </p:to>
                                    </p:animClr>
                                  </p:subTnLst>
                                </p:cTn>
                              </p:par>
                              <p:par>
                                <p:cTn id="21" presetID="10"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Effect transition="in" filter="fade">
                                      <p:cBhvr>
                                        <p:cTn id="23" dur="500"/>
                                        <p:tgtEl>
                                          <p:spTgt spid="5">
                                            <p:txEl>
                                              <p:pRg st="6" end="6"/>
                                            </p:txEl>
                                          </p:spTgt>
                                        </p:tgtEl>
                                      </p:cBhvr>
                                    </p:animEffect>
                                  </p:childTnLst>
                                  <p:subTnLst>
                                    <p:animClr clrSpc="rgb" dir="cw">
                                      <p:cBhvr override="childStyle">
                                        <p:cTn dur="1" fill="hold" display="0" masterRel="nextClick" afterEffect="1"/>
                                        <p:tgtEl>
                                          <p:spTgt spid="5">
                                            <p:txEl>
                                              <p:pRg st="6" end="6"/>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87287"/>
          </a:xfrm>
        </p:spPr>
        <p:txBody>
          <a:bodyPr>
            <a:normAutofit/>
          </a:bodyPr>
          <a:lstStyle/>
          <a:p>
            <a:r>
              <a:rPr lang="en-US" dirty="0"/>
              <a:t>Capability as the </a:t>
            </a:r>
            <a:r>
              <a:rPr lang="en-US" dirty="0" smtClean="0"/>
              <a:t>Centerpiece</a:t>
            </a:r>
            <a:endParaRPr lang="en-US" dirty="0"/>
          </a:p>
        </p:txBody>
      </p:sp>
      <p:sp>
        <p:nvSpPr>
          <p:cNvPr id="3" name="Content Placeholder 2"/>
          <p:cNvSpPr>
            <a:spLocks noGrp="1"/>
          </p:cNvSpPr>
          <p:nvPr>
            <p:ph idx="1"/>
          </p:nvPr>
        </p:nvSpPr>
        <p:spPr>
          <a:xfrm>
            <a:off x="4724400" y="1600200"/>
            <a:ext cx="4419601" cy="5029200"/>
          </a:xfrm>
        </p:spPr>
        <p:txBody>
          <a:bodyPr>
            <a:normAutofit fontScale="92500" lnSpcReduction="20000"/>
          </a:bodyPr>
          <a:lstStyle/>
          <a:p>
            <a:r>
              <a:rPr lang="en-US" sz="1900" dirty="0" smtClean="0"/>
              <a:t>Conversation with and about the business starts with the                         </a:t>
            </a:r>
            <a:r>
              <a:rPr lang="en-US" sz="1900" b="1" dirty="0" smtClean="0"/>
              <a:t>core concept – Capability</a:t>
            </a:r>
          </a:p>
          <a:p>
            <a:pPr lvl="1"/>
            <a:r>
              <a:rPr lang="en-US" sz="1700" i="1" dirty="0" smtClean="0">
                <a:solidFill>
                  <a:schemeClr val="tx2"/>
                </a:solidFill>
              </a:rPr>
              <a:t>Capability is the “1</a:t>
            </a:r>
            <a:r>
              <a:rPr lang="en-US" sz="1700" i="1" baseline="30000" dirty="0" smtClean="0">
                <a:solidFill>
                  <a:schemeClr val="tx2"/>
                </a:solidFill>
              </a:rPr>
              <a:t>st</a:t>
            </a:r>
            <a:r>
              <a:rPr lang="en-US" sz="1700" i="1" dirty="0" smtClean="0">
                <a:solidFill>
                  <a:schemeClr val="tx2"/>
                </a:solidFill>
              </a:rPr>
              <a:t> Class Citizen” of the framework used to describe Business Architecture, enforcing alignment with it</a:t>
            </a:r>
          </a:p>
          <a:p>
            <a:endParaRPr lang="en-US" sz="1900" dirty="0" smtClean="0"/>
          </a:p>
          <a:p>
            <a:r>
              <a:rPr lang="en-US" sz="1900" dirty="0" smtClean="0"/>
              <a:t>Provides business management the        </a:t>
            </a:r>
            <a:r>
              <a:rPr lang="en-US" sz="1900" b="1" dirty="0" smtClean="0"/>
              <a:t>bridge between strategy &amp; execution in support of evaluations and analyses</a:t>
            </a:r>
          </a:p>
          <a:p>
            <a:pPr lvl="1"/>
            <a:r>
              <a:rPr lang="en-US" sz="1700" i="1" dirty="0" smtClean="0">
                <a:solidFill>
                  <a:schemeClr val="tx2"/>
                </a:solidFill>
              </a:rPr>
              <a:t>Scenarios range from mergers &amp; acquisitions to strategic planning to various types of portfolio management</a:t>
            </a:r>
          </a:p>
          <a:p>
            <a:endParaRPr lang="en-US" sz="1900" dirty="0" smtClean="0"/>
          </a:p>
          <a:p>
            <a:r>
              <a:rPr lang="en-US" sz="1900" dirty="0" smtClean="0"/>
              <a:t>Impact by and impact on Capability is understood and analyzed by the </a:t>
            </a:r>
            <a:r>
              <a:rPr lang="en-US" sz="1900" b="1" dirty="0" smtClean="0"/>
              <a:t>examination of business management concerns related to Capability</a:t>
            </a:r>
          </a:p>
          <a:p>
            <a:pPr lvl="1"/>
            <a:r>
              <a:rPr lang="en-US" sz="1700" i="1" dirty="0" smtClean="0">
                <a:solidFill>
                  <a:schemeClr val="tx2"/>
                </a:solidFill>
              </a:rPr>
              <a:t>For example, Value provides the bridge between what Stakeholders want and what is delivered by the Organization</a:t>
            </a:r>
            <a:endParaRPr lang="en-US" sz="1700" i="1" dirty="0">
              <a:solidFill>
                <a:schemeClr val="tx2"/>
              </a:solidFill>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752600"/>
            <a:ext cx="4914900" cy="4419600"/>
          </a:xfrm>
          <a:prstGeom prst="rect">
            <a:avLst/>
          </a:prstGeom>
          <a:noFill/>
          <a:ln>
            <a:noFill/>
          </a:ln>
        </p:spPr>
      </p:pic>
      <p:sp>
        <p:nvSpPr>
          <p:cNvPr id="6" name="Date Placeholder 5"/>
          <p:cNvSpPr>
            <a:spLocks noGrp="1"/>
          </p:cNvSpPr>
          <p:nvPr>
            <p:ph type="dt" sz="half" idx="10"/>
          </p:nvPr>
        </p:nvSpPr>
        <p:spPr/>
        <p:txBody>
          <a:bodyPr/>
          <a:lstStyle/>
          <a:p>
            <a:fld id="{8F841868-D6C0-4FCB-9D6F-C8400EA0789F}" type="datetime1">
              <a:rPr lang="en-US" smtClean="0"/>
              <a:t>6/14/2016</a:t>
            </a:fld>
            <a:endParaRPr lang="en-US" dirty="0"/>
          </a:p>
        </p:txBody>
      </p:sp>
      <p:sp>
        <p:nvSpPr>
          <p:cNvPr id="8" name="Slide Number Placeholder 7"/>
          <p:cNvSpPr>
            <a:spLocks noGrp="1"/>
          </p:cNvSpPr>
          <p:nvPr>
            <p:ph type="sldNum" sz="quarter" idx="12"/>
          </p:nvPr>
        </p:nvSpPr>
        <p:spPr/>
        <p:txBody>
          <a:bodyPr/>
          <a:lstStyle/>
          <a:p>
            <a:fld id="{C8701F13-D499-404E-A11B-CE66F4C6465F}" type="slidenum">
              <a:rPr lang="en-US" smtClean="0"/>
              <a:t>5</a:t>
            </a:fld>
            <a:endParaRPr lang="en-US" dirty="0"/>
          </a:p>
        </p:txBody>
      </p:sp>
    </p:spTree>
    <p:extLst>
      <p:ext uri="{BB962C8B-B14F-4D97-AF65-F5344CB8AC3E}">
        <p14:creationId xmlns:p14="http://schemas.microsoft.com/office/powerpoint/2010/main" val="24030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808080"/>
                                      </p:to>
                                    </p:animClr>
                                  </p:sub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808080"/>
                                      </p:to>
                                    </p:animClr>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808080"/>
                                      </p:to>
                                    </p:animClr>
                                  </p:sub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808080"/>
                                      </p:to>
                                    </p:animClr>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808080"/>
                                      </p:to>
                                    </p:animClr>
                                  </p:sub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Positioning BA MM</a:t>
            </a:r>
            <a:endParaRPr lang="en-US" dirty="0"/>
          </a:p>
        </p:txBody>
      </p:sp>
      <p:sp>
        <p:nvSpPr>
          <p:cNvPr id="5" name="Content Placeholder 4"/>
          <p:cNvSpPr>
            <a:spLocks noGrp="1"/>
          </p:cNvSpPr>
          <p:nvPr>
            <p:ph idx="1"/>
          </p:nvPr>
        </p:nvSpPr>
        <p:spPr>
          <a:xfrm>
            <a:off x="457200" y="1600200"/>
            <a:ext cx="8458200" cy="4525963"/>
          </a:xfrm>
        </p:spPr>
        <p:txBody>
          <a:bodyPr>
            <a:normAutofit fontScale="85000" lnSpcReduction="20000"/>
          </a:bodyPr>
          <a:lstStyle/>
          <a:p>
            <a:pPr lvl="0"/>
            <a:r>
              <a:rPr lang="en-US" dirty="0" smtClean="0"/>
              <a:t>BA MM </a:t>
            </a:r>
            <a:r>
              <a:rPr lang="en-US" dirty="0"/>
              <a:t>is the ONLY MM that positions </a:t>
            </a:r>
            <a:r>
              <a:rPr lang="en-US" b="1" dirty="0" smtClean="0"/>
              <a:t>Capability</a:t>
            </a:r>
            <a:r>
              <a:rPr lang="en-US" dirty="0" smtClean="0"/>
              <a:t> </a:t>
            </a:r>
            <a:r>
              <a:rPr lang="en-US" dirty="0"/>
              <a:t>as its </a:t>
            </a:r>
            <a:r>
              <a:rPr lang="en-US" dirty="0" smtClean="0"/>
              <a:t>Core</a:t>
            </a:r>
            <a:r>
              <a:rPr lang="en-US" dirty="0"/>
              <a:t>, which supports a more natural flow of understanding and unbiased treatment of related </a:t>
            </a:r>
            <a:r>
              <a:rPr lang="en-US" dirty="0" smtClean="0"/>
              <a:t>concerns and concepts </a:t>
            </a:r>
            <a:r>
              <a:rPr lang="en-US" dirty="0"/>
              <a:t>vertically and horizontally (within organizations and across organizations</a:t>
            </a:r>
            <a:r>
              <a:rPr lang="en-US" dirty="0" smtClean="0"/>
              <a:t>) </a:t>
            </a:r>
          </a:p>
          <a:p>
            <a:pPr lvl="0"/>
            <a:endParaRPr lang="en-US" dirty="0" smtClean="0"/>
          </a:p>
          <a:p>
            <a:pPr lvl="0"/>
            <a:r>
              <a:rPr lang="en-US" dirty="0" smtClean="0"/>
              <a:t>Once a BA MM </a:t>
            </a:r>
            <a:r>
              <a:rPr lang="en-US" dirty="0"/>
              <a:t>is in place for an </a:t>
            </a:r>
            <a:r>
              <a:rPr lang="en-US" dirty="0" smtClean="0"/>
              <a:t>organization to use, </a:t>
            </a:r>
            <a:r>
              <a:rPr lang="en-US" dirty="0"/>
              <a:t>all other (relevant) </a:t>
            </a:r>
            <a:r>
              <a:rPr lang="en-US" dirty="0" smtClean="0"/>
              <a:t>meta models </a:t>
            </a:r>
            <a:r>
              <a:rPr lang="en-US" dirty="0"/>
              <a:t>can be </a:t>
            </a:r>
            <a:r>
              <a:rPr lang="en-US" dirty="0" smtClean="0"/>
              <a:t>incorporated </a:t>
            </a:r>
            <a:r>
              <a:rPr lang="en-US" dirty="0"/>
              <a:t>and positioned </a:t>
            </a:r>
            <a:r>
              <a:rPr lang="en-US" dirty="0" smtClean="0"/>
              <a:t>in a straightforward manner to </a:t>
            </a:r>
            <a:r>
              <a:rPr lang="en-US" dirty="0"/>
              <a:t>address increasing complexity and </a:t>
            </a:r>
            <a:r>
              <a:rPr lang="en-US" dirty="0" smtClean="0"/>
              <a:t>domain-specific concerns – an example of this is the inclusion </a:t>
            </a:r>
            <a:r>
              <a:rPr lang="en-US" dirty="0"/>
              <a:t>of </a:t>
            </a:r>
            <a:r>
              <a:rPr lang="en-US" b="1" dirty="0" smtClean="0"/>
              <a:t>Capability</a:t>
            </a:r>
            <a:r>
              <a:rPr lang="en-US" dirty="0" smtClean="0"/>
              <a:t> in other </a:t>
            </a:r>
            <a:r>
              <a:rPr lang="en-US" dirty="0"/>
              <a:t>existing MMs (including </a:t>
            </a:r>
            <a:r>
              <a:rPr lang="en-US" dirty="0" smtClean="0"/>
              <a:t>VDML, DoDAF, and TOGAF)</a:t>
            </a:r>
            <a:endParaRPr lang="en-US" dirty="0"/>
          </a:p>
        </p:txBody>
      </p:sp>
      <p:sp>
        <p:nvSpPr>
          <p:cNvPr id="2" name="Date Placeholder 1"/>
          <p:cNvSpPr>
            <a:spLocks noGrp="1"/>
          </p:cNvSpPr>
          <p:nvPr>
            <p:ph type="dt" sz="half" idx="10"/>
          </p:nvPr>
        </p:nvSpPr>
        <p:spPr/>
        <p:txBody>
          <a:bodyPr/>
          <a:lstStyle/>
          <a:p>
            <a:fld id="{E487AFC0-3516-4781-BB4A-7EF88A5116DE}"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6</a:t>
            </a:fld>
            <a:endParaRPr lang="en-US" dirty="0"/>
          </a:p>
        </p:txBody>
      </p:sp>
    </p:spTree>
    <p:extLst>
      <p:ext uri="{BB962C8B-B14F-4D97-AF65-F5344CB8AC3E}">
        <p14:creationId xmlns:p14="http://schemas.microsoft.com/office/powerpoint/2010/main" val="169239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Unification of Concerns</a:t>
            </a:r>
            <a:endParaRPr lang="en-US" dirty="0"/>
          </a:p>
        </p:txBody>
      </p:sp>
      <p:sp>
        <p:nvSpPr>
          <p:cNvPr id="5" name="Content Placeholder 4"/>
          <p:cNvSpPr>
            <a:spLocks noGrp="1"/>
          </p:cNvSpPr>
          <p:nvPr>
            <p:ph idx="1"/>
          </p:nvPr>
        </p:nvSpPr>
        <p:spPr/>
        <p:txBody>
          <a:bodyPr>
            <a:normAutofit fontScale="85000" lnSpcReduction="20000"/>
          </a:bodyPr>
          <a:lstStyle/>
          <a:p>
            <a:pPr lvl="0"/>
            <a:r>
              <a:rPr lang="en-US" dirty="0" smtClean="0"/>
              <a:t>A BA MM </a:t>
            </a:r>
            <a:r>
              <a:rPr lang="en-US" dirty="0"/>
              <a:t>provides a common starting point with organizations by leveraging </a:t>
            </a:r>
            <a:r>
              <a:rPr lang="en-US" b="1" dirty="0" smtClean="0"/>
              <a:t>Capability</a:t>
            </a:r>
            <a:r>
              <a:rPr lang="en-US" dirty="0" smtClean="0"/>
              <a:t>, from which </a:t>
            </a:r>
            <a:r>
              <a:rPr lang="en-US" dirty="0"/>
              <a:t>we can accommodate increasing levels of complexity and extensibility by aligning </a:t>
            </a:r>
            <a:r>
              <a:rPr lang="en-US" dirty="0" smtClean="0"/>
              <a:t>the concepts in the BA MM </a:t>
            </a:r>
            <a:r>
              <a:rPr lang="en-US" dirty="0"/>
              <a:t>with existing meta models (including but not limited to </a:t>
            </a:r>
            <a:r>
              <a:rPr lang="en-US" dirty="0" smtClean="0"/>
              <a:t>UPDM/UAF, </a:t>
            </a:r>
            <a:r>
              <a:rPr lang="en-US" dirty="0"/>
              <a:t>VDML, </a:t>
            </a:r>
            <a:r>
              <a:rPr lang="en-US" dirty="0" smtClean="0"/>
              <a:t>BPMN, </a:t>
            </a:r>
            <a:r>
              <a:rPr lang="en-US" dirty="0"/>
              <a:t>CMMN, </a:t>
            </a:r>
            <a:r>
              <a:rPr lang="en-US" dirty="0" smtClean="0"/>
              <a:t>DMN, SBVR)</a:t>
            </a:r>
          </a:p>
          <a:p>
            <a:pPr lvl="0"/>
            <a:endParaRPr lang="en-US" dirty="0" smtClean="0"/>
          </a:p>
          <a:p>
            <a:pPr lvl="0"/>
            <a:r>
              <a:rPr lang="en-US" b="1" dirty="0" smtClean="0"/>
              <a:t>Capability</a:t>
            </a:r>
            <a:r>
              <a:rPr lang="en-US" dirty="0" smtClean="0"/>
              <a:t> </a:t>
            </a:r>
            <a:r>
              <a:rPr lang="en-US" dirty="0"/>
              <a:t>supports both the vertical alignment (strategy &amp; execution) as well as </a:t>
            </a:r>
            <a:r>
              <a:rPr lang="en-US" dirty="0" smtClean="0"/>
              <a:t>the horizontal </a:t>
            </a:r>
            <a:r>
              <a:rPr lang="en-US" dirty="0"/>
              <a:t>and orthogonal extensions for addressing other architecture concerns </a:t>
            </a:r>
            <a:r>
              <a:rPr lang="en-US" dirty="0" smtClean="0"/>
              <a:t>(within the supply chain and across value chains), unifying these examinations</a:t>
            </a:r>
            <a:endParaRPr lang="en-US" dirty="0"/>
          </a:p>
        </p:txBody>
      </p:sp>
      <p:sp>
        <p:nvSpPr>
          <p:cNvPr id="2" name="Date Placeholder 1"/>
          <p:cNvSpPr>
            <a:spLocks noGrp="1"/>
          </p:cNvSpPr>
          <p:nvPr>
            <p:ph type="dt" sz="half" idx="10"/>
          </p:nvPr>
        </p:nvSpPr>
        <p:spPr/>
        <p:txBody>
          <a:bodyPr/>
          <a:lstStyle/>
          <a:p>
            <a:fld id="{7A50FB42-4F7C-49E5-90CF-84329FF46730}"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7</a:t>
            </a:fld>
            <a:endParaRPr lang="en-US" dirty="0"/>
          </a:p>
        </p:txBody>
      </p:sp>
    </p:spTree>
    <p:extLst>
      <p:ext uri="{BB962C8B-B14F-4D97-AF65-F5344CB8AC3E}">
        <p14:creationId xmlns:p14="http://schemas.microsoft.com/office/powerpoint/2010/main" val="33069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Adoption</a:t>
            </a:r>
            <a:endParaRPr lang="en-US" dirty="0"/>
          </a:p>
        </p:txBody>
      </p:sp>
      <p:sp>
        <p:nvSpPr>
          <p:cNvPr id="3" name="Content Placeholder 2"/>
          <p:cNvSpPr>
            <a:spLocks noGrp="1"/>
          </p:cNvSpPr>
          <p:nvPr>
            <p:ph idx="1"/>
          </p:nvPr>
        </p:nvSpPr>
        <p:spPr>
          <a:xfrm>
            <a:off x="152400" y="1828800"/>
            <a:ext cx="4065104" cy="4419600"/>
          </a:xfrm>
        </p:spPr>
        <p:txBody>
          <a:bodyPr>
            <a:normAutofit fontScale="55000" lnSpcReduction="20000"/>
          </a:bodyPr>
          <a:lstStyle/>
          <a:p>
            <a:pPr lvl="0">
              <a:lnSpc>
                <a:spcPct val="120000"/>
              </a:lnSpc>
              <a:spcBef>
                <a:spcPts val="600"/>
              </a:spcBef>
            </a:pPr>
            <a:r>
              <a:rPr lang="en-US" dirty="0" smtClean="0"/>
              <a:t>Variations for candidate BA MM have been adopted, are under review for adoption, or have been or are being user implemented across </a:t>
            </a:r>
            <a:r>
              <a:rPr lang="en-US" dirty="0"/>
              <a:t>numerous tool vendors </a:t>
            </a:r>
            <a:r>
              <a:rPr lang="en-US" dirty="0" smtClean="0"/>
              <a:t>(see list</a:t>
            </a:r>
            <a:r>
              <a:rPr lang="en-US" dirty="0"/>
              <a:t>)</a:t>
            </a:r>
          </a:p>
          <a:p>
            <a:pPr lvl="0">
              <a:lnSpc>
                <a:spcPct val="120000"/>
              </a:lnSpc>
              <a:spcBef>
                <a:spcPts val="600"/>
              </a:spcBef>
            </a:pPr>
            <a:endParaRPr lang="en-US" dirty="0" smtClean="0"/>
          </a:p>
          <a:p>
            <a:pPr lvl="0">
              <a:lnSpc>
                <a:spcPct val="120000"/>
              </a:lnSpc>
              <a:spcBef>
                <a:spcPts val="600"/>
              </a:spcBef>
            </a:pPr>
            <a:r>
              <a:rPr lang="en-US" dirty="0" smtClean="0"/>
              <a:t>Candidate BA MM </a:t>
            </a:r>
            <a:r>
              <a:rPr lang="en-US" dirty="0"/>
              <a:t>is based on the concepts </a:t>
            </a:r>
            <a:r>
              <a:rPr lang="en-US" dirty="0" smtClean="0"/>
              <a:t>captured across practitioner communities, as embodied </a:t>
            </a:r>
            <a:r>
              <a:rPr lang="en-US" dirty="0"/>
              <a:t>in the </a:t>
            </a:r>
            <a:r>
              <a:rPr lang="en-US" dirty="0" smtClean="0"/>
              <a:t>BIZBOK®, </a:t>
            </a:r>
            <a:r>
              <a:rPr lang="en-US" dirty="0"/>
              <a:t>which has wide adoption </a:t>
            </a:r>
            <a:r>
              <a:rPr lang="en-US" dirty="0" smtClean="0"/>
              <a:t>across </a:t>
            </a:r>
            <a:r>
              <a:rPr lang="en-US" dirty="0"/>
              <a:t>government, institutions, commercial, and non-profit (US &amp; </a:t>
            </a:r>
            <a:r>
              <a:rPr lang="en-US" dirty="0" smtClean="0"/>
              <a:t>International)</a:t>
            </a:r>
            <a:endParaRPr lang="en-US" dirty="0"/>
          </a:p>
        </p:txBody>
      </p:sp>
      <p:pic>
        <p:nvPicPr>
          <p:cNvPr id="7" name="Picture 6"/>
          <p:cNvPicPr>
            <a:picLocks noChangeAspect="1"/>
          </p:cNvPicPr>
          <p:nvPr/>
        </p:nvPicPr>
        <p:blipFill>
          <a:blip r:embed="rId3"/>
          <a:stretch>
            <a:fillRect/>
          </a:stretch>
        </p:blipFill>
        <p:spPr>
          <a:xfrm>
            <a:off x="7180514" y="1721982"/>
            <a:ext cx="1734886" cy="1237864"/>
          </a:xfrm>
          <a:prstGeom prst="rect">
            <a:avLst/>
          </a:prstGeom>
        </p:spPr>
      </p:pic>
      <p:pic>
        <p:nvPicPr>
          <p:cNvPr id="8" name="Picture 7"/>
          <p:cNvPicPr>
            <a:picLocks noChangeAspect="1"/>
          </p:cNvPicPr>
          <p:nvPr/>
        </p:nvPicPr>
        <p:blipFill rotWithShape="1">
          <a:blip r:embed="rId4"/>
          <a:srcRect r="22173"/>
          <a:stretch/>
        </p:blipFill>
        <p:spPr>
          <a:xfrm>
            <a:off x="6454148" y="3571719"/>
            <a:ext cx="2461252" cy="858982"/>
          </a:xfrm>
          <a:prstGeom prst="rect">
            <a:avLst/>
          </a:prstGeom>
        </p:spPr>
      </p:pic>
      <p:pic>
        <p:nvPicPr>
          <p:cNvPr id="9" name="Picture 8"/>
          <p:cNvPicPr>
            <a:picLocks noChangeAspect="1"/>
          </p:cNvPicPr>
          <p:nvPr/>
        </p:nvPicPr>
        <p:blipFill>
          <a:blip r:embed="rId5"/>
          <a:stretch>
            <a:fillRect/>
          </a:stretch>
        </p:blipFill>
        <p:spPr>
          <a:xfrm>
            <a:off x="6657078" y="4965042"/>
            <a:ext cx="2258322" cy="836415"/>
          </a:xfrm>
          <a:prstGeom prst="rect">
            <a:avLst/>
          </a:prstGeom>
        </p:spPr>
      </p:pic>
      <p:pic>
        <p:nvPicPr>
          <p:cNvPr id="10" name="Picture 9"/>
          <p:cNvPicPr>
            <a:picLocks noChangeAspect="1"/>
          </p:cNvPicPr>
          <p:nvPr/>
        </p:nvPicPr>
        <p:blipFill>
          <a:blip r:embed="rId6"/>
          <a:stretch>
            <a:fillRect/>
          </a:stretch>
        </p:blipFill>
        <p:spPr>
          <a:xfrm>
            <a:off x="4795594" y="1295400"/>
            <a:ext cx="1837765" cy="1150357"/>
          </a:xfrm>
          <a:prstGeom prst="rect">
            <a:avLst/>
          </a:prstGeom>
        </p:spPr>
      </p:pic>
      <p:sp>
        <p:nvSpPr>
          <p:cNvPr id="4" name="Date Placeholder 3"/>
          <p:cNvSpPr>
            <a:spLocks noGrp="1"/>
          </p:cNvSpPr>
          <p:nvPr>
            <p:ph type="dt" sz="half" idx="10"/>
          </p:nvPr>
        </p:nvSpPr>
        <p:spPr/>
        <p:txBody>
          <a:bodyPr/>
          <a:lstStyle/>
          <a:p>
            <a:fld id="{2EDBDCA4-E700-47A7-A047-8C6E105B7A7C}" type="datetime1">
              <a:rPr lang="en-US" smtClean="0"/>
              <a:t>6/14/2016</a:t>
            </a:fld>
            <a:endParaRPr lang="en-US" dirty="0"/>
          </a:p>
        </p:txBody>
      </p:sp>
      <p:sp>
        <p:nvSpPr>
          <p:cNvPr id="6" name="Slide Number Placeholder 5"/>
          <p:cNvSpPr>
            <a:spLocks noGrp="1"/>
          </p:cNvSpPr>
          <p:nvPr>
            <p:ph type="sldNum" sz="quarter" idx="12"/>
          </p:nvPr>
        </p:nvSpPr>
        <p:spPr>
          <a:xfrm>
            <a:off x="6705600" y="6340475"/>
            <a:ext cx="2133600" cy="365125"/>
          </a:xfrm>
        </p:spPr>
        <p:txBody>
          <a:bodyPr/>
          <a:lstStyle/>
          <a:p>
            <a:fld id="{C8701F13-D499-404E-A11B-CE66F4C6465F}" type="slidenum">
              <a:rPr lang="en-US" smtClean="0"/>
              <a:t>8</a:t>
            </a:fld>
            <a:endParaRPr lang="en-US" dirty="0"/>
          </a:p>
        </p:txBody>
      </p:sp>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26469" y="4724081"/>
            <a:ext cx="1807211" cy="481923"/>
          </a:xfrm>
          <a:prstGeom prst="rect">
            <a:avLst/>
          </a:prstGeom>
        </p:spPr>
      </p:pic>
      <p:pic>
        <p:nvPicPr>
          <p:cNvPr id="13" name="Picture 12"/>
          <p:cNvPicPr>
            <a:picLocks noChangeAspect="1"/>
          </p:cNvPicPr>
          <p:nvPr/>
        </p:nvPicPr>
        <p:blipFill>
          <a:blip r:embed="rId8"/>
          <a:stretch>
            <a:fillRect/>
          </a:stretch>
        </p:blipFill>
        <p:spPr>
          <a:xfrm>
            <a:off x="4129658" y="3141584"/>
            <a:ext cx="2209800" cy="447675"/>
          </a:xfrm>
          <a:prstGeom prst="rect">
            <a:avLst/>
          </a:prstGeom>
        </p:spPr>
      </p:pic>
      <p:pic>
        <p:nvPicPr>
          <p:cNvPr id="14" name="Picture 13"/>
          <p:cNvPicPr>
            <a:picLocks noChangeAspect="1"/>
          </p:cNvPicPr>
          <p:nvPr/>
        </p:nvPicPr>
        <p:blipFill>
          <a:blip r:embed="rId9"/>
          <a:stretch>
            <a:fillRect/>
          </a:stretch>
        </p:blipFill>
        <p:spPr>
          <a:xfrm>
            <a:off x="4343400" y="5703526"/>
            <a:ext cx="1752600" cy="707531"/>
          </a:xfrm>
          <a:prstGeom prst="rect">
            <a:avLst/>
          </a:prstGeom>
        </p:spPr>
      </p:pic>
    </p:spTree>
    <p:extLst>
      <p:ext uri="{BB962C8B-B14F-4D97-AF65-F5344CB8AC3E}">
        <p14:creationId xmlns:p14="http://schemas.microsoft.com/office/powerpoint/2010/main" val="3181507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Scenario-Driven BA Meta Modeling</a:t>
            </a:r>
            <a:endParaRPr lang="en-US" dirty="0"/>
          </a:p>
        </p:txBody>
      </p:sp>
      <p:sp>
        <p:nvSpPr>
          <p:cNvPr id="3" name="Content Placeholder 2"/>
          <p:cNvSpPr>
            <a:spLocks noGrp="1"/>
          </p:cNvSpPr>
          <p:nvPr>
            <p:ph idx="1"/>
          </p:nvPr>
        </p:nvSpPr>
        <p:spPr>
          <a:xfrm>
            <a:off x="457200" y="1600201"/>
            <a:ext cx="8229600" cy="1600200"/>
          </a:xfrm>
        </p:spPr>
        <p:txBody>
          <a:bodyPr>
            <a:normAutofit fontScale="92500"/>
          </a:bodyPr>
          <a:lstStyle/>
          <a:p>
            <a:pPr lvl="0"/>
            <a:r>
              <a:rPr lang="en-US" dirty="0" smtClean="0"/>
              <a:t>The BA MM was derived from the practitioners of Business Architecture and the organizations by leveraging common business scenarios:</a:t>
            </a:r>
          </a:p>
        </p:txBody>
      </p:sp>
      <p:sp>
        <p:nvSpPr>
          <p:cNvPr id="4" name="Content Placeholder 2"/>
          <p:cNvSpPr txBox="1">
            <a:spLocks/>
          </p:cNvSpPr>
          <p:nvPr/>
        </p:nvSpPr>
        <p:spPr>
          <a:xfrm>
            <a:off x="888609" y="3505200"/>
            <a:ext cx="7721991" cy="2209799"/>
          </a:xfrm>
          <a:prstGeom prst="rect">
            <a:avLst/>
          </a:prstGeom>
        </p:spPr>
        <p:txBody>
          <a:bodyPr vert="horz" lIns="91440" tIns="45720" rIns="91440" bIns="45720" numCol="2" rtlCol="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solidFill>
                  <a:schemeClr val="tx2"/>
                </a:solidFill>
              </a:rPr>
              <a:t>Investment Analysis</a:t>
            </a:r>
          </a:p>
          <a:p>
            <a:r>
              <a:rPr lang="en-US" dirty="0" smtClean="0">
                <a:solidFill>
                  <a:schemeClr val="tx2"/>
                </a:solidFill>
              </a:rPr>
              <a:t>Shift to Customer Centric Business Model</a:t>
            </a:r>
          </a:p>
          <a:p>
            <a:r>
              <a:rPr lang="en-US" dirty="0" smtClean="0">
                <a:solidFill>
                  <a:schemeClr val="tx2"/>
                </a:solidFill>
              </a:rPr>
              <a:t>Merger &amp; Acquisition Analysis</a:t>
            </a:r>
          </a:p>
          <a:p>
            <a:r>
              <a:rPr lang="en-US" dirty="0" smtClean="0">
                <a:solidFill>
                  <a:schemeClr val="tx2"/>
                </a:solidFill>
              </a:rPr>
              <a:t>New Product/Service Rollout</a:t>
            </a:r>
          </a:p>
          <a:p>
            <a:r>
              <a:rPr lang="en-US" dirty="0" smtClean="0">
                <a:solidFill>
                  <a:schemeClr val="tx2"/>
                </a:solidFill>
              </a:rPr>
              <a:t>Globalization </a:t>
            </a:r>
          </a:p>
          <a:p>
            <a:r>
              <a:rPr lang="en-US" dirty="0" smtClean="0">
                <a:solidFill>
                  <a:schemeClr val="tx2"/>
                </a:solidFill>
              </a:rPr>
              <a:t>Business Capability Outsourcing</a:t>
            </a:r>
          </a:p>
          <a:p>
            <a:r>
              <a:rPr lang="en-US" dirty="0" smtClean="0">
                <a:solidFill>
                  <a:schemeClr val="tx2"/>
                </a:solidFill>
              </a:rPr>
              <a:t>Supply Chain Streamlining </a:t>
            </a:r>
          </a:p>
          <a:p>
            <a:r>
              <a:rPr lang="en-US" dirty="0" smtClean="0">
                <a:solidFill>
                  <a:schemeClr val="tx2"/>
                </a:solidFill>
              </a:rPr>
              <a:t>Divestiture</a:t>
            </a:r>
          </a:p>
          <a:p>
            <a:r>
              <a:rPr lang="en-US" dirty="0" smtClean="0">
                <a:solidFill>
                  <a:schemeClr val="tx2"/>
                </a:solidFill>
              </a:rPr>
              <a:t>Regulatory Compliance </a:t>
            </a:r>
          </a:p>
          <a:p>
            <a:r>
              <a:rPr lang="en-US" dirty="0" smtClean="0">
                <a:solidFill>
                  <a:schemeClr val="tx2"/>
                </a:solidFill>
              </a:rPr>
              <a:t>Change Management</a:t>
            </a:r>
          </a:p>
          <a:p>
            <a:r>
              <a:rPr lang="en-US" dirty="0" smtClean="0">
                <a:solidFill>
                  <a:schemeClr val="tx2"/>
                </a:solidFill>
              </a:rPr>
              <a:t>Operational Cost Reduction </a:t>
            </a:r>
          </a:p>
          <a:p>
            <a:r>
              <a:rPr lang="en-US" dirty="0" smtClean="0">
                <a:solidFill>
                  <a:schemeClr val="tx2"/>
                </a:solidFill>
              </a:rPr>
              <a:t>Joint Venture Deployment</a:t>
            </a:r>
            <a:endParaRPr lang="en-US" dirty="0">
              <a:solidFill>
                <a:schemeClr val="tx2"/>
              </a:solidFill>
            </a:endParaRPr>
          </a:p>
        </p:txBody>
      </p:sp>
      <p:sp>
        <p:nvSpPr>
          <p:cNvPr id="5" name="Date Placeholder 4"/>
          <p:cNvSpPr>
            <a:spLocks noGrp="1"/>
          </p:cNvSpPr>
          <p:nvPr>
            <p:ph type="dt" sz="half" idx="10"/>
          </p:nvPr>
        </p:nvSpPr>
        <p:spPr/>
        <p:txBody>
          <a:bodyPr/>
          <a:lstStyle/>
          <a:p>
            <a:fld id="{07CFF152-005F-4D94-91F4-54D46561C73D}" type="datetime1">
              <a:rPr lang="en-US" smtClean="0"/>
              <a:t>6/14/2016</a:t>
            </a:fld>
            <a:endParaRPr lang="en-US" dirty="0"/>
          </a:p>
        </p:txBody>
      </p:sp>
      <p:sp>
        <p:nvSpPr>
          <p:cNvPr id="7" name="Slide Number Placeholder 6"/>
          <p:cNvSpPr>
            <a:spLocks noGrp="1"/>
          </p:cNvSpPr>
          <p:nvPr>
            <p:ph type="sldNum" sz="quarter" idx="12"/>
          </p:nvPr>
        </p:nvSpPr>
        <p:spPr/>
        <p:txBody>
          <a:bodyPr/>
          <a:lstStyle/>
          <a:p>
            <a:fld id="{C8701F13-D499-404E-A11B-CE66F4C6465F}" type="slidenum">
              <a:rPr lang="en-US" smtClean="0"/>
              <a:t>9</a:t>
            </a:fld>
            <a:endParaRPr lang="en-US" dirty="0"/>
          </a:p>
        </p:txBody>
      </p:sp>
    </p:spTree>
    <p:extLst>
      <p:ext uri="{BB962C8B-B14F-4D97-AF65-F5344CB8AC3E}">
        <p14:creationId xmlns:p14="http://schemas.microsoft.com/office/powerpoint/2010/main" val="12670064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BA MM Overview</a:t>
            </a:r>
            <a:endParaRPr lang="en-US" sz="3600" dirty="0">
              <a:solidFill>
                <a:schemeClr val="tx2"/>
              </a:solidFill>
            </a:endParaRPr>
          </a:p>
        </p:txBody>
      </p:sp>
      <p:sp>
        <p:nvSpPr>
          <p:cNvPr id="5" name="Text Placeholder 4"/>
          <p:cNvSpPr>
            <a:spLocks noGrp="1"/>
          </p:cNvSpPr>
          <p:nvPr>
            <p:ph type="body" idx="1"/>
          </p:nvPr>
        </p:nvSpPr>
        <p:spPr>
          <a:xfrm>
            <a:off x="533400" y="3881437"/>
            <a:ext cx="8040688" cy="2366963"/>
          </a:xfrm>
        </p:spPr>
        <p:txBody>
          <a:bodyPr anchor="t">
            <a:noAutofit/>
          </a:bodyPr>
          <a:lstStyle/>
          <a:p>
            <a:r>
              <a:rPr lang="en-US" sz="1600" b="1" dirty="0" smtClean="0">
                <a:solidFill>
                  <a:schemeClr val="bg1">
                    <a:lumMod val="50000"/>
                  </a:schemeClr>
                </a:solidFill>
              </a:rPr>
              <a:t>Location of BA MM within Modeling Spectrum</a:t>
            </a:r>
          </a:p>
          <a:p>
            <a:r>
              <a:rPr lang="en-US" sz="1600" b="1" dirty="0" smtClean="0">
                <a:solidFill>
                  <a:schemeClr val="bg1">
                    <a:lumMod val="50000"/>
                  </a:schemeClr>
                </a:solidFill>
              </a:rPr>
              <a:t>BA as the Center-of-Gravity of Modeling Standards</a:t>
            </a:r>
            <a:endParaRPr lang="is-IS" sz="1600" b="1" dirty="0" smtClean="0">
              <a:solidFill>
                <a:schemeClr val="bg1">
                  <a:lumMod val="50000"/>
                </a:schemeClr>
              </a:solidFill>
            </a:endParaRPr>
          </a:p>
          <a:p>
            <a:r>
              <a:rPr lang="is-IS" sz="1600" b="1" dirty="0">
                <a:solidFill>
                  <a:schemeClr val="bg1">
                    <a:lumMod val="50000"/>
                  </a:schemeClr>
                </a:solidFill>
              </a:rPr>
              <a:t>Capability </a:t>
            </a:r>
            <a:r>
              <a:rPr lang="is-IS" sz="1600" b="1" dirty="0" smtClean="0">
                <a:solidFill>
                  <a:schemeClr val="bg1">
                    <a:lumMod val="50000"/>
                  </a:schemeClr>
                </a:solidFill>
              </a:rPr>
              <a:t>as 1st Class </a:t>
            </a:r>
            <a:r>
              <a:rPr lang="is-IS" sz="1600" b="1" dirty="0">
                <a:solidFill>
                  <a:schemeClr val="bg1">
                    <a:lumMod val="50000"/>
                  </a:schemeClr>
                </a:solidFill>
              </a:rPr>
              <a:t>Citizen</a:t>
            </a:r>
          </a:p>
          <a:p>
            <a:r>
              <a:rPr lang="is-IS" sz="1600" b="1" dirty="0" smtClean="0">
                <a:solidFill>
                  <a:schemeClr val="bg1">
                    <a:lumMod val="50000"/>
                  </a:schemeClr>
                </a:solidFill>
              </a:rPr>
              <a:t>Layered Approach for BA MM</a:t>
            </a:r>
          </a:p>
          <a:p>
            <a:r>
              <a:rPr lang="is-IS" sz="1600" b="1" dirty="0" smtClean="0">
                <a:solidFill>
                  <a:schemeClr val="bg1">
                    <a:lumMod val="50000"/>
                  </a:schemeClr>
                </a:solidFill>
              </a:rPr>
              <a:t>BA Meta Modeling Approach – Some New Thinking</a:t>
            </a:r>
          </a:p>
          <a:p>
            <a:r>
              <a:rPr lang="is-IS" sz="1600" b="1" dirty="0" smtClean="0">
                <a:solidFill>
                  <a:schemeClr val="bg1">
                    <a:lumMod val="50000"/>
                  </a:schemeClr>
                </a:solidFill>
              </a:rPr>
              <a:t>Key BA Meta Modeling Concepts – Packages, Stereotypes, and Proxies</a:t>
            </a:r>
          </a:p>
          <a:p>
            <a:r>
              <a:rPr lang="is-IS" sz="1600" b="1" dirty="0" smtClean="0">
                <a:solidFill>
                  <a:schemeClr val="bg1">
                    <a:lumMod val="50000"/>
                  </a:schemeClr>
                </a:solidFill>
              </a:rPr>
              <a:t>BA MM Core Packages</a:t>
            </a:r>
          </a:p>
          <a:p>
            <a:r>
              <a:rPr lang="is-IS" sz="1600" b="1" dirty="0" smtClean="0">
                <a:solidFill>
                  <a:schemeClr val="bg1">
                    <a:lumMod val="50000"/>
                  </a:schemeClr>
                </a:solidFill>
              </a:rPr>
              <a:t>BA MM Concept Definitions</a:t>
            </a:r>
          </a:p>
        </p:txBody>
      </p:sp>
      <p:sp>
        <p:nvSpPr>
          <p:cNvPr id="2" name="Date Placeholder 1"/>
          <p:cNvSpPr>
            <a:spLocks noGrp="1"/>
          </p:cNvSpPr>
          <p:nvPr>
            <p:ph type="dt" sz="half" idx="10"/>
          </p:nvPr>
        </p:nvSpPr>
        <p:spPr/>
        <p:txBody>
          <a:bodyPr/>
          <a:lstStyle/>
          <a:p>
            <a:fld id="{F027AECE-1949-451D-BAC5-E8285C843D78}"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10</a:t>
            </a:fld>
            <a:endParaRPr lang="en-US" dirty="0"/>
          </a:p>
        </p:txBody>
      </p:sp>
    </p:spTree>
    <p:extLst>
      <p:ext uri="{BB962C8B-B14F-4D97-AF65-F5344CB8AC3E}">
        <p14:creationId xmlns:p14="http://schemas.microsoft.com/office/powerpoint/2010/main" val="9545842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609600"/>
            <a:ext cx="9174201" cy="48426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3" descr="C:\Users\Lloyd Dugan\AppData\Local\Microsoft\Windows\Temporary Internet Files\Content.IE5\MGBN6KO1\The_Watching_Eye_by_RezoKaishauri[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042" y="3075191"/>
            <a:ext cx="1111843" cy="7365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C:\Users\Lloyd Dugan\AppData\Local\Microsoft\Windows\Temporary Internet Files\Content.IE5\MGBN6KO1\The_Watching_Eye_by_RezoKaishauri[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8474" y="3082451"/>
            <a:ext cx="794631" cy="52644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C:\Users\Lloyd Dugan\AppData\Local\Microsoft\Windows\Temporary Internet Files\Content.IE5\MGBN6KO1\The_Watching_Eye_by_RezoKaishauri[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5750" y="3089711"/>
            <a:ext cx="794631" cy="5264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C:\Users\Lloyd Dugan\AppData\Local\Microsoft\Windows\Temporary Internet Files\Content.IE5\MGBN6KO1\The_Watching_Eye_by_RezoKaishauri[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3518" y="3067937"/>
            <a:ext cx="1111843" cy="736596"/>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p:cNvSpPr/>
          <p:nvPr/>
        </p:nvSpPr>
        <p:spPr>
          <a:xfrm>
            <a:off x="2714181" y="3608894"/>
            <a:ext cx="5907252" cy="1567543"/>
          </a:xfrm>
          <a:prstGeom prst="ellipse">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b="1" dirty="0" smtClean="0">
                <a:solidFill>
                  <a:schemeClr val="tx1"/>
                </a:solidFill>
                <a:latin typeface="Calibri" panose="020F0502020204030204" pitchFamily="34" charset="0"/>
              </a:rPr>
              <a:t>Operating Model </a:t>
            </a:r>
          </a:p>
          <a:p>
            <a:pPr algn="r"/>
            <a:r>
              <a:rPr lang="en-US" sz="1400" b="1" dirty="0" smtClean="0">
                <a:solidFill>
                  <a:schemeClr val="tx1"/>
                </a:solidFill>
                <a:latin typeface="Calibri" panose="020F0502020204030204" pitchFamily="34" charset="0"/>
              </a:rPr>
              <a:t>Perspective:</a:t>
            </a:r>
          </a:p>
          <a:p>
            <a:pPr algn="r"/>
            <a:endParaRPr lang="en-US" sz="1400" b="1" dirty="0" smtClean="0">
              <a:solidFill>
                <a:schemeClr val="tx1"/>
              </a:solidFill>
              <a:latin typeface="Calibri" panose="020F0502020204030204" pitchFamily="34" charset="0"/>
            </a:endParaRPr>
          </a:p>
          <a:p>
            <a:pPr algn="r"/>
            <a:r>
              <a:rPr lang="en-US" sz="1400" b="1" dirty="0" smtClean="0">
                <a:solidFill>
                  <a:schemeClr val="tx1"/>
                </a:solidFill>
                <a:latin typeface="Calibri" panose="020F0502020204030204" pitchFamily="34" charset="0"/>
              </a:rPr>
              <a:t>How the </a:t>
            </a:r>
          </a:p>
          <a:p>
            <a:pPr algn="r"/>
            <a:r>
              <a:rPr lang="en-US" sz="1400" b="1" dirty="0" smtClean="0">
                <a:solidFill>
                  <a:schemeClr val="tx1"/>
                </a:solidFill>
                <a:latin typeface="Calibri" panose="020F0502020204030204" pitchFamily="34" charset="0"/>
              </a:rPr>
              <a:t>Business Is Doing It</a:t>
            </a:r>
            <a:endParaRPr lang="en-US" sz="1400" b="1" dirty="0">
              <a:solidFill>
                <a:schemeClr val="tx1"/>
              </a:solidFill>
              <a:latin typeface="Calibri" panose="020F0502020204030204" pitchFamily="34" charset="0"/>
            </a:endParaRPr>
          </a:p>
        </p:txBody>
      </p:sp>
      <p:pic>
        <p:nvPicPr>
          <p:cNvPr id="7" name="Picture 21" descr="C:\Program Files (x86)\Microsoft Office\MEDIA\CAGCAT10\j0233018.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7807" y="650615"/>
            <a:ext cx="1651259" cy="16773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1" descr="C:\Program Files (x86)\Microsoft Office\MEDIA\CAGCAT10\j0186348.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58654" y="695368"/>
            <a:ext cx="1111158" cy="156034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0" descr="C:\Users\Lloyd Dugan\AppData\Local\Microsoft\Windows\Temporary Internet Files\Content.IE5\MGBN6KO1\0511-1001-2803-3909_Bored_Businessman_Sitting_at_His_Desk_clipart_image[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7028" y="681102"/>
            <a:ext cx="1803899" cy="14998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C:\Program Files (x86)\Microsoft Office\MEDIA\CAGCAT10\j0292020.wm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05595" y="674944"/>
            <a:ext cx="1741729" cy="1653108"/>
          </a:xfrm>
          <a:prstGeom prst="rect">
            <a:avLst/>
          </a:prstGeom>
          <a:solidFill>
            <a:schemeClr val="accent4">
              <a:lumMod val="60000"/>
              <a:lumOff val="40000"/>
            </a:schemeClr>
          </a:solidFill>
          <a:extLst/>
        </p:spPr>
      </p:pic>
      <p:sp>
        <p:nvSpPr>
          <p:cNvPr id="11" name="Left-Right Arrow 10"/>
          <p:cNvSpPr/>
          <p:nvPr/>
        </p:nvSpPr>
        <p:spPr>
          <a:xfrm>
            <a:off x="1" y="2347282"/>
            <a:ext cx="8650514" cy="1029385"/>
          </a:xfrm>
          <a:prstGeom prst="leftRightArrow">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485872" y="2566485"/>
            <a:ext cx="1244184" cy="523220"/>
          </a:xfrm>
          <a:prstGeom prst="rect">
            <a:avLst/>
          </a:prstGeom>
          <a:noFill/>
        </p:spPr>
        <p:txBody>
          <a:bodyPr wrap="square" rtlCol="0">
            <a:spAutoFit/>
          </a:bodyPr>
          <a:lstStyle/>
          <a:p>
            <a:pPr algn="ctr"/>
            <a:r>
              <a:rPr lang="en-US" sz="1400" b="1" dirty="0" smtClean="0">
                <a:solidFill>
                  <a:schemeClr val="bg1"/>
                </a:solidFill>
              </a:rPr>
              <a:t>Senior Management</a:t>
            </a:r>
            <a:endParaRPr lang="en-US" sz="1400" b="1" dirty="0">
              <a:solidFill>
                <a:schemeClr val="bg1"/>
              </a:solidFill>
            </a:endParaRPr>
          </a:p>
        </p:txBody>
      </p:sp>
      <p:sp>
        <p:nvSpPr>
          <p:cNvPr id="13" name="TextBox 12"/>
          <p:cNvSpPr txBox="1"/>
          <p:nvPr/>
        </p:nvSpPr>
        <p:spPr>
          <a:xfrm>
            <a:off x="2723786" y="2583975"/>
            <a:ext cx="1146026" cy="523220"/>
          </a:xfrm>
          <a:prstGeom prst="rect">
            <a:avLst/>
          </a:prstGeom>
          <a:noFill/>
        </p:spPr>
        <p:txBody>
          <a:bodyPr wrap="square" rtlCol="0">
            <a:spAutoFit/>
          </a:bodyPr>
          <a:lstStyle/>
          <a:p>
            <a:pPr algn="ctr"/>
            <a:r>
              <a:rPr lang="en-US" sz="1400" b="1" dirty="0" smtClean="0">
                <a:solidFill>
                  <a:schemeClr val="bg1"/>
                </a:solidFill>
              </a:rPr>
              <a:t>LOB Manager</a:t>
            </a:r>
            <a:endParaRPr lang="en-US" sz="1400" b="1" dirty="0">
              <a:solidFill>
                <a:schemeClr val="bg1"/>
              </a:solidFill>
            </a:endParaRPr>
          </a:p>
        </p:txBody>
      </p:sp>
      <p:sp>
        <p:nvSpPr>
          <p:cNvPr id="14" name="TextBox 13"/>
          <p:cNvSpPr txBox="1"/>
          <p:nvPr/>
        </p:nvSpPr>
        <p:spPr>
          <a:xfrm>
            <a:off x="4815368" y="2566485"/>
            <a:ext cx="1079341" cy="523220"/>
          </a:xfrm>
          <a:prstGeom prst="rect">
            <a:avLst/>
          </a:prstGeom>
          <a:noFill/>
        </p:spPr>
        <p:txBody>
          <a:bodyPr wrap="square" rtlCol="0">
            <a:spAutoFit/>
          </a:bodyPr>
          <a:lstStyle/>
          <a:p>
            <a:pPr algn="ctr"/>
            <a:r>
              <a:rPr lang="en-US" sz="1400" b="1" dirty="0" smtClean="0">
                <a:solidFill>
                  <a:schemeClr val="bg1"/>
                </a:solidFill>
              </a:rPr>
              <a:t>Line Supervisor</a:t>
            </a:r>
            <a:endParaRPr lang="en-US" sz="1400" b="1" dirty="0">
              <a:solidFill>
                <a:schemeClr val="bg1"/>
              </a:solidFill>
            </a:endParaRPr>
          </a:p>
        </p:txBody>
      </p:sp>
      <p:sp>
        <p:nvSpPr>
          <p:cNvPr id="15" name="TextBox 14"/>
          <p:cNvSpPr txBox="1"/>
          <p:nvPr/>
        </p:nvSpPr>
        <p:spPr>
          <a:xfrm>
            <a:off x="7037930" y="2566485"/>
            <a:ext cx="939326" cy="523220"/>
          </a:xfrm>
          <a:prstGeom prst="rect">
            <a:avLst/>
          </a:prstGeom>
          <a:noFill/>
        </p:spPr>
        <p:txBody>
          <a:bodyPr wrap="square" rtlCol="0">
            <a:spAutoFit/>
          </a:bodyPr>
          <a:lstStyle/>
          <a:p>
            <a:pPr algn="ctr"/>
            <a:r>
              <a:rPr lang="en-US" sz="1400" b="1" dirty="0" smtClean="0">
                <a:solidFill>
                  <a:schemeClr val="bg1"/>
                </a:solidFill>
              </a:rPr>
              <a:t>Line Worker</a:t>
            </a:r>
            <a:endParaRPr lang="en-US" sz="1400" b="1" dirty="0">
              <a:solidFill>
                <a:schemeClr val="bg1"/>
              </a:solidFill>
            </a:endParaRPr>
          </a:p>
        </p:txBody>
      </p:sp>
      <p:sp>
        <p:nvSpPr>
          <p:cNvPr id="16" name="Oval 15"/>
          <p:cNvSpPr/>
          <p:nvPr/>
        </p:nvSpPr>
        <p:spPr>
          <a:xfrm>
            <a:off x="0" y="3608894"/>
            <a:ext cx="5936343" cy="1567543"/>
          </a:xfrm>
          <a:prstGeom prst="ellipse">
            <a:avLst/>
          </a:prstGeom>
          <a:solidFill>
            <a:srgbClr val="FF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smtClean="0">
                <a:solidFill>
                  <a:schemeClr val="tx1"/>
                </a:solidFill>
                <a:latin typeface="Calibri" panose="020F0502020204030204" pitchFamily="34" charset="0"/>
              </a:rPr>
              <a:t>Business Model </a:t>
            </a:r>
          </a:p>
          <a:p>
            <a:r>
              <a:rPr lang="en-US" sz="1400" b="1" dirty="0" smtClean="0">
                <a:solidFill>
                  <a:schemeClr val="tx1"/>
                </a:solidFill>
                <a:latin typeface="Calibri" panose="020F0502020204030204" pitchFamily="34" charset="0"/>
              </a:rPr>
              <a:t>Perspective:</a:t>
            </a:r>
          </a:p>
          <a:p>
            <a:endParaRPr lang="en-US" sz="1400" b="1" dirty="0" smtClean="0">
              <a:solidFill>
                <a:schemeClr val="tx1"/>
              </a:solidFill>
              <a:latin typeface="Calibri" panose="020F0502020204030204" pitchFamily="34" charset="0"/>
            </a:endParaRPr>
          </a:p>
          <a:p>
            <a:r>
              <a:rPr lang="en-US" sz="1400" b="1" dirty="0" smtClean="0">
                <a:solidFill>
                  <a:schemeClr val="tx1"/>
                </a:solidFill>
                <a:latin typeface="Calibri" panose="020F0502020204030204" pitchFamily="34" charset="0"/>
              </a:rPr>
              <a:t>What It Is the </a:t>
            </a:r>
          </a:p>
          <a:p>
            <a:r>
              <a:rPr lang="en-US" sz="1400" b="1" dirty="0" smtClean="0">
                <a:solidFill>
                  <a:schemeClr val="tx1"/>
                </a:solidFill>
                <a:latin typeface="Calibri" panose="020F0502020204030204" pitchFamily="34" charset="0"/>
              </a:rPr>
              <a:t>Business Is Doing</a:t>
            </a:r>
            <a:endParaRPr lang="en-US" sz="1400" b="1" dirty="0">
              <a:solidFill>
                <a:schemeClr val="tx1"/>
              </a:solidFill>
              <a:latin typeface="Calibri" panose="020F0502020204030204" pitchFamily="34" charset="0"/>
            </a:endParaRPr>
          </a:p>
        </p:txBody>
      </p:sp>
      <p:sp>
        <p:nvSpPr>
          <p:cNvPr id="17" name="Oval 16"/>
          <p:cNvSpPr/>
          <p:nvPr/>
        </p:nvSpPr>
        <p:spPr>
          <a:xfrm>
            <a:off x="2723786" y="3652441"/>
            <a:ext cx="3212557" cy="146594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The </a:t>
            </a:r>
          </a:p>
          <a:p>
            <a:pPr algn="ctr"/>
            <a:r>
              <a:rPr lang="en-US" sz="1400" b="1" dirty="0" smtClean="0">
                <a:solidFill>
                  <a:schemeClr val="tx1"/>
                </a:solidFill>
                <a:latin typeface="Calibri" panose="020F0502020204030204" pitchFamily="34" charset="0"/>
              </a:rPr>
              <a:t>What-How </a:t>
            </a:r>
          </a:p>
          <a:p>
            <a:pPr algn="ctr"/>
            <a:r>
              <a:rPr lang="en-US" sz="1400" b="1" dirty="0" smtClean="0">
                <a:solidFill>
                  <a:schemeClr val="tx1"/>
                </a:solidFill>
                <a:latin typeface="Calibri" panose="020F0502020204030204" pitchFamily="34" charset="0"/>
              </a:rPr>
              <a:t>of the Business</a:t>
            </a:r>
            <a:endParaRPr lang="en-US" sz="1400" b="1" dirty="0">
              <a:solidFill>
                <a:schemeClr val="tx1"/>
              </a:solidFill>
              <a:latin typeface="Calibri" panose="020F0502020204030204" pitchFamily="34" charset="0"/>
            </a:endParaRPr>
          </a:p>
        </p:txBody>
      </p:sp>
      <p:sp>
        <p:nvSpPr>
          <p:cNvPr id="18" name="TextBox 17"/>
          <p:cNvSpPr txBox="1"/>
          <p:nvPr/>
        </p:nvSpPr>
        <p:spPr>
          <a:xfrm>
            <a:off x="7049177" y="5002406"/>
            <a:ext cx="2161873" cy="461665"/>
          </a:xfrm>
          <a:prstGeom prst="rect">
            <a:avLst/>
          </a:prstGeom>
          <a:noFill/>
        </p:spPr>
        <p:txBody>
          <a:bodyPr wrap="square" rtlCol="0">
            <a:spAutoFit/>
          </a:bodyPr>
          <a:lstStyle/>
          <a:p>
            <a:pPr lvl="0" algn="ctr">
              <a:defRPr/>
            </a:pPr>
            <a:r>
              <a:rPr lang="en-US" sz="800" b="1" u="sng" dirty="0" smtClean="0">
                <a:solidFill>
                  <a:srgbClr val="FFFF00"/>
                </a:solidFill>
              </a:rPr>
              <a:t>Source</a:t>
            </a:r>
            <a:r>
              <a:rPr lang="en-US" sz="800" b="1" dirty="0">
                <a:solidFill>
                  <a:srgbClr val="FFFF00"/>
                </a:solidFill>
              </a:rPr>
              <a:t>:  Training Material Provided for Purpose of this </a:t>
            </a:r>
            <a:r>
              <a:rPr lang="en-US" sz="800" b="1" dirty="0" smtClean="0">
                <a:solidFill>
                  <a:srgbClr val="FFFF00"/>
                </a:solidFill>
              </a:rPr>
              <a:t>Presentation Only</a:t>
            </a:r>
            <a:endParaRPr lang="en-US" sz="800" b="1" dirty="0">
              <a:solidFill>
                <a:srgbClr val="FFFF00"/>
              </a:solidFill>
            </a:endParaRPr>
          </a:p>
          <a:p>
            <a:pPr lvl="0" algn="ctr">
              <a:defRPr/>
            </a:pPr>
            <a:r>
              <a:rPr lang="en-US" sz="800" b="1" dirty="0">
                <a:solidFill>
                  <a:srgbClr val="FFFF00"/>
                </a:solidFill>
              </a:rPr>
              <a:t>All Rights Reserved To Lloyd </a:t>
            </a:r>
            <a:r>
              <a:rPr lang="en-US" sz="800" b="1" dirty="0" smtClean="0">
                <a:solidFill>
                  <a:srgbClr val="FFFF00"/>
                </a:solidFill>
              </a:rPr>
              <a:t>Dugan</a:t>
            </a:r>
            <a:endParaRPr lang="en-US" sz="800" b="1" dirty="0">
              <a:solidFill>
                <a:srgbClr val="FFFF00"/>
              </a:solidFill>
            </a:endParaRPr>
          </a:p>
        </p:txBody>
      </p:sp>
      <p:pic>
        <p:nvPicPr>
          <p:cNvPr id="3074"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0" y="5491857"/>
            <a:ext cx="4453177"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87100" y="5486400"/>
            <a:ext cx="4575042" cy="1300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 name="Group 23"/>
          <p:cNvGrpSpPr/>
          <p:nvPr/>
        </p:nvGrpSpPr>
        <p:grpSpPr>
          <a:xfrm>
            <a:off x="2514600" y="4666678"/>
            <a:ext cx="2636287" cy="866195"/>
            <a:chOff x="2514600" y="4777070"/>
            <a:chExt cx="2636287" cy="866195"/>
          </a:xfrm>
        </p:grpSpPr>
        <p:sp>
          <p:nvSpPr>
            <p:cNvPr id="20" name="TextBox 19"/>
            <p:cNvSpPr txBox="1"/>
            <p:nvPr/>
          </p:nvSpPr>
          <p:spPr>
            <a:xfrm>
              <a:off x="3499628" y="5181600"/>
              <a:ext cx="1651259" cy="461665"/>
            </a:xfrm>
            <a:prstGeom prst="rect">
              <a:avLst/>
            </a:prstGeom>
            <a:noFill/>
          </p:spPr>
          <p:txBody>
            <a:bodyPr wrap="square" rtlCol="0">
              <a:spAutoFit/>
            </a:bodyPr>
            <a:lstStyle/>
            <a:p>
              <a:pPr algn="ctr"/>
              <a:r>
                <a:rPr lang="en-US" sz="2400" b="1" dirty="0" smtClean="0">
                  <a:solidFill>
                    <a:srgbClr val="FFFF66"/>
                  </a:solidFill>
                </a:rPr>
                <a:t>Focus of BA</a:t>
              </a:r>
              <a:endParaRPr lang="en-US" sz="2400" b="1" dirty="0">
                <a:solidFill>
                  <a:srgbClr val="FFFF66"/>
                </a:solidFill>
              </a:endParaRPr>
            </a:p>
          </p:txBody>
        </p:sp>
        <p:cxnSp>
          <p:nvCxnSpPr>
            <p:cNvPr id="22" name="Straight Arrow Connector 21"/>
            <p:cNvCxnSpPr>
              <a:stCxn id="20" idx="1"/>
            </p:cNvCxnSpPr>
            <p:nvPr/>
          </p:nvCxnSpPr>
          <p:spPr>
            <a:xfrm flipH="1" flipV="1">
              <a:off x="2514600" y="4777070"/>
              <a:ext cx="985028" cy="635363"/>
            </a:xfrm>
            <a:prstGeom prst="straightConnector1">
              <a:avLst/>
            </a:prstGeom>
            <a:ln w="31750" cmpd="dbl">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sp>
        <p:nvSpPr>
          <p:cNvPr id="23" name="Title 22"/>
          <p:cNvSpPr>
            <a:spLocks noGrp="1"/>
          </p:cNvSpPr>
          <p:nvPr>
            <p:ph type="title"/>
          </p:nvPr>
        </p:nvSpPr>
        <p:spPr>
          <a:xfrm>
            <a:off x="1" y="0"/>
            <a:ext cx="9143999" cy="609600"/>
          </a:xfrm>
        </p:spPr>
        <p:txBody>
          <a:bodyPr>
            <a:noAutofit/>
          </a:bodyPr>
          <a:lstStyle/>
          <a:p>
            <a:r>
              <a:rPr lang="en-US" sz="2800" dirty="0" smtClean="0"/>
              <a:t>Location of Business Architecture on Modeling Spectrum</a:t>
            </a:r>
            <a:endParaRPr lang="en-US" sz="2800" dirty="0"/>
          </a:p>
        </p:txBody>
      </p:sp>
      <p:sp>
        <p:nvSpPr>
          <p:cNvPr id="21" name="Date Placeholder 20"/>
          <p:cNvSpPr>
            <a:spLocks noGrp="1"/>
          </p:cNvSpPr>
          <p:nvPr>
            <p:ph type="dt" sz="half" idx="10"/>
          </p:nvPr>
        </p:nvSpPr>
        <p:spPr/>
        <p:txBody>
          <a:bodyPr/>
          <a:lstStyle/>
          <a:p>
            <a:fld id="{B761BF0F-DA9D-41A1-8CE9-BAC0650CA687}" type="datetime1">
              <a:rPr lang="en-US" smtClean="0"/>
              <a:t>6/14/2016</a:t>
            </a:fld>
            <a:endParaRPr lang="en-US" dirty="0"/>
          </a:p>
        </p:txBody>
      </p:sp>
      <p:sp>
        <p:nvSpPr>
          <p:cNvPr id="26" name="Slide Number Placeholder 25"/>
          <p:cNvSpPr>
            <a:spLocks noGrp="1"/>
          </p:cNvSpPr>
          <p:nvPr>
            <p:ph type="sldNum" sz="quarter" idx="12"/>
          </p:nvPr>
        </p:nvSpPr>
        <p:spPr/>
        <p:txBody>
          <a:bodyPr/>
          <a:lstStyle/>
          <a:p>
            <a:fld id="{C8701F13-D499-404E-A11B-CE66F4C6465F}" type="slidenum">
              <a:rPr lang="en-US" smtClean="0"/>
              <a:t>11</a:t>
            </a:fld>
            <a:endParaRPr lang="en-US" dirty="0"/>
          </a:p>
        </p:txBody>
      </p:sp>
    </p:spTree>
    <p:extLst>
      <p:ext uri="{BB962C8B-B14F-4D97-AF65-F5344CB8AC3E}">
        <p14:creationId xmlns:p14="http://schemas.microsoft.com/office/powerpoint/2010/main" val="351361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75"/>
                                        </p:tgtEl>
                                        <p:attrNameLst>
                                          <p:attrName>style.visibility</p:attrName>
                                        </p:attrNameLst>
                                      </p:cBhvr>
                                      <p:to>
                                        <p:strVal val="visible"/>
                                      </p:to>
                                    </p:set>
                                    <p:animEffect transition="in" filter="fade">
                                      <p:cBhvr>
                                        <p:cTn id="23" dur="500"/>
                                        <p:tgtEl>
                                          <p:spTgt spid="307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10" presetClass="entr" presetSubtype="0" fill="hold" nodeType="with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a:fillRect/>
          </a:stretch>
        </p:blipFill>
        <p:spPr>
          <a:xfrm>
            <a:off x="1565359" y="3886200"/>
            <a:ext cx="3235241" cy="2910840"/>
          </a:xfrm>
          <a:prstGeom prst="rect">
            <a:avLst/>
          </a:prstGeom>
        </p:spPr>
      </p:pic>
      <p:sp>
        <p:nvSpPr>
          <p:cNvPr id="2" name="Title 1"/>
          <p:cNvSpPr>
            <a:spLocks noGrp="1"/>
          </p:cNvSpPr>
          <p:nvPr>
            <p:ph type="title"/>
          </p:nvPr>
        </p:nvSpPr>
        <p:spPr>
          <a:xfrm>
            <a:off x="228600" y="0"/>
            <a:ext cx="8686800" cy="914400"/>
          </a:xfrm>
        </p:spPr>
        <p:txBody>
          <a:bodyPr>
            <a:normAutofit fontScale="90000"/>
          </a:bodyPr>
          <a:lstStyle/>
          <a:p>
            <a:r>
              <a:rPr lang="en-US" sz="3600" dirty="0" smtClean="0"/>
              <a:t>BA as the Center-of-Gravity of Modeling Standards</a:t>
            </a:r>
            <a:endParaRPr lang="en-US" sz="3600" dirty="0"/>
          </a:p>
        </p:txBody>
      </p:sp>
      <p:sp>
        <p:nvSpPr>
          <p:cNvPr id="3" name="Content Placeholder 2"/>
          <p:cNvSpPr>
            <a:spLocks noGrp="1"/>
          </p:cNvSpPr>
          <p:nvPr>
            <p:ph idx="1"/>
          </p:nvPr>
        </p:nvSpPr>
        <p:spPr>
          <a:xfrm>
            <a:off x="0" y="1066800"/>
            <a:ext cx="9144000" cy="2971800"/>
          </a:xfrm>
        </p:spPr>
        <p:txBody>
          <a:bodyPr>
            <a:normAutofit fontScale="55000" lnSpcReduction="20000"/>
          </a:bodyPr>
          <a:lstStyle/>
          <a:p>
            <a:r>
              <a:rPr lang="en-US" dirty="0" smtClean="0"/>
              <a:t>Scenario-based management concerns of business management need a top-level standard for modeling Business Architecture, which organizes around the concept of Capability as the “1</a:t>
            </a:r>
            <a:r>
              <a:rPr lang="en-US" baseline="30000" dirty="0" smtClean="0"/>
              <a:t>st</a:t>
            </a:r>
            <a:r>
              <a:rPr lang="en-US" dirty="0" smtClean="0"/>
              <a:t> Class Citizen” of the BA MM</a:t>
            </a:r>
          </a:p>
          <a:p>
            <a:endParaRPr lang="en-US" dirty="0" smtClean="0"/>
          </a:p>
          <a:p>
            <a:r>
              <a:rPr lang="en-US" dirty="0" smtClean="0"/>
              <a:t>Semantics need to be loose enough to support mapping to other architecture descriptions and related OMG standards, but strong enough to support analysis of impact on and impact by Capability on those concerns</a:t>
            </a:r>
          </a:p>
          <a:p>
            <a:endParaRPr lang="en-US" dirty="0"/>
          </a:p>
          <a:p>
            <a:r>
              <a:rPr lang="en-US" dirty="0" smtClean="0"/>
              <a:t>Begin with stripped-down, first-cut of the BA MM built around Capability (as a package) with some viewpoints and views (as other packages) that are of initial and critical importance for the BA MM as well as generally considered included (Value, Organization, and Information)</a:t>
            </a:r>
          </a:p>
        </p:txBody>
      </p:sp>
      <p:sp>
        <p:nvSpPr>
          <p:cNvPr id="8" name="Right Brace 7"/>
          <p:cNvSpPr/>
          <p:nvPr/>
        </p:nvSpPr>
        <p:spPr>
          <a:xfrm>
            <a:off x="4648200" y="3886200"/>
            <a:ext cx="609600" cy="2819400"/>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p:cNvSpPr txBox="1"/>
          <p:nvPr/>
        </p:nvSpPr>
        <p:spPr>
          <a:xfrm>
            <a:off x="5523271" y="4713982"/>
            <a:ext cx="3365090" cy="1077218"/>
          </a:xfrm>
          <a:prstGeom prst="rect">
            <a:avLst/>
          </a:prstGeom>
          <a:noFill/>
        </p:spPr>
        <p:txBody>
          <a:bodyPr wrap="square" rtlCol="0">
            <a:spAutoFit/>
          </a:bodyPr>
          <a:lstStyle/>
          <a:p>
            <a:r>
              <a:rPr lang="en-US" sz="1600" dirty="0" smtClean="0">
                <a:solidFill>
                  <a:srgbClr val="C00000"/>
                </a:solidFill>
              </a:rPr>
              <a:t>Some of the petals will become part of the BA MM with explicit mappings, while others will map to the BA MM through implicit mappings</a:t>
            </a:r>
            <a:endParaRPr lang="en-US" sz="1600" dirty="0">
              <a:solidFill>
                <a:srgbClr val="C00000"/>
              </a:solidFill>
            </a:endParaRPr>
          </a:p>
        </p:txBody>
      </p:sp>
      <p:sp>
        <p:nvSpPr>
          <p:cNvPr id="6" name="Date Placeholder 5"/>
          <p:cNvSpPr>
            <a:spLocks noGrp="1"/>
          </p:cNvSpPr>
          <p:nvPr>
            <p:ph type="dt" sz="half" idx="10"/>
          </p:nvPr>
        </p:nvSpPr>
        <p:spPr/>
        <p:txBody>
          <a:bodyPr/>
          <a:lstStyle/>
          <a:p>
            <a:fld id="{6F602B2C-2F9E-43B2-BCFA-9B70E6FB927F}" type="datetime1">
              <a:rPr lang="en-US" smtClean="0"/>
              <a:t>6/14/2016</a:t>
            </a:fld>
            <a:endParaRPr lang="en-US" dirty="0"/>
          </a:p>
        </p:txBody>
      </p:sp>
      <p:sp>
        <p:nvSpPr>
          <p:cNvPr id="12" name="Slide Number Placeholder 11"/>
          <p:cNvSpPr>
            <a:spLocks noGrp="1"/>
          </p:cNvSpPr>
          <p:nvPr>
            <p:ph type="sldNum" sz="quarter" idx="12"/>
          </p:nvPr>
        </p:nvSpPr>
        <p:spPr/>
        <p:txBody>
          <a:bodyPr/>
          <a:lstStyle/>
          <a:p>
            <a:fld id="{C8701F13-D499-404E-A11B-CE66F4C6465F}" type="slidenum">
              <a:rPr lang="en-US" smtClean="0"/>
              <a:t>12</a:t>
            </a:fld>
            <a:endParaRPr lang="en-US" dirty="0"/>
          </a:p>
        </p:txBody>
      </p:sp>
    </p:spTree>
    <p:extLst>
      <p:ext uri="{BB962C8B-B14F-4D97-AF65-F5344CB8AC3E}">
        <p14:creationId xmlns:p14="http://schemas.microsoft.com/office/powerpoint/2010/main" val="162463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808080"/>
                                      </p:to>
                                    </p:animClr>
                                  </p:sub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68362"/>
          </a:xfrm>
        </p:spPr>
        <p:txBody>
          <a:bodyPr>
            <a:normAutofit/>
          </a:bodyPr>
          <a:lstStyle/>
          <a:p>
            <a:r>
              <a:rPr lang="en-US" sz="4000" dirty="0" smtClean="0"/>
              <a:t>Capability as “</a:t>
            </a:r>
            <a:r>
              <a:rPr lang="en-US" sz="4000" dirty="0" smtClean="0">
                <a:solidFill>
                  <a:schemeClr val="tx2"/>
                </a:solidFill>
              </a:rPr>
              <a:t>1</a:t>
            </a:r>
            <a:r>
              <a:rPr lang="en-US" sz="4000" baseline="30000" dirty="0" smtClean="0">
                <a:solidFill>
                  <a:schemeClr val="tx2"/>
                </a:solidFill>
              </a:rPr>
              <a:t>st</a:t>
            </a:r>
            <a:r>
              <a:rPr lang="en-US" sz="4000" dirty="0" smtClean="0">
                <a:solidFill>
                  <a:schemeClr val="tx2"/>
                </a:solidFill>
              </a:rPr>
              <a:t> Class Citizen</a:t>
            </a:r>
            <a:r>
              <a:rPr lang="en-US" sz="4000" dirty="0" smtClean="0"/>
              <a:t>” </a:t>
            </a:r>
            <a:endParaRPr lang="en-US" sz="4000" dirty="0"/>
          </a:p>
        </p:txBody>
      </p:sp>
      <p:sp>
        <p:nvSpPr>
          <p:cNvPr id="3" name="Content Placeholder 2"/>
          <p:cNvSpPr>
            <a:spLocks noGrp="1"/>
          </p:cNvSpPr>
          <p:nvPr>
            <p:ph idx="1"/>
          </p:nvPr>
        </p:nvSpPr>
        <p:spPr>
          <a:xfrm>
            <a:off x="76200" y="1219200"/>
            <a:ext cx="8991601" cy="5486400"/>
          </a:xfrm>
        </p:spPr>
        <p:txBody>
          <a:bodyPr>
            <a:normAutofit fontScale="62500" lnSpcReduction="20000"/>
          </a:bodyPr>
          <a:lstStyle/>
          <a:p>
            <a:pPr>
              <a:spcBef>
                <a:spcPts val="2400"/>
              </a:spcBef>
            </a:pPr>
            <a:r>
              <a:rPr lang="en-US" dirty="0" smtClean="0"/>
              <a:t>It means that – in a very meaningful way – a single concept in the MM is the reason for every other concept to be attached to it in some fashion</a:t>
            </a:r>
          </a:p>
          <a:p>
            <a:pPr lvl="1">
              <a:spcBef>
                <a:spcPts val="1200"/>
              </a:spcBef>
            </a:pPr>
            <a:r>
              <a:rPr lang="en-US" b="1" u="sng" dirty="0" smtClean="0"/>
              <a:t>Equivalent “centricity” rule</a:t>
            </a:r>
            <a:r>
              <a:rPr lang="en-US" b="1" dirty="0" smtClean="0"/>
              <a:t>:  removal of the core concept destabilizes the MM</a:t>
            </a:r>
          </a:p>
          <a:p>
            <a:pPr>
              <a:spcBef>
                <a:spcPts val="2400"/>
              </a:spcBef>
            </a:pPr>
            <a:r>
              <a:rPr lang="en-US" dirty="0" smtClean="0"/>
              <a:t>Examples from OMG’s operational modeling standards:</a:t>
            </a:r>
          </a:p>
          <a:p>
            <a:pPr lvl="1">
              <a:spcBef>
                <a:spcPts val="1200"/>
              </a:spcBef>
            </a:pPr>
            <a:r>
              <a:rPr lang="en-US" dirty="0" smtClean="0">
                <a:solidFill>
                  <a:schemeClr val="tx2"/>
                </a:solidFill>
              </a:rPr>
              <a:t>In BPMN, “Activity” is first class citizen</a:t>
            </a:r>
          </a:p>
          <a:p>
            <a:pPr lvl="2"/>
            <a:r>
              <a:rPr lang="en-US" sz="2600" dirty="0" smtClean="0"/>
              <a:t>Process model orders activity through Sequence Flow, Gateways, and Events – little in the MM does not map back to it</a:t>
            </a:r>
          </a:p>
          <a:p>
            <a:pPr lvl="1"/>
            <a:r>
              <a:rPr lang="en-US" dirty="0" smtClean="0">
                <a:solidFill>
                  <a:schemeClr val="tx2"/>
                </a:solidFill>
              </a:rPr>
              <a:t>In CMMN, “Event” is first class citizen</a:t>
            </a:r>
          </a:p>
          <a:p>
            <a:pPr lvl="2"/>
            <a:r>
              <a:rPr lang="en-US" sz="2600" dirty="0" smtClean="0"/>
              <a:t>Case model identifies Event-Condition-Act (ECA) moments that change the state of the Case and/or direct Tasks as work on the Case – little in the MM does not map back to it</a:t>
            </a:r>
          </a:p>
          <a:p>
            <a:pPr lvl="1"/>
            <a:r>
              <a:rPr lang="en-US" dirty="0" smtClean="0">
                <a:solidFill>
                  <a:schemeClr val="tx2"/>
                </a:solidFill>
              </a:rPr>
              <a:t>In DMN, “Decision” is first class citizen</a:t>
            </a:r>
          </a:p>
          <a:p>
            <a:pPr lvl="2"/>
            <a:r>
              <a:rPr lang="en-US" sz="2600" dirty="0" smtClean="0"/>
              <a:t>Decision model maps the Decision Logic and Data Inputs that support the Decision – little in the MM does not map back to it</a:t>
            </a:r>
          </a:p>
          <a:p>
            <a:pPr>
              <a:spcBef>
                <a:spcPts val="2400"/>
              </a:spcBef>
            </a:pPr>
            <a:r>
              <a:rPr lang="en-US" dirty="0" smtClean="0"/>
              <a:t>A straightforward “rule of thumb” enables the use of the first class element to be used to control what goes into the Core</a:t>
            </a:r>
          </a:p>
          <a:p>
            <a:pPr lvl="1">
              <a:spcBef>
                <a:spcPts val="1200"/>
              </a:spcBef>
            </a:pPr>
            <a:r>
              <a:rPr lang="en-US" b="1" u="sng" dirty="0" smtClean="0"/>
              <a:t>Semantic Distance Rule</a:t>
            </a:r>
            <a:r>
              <a:rPr lang="en-US" b="1" dirty="0" smtClean="0"/>
              <a:t>:  no Core concept or package central concept should be more than 2 hops (relationships) away from Capability unless it is needed to resolve ambiguities or complex n-ary relationships that otherwise emerge from the BA MM</a:t>
            </a:r>
          </a:p>
        </p:txBody>
      </p:sp>
      <p:sp>
        <p:nvSpPr>
          <p:cNvPr id="4" name="Date Placeholder 3"/>
          <p:cNvSpPr>
            <a:spLocks noGrp="1"/>
          </p:cNvSpPr>
          <p:nvPr>
            <p:ph type="dt" sz="half" idx="10"/>
          </p:nvPr>
        </p:nvSpPr>
        <p:spPr/>
        <p:txBody>
          <a:bodyPr/>
          <a:lstStyle/>
          <a:p>
            <a:fld id="{C9BB5C13-A215-4A2A-A55E-1D9711ACEA83}"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13</a:t>
            </a:fld>
            <a:endParaRPr lang="en-US" dirty="0"/>
          </a:p>
        </p:txBody>
      </p:sp>
    </p:spTree>
    <p:extLst>
      <p:ext uri="{BB962C8B-B14F-4D97-AF65-F5344CB8AC3E}">
        <p14:creationId xmlns:p14="http://schemas.microsoft.com/office/powerpoint/2010/main" val="308545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808080"/>
                                      </p:to>
                                    </p:animClr>
                                  </p:sub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808080"/>
                                      </p:to>
                                    </p:animClr>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808080"/>
                                      </p:to>
                                    </p:animClr>
                                  </p:sub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808080"/>
                                      </p:to>
                                    </p:animClr>
                                  </p:sub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808080"/>
                                      </p:to>
                                    </p:animClr>
                                  </p:sub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808080"/>
                                      </p:to>
                                    </p:animClr>
                                  </p:sub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808080"/>
                                      </p:to>
                                    </p:animClr>
                                  </p:sub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808080"/>
                                      </p:to>
                                    </p:animClr>
                                  </p:sub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subTnLst>
                                    <p:animClr clrSpc="rgb" dir="cw">
                                      <p:cBhvr override="childStyle">
                                        <p:cTn dur="1" fill="hold" display="0" masterRel="nextClick" afterEffect="1"/>
                                        <p:tgtEl>
                                          <p:spTgt spid="3">
                                            <p:txEl>
                                              <p:pRg st="8" end="8"/>
                                            </p:txEl>
                                          </p:spTgt>
                                        </p:tgtEl>
                                        <p:attrNameLst>
                                          <p:attrName>ppt_c</p:attrName>
                                        </p:attrNameLst>
                                      </p:cBhvr>
                                      <p:to>
                                        <a:srgbClr val="808080"/>
                                      </p:to>
                                    </p:animClr>
                                  </p:sub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subTnLst>
                                    <p:animClr clrSpc="rgb" dir="cw">
                                      <p:cBhvr override="childStyle">
                                        <p:cTn dur="1" fill="hold" display="0" masterRel="nextClick" afterEffect="1"/>
                                        <p:tgtEl>
                                          <p:spTgt spid="3">
                                            <p:txEl>
                                              <p:pRg st="9" end="9"/>
                                            </p:txEl>
                                          </p:spTgt>
                                        </p:tgtEl>
                                        <p:attrNameLst>
                                          <p:attrName>ppt_c</p:attrName>
                                        </p:attrNameLst>
                                      </p:cBhvr>
                                      <p:to>
                                        <a:srgbClr val="808080"/>
                                      </p:to>
                                    </p:animClr>
                                  </p:sub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subTnLst>
                                    <p:animClr clrSpc="rgb" dir="cw">
                                      <p:cBhvr override="childStyle">
                                        <p:cTn dur="1" fill="hold" display="0" masterRel="nextClick" afterEffect="1"/>
                                        <p:tgtEl>
                                          <p:spTgt spid="3">
                                            <p:txEl>
                                              <p:pRg st="10" end="10"/>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1579659" y="1303020"/>
            <a:ext cx="5394960" cy="5394960"/>
            <a:chOff x="1579659" y="1303020"/>
            <a:chExt cx="5394960" cy="5394960"/>
          </a:xfrm>
        </p:grpSpPr>
        <p:sp>
          <p:nvSpPr>
            <p:cNvPr id="56" name="Oval 55"/>
            <p:cNvSpPr>
              <a:spLocks noChangeAspect="1"/>
            </p:cNvSpPr>
            <p:nvPr/>
          </p:nvSpPr>
          <p:spPr>
            <a:xfrm>
              <a:off x="1579659" y="1303020"/>
              <a:ext cx="5394960" cy="5394960"/>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Extension</a:t>
              </a: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smtClean="0">
                <a:solidFill>
                  <a:schemeClr val="tx1"/>
                </a:solidFill>
              </a:endParaRPr>
            </a:p>
          </p:txBody>
        </p:sp>
        <p:sp>
          <p:nvSpPr>
            <p:cNvPr id="46" name="Oval 45"/>
            <p:cNvSpPr>
              <a:spLocks noChangeAspect="1"/>
            </p:cNvSpPr>
            <p:nvPr/>
          </p:nvSpPr>
          <p:spPr>
            <a:xfrm>
              <a:off x="1906730" y="1630091"/>
              <a:ext cx="4740819" cy="4740819"/>
            </a:xfrm>
            <a:prstGeom prst="ellipse">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smtClean="0">
                <a:solidFill>
                  <a:schemeClr val="tx1"/>
                </a:solidFill>
              </a:endParaRPr>
            </a:p>
            <a:p>
              <a:pPr algn="ctr"/>
              <a:r>
                <a:rPr lang="en-US" sz="1400" b="1" dirty="0" smtClean="0">
                  <a:solidFill>
                    <a:schemeClr val="tx1"/>
                  </a:solidFill>
                </a:rPr>
                <a:t>Penumbra</a:t>
              </a:r>
              <a:endParaRPr lang="en-US" b="1" dirty="0" smtClean="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a:solidFill>
                  <a:schemeClr val="tx1"/>
                </a:solidFill>
              </a:endParaRPr>
            </a:p>
          </p:txBody>
        </p:sp>
        <p:sp>
          <p:nvSpPr>
            <p:cNvPr id="3" name="Oval 2"/>
            <p:cNvSpPr>
              <a:spLocks noChangeAspect="1"/>
            </p:cNvSpPr>
            <p:nvPr/>
          </p:nvSpPr>
          <p:spPr>
            <a:xfrm>
              <a:off x="2448339" y="2171700"/>
              <a:ext cx="3657600" cy="3657600"/>
            </a:xfrm>
            <a:prstGeom prst="ellipse">
              <a:avLst/>
            </a:prstGeom>
            <a:solidFill>
              <a:srgbClr val="00B0F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smtClean="0"/>
            </a:p>
            <a:p>
              <a:pPr algn="ctr"/>
              <a:r>
                <a:rPr lang="en-US" sz="1400" b="1" dirty="0" smtClean="0">
                  <a:solidFill>
                    <a:schemeClr val="tx1"/>
                  </a:solidFill>
                </a:rPr>
                <a:t>CORE</a:t>
              </a:r>
            </a:p>
            <a:p>
              <a:pPr algn="ctr"/>
              <a:endParaRPr lang="en-US" sz="1400" b="1" dirty="0"/>
            </a:p>
            <a:p>
              <a:pPr algn="ctr"/>
              <a:endParaRPr lang="en-US" sz="1400" b="1" dirty="0" smtClean="0"/>
            </a:p>
            <a:p>
              <a:pPr algn="ctr"/>
              <a:endParaRPr lang="en-US" sz="1400" b="1" dirty="0" smtClean="0"/>
            </a:p>
            <a:p>
              <a:pPr algn="ctr"/>
              <a:endParaRPr lang="en-US" sz="1400" b="1" dirty="0"/>
            </a:p>
            <a:p>
              <a:pPr algn="ctr"/>
              <a:endParaRPr lang="en-US" sz="1400" b="1" dirty="0" smtClean="0"/>
            </a:p>
            <a:p>
              <a:pPr algn="ctr"/>
              <a:endParaRPr lang="en-US" sz="1400" b="1" dirty="0"/>
            </a:p>
            <a:p>
              <a:pPr algn="ctr"/>
              <a:endParaRPr lang="en-US" sz="1400" b="1" dirty="0" smtClean="0"/>
            </a:p>
            <a:p>
              <a:pPr algn="ctr"/>
              <a:endParaRPr lang="en-US" sz="1400" b="1" dirty="0" smtClean="0"/>
            </a:p>
            <a:p>
              <a:pPr algn="ctr"/>
              <a:endParaRPr lang="en-US" sz="1400" b="1" dirty="0"/>
            </a:p>
            <a:p>
              <a:pPr algn="ctr"/>
              <a:endParaRPr lang="en-US" sz="1400" b="1" dirty="0" smtClean="0"/>
            </a:p>
            <a:p>
              <a:pPr algn="ctr"/>
              <a:endParaRPr lang="en-US" sz="1400" b="1" dirty="0"/>
            </a:p>
          </p:txBody>
        </p:sp>
        <p:sp>
          <p:nvSpPr>
            <p:cNvPr id="5" name="Oval 4"/>
            <p:cNvSpPr/>
            <p:nvPr/>
          </p:nvSpPr>
          <p:spPr>
            <a:xfrm>
              <a:off x="3515139" y="3270401"/>
              <a:ext cx="1524000" cy="1460198"/>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CAPABILITY</a:t>
              </a:r>
              <a:endParaRPr lang="en-US" sz="1400" b="1" dirty="0"/>
            </a:p>
          </p:txBody>
        </p:sp>
      </p:grpSp>
      <p:cxnSp>
        <p:nvCxnSpPr>
          <p:cNvPr id="58" name="Straight Connector 57"/>
          <p:cNvCxnSpPr>
            <a:endCxn id="56" idx="1"/>
          </p:cNvCxnSpPr>
          <p:nvPr/>
        </p:nvCxnSpPr>
        <p:spPr>
          <a:xfrm>
            <a:off x="2016677" y="1707337"/>
            <a:ext cx="353056" cy="3857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06656" y="3560059"/>
            <a:ext cx="1219200" cy="830997"/>
          </a:xfrm>
          <a:prstGeom prst="rect">
            <a:avLst/>
          </a:prstGeom>
          <a:noFill/>
        </p:spPr>
        <p:txBody>
          <a:bodyPr wrap="square" rtlCol="0">
            <a:spAutoFit/>
          </a:bodyPr>
          <a:lstStyle/>
          <a:p>
            <a:pPr algn="ctr"/>
            <a:r>
              <a:rPr lang="en-US" sz="1200" b="1" dirty="0" smtClean="0"/>
              <a:t>Core Package where Capability is 1</a:t>
            </a:r>
            <a:r>
              <a:rPr lang="en-US" sz="1200" b="1" baseline="30000" dirty="0" smtClean="0"/>
              <a:t>st</a:t>
            </a:r>
            <a:r>
              <a:rPr lang="en-US" sz="1200" b="1" dirty="0" smtClean="0"/>
              <a:t> class citizen</a:t>
            </a:r>
            <a:endParaRPr lang="en-US" sz="1200" b="1" dirty="0"/>
          </a:p>
        </p:txBody>
      </p:sp>
      <p:cxnSp>
        <p:nvCxnSpPr>
          <p:cNvPr id="7" name="Straight Connector 6"/>
          <p:cNvCxnSpPr>
            <a:stCxn id="6" idx="3"/>
            <a:endCxn id="5" idx="2"/>
          </p:cNvCxnSpPr>
          <p:nvPr/>
        </p:nvCxnSpPr>
        <p:spPr>
          <a:xfrm>
            <a:off x="1325856" y="3975558"/>
            <a:ext cx="2189283" cy="249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976315" y="5073499"/>
            <a:ext cx="1930820" cy="830997"/>
          </a:xfrm>
          <a:prstGeom prst="rect">
            <a:avLst/>
          </a:prstGeom>
          <a:noFill/>
        </p:spPr>
        <p:txBody>
          <a:bodyPr wrap="square" rtlCol="0">
            <a:spAutoFit/>
          </a:bodyPr>
          <a:lstStyle/>
          <a:p>
            <a:pPr algn="ctr"/>
            <a:r>
              <a:rPr lang="en-US" sz="1200" b="1" dirty="0" smtClean="0"/>
              <a:t>Core Concepts viewpoints/views (initially drawn from the  Penumbra) as packages </a:t>
            </a:r>
            <a:r>
              <a:rPr lang="en-US" sz="1200" b="1" dirty="0" smtClean="0">
                <a:solidFill>
                  <a:srgbClr val="FF0000"/>
                </a:solidFill>
              </a:rPr>
              <a:t>**</a:t>
            </a:r>
          </a:p>
        </p:txBody>
      </p:sp>
      <p:cxnSp>
        <p:nvCxnSpPr>
          <p:cNvPr id="9" name="Straight Connector 8"/>
          <p:cNvCxnSpPr>
            <a:endCxn id="8" idx="1"/>
          </p:cNvCxnSpPr>
          <p:nvPr/>
        </p:nvCxnSpPr>
        <p:spPr>
          <a:xfrm>
            <a:off x="5784668" y="5000864"/>
            <a:ext cx="1191647" cy="48813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595967" y="3124200"/>
            <a:ext cx="1357305" cy="307777"/>
          </a:xfrm>
          <a:prstGeom prst="rect">
            <a:avLst/>
          </a:prstGeom>
          <a:noFill/>
        </p:spPr>
        <p:txBody>
          <a:bodyPr wrap="square" rtlCol="0">
            <a:spAutoFit/>
          </a:bodyPr>
          <a:lstStyle/>
          <a:p>
            <a:pPr algn="ctr"/>
            <a:r>
              <a:rPr lang="en-US" sz="1400" b="1" dirty="0" smtClean="0">
                <a:solidFill>
                  <a:schemeClr val="bg1"/>
                </a:solidFill>
              </a:rPr>
              <a:t>ORGANIZATION</a:t>
            </a:r>
            <a:endParaRPr lang="en-US" sz="1400" b="1" dirty="0">
              <a:solidFill>
                <a:schemeClr val="bg1"/>
              </a:solidFill>
            </a:endParaRPr>
          </a:p>
        </p:txBody>
      </p:sp>
      <p:sp>
        <p:nvSpPr>
          <p:cNvPr id="34" name="TextBox 33"/>
          <p:cNvSpPr txBox="1"/>
          <p:nvPr/>
        </p:nvSpPr>
        <p:spPr>
          <a:xfrm>
            <a:off x="4665635" y="4761077"/>
            <a:ext cx="1119033" cy="312422"/>
          </a:xfrm>
          <a:prstGeom prst="rect">
            <a:avLst/>
          </a:prstGeom>
          <a:noFill/>
        </p:spPr>
        <p:txBody>
          <a:bodyPr wrap="square" rtlCol="0">
            <a:spAutoFit/>
          </a:bodyPr>
          <a:lstStyle/>
          <a:p>
            <a:pPr algn="ctr"/>
            <a:r>
              <a:rPr lang="en-US" sz="1400" b="1" dirty="0" smtClean="0">
                <a:solidFill>
                  <a:schemeClr val="bg1"/>
                </a:solidFill>
              </a:rPr>
              <a:t>VALUE</a:t>
            </a:r>
            <a:endParaRPr lang="en-US" sz="1400" b="1" dirty="0">
              <a:solidFill>
                <a:schemeClr val="bg1"/>
              </a:solidFill>
            </a:endParaRPr>
          </a:p>
        </p:txBody>
      </p:sp>
      <p:sp>
        <p:nvSpPr>
          <p:cNvPr id="36" name="TextBox 35"/>
          <p:cNvSpPr txBox="1"/>
          <p:nvPr/>
        </p:nvSpPr>
        <p:spPr>
          <a:xfrm>
            <a:off x="2491329" y="3127183"/>
            <a:ext cx="1293687" cy="307777"/>
          </a:xfrm>
          <a:prstGeom prst="rect">
            <a:avLst/>
          </a:prstGeom>
          <a:noFill/>
        </p:spPr>
        <p:txBody>
          <a:bodyPr wrap="square" rtlCol="0">
            <a:spAutoFit/>
          </a:bodyPr>
          <a:lstStyle/>
          <a:p>
            <a:pPr algn="ctr"/>
            <a:r>
              <a:rPr lang="en-US" sz="1400" b="1" dirty="0" smtClean="0">
                <a:solidFill>
                  <a:schemeClr val="bg1"/>
                </a:solidFill>
              </a:rPr>
              <a:t>INFORMATION</a:t>
            </a:r>
            <a:endParaRPr lang="en-US" sz="1400" b="1" dirty="0">
              <a:solidFill>
                <a:schemeClr val="bg1"/>
              </a:solidFill>
            </a:endParaRPr>
          </a:p>
        </p:txBody>
      </p:sp>
      <p:sp>
        <p:nvSpPr>
          <p:cNvPr id="37" name="TextBox 36"/>
          <p:cNvSpPr txBox="1"/>
          <p:nvPr/>
        </p:nvSpPr>
        <p:spPr>
          <a:xfrm>
            <a:off x="2844500" y="4679885"/>
            <a:ext cx="912671" cy="523220"/>
          </a:xfrm>
          <a:prstGeom prst="rect">
            <a:avLst/>
          </a:prstGeom>
          <a:noFill/>
        </p:spPr>
        <p:txBody>
          <a:bodyPr wrap="square" rtlCol="0">
            <a:spAutoFit/>
          </a:bodyPr>
          <a:lstStyle/>
          <a:p>
            <a:pPr algn="ctr"/>
            <a:r>
              <a:rPr lang="en-US" sz="1400" b="1" dirty="0" smtClean="0">
                <a:solidFill>
                  <a:schemeClr val="bg1"/>
                </a:solidFill>
              </a:rPr>
              <a:t>OTHERS </a:t>
            </a:r>
          </a:p>
          <a:p>
            <a:pPr algn="ctr"/>
            <a:r>
              <a:rPr lang="en-US" sz="1400" b="1" dirty="0" smtClean="0">
                <a:solidFill>
                  <a:schemeClr val="bg1"/>
                </a:solidFill>
              </a:rPr>
              <a:t> (TBD)</a:t>
            </a:r>
            <a:endParaRPr lang="en-US" sz="1400" b="1" dirty="0">
              <a:solidFill>
                <a:schemeClr val="bg1"/>
              </a:solidFill>
            </a:endParaRPr>
          </a:p>
        </p:txBody>
      </p:sp>
      <p:sp>
        <p:nvSpPr>
          <p:cNvPr id="2" name="Title 1"/>
          <p:cNvSpPr>
            <a:spLocks noGrp="1"/>
          </p:cNvSpPr>
          <p:nvPr>
            <p:ph type="title"/>
          </p:nvPr>
        </p:nvSpPr>
        <p:spPr/>
        <p:txBody>
          <a:bodyPr>
            <a:noAutofit/>
          </a:bodyPr>
          <a:lstStyle/>
          <a:p>
            <a:r>
              <a:rPr lang="en-US" sz="3600" dirty="0" smtClean="0"/>
              <a:t>Layered Approach for BA MM</a:t>
            </a:r>
            <a:br>
              <a:rPr lang="en-US" sz="3600" dirty="0" smtClean="0"/>
            </a:br>
            <a:r>
              <a:rPr lang="en-US" sz="2800" b="1" dirty="0" smtClean="0">
                <a:solidFill>
                  <a:schemeClr val="bg2">
                    <a:lumMod val="50000"/>
                  </a:schemeClr>
                </a:solidFill>
              </a:rPr>
              <a:t>Conceptual View</a:t>
            </a:r>
            <a:endParaRPr lang="en-US" sz="2800" b="1" dirty="0">
              <a:solidFill>
                <a:schemeClr val="bg2">
                  <a:lumMod val="50000"/>
                </a:schemeClr>
              </a:solidFill>
            </a:endParaRPr>
          </a:p>
        </p:txBody>
      </p:sp>
      <p:cxnSp>
        <p:nvCxnSpPr>
          <p:cNvPr id="25" name="Straight Connector 24"/>
          <p:cNvCxnSpPr>
            <a:stCxn id="36" idx="2"/>
          </p:cNvCxnSpPr>
          <p:nvPr/>
        </p:nvCxnSpPr>
        <p:spPr>
          <a:xfrm>
            <a:off x="3138173" y="3434960"/>
            <a:ext cx="422718" cy="25351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endCxn id="28" idx="2"/>
          </p:cNvCxnSpPr>
          <p:nvPr/>
        </p:nvCxnSpPr>
        <p:spPr>
          <a:xfrm flipV="1">
            <a:off x="4962939" y="3431977"/>
            <a:ext cx="311681" cy="22562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4" idx="0"/>
          </p:cNvCxnSpPr>
          <p:nvPr/>
        </p:nvCxnSpPr>
        <p:spPr>
          <a:xfrm>
            <a:off x="4851481" y="4493322"/>
            <a:ext cx="373671" cy="26775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7" idx="0"/>
          </p:cNvCxnSpPr>
          <p:nvPr/>
        </p:nvCxnSpPr>
        <p:spPr>
          <a:xfrm flipV="1">
            <a:off x="3300836" y="4433921"/>
            <a:ext cx="349251" cy="24596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0551" y="1207978"/>
            <a:ext cx="1981200" cy="646331"/>
          </a:xfrm>
          <a:prstGeom prst="rect">
            <a:avLst/>
          </a:prstGeom>
          <a:noFill/>
        </p:spPr>
        <p:txBody>
          <a:bodyPr wrap="square" rtlCol="0">
            <a:spAutoFit/>
          </a:bodyPr>
          <a:lstStyle/>
          <a:p>
            <a:pPr algn="ctr"/>
            <a:r>
              <a:rPr lang="en-US" sz="1200" b="1" dirty="0" smtClean="0"/>
              <a:t>Extensions to other standards, and relevant architecture disciplines </a:t>
            </a:r>
            <a:r>
              <a:rPr lang="en-US" sz="1200" b="1" dirty="0" smtClean="0">
                <a:solidFill>
                  <a:schemeClr val="tx2"/>
                </a:solidFill>
              </a:rPr>
              <a:t>*</a:t>
            </a:r>
            <a:r>
              <a:rPr lang="en-US" sz="1200" b="1" dirty="0" smtClean="0"/>
              <a:t> </a:t>
            </a:r>
          </a:p>
        </p:txBody>
      </p:sp>
      <p:sp>
        <p:nvSpPr>
          <p:cNvPr id="64" name="TextBox 63"/>
          <p:cNvSpPr txBox="1"/>
          <p:nvPr/>
        </p:nvSpPr>
        <p:spPr>
          <a:xfrm>
            <a:off x="6630658" y="1207978"/>
            <a:ext cx="2178579" cy="646331"/>
          </a:xfrm>
          <a:prstGeom prst="rect">
            <a:avLst/>
          </a:prstGeom>
          <a:noFill/>
        </p:spPr>
        <p:txBody>
          <a:bodyPr wrap="square" rtlCol="0">
            <a:spAutoFit/>
          </a:bodyPr>
          <a:lstStyle/>
          <a:p>
            <a:pPr algn="ctr"/>
            <a:r>
              <a:rPr lang="en-US" sz="1200" b="1" dirty="0" smtClean="0"/>
              <a:t>Companion concerns, standards, and related business architecture concepts </a:t>
            </a:r>
            <a:r>
              <a:rPr lang="en-US" sz="1200" b="1" dirty="0" smtClean="0">
                <a:solidFill>
                  <a:schemeClr val="tx2"/>
                </a:solidFill>
              </a:rPr>
              <a:t>*</a:t>
            </a:r>
          </a:p>
        </p:txBody>
      </p:sp>
      <p:cxnSp>
        <p:nvCxnSpPr>
          <p:cNvPr id="65" name="Straight Connector 64"/>
          <p:cNvCxnSpPr>
            <a:endCxn id="46" idx="7"/>
          </p:cNvCxnSpPr>
          <p:nvPr/>
        </p:nvCxnSpPr>
        <p:spPr>
          <a:xfrm flipH="1">
            <a:off x="5953272" y="1828800"/>
            <a:ext cx="677386" cy="4955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7028494" y="2250819"/>
            <a:ext cx="1878641" cy="830997"/>
          </a:xfrm>
          <a:prstGeom prst="rect">
            <a:avLst/>
          </a:prstGeom>
          <a:solidFill>
            <a:schemeClr val="bg2"/>
          </a:solidFill>
        </p:spPr>
        <p:txBody>
          <a:bodyPr wrap="square">
            <a:spAutoFit/>
          </a:bodyPr>
          <a:lstStyle/>
          <a:p>
            <a:r>
              <a:rPr lang="en-US" sz="1200" b="1" dirty="0" smtClean="0">
                <a:solidFill>
                  <a:schemeClr val="tx2"/>
                </a:solidFill>
              </a:rPr>
              <a:t>* Formalized as MMs or perhaps not.  These are </a:t>
            </a:r>
          </a:p>
          <a:p>
            <a:r>
              <a:rPr lang="en-US" sz="1200" b="1" dirty="0">
                <a:solidFill>
                  <a:schemeClr val="tx2"/>
                </a:solidFill>
              </a:rPr>
              <a:t>m</a:t>
            </a:r>
            <a:r>
              <a:rPr lang="en-US" sz="1200" b="1" dirty="0" smtClean="0">
                <a:solidFill>
                  <a:schemeClr val="tx2"/>
                </a:solidFill>
              </a:rPr>
              <a:t>apped </a:t>
            </a:r>
            <a:r>
              <a:rPr lang="en-US" sz="1200" b="1" dirty="0">
                <a:solidFill>
                  <a:schemeClr val="tx2"/>
                </a:solidFill>
              </a:rPr>
              <a:t>to </a:t>
            </a:r>
            <a:r>
              <a:rPr lang="en-US" sz="1200" b="1" dirty="0" smtClean="0">
                <a:solidFill>
                  <a:schemeClr val="tx2"/>
                </a:solidFill>
              </a:rPr>
              <a:t>the BA </a:t>
            </a:r>
            <a:r>
              <a:rPr lang="en-US" sz="1200" b="1" dirty="0">
                <a:solidFill>
                  <a:schemeClr val="tx2"/>
                </a:solidFill>
              </a:rPr>
              <a:t>MM </a:t>
            </a:r>
            <a:r>
              <a:rPr lang="en-US" sz="1200" b="1" dirty="0" smtClean="0">
                <a:solidFill>
                  <a:schemeClr val="tx2"/>
                </a:solidFill>
              </a:rPr>
              <a:t>via proxy </a:t>
            </a:r>
            <a:r>
              <a:rPr lang="en-US" sz="1200" b="1" dirty="0">
                <a:solidFill>
                  <a:schemeClr val="tx2"/>
                </a:solidFill>
              </a:rPr>
              <a:t>relationships</a:t>
            </a:r>
          </a:p>
        </p:txBody>
      </p:sp>
      <p:sp>
        <p:nvSpPr>
          <p:cNvPr id="50" name="Rectangle 49"/>
          <p:cNvSpPr/>
          <p:nvPr/>
        </p:nvSpPr>
        <p:spPr>
          <a:xfrm>
            <a:off x="6242480" y="6140077"/>
            <a:ext cx="2667000" cy="461665"/>
          </a:xfrm>
          <a:prstGeom prst="rect">
            <a:avLst/>
          </a:prstGeom>
          <a:solidFill>
            <a:schemeClr val="bg1">
              <a:lumMod val="85000"/>
            </a:schemeClr>
          </a:solidFill>
        </p:spPr>
        <p:txBody>
          <a:bodyPr wrap="square">
            <a:spAutoFit/>
          </a:bodyPr>
          <a:lstStyle/>
          <a:p>
            <a:pPr algn="ctr"/>
            <a:r>
              <a:rPr lang="en-US" sz="1200" b="1" dirty="0" smtClean="0">
                <a:solidFill>
                  <a:srgbClr val="FF0000"/>
                </a:solidFill>
              </a:rPr>
              <a:t>** Subject </a:t>
            </a:r>
            <a:r>
              <a:rPr lang="en-US" sz="1200" b="1" dirty="0">
                <a:solidFill>
                  <a:srgbClr val="FF0000"/>
                </a:solidFill>
              </a:rPr>
              <a:t>to a semantic distance rule for proximity to </a:t>
            </a:r>
            <a:r>
              <a:rPr lang="en-US" sz="1200" b="1" dirty="0" smtClean="0">
                <a:solidFill>
                  <a:srgbClr val="FF0000"/>
                </a:solidFill>
              </a:rPr>
              <a:t>Core Package</a:t>
            </a:r>
            <a:endParaRPr lang="en-US" sz="1200" b="1" dirty="0">
              <a:solidFill>
                <a:srgbClr val="FF0000"/>
              </a:solidFill>
            </a:endParaRPr>
          </a:p>
        </p:txBody>
      </p:sp>
      <p:sp>
        <p:nvSpPr>
          <p:cNvPr id="4" name="Date Placeholder 3"/>
          <p:cNvSpPr>
            <a:spLocks noGrp="1"/>
          </p:cNvSpPr>
          <p:nvPr>
            <p:ph type="dt" sz="half" idx="10"/>
          </p:nvPr>
        </p:nvSpPr>
        <p:spPr/>
        <p:txBody>
          <a:bodyPr/>
          <a:lstStyle/>
          <a:p>
            <a:fld id="{742EEC13-D37A-4FB7-8564-7164645B8894}" type="datetime1">
              <a:rPr lang="en-US" smtClean="0"/>
              <a:t>6/14/2016</a:t>
            </a:fld>
            <a:endParaRPr lang="en-US" dirty="0"/>
          </a:p>
        </p:txBody>
      </p:sp>
      <p:sp>
        <p:nvSpPr>
          <p:cNvPr id="11" name="Slide Number Placeholder 10"/>
          <p:cNvSpPr>
            <a:spLocks noGrp="1"/>
          </p:cNvSpPr>
          <p:nvPr>
            <p:ph type="sldNum" sz="quarter" idx="12"/>
          </p:nvPr>
        </p:nvSpPr>
        <p:spPr/>
        <p:txBody>
          <a:bodyPr/>
          <a:lstStyle/>
          <a:p>
            <a:fld id="{C8701F13-D499-404E-A11B-CE66F4C6465F}" type="slidenum">
              <a:rPr lang="en-US" smtClean="0"/>
              <a:t>14</a:t>
            </a:fld>
            <a:endParaRPr lang="en-US" dirty="0"/>
          </a:p>
        </p:txBody>
      </p:sp>
    </p:spTree>
    <p:extLst>
      <p:ext uri="{BB962C8B-B14F-4D97-AF65-F5344CB8AC3E}">
        <p14:creationId xmlns:p14="http://schemas.microsoft.com/office/powerpoint/2010/main" val="88397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par>
                                <p:cTn id="35" presetID="10"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500"/>
                                        <p:tgtEl>
                                          <p:spTgt spid="6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4"/>
                                        </p:tgtEl>
                                        <p:attrNameLst>
                                          <p:attrName>style.visibility</p:attrName>
                                        </p:attrNameLst>
                                      </p:cBhvr>
                                      <p:to>
                                        <p:strVal val="visible"/>
                                      </p:to>
                                    </p:set>
                                    <p:animEffect transition="in" filter="fade">
                                      <p:cBhvr>
                                        <p:cTn id="46" dur="500"/>
                                        <p:tgtEl>
                                          <p:spTgt spid="6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8" grpId="0"/>
      <p:bldP spid="34" grpId="0"/>
      <p:bldP spid="36" grpId="0"/>
      <p:bldP spid="37" grpId="0"/>
      <p:bldP spid="57" grpId="0"/>
      <p:bldP spid="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 Meta </a:t>
            </a:r>
            <a:r>
              <a:rPr lang="en-US" dirty="0"/>
              <a:t>Modeling </a:t>
            </a:r>
            <a:r>
              <a:rPr lang="en-US" dirty="0" smtClean="0"/>
              <a:t>Approach</a:t>
            </a:r>
            <a:r>
              <a:rPr lang="en-US" dirty="0"/>
              <a:t/>
            </a:r>
            <a:br>
              <a:rPr lang="en-US" dirty="0"/>
            </a:br>
            <a:r>
              <a:rPr lang="en-US" sz="3100" b="1" dirty="0" smtClean="0">
                <a:solidFill>
                  <a:schemeClr val="bg2">
                    <a:lumMod val="50000"/>
                  </a:schemeClr>
                </a:solidFill>
              </a:rPr>
              <a:t>Some New Thinking</a:t>
            </a:r>
            <a:endParaRPr lang="en-US" sz="3100" dirty="0"/>
          </a:p>
        </p:txBody>
      </p:sp>
      <p:sp>
        <p:nvSpPr>
          <p:cNvPr id="3" name="Content Placeholder 2"/>
          <p:cNvSpPr>
            <a:spLocks noGrp="1"/>
          </p:cNvSpPr>
          <p:nvPr>
            <p:ph idx="1"/>
          </p:nvPr>
        </p:nvSpPr>
        <p:spPr>
          <a:xfrm>
            <a:off x="129209" y="1524000"/>
            <a:ext cx="8862391" cy="5029200"/>
          </a:xfrm>
        </p:spPr>
        <p:txBody>
          <a:bodyPr>
            <a:normAutofit/>
          </a:bodyPr>
          <a:lstStyle/>
          <a:p>
            <a:pPr marL="0" indent="0">
              <a:buNone/>
            </a:pPr>
            <a:r>
              <a:rPr lang="en-US" sz="2000" dirty="0" smtClean="0">
                <a:solidFill>
                  <a:srgbClr val="C00000"/>
                </a:solidFill>
              </a:rPr>
              <a:t>As a centralizing standard with respect to other, related architecture descriptions, the BA MM’s semantics should be engineered to be connectible to these other architecture descriptions through an explicit mechanism while preserving internal structure needed by a BA to support its various scenarios</a:t>
            </a:r>
          </a:p>
          <a:p>
            <a:endParaRPr lang="en-US" sz="1600" dirty="0" smtClean="0"/>
          </a:p>
          <a:p>
            <a:r>
              <a:rPr lang="en-US" sz="1600" dirty="0" smtClean="0"/>
              <a:t>Packages added to the Core will be introduced that are built around a central concept (making this somewhat more like an ontology modeling exercise than a pure MOF-based effort)</a:t>
            </a:r>
          </a:p>
          <a:p>
            <a:endParaRPr lang="en-US" sz="1600" dirty="0" smtClean="0"/>
          </a:p>
          <a:p>
            <a:r>
              <a:rPr lang="en-US" sz="1600" dirty="0" smtClean="0"/>
              <a:t>Stereotypes will be called out that support the conceptual distinctions needed to make a BA a practical construct that is comparable to other BAs </a:t>
            </a:r>
            <a:r>
              <a:rPr lang="en-US" sz="1600" u="sng" dirty="0" smtClean="0"/>
              <a:t>and</a:t>
            </a:r>
            <a:r>
              <a:rPr lang="en-US" sz="1600" dirty="0" smtClean="0"/>
              <a:t> has impactful value to a specific business</a:t>
            </a:r>
          </a:p>
          <a:p>
            <a:endParaRPr lang="en-US" sz="1600" dirty="0"/>
          </a:p>
          <a:p>
            <a:r>
              <a:rPr lang="en-US" sz="1600" dirty="0" smtClean="0"/>
              <a:t>Proxies will be used to resolve and disambiguate conceptual, relationship, and granularity differences between BA MM concepts and concepts in other, related architecture descriptions, standards, etc.</a:t>
            </a:r>
          </a:p>
          <a:p>
            <a:pPr lvl="1"/>
            <a:r>
              <a:rPr lang="en-US" sz="1400" dirty="0" smtClean="0"/>
              <a:t>This is similar to the use of a “remote proxy” design pattern that provides a “local representative for an object in a different address space” (see pp. 207-217 in </a:t>
            </a:r>
            <a:r>
              <a:rPr lang="en-US" sz="1400" u="sng" dirty="0" smtClean="0"/>
              <a:t>Design Patterns – Elements of Reusable Object-Oriented Software</a:t>
            </a:r>
            <a:r>
              <a:rPr lang="en-US" sz="1400" dirty="0" smtClean="0"/>
              <a:t>, by Erich Gamma, Richard Helm, Ralph Johnson, and John Vlissides, 1995)</a:t>
            </a:r>
          </a:p>
          <a:p>
            <a:pPr lvl="1"/>
            <a:r>
              <a:rPr lang="en-US" sz="1400" dirty="0" smtClean="0"/>
              <a:t>A potential approach and basis for this approach is suggested in an academic treatment in 2001 (see </a:t>
            </a:r>
            <a:r>
              <a:rPr lang="en-US" sz="1400" dirty="0" smtClean="0">
                <a:hlinkClick r:id="rId2" invalidUrl="http://www.math.u-szeged.hu/tagok/mmaroti/pdf/2001 On metamodel composition.pdf"/>
              </a:rPr>
              <a:t>http</a:t>
            </a:r>
            <a:r>
              <a:rPr lang="en-US" sz="1400" dirty="0">
                <a:hlinkClick r:id="rId2" invalidUrl="http://www.math.u-szeged.hu/tagok/mmaroti/pdf/2001 On metamodel composition.pdf"/>
              </a:rPr>
              <a:t>://</a:t>
            </a:r>
            <a:r>
              <a:rPr lang="en-US" sz="1400" dirty="0" smtClean="0">
                <a:hlinkClick r:id="rId2" invalidUrl="http://www.math.u-szeged.hu/tagok/mmaroti/pdf/2001 On metamodel composition.pdf"/>
              </a:rPr>
              <a:t>www.math.u-szeged.hu/tagok/mmaroti/pdf/2001%20On%20metamodel%20composition.pdf</a:t>
            </a:r>
            <a:r>
              <a:rPr lang="en-US" sz="1400" dirty="0" smtClean="0"/>
              <a:t>)</a:t>
            </a:r>
          </a:p>
        </p:txBody>
      </p:sp>
      <p:sp>
        <p:nvSpPr>
          <p:cNvPr id="4" name="Date Placeholder 3"/>
          <p:cNvSpPr>
            <a:spLocks noGrp="1"/>
          </p:cNvSpPr>
          <p:nvPr>
            <p:ph type="dt" sz="half" idx="10"/>
          </p:nvPr>
        </p:nvSpPr>
        <p:spPr/>
        <p:txBody>
          <a:bodyPr/>
          <a:lstStyle/>
          <a:p>
            <a:fld id="{829BA3FE-EF36-42B9-9FB7-375190C38A32}"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15</a:t>
            </a:fld>
            <a:endParaRPr lang="en-US" dirty="0"/>
          </a:p>
        </p:txBody>
      </p:sp>
    </p:spTree>
    <p:extLst>
      <p:ext uri="{BB962C8B-B14F-4D97-AF65-F5344CB8AC3E}">
        <p14:creationId xmlns:p14="http://schemas.microsoft.com/office/powerpoint/2010/main" val="2780147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44562"/>
          </a:xfrm>
        </p:spPr>
        <p:txBody>
          <a:bodyPr>
            <a:normAutofit fontScale="90000"/>
          </a:bodyPr>
          <a:lstStyle/>
          <a:p>
            <a:r>
              <a:rPr lang="en-US" dirty="0" smtClean="0"/>
              <a:t>Key BA Meta Modeling Concepts</a:t>
            </a:r>
            <a:r>
              <a:rPr lang="en-US" dirty="0"/>
              <a:t/>
            </a:r>
            <a:br>
              <a:rPr lang="en-US" dirty="0"/>
            </a:br>
            <a:r>
              <a:rPr lang="en-US" sz="3100" b="1" dirty="0" smtClean="0">
                <a:solidFill>
                  <a:schemeClr val="bg2">
                    <a:lumMod val="50000"/>
                  </a:schemeClr>
                </a:solidFill>
              </a:rPr>
              <a:t>Packages, Stereotypes, &amp; Proxies</a:t>
            </a:r>
            <a:endParaRPr lang="en-US" b="1" dirty="0">
              <a:solidFill>
                <a:schemeClr val="bg2">
                  <a:lumMod val="50000"/>
                </a:schemeClr>
              </a:solidFill>
            </a:endParaRPr>
          </a:p>
        </p:txBody>
      </p:sp>
      <p:sp>
        <p:nvSpPr>
          <p:cNvPr id="5" name="Content Placeholder 4"/>
          <p:cNvSpPr>
            <a:spLocks noGrp="1"/>
          </p:cNvSpPr>
          <p:nvPr>
            <p:ph idx="1"/>
          </p:nvPr>
        </p:nvSpPr>
        <p:spPr>
          <a:xfrm>
            <a:off x="228600" y="1600200"/>
            <a:ext cx="8763000" cy="4800600"/>
          </a:xfrm>
        </p:spPr>
        <p:txBody>
          <a:bodyPr>
            <a:normAutofit fontScale="70000" lnSpcReduction="20000"/>
          </a:bodyPr>
          <a:lstStyle/>
          <a:p>
            <a:r>
              <a:rPr lang="en-US" b="1" dirty="0" smtClean="0"/>
              <a:t>Packages</a:t>
            </a:r>
            <a:r>
              <a:rPr lang="en-US" dirty="0" smtClean="0"/>
              <a:t> define </a:t>
            </a:r>
            <a:r>
              <a:rPr lang="en-US" b="1" dirty="0" smtClean="0"/>
              <a:t>Viewpoints</a:t>
            </a:r>
            <a:r>
              <a:rPr lang="en-US" dirty="0" smtClean="0"/>
              <a:t> and associated </a:t>
            </a:r>
            <a:r>
              <a:rPr lang="en-US" b="1" dirty="0" smtClean="0"/>
              <a:t>Views</a:t>
            </a:r>
            <a:r>
              <a:rPr lang="en-US" dirty="0" smtClean="0"/>
              <a:t>, with a central concept in each package that is within the semantic distance rule constraint with respect to </a:t>
            </a:r>
            <a:r>
              <a:rPr lang="en-US" b="1" dirty="0" smtClean="0"/>
              <a:t>Capability</a:t>
            </a:r>
            <a:r>
              <a:rPr lang="en-US" i="1" dirty="0" smtClean="0"/>
              <a:t> </a:t>
            </a:r>
            <a:r>
              <a:rPr lang="en-US" dirty="0" smtClean="0"/>
              <a:t>(generally not more than 2 hops), allowing further elaboration around that central concept in the package</a:t>
            </a:r>
          </a:p>
          <a:p>
            <a:endParaRPr lang="en-US" dirty="0" smtClean="0"/>
          </a:p>
          <a:p>
            <a:r>
              <a:rPr lang="en-US" b="1" dirty="0" smtClean="0"/>
              <a:t>Stereotypes</a:t>
            </a:r>
            <a:r>
              <a:rPr lang="en-US" dirty="0" smtClean="0"/>
              <a:t> are used:  </a:t>
            </a:r>
            <a:r>
              <a:rPr lang="en-US" i="1" dirty="0" smtClean="0"/>
              <a:t>&lt;&lt;generic&gt;&gt; </a:t>
            </a:r>
            <a:r>
              <a:rPr lang="en-US" dirty="0" smtClean="0"/>
              <a:t>is applied to concepts that are used to describe things in a similar way across multiple and different business domains, while </a:t>
            </a:r>
            <a:r>
              <a:rPr lang="en-US" i="1" dirty="0" smtClean="0"/>
              <a:t>&lt;&lt;specific&gt;&gt; </a:t>
            </a:r>
            <a:r>
              <a:rPr lang="en-US" dirty="0" smtClean="0"/>
              <a:t>is applied to concepts that are used to describe business-specific realizations within a specific domain</a:t>
            </a:r>
          </a:p>
          <a:p>
            <a:endParaRPr lang="en-US" dirty="0" smtClean="0"/>
          </a:p>
          <a:p>
            <a:r>
              <a:rPr lang="en-US" b="1" dirty="0" smtClean="0"/>
              <a:t>Proxies</a:t>
            </a:r>
            <a:r>
              <a:rPr lang="en-US" dirty="0" smtClean="0"/>
              <a:t> are used – elements from outside the BA MM map through proxy elements (another stereotype) so as to position concepts that relate to things in the BA MM in a way that allows other architecture descriptions, related OMG standards, and other expressions lacking formal meta models to be mapped simply and straightforwardly</a:t>
            </a:r>
            <a:endParaRPr lang="en-US" dirty="0"/>
          </a:p>
        </p:txBody>
      </p:sp>
      <p:sp>
        <p:nvSpPr>
          <p:cNvPr id="3" name="Date Placeholder 2"/>
          <p:cNvSpPr>
            <a:spLocks noGrp="1"/>
          </p:cNvSpPr>
          <p:nvPr>
            <p:ph type="dt" sz="half" idx="10"/>
          </p:nvPr>
        </p:nvSpPr>
        <p:spPr/>
        <p:txBody>
          <a:bodyPr/>
          <a:lstStyle/>
          <a:p>
            <a:fld id="{FF09B487-E0E7-41FD-A605-EE8733A9EA65}"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16</a:t>
            </a:fld>
            <a:endParaRPr lang="en-US" dirty="0"/>
          </a:p>
        </p:txBody>
      </p:sp>
    </p:spTree>
    <p:extLst>
      <p:ext uri="{BB962C8B-B14F-4D97-AF65-F5344CB8AC3E}">
        <p14:creationId xmlns:p14="http://schemas.microsoft.com/office/powerpoint/2010/main" val="227084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095" y="4973717"/>
            <a:ext cx="3352800" cy="1807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761" y="1905000"/>
            <a:ext cx="5337332"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33800"/>
            <a:ext cx="4572000" cy="3124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517089"/>
            <a:ext cx="4267200" cy="24105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6858000" y="2080829"/>
            <a:ext cx="1143000" cy="461665"/>
          </a:xfrm>
          <a:prstGeom prst="rect">
            <a:avLst/>
          </a:prstGeom>
          <a:noFill/>
        </p:spPr>
        <p:txBody>
          <a:bodyPr wrap="square" rtlCol="0">
            <a:spAutoFit/>
          </a:bodyPr>
          <a:lstStyle/>
          <a:p>
            <a:pPr algn="ctr"/>
            <a:r>
              <a:rPr lang="en-US" sz="1200" b="1" dirty="0" smtClean="0"/>
              <a:t>Organization Package</a:t>
            </a:r>
            <a:endParaRPr lang="en-US" sz="1200" b="1" dirty="0"/>
          </a:p>
        </p:txBody>
      </p:sp>
      <p:sp>
        <p:nvSpPr>
          <p:cNvPr id="9" name="TextBox 8"/>
          <p:cNvSpPr txBox="1"/>
          <p:nvPr/>
        </p:nvSpPr>
        <p:spPr>
          <a:xfrm>
            <a:off x="1647695" y="6091535"/>
            <a:ext cx="1066800" cy="461665"/>
          </a:xfrm>
          <a:prstGeom prst="rect">
            <a:avLst/>
          </a:prstGeom>
          <a:noFill/>
        </p:spPr>
        <p:txBody>
          <a:bodyPr wrap="square" rtlCol="0">
            <a:spAutoFit/>
          </a:bodyPr>
          <a:lstStyle/>
          <a:p>
            <a:pPr algn="ctr"/>
            <a:r>
              <a:rPr lang="en-US" sz="1200" b="1" dirty="0" smtClean="0"/>
              <a:t>Information Package</a:t>
            </a:r>
            <a:endParaRPr lang="en-US" sz="1200" b="1" dirty="0"/>
          </a:p>
        </p:txBody>
      </p:sp>
      <p:sp>
        <p:nvSpPr>
          <p:cNvPr id="10" name="TextBox 9"/>
          <p:cNvSpPr txBox="1"/>
          <p:nvPr/>
        </p:nvSpPr>
        <p:spPr>
          <a:xfrm>
            <a:off x="5105400" y="6243935"/>
            <a:ext cx="762000" cy="461665"/>
          </a:xfrm>
          <a:prstGeom prst="rect">
            <a:avLst/>
          </a:prstGeom>
          <a:noFill/>
        </p:spPr>
        <p:txBody>
          <a:bodyPr wrap="square" rtlCol="0">
            <a:spAutoFit/>
          </a:bodyPr>
          <a:lstStyle/>
          <a:p>
            <a:pPr algn="ctr"/>
            <a:r>
              <a:rPr lang="en-US" sz="1200" b="1" dirty="0" smtClean="0"/>
              <a:t>Value Package</a:t>
            </a:r>
            <a:endParaRPr lang="en-US" sz="1200" b="1" dirty="0"/>
          </a:p>
        </p:txBody>
      </p:sp>
      <p:sp>
        <p:nvSpPr>
          <p:cNvPr id="7" name="Left Brace 6"/>
          <p:cNvSpPr/>
          <p:nvPr/>
        </p:nvSpPr>
        <p:spPr>
          <a:xfrm>
            <a:off x="887361" y="1905000"/>
            <a:ext cx="301468" cy="2819400"/>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extBox 11"/>
          <p:cNvSpPr txBox="1"/>
          <p:nvPr/>
        </p:nvSpPr>
        <p:spPr>
          <a:xfrm>
            <a:off x="-152400" y="3048000"/>
            <a:ext cx="1115961" cy="523220"/>
          </a:xfrm>
          <a:prstGeom prst="rect">
            <a:avLst/>
          </a:prstGeom>
          <a:noFill/>
        </p:spPr>
        <p:txBody>
          <a:bodyPr wrap="square" rtlCol="0">
            <a:spAutoFit/>
          </a:bodyPr>
          <a:lstStyle/>
          <a:p>
            <a:pPr algn="ctr"/>
            <a:r>
              <a:rPr lang="en-US" sz="1400" b="1" dirty="0" smtClean="0"/>
              <a:t>Capability Package</a:t>
            </a:r>
            <a:endParaRPr lang="en-US" sz="1400" b="1" dirty="0"/>
          </a:p>
        </p:txBody>
      </p:sp>
      <p:sp>
        <p:nvSpPr>
          <p:cNvPr id="11" name="Title 10"/>
          <p:cNvSpPr>
            <a:spLocks noGrp="1"/>
          </p:cNvSpPr>
          <p:nvPr>
            <p:ph type="title"/>
          </p:nvPr>
        </p:nvSpPr>
        <p:spPr>
          <a:xfrm>
            <a:off x="0" y="0"/>
            <a:ext cx="9144000" cy="517089"/>
          </a:xfrm>
        </p:spPr>
        <p:txBody>
          <a:bodyPr>
            <a:normAutofit fontScale="90000"/>
          </a:bodyPr>
          <a:lstStyle/>
          <a:p>
            <a:r>
              <a:rPr lang="en-US" dirty="0" smtClean="0"/>
              <a:t>BA MM Core Packages</a:t>
            </a:r>
            <a:endParaRPr lang="en-US" dirty="0"/>
          </a:p>
        </p:txBody>
      </p:sp>
      <p:sp>
        <p:nvSpPr>
          <p:cNvPr id="2" name="Date Placeholder 1"/>
          <p:cNvSpPr>
            <a:spLocks noGrp="1"/>
          </p:cNvSpPr>
          <p:nvPr>
            <p:ph type="dt" sz="half" idx="10"/>
          </p:nvPr>
        </p:nvSpPr>
        <p:spPr/>
        <p:txBody>
          <a:bodyPr/>
          <a:lstStyle/>
          <a:p>
            <a:fld id="{AD6CA062-A04D-4A52-99A9-75AF55ECD191}" type="datetime1">
              <a:rPr lang="en-US" smtClean="0"/>
              <a:t>6/14/2016</a:t>
            </a:fld>
            <a:endParaRPr lang="en-US" dirty="0"/>
          </a:p>
        </p:txBody>
      </p:sp>
      <p:sp>
        <p:nvSpPr>
          <p:cNvPr id="13" name="Slide Number Placeholder 12"/>
          <p:cNvSpPr>
            <a:spLocks noGrp="1"/>
          </p:cNvSpPr>
          <p:nvPr>
            <p:ph type="sldNum" sz="quarter" idx="12"/>
          </p:nvPr>
        </p:nvSpPr>
        <p:spPr/>
        <p:txBody>
          <a:bodyPr/>
          <a:lstStyle/>
          <a:p>
            <a:fld id="{C8701F13-D499-404E-A11B-CE66F4C6465F}" type="slidenum">
              <a:rPr lang="en-US" smtClean="0"/>
              <a:t>17</a:t>
            </a:fld>
            <a:endParaRPr lang="en-US" dirty="0"/>
          </a:p>
        </p:txBody>
      </p:sp>
    </p:spTree>
    <p:extLst>
      <p:ext uri="{BB962C8B-B14F-4D97-AF65-F5344CB8AC3E}">
        <p14:creationId xmlns:p14="http://schemas.microsoft.com/office/powerpoint/2010/main" val="90746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7"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 MM Concept Definitions</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684223434"/>
              </p:ext>
            </p:extLst>
          </p:nvPr>
        </p:nvGraphicFramePr>
        <p:xfrm>
          <a:off x="457201" y="1617663"/>
          <a:ext cx="8153400" cy="4062450"/>
        </p:xfrm>
        <a:graphic>
          <a:graphicData uri="http://schemas.openxmlformats.org/drawingml/2006/table">
            <a:tbl>
              <a:tblPr firstRow="1" bandRow="1">
                <a:tableStyleId>{5C22544A-7EE6-4342-B048-85BDC9FD1C3A}</a:tableStyleId>
              </a:tblPr>
              <a:tblGrid>
                <a:gridCol w="1873185"/>
                <a:gridCol w="6280215"/>
              </a:tblGrid>
              <a:tr h="230345">
                <a:tc>
                  <a:txBody>
                    <a:bodyPr/>
                    <a:lstStyle/>
                    <a:p>
                      <a:pPr algn="ctr" rtl="0" fontAlgn="ctr"/>
                      <a:r>
                        <a:rPr lang="en-US" sz="1300" u="none" strike="noStrike" dirty="0">
                          <a:effectLst/>
                        </a:rPr>
                        <a:t>Concept</a:t>
                      </a:r>
                      <a:endParaRPr lang="en-US" sz="1300" b="1" i="0" u="none" strike="noStrike" dirty="0">
                        <a:solidFill>
                          <a:srgbClr val="FFFFFF"/>
                        </a:solidFill>
                        <a:effectLst/>
                        <a:latin typeface="Calibri" charset="0"/>
                      </a:endParaRPr>
                    </a:p>
                  </a:txBody>
                  <a:tcPr marL="10470" marR="10470" marT="10470" marB="0" anchor="ctr"/>
                </a:tc>
                <a:tc>
                  <a:txBody>
                    <a:bodyPr/>
                    <a:lstStyle/>
                    <a:p>
                      <a:pPr algn="ctr" rtl="0" fontAlgn="ctr"/>
                      <a:r>
                        <a:rPr lang="en-US" sz="1300" u="none" strike="noStrike" dirty="0">
                          <a:effectLst/>
                        </a:rPr>
                        <a:t>Definition</a:t>
                      </a:r>
                      <a:endParaRPr lang="en-US" sz="1300" b="1" i="0" u="none" strike="noStrike" dirty="0">
                        <a:solidFill>
                          <a:srgbClr val="FFFFFF"/>
                        </a:solidFill>
                        <a:effectLst/>
                        <a:latin typeface="Calibri" charset="0"/>
                      </a:endParaRPr>
                    </a:p>
                  </a:txBody>
                  <a:tcPr marL="10470" marR="10470" marT="10470" marB="0" anchor="ctr"/>
                </a:tc>
              </a:tr>
              <a:tr h="460690">
                <a:tc>
                  <a:txBody>
                    <a:bodyPr/>
                    <a:lstStyle/>
                    <a:p>
                      <a:pPr algn="l" rtl="0" fontAlgn="ctr"/>
                      <a:r>
                        <a:rPr lang="en-US" sz="1300" u="none" strike="noStrike" dirty="0">
                          <a:effectLst/>
                        </a:rPr>
                        <a:t>Capability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particular  ability  or  capacity  that  a  business  may  possess  or  exchange  to  achieve  a  </a:t>
                      </a:r>
                      <a:r>
                        <a:rPr lang="en-US" sz="1300" u="none" strike="noStrike" dirty="0" smtClean="0">
                          <a:effectLst/>
                        </a:rPr>
                        <a:t>specific</a:t>
                      </a:r>
                      <a:r>
                        <a:rPr lang="en-US" sz="1300" u="none" strike="noStrike" dirty="0">
                          <a:effectLst/>
                        </a:rPr>
                        <a:t>  purpose  or  outcome</a:t>
                      </a:r>
                      <a:r>
                        <a:rPr lang="en-US" sz="1300" u="none" strike="noStrike" dirty="0" smtClean="0">
                          <a:effectLst/>
                        </a:rPr>
                        <a:t>.* </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u="none" strike="noStrike" dirty="0">
                          <a:effectLst/>
                        </a:rPr>
                        <a:t>Capability Instance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distinct implementation of a capability, as it is utilized within a specific business unit, value  stream,  or  other  deployment. </a:t>
                      </a:r>
                      <a:endParaRPr lang="en-US" sz="1300" b="0" i="0" u="none" strike="noStrike" dirty="0">
                        <a:solidFill>
                          <a:srgbClr val="000000"/>
                        </a:solidFill>
                        <a:effectLst/>
                        <a:latin typeface="Calibri" charset="0"/>
                      </a:endParaRPr>
                    </a:p>
                  </a:txBody>
                  <a:tcPr marL="10470" marR="10470" marT="10470" marB="0" anchor="ctr"/>
                </a:tc>
              </a:tr>
              <a:tr h="230345">
                <a:tc>
                  <a:txBody>
                    <a:bodyPr/>
                    <a:lstStyle/>
                    <a:p>
                      <a:pPr algn="l" rtl="0" fontAlgn="ctr"/>
                      <a:r>
                        <a:rPr lang="en-US" sz="1300" u="none" strike="noStrike" dirty="0">
                          <a:effectLst/>
                        </a:rPr>
                        <a:t>Categorized Capability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sk-SK" sz="1300" u="none" strike="noStrike" dirty="0">
                          <a:effectLst/>
                        </a:rPr>
                        <a:t> </a:t>
                      </a:r>
                      <a:r>
                        <a:rPr lang="en-US" sz="1300" u="none" strike="noStrike" dirty="0" smtClean="0">
                          <a:effectLst/>
                        </a:rPr>
                        <a:t>A logical grouping</a:t>
                      </a:r>
                      <a:r>
                        <a:rPr lang="en-US" sz="1300" u="none" strike="noStrike" baseline="0" dirty="0" smtClean="0">
                          <a:effectLst/>
                        </a:rPr>
                        <a:t> of capabilities that facilitates searching for related capabilities</a:t>
                      </a:r>
                      <a:endParaRPr lang="sk-SK" sz="1300" b="0" i="0" u="none" strike="noStrike" dirty="0">
                        <a:solidFill>
                          <a:srgbClr val="000000"/>
                        </a:solidFill>
                        <a:effectLst/>
                        <a:latin typeface="Calibri" charset="0"/>
                      </a:endParaRPr>
                    </a:p>
                  </a:txBody>
                  <a:tcPr marL="10470" marR="10470" marT="10470" marB="0" anchor="ctr"/>
                </a:tc>
              </a:tr>
              <a:tr h="670095">
                <a:tc>
                  <a:txBody>
                    <a:bodyPr/>
                    <a:lstStyle/>
                    <a:p>
                      <a:pPr algn="l" rtl="0" fontAlgn="ctr"/>
                      <a:r>
                        <a:rPr lang="en-US" sz="1300" u="none" strike="noStrike" dirty="0">
                          <a:effectLst/>
                        </a:rPr>
                        <a:t>Outcome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An end result or final product that is a consequence of an event, action, or a series of </a:t>
                      </a:r>
                      <a:r>
                        <a:rPr lang="en-US" sz="1300" u="none" strike="noStrike" dirty="0" smtClean="0">
                          <a:effectLst/>
                        </a:rPr>
                        <a:t>events / actions</a:t>
                      </a:r>
                      <a:r>
                        <a:rPr lang="en-US" sz="1300" u="none" strike="noStrike" dirty="0">
                          <a:effectLst/>
                        </a:rPr>
                        <a:t>. For example, a strategy, an initiative, or a value stream would produce an outcome.</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b="0" i="0" u="none" strike="noStrike" dirty="0" smtClean="0">
                          <a:solidFill>
                            <a:srgbClr val="000000"/>
                          </a:solidFill>
                          <a:effectLst/>
                          <a:latin typeface="Calibri" charset="0"/>
                        </a:rPr>
                        <a:t>Produced Outcome</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Outcome produced by a capability</a:t>
                      </a:r>
                      <a:r>
                        <a:rPr lang="en-US" sz="1300" b="0" i="0" u="none" strike="noStrike" baseline="0" dirty="0" smtClean="0">
                          <a:solidFill>
                            <a:srgbClr val="000000"/>
                          </a:solidFill>
                          <a:effectLst/>
                          <a:latin typeface="Calibri" charset="0"/>
                        </a:rPr>
                        <a:t> being realized</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b="0" i="0" u="none" strike="noStrike" dirty="0" smtClean="0">
                          <a:solidFill>
                            <a:srgbClr val="000000"/>
                          </a:solidFill>
                          <a:effectLst/>
                          <a:latin typeface="Calibri" charset="0"/>
                        </a:rPr>
                        <a:t>Required Outcome</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Outcome required</a:t>
                      </a:r>
                      <a:r>
                        <a:rPr lang="en-US" sz="1300" b="0" i="0" u="none" strike="noStrike" baseline="0" dirty="0" smtClean="0">
                          <a:solidFill>
                            <a:srgbClr val="000000"/>
                          </a:solidFill>
                          <a:effectLst/>
                          <a:latin typeface="Calibri" charset="0"/>
                        </a:rPr>
                        <a:t> by a capability so it can be realized</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u="none" strike="noStrike" dirty="0">
                          <a:effectLst/>
                        </a:rPr>
                        <a:t>Organization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social  unit  of  people,  systematically  structured  and  managed to meet a need or  to  pursue  collective  goals  on  a  continuing  basis</a:t>
                      </a:r>
                      <a:endParaRPr lang="en-US" sz="1300" b="0" i="0" u="none" strike="noStrike" dirty="0">
                        <a:solidFill>
                          <a:srgbClr val="000000"/>
                        </a:solidFill>
                        <a:effectLst/>
                        <a:latin typeface="Calibri" charset="0"/>
                      </a:endParaRPr>
                    </a:p>
                  </a:txBody>
                  <a:tcPr marL="10470" marR="10470" marT="10470" marB="0" anchor="ctr"/>
                </a:tc>
              </a:tr>
              <a:tr h="670095">
                <a:tc>
                  <a:txBody>
                    <a:bodyPr/>
                    <a:lstStyle/>
                    <a:p>
                      <a:pPr algn="l" rtl="0" fontAlgn="ctr"/>
                      <a:r>
                        <a:rPr lang="en-US" sz="1300" u="none" strike="noStrike" dirty="0">
                          <a:effectLst/>
                        </a:rPr>
                        <a:t>Business Unit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logical element or segment of a company (such as accounting, production, marketing) representing a specific business function, and a definite place on the   organizational chart, under  the  domain  of  a  manager.  Also  called  department,  division</a:t>
                      </a:r>
                      <a:r>
                        <a:rPr lang="en-US" sz="1300" u="none" strike="noStrike" dirty="0" smtClean="0">
                          <a:effectLst/>
                        </a:rPr>
                        <a:t>, or </a:t>
                      </a:r>
                      <a:r>
                        <a:rPr lang="en-US" sz="1300" u="none" strike="noStrike" dirty="0">
                          <a:effectLst/>
                        </a:rPr>
                        <a:t>functional  area. </a:t>
                      </a:r>
                      <a:endParaRPr lang="en-US" sz="1300" b="0" i="0" u="none" strike="noStrike" dirty="0">
                        <a:solidFill>
                          <a:srgbClr val="000000"/>
                        </a:solidFill>
                        <a:effectLst/>
                        <a:latin typeface="Calibri" charset="0"/>
                      </a:endParaRPr>
                    </a:p>
                  </a:txBody>
                  <a:tcPr marL="10470" marR="10470" marT="10470" marB="0" anchor="ctr"/>
                </a:tc>
              </a:tr>
            </a:tbl>
          </a:graphicData>
        </a:graphic>
      </p:graphicFrame>
      <p:sp>
        <p:nvSpPr>
          <p:cNvPr id="4" name="Date Placeholder 3"/>
          <p:cNvSpPr>
            <a:spLocks noGrp="1"/>
          </p:cNvSpPr>
          <p:nvPr>
            <p:ph type="dt" sz="half" idx="10"/>
          </p:nvPr>
        </p:nvSpPr>
        <p:spPr/>
        <p:txBody>
          <a:bodyPr/>
          <a:lstStyle/>
          <a:p>
            <a:fld id="{B6AE0E61-55B0-49CE-ABE9-2857E0576588}"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18</a:t>
            </a:fld>
            <a:endParaRPr lang="en-US" dirty="0"/>
          </a:p>
        </p:txBody>
      </p:sp>
      <p:sp>
        <p:nvSpPr>
          <p:cNvPr id="7" name="TextBox 6"/>
          <p:cNvSpPr txBox="1"/>
          <p:nvPr/>
        </p:nvSpPr>
        <p:spPr>
          <a:xfrm>
            <a:off x="2199352" y="5898431"/>
            <a:ext cx="4658648" cy="730969"/>
          </a:xfrm>
          <a:prstGeom prst="rect">
            <a:avLst/>
          </a:prstGeom>
          <a:noFill/>
        </p:spPr>
        <p:txBody>
          <a:bodyPr wrap="none" rtlCol="0">
            <a:spAutoFit/>
          </a:bodyPr>
          <a:lstStyle/>
          <a:p>
            <a:pPr>
              <a:spcAft>
                <a:spcPts val="600"/>
              </a:spcAft>
            </a:pPr>
            <a:r>
              <a:rPr lang="en-US" sz="1050" i="1" dirty="0" smtClean="0"/>
              <a:t>*Ulrich </a:t>
            </a:r>
            <a:r>
              <a:rPr lang="en-US" sz="1050" i="1" dirty="0"/>
              <a:t>Homann, “A Business-Oriented Foundation for Service Orientation”, 2006</a:t>
            </a:r>
            <a:r>
              <a:rPr lang="en-US" sz="1050" i="1" dirty="0" smtClean="0"/>
              <a:t>.</a:t>
            </a:r>
          </a:p>
          <a:p>
            <a:pPr>
              <a:spcAft>
                <a:spcPts val="600"/>
              </a:spcAft>
            </a:pPr>
            <a:r>
              <a:rPr lang="en-US" sz="1050" i="1" dirty="0" smtClean="0"/>
              <a:t>Definition adopted by Open Group in “Business Capabilities Guide”, 2016</a:t>
            </a:r>
          </a:p>
          <a:p>
            <a:pPr>
              <a:spcAft>
                <a:spcPts val="600"/>
              </a:spcAft>
            </a:pPr>
            <a:r>
              <a:rPr lang="en-US" sz="1050" i="1" dirty="0" smtClean="0"/>
              <a:t>Definition adopted by Business Architecture Guild, BIZBOK® Guide, 2011</a:t>
            </a:r>
            <a:endParaRPr lang="en-US" sz="1050" i="1" dirty="0"/>
          </a:p>
        </p:txBody>
      </p:sp>
    </p:spTree>
    <p:extLst>
      <p:ext uri="{BB962C8B-B14F-4D97-AF65-F5344CB8AC3E}">
        <p14:creationId xmlns:p14="http://schemas.microsoft.com/office/powerpoint/2010/main" val="13484408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 MM Concept Definitions</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107026661"/>
              </p:ext>
            </p:extLst>
          </p:nvPr>
        </p:nvGraphicFramePr>
        <p:xfrm>
          <a:off x="152400" y="1553618"/>
          <a:ext cx="8686800" cy="3551782"/>
        </p:xfrm>
        <a:graphic>
          <a:graphicData uri="http://schemas.openxmlformats.org/drawingml/2006/table">
            <a:tbl>
              <a:tblPr firstRow="1" bandRow="1">
                <a:tableStyleId>{5C22544A-7EE6-4342-B048-85BDC9FD1C3A}</a:tableStyleId>
              </a:tblPr>
              <a:tblGrid>
                <a:gridCol w="1219200"/>
                <a:gridCol w="7467600"/>
              </a:tblGrid>
              <a:tr h="252893">
                <a:tc>
                  <a:txBody>
                    <a:bodyPr/>
                    <a:lstStyle/>
                    <a:p>
                      <a:pPr algn="ctr" rtl="0" fontAlgn="ctr"/>
                      <a:r>
                        <a:rPr lang="en-US" sz="1300" u="none" strike="noStrike" dirty="0">
                          <a:effectLst/>
                        </a:rPr>
                        <a:t>Concept</a:t>
                      </a:r>
                      <a:endParaRPr lang="en-US" sz="1300" b="1" i="0" u="none" strike="noStrike" dirty="0">
                        <a:solidFill>
                          <a:srgbClr val="FFFFFF"/>
                        </a:solidFill>
                        <a:effectLst/>
                        <a:latin typeface="Calibri" charset="0"/>
                      </a:endParaRPr>
                    </a:p>
                  </a:txBody>
                  <a:tcPr marL="10470" marR="10470" marT="10470" marB="0" anchor="ctr"/>
                </a:tc>
                <a:tc>
                  <a:txBody>
                    <a:bodyPr/>
                    <a:lstStyle/>
                    <a:p>
                      <a:pPr algn="ctr" rtl="0" fontAlgn="ctr"/>
                      <a:r>
                        <a:rPr lang="en-US" sz="1300" u="none" strike="noStrike" dirty="0">
                          <a:effectLst/>
                        </a:rPr>
                        <a:t>Definition</a:t>
                      </a:r>
                      <a:endParaRPr lang="en-US" sz="1300" b="1" i="0" u="none" strike="noStrike" dirty="0">
                        <a:solidFill>
                          <a:srgbClr val="FFFFFF"/>
                        </a:solidFill>
                        <a:effectLst/>
                        <a:latin typeface="Calibri" charset="0"/>
                      </a:endParaRPr>
                    </a:p>
                  </a:txBody>
                  <a:tcPr marL="10470" marR="10470" marT="10470" marB="0" anchor="ctr"/>
                </a:tc>
              </a:tr>
              <a:tr h="735690">
                <a:tc>
                  <a:txBody>
                    <a:bodyPr/>
                    <a:lstStyle/>
                    <a:p>
                      <a:pPr algn="l" rtl="0" fontAlgn="ctr"/>
                      <a:r>
                        <a:rPr lang="en-US" sz="1300" u="none" strike="noStrike" dirty="0">
                          <a:effectLst/>
                        </a:rPr>
                        <a:t>Information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Data  that  has  been  verified  to  be  accurate  and  timely,  is  specific  and  organized  for  a  purpose,  </a:t>
                      </a:r>
                      <a:endParaRPr lang="en-US" sz="1300" u="none" strike="noStrike" dirty="0" smtClean="0">
                        <a:effectLst/>
                      </a:endParaRPr>
                    </a:p>
                    <a:p>
                      <a:pPr algn="l" rtl="0" fontAlgn="ctr"/>
                      <a:r>
                        <a:rPr lang="en-US" sz="1300" u="none" strike="noStrike" dirty="0" smtClean="0">
                          <a:effectLst/>
                        </a:rPr>
                        <a:t>is</a:t>
                      </a:r>
                      <a:r>
                        <a:rPr lang="en-US" sz="1300" u="none" strike="noStrike" dirty="0">
                          <a:effectLst/>
                        </a:rPr>
                        <a:t>  presented  within  a  context  that  gives  it  meaning  and  relevance,  and  that  can  lead  to  an  </a:t>
                      </a:r>
                      <a:endParaRPr lang="en-US" sz="1300" u="none" strike="noStrike" dirty="0" smtClean="0">
                        <a:effectLst/>
                      </a:endParaRPr>
                    </a:p>
                    <a:p>
                      <a:pPr algn="l" rtl="0" fontAlgn="ctr"/>
                      <a:r>
                        <a:rPr lang="en-US" sz="1300" u="none" strike="noStrike" dirty="0" smtClean="0">
                          <a:effectLst/>
                        </a:rPr>
                        <a:t>increase</a:t>
                      </a:r>
                      <a:r>
                        <a:rPr lang="en-US" sz="1300" u="none" strike="noStrike" dirty="0">
                          <a:effectLst/>
                        </a:rPr>
                        <a:t>  in  understanding  and  decrease  in  uncertainty. </a:t>
                      </a:r>
                      <a:endParaRPr lang="en-US" sz="1300" b="0" i="0" u="none" strike="noStrike" dirty="0">
                        <a:solidFill>
                          <a:srgbClr val="000000"/>
                        </a:solidFill>
                        <a:effectLst/>
                        <a:latin typeface="Calibri" charset="0"/>
                      </a:endParaRPr>
                    </a:p>
                  </a:txBody>
                  <a:tcPr marL="10470" marR="10470" marT="10470" marB="0" anchor="ctr"/>
                </a:tc>
              </a:tr>
              <a:tr h="673615">
                <a:tc>
                  <a:txBody>
                    <a:bodyPr/>
                    <a:lstStyle/>
                    <a:p>
                      <a:pPr algn="l" rtl="0" fontAlgn="ctr"/>
                      <a:r>
                        <a:rPr lang="en-US" sz="1300" u="none" strike="noStrike" dirty="0">
                          <a:effectLst/>
                        </a:rPr>
                        <a:t>Value Stream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An  end-to</a:t>
                      </a:r>
                      <a:r>
                        <a:rPr lang="en-US" sz="1300" b="0" i="0" u="none" strike="noStrike" baseline="0" dirty="0" smtClean="0">
                          <a:solidFill>
                            <a:srgbClr val="000000"/>
                          </a:solidFill>
                          <a:effectLst/>
                          <a:latin typeface="Calibri" charset="0"/>
                        </a:rPr>
                        <a:t> end collection of activities that create a result for a customer, who may be the ultimate customer or an internal end user of the value stream</a:t>
                      </a:r>
                      <a:endParaRPr lang="en-US" sz="1300" b="0" i="0" u="none" strike="noStrike" dirty="0">
                        <a:solidFill>
                          <a:srgbClr val="000000"/>
                        </a:solidFill>
                        <a:effectLst/>
                        <a:latin typeface="Calibri" charset="0"/>
                      </a:endParaRPr>
                    </a:p>
                  </a:txBody>
                  <a:tcPr marL="10470" marR="10470" marT="10470" marB="0" anchor="ctr"/>
                </a:tc>
              </a:tr>
              <a:tr h="494291">
                <a:tc>
                  <a:txBody>
                    <a:bodyPr/>
                    <a:lstStyle/>
                    <a:p>
                      <a:pPr algn="l" rtl="0" fontAlgn="ctr"/>
                      <a:r>
                        <a:rPr lang="en-US" sz="1300" u="none" strike="noStrike" dirty="0">
                          <a:effectLst/>
                        </a:rPr>
                        <a:t>Value Stage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distinct,  identifiable  phase  or  step  within  a  value  stream  that  has  a  unique  name, entrance  criteria,  exit  criteria,  and  identifiable  participating  stakeholder(s).</a:t>
                      </a:r>
                      <a:endParaRPr lang="en-US" sz="1300" b="0" i="0" u="none" strike="noStrike" dirty="0">
                        <a:solidFill>
                          <a:srgbClr val="000000"/>
                        </a:solidFill>
                        <a:effectLst/>
                        <a:latin typeface="Calibri" charset="0"/>
                      </a:endParaRPr>
                    </a:p>
                  </a:txBody>
                  <a:tcPr marL="10470" marR="10470" marT="10470" marB="0" anchor="ctr"/>
                </a:tc>
              </a:tr>
              <a:tr h="735690">
                <a:tc>
                  <a:txBody>
                    <a:bodyPr/>
                    <a:lstStyle/>
                    <a:p>
                      <a:pPr algn="l" rtl="0" fontAlgn="ctr"/>
                      <a:r>
                        <a:rPr lang="en-US" sz="1300" u="none" strike="noStrike" dirty="0">
                          <a:effectLst/>
                        </a:rPr>
                        <a:t>Value Item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The  judgment  of  worth,  made  by  an  individual  or  organization,  attached  to  something  tangible  or  intangible  and  attained  in  the  course  of  a  particular  interaction  with  one  or more  other  parties. </a:t>
                      </a:r>
                      <a:endParaRPr lang="en-US" sz="1300" b="0" i="0" u="none" strike="noStrike" dirty="0">
                        <a:solidFill>
                          <a:srgbClr val="000000"/>
                        </a:solidFill>
                        <a:effectLst/>
                        <a:latin typeface="Calibri" charset="0"/>
                      </a:endParaRPr>
                    </a:p>
                  </a:txBody>
                  <a:tcPr marL="10470" marR="10470" marT="10470" marB="0" anchor="ctr"/>
                </a:tc>
              </a:tr>
              <a:tr h="252893">
                <a:tc>
                  <a:txBody>
                    <a:bodyPr/>
                    <a:lstStyle/>
                    <a:p>
                      <a:pPr algn="l" rtl="0" fontAlgn="ctr"/>
                      <a:r>
                        <a:rPr lang="en-US" sz="1300" u="none" strike="noStrike" dirty="0">
                          <a:effectLst/>
                        </a:rPr>
                        <a:t>Successor Stage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Provides a directional flow for a value stream to guide the alignment of the value stages </a:t>
                      </a:r>
                      <a:endParaRPr lang="en-US" sz="1300" b="0" i="0" u="none" strike="noStrike" dirty="0">
                        <a:solidFill>
                          <a:srgbClr val="000000"/>
                        </a:solidFill>
                        <a:effectLst/>
                        <a:latin typeface="Calibri" charset="0"/>
                      </a:endParaRPr>
                    </a:p>
                  </a:txBody>
                  <a:tcPr marL="10470" marR="10470" marT="10470" marB="0" anchor="ctr"/>
                </a:tc>
              </a:tr>
              <a:tr h="252893">
                <a:tc>
                  <a:txBody>
                    <a:bodyPr/>
                    <a:lstStyle/>
                    <a:p>
                      <a:pPr algn="l" rtl="0" fontAlgn="ctr"/>
                      <a:r>
                        <a:rPr lang="en-US" sz="1300" b="0" i="0" u="none" strike="noStrike" dirty="0" smtClean="0">
                          <a:solidFill>
                            <a:srgbClr val="000000"/>
                          </a:solidFill>
                          <a:effectLst/>
                          <a:latin typeface="Calibri" charset="0"/>
                        </a:rPr>
                        <a:t>Supported Value Stage</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Value</a:t>
                      </a:r>
                      <a:r>
                        <a:rPr lang="en-US" sz="1300" b="0" i="0" u="none" strike="noStrike" baseline="0" dirty="0" smtClean="0">
                          <a:solidFill>
                            <a:srgbClr val="000000"/>
                          </a:solidFill>
                          <a:effectLst/>
                          <a:latin typeface="Calibri" charset="0"/>
                        </a:rPr>
                        <a:t> stage in one or more value streams that is supported by a capability</a:t>
                      </a:r>
                      <a:endParaRPr lang="en-US" sz="1300" b="0" i="0" u="none" strike="noStrike" dirty="0">
                        <a:solidFill>
                          <a:srgbClr val="000000"/>
                        </a:solidFill>
                        <a:effectLst/>
                        <a:latin typeface="Calibri" charset="0"/>
                      </a:endParaRPr>
                    </a:p>
                  </a:txBody>
                  <a:tcPr marL="10470" marR="10470" marT="10470" marB="0" anchor="ctr"/>
                </a:tc>
              </a:tr>
            </a:tbl>
          </a:graphicData>
        </a:graphic>
      </p:graphicFrame>
      <p:sp>
        <p:nvSpPr>
          <p:cNvPr id="3" name="Date Placeholder 2"/>
          <p:cNvSpPr>
            <a:spLocks noGrp="1"/>
          </p:cNvSpPr>
          <p:nvPr>
            <p:ph type="dt" sz="half" idx="10"/>
          </p:nvPr>
        </p:nvSpPr>
        <p:spPr/>
        <p:txBody>
          <a:bodyPr/>
          <a:lstStyle/>
          <a:p>
            <a:fld id="{41B13DAB-9576-44E9-B1A6-6CB9A9345147}" type="datetime1">
              <a:rPr lang="en-US" smtClean="0"/>
              <a:t>6/14/2016</a:t>
            </a:fld>
            <a:endParaRPr lang="en-US" dirty="0"/>
          </a:p>
        </p:txBody>
      </p:sp>
      <p:sp>
        <p:nvSpPr>
          <p:cNvPr id="5" name="Slide Number Placeholder 4"/>
          <p:cNvSpPr>
            <a:spLocks noGrp="1"/>
          </p:cNvSpPr>
          <p:nvPr>
            <p:ph type="sldNum" sz="quarter" idx="12"/>
          </p:nvPr>
        </p:nvSpPr>
        <p:spPr/>
        <p:txBody>
          <a:bodyPr/>
          <a:lstStyle/>
          <a:p>
            <a:fld id="{C8701F13-D499-404E-A11B-CE66F4C6465F}" type="slidenum">
              <a:rPr lang="en-US" smtClean="0"/>
              <a:t>19</a:t>
            </a:fld>
            <a:endParaRPr lang="en-US" dirty="0"/>
          </a:p>
        </p:txBody>
      </p:sp>
    </p:spTree>
    <p:extLst>
      <p:ext uri="{BB962C8B-B14F-4D97-AF65-F5344CB8AC3E}">
        <p14:creationId xmlns:p14="http://schemas.microsoft.com/office/powerpoint/2010/main" val="536186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BA MM alignment with vdml mm</a:t>
            </a:r>
            <a:endParaRPr lang="en-US" sz="3600" dirty="0">
              <a:solidFill>
                <a:schemeClr val="tx2"/>
              </a:solidFill>
            </a:endParaRPr>
          </a:p>
        </p:txBody>
      </p:sp>
      <p:sp>
        <p:nvSpPr>
          <p:cNvPr id="5" name="Text Placeholder 4"/>
          <p:cNvSpPr>
            <a:spLocks noGrp="1"/>
          </p:cNvSpPr>
          <p:nvPr>
            <p:ph type="body" idx="1"/>
          </p:nvPr>
        </p:nvSpPr>
        <p:spPr>
          <a:xfrm>
            <a:off x="533400" y="3881437"/>
            <a:ext cx="8040688" cy="1985963"/>
          </a:xfrm>
        </p:spPr>
        <p:txBody>
          <a:bodyPr anchor="t">
            <a:normAutofit lnSpcReduction="10000"/>
          </a:bodyPr>
          <a:lstStyle/>
          <a:p>
            <a:r>
              <a:rPr lang="en-US" sz="1600" b="1" dirty="0">
                <a:solidFill>
                  <a:schemeClr val="bg1">
                    <a:lumMod val="50000"/>
                  </a:schemeClr>
                </a:solidFill>
              </a:rPr>
              <a:t>Positioning VDML </a:t>
            </a:r>
            <a:r>
              <a:rPr lang="en-US" sz="1600" b="1" dirty="0" smtClean="0">
                <a:solidFill>
                  <a:schemeClr val="bg1">
                    <a:lumMod val="50000"/>
                  </a:schemeClr>
                </a:solidFill>
              </a:rPr>
              <a:t>MM with </a:t>
            </a:r>
            <a:r>
              <a:rPr lang="en-US" sz="1600" b="1" dirty="0">
                <a:solidFill>
                  <a:schemeClr val="bg1">
                    <a:lumMod val="50000"/>
                  </a:schemeClr>
                </a:solidFill>
              </a:rPr>
              <a:t>BA MM</a:t>
            </a:r>
          </a:p>
          <a:p>
            <a:r>
              <a:rPr lang="en-US" sz="1600" b="1" dirty="0">
                <a:solidFill>
                  <a:schemeClr val="bg1">
                    <a:lumMod val="50000"/>
                  </a:schemeClr>
                </a:solidFill>
              </a:rPr>
              <a:t>Role of Capability in VDML</a:t>
            </a:r>
          </a:p>
          <a:p>
            <a:r>
              <a:rPr lang="en-US" sz="1600" b="1" dirty="0" smtClean="0">
                <a:solidFill>
                  <a:schemeClr val="bg1">
                    <a:lumMod val="50000"/>
                  </a:schemeClr>
                </a:solidFill>
              </a:rPr>
              <a:t>BA MM &amp; VDML Alignment Approach</a:t>
            </a:r>
          </a:p>
          <a:p>
            <a:r>
              <a:rPr lang="en-US" sz="1600" b="1" dirty="0" smtClean="0">
                <a:solidFill>
                  <a:schemeClr val="bg1">
                    <a:lumMod val="50000"/>
                  </a:schemeClr>
                </a:solidFill>
              </a:rPr>
              <a:t>BA MM – VDML MM Alignment Summary</a:t>
            </a:r>
          </a:p>
          <a:p>
            <a:r>
              <a:rPr lang="en-US" sz="1600" b="1" dirty="0" smtClean="0">
                <a:solidFill>
                  <a:schemeClr val="bg1">
                    <a:lumMod val="50000"/>
                  </a:schemeClr>
                </a:solidFill>
              </a:rPr>
              <a:t>BA:Capability Alignment With VDML:Capability</a:t>
            </a:r>
          </a:p>
          <a:p>
            <a:r>
              <a:rPr lang="en-US" sz="1600" b="1" dirty="0" smtClean="0">
                <a:solidFill>
                  <a:schemeClr val="bg1">
                    <a:lumMod val="50000"/>
                  </a:schemeClr>
                </a:solidFill>
              </a:rPr>
              <a:t>BA:Capability Alignment With VDML:Value</a:t>
            </a:r>
          </a:p>
          <a:p>
            <a:r>
              <a:rPr lang="en-US" sz="1600" b="1" dirty="0" smtClean="0">
                <a:solidFill>
                  <a:schemeClr val="bg1">
                    <a:lumMod val="50000"/>
                  </a:schemeClr>
                </a:solidFill>
              </a:rPr>
              <a:t>BA MM &amp; VDML MM as ISO Architecture Descriptions</a:t>
            </a:r>
            <a:endParaRPr lang="en-US" sz="1600" b="1" dirty="0">
              <a:solidFill>
                <a:schemeClr val="bg1">
                  <a:lumMod val="50000"/>
                </a:schemeClr>
              </a:solidFill>
            </a:endParaRPr>
          </a:p>
        </p:txBody>
      </p:sp>
      <p:sp>
        <p:nvSpPr>
          <p:cNvPr id="2" name="Date Placeholder 1"/>
          <p:cNvSpPr>
            <a:spLocks noGrp="1"/>
          </p:cNvSpPr>
          <p:nvPr>
            <p:ph type="dt" sz="half" idx="10"/>
          </p:nvPr>
        </p:nvSpPr>
        <p:spPr/>
        <p:txBody>
          <a:bodyPr/>
          <a:lstStyle/>
          <a:p>
            <a:fld id="{294254DB-3E81-4875-B162-B591A63E587F}"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20</a:t>
            </a:fld>
            <a:endParaRPr lang="en-US" dirty="0"/>
          </a:p>
        </p:txBody>
      </p:sp>
    </p:spTree>
    <p:extLst>
      <p:ext uri="{BB962C8B-B14F-4D97-AF65-F5344CB8AC3E}">
        <p14:creationId xmlns:p14="http://schemas.microsoft.com/office/powerpoint/2010/main" val="32575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274638"/>
            <a:ext cx="8686800" cy="1143000"/>
          </a:xfrm>
        </p:spPr>
        <p:txBody>
          <a:bodyPr>
            <a:normAutofit/>
          </a:bodyPr>
          <a:lstStyle/>
          <a:p>
            <a:r>
              <a:rPr lang="en-US" dirty="0" smtClean="0"/>
              <a:t>Positioning VDML MM with BA MM</a:t>
            </a:r>
            <a:endParaRPr lang="en-US" dirty="0"/>
          </a:p>
        </p:txBody>
      </p:sp>
      <p:sp>
        <p:nvSpPr>
          <p:cNvPr id="5" name="Content Placeholder 4"/>
          <p:cNvSpPr>
            <a:spLocks noGrp="1"/>
          </p:cNvSpPr>
          <p:nvPr>
            <p:ph idx="1"/>
          </p:nvPr>
        </p:nvSpPr>
        <p:spPr>
          <a:xfrm>
            <a:off x="685800" y="1371600"/>
            <a:ext cx="7620000" cy="5105400"/>
          </a:xfrm>
        </p:spPr>
        <p:txBody>
          <a:bodyPr>
            <a:normAutofit fontScale="85000" lnSpcReduction="20000"/>
          </a:bodyPr>
          <a:lstStyle/>
          <a:p>
            <a:pPr lvl="0"/>
            <a:r>
              <a:rPr lang="en-US" dirty="0"/>
              <a:t>VDML provides an opportunity for Business Architects to publish the </a:t>
            </a:r>
            <a:r>
              <a:rPr lang="en-US" dirty="0" smtClean="0"/>
              <a:t>BA MM </a:t>
            </a:r>
            <a:r>
              <a:rPr lang="en-US" dirty="0"/>
              <a:t>into VDML to measure value (from a transactional perspective</a:t>
            </a:r>
            <a:r>
              <a:rPr lang="en-US" dirty="0" smtClean="0"/>
              <a:t>), </a:t>
            </a:r>
            <a:r>
              <a:rPr lang="en-US" dirty="0"/>
              <a:t>using traditional analytical </a:t>
            </a:r>
            <a:r>
              <a:rPr lang="en-US" dirty="0" smtClean="0"/>
              <a:t>methods</a:t>
            </a:r>
            <a:endParaRPr lang="en-US" dirty="0"/>
          </a:p>
          <a:p>
            <a:pPr lvl="8"/>
            <a:endParaRPr lang="en-US" dirty="0" smtClean="0"/>
          </a:p>
          <a:p>
            <a:pPr lvl="0"/>
            <a:r>
              <a:rPr lang="en-US" dirty="0" smtClean="0"/>
              <a:t>This </a:t>
            </a:r>
            <a:r>
              <a:rPr lang="en-US" dirty="0"/>
              <a:t>scenario may be a bit further downstream for most Business Architects and the organizations they serve given current maturity levels around Business </a:t>
            </a:r>
            <a:r>
              <a:rPr lang="en-US" dirty="0" smtClean="0"/>
              <a:t>Architecture, but </a:t>
            </a:r>
            <a:r>
              <a:rPr lang="en-US" dirty="0"/>
              <a:t>it will become increasingly important over </a:t>
            </a:r>
            <a:r>
              <a:rPr lang="en-US" dirty="0" smtClean="0"/>
              <a:t>time</a:t>
            </a:r>
          </a:p>
          <a:p>
            <a:pPr lvl="8"/>
            <a:endParaRPr lang="en-US" dirty="0"/>
          </a:p>
          <a:p>
            <a:pPr lvl="0"/>
            <a:r>
              <a:rPr lang="en-US" dirty="0" smtClean="0"/>
              <a:t>Meanwhile, VDML’s treatment (via SMM mapping) of the measurability of Capability-related concepts (such as in a heat map) is well thought out and could be the basis for the BA’s own treatment</a:t>
            </a:r>
          </a:p>
        </p:txBody>
      </p:sp>
      <p:sp>
        <p:nvSpPr>
          <p:cNvPr id="2" name="Date Placeholder 1"/>
          <p:cNvSpPr>
            <a:spLocks noGrp="1"/>
          </p:cNvSpPr>
          <p:nvPr>
            <p:ph type="dt" sz="half" idx="10"/>
          </p:nvPr>
        </p:nvSpPr>
        <p:spPr/>
        <p:txBody>
          <a:bodyPr/>
          <a:lstStyle/>
          <a:p>
            <a:fld id="{12163EE4-A618-4170-8F29-8FA8F3323CA9}"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21</a:t>
            </a:fld>
            <a:endParaRPr lang="en-US" dirty="0"/>
          </a:p>
        </p:txBody>
      </p:sp>
    </p:spTree>
    <p:extLst>
      <p:ext uri="{BB962C8B-B14F-4D97-AF65-F5344CB8AC3E}">
        <p14:creationId xmlns:p14="http://schemas.microsoft.com/office/powerpoint/2010/main" val="120411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600" dirty="0" smtClean="0"/>
              <a:t>Role of Capability in VDML</a:t>
            </a:r>
            <a:endParaRPr lang="en-US" sz="3600" dirty="0"/>
          </a:p>
        </p:txBody>
      </p:sp>
      <p:grpSp>
        <p:nvGrpSpPr>
          <p:cNvPr id="5" name="Group 4"/>
          <p:cNvGrpSpPr/>
          <p:nvPr/>
        </p:nvGrpSpPr>
        <p:grpSpPr>
          <a:xfrm>
            <a:off x="0" y="609600"/>
            <a:ext cx="9144000" cy="6211529"/>
            <a:chOff x="0" y="1163279"/>
            <a:chExt cx="8562975" cy="56578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63279"/>
              <a:ext cx="4286250" cy="565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219200"/>
              <a:ext cx="4295775" cy="551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9" name="TextBox 8"/>
          <p:cNvSpPr txBox="1"/>
          <p:nvPr/>
        </p:nvSpPr>
        <p:spPr>
          <a:xfrm>
            <a:off x="6172200" y="5688449"/>
            <a:ext cx="2971800" cy="1169551"/>
          </a:xfrm>
          <a:prstGeom prst="rect">
            <a:avLst/>
          </a:prstGeom>
          <a:solidFill>
            <a:schemeClr val="bg1">
              <a:lumMod val="85000"/>
            </a:schemeClr>
          </a:solidFill>
          <a:ln w="22225">
            <a:solidFill>
              <a:srgbClr val="0070C0"/>
            </a:solidFill>
            <a:prstDash val="sysDash"/>
          </a:ln>
        </p:spPr>
        <p:txBody>
          <a:bodyPr wrap="square" rtlCol="0">
            <a:spAutoFit/>
          </a:bodyPr>
          <a:lstStyle/>
          <a:p>
            <a:pPr algn="ctr"/>
            <a:r>
              <a:rPr lang="en-US" sz="1400" b="1" dirty="0" smtClean="0">
                <a:solidFill>
                  <a:srgbClr val="002060"/>
                </a:solidFill>
              </a:rPr>
              <a:t>VDML:Capability-related concepts provide finer-grained measurability associated with VDML:Activity, VDML:BusinessItem, and VDML:BusinessItemDefinition…</a:t>
            </a:r>
            <a:endParaRPr lang="en-US" sz="1400" b="1" dirty="0">
              <a:solidFill>
                <a:srgbClr val="002060"/>
              </a:solidFill>
            </a:endParaRPr>
          </a:p>
        </p:txBody>
      </p:sp>
      <p:sp>
        <p:nvSpPr>
          <p:cNvPr id="2" name="Date Placeholder 1"/>
          <p:cNvSpPr>
            <a:spLocks noGrp="1"/>
          </p:cNvSpPr>
          <p:nvPr>
            <p:ph type="dt" sz="half" idx="10"/>
          </p:nvPr>
        </p:nvSpPr>
        <p:spPr/>
        <p:txBody>
          <a:bodyPr/>
          <a:lstStyle/>
          <a:p>
            <a:fld id="{F4E866C9-1E54-4751-851C-F9FE432FE66D}"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22</a:t>
            </a:fld>
            <a:endParaRPr lang="en-US" dirty="0"/>
          </a:p>
        </p:txBody>
      </p:sp>
    </p:spTree>
    <p:extLst>
      <p:ext uri="{BB962C8B-B14F-4D97-AF65-F5344CB8AC3E}">
        <p14:creationId xmlns:p14="http://schemas.microsoft.com/office/powerpoint/2010/main" val="148072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600" dirty="0" smtClean="0"/>
              <a:t>Role of Capability in VDML (cont’d.)</a:t>
            </a:r>
            <a:endParaRPr lang="en-US" sz="3600" dirty="0"/>
          </a:p>
        </p:txBody>
      </p:sp>
      <p:grpSp>
        <p:nvGrpSpPr>
          <p:cNvPr id="2" name="Group 1"/>
          <p:cNvGrpSpPr/>
          <p:nvPr/>
        </p:nvGrpSpPr>
        <p:grpSpPr>
          <a:xfrm>
            <a:off x="0" y="435703"/>
            <a:ext cx="9067800" cy="6346098"/>
            <a:chOff x="609600" y="1003551"/>
            <a:chExt cx="8458200" cy="5806824"/>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550" y="1003551"/>
              <a:ext cx="4286250" cy="56673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4305300" cy="566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8" name="TextBox 7"/>
          <p:cNvSpPr txBox="1"/>
          <p:nvPr/>
        </p:nvSpPr>
        <p:spPr>
          <a:xfrm>
            <a:off x="6172200" y="2514600"/>
            <a:ext cx="2895600" cy="2462213"/>
          </a:xfrm>
          <a:prstGeom prst="rect">
            <a:avLst/>
          </a:prstGeom>
          <a:solidFill>
            <a:schemeClr val="bg1">
              <a:lumMod val="85000"/>
            </a:schemeClr>
          </a:solidFill>
          <a:ln w="22225">
            <a:solidFill>
              <a:srgbClr val="0070C0"/>
            </a:solidFill>
            <a:prstDash val="sysDash"/>
          </a:ln>
        </p:spPr>
        <p:txBody>
          <a:bodyPr wrap="square" rtlCol="0">
            <a:spAutoFit/>
          </a:bodyPr>
          <a:lstStyle/>
          <a:p>
            <a:pPr algn="ctr"/>
            <a:r>
              <a:rPr lang="en-US" sz="1400" b="1" dirty="0" smtClean="0">
                <a:solidFill>
                  <a:srgbClr val="002060"/>
                </a:solidFill>
              </a:rPr>
              <a:t>…But VDML:Capability-related concepts are tertiary concepts in VDML – complete removal (all relationships being optional) has no material impact on the rest of VDML other than to make the measurement of value creation more coarse-grained, thus – per the “centricity” rule – VDML cannot be said to be Capability-centric (though still very important as Value-centric)</a:t>
            </a:r>
            <a:endParaRPr lang="en-US" sz="1400" b="1" dirty="0">
              <a:solidFill>
                <a:srgbClr val="002060"/>
              </a:solidFill>
            </a:endParaRPr>
          </a:p>
        </p:txBody>
      </p:sp>
      <p:sp>
        <p:nvSpPr>
          <p:cNvPr id="9" name="Right Brace 8"/>
          <p:cNvSpPr/>
          <p:nvPr/>
        </p:nvSpPr>
        <p:spPr>
          <a:xfrm>
            <a:off x="5257800" y="692877"/>
            <a:ext cx="762000" cy="6088923"/>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Oval 9"/>
          <p:cNvSpPr/>
          <p:nvPr/>
        </p:nvSpPr>
        <p:spPr>
          <a:xfrm>
            <a:off x="1752600" y="5638800"/>
            <a:ext cx="1524000" cy="10575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Core elements in VDML related to value creation</a:t>
            </a:r>
            <a:endParaRPr lang="en-US" sz="1200" b="1" dirty="0"/>
          </a:p>
        </p:txBody>
      </p:sp>
      <p:sp>
        <p:nvSpPr>
          <p:cNvPr id="3" name="Date Placeholder 2"/>
          <p:cNvSpPr>
            <a:spLocks noGrp="1"/>
          </p:cNvSpPr>
          <p:nvPr>
            <p:ph type="dt" sz="half" idx="10"/>
          </p:nvPr>
        </p:nvSpPr>
        <p:spPr/>
        <p:txBody>
          <a:bodyPr/>
          <a:lstStyle/>
          <a:p>
            <a:fld id="{913B244E-6A5B-4E3F-918D-3A0DC6DF6416}" type="datetime1">
              <a:rPr lang="en-US" smtClean="0"/>
              <a:t>6/14/2016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23</a:t>
            </a:fld>
            <a:endParaRPr lang="en-US" dirty="0"/>
          </a:p>
        </p:txBody>
      </p:sp>
    </p:spTree>
    <p:extLst>
      <p:ext uri="{BB962C8B-B14F-4D97-AF65-F5344CB8AC3E}">
        <p14:creationId xmlns:p14="http://schemas.microsoft.com/office/powerpoint/2010/main" val="110477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3600" dirty="0" smtClean="0"/>
              <a:t>BA MM &amp; VDML MM Alignment Approach</a:t>
            </a:r>
            <a:endParaRPr lang="en-US" sz="3600" dirty="0"/>
          </a:p>
        </p:txBody>
      </p:sp>
      <p:sp>
        <p:nvSpPr>
          <p:cNvPr id="3" name="Content Placeholder 2"/>
          <p:cNvSpPr>
            <a:spLocks noGrp="1"/>
          </p:cNvSpPr>
          <p:nvPr>
            <p:ph idx="1"/>
          </p:nvPr>
        </p:nvSpPr>
        <p:spPr>
          <a:xfrm>
            <a:off x="76200" y="1219200"/>
            <a:ext cx="8991600" cy="5181600"/>
          </a:xfrm>
        </p:spPr>
        <p:txBody>
          <a:bodyPr>
            <a:normAutofit fontScale="62500" lnSpcReduction="20000"/>
          </a:bodyPr>
          <a:lstStyle/>
          <a:p>
            <a:r>
              <a:rPr lang="en-US" dirty="0" smtClean="0"/>
              <a:t>A proxy-based approach has not been applied (given its proposed status), but should it be accepted going forward, it would likely yield something like this:</a:t>
            </a:r>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a:p>
          <a:p>
            <a:endParaRPr lang="en-US" dirty="0"/>
          </a:p>
          <a:p>
            <a:endParaRPr lang="en-US" dirty="0" smtClean="0"/>
          </a:p>
          <a:p>
            <a:r>
              <a:rPr lang="en-US" dirty="0" smtClean="0"/>
              <a:t>Otherwise, a more classic approach would be to find equivalences between analogous elements in the BA MM and VDML MM (similar to “isA” relationships in ontology modeling), which are represented as inheritance in subsequent slides</a:t>
            </a:r>
          </a:p>
          <a:p>
            <a:pPr lvl="1"/>
            <a:r>
              <a:rPr lang="en-US" dirty="0" smtClean="0"/>
              <a:t>Whichever of a pair of analogous BA MM and VDML MM concepts are perceived to have the looser semantics becomes the super class</a:t>
            </a:r>
          </a:p>
          <a:p>
            <a:pPr lvl="1"/>
            <a:r>
              <a:rPr lang="en-US" dirty="0" smtClean="0"/>
              <a:t>Not all concepts have equivalences, most notably because the BA MM’s Value Stream treatment of value creation is too dissimilar to VDML’s treatment of value creation</a:t>
            </a:r>
          </a:p>
        </p:txBody>
      </p:sp>
      <p:sp>
        <p:nvSpPr>
          <p:cNvPr id="4" name="Rectangle 3"/>
          <p:cNvSpPr/>
          <p:nvPr/>
        </p:nvSpPr>
        <p:spPr>
          <a:xfrm>
            <a:off x="457200" y="2763078"/>
            <a:ext cx="1408043"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BA:ValueItem</a:t>
            </a:r>
            <a:endParaRPr lang="en-US" sz="1300" b="1" dirty="0"/>
          </a:p>
        </p:txBody>
      </p:sp>
      <p:sp>
        <p:nvSpPr>
          <p:cNvPr id="5" name="Rectangle 4"/>
          <p:cNvSpPr/>
          <p:nvPr/>
        </p:nvSpPr>
        <p:spPr>
          <a:xfrm>
            <a:off x="6096000" y="2763078"/>
            <a:ext cx="1891748"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VDML:ValueProposition</a:t>
            </a:r>
            <a:endParaRPr lang="en-US" sz="1300" b="1" dirty="0"/>
          </a:p>
        </p:txBody>
      </p:sp>
      <p:sp>
        <p:nvSpPr>
          <p:cNvPr id="6" name="Rectangle 5"/>
          <p:cNvSpPr/>
          <p:nvPr/>
        </p:nvSpPr>
        <p:spPr>
          <a:xfrm>
            <a:off x="2438400" y="2763078"/>
            <a:ext cx="3048000"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Proxy:ValueProposition</a:t>
            </a:r>
            <a:endParaRPr lang="en-US" sz="1300" b="1" dirty="0"/>
          </a:p>
        </p:txBody>
      </p:sp>
      <p:sp>
        <p:nvSpPr>
          <p:cNvPr id="7" name="Rectangle 6"/>
          <p:cNvSpPr/>
          <p:nvPr/>
        </p:nvSpPr>
        <p:spPr>
          <a:xfrm>
            <a:off x="2438400" y="3581400"/>
            <a:ext cx="3048000" cy="457200"/>
          </a:xfrm>
          <a:prstGeom prst="rect">
            <a:avLst/>
          </a:prstGeom>
          <a:ln w="222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BusinessModelCanvass:ValueProposition</a:t>
            </a:r>
            <a:endParaRPr lang="en-US" sz="1300" b="1" dirty="0"/>
          </a:p>
        </p:txBody>
      </p:sp>
      <p:sp>
        <p:nvSpPr>
          <p:cNvPr id="8" name="Isosceles Triangle 7"/>
          <p:cNvSpPr/>
          <p:nvPr/>
        </p:nvSpPr>
        <p:spPr>
          <a:xfrm>
            <a:off x="3848100" y="3211995"/>
            <a:ext cx="228600" cy="228600"/>
          </a:xfrm>
          <a:prstGeom prst="triangle">
            <a:avLst/>
          </a:prstGeom>
          <a:solidFill>
            <a:schemeClr val="bg1"/>
          </a:solidFill>
          <a:ln w="222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a:stCxn id="8" idx="3"/>
            <a:endCxn id="7" idx="0"/>
          </p:cNvCxnSpPr>
          <p:nvPr/>
        </p:nvCxnSpPr>
        <p:spPr>
          <a:xfrm>
            <a:off x="3962400" y="3440595"/>
            <a:ext cx="0" cy="140805"/>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sp>
        <p:nvSpPr>
          <p:cNvPr id="11" name="Isosceles Triangle 10"/>
          <p:cNvSpPr/>
          <p:nvPr/>
        </p:nvSpPr>
        <p:spPr>
          <a:xfrm rot="5400000">
            <a:off x="2209800" y="2877378"/>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a:stCxn id="11" idx="3"/>
            <a:endCxn id="4" idx="3"/>
          </p:cNvCxnSpPr>
          <p:nvPr/>
        </p:nvCxnSpPr>
        <p:spPr>
          <a:xfrm flipH="1">
            <a:off x="1865243" y="2991678"/>
            <a:ext cx="344557"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16200000" flipH="1">
            <a:off x="5484743" y="2877379"/>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a:stCxn id="15" idx="3"/>
            <a:endCxn id="5" idx="1"/>
          </p:cNvCxnSpPr>
          <p:nvPr/>
        </p:nvCxnSpPr>
        <p:spPr>
          <a:xfrm flipV="1">
            <a:off x="5713343" y="2991678"/>
            <a:ext cx="382657" cy="1"/>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57200" y="1905000"/>
            <a:ext cx="1408043"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BA:BAElement</a:t>
            </a:r>
            <a:endParaRPr lang="en-US" sz="1300" b="1" dirty="0"/>
          </a:p>
        </p:txBody>
      </p:sp>
      <p:sp>
        <p:nvSpPr>
          <p:cNvPr id="22" name="Rectangle 21"/>
          <p:cNvSpPr/>
          <p:nvPr/>
        </p:nvSpPr>
        <p:spPr>
          <a:xfrm>
            <a:off x="6096000" y="1905000"/>
            <a:ext cx="1891748"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VDML:VDMLElement</a:t>
            </a:r>
            <a:endParaRPr lang="en-US" sz="1300" b="1" dirty="0"/>
          </a:p>
        </p:txBody>
      </p:sp>
      <p:sp>
        <p:nvSpPr>
          <p:cNvPr id="29" name="Isosceles Triangle 28"/>
          <p:cNvSpPr/>
          <p:nvPr/>
        </p:nvSpPr>
        <p:spPr>
          <a:xfrm>
            <a:off x="990600" y="2373795"/>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Connector 29"/>
          <p:cNvCxnSpPr>
            <a:stCxn id="29" idx="3"/>
          </p:cNvCxnSpPr>
          <p:nvPr/>
        </p:nvCxnSpPr>
        <p:spPr>
          <a:xfrm>
            <a:off x="1104900" y="2602395"/>
            <a:ext cx="0" cy="140805"/>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1" name="Isosceles Triangle 30"/>
          <p:cNvSpPr/>
          <p:nvPr/>
        </p:nvSpPr>
        <p:spPr>
          <a:xfrm>
            <a:off x="6934200" y="2362200"/>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p:cNvCxnSpPr>
            <a:stCxn id="31" idx="3"/>
          </p:cNvCxnSpPr>
          <p:nvPr/>
        </p:nvCxnSpPr>
        <p:spPr>
          <a:xfrm>
            <a:off x="7048500" y="2590800"/>
            <a:ext cx="0" cy="140805"/>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3" name="Right Brace 32"/>
          <p:cNvSpPr/>
          <p:nvPr/>
        </p:nvSpPr>
        <p:spPr>
          <a:xfrm>
            <a:off x="7924800" y="1828800"/>
            <a:ext cx="394252" cy="1497495"/>
          </a:xfrm>
          <a:prstGeom prst="rightBrace">
            <a:avLst/>
          </a:prstGeom>
          <a:noFill/>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Right Brace 33"/>
          <p:cNvSpPr/>
          <p:nvPr/>
        </p:nvSpPr>
        <p:spPr>
          <a:xfrm>
            <a:off x="5486400" y="3554895"/>
            <a:ext cx="394252" cy="559905"/>
          </a:xfrm>
          <a:prstGeom prst="rightBrace">
            <a:avLst/>
          </a:prstGeom>
          <a:noFill/>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p:cNvSpPr txBox="1"/>
          <p:nvPr/>
        </p:nvSpPr>
        <p:spPr>
          <a:xfrm>
            <a:off x="8319052" y="2286000"/>
            <a:ext cx="596348" cy="646331"/>
          </a:xfrm>
          <a:prstGeom prst="rect">
            <a:avLst/>
          </a:prstGeom>
          <a:noFill/>
        </p:spPr>
        <p:txBody>
          <a:bodyPr wrap="square" rtlCol="0">
            <a:spAutoFit/>
          </a:bodyPr>
          <a:lstStyle/>
          <a:p>
            <a:pPr algn="ctr"/>
            <a:r>
              <a:rPr lang="en-US" sz="1200" b="1" dirty="0" smtClean="0">
                <a:solidFill>
                  <a:srgbClr val="002060"/>
                </a:solidFill>
              </a:rPr>
              <a:t>From VDML MM</a:t>
            </a:r>
            <a:endParaRPr lang="en-US" sz="1200" b="1" dirty="0">
              <a:solidFill>
                <a:srgbClr val="002060"/>
              </a:solidFill>
            </a:endParaRPr>
          </a:p>
        </p:txBody>
      </p:sp>
      <p:sp>
        <p:nvSpPr>
          <p:cNvPr id="36" name="TextBox 35"/>
          <p:cNvSpPr txBox="1"/>
          <p:nvPr/>
        </p:nvSpPr>
        <p:spPr>
          <a:xfrm>
            <a:off x="5755584" y="3505200"/>
            <a:ext cx="1483416" cy="646331"/>
          </a:xfrm>
          <a:prstGeom prst="rect">
            <a:avLst/>
          </a:prstGeom>
          <a:noFill/>
        </p:spPr>
        <p:txBody>
          <a:bodyPr wrap="square" rtlCol="0">
            <a:spAutoFit/>
          </a:bodyPr>
          <a:lstStyle/>
          <a:p>
            <a:pPr algn="ctr"/>
            <a:r>
              <a:rPr lang="en-US" sz="1200" b="1" dirty="0" smtClean="0">
                <a:solidFill>
                  <a:srgbClr val="002060"/>
                </a:solidFill>
              </a:rPr>
              <a:t>Derived from Business Model Canvass</a:t>
            </a:r>
            <a:endParaRPr lang="en-US" sz="1200" b="1" dirty="0">
              <a:solidFill>
                <a:srgbClr val="002060"/>
              </a:solidFill>
            </a:endParaRPr>
          </a:p>
        </p:txBody>
      </p:sp>
      <p:sp>
        <p:nvSpPr>
          <p:cNvPr id="9" name="Date Placeholder 8"/>
          <p:cNvSpPr>
            <a:spLocks noGrp="1"/>
          </p:cNvSpPr>
          <p:nvPr>
            <p:ph type="dt" sz="half" idx="10"/>
          </p:nvPr>
        </p:nvSpPr>
        <p:spPr/>
        <p:txBody>
          <a:bodyPr/>
          <a:lstStyle/>
          <a:p>
            <a:fld id="{E92B5DB1-5ADE-41E3-B470-90ADFA9FAB51}" type="datetime1">
              <a:rPr lang="en-US" smtClean="0"/>
              <a:t>6/14/2016</a:t>
            </a:fld>
            <a:endParaRPr lang="en-US" dirty="0"/>
          </a:p>
        </p:txBody>
      </p:sp>
      <p:sp>
        <p:nvSpPr>
          <p:cNvPr id="14" name="Slide Number Placeholder 13"/>
          <p:cNvSpPr>
            <a:spLocks noGrp="1"/>
          </p:cNvSpPr>
          <p:nvPr>
            <p:ph type="sldNum" sz="quarter" idx="12"/>
          </p:nvPr>
        </p:nvSpPr>
        <p:spPr/>
        <p:txBody>
          <a:bodyPr/>
          <a:lstStyle/>
          <a:p>
            <a:fld id="{C8701F13-D499-404E-A11B-CE66F4C6465F}" type="slidenum">
              <a:rPr lang="en-US" smtClean="0"/>
              <a:t>24</a:t>
            </a:fld>
            <a:endParaRPr lang="en-US" dirty="0"/>
          </a:p>
        </p:txBody>
      </p:sp>
    </p:spTree>
    <p:extLst>
      <p:ext uri="{BB962C8B-B14F-4D97-AF65-F5344CB8AC3E}">
        <p14:creationId xmlns:p14="http://schemas.microsoft.com/office/powerpoint/2010/main" val="32873232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BA MM – VDML MM Alignment Summary</a:t>
            </a:r>
            <a:endParaRPr lang="en-US" sz="3600" dirty="0"/>
          </a:p>
        </p:txBody>
      </p:sp>
      <p:graphicFrame>
        <p:nvGraphicFramePr>
          <p:cNvPr id="3" name="Table 2"/>
          <p:cNvGraphicFramePr>
            <a:graphicFrameLocks noGrp="1"/>
          </p:cNvGraphicFramePr>
          <p:nvPr>
            <p:extLst>
              <p:ext uri="{D42A27DB-BD31-4B8C-83A1-F6EECF244321}">
                <p14:modId xmlns:p14="http://schemas.microsoft.com/office/powerpoint/2010/main" val="2141570505"/>
              </p:ext>
            </p:extLst>
          </p:nvPr>
        </p:nvGraphicFramePr>
        <p:xfrm>
          <a:off x="685799" y="1295400"/>
          <a:ext cx="7772401" cy="5262880"/>
        </p:xfrm>
        <a:graphic>
          <a:graphicData uri="http://schemas.openxmlformats.org/drawingml/2006/table">
            <a:tbl>
              <a:tblPr firstRow="1" bandRow="1">
                <a:tableStyleId>{5C22544A-7EE6-4342-B048-85BDC9FD1C3A}</a:tableStyleId>
              </a:tblPr>
              <a:tblGrid>
                <a:gridCol w="2473037"/>
                <a:gridCol w="2031423"/>
                <a:gridCol w="3267941"/>
              </a:tblGrid>
              <a:tr h="370840">
                <a:tc>
                  <a:txBody>
                    <a:bodyPr/>
                    <a:lstStyle/>
                    <a:p>
                      <a:pPr algn="ctr"/>
                      <a:r>
                        <a:rPr lang="en-US" dirty="0" smtClean="0"/>
                        <a:t>BA MM Concept</a:t>
                      </a:r>
                      <a:endParaRPr lang="en-US" dirty="0"/>
                    </a:p>
                  </a:txBody>
                  <a:tcPr/>
                </a:tc>
                <a:tc>
                  <a:txBody>
                    <a:bodyPr/>
                    <a:lstStyle/>
                    <a:p>
                      <a:pPr algn="ctr"/>
                      <a:r>
                        <a:rPr lang="en-US" dirty="0" smtClean="0"/>
                        <a:t>Relationship</a:t>
                      </a:r>
                      <a:endParaRPr lang="en-US" dirty="0"/>
                    </a:p>
                  </a:txBody>
                  <a:tcPr/>
                </a:tc>
                <a:tc>
                  <a:txBody>
                    <a:bodyPr/>
                    <a:lstStyle/>
                    <a:p>
                      <a:pPr algn="ctr"/>
                      <a:r>
                        <a:rPr lang="en-US" dirty="0" smtClean="0"/>
                        <a:t>VDML MM Concept</a:t>
                      </a:r>
                      <a:endParaRPr lang="en-US" dirty="0"/>
                    </a:p>
                  </a:txBody>
                  <a:tcPr/>
                </a:tc>
              </a:tr>
              <a:tr h="370840">
                <a:tc>
                  <a:txBody>
                    <a:bodyPr/>
                    <a:lstStyle/>
                    <a:p>
                      <a:r>
                        <a:rPr lang="en-US" sz="1600" dirty="0" smtClean="0"/>
                        <a:t>Capability</a:t>
                      </a:r>
                      <a:endParaRPr lang="en-US" sz="1600" dirty="0"/>
                    </a:p>
                  </a:txBody>
                  <a:tcPr/>
                </a:tc>
                <a:tc>
                  <a:txBody>
                    <a:bodyPr/>
                    <a:lstStyle/>
                    <a:p>
                      <a:r>
                        <a:rPr lang="en-US" sz="1600" dirty="0" smtClean="0"/>
                        <a:t>Generalizes</a:t>
                      </a:r>
                      <a:r>
                        <a:rPr lang="en-US" sz="1600" baseline="0" dirty="0" smtClean="0"/>
                        <a:t> To…</a:t>
                      </a:r>
                      <a:endParaRPr lang="en-US" sz="1600" dirty="0"/>
                    </a:p>
                  </a:txBody>
                  <a:tcPr/>
                </a:tc>
                <a:tc>
                  <a:txBody>
                    <a:bodyPr/>
                    <a:lstStyle/>
                    <a:p>
                      <a:r>
                        <a:rPr lang="en-US" sz="1600" dirty="0" err="1" smtClean="0"/>
                        <a:t>Capability</a:t>
                      </a:r>
                      <a:r>
                        <a:rPr lang="en-US" sz="1600" baseline="0" dirty="0" err="1" smtClean="0"/>
                        <a:t>Definition</a:t>
                      </a:r>
                      <a:endParaRPr lang="en-US" sz="1600" dirty="0"/>
                    </a:p>
                  </a:txBody>
                  <a:tcPr/>
                </a:tc>
              </a:tr>
              <a:tr h="370840">
                <a:tc>
                  <a:txBody>
                    <a:bodyPr/>
                    <a:lstStyle/>
                    <a:p>
                      <a:r>
                        <a:rPr lang="en-US" sz="1600" dirty="0" smtClean="0"/>
                        <a:t>Outcome</a:t>
                      </a:r>
                      <a:endParaRPr lang="en-US" sz="1600" dirty="0"/>
                    </a:p>
                  </a:txBody>
                  <a:tcPr/>
                </a:tc>
                <a:tc>
                  <a:txBody>
                    <a:bodyPr/>
                    <a:lstStyle/>
                    <a:p>
                      <a:r>
                        <a:rPr lang="en-US" sz="1600" dirty="0" smtClean="0"/>
                        <a:t>Specializes To…</a:t>
                      </a:r>
                      <a:endParaRPr lang="en-US" sz="1600" dirty="0"/>
                    </a:p>
                  </a:txBody>
                  <a:tcPr/>
                </a:tc>
                <a:tc>
                  <a:txBody>
                    <a:bodyPr/>
                    <a:lstStyle/>
                    <a:p>
                      <a:r>
                        <a:rPr lang="en-US" sz="1600" dirty="0" err="1" smtClean="0"/>
                        <a:t>Business</a:t>
                      </a:r>
                      <a:r>
                        <a:rPr lang="en-US" sz="1600" baseline="0" dirty="0" err="1" smtClean="0"/>
                        <a:t>ItemDefinition</a:t>
                      </a:r>
                      <a:endParaRPr lang="en-US" sz="1600" dirty="0"/>
                    </a:p>
                  </a:txBody>
                  <a:tcPr/>
                </a:tc>
              </a:tr>
              <a:tr h="370840">
                <a:tc>
                  <a:txBody>
                    <a:bodyPr/>
                    <a:lstStyle/>
                    <a:p>
                      <a:r>
                        <a:rPr lang="en-US" sz="1600" dirty="0" err="1" smtClean="0"/>
                        <a:t>Capability</a:t>
                      </a:r>
                      <a:r>
                        <a:rPr lang="en-US" sz="1600" baseline="0" dirty="0" err="1" smtClean="0"/>
                        <a:t>Instance</a:t>
                      </a:r>
                      <a:endParaRPr lang="en-US" sz="1600" dirty="0"/>
                    </a:p>
                  </a:txBody>
                  <a:tcPr/>
                </a:tc>
                <a:tc>
                  <a:txBody>
                    <a:bodyPr/>
                    <a:lstStyle/>
                    <a:p>
                      <a:r>
                        <a:rPr lang="en-US" sz="1600" dirty="0" smtClean="0"/>
                        <a:t>Specializes</a:t>
                      </a:r>
                      <a:r>
                        <a:rPr lang="en-US" sz="1600" baseline="0" dirty="0" smtClean="0"/>
                        <a:t> To…</a:t>
                      </a:r>
                      <a:endParaRPr lang="en-US" sz="1600" dirty="0"/>
                    </a:p>
                  </a:txBody>
                  <a:tcPr/>
                </a:tc>
                <a:tc>
                  <a:txBody>
                    <a:bodyPr/>
                    <a:lstStyle/>
                    <a:p>
                      <a:r>
                        <a:rPr lang="en-US" sz="1600" dirty="0" err="1" smtClean="0"/>
                        <a:t>CapabilityOffer</a:t>
                      </a:r>
                      <a:endParaRPr lang="en-US" sz="1600" dirty="0"/>
                    </a:p>
                  </a:txBody>
                  <a:tcPr/>
                </a:tc>
              </a:tr>
              <a:tr h="370840">
                <a:tc>
                  <a:txBody>
                    <a:bodyPr/>
                    <a:lstStyle/>
                    <a:p>
                      <a:r>
                        <a:rPr lang="en-US" sz="1600" dirty="0" err="1" smtClean="0"/>
                        <a:t>ProducedOutcome</a:t>
                      </a:r>
                      <a:endParaRPr lang="en-US" sz="1600" dirty="0"/>
                    </a:p>
                  </a:txBody>
                  <a:tcPr/>
                </a:tc>
                <a:tc>
                  <a:txBody>
                    <a:bodyPr/>
                    <a:lstStyle/>
                    <a:p>
                      <a:r>
                        <a:rPr lang="en-US" sz="1600" dirty="0" smtClean="0"/>
                        <a:t>Generalizes</a:t>
                      </a:r>
                      <a:r>
                        <a:rPr lang="en-US" sz="1600" baseline="0" dirty="0" smtClean="0"/>
                        <a:t> To…</a:t>
                      </a:r>
                      <a:endParaRPr lang="en-US" sz="1600" dirty="0"/>
                    </a:p>
                  </a:txBody>
                  <a:tcPr/>
                </a:tc>
                <a:tc>
                  <a:txBody>
                    <a:bodyPr/>
                    <a:lstStyle/>
                    <a:p>
                      <a:r>
                        <a:rPr lang="en-US" sz="1600" dirty="0" err="1" smtClean="0"/>
                        <a:t>CapabilityDependency</a:t>
                      </a:r>
                      <a:endParaRPr lang="en-US" sz="1600" dirty="0"/>
                    </a:p>
                  </a:txBody>
                  <a:tcPr/>
                </a:tc>
              </a:tr>
              <a:tr h="370840">
                <a:tc>
                  <a:txBody>
                    <a:bodyPr/>
                    <a:lstStyle/>
                    <a:p>
                      <a:r>
                        <a:rPr lang="en-US" sz="1600" dirty="0" err="1" smtClean="0"/>
                        <a:t>RequiredOutcome</a:t>
                      </a:r>
                      <a:endParaRPr lang="en-US" sz="1600" dirty="0"/>
                    </a:p>
                  </a:txBody>
                  <a:tcPr/>
                </a:tc>
                <a:tc>
                  <a:txBody>
                    <a:bodyPr/>
                    <a:lstStyle/>
                    <a:p>
                      <a:r>
                        <a:rPr lang="en-US" sz="1600" dirty="0" smtClean="0"/>
                        <a:t>Generalizes</a:t>
                      </a:r>
                      <a:r>
                        <a:rPr lang="en-US" sz="1600" baseline="0" dirty="0" smtClean="0"/>
                        <a:t> To…</a:t>
                      </a:r>
                      <a:endParaRPr lang="en-US" sz="1600" dirty="0"/>
                    </a:p>
                  </a:txBody>
                  <a:tcPr/>
                </a:tc>
                <a:tc>
                  <a:txBody>
                    <a:bodyPr/>
                    <a:lstStyle/>
                    <a:p>
                      <a:r>
                        <a:rPr lang="en-US" sz="1600" dirty="0" err="1" smtClean="0"/>
                        <a:t>CapabilityDependency</a:t>
                      </a:r>
                      <a:endParaRPr lang="en-US" sz="1600" dirty="0"/>
                    </a:p>
                  </a:txBody>
                  <a:tcPr/>
                </a:tc>
              </a:tr>
              <a:tr h="370840">
                <a:tc>
                  <a:txBody>
                    <a:bodyPr/>
                    <a:lstStyle/>
                    <a:p>
                      <a:r>
                        <a:rPr lang="en-US" sz="1600" dirty="0" err="1" smtClean="0"/>
                        <a:t>CategorizedCapability</a:t>
                      </a:r>
                      <a:endParaRPr lang="en-US" sz="1600" dirty="0"/>
                    </a:p>
                  </a:txBody>
                  <a:tcPr/>
                </a:tc>
                <a:tc>
                  <a:txBody>
                    <a:bodyPr/>
                    <a:lstStyle/>
                    <a:p>
                      <a:r>
                        <a:rPr lang="en-US" sz="1600" dirty="0" smtClean="0"/>
                        <a:t>Specializes</a:t>
                      </a:r>
                      <a:r>
                        <a:rPr lang="en-US" sz="1600" baseline="0" dirty="0" smtClean="0"/>
                        <a:t> To…</a:t>
                      </a:r>
                      <a:endParaRPr lang="en-US" sz="1600" dirty="0"/>
                    </a:p>
                  </a:txBody>
                  <a:tcPr/>
                </a:tc>
                <a:tc>
                  <a:txBody>
                    <a:bodyPr/>
                    <a:lstStyle/>
                    <a:p>
                      <a:r>
                        <a:rPr lang="en-US" sz="1600" dirty="0" err="1" smtClean="0"/>
                        <a:t>CapabilityCategory</a:t>
                      </a:r>
                      <a:endParaRPr lang="en-US" sz="1600" dirty="0"/>
                    </a:p>
                  </a:txBody>
                  <a:tcPr/>
                </a:tc>
              </a:tr>
              <a:tr h="370840">
                <a:tc>
                  <a:txBody>
                    <a:bodyPr/>
                    <a:lstStyle/>
                    <a:p>
                      <a:r>
                        <a:rPr lang="en-US" sz="1600" dirty="0" smtClean="0"/>
                        <a:t>Organization</a:t>
                      </a:r>
                      <a:endParaRPr lang="en-US" sz="1600" dirty="0"/>
                    </a:p>
                  </a:txBody>
                  <a:tcPr/>
                </a:tc>
                <a:tc>
                  <a:txBody>
                    <a:bodyPr/>
                    <a:lstStyle/>
                    <a:p>
                      <a:r>
                        <a:rPr lang="en-US" sz="1600" dirty="0" smtClean="0"/>
                        <a:t>Specializes </a:t>
                      </a:r>
                      <a:r>
                        <a:rPr lang="en-US" sz="1600" baseline="0" dirty="0" smtClean="0"/>
                        <a:t>To…</a:t>
                      </a:r>
                      <a:endParaRPr lang="en-US" sz="1600" dirty="0"/>
                    </a:p>
                  </a:txBody>
                  <a:tcPr/>
                </a:tc>
                <a:tc>
                  <a:txBody>
                    <a:bodyPr/>
                    <a:lstStyle/>
                    <a:p>
                      <a:r>
                        <a:rPr lang="en-US" sz="1600" dirty="0" err="1" smtClean="0"/>
                        <a:t>OrgUnit</a:t>
                      </a:r>
                      <a:endParaRPr lang="en-US" sz="1600" dirty="0"/>
                    </a:p>
                  </a:txBody>
                  <a:tcPr/>
                </a:tc>
              </a:tr>
              <a:tr h="370840">
                <a:tc>
                  <a:txBody>
                    <a:bodyPr/>
                    <a:lstStyle/>
                    <a:p>
                      <a:r>
                        <a:rPr lang="en-US" sz="1600" dirty="0" err="1" smtClean="0"/>
                        <a:t>ValueItem</a:t>
                      </a:r>
                      <a:endParaRPr lang="en-US" sz="1600" dirty="0"/>
                    </a:p>
                  </a:txBody>
                  <a:tcPr/>
                </a:tc>
                <a:tc>
                  <a:txBody>
                    <a:bodyPr/>
                    <a:lstStyle/>
                    <a:p>
                      <a:r>
                        <a:rPr lang="en-US" sz="1600" dirty="0" smtClean="0"/>
                        <a:t>Generalizes To…</a:t>
                      </a:r>
                      <a:endParaRPr lang="en-US" sz="1600" dirty="0"/>
                    </a:p>
                  </a:txBody>
                  <a:tcPr/>
                </a:tc>
                <a:tc>
                  <a:txBody>
                    <a:bodyPr/>
                    <a:lstStyle/>
                    <a:p>
                      <a:r>
                        <a:rPr lang="en-US" sz="1600" dirty="0" err="1" smtClean="0"/>
                        <a:t>ValueProposition</a:t>
                      </a:r>
                      <a:endParaRPr lang="en-US" sz="1600" dirty="0"/>
                    </a:p>
                  </a:txBody>
                  <a:tcPr/>
                </a:tc>
              </a:tr>
              <a:tr h="370840">
                <a:tc>
                  <a:txBody>
                    <a:bodyPr/>
                    <a:lstStyle/>
                    <a:p>
                      <a:r>
                        <a:rPr lang="en-US" sz="1600" dirty="0" smtClean="0"/>
                        <a:t>Stakeholder</a:t>
                      </a:r>
                      <a:endParaRPr lang="en-US" sz="1600" dirty="0"/>
                    </a:p>
                  </a:txBody>
                  <a:tcPr/>
                </a:tc>
                <a:tc>
                  <a:txBody>
                    <a:bodyPr/>
                    <a:lstStyle/>
                    <a:p>
                      <a:r>
                        <a:rPr lang="en-US" sz="1600" dirty="0" smtClean="0"/>
                        <a:t>Generalizes To…</a:t>
                      </a:r>
                      <a:endParaRPr lang="en-US" sz="1600" dirty="0"/>
                    </a:p>
                  </a:txBody>
                  <a:tcPr/>
                </a:tc>
                <a:tc>
                  <a:txBody>
                    <a:bodyPr/>
                    <a:lstStyle/>
                    <a:p>
                      <a:r>
                        <a:rPr lang="en-US" sz="1600" dirty="0" err="1" smtClean="0"/>
                        <a:t>RoleDefinition</a:t>
                      </a:r>
                      <a:endParaRPr lang="en-US" sz="1600" dirty="0"/>
                    </a:p>
                  </a:txBody>
                  <a:tcPr/>
                </a:tc>
              </a:tr>
              <a:tr h="370840">
                <a:tc>
                  <a:txBody>
                    <a:bodyPr/>
                    <a:lstStyle/>
                    <a:p>
                      <a:r>
                        <a:rPr lang="en-US" sz="1600" dirty="0" err="1" smtClean="0"/>
                        <a:t>ValueStream</a:t>
                      </a:r>
                      <a:endParaRPr lang="en-US" sz="1600" dirty="0"/>
                    </a:p>
                  </a:txBody>
                  <a:tcPr/>
                </a:tc>
                <a:tc rowSpan="4">
                  <a:txBody>
                    <a:bodyPr/>
                    <a:lstStyle/>
                    <a:p>
                      <a:pPr algn="ctr"/>
                      <a:r>
                        <a:rPr lang="en-US" sz="1600" dirty="0" smtClean="0"/>
                        <a:t>N/A due to incompatible</a:t>
                      </a:r>
                      <a:r>
                        <a:rPr lang="en-US" sz="1600" baseline="0" dirty="0" smtClean="0"/>
                        <a:t> granularities between Value-related concepts</a:t>
                      </a:r>
                      <a:endParaRPr lang="en-US" sz="1600" dirty="0"/>
                    </a:p>
                  </a:txBody>
                  <a:tcPr anchor="ctr"/>
                </a:tc>
                <a:tc rowSpan="4">
                  <a:txBody>
                    <a:bodyPr/>
                    <a:lstStyle/>
                    <a:p>
                      <a:r>
                        <a:rPr lang="en-US" sz="1600" dirty="0" smtClean="0"/>
                        <a:t>Rough</a:t>
                      </a:r>
                      <a:r>
                        <a:rPr lang="en-US" sz="1600" baseline="0" dirty="0" smtClean="0"/>
                        <a:t> equivalences between constructs may be asserted based on the specific uses of BA:Capability-related mappings that can be mapped to VDML:Capability mappings</a:t>
                      </a:r>
                      <a:endParaRPr lang="en-US" sz="1600" dirty="0"/>
                    </a:p>
                  </a:txBody>
                  <a:tcPr/>
                </a:tc>
              </a:tr>
              <a:tr h="370840">
                <a:tc>
                  <a:txBody>
                    <a:bodyPr/>
                    <a:lstStyle/>
                    <a:p>
                      <a:r>
                        <a:rPr lang="en-US" sz="1600" dirty="0" err="1" smtClean="0"/>
                        <a:t>ValueStage</a:t>
                      </a:r>
                      <a:endParaRPr lang="en-US" sz="1600" dirty="0"/>
                    </a:p>
                  </a:txBody>
                  <a:tcPr/>
                </a:tc>
                <a:tc vMerge="1">
                  <a:txBody>
                    <a:bodyPr/>
                    <a:lstStyle/>
                    <a:p>
                      <a:endParaRPr lang="en-US" dirty="0"/>
                    </a:p>
                  </a:txBody>
                  <a:tcPr/>
                </a:tc>
                <a:tc vMerge="1">
                  <a:txBody>
                    <a:bodyPr/>
                    <a:lstStyle/>
                    <a:p>
                      <a:endParaRPr lang="en-US" dirty="0"/>
                    </a:p>
                  </a:txBody>
                  <a:tcPr/>
                </a:tc>
              </a:tr>
              <a:tr h="370840">
                <a:tc>
                  <a:txBody>
                    <a:bodyPr/>
                    <a:lstStyle/>
                    <a:p>
                      <a:r>
                        <a:rPr lang="en-US" sz="1600" dirty="0" err="1" smtClean="0"/>
                        <a:t>SuccessorStage</a:t>
                      </a:r>
                      <a:endParaRPr lang="en-US" sz="1600" dirty="0"/>
                    </a:p>
                  </a:txBody>
                  <a:tcPr/>
                </a:tc>
                <a:tc vMerge="1">
                  <a:txBody>
                    <a:bodyPr/>
                    <a:lstStyle/>
                    <a:p>
                      <a:endParaRPr lang="en-US" dirty="0"/>
                    </a:p>
                  </a:txBody>
                  <a:tcPr/>
                </a:tc>
                <a:tc vMerge="1">
                  <a:txBody>
                    <a:bodyPr/>
                    <a:lstStyle/>
                    <a:p>
                      <a:endParaRPr lang="en-US" dirty="0"/>
                    </a:p>
                  </a:txBody>
                  <a:tcPr/>
                </a:tc>
              </a:tr>
              <a:tr h="370840">
                <a:tc>
                  <a:txBody>
                    <a:bodyPr/>
                    <a:lstStyle/>
                    <a:p>
                      <a:r>
                        <a:rPr lang="en-US" sz="1600" dirty="0" err="1" smtClean="0"/>
                        <a:t>SupportedValueStage</a:t>
                      </a:r>
                      <a:endParaRPr lang="en-US" sz="1600" dirty="0"/>
                    </a:p>
                  </a:txBody>
                  <a:tcPr/>
                </a:tc>
                <a:tc vMerge="1">
                  <a:txBody>
                    <a:bodyPr/>
                    <a:lstStyle/>
                    <a:p>
                      <a:endParaRPr lang="en-US" dirty="0"/>
                    </a:p>
                  </a:txBody>
                  <a:tcPr/>
                </a:tc>
                <a:tc vMerge="1">
                  <a:txBody>
                    <a:bodyPr/>
                    <a:lstStyle/>
                    <a:p>
                      <a:endParaRPr lang="en-US" dirty="0"/>
                    </a:p>
                  </a:txBody>
                  <a:tcPr/>
                </a:tc>
              </a:tr>
            </a:tbl>
          </a:graphicData>
        </a:graphic>
      </p:graphicFrame>
      <p:sp>
        <p:nvSpPr>
          <p:cNvPr id="4" name="Date Placeholder 3"/>
          <p:cNvSpPr>
            <a:spLocks noGrp="1"/>
          </p:cNvSpPr>
          <p:nvPr>
            <p:ph type="dt" sz="half" idx="10"/>
          </p:nvPr>
        </p:nvSpPr>
        <p:spPr/>
        <p:txBody>
          <a:bodyPr/>
          <a:lstStyle/>
          <a:p>
            <a:fld id="{8A496FF5-F70E-4D24-8EEC-2C14C14905CE}" type="datetime1">
              <a:rPr lang="en-US" smtClean="0"/>
              <a:t>6/14/2016</a:t>
            </a:fld>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25</a:t>
            </a:fld>
            <a:endParaRPr lang="en-US"/>
          </a:p>
        </p:txBody>
      </p:sp>
    </p:spTree>
    <p:extLst>
      <p:ext uri="{BB962C8B-B14F-4D97-AF65-F5344CB8AC3E}">
        <p14:creationId xmlns:p14="http://schemas.microsoft.com/office/powerpoint/2010/main" val="22648288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smtClean="0"/>
              <a:t>BA:Capability Alignment With VDML:Capability (1)</a:t>
            </a:r>
            <a:endParaRPr lang="en-US" sz="3200"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760" y="454556"/>
            <a:ext cx="6725840" cy="6403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9C8E9E2F-5990-49A9-8FB8-6544A345EE60}" type="datetime1">
              <a:rPr lang="en-US" smtClean="0"/>
              <a:t>6/14/2016</a:t>
            </a:fld>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26</a:t>
            </a:fld>
            <a:endParaRPr lang="en-US"/>
          </a:p>
        </p:txBody>
      </p:sp>
    </p:spTree>
    <p:extLst>
      <p:ext uri="{BB962C8B-B14F-4D97-AF65-F5344CB8AC3E}">
        <p14:creationId xmlns:p14="http://schemas.microsoft.com/office/powerpoint/2010/main" val="7506618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a:t>BA:Capability Alignment With VDML:Capability </a:t>
            </a:r>
            <a:r>
              <a:rPr lang="en-US" sz="3200" dirty="0" smtClean="0"/>
              <a:t>(2)</a:t>
            </a:r>
            <a:endParaRPr lang="en-US" sz="32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750" y="533400"/>
            <a:ext cx="7895305" cy="6324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ate Placeholder 1"/>
          <p:cNvSpPr>
            <a:spLocks noGrp="1"/>
          </p:cNvSpPr>
          <p:nvPr>
            <p:ph type="dt" sz="half" idx="10"/>
          </p:nvPr>
        </p:nvSpPr>
        <p:spPr/>
        <p:txBody>
          <a:bodyPr/>
          <a:lstStyle/>
          <a:p>
            <a:fld id="{7920EFBB-F084-4FD8-AC0F-7B3B11A58022}" type="datetime1">
              <a:rPr lang="en-US" smtClean="0"/>
              <a:t>6/14/2016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27</a:t>
            </a:fld>
            <a:endParaRPr lang="en-US"/>
          </a:p>
        </p:txBody>
      </p:sp>
    </p:spTree>
    <p:extLst>
      <p:ext uri="{BB962C8B-B14F-4D97-AF65-F5344CB8AC3E}">
        <p14:creationId xmlns:p14="http://schemas.microsoft.com/office/powerpoint/2010/main" val="11047722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a:t>BA:Capability Alignment With </a:t>
            </a:r>
            <a:r>
              <a:rPr lang="en-US" sz="3200" dirty="0" smtClean="0"/>
              <a:t>VDML:Value </a:t>
            </a:r>
            <a:r>
              <a:rPr lang="en-US" sz="3200" dirty="0"/>
              <a:t>(1)</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436" y="396459"/>
            <a:ext cx="6981564" cy="6461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ate Placeholder 1"/>
          <p:cNvSpPr>
            <a:spLocks noGrp="1"/>
          </p:cNvSpPr>
          <p:nvPr>
            <p:ph type="dt" sz="half" idx="10"/>
          </p:nvPr>
        </p:nvSpPr>
        <p:spPr/>
        <p:txBody>
          <a:bodyPr/>
          <a:lstStyle/>
          <a:p>
            <a:fld id="{68DE2331-D00C-41B9-8DB2-3B9B6D0B402B}" type="datetime1">
              <a:rPr lang="en-US" smtClean="0"/>
              <a:t>6/14/2016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28</a:t>
            </a:fld>
            <a:endParaRPr lang="en-US"/>
          </a:p>
        </p:txBody>
      </p:sp>
    </p:spTree>
    <p:extLst>
      <p:ext uri="{BB962C8B-B14F-4D97-AF65-F5344CB8AC3E}">
        <p14:creationId xmlns:p14="http://schemas.microsoft.com/office/powerpoint/2010/main" val="11047722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72142"/>
            <a:ext cx="6666346" cy="6662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a:xfrm>
            <a:off x="0" y="0"/>
            <a:ext cx="9144000" cy="381000"/>
          </a:xfrm>
        </p:spPr>
        <p:txBody>
          <a:bodyPr>
            <a:noAutofit/>
          </a:bodyPr>
          <a:lstStyle/>
          <a:p>
            <a:r>
              <a:rPr lang="en-US" sz="3200" dirty="0"/>
              <a:t>BA:Capability Alignment With VDML:Value </a:t>
            </a:r>
            <a:r>
              <a:rPr lang="en-US" sz="3200" dirty="0" smtClean="0"/>
              <a:t>(2)</a:t>
            </a:r>
            <a:endParaRPr lang="en-US" sz="3200" dirty="0"/>
          </a:p>
        </p:txBody>
      </p:sp>
      <p:sp>
        <p:nvSpPr>
          <p:cNvPr id="2" name="Date Placeholder 1"/>
          <p:cNvSpPr>
            <a:spLocks noGrp="1"/>
          </p:cNvSpPr>
          <p:nvPr>
            <p:ph type="dt" sz="half" idx="10"/>
          </p:nvPr>
        </p:nvSpPr>
        <p:spPr/>
        <p:txBody>
          <a:bodyPr/>
          <a:lstStyle/>
          <a:p>
            <a:fld id="{7C688461-FD8C-43DB-95E4-3BEF44EE98DF}" type="datetime1">
              <a:rPr lang="en-US" smtClean="0"/>
              <a:t>6/14/2016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29</a:t>
            </a:fld>
            <a:endParaRPr lang="en-US"/>
          </a:p>
        </p:txBody>
      </p:sp>
    </p:spTree>
    <p:extLst>
      <p:ext uri="{BB962C8B-B14F-4D97-AF65-F5344CB8AC3E}">
        <p14:creationId xmlns:p14="http://schemas.microsoft.com/office/powerpoint/2010/main" val="6600382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a:t>BA:Capability</a:t>
            </a:r>
            <a:r>
              <a:rPr lang="en-US" sz="3600" dirty="0"/>
              <a:t> Alignment With VDML:Value </a:t>
            </a:r>
            <a:r>
              <a:rPr lang="en-US" sz="3600" dirty="0" smtClean="0"/>
              <a:t>(3)</a:t>
            </a:r>
            <a:endParaRPr lang="en-US" sz="36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152" y="461801"/>
            <a:ext cx="7946048" cy="6396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ate Placeholder 1"/>
          <p:cNvSpPr>
            <a:spLocks noGrp="1"/>
          </p:cNvSpPr>
          <p:nvPr>
            <p:ph type="dt" sz="half" idx="10"/>
          </p:nvPr>
        </p:nvSpPr>
        <p:spPr/>
        <p:txBody>
          <a:bodyPr/>
          <a:lstStyle/>
          <a:p>
            <a:fld id="{34F22706-4A79-4BFD-B1D2-52D1EF7C8B2A}" type="datetime1">
              <a:rPr lang="en-US" smtClean="0"/>
              <a:t>6/14/2016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30</a:t>
            </a:fld>
            <a:endParaRPr lang="en-US"/>
          </a:p>
        </p:txBody>
      </p:sp>
    </p:spTree>
    <p:extLst>
      <p:ext uri="{BB962C8B-B14F-4D97-AF65-F5344CB8AC3E}">
        <p14:creationId xmlns:p14="http://schemas.microsoft.com/office/powerpoint/2010/main" val="6600382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609600"/>
            <a:ext cx="7086600" cy="5816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129981" y="5786284"/>
            <a:ext cx="3733800" cy="923330"/>
          </a:xfrm>
          <a:prstGeom prst="rect">
            <a:avLst/>
          </a:prstGeom>
          <a:noFill/>
        </p:spPr>
        <p:txBody>
          <a:bodyPr wrap="square" rtlCol="0">
            <a:spAutoFit/>
          </a:bodyPr>
          <a:lstStyle/>
          <a:p>
            <a:r>
              <a:rPr lang="en-US" sz="900" b="1" dirty="0"/>
              <a:t>The latest version is always available at:</a:t>
            </a:r>
          </a:p>
          <a:p>
            <a:r>
              <a:rPr lang="en-US" sz="900" b="1" dirty="0"/>
              <a:t>http://www.iso-architecture.org/42010/templates/.</a:t>
            </a:r>
          </a:p>
          <a:p>
            <a:r>
              <a:rPr lang="en-US" sz="900" b="1" dirty="0"/>
              <a:t>The template is licensed under a Creative Commons Attribution 3.0 </a:t>
            </a:r>
            <a:r>
              <a:rPr lang="en-US" sz="900" b="1" dirty="0" err="1"/>
              <a:t>Unported</a:t>
            </a:r>
            <a:endParaRPr lang="en-US" sz="900" b="1" dirty="0"/>
          </a:p>
          <a:p>
            <a:r>
              <a:rPr lang="en-US" sz="900" b="1" dirty="0"/>
              <a:t>License. For terms of use, see:</a:t>
            </a:r>
          </a:p>
          <a:p>
            <a:r>
              <a:rPr lang="en-US" sz="900" b="1" dirty="0"/>
              <a:t>http://creativecommons.org/licenses/by/3.0/</a:t>
            </a:r>
          </a:p>
        </p:txBody>
      </p:sp>
      <p:sp>
        <p:nvSpPr>
          <p:cNvPr id="4" name="TextBox 3"/>
          <p:cNvSpPr txBox="1"/>
          <p:nvPr/>
        </p:nvSpPr>
        <p:spPr>
          <a:xfrm>
            <a:off x="5562600" y="4114800"/>
            <a:ext cx="3429001" cy="1169551"/>
          </a:xfrm>
          <a:prstGeom prst="rect">
            <a:avLst/>
          </a:prstGeom>
          <a:solidFill>
            <a:schemeClr val="bg1">
              <a:lumMod val="85000"/>
            </a:schemeClr>
          </a:solidFill>
          <a:ln w="22225">
            <a:solidFill>
              <a:srgbClr val="0070C0"/>
            </a:solidFill>
            <a:prstDash val="sysDash"/>
          </a:ln>
        </p:spPr>
        <p:txBody>
          <a:bodyPr wrap="square" rtlCol="0">
            <a:spAutoFit/>
          </a:bodyPr>
          <a:lstStyle/>
          <a:p>
            <a:r>
              <a:rPr lang="en-US" sz="1400" b="1" dirty="0" smtClean="0">
                <a:solidFill>
                  <a:srgbClr val="002060"/>
                </a:solidFill>
              </a:rPr>
              <a:t>With BA as the Architecture Description, Capability’s impact on and impact by the Management </a:t>
            </a:r>
            <a:r>
              <a:rPr lang="en-US" sz="1400" b="1" dirty="0">
                <a:solidFill>
                  <a:srgbClr val="002060"/>
                </a:solidFill>
              </a:rPr>
              <a:t>C</a:t>
            </a:r>
            <a:r>
              <a:rPr lang="en-US" sz="1400" b="1" dirty="0" smtClean="0">
                <a:solidFill>
                  <a:srgbClr val="002060"/>
                </a:solidFill>
              </a:rPr>
              <a:t>oncerns of Business Managers can be Views governed by the packages of the Capability-centric BA MM…</a:t>
            </a:r>
            <a:endParaRPr lang="en-US" sz="1400" b="1" dirty="0">
              <a:solidFill>
                <a:srgbClr val="002060"/>
              </a:solidFill>
            </a:endParaRPr>
          </a:p>
        </p:txBody>
      </p:sp>
      <p:sp>
        <p:nvSpPr>
          <p:cNvPr id="3" name="TextBox 2"/>
          <p:cNvSpPr txBox="1"/>
          <p:nvPr/>
        </p:nvSpPr>
        <p:spPr>
          <a:xfrm>
            <a:off x="-152400" y="762000"/>
            <a:ext cx="1447800" cy="307777"/>
          </a:xfrm>
          <a:prstGeom prst="rect">
            <a:avLst/>
          </a:prstGeom>
          <a:noFill/>
        </p:spPr>
        <p:txBody>
          <a:bodyPr wrap="square" rtlCol="0">
            <a:spAutoFit/>
          </a:bodyPr>
          <a:lstStyle/>
          <a:p>
            <a:pPr algn="ctr"/>
            <a:r>
              <a:rPr lang="en-US" sz="1400" b="1" dirty="0" smtClean="0">
                <a:solidFill>
                  <a:srgbClr val="C00000"/>
                </a:solidFill>
              </a:rPr>
              <a:t>“The Business”</a:t>
            </a:r>
            <a:endParaRPr lang="en-US" sz="1400" b="1" dirty="0">
              <a:solidFill>
                <a:srgbClr val="C00000"/>
              </a:solidFill>
            </a:endParaRPr>
          </a:p>
        </p:txBody>
      </p:sp>
      <p:sp>
        <p:nvSpPr>
          <p:cNvPr id="6" name="TextBox 5"/>
          <p:cNvSpPr txBox="1"/>
          <p:nvPr/>
        </p:nvSpPr>
        <p:spPr>
          <a:xfrm>
            <a:off x="4572000" y="1541725"/>
            <a:ext cx="1981200" cy="307777"/>
          </a:xfrm>
          <a:prstGeom prst="rect">
            <a:avLst/>
          </a:prstGeom>
          <a:noFill/>
        </p:spPr>
        <p:txBody>
          <a:bodyPr wrap="square" rtlCol="0">
            <a:spAutoFit/>
          </a:bodyPr>
          <a:lstStyle/>
          <a:p>
            <a:pPr algn="ctr"/>
            <a:r>
              <a:rPr lang="en-US" sz="1400" b="1" dirty="0" smtClean="0">
                <a:solidFill>
                  <a:srgbClr val="C00000"/>
                </a:solidFill>
              </a:rPr>
              <a:t>“Business Architecture”</a:t>
            </a:r>
            <a:endParaRPr lang="en-US" sz="1400" b="1" dirty="0">
              <a:solidFill>
                <a:srgbClr val="C00000"/>
              </a:solidFill>
            </a:endParaRPr>
          </a:p>
        </p:txBody>
      </p:sp>
      <p:sp>
        <p:nvSpPr>
          <p:cNvPr id="7" name="TextBox 6"/>
          <p:cNvSpPr txBox="1"/>
          <p:nvPr/>
        </p:nvSpPr>
        <p:spPr>
          <a:xfrm>
            <a:off x="-152400" y="1828800"/>
            <a:ext cx="1447800" cy="523220"/>
          </a:xfrm>
          <a:prstGeom prst="rect">
            <a:avLst/>
          </a:prstGeom>
          <a:noFill/>
        </p:spPr>
        <p:txBody>
          <a:bodyPr wrap="square" rtlCol="0">
            <a:spAutoFit/>
          </a:bodyPr>
          <a:lstStyle/>
          <a:p>
            <a:pPr algn="ctr"/>
            <a:r>
              <a:rPr lang="en-US" sz="1400" b="1" dirty="0" smtClean="0">
                <a:solidFill>
                  <a:srgbClr val="C00000"/>
                </a:solidFill>
              </a:rPr>
              <a:t>“Business Management”</a:t>
            </a:r>
            <a:endParaRPr lang="en-US" sz="1400" b="1" dirty="0">
              <a:solidFill>
                <a:srgbClr val="C00000"/>
              </a:solidFill>
            </a:endParaRPr>
          </a:p>
        </p:txBody>
      </p:sp>
      <p:sp>
        <p:nvSpPr>
          <p:cNvPr id="8" name="TextBox 7"/>
          <p:cNvSpPr txBox="1"/>
          <p:nvPr/>
        </p:nvSpPr>
        <p:spPr>
          <a:xfrm>
            <a:off x="-152400" y="2667000"/>
            <a:ext cx="1447800" cy="1600438"/>
          </a:xfrm>
          <a:prstGeom prst="rect">
            <a:avLst/>
          </a:prstGeom>
          <a:noFill/>
        </p:spPr>
        <p:txBody>
          <a:bodyPr wrap="square" rtlCol="0">
            <a:spAutoFit/>
          </a:bodyPr>
          <a:lstStyle/>
          <a:p>
            <a:pPr algn="ctr"/>
            <a:r>
              <a:rPr lang="en-US" sz="1400" b="1" dirty="0" smtClean="0">
                <a:solidFill>
                  <a:srgbClr val="C00000"/>
                </a:solidFill>
              </a:rPr>
              <a:t>“Alignment of What the Business Does (Capabilities) With Management Concerns”</a:t>
            </a:r>
            <a:endParaRPr lang="en-US" sz="1400" b="1" dirty="0">
              <a:solidFill>
                <a:srgbClr val="C00000"/>
              </a:solidFill>
            </a:endParaRPr>
          </a:p>
        </p:txBody>
      </p:sp>
      <p:sp>
        <p:nvSpPr>
          <p:cNvPr id="9" name="TextBox 8"/>
          <p:cNvSpPr txBox="1"/>
          <p:nvPr/>
        </p:nvSpPr>
        <p:spPr>
          <a:xfrm>
            <a:off x="-152400" y="4343400"/>
            <a:ext cx="1447800" cy="1169551"/>
          </a:xfrm>
          <a:prstGeom prst="rect">
            <a:avLst/>
          </a:prstGeom>
          <a:noFill/>
        </p:spPr>
        <p:txBody>
          <a:bodyPr wrap="square" rtlCol="0">
            <a:spAutoFit/>
          </a:bodyPr>
          <a:lstStyle/>
          <a:p>
            <a:pPr algn="ctr"/>
            <a:r>
              <a:rPr lang="en-US" sz="1400" b="1" dirty="0" smtClean="0">
                <a:solidFill>
                  <a:srgbClr val="C00000"/>
                </a:solidFill>
              </a:rPr>
              <a:t>“Relationships Between Capabilities and Management Concerns”</a:t>
            </a:r>
            <a:endParaRPr lang="en-US" sz="1400" b="1" dirty="0">
              <a:solidFill>
                <a:srgbClr val="C00000"/>
              </a:solidFill>
            </a:endParaRPr>
          </a:p>
        </p:txBody>
      </p:sp>
      <p:sp>
        <p:nvSpPr>
          <p:cNvPr id="10" name="TextBox 9"/>
          <p:cNvSpPr txBox="1"/>
          <p:nvPr/>
        </p:nvSpPr>
        <p:spPr>
          <a:xfrm>
            <a:off x="2819400" y="5128736"/>
            <a:ext cx="1752600" cy="738664"/>
          </a:xfrm>
          <a:prstGeom prst="rect">
            <a:avLst/>
          </a:prstGeom>
          <a:noFill/>
        </p:spPr>
        <p:txBody>
          <a:bodyPr wrap="square" rtlCol="0">
            <a:spAutoFit/>
          </a:bodyPr>
          <a:lstStyle/>
          <a:p>
            <a:pPr algn="ctr"/>
            <a:r>
              <a:rPr lang="en-US" sz="1400" b="1" dirty="0" smtClean="0">
                <a:solidFill>
                  <a:srgbClr val="C00000"/>
                </a:solidFill>
              </a:rPr>
              <a:t>“Packages for Views that Are Anchored To Capability”</a:t>
            </a:r>
            <a:endParaRPr lang="en-US" sz="1400" b="1" dirty="0">
              <a:solidFill>
                <a:srgbClr val="C00000"/>
              </a:solidFill>
            </a:endParaRPr>
          </a:p>
        </p:txBody>
      </p:sp>
      <p:sp>
        <p:nvSpPr>
          <p:cNvPr id="5" name="Title 4"/>
          <p:cNvSpPr>
            <a:spLocks noGrp="1"/>
          </p:cNvSpPr>
          <p:nvPr>
            <p:ph type="title"/>
          </p:nvPr>
        </p:nvSpPr>
        <p:spPr>
          <a:xfrm>
            <a:off x="0" y="0"/>
            <a:ext cx="9144000" cy="609600"/>
          </a:xfrm>
        </p:spPr>
        <p:txBody>
          <a:bodyPr>
            <a:noAutofit/>
          </a:bodyPr>
          <a:lstStyle/>
          <a:p>
            <a:r>
              <a:rPr lang="en-US" sz="3200" dirty="0" smtClean="0"/>
              <a:t>BA MM as an ISO Architecture Description</a:t>
            </a:r>
            <a:endParaRPr lang="en-US" sz="3200" dirty="0"/>
          </a:p>
        </p:txBody>
      </p:sp>
      <p:sp>
        <p:nvSpPr>
          <p:cNvPr id="11" name="Date Placeholder 10"/>
          <p:cNvSpPr>
            <a:spLocks noGrp="1"/>
          </p:cNvSpPr>
          <p:nvPr>
            <p:ph type="dt" sz="half" idx="10"/>
          </p:nvPr>
        </p:nvSpPr>
        <p:spPr/>
        <p:txBody>
          <a:bodyPr/>
          <a:lstStyle/>
          <a:p>
            <a:fld id="{0C0AD179-4A1A-45FE-81A0-E27F18E9E293}" type="datetime1">
              <a:rPr lang="en-US" smtClean="0"/>
              <a:t>6/14/2016</a:t>
            </a:fld>
            <a:endParaRPr lang="en-US"/>
          </a:p>
        </p:txBody>
      </p:sp>
      <p:sp>
        <p:nvSpPr>
          <p:cNvPr id="13" name="Slide Number Placeholder 12"/>
          <p:cNvSpPr>
            <a:spLocks noGrp="1"/>
          </p:cNvSpPr>
          <p:nvPr>
            <p:ph type="sldNum" sz="quarter" idx="12"/>
          </p:nvPr>
        </p:nvSpPr>
        <p:spPr/>
        <p:txBody>
          <a:bodyPr/>
          <a:lstStyle/>
          <a:p>
            <a:fld id="{C8701F13-D499-404E-A11B-CE66F4C6465F}" type="slidenum">
              <a:rPr lang="en-US" smtClean="0"/>
              <a:t>31</a:t>
            </a:fld>
            <a:endParaRPr lang="en-US"/>
          </a:p>
        </p:txBody>
      </p:sp>
    </p:spTree>
    <p:extLst>
      <p:ext uri="{BB962C8B-B14F-4D97-AF65-F5344CB8AC3E}">
        <p14:creationId xmlns:p14="http://schemas.microsoft.com/office/powerpoint/2010/main" val="172780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6" grpId="0"/>
      <p:bldP spid="7" grpId="0"/>
      <p:bldP spid="8" grpId="0"/>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609600"/>
            <a:ext cx="7086600" cy="5816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257800" y="5786284"/>
            <a:ext cx="3733800" cy="923330"/>
          </a:xfrm>
          <a:prstGeom prst="rect">
            <a:avLst/>
          </a:prstGeom>
          <a:noFill/>
        </p:spPr>
        <p:txBody>
          <a:bodyPr wrap="square" rtlCol="0">
            <a:spAutoFit/>
          </a:bodyPr>
          <a:lstStyle/>
          <a:p>
            <a:r>
              <a:rPr lang="en-US" sz="900" b="1" dirty="0"/>
              <a:t>The latest version is always available at:</a:t>
            </a:r>
          </a:p>
          <a:p>
            <a:r>
              <a:rPr lang="en-US" sz="900" b="1" dirty="0"/>
              <a:t>http://www.iso-architecture.org/42010/templates/.</a:t>
            </a:r>
          </a:p>
          <a:p>
            <a:r>
              <a:rPr lang="en-US" sz="900" b="1" dirty="0"/>
              <a:t>The template is licensed under a Creative Commons Attribution 3.0 </a:t>
            </a:r>
            <a:r>
              <a:rPr lang="en-US" sz="900" b="1" dirty="0" err="1"/>
              <a:t>Unported</a:t>
            </a:r>
            <a:endParaRPr lang="en-US" sz="900" b="1" dirty="0"/>
          </a:p>
          <a:p>
            <a:r>
              <a:rPr lang="en-US" sz="900" b="1" dirty="0"/>
              <a:t>License. For terms of use, see:</a:t>
            </a:r>
          </a:p>
          <a:p>
            <a:r>
              <a:rPr lang="en-US" sz="900" b="1" dirty="0"/>
              <a:t>http://creativecommons.org/licenses/by/3.0/</a:t>
            </a:r>
          </a:p>
        </p:txBody>
      </p:sp>
      <p:sp>
        <p:nvSpPr>
          <p:cNvPr id="4" name="TextBox 3"/>
          <p:cNvSpPr txBox="1"/>
          <p:nvPr/>
        </p:nvSpPr>
        <p:spPr>
          <a:xfrm>
            <a:off x="5257800" y="3810000"/>
            <a:ext cx="3810002" cy="1600438"/>
          </a:xfrm>
          <a:prstGeom prst="rect">
            <a:avLst/>
          </a:prstGeom>
          <a:solidFill>
            <a:schemeClr val="bg1">
              <a:lumMod val="85000"/>
            </a:schemeClr>
          </a:solidFill>
          <a:ln w="22225">
            <a:solidFill>
              <a:srgbClr val="0070C0"/>
            </a:solidFill>
            <a:prstDash val="sysDash"/>
          </a:ln>
        </p:spPr>
        <p:txBody>
          <a:bodyPr wrap="square" rtlCol="0">
            <a:spAutoFit/>
          </a:bodyPr>
          <a:lstStyle/>
          <a:p>
            <a:r>
              <a:rPr lang="en-US" sz="1400" b="1" dirty="0" smtClean="0">
                <a:solidFill>
                  <a:srgbClr val="002060"/>
                </a:solidFill>
              </a:rPr>
              <a:t>…With VDML as the Architecture Description, Capability’s role in value creation can be a View governed by the Capability-related portion of the VDML MM, but this is much narrower than a Business Architecture’s View of Capability’s role across a number of business model concerns governed by a Capability-centric BA MM</a:t>
            </a:r>
            <a:endParaRPr lang="en-US" sz="1400" b="1" dirty="0">
              <a:solidFill>
                <a:srgbClr val="002060"/>
              </a:solidFill>
            </a:endParaRPr>
          </a:p>
        </p:txBody>
      </p:sp>
      <p:sp>
        <p:nvSpPr>
          <p:cNvPr id="3" name="Title 2"/>
          <p:cNvSpPr>
            <a:spLocks noGrp="1"/>
          </p:cNvSpPr>
          <p:nvPr>
            <p:ph type="title"/>
          </p:nvPr>
        </p:nvSpPr>
        <p:spPr>
          <a:xfrm>
            <a:off x="0" y="0"/>
            <a:ext cx="9144000" cy="609600"/>
          </a:xfrm>
        </p:spPr>
        <p:txBody>
          <a:bodyPr>
            <a:noAutofit/>
          </a:bodyPr>
          <a:lstStyle/>
          <a:p>
            <a:r>
              <a:rPr lang="en-US" sz="3200" dirty="0" smtClean="0"/>
              <a:t>VDML as an ISO </a:t>
            </a:r>
            <a:r>
              <a:rPr lang="en-US" sz="3200" dirty="0"/>
              <a:t>Architecture Description</a:t>
            </a:r>
          </a:p>
        </p:txBody>
      </p:sp>
      <p:sp>
        <p:nvSpPr>
          <p:cNvPr id="7" name="TextBox 6"/>
          <p:cNvSpPr txBox="1"/>
          <p:nvPr/>
        </p:nvSpPr>
        <p:spPr>
          <a:xfrm>
            <a:off x="-76200" y="762000"/>
            <a:ext cx="1447800" cy="307777"/>
          </a:xfrm>
          <a:prstGeom prst="rect">
            <a:avLst/>
          </a:prstGeom>
          <a:noFill/>
        </p:spPr>
        <p:txBody>
          <a:bodyPr wrap="square" rtlCol="0">
            <a:spAutoFit/>
          </a:bodyPr>
          <a:lstStyle/>
          <a:p>
            <a:pPr algn="ctr"/>
            <a:r>
              <a:rPr lang="en-US" sz="1400" b="1" dirty="0" smtClean="0">
                <a:solidFill>
                  <a:srgbClr val="C00000"/>
                </a:solidFill>
              </a:rPr>
              <a:t>“Value Creation”</a:t>
            </a:r>
            <a:endParaRPr lang="en-US" sz="1400" b="1" dirty="0">
              <a:solidFill>
                <a:srgbClr val="C00000"/>
              </a:solidFill>
            </a:endParaRPr>
          </a:p>
        </p:txBody>
      </p:sp>
      <p:sp>
        <p:nvSpPr>
          <p:cNvPr id="8" name="TextBox 7"/>
          <p:cNvSpPr txBox="1"/>
          <p:nvPr/>
        </p:nvSpPr>
        <p:spPr>
          <a:xfrm>
            <a:off x="4724400" y="1541725"/>
            <a:ext cx="838200" cy="307777"/>
          </a:xfrm>
          <a:prstGeom prst="rect">
            <a:avLst/>
          </a:prstGeom>
          <a:noFill/>
        </p:spPr>
        <p:txBody>
          <a:bodyPr wrap="square" rtlCol="0">
            <a:spAutoFit/>
          </a:bodyPr>
          <a:lstStyle/>
          <a:p>
            <a:pPr algn="ctr"/>
            <a:r>
              <a:rPr lang="en-US" sz="1400" b="1" dirty="0" smtClean="0">
                <a:solidFill>
                  <a:srgbClr val="C00000"/>
                </a:solidFill>
              </a:rPr>
              <a:t>“VDML”</a:t>
            </a:r>
            <a:endParaRPr lang="en-US" sz="1400" b="1" dirty="0">
              <a:solidFill>
                <a:srgbClr val="C00000"/>
              </a:solidFill>
            </a:endParaRPr>
          </a:p>
        </p:txBody>
      </p:sp>
      <p:sp>
        <p:nvSpPr>
          <p:cNvPr id="9" name="TextBox 8"/>
          <p:cNvSpPr txBox="1"/>
          <p:nvPr/>
        </p:nvSpPr>
        <p:spPr>
          <a:xfrm>
            <a:off x="-76200" y="1828800"/>
            <a:ext cx="1447800" cy="523220"/>
          </a:xfrm>
          <a:prstGeom prst="rect">
            <a:avLst/>
          </a:prstGeom>
          <a:noFill/>
        </p:spPr>
        <p:txBody>
          <a:bodyPr wrap="square" rtlCol="0">
            <a:spAutoFit/>
          </a:bodyPr>
          <a:lstStyle/>
          <a:p>
            <a:pPr algn="ctr"/>
            <a:r>
              <a:rPr lang="en-US" sz="1400" b="1" dirty="0" smtClean="0">
                <a:solidFill>
                  <a:srgbClr val="C00000"/>
                </a:solidFill>
              </a:rPr>
              <a:t>“Business Management”</a:t>
            </a:r>
            <a:endParaRPr lang="en-US" sz="1400" b="1" dirty="0">
              <a:solidFill>
                <a:srgbClr val="C00000"/>
              </a:solidFill>
            </a:endParaRPr>
          </a:p>
        </p:txBody>
      </p:sp>
      <p:sp>
        <p:nvSpPr>
          <p:cNvPr id="10" name="TextBox 9"/>
          <p:cNvSpPr txBox="1"/>
          <p:nvPr/>
        </p:nvSpPr>
        <p:spPr>
          <a:xfrm>
            <a:off x="-76200" y="3071336"/>
            <a:ext cx="1447800" cy="738664"/>
          </a:xfrm>
          <a:prstGeom prst="rect">
            <a:avLst/>
          </a:prstGeom>
          <a:noFill/>
        </p:spPr>
        <p:txBody>
          <a:bodyPr wrap="square" rtlCol="0">
            <a:spAutoFit/>
          </a:bodyPr>
          <a:lstStyle/>
          <a:p>
            <a:pPr algn="ctr"/>
            <a:r>
              <a:rPr lang="en-US" sz="1400" b="1" dirty="0" smtClean="0">
                <a:solidFill>
                  <a:srgbClr val="C00000"/>
                </a:solidFill>
              </a:rPr>
              <a:t>“Analysis and Measurement of Value Creation”</a:t>
            </a:r>
            <a:endParaRPr lang="en-US" sz="1400" b="1" dirty="0">
              <a:solidFill>
                <a:srgbClr val="C00000"/>
              </a:solidFill>
            </a:endParaRPr>
          </a:p>
        </p:txBody>
      </p:sp>
      <p:sp>
        <p:nvSpPr>
          <p:cNvPr id="11" name="TextBox 10"/>
          <p:cNvSpPr txBox="1"/>
          <p:nvPr/>
        </p:nvSpPr>
        <p:spPr>
          <a:xfrm>
            <a:off x="-76200" y="4343400"/>
            <a:ext cx="1447800" cy="954107"/>
          </a:xfrm>
          <a:prstGeom prst="rect">
            <a:avLst/>
          </a:prstGeom>
          <a:noFill/>
        </p:spPr>
        <p:txBody>
          <a:bodyPr wrap="square" rtlCol="0">
            <a:spAutoFit/>
          </a:bodyPr>
          <a:lstStyle/>
          <a:p>
            <a:pPr algn="ctr"/>
            <a:r>
              <a:rPr lang="en-US" sz="1400" b="1" dirty="0" smtClean="0">
                <a:solidFill>
                  <a:srgbClr val="C00000"/>
                </a:solidFill>
              </a:rPr>
              <a:t>“Relationships Between Value Creation Elements”</a:t>
            </a:r>
            <a:endParaRPr lang="en-US" sz="1400" b="1" dirty="0">
              <a:solidFill>
                <a:srgbClr val="C00000"/>
              </a:solidFill>
            </a:endParaRPr>
          </a:p>
        </p:txBody>
      </p:sp>
      <p:sp>
        <p:nvSpPr>
          <p:cNvPr id="12" name="TextBox 11"/>
          <p:cNvSpPr txBox="1"/>
          <p:nvPr/>
        </p:nvSpPr>
        <p:spPr>
          <a:xfrm>
            <a:off x="2819400" y="5128736"/>
            <a:ext cx="1752600" cy="738664"/>
          </a:xfrm>
          <a:prstGeom prst="rect">
            <a:avLst/>
          </a:prstGeom>
          <a:noFill/>
        </p:spPr>
        <p:txBody>
          <a:bodyPr wrap="square" rtlCol="0">
            <a:spAutoFit/>
          </a:bodyPr>
          <a:lstStyle/>
          <a:p>
            <a:pPr algn="ctr"/>
            <a:r>
              <a:rPr lang="en-US" sz="1400" b="1" dirty="0" smtClean="0">
                <a:solidFill>
                  <a:srgbClr val="C00000"/>
                </a:solidFill>
              </a:rPr>
              <a:t>“Measurable Aspects of Value Creation By Area of Focus”</a:t>
            </a:r>
            <a:endParaRPr lang="en-US" sz="1400" b="1" dirty="0">
              <a:solidFill>
                <a:srgbClr val="C00000"/>
              </a:solidFill>
            </a:endParaRPr>
          </a:p>
        </p:txBody>
      </p:sp>
      <p:sp>
        <p:nvSpPr>
          <p:cNvPr id="5" name="Date Placeholder 4"/>
          <p:cNvSpPr>
            <a:spLocks noGrp="1"/>
          </p:cNvSpPr>
          <p:nvPr>
            <p:ph type="dt" sz="half" idx="10"/>
          </p:nvPr>
        </p:nvSpPr>
        <p:spPr/>
        <p:txBody>
          <a:bodyPr/>
          <a:lstStyle/>
          <a:p>
            <a:fld id="{D795AE5F-B8BA-4D94-98C2-A1B0E2ED11FC}" type="datetime1">
              <a:rPr lang="en-US" smtClean="0"/>
              <a:t>6/14/2016</a:t>
            </a:fld>
            <a:endParaRPr lang="en-US"/>
          </a:p>
        </p:txBody>
      </p:sp>
      <p:sp>
        <p:nvSpPr>
          <p:cNvPr id="13" name="Slide Number Placeholder 12"/>
          <p:cNvSpPr>
            <a:spLocks noGrp="1"/>
          </p:cNvSpPr>
          <p:nvPr>
            <p:ph type="sldNum" sz="quarter" idx="12"/>
          </p:nvPr>
        </p:nvSpPr>
        <p:spPr/>
        <p:txBody>
          <a:bodyPr/>
          <a:lstStyle/>
          <a:p>
            <a:fld id="{C8701F13-D499-404E-A11B-CE66F4C6465F}" type="slidenum">
              <a:rPr lang="en-US" smtClean="0"/>
              <a:t>32</a:t>
            </a:fld>
            <a:endParaRPr lang="en-US"/>
          </a:p>
        </p:txBody>
      </p:sp>
    </p:spTree>
    <p:extLst>
      <p:ext uri="{BB962C8B-B14F-4D97-AF65-F5344CB8AC3E}">
        <p14:creationId xmlns:p14="http://schemas.microsoft.com/office/powerpoint/2010/main" val="10743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p:bldP spid="10"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Concluding Remarks</a:t>
            </a:r>
            <a:endParaRPr lang="en-US" sz="3600" dirty="0">
              <a:solidFill>
                <a:schemeClr val="tx2"/>
              </a:solidFill>
            </a:endParaRPr>
          </a:p>
        </p:txBody>
      </p:sp>
      <p:sp>
        <p:nvSpPr>
          <p:cNvPr id="5" name="Text Placeholder 4"/>
          <p:cNvSpPr>
            <a:spLocks noGrp="1"/>
          </p:cNvSpPr>
          <p:nvPr>
            <p:ph type="body" idx="1"/>
          </p:nvPr>
        </p:nvSpPr>
        <p:spPr>
          <a:xfrm>
            <a:off x="533400" y="3881437"/>
            <a:ext cx="8040688" cy="1833563"/>
          </a:xfrm>
        </p:spPr>
        <p:txBody>
          <a:bodyPr anchor="t">
            <a:normAutofit/>
          </a:bodyPr>
          <a:lstStyle/>
          <a:p>
            <a:r>
              <a:rPr lang="en-US" sz="1600" b="1" dirty="0" smtClean="0">
                <a:solidFill>
                  <a:schemeClr val="bg1">
                    <a:lumMod val="50000"/>
                  </a:schemeClr>
                </a:solidFill>
              </a:rPr>
              <a:t>Suggested Next Steps</a:t>
            </a:r>
          </a:p>
          <a:p>
            <a:r>
              <a:rPr lang="en-US" sz="1600" b="1" dirty="0" smtClean="0">
                <a:solidFill>
                  <a:schemeClr val="bg1">
                    <a:lumMod val="50000"/>
                  </a:schemeClr>
                </a:solidFill>
              </a:rPr>
              <a:t>Questions &amp; Answers</a:t>
            </a:r>
            <a:endParaRPr lang="en-US" sz="1600" b="1" dirty="0">
              <a:solidFill>
                <a:schemeClr val="bg1">
                  <a:lumMod val="50000"/>
                </a:schemeClr>
              </a:solidFill>
            </a:endParaRPr>
          </a:p>
        </p:txBody>
      </p:sp>
      <p:sp>
        <p:nvSpPr>
          <p:cNvPr id="2" name="Date Placeholder 1"/>
          <p:cNvSpPr>
            <a:spLocks noGrp="1"/>
          </p:cNvSpPr>
          <p:nvPr>
            <p:ph type="dt" sz="half" idx="10"/>
          </p:nvPr>
        </p:nvSpPr>
        <p:spPr/>
        <p:txBody>
          <a:bodyPr/>
          <a:lstStyle/>
          <a:p>
            <a:fld id="{4E452B4A-81A2-4E2C-A220-C16C6A66FF08}" type="datetime1">
              <a:rPr lang="en-US" smtClean="0"/>
              <a:t>6/14/2016</a:t>
            </a:fld>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33</a:t>
            </a:fld>
            <a:endParaRPr lang="en-US"/>
          </a:p>
        </p:txBody>
      </p:sp>
    </p:spTree>
    <p:extLst>
      <p:ext uri="{BB962C8B-B14F-4D97-AF65-F5344CB8AC3E}">
        <p14:creationId xmlns:p14="http://schemas.microsoft.com/office/powerpoint/2010/main" val="24127858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Suggested Next Steps</a:t>
            </a:r>
            <a:endParaRPr lang="en-US" dirty="0"/>
          </a:p>
        </p:txBody>
      </p:sp>
      <p:sp>
        <p:nvSpPr>
          <p:cNvPr id="5" name="Content Placeholder 4"/>
          <p:cNvSpPr>
            <a:spLocks noGrp="1"/>
          </p:cNvSpPr>
          <p:nvPr>
            <p:ph idx="1"/>
          </p:nvPr>
        </p:nvSpPr>
        <p:spPr>
          <a:xfrm>
            <a:off x="381000" y="1600200"/>
            <a:ext cx="8534400" cy="4525963"/>
          </a:xfrm>
        </p:spPr>
        <p:txBody>
          <a:bodyPr>
            <a:normAutofit/>
          </a:bodyPr>
          <a:lstStyle/>
          <a:p>
            <a:r>
              <a:rPr lang="en-US" dirty="0" smtClean="0"/>
              <a:t>Obtain feedback on BA MM and alignment with other standards (esp. VDML)</a:t>
            </a:r>
          </a:p>
          <a:p>
            <a:r>
              <a:rPr lang="en-US" dirty="0" smtClean="0"/>
              <a:t>Align on the Core Packages for BA MM</a:t>
            </a:r>
          </a:p>
          <a:p>
            <a:r>
              <a:rPr lang="en-US" dirty="0" smtClean="0"/>
              <a:t>Align on the modeling approach for BA MM</a:t>
            </a:r>
          </a:p>
          <a:p>
            <a:r>
              <a:rPr lang="en-US" dirty="0" smtClean="0"/>
              <a:t>Agree on timeline to issue BA MM RFP for OMG Standard </a:t>
            </a:r>
            <a:r>
              <a:rPr lang="en-US" dirty="0" smtClean="0">
                <a:solidFill>
                  <a:schemeClr val="tx2"/>
                </a:solidFill>
              </a:rPr>
              <a:t>*</a:t>
            </a:r>
            <a:endParaRPr lang="en-US" dirty="0">
              <a:solidFill>
                <a:schemeClr val="tx2"/>
              </a:solidFill>
            </a:endParaRPr>
          </a:p>
        </p:txBody>
      </p:sp>
      <p:sp>
        <p:nvSpPr>
          <p:cNvPr id="2" name="Rectangle 1"/>
          <p:cNvSpPr/>
          <p:nvPr/>
        </p:nvSpPr>
        <p:spPr>
          <a:xfrm>
            <a:off x="1485900" y="5334000"/>
            <a:ext cx="6324600" cy="923330"/>
          </a:xfrm>
          <a:prstGeom prst="rect">
            <a:avLst/>
          </a:prstGeom>
        </p:spPr>
        <p:txBody>
          <a:bodyPr wrap="square">
            <a:spAutoFit/>
          </a:bodyPr>
          <a:lstStyle/>
          <a:p>
            <a:r>
              <a:rPr lang="en-US" smtClean="0">
                <a:solidFill>
                  <a:schemeClr val="tx2"/>
                </a:solidFill>
              </a:rPr>
              <a:t>* Ideally</a:t>
            </a:r>
            <a:r>
              <a:rPr lang="en-US">
                <a:solidFill>
                  <a:schemeClr val="tx2"/>
                </a:solidFill>
              </a:rPr>
              <a:t>, targeting release of RFP by December timeframe, in time for the December OMG Tech Meeting, and responses due by next summer, followed by finalization roughly a year later</a:t>
            </a:r>
            <a:endParaRPr lang="en-US" dirty="0">
              <a:solidFill>
                <a:schemeClr val="tx2"/>
              </a:solidFill>
            </a:endParaRPr>
          </a:p>
        </p:txBody>
      </p:sp>
      <p:sp>
        <p:nvSpPr>
          <p:cNvPr id="3" name="Date Placeholder 2"/>
          <p:cNvSpPr>
            <a:spLocks noGrp="1"/>
          </p:cNvSpPr>
          <p:nvPr>
            <p:ph type="dt" sz="half" idx="10"/>
          </p:nvPr>
        </p:nvSpPr>
        <p:spPr/>
        <p:txBody>
          <a:bodyPr/>
          <a:lstStyle/>
          <a:p>
            <a:fld id="{BCEBAA8B-A4B0-4DFE-BDC2-742CAE1ACE37}" type="datetime1">
              <a:rPr lang="en-US" smtClean="0"/>
              <a:t>6/14/2016</a:t>
            </a:fld>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34</a:t>
            </a:fld>
            <a:endParaRPr lang="en-US"/>
          </a:p>
        </p:txBody>
      </p:sp>
    </p:spTree>
    <p:extLst>
      <p:ext uri="{BB962C8B-B14F-4D97-AF65-F5344CB8AC3E}">
        <p14:creationId xmlns:p14="http://schemas.microsoft.com/office/powerpoint/2010/main" val="7009864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Q&amp;A</a:t>
            </a:r>
            <a:endParaRPr lang="en-US" dirty="0"/>
          </a:p>
        </p:txBody>
      </p:sp>
      <p:pic>
        <p:nvPicPr>
          <p:cNvPr id="1026" name="Picture 2" descr="C:\Users\Lloyd Dugan\AppData\Local\Microsoft\Windows\INetCache\IE\QJ3KX3V5\question_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081212"/>
            <a:ext cx="4776788" cy="4776788"/>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272D6432-29FA-47B8-B8EF-113F4AD0A0D3}" type="datetime1">
              <a:rPr lang="en-US" smtClean="0"/>
              <a:t>6/14/2016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35</a:t>
            </a:fld>
            <a:endParaRPr lang="en-US"/>
          </a:p>
        </p:txBody>
      </p:sp>
    </p:spTree>
    <p:extLst>
      <p:ext uri="{BB962C8B-B14F-4D97-AF65-F5344CB8AC3E}">
        <p14:creationId xmlns:p14="http://schemas.microsoft.com/office/powerpoint/2010/main" val="8722249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5069</TotalTime>
  <Words>2775</Words>
  <Application>Microsoft Office PowerPoint</Application>
  <PresentationFormat>On-screen Show (4:3)</PresentationFormat>
  <Paragraphs>431</Paragraphs>
  <Slides>35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Avenir Next</vt:lpstr>
      <vt:lpstr>Calibri</vt:lpstr>
      <vt:lpstr>Office Theme</vt:lpstr>
      <vt:lpstr>Presentation To the OMG BMI WG On Proposed Business Architecture Meta Model as a Candidate Standard</vt:lpstr>
      <vt:lpstr>Outline</vt:lpstr>
      <vt:lpstr>BA MM relevancy &amp; TIMELINESS</vt:lpstr>
      <vt:lpstr>Why a BA MM ?</vt:lpstr>
      <vt:lpstr>Capability as the Centerpiece</vt:lpstr>
      <vt:lpstr>Positioning BA MM</vt:lpstr>
      <vt:lpstr>Unification of Concerns</vt:lpstr>
      <vt:lpstr>Adoption</vt:lpstr>
      <vt:lpstr>Scenario-Driven BA Meta Modeling</vt:lpstr>
      <vt:lpstr>BA MM Overview</vt:lpstr>
      <vt:lpstr>Location of Business Architecture on Modeling Spectrum</vt:lpstr>
      <vt:lpstr>BA as the Center-of-Gravity of Modeling Standards</vt:lpstr>
      <vt:lpstr>Capability as “1st Class Citizen” </vt:lpstr>
      <vt:lpstr>Layered Approach for BA MM Conceptual View</vt:lpstr>
      <vt:lpstr>BA Meta Modeling Approach Some New Thinking</vt:lpstr>
      <vt:lpstr>Key BA Meta Modeling Concepts Packages, Stereotypes, &amp; Proxies</vt:lpstr>
      <vt:lpstr>BA MM Core Packages</vt:lpstr>
      <vt:lpstr>BA MM Concept Definitions</vt:lpstr>
      <vt:lpstr>BA MM Concept Definitions</vt:lpstr>
      <vt:lpstr>BA MM alignment with vdml mm</vt:lpstr>
      <vt:lpstr>Positioning VDML MM with BA MM</vt:lpstr>
      <vt:lpstr>Role of Capability in VDML</vt:lpstr>
      <vt:lpstr>Role of Capability in VDML (cont’d.)</vt:lpstr>
      <vt:lpstr>BA MM &amp; VDML MM Alignment Approach</vt:lpstr>
      <vt:lpstr>BA MM – VDML MM Alignment Summary</vt:lpstr>
      <vt:lpstr>BA:Capability Alignment With VDML:Capability (1)</vt:lpstr>
      <vt:lpstr>BA:Capability Alignment With VDML:Capability (2)</vt:lpstr>
      <vt:lpstr>BA:Capability Alignment With VDML:Value (1)</vt:lpstr>
      <vt:lpstr>BA:Capability Alignment With VDML:Value (2)</vt:lpstr>
      <vt:lpstr>BA:Capability Alignment With VDML:Value (3)</vt:lpstr>
      <vt:lpstr>BA MM as an ISO Architecture Description</vt:lpstr>
      <vt:lpstr>VDML as an ISO Architecture Description</vt:lpstr>
      <vt:lpstr>Concluding Remarks</vt:lpstr>
      <vt:lpstr>Suggested Next Steps</vt:lpstr>
      <vt:lpstr>Q&amp;A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Lloyd Dugan</dc:creator>
  <cp:lastModifiedBy>William Ulrich</cp:lastModifiedBy>
  <cp:revision>130</cp:revision>
  <cp:lastPrinted>2016-06-04T03:14:38Z</cp:lastPrinted>
  <dcterms:created xsi:type="dcterms:W3CDTF">2016-06-02T20:27:32Z</dcterms:created>
  <dcterms:modified xsi:type="dcterms:W3CDTF">2016-06-14T17:38:50Z</dcterms:modified>
</cp:coreProperties>
</file>
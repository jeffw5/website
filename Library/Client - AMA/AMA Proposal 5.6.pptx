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19"/>
  </p:notesMasterIdLst>
  <p:handoutMasterIdLst>
    <p:handoutMasterId r:id="rId20"/>
  </p:handoutMasterIdLst>
  <p:sldIdLst>
    <p:sldId id="257" r:id="rId2"/>
    <p:sldId id="283" r:id="rId3"/>
    <p:sldId id="284" r:id="rId4"/>
    <p:sldId id="286" r:id="rId5"/>
    <p:sldId id="259" r:id="rId6"/>
    <p:sldId id="260" r:id="rId7"/>
    <p:sldId id="263" r:id="rId8"/>
    <p:sldId id="262" r:id="rId9"/>
    <p:sldId id="261" r:id="rId10"/>
    <p:sldId id="265" r:id="rId11"/>
    <p:sldId id="266" r:id="rId12"/>
    <p:sldId id="268" r:id="rId13"/>
    <p:sldId id="271" r:id="rId14"/>
    <p:sldId id="276" r:id="rId15"/>
    <p:sldId id="287" r:id="rId16"/>
    <p:sldId id="274" r:id="rId17"/>
    <p:sldId id="277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70" autoAdjust="0"/>
    <p:restoredTop sz="94660"/>
  </p:normalViewPr>
  <p:slideViewPr>
    <p:cSldViewPr>
      <p:cViewPr varScale="1">
        <p:scale>
          <a:sx n="100" d="100"/>
          <a:sy n="100" d="100"/>
        </p:scale>
        <p:origin x="43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953B3E-FE0E-4132-8507-9B770972069A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A238D8-41AA-42D1-A624-A4BE17E3489D}">
      <dgm:prSet phldrT="[Text]"/>
      <dgm:spPr/>
      <dgm:t>
        <a:bodyPr/>
        <a:lstStyle/>
        <a:p>
          <a:r>
            <a:rPr lang="en-US" b="1" dirty="0"/>
            <a:t>Value</a:t>
          </a:r>
        </a:p>
      </dgm:t>
    </dgm:pt>
    <dgm:pt modelId="{6FA72C3A-72F3-40C1-8749-0403B7B19AEC}" type="parTrans" cxnId="{FE37E077-C1FA-4AC5-B890-C36DE75CB9AE}">
      <dgm:prSet/>
      <dgm:spPr/>
      <dgm:t>
        <a:bodyPr/>
        <a:lstStyle/>
        <a:p>
          <a:endParaRPr lang="en-US"/>
        </a:p>
      </dgm:t>
    </dgm:pt>
    <dgm:pt modelId="{1323FBD4-0185-4499-9C77-8B125A9EDECB}" type="sibTrans" cxnId="{FE37E077-C1FA-4AC5-B890-C36DE75CB9AE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DBB4C2F7-4009-4772-A287-018D1DFA27A3}">
      <dgm:prSet phldrT="[Text]"/>
      <dgm:spPr/>
      <dgm:t>
        <a:bodyPr/>
        <a:lstStyle/>
        <a:p>
          <a:r>
            <a:rPr lang="en-US" b="1" dirty="0"/>
            <a:t>Quality</a:t>
          </a:r>
        </a:p>
      </dgm:t>
    </dgm:pt>
    <dgm:pt modelId="{36F840AF-7E1B-42F5-9FEA-00725135DC0C}" type="parTrans" cxnId="{44C1A03A-48EE-4CE5-8585-EC265DA22029}">
      <dgm:prSet/>
      <dgm:spPr/>
      <dgm:t>
        <a:bodyPr/>
        <a:lstStyle/>
        <a:p>
          <a:endParaRPr lang="en-US"/>
        </a:p>
      </dgm:t>
    </dgm:pt>
    <dgm:pt modelId="{3EBECECA-EEE9-4671-989E-9D199CD8E4F3}" type="sibTrans" cxnId="{44C1A03A-48EE-4CE5-8585-EC265DA22029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797F2B97-E140-44EC-B0A7-251A59CA45CE}">
      <dgm:prSet phldrT="[Text]"/>
      <dgm:spPr/>
      <dgm:t>
        <a:bodyPr/>
        <a:lstStyle/>
        <a:p>
          <a:r>
            <a:rPr lang="en-US" dirty="0"/>
            <a:t>Practitioner-Driven</a:t>
          </a:r>
        </a:p>
      </dgm:t>
    </dgm:pt>
    <dgm:pt modelId="{8D02BC7A-3D51-4B34-9986-C9B1FE3CFFE5}" type="parTrans" cxnId="{3FD6B0BB-80DC-42AB-BEF1-FABF153F6717}">
      <dgm:prSet/>
      <dgm:spPr/>
      <dgm:t>
        <a:bodyPr/>
        <a:lstStyle/>
        <a:p>
          <a:endParaRPr lang="en-US"/>
        </a:p>
      </dgm:t>
    </dgm:pt>
    <dgm:pt modelId="{4215C9C7-68AC-4EC3-8995-A4834E0849E5}" type="sibTrans" cxnId="{3FD6B0BB-80DC-42AB-BEF1-FABF153F6717}">
      <dgm:prSet/>
      <dgm:spPr/>
      <dgm:t>
        <a:bodyPr/>
        <a:lstStyle/>
        <a:p>
          <a:endParaRPr lang="en-US"/>
        </a:p>
      </dgm:t>
    </dgm:pt>
    <dgm:pt modelId="{1D895A9F-66CD-4D6A-87C1-D6070AA2D1F9}">
      <dgm:prSet phldrT="[Text]"/>
      <dgm:spPr/>
      <dgm:t>
        <a:bodyPr/>
        <a:lstStyle/>
        <a:p>
          <a:r>
            <a:rPr lang="en-US" b="1" dirty="0"/>
            <a:t>Results</a:t>
          </a:r>
        </a:p>
      </dgm:t>
    </dgm:pt>
    <dgm:pt modelId="{7AA8497B-C2CC-4C8E-AC5B-345ACBA48BB7}" type="parTrans" cxnId="{FC7A256F-CA42-4098-82B2-7BE13DF4416C}">
      <dgm:prSet/>
      <dgm:spPr/>
      <dgm:t>
        <a:bodyPr/>
        <a:lstStyle/>
        <a:p>
          <a:endParaRPr lang="en-US"/>
        </a:p>
      </dgm:t>
    </dgm:pt>
    <dgm:pt modelId="{EE563ECF-BA11-485C-9105-3B86BDDB9B0B}" type="sibTrans" cxnId="{FC7A256F-CA42-4098-82B2-7BE13DF4416C}">
      <dgm:prSet/>
      <dgm:spPr/>
      <dgm:t>
        <a:bodyPr/>
        <a:lstStyle/>
        <a:p>
          <a:endParaRPr lang="en-US"/>
        </a:p>
      </dgm:t>
    </dgm:pt>
    <dgm:pt modelId="{F8612028-6F88-4858-AC54-F76CAE6CE636}">
      <dgm:prSet phldrT="[Text]"/>
      <dgm:spPr/>
      <dgm:t>
        <a:bodyPr/>
        <a:lstStyle/>
        <a:p>
          <a:r>
            <a:rPr lang="en-US" dirty="0"/>
            <a:t>Provider-Driven</a:t>
          </a:r>
        </a:p>
      </dgm:t>
    </dgm:pt>
    <dgm:pt modelId="{217EE81B-17E9-4ECD-A44B-ECAAC82F554C}" type="parTrans" cxnId="{33939C41-5E32-4666-AB99-99D212C8DF44}">
      <dgm:prSet/>
      <dgm:spPr/>
      <dgm:t>
        <a:bodyPr/>
        <a:lstStyle/>
        <a:p>
          <a:endParaRPr lang="en-US"/>
        </a:p>
      </dgm:t>
    </dgm:pt>
    <dgm:pt modelId="{EBCD7AA3-FFCF-492D-BBCF-DF14AFE4441E}" type="sibTrans" cxnId="{33939C41-5E32-4666-AB99-99D212C8DF44}">
      <dgm:prSet/>
      <dgm:spPr/>
      <dgm:t>
        <a:bodyPr/>
        <a:lstStyle/>
        <a:p>
          <a:endParaRPr lang="en-US"/>
        </a:p>
      </dgm:t>
    </dgm:pt>
    <dgm:pt modelId="{B137D134-E00F-4B03-8649-9260A5728E45}">
      <dgm:prSet phldrT="[Text]"/>
      <dgm:spPr/>
      <dgm:t>
        <a:bodyPr/>
        <a:lstStyle/>
        <a:p>
          <a:r>
            <a:rPr lang="en-US" dirty="0"/>
            <a:t>Patient-Driven</a:t>
          </a:r>
        </a:p>
      </dgm:t>
    </dgm:pt>
    <dgm:pt modelId="{A56E3852-5D08-455E-934F-CC4A209DEBA1}" type="sibTrans" cxnId="{E546E067-D952-4C16-BF55-4CDDE33654ED}">
      <dgm:prSet/>
      <dgm:spPr/>
      <dgm:t>
        <a:bodyPr/>
        <a:lstStyle/>
        <a:p>
          <a:endParaRPr lang="en-US"/>
        </a:p>
      </dgm:t>
    </dgm:pt>
    <dgm:pt modelId="{F18D071C-91F5-4256-9C04-9045C1A99306}" type="parTrans" cxnId="{E546E067-D952-4C16-BF55-4CDDE33654ED}">
      <dgm:prSet/>
      <dgm:spPr/>
      <dgm:t>
        <a:bodyPr/>
        <a:lstStyle/>
        <a:p>
          <a:endParaRPr lang="en-US"/>
        </a:p>
      </dgm:t>
    </dgm:pt>
    <dgm:pt modelId="{1E153542-D7E0-4561-8633-4F9C38EBC364}" type="pres">
      <dgm:prSet presAssocID="{BF953B3E-FE0E-4132-8507-9B770972069A}" presName="outerComposite" presStyleCnt="0">
        <dgm:presLayoutVars>
          <dgm:chMax val="5"/>
          <dgm:dir/>
          <dgm:resizeHandles val="exact"/>
        </dgm:presLayoutVars>
      </dgm:prSet>
      <dgm:spPr/>
    </dgm:pt>
    <dgm:pt modelId="{7C6F8402-BB6D-4E54-A9CD-7AF6DDC9F657}" type="pres">
      <dgm:prSet presAssocID="{BF953B3E-FE0E-4132-8507-9B770972069A}" presName="dummyMaxCanvas" presStyleCnt="0">
        <dgm:presLayoutVars/>
      </dgm:prSet>
      <dgm:spPr/>
    </dgm:pt>
    <dgm:pt modelId="{19112690-9CC1-42CA-92EF-22A5046497D0}" type="pres">
      <dgm:prSet presAssocID="{BF953B3E-FE0E-4132-8507-9B770972069A}" presName="ThreeNodes_1" presStyleLbl="node1" presStyleIdx="0" presStyleCnt="3">
        <dgm:presLayoutVars>
          <dgm:bulletEnabled val="1"/>
        </dgm:presLayoutVars>
      </dgm:prSet>
      <dgm:spPr/>
    </dgm:pt>
    <dgm:pt modelId="{44FCDAAD-01F0-4B5F-AC01-AA624E3EDD7F}" type="pres">
      <dgm:prSet presAssocID="{BF953B3E-FE0E-4132-8507-9B770972069A}" presName="ThreeNodes_2" presStyleLbl="node1" presStyleIdx="1" presStyleCnt="3">
        <dgm:presLayoutVars>
          <dgm:bulletEnabled val="1"/>
        </dgm:presLayoutVars>
      </dgm:prSet>
      <dgm:spPr/>
    </dgm:pt>
    <dgm:pt modelId="{F374B58B-DD19-4846-902F-F2A0A40B53F0}" type="pres">
      <dgm:prSet presAssocID="{BF953B3E-FE0E-4132-8507-9B770972069A}" presName="ThreeNodes_3" presStyleLbl="node1" presStyleIdx="2" presStyleCnt="3">
        <dgm:presLayoutVars>
          <dgm:bulletEnabled val="1"/>
        </dgm:presLayoutVars>
      </dgm:prSet>
      <dgm:spPr/>
    </dgm:pt>
    <dgm:pt modelId="{6A0F8408-68AE-4879-BCBB-6F1D070EBBEC}" type="pres">
      <dgm:prSet presAssocID="{BF953B3E-FE0E-4132-8507-9B770972069A}" presName="ThreeConn_1-2" presStyleLbl="fgAccFollowNode1" presStyleIdx="0" presStyleCnt="2">
        <dgm:presLayoutVars>
          <dgm:bulletEnabled val="1"/>
        </dgm:presLayoutVars>
      </dgm:prSet>
      <dgm:spPr/>
    </dgm:pt>
    <dgm:pt modelId="{BC27DFCF-341C-4832-B707-7562421074B8}" type="pres">
      <dgm:prSet presAssocID="{BF953B3E-FE0E-4132-8507-9B770972069A}" presName="ThreeConn_2-3" presStyleLbl="fgAccFollowNode1" presStyleIdx="1" presStyleCnt="2">
        <dgm:presLayoutVars>
          <dgm:bulletEnabled val="1"/>
        </dgm:presLayoutVars>
      </dgm:prSet>
      <dgm:spPr/>
    </dgm:pt>
    <dgm:pt modelId="{C67EC5E8-DE49-43E0-8D6A-67245C3D29F1}" type="pres">
      <dgm:prSet presAssocID="{BF953B3E-FE0E-4132-8507-9B770972069A}" presName="ThreeNodes_1_text" presStyleLbl="node1" presStyleIdx="2" presStyleCnt="3">
        <dgm:presLayoutVars>
          <dgm:bulletEnabled val="1"/>
        </dgm:presLayoutVars>
      </dgm:prSet>
      <dgm:spPr/>
    </dgm:pt>
    <dgm:pt modelId="{78F0F54D-BDA7-46C0-84B2-112BAAC12E67}" type="pres">
      <dgm:prSet presAssocID="{BF953B3E-FE0E-4132-8507-9B770972069A}" presName="ThreeNodes_2_text" presStyleLbl="node1" presStyleIdx="2" presStyleCnt="3">
        <dgm:presLayoutVars>
          <dgm:bulletEnabled val="1"/>
        </dgm:presLayoutVars>
      </dgm:prSet>
      <dgm:spPr/>
    </dgm:pt>
    <dgm:pt modelId="{55643E70-788A-439F-A22B-D54BB71AE1B4}" type="pres">
      <dgm:prSet presAssocID="{BF953B3E-FE0E-4132-8507-9B770972069A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87865818-BDDA-4894-AC14-FF20E5EDEB6E}" type="presOf" srcId="{797F2B97-E140-44EC-B0A7-251A59CA45CE}" destId="{78F0F54D-BDA7-46C0-84B2-112BAAC12E67}" srcOrd="1" destOrd="1" presId="urn:microsoft.com/office/officeart/2005/8/layout/vProcess5"/>
    <dgm:cxn modelId="{44C1A03A-48EE-4CE5-8585-EC265DA22029}" srcId="{BF953B3E-FE0E-4132-8507-9B770972069A}" destId="{DBB4C2F7-4009-4772-A287-018D1DFA27A3}" srcOrd="1" destOrd="0" parTransId="{36F840AF-7E1B-42F5-9FEA-00725135DC0C}" sibTransId="{3EBECECA-EEE9-4671-989E-9D199CD8E4F3}"/>
    <dgm:cxn modelId="{33939C41-5E32-4666-AB99-99D212C8DF44}" srcId="{1D895A9F-66CD-4D6A-87C1-D6070AA2D1F9}" destId="{F8612028-6F88-4858-AC54-F76CAE6CE636}" srcOrd="0" destOrd="0" parTransId="{217EE81B-17E9-4ECD-A44B-ECAAC82F554C}" sibTransId="{EBCD7AA3-FFCF-492D-BBCF-DF14AFE4441E}"/>
    <dgm:cxn modelId="{A100D246-4654-409B-90DE-70011E0C5EE9}" type="presOf" srcId="{1D895A9F-66CD-4D6A-87C1-D6070AA2D1F9}" destId="{55643E70-788A-439F-A22B-D54BB71AE1B4}" srcOrd="1" destOrd="0" presId="urn:microsoft.com/office/officeart/2005/8/layout/vProcess5"/>
    <dgm:cxn modelId="{9E4B3D65-7867-46DE-984D-9D33B5A89C9B}" type="presOf" srcId="{1323FBD4-0185-4499-9C77-8B125A9EDECB}" destId="{6A0F8408-68AE-4879-BCBB-6F1D070EBBEC}" srcOrd="0" destOrd="0" presId="urn:microsoft.com/office/officeart/2005/8/layout/vProcess5"/>
    <dgm:cxn modelId="{E546E067-D952-4C16-BF55-4CDDE33654ED}" srcId="{7CA238D8-41AA-42D1-A624-A4BE17E3489D}" destId="{B137D134-E00F-4B03-8649-9260A5728E45}" srcOrd="0" destOrd="0" parTransId="{F18D071C-91F5-4256-9C04-9045C1A99306}" sibTransId="{A56E3852-5D08-455E-934F-CC4A209DEBA1}"/>
    <dgm:cxn modelId="{97401368-9CC1-4B46-869A-BFACB2071978}" type="presOf" srcId="{F8612028-6F88-4858-AC54-F76CAE6CE636}" destId="{55643E70-788A-439F-A22B-D54BB71AE1B4}" srcOrd="1" destOrd="1" presId="urn:microsoft.com/office/officeart/2005/8/layout/vProcess5"/>
    <dgm:cxn modelId="{F97A496A-1E42-4619-B712-FA49E8E0FB32}" type="presOf" srcId="{7CA238D8-41AA-42D1-A624-A4BE17E3489D}" destId="{19112690-9CC1-42CA-92EF-22A5046497D0}" srcOrd="0" destOrd="0" presId="urn:microsoft.com/office/officeart/2005/8/layout/vProcess5"/>
    <dgm:cxn modelId="{F9E84F6A-503A-42F0-B977-BE1EE364CC3C}" type="presOf" srcId="{1D895A9F-66CD-4D6A-87C1-D6070AA2D1F9}" destId="{F374B58B-DD19-4846-902F-F2A0A40B53F0}" srcOrd="0" destOrd="0" presId="urn:microsoft.com/office/officeart/2005/8/layout/vProcess5"/>
    <dgm:cxn modelId="{FC7A256F-CA42-4098-82B2-7BE13DF4416C}" srcId="{BF953B3E-FE0E-4132-8507-9B770972069A}" destId="{1D895A9F-66CD-4D6A-87C1-D6070AA2D1F9}" srcOrd="2" destOrd="0" parTransId="{7AA8497B-C2CC-4C8E-AC5B-345ACBA48BB7}" sibTransId="{EE563ECF-BA11-485C-9105-3B86BDDB9B0B}"/>
    <dgm:cxn modelId="{5A4F3D74-1B65-4C6D-8C66-829354959ABF}" type="presOf" srcId="{BF953B3E-FE0E-4132-8507-9B770972069A}" destId="{1E153542-D7E0-4561-8633-4F9C38EBC364}" srcOrd="0" destOrd="0" presId="urn:microsoft.com/office/officeart/2005/8/layout/vProcess5"/>
    <dgm:cxn modelId="{FE37E077-C1FA-4AC5-B890-C36DE75CB9AE}" srcId="{BF953B3E-FE0E-4132-8507-9B770972069A}" destId="{7CA238D8-41AA-42D1-A624-A4BE17E3489D}" srcOrd="0" destOrd="0" parTransId="{6FA72C3A-72F3-40C1-8749-0403B7B19AEC}" sibTransId="{1323FBD4-0185-4499-9C77-8B125A9EDECB}"/>
    <dgm:cxn modelId="{173B5D9E-620E-4448-8430-88D26E18F9DE}" type="presOf" srcId="{DBB4C2F7-4009-4772-A287-018D1DFA27A3}" destId="{78F0F54D-BDA7-46C0-84B2-112BAAC12E67}" srcOrd="1" destOrd="0" presId="urn:microsoft.com/office/officeart/2005/8/layout/vProcess5"/>
    <dgm:cxn modelId="{731BCE9F-5CF2-4AE3-9513-2812FD4ED712}" type="presOf" srcId="{3EBECECA-EEE9-4671-989E-9D199CD8E4F3}" destId="{BC27DFCF-341C-4832-B707-7562421074B8}" srcOrd="0" destOrd="0" presId="urn:microsoft.com/office/officeart/2005/8/layout/vProcess5"/>
    <dgm:cxn modelId="{A3280FA3-4726-4059-BF42-5FD5ABF12655}" type="presOf" srcId="{F8612028-6F88-4858-AC54-F76CAE6CE636}" destId="{F374B58B-DD19-4846-902F-F2A0A40B53F0}" srcOrd="0" destOrd="1" presId="urn:microsoft.com/office/officeart/2005/8/layout/vProcess5"/>
    <dgm:cxn modelId="{3FD6B0BB-80DC-42AB-BEF1-FABF153F6717}" srcId="{DBB4C2F7-4009-4772-A287-018D1DFA27A3}" destId="{797F2B97-E140-44EC-B0A7-251A59CA45CE}" srcOrd="0" destOrd="0" parTransId="{8D02BC7A-3D51-4B34-9986-C9B1FE3CFFE5}" sibTransId="{4215C9C7-68AC-4EC3-8995-A4834E0849E5}"/>
    <dgm:cxn modelId="{8F8183BF-8B88-4B8D-803F-D7F900E37297}" type="presOf" srcId="{DBB4C2F7-4009-4772-A287-018D1DFA27A3}" destId="{44FCDAAD-01F0-4B5F-AC01-AA624E3EDD7F}" srcOrd="0" destOrd="0" presId="urn:microsoft.com/office/officeart/2005/8/layout/vProcess5"/>
    <dgm:cxn modelId="{76AAAAE4-F669-4258-A904-113B696840DB}" type="presOf" srcId="{B137D134-E00F-4B03-8649-9260A5728E45}" destId="{19112690-9CC1-42CA-92EF-22A5046497D0}" srcOrd="0" destOrd="1" presId="urn:microsoft.com/office/officeart/2005/8/layout/vProcess5"/>
    <dgm:cxn modelId="{969F60E9-399F-4721-811C-CFDAFBEEC567}" type="presOf" srcId="{B137D134-E00F-4B03-8649-9260A5728E45}" destId="{C67EC5E8-DE49-43E0-8D6A-67245C3D29F1}" srcOrd="1" destOrd="1" presId="urn:microsoft.com/office/officeart/2005/8/layout/vProcess5"/>
    <dgm:cxn modelId="{FF9EE5F1-4E31-42B8-BD1B-988B7FAE156D}" type="presOf" srcId="{797F2B97-E140-44EC-B0A7-251A59CA45CE}" destId="{44FCDAAD-01F0-4B5F-AC01-AA624E3EDD7F}" srcOrd="0" destOrd="1" presId="urn:microsoft.com/office/officeart/2005/8/layout/vProcess5"/>
    <dgm:cxn modelId="{7E0227FC-4359-4C07-8214-E68641270586}" type="presOf" srcId="{7CA238D8-41AA-42D1-A624-A4BE17E3489D}" destId="{C67EC5E8-DE49-43E0-8D6A-67245C3D29F1}" srcOrd="1" destOrd="0" presId="urn:microsoft.com/office/officeart/2005/8/layout/vProcess5"/>
    <dgm:cxn modelId="{E901AA8A-0F65-45DC-A2F6-0EE385B1D20D}" type="presParOf" srcId="{1E153542-D7E0-4561-8633-4F9C38EBC364}" destId="{7C6F8402-BB6D-4E54-A9CD-7AF6DDC9F657}" srcOrd="0" destOrd="0" presId="urn:microsoft.com/office/officeart/2005/8/layout/vProcess5"/>
    <dgm:cxn modelId="{A2A5C3DC-1495-4C03-AC16-55468342A75D}" type="presParOf" srcId="{1E153542-D7E0-4561-8633-4F9C38EBC364}" destId="{19112690-9CC1-42CA-92EF-22A5046497D0}" srcOrd="1" destOrd="0" presId="urn:microsoft.com/office/officeart/2005/8/layout/vProcess5"/>
    <dgm:cxn modelId="{D09C5166-B240-4F92-B01B-C2D2D7418FF4}" type="presParOf" srcId="{1E153542-D7E0-4561-8633-4F9C38EBC364}" destId="{44FCDAAD-01F0-4B5F-AC01-AA624E3EDD7F}" srcOrd="2" destOrd="0" presId="urn:microsoft.com/office/officeart/2005/8/layout/vProcess5"/>
    <dgm:cxn modelId="{C7F0D368-08B9-4640-A9C7-8E621EEA40D2}" type="presParOf" srcId="{1E153542-D7E0-4561-8633-4F9C38EBC364}" destId="{F374B58B-DD19-4846-902F-F2A0A40B53F0}" srcOrd="3" destOrd="0" presId="urn:microsoft.com/office/officeart/2005/8/layout/vProcess5"/>
    <dgm:cxn modelId="{6232EABD-F989-458B-B70E-EE19AB0398E7}" type="presParOf" srcId="{1E153542-D7E0-4561-8633-4F9C38EBC364}" destId="{6A0F8408-68AE-4879-BCBB-6F1D070EBBEC}" srcOrd="4" destOrd="0" presId="urn:microsoft.com/office/officeart/2005/8/layout/vProcess5"/>
    <dgm:cxn modelId="{A69B442C-0BD6-4B56-89D2-1804C4452C69}" type="presParOf" srcId="{1E153542-D7E0-4561-8633-4F9C38EBC364}" destId="{BC27DFCF-341C-4832-B707-7562421074B8}" srcOrd="5" destOrd="0" presId="urn:microsoft.com/office/officeart/2005/8/layout/vProcess5"/>
    <dgm:cxn modelId="{C2D2757A-C3C9-486D-BF3A-24A6CC6F92A2}" type="presParOf" srcId="{1E153542-D7E0-4561-8633-4F9C38EBC364}" destId="{C67EC5E8-DE49-43E0-8D6A-67245C3D29F1}" srcOrd="6" destOrd="0" presId="urn:microsoft.com/office/officeart/2005/8/layout/vProcess5"/>
    <dgm:cxn modelId="{BF34F124-8C5A-4898-9FDD-DE81493AC9E5}" type="presParOf" srcId="{1E153542-D7E0-4561-8633-4F9C38EBC364}" destId="{78F0F54D-BDA7-46C0-84B2-112BAAC12E67}" srcOrd="7" destOrd="0" presId="urn:microsoft.com/office/officeart/2005/8/layout/vProcess5"/>
    <dgm:cxn modelId="{AB4A6EAE-7A5B-4AC5-B19B-FE987777A098}" type="presParOf" srcId="{1E153542-D7E0-4561-8633-4F9C38EBC364}" destId="{55643E70-788A-439F-A22B-D54BB71AE1B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#5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 custT="1"/>
      <dgm:spPr/>
      <dgm:t>
        <a:bodyPr/>
        <a:lstStyle/>
        <a:p>
          <a:r>
            <a:rPr lang="en-US" sz="1050" b="1" dirty="0"/>
            <a:t>Technology</a:t>
          </a:r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 custT="1"/>
      <dgm:spPr/>
      <dgm:t>
        <a:bodyPr/>
        <a:lstStyle/>
        <a:p>
          <a:r>
            <a:rPr lang="en-US" sz="1050" b="1" dirty="0"/>
            <a:t>Ideas</a:t>
          </a:r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/>
            <a:t>Resources</a:t>
          </a:r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>
              <a:solidFill>
                <a:schemeClr val="tx2">
                  <a:lumMod val="75000"/>
                </a:schemeClr>
              </a:solidFill>
            </a:rPr>
            <a:t>Innovation</a:t>
          </a:r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 custLinFactNeighborX="-12222" custLinFactNeighborY="86714"/>
      <dgm:spPr/>
    </dgm:pt>
    <dgm:pt modelId="{0B61870B-E2AE-47B9-90BE-64D52B77842D}" type="pres">
      <dgm:prSet presAssocID="{E20769C5-73DC-4E8A-913F-24C08F2848CC}" presName="rectangle" presStyleLbl="revTx" presStyleIdx="0" presStyleCnt="1" custScaleX="70370" custLinFactNeighborX="-1852" custLinFactNeighborY="51729">
        <dgm:presLayoutVars>
          <dgm:bulletEnabled val="1"/>
        </dgm:presLayoutVars>
      </dgm:prSet>
      <dgm:spPr/>
    </dgm:pt>
    <dgm:pt modelId="{3260B18C-0F12-415C-B2B5-B0D612D38936}" type="pres">
      <dgm:prSet presAssocID="{42874977-2580-429E-9A3F-5B0A5A2948AF}" presName="item1" presStyleLbl="node1" presStyleIdx="0" presStyleCnt="3" custScaleX="147013" custScaleY="103048" custLinFactNeighborX="-20888">
        <dgm:presLayoutVars>
          <dgm:bulletEnabled val="1"/>
        </dgm:presLayoutVars>
      </dgm:prSet>
      <dgm:spPr/>
    </dgm:pt>
    <dgm:pt modelId="{F96B2562-BEBF-42CE-9FF0-1BBD38426426}" type="pres">
      <dgm:prSet presAssocID="{973D7B39-D5D2-4B89-A3E7-1C0B9FD794DD}" presName="item2" presStyleLbl="node1" presStyleIdx="1" presStyleCnt="3" custScaleX="125185" custScaleY="102179" custLinFactNeighborX="-14816">
        <dgm:presLayoutVars>
          <dgm:bulletEnabled val="1"/>
        </dgm:presLayoutVars>
      </dgm:prSet>
      <dgm:spPr/>
    </dgm:pt>
    <dgm:pt modelId="{1700B4C8-12E4-4D00-876C-94377F786E85}" type="pres">
      <dgm:prSet presAssocID="{39749F21-8792-4349-A6A7-BF01EB94F789}" presName="item3" presStyleLbl="node1" presStyleIdx="2" presStyleCnt="3" custScaleX="125185" custScaleY="102179" custLinFactNeighborX="-14816">
        <dgm:presLayoutVars>
          <dgm:bulletEnabled val="1"/>
        </dgm:presLayoutVars>
      </dgm:prSet>
      <dgm:spPr/>
    </dgm:pt>
    <dgm:pt modelId="{CDFE8F55-FE62-4CE9-AB0C-1431255D3302}" type="pres">
      <dgm:prSet presAssocID="{E20769C5-73DC-4E8A-913F-24C08F2848CC}" presName="funnel" presStyleLbl="trAlignAcc1" presStyleIdx="0" presStyleCnt="1" custScaleY="114285" custLinFactNeighborX="-2381" custLinFactNeighborY="-231"/>
      <dgm:spPr/>
    </dgm:pt>
  </dgm:ptLst>
  <dgm:cxnLst>
    <dgm:cxn modelId="{5B2A9A3C-87A9-4DA5-82DA-B10F00C832A5}" type="presOf" srcId="{973D7B39-D5D2-4B89-A3E7-1C0B9FD794DD}" destId="{3260B18C-0F12-415C-B2B5-B0D612D38936}" srcOrd="0" destOrd="0" presId="urn:microsoft.com/office/officeart/2005/8/layout/funnel1"/>
    <dgm:cxn modelId="{3DE32D3F-1626-4303-B698-83C0BE34096B}" type="presOf" srcId="{E20769C5-73DC-4E8A-913F-24C08F2848CC}" destId="{D7B10E75-58CC-4807-BD47-EBDD0F301C5F}" srcOrd="0" destOrd="0" presId="urn:microsoft.com/office/officeart/2005/8/layout/funnel1"/>
    <dgm:cxn modelId="{58674CAE-D621-42E1-B737-852527C6B949}" type="presOf" srcId="{CAE624CA-334A-4EB5-BD8E-55849449CB58}" destId="{1700B4C8-12E4-4D00-876C-94377F786E85}" srcOrd="0" destOrd="0" presId="urn:microsoft.com/office/officeart/2005/8/layout/funnel1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ECC74AD3-8785-4C6E-A4E5-2BD166B59511}" type="presOf" srcId="{42874977-2580-429E-9A3F-5B0A5A2948AF}" destId="{F96B2562-BEBF-42CE-9FF0-1BBD38426426}" srcOrd="0" destOrd="0" presId="urn:microsoft.com/office/officeart/2005/8/layout/funnel1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19D82CE6-D630-421F-8F02-9CD0A715698A}" type="presOf" srcId="{39749F21-8792-4349-A6A7-BF01EB94F789}" destId="{0B61870B-E2AE-47B9-90BE-64D52B77842D}" srcOrd="0" destOrd="0" presId="urn:microsoft.com/office/officeart/2005/8/layout/funnel1"/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8B5B5923-7CBB-4646-9341-5327389C8121}" type="presParOf" srcId="{D7B10E75-58CC-4807-BD47-EBDD0F301C5F}" destId="{E1C58007-ADFE-400C-A7E7-0C16929F4834}" srcOrd="0" destOrd="0" presId="urn:microsoft.com/office/officeart/2005/8/layout/funnel1"/>
    <dgm:cxn modelId="{0D3B1025-3BEC-4317-8935-CA4F3BC2C2E1}" type="presParOf" srcId="{D7B10E75-58CC-4807-BD47-EBDD0F301C5F}" destId="{BE474BB7-A5E2-4490-A567-03B382957073}" srcOrd="1" destOrd="0" presId="urn:microsoft.com/office/officeart/2005/8/layout/funnel1"/>
    <dgm:cxn modelId="{97D5EDD7-E412-4A1F-BD3F-56F9A82C8C80}" type="presParOf" srcId="{D7B10E75-58CC-4807-BD47-EBDD0F301C5F}" destId="{0B61870B-E2AE-47B9-90BE-64D52B77842D}" srcOrd="2" destOrd="0" presId="urn:microsoft.com/office/officeart/2005/8/layout/funnel1"/>
    <dgm:cxn modelId="{3167C9CD-2B26-4E4A-BF58-006E135C311E}" type="presParOf" srcId="{D7B10E75-58CC-4807-BD47-EBDD0F301C5F}" destId="{3260B18C-0F12-415C-B2B5-B0D612D38936}" srcOrd="3" destOrd="0" presId="urn:microsoft.com/office/officeart/2005/8/layout/funnel1"/>
    <dgm:cxn modelId="{CFB1F51F-15E4-4CD4-B974-616F4E118548}" type="presParOf" srcId="{D7B10E75-58CC-4807-BD47-EBDD0F301C5F}" destId="{F96B2562-BEBF-42CE-9FF0-1BBD38426426}" srcOrd="4" destOrd="0" presId="urn:microsoft.com/office/officeart/2005/8/layout/funnel1"/>
    <dgm:cxn modelId="{F71AB4F8-B302-4D4E-AEB8-2D2229E1561F}" type="presParOf" srcId="{D7B10E75-58CC-4807-BD47-EBDD0F301C5F}" destId="{1700B4C8-12E4-4D00-876C-94377F786E85}" srcOrd="5" destOrd="0" presId="urn:microsoft.com/office/officeart/2005/8/layout/funnel1"/>
    <dgm:cxn modelId="{DAD1A2C4-698E-44C1-800C-01769B43B8C0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3AE5C1-39E1-47D6-9713-8CA9BE6EA1DA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56F0B946-F863-43B5-9AE7-3ED2571CC1F7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/>
            <a:t>New Concepts</a:t>
          </a:r>
        </a:p>
      </dgm:t>
    </dgm:pt>
    <dgm:pt modelId="{F90C4F27-7C52-43B8-B857-1E6F68F3A0F9}" type="parTrans" cxnId="{BBBA1413-C0B6-46CE-A30D-94152ED34DE8}">
      <dgm:prSet/>
      <dgm:spPr/>
      <dgm:t>
        <a:bodyPr/>
        <a:lstStyle/>
        <a:p>
          <a:endParaRPr lang="en-US"/>
        </a:p>
      </dgm:t>
    </dgm:pt>
    <dgm:pt modelId="{2F244DAD-A6A4-49A0-AA28-7EC63C55D23B}" type="sibTrans" cxnId="{BBBA1413-C0B6-46CE-A30D-94152ED34DE8}">
      <dgm:prSet/>
      <dgm:spPr/>
      <dgm:t>
        <a:bodyPr/>
        <a:lstStyle/>
        <a:p>
          <a:endParaRPr lang="en-US"/>
        </a:p>
      </dgm:t>
    </dgm:pt>
    <dgm:pt modelId="{F75D5E40-C0EA-4FAA-9275-3C70938E00EE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/>
            <a:t>New Products &amp; Services</a:t>
          </a:r>
        </a:p>
      </dgm:t>
    </dgm:pt>
    <dgm:pt modelId="{2407314F-7D22-4724-AF7B-2A237A1D7B5F}" type="parTrans" cxnId="{C39A6C43-E77D-4DD1-8F1C-021BDB497F58}">
      <dgm:prSet/>
      <dgm:spPr/>
      <dgm:t>
        <a:bodyPr/>
        <a:lstStyle/>
        <a:p>
          <a:endParaRPr lang="en-US"/>
        </a:p>
      </dgm:t>
    </dgm:pt>
    <dgm:pt modelId="{108A7A8B-C60D-477D-8727-EF1EB8DC2D8B}" type="sibTrans" cxnId="{C39A6C43-E77D-4DD1-8F1C-021BDB497F58}">
      <dgm:prSet/>
      <dgm:spPr/>
      <dgm:t>
        <a:bodyPr/>
        <a:lstStyle/>
        <a:p>
          <a:endParaRPr lang="en-US"/>
        </a:p>
      </dgm:t>
    </dgm:pt>
    <dgm:pt modelId="{5DCEAD6A-2995-470E-B294-EFE25C7FA270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/>
            <a:t>New     Value Delivery</a:t>
          </a:r>
        </a:p>
      </dgm:t>
    </dgm:pt>
    <dgm:pt modelId="{C43D03E2-F01E-4C34-8DDA-D49BF43D1DF7}" type="parTrans" cxnId="{5C094F0F-9651-4E55-8F4F-F941285F8C98}">
      <dgm:prSet/>
      <dgm:spPr/>
      <dgm:t>
        <a:bodyPr/>
        <a:lstStyle/>
        <a:p>
          <a:endParaRPr lang="en-US"/>
        </a:p>
      </dgm:t>
    </dgm:pt>
    <dgm:pt modelId="{0024873B-96DA-47BE-9734-9BE93456D3FF}" type="sibTrans" cxnId="{5C094F0F-9651-4E55-8F4F-F941285F8C98}">
      <dgm:prSet/>
      <dgm:spPr/>
      <dgm:t>
        <a:bodyPr/>
        <a:lstStyle/>
        <a:p>
          <a:endParaRPr lang="en-US"/>
        </a:p>
      </dgm:t>
    </dgm:pt>
    <dgm:pt modelId="{F6218397-5286-4BF9-91BC-3A8217C085AF}" type="pres">
      <dgm:prSet presAssocID="{673AE5C1-39E1-47D6-9713-8CA9BE6EA1DA}" presName="CompostProcess" presStyleCnt="0">
        <dgm:presLayoutVars>
          <dgm:dir/>
          <dgm:resizeHandles val="exact"/>
        </dgm:presLayoutVars>
      </dgm:prSet>
      <dgm:spPr/>
    </dgm:pt>
    <dgm:pt modelId="{57B6F08F-F180-42E5-86EE-1F47EC70A8B7}" type="pres">
      <dgm:prSet presAssocID="{673AE5C1-39E1-47D6-9713-8CA9BE6EA1DA}" presName="arrow" presStyleLbl="bgShp" presStyleIdx="0" presStyleCnt="1" custScaleX="117647" custLinFactNeighborX="4011" custLinFactNeighborY="-1087"/>
      <dgm:spPr/>
    </dgm:pt>
    <dgm:pt modelId="{ED339E6A-99DE-44B5-8942-676116993976}" type="pres">
      <dgm:prSet presAssocID="{673AE5C1-39E1-47D6-9713-8CA9BE6EA1DA}" presName="linearProcess" presStyleCnt="0"/>
      <dgm:spPr/>
    </dgm:pt>
    <dgm:pt modelId="{D195289F-4E10-4B57-8C58-6BB3CB9CCF4B}" type="pres">
      <dgm:prSet presAssocID="{56F0B946-F863-43B5-9AE7-3ED2571CC1F7}" presName="textNode" presStyleLbl="node1" presStyleIdx="0" presStyleCnt="3">
        <dgm:presLayoutVars>
          <dgm:bulletEnabled val="1"/>
        </dgm:presLayoutVars>
      </dgm:prSet>
      <dgm:spPr/>
    </dgm:pt>
    <dgm:pt modelId="{B5A6657B-DFA9-42AD-BD72-82BAEBF8B87E}" type="pres">
      <dgm:prSet presAssocID="{2F244DAD-A6A4-49A0-AA28-7EC63C55D23B}" presName="sibTrans" presStyleCnt="0"/>
      <dgm:spPr/>
    </dgm:pt>
    <dgm:pt modelId="{EDBBB759-F01A-4C3B-A1A8-D2C8F1E5A578}" type="pres">
      <dgm:prSet presAssocID="{F75D5E40-C0EA-4FAA-9275-3C70938E00EE}" presName="textNode" presStyleLbl="node1" presStyleIdx="1" presStyleCnt="3">
        <dgm:presLayoutVars>
          <dgm:bulletEnabled val="1"/>
        </dgm:presLayoutVars>
      </dgm:prSet>
      <dgm:spPr/>
    </dgm:pt>
    <dgm:pt modelId="{7E687DF4-201B-4FB8-B89C-9863D30313FA}" type="pres">
      <dgm:prSet presAssocID="{108A7A8B-C60D-477D-8727-EF1EB8DC2D8B}" presName="sibTrans" presStyleCnt="0"/>
      <dgm:spPr/>
    </dgm:pt>
    <dgm:pt modelId="{0564D69C-C697-46C9-AFEA-F63178C739BD}" type="pres">
      <dgm:prSet presAssocID="{5DCEAD6A-2995-470E-B294-EFE25C7FA270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5C094F0F-9651-4E55-8F4F-F941285F8C98}" srcId="{673AE5C1-39E1-47D6-9713-8CA9BE6EA1DA}" destId="{5DCEAD6A-2995-470E-B294-EFE25C7FA270}" srcOrd="2" destOrd="0" parTransId="{C43D03E2-F01E-4C34-8DDA-D49BF43D1DF7}" sibTransId="{0024873B-96DA-47BE-9734-9BE93456D3FF}"/>
    <dgm:cxn modelId="{BBBA1413-C0B6-46CE-A30D-94152ED34DE8}" srcId="{673AE5C1-39E1-47D6-9713-8CA9BE6EA1DA}" destId="{56F0B946-F863-43B5-9AE7-3ED2571CC1F7}" srcOrd="0" destOrd="0" parTransId="{F90C4F27-7C52-43B8-B857-1E6F68F3A0F9}" sibTransId="{2F244DAD-A6A4-49A0-AA28-7EC63C55D23B}"/>
    <dgm:cxn modelId="{84B97C2C-EF37-4E3C-8C22-167013D915EC}" type="presOf" srcId="{F75D5E40-C0EA-4FAA-9275-3C70938E00EE}" destId="{EDBBB759-F01A-4C3B-A1A8-D2C8F1E5A578}" srcOrd="0" destOrd="0" presId="urn:microsoft.com/office/officeart/2005/8/layout/hProcess9"/>
    <dgm:cxn modelId="{BF5BB735-D62C-4A9F-9EA6-3D7C29558420}" type="presOf" srcId="{673AE5C1-39E1-47D6-9713-8CA9BE6EA1DA}" destId="{F6218397-5286-4BF9-91BC-3A8217C085AF}" srcOrd="0" destOrd="0" presId="urn:microsoft.com/office/officeart/2005/8/layout/hProcess9"/>
    <dgm:cxn modelId="{C39A6C43-E77D-4DD1-8F1C-021BDB497F58}" srcId="{673AE5C1-39E1-47D6-9713-8CA9BE6EA1DA}" destId="{F75D5E40-C0EA-4FAA-9275-3C70938E00EE}" srcOrd="1" destOrd="0" parTransId="{2407314F-7D22-4724-AF7B-2A237A1D7B5F}" sibTransId="{108A7A8B-C60D-477D-8727-EF1EB8DC2D8B}"/>
    <dgm:cxn modelId="{C4D08A56-6610-46D8-822B-E2656EEB3F47}" type="presOf" srcId="{56F0B946-F863-43B5-9AE7-3ED2571CC1F7}" destId="{D195289F-4E10-4B57-8C58-6BB3CB9CCF4B}" srcOrd="0" destOrd="0" presId="urn:microsoft.com/office/officeart/2005/8/layout/hProcess9"/>
    <dgm:cxn modelId="{03E435AB-0AAF-4281-8868-DDED2AEDC476}" type="presOf" srcId="{5DCEAD6A-2995-470E-B294-EFE25C7FA270}" destId="{0564D69C-C697-46C9-AFEA-F63178C739BD}" srcOrd="0" destOrd="0" presId="urn:microsoft.com/office/officeart/2005/8/layout/hProcess9"/>
    <dgm:cxn modelId="{CA143FF3-D2F9-40D7-A686-892FA7BAE482}" type="presParOf" srcId="{F6218397-5286-4BF9-91BC-3A8217C085AF}" destId="{57B6F08F-F180-42E5-86EE-1F47EC70A8B7}" srcOrd="0" destOrd="0" presId="urn:microsoft.com/office/officeart/2005/8/layout/hProcess9"/>
    <dgm:cxn modelId="{33DCACD1-1374-445F-B4E0-ADD7E6590037}" type="presParOf" srcId="{F6218397-5286-4BF9-91BC-3A8217C085AF}" destId="{ED339E6A-99DE-44B5-8942-676116993976}" srcOrd="1" destOrd="0" presId="urn:microsoft.com/office/officeart/2005/8/layout/hProcess9"/>
    <dgm:cxn modelId="{DB23A0A1-B316-4F74-AA80-1D4F8729C208}" type="presParOf" srcId="{ED339E6A-99DE-44B5-8942-676116993976}" destId="{D195289F-4E10-4B57-8C58-6BB3CB9CCF4B}" srcOrd="0" destOrd="0" presId="urn:microsoft.com/office/officeart/2005/8/layout/hProcess9"/>
    <dgm:cxn modelId="{FF11F6E7-8BA4-4984-92CB-21FC6FEDA47B}" type="presParOf" srcId="{ED339E6A-99DE-44B5-8942-676116993976}" destId="{B5A6657B-DFA9-42AD-BD72-82BAEBF8B87E}" srcOrd="1" destOrd="0" presId="urn:microsoft.com/office/officeart/2005/8/layout/hProcess9"/>
    <dgm:cxn modelId="{960AECA3-3429-493F-97DC-E2C8CA120FF2}" type="presParOf" srcId="{ED339E6A-99DE-44B5-8942-676116993976}" destId="{EDBBB759-F01A-4C3B-A1A8-D2C8F1E5A578}" srcOrd="2" destOrd="0" presId="urn:microsoft.com/office/officeart/2005/8/layout/hProcess9"/>
    <dgm:cxn modelId="{E4112049-8ED3-4149-A1B6-A3D3DF078CF9}" type="presParOf" srcId="{ED339E6A-99DE-44B5-8942-676116993976}" destId="{7E687DF4-201B-4FB8-B89C-9863D30313FA}" srcOrd="3" destOrd="0" presId="urn:microsoft.com/office/officeart/2005/8/layout/hProcess9"/>
    <dgm:cxn modelId="{059E70AD-CF31-4471-9245-93B04D08FB2A}" type="presParOf" srcId="{ED339E6A-99DE-44B5-8942-676116993976}" destId="{0564D69C-C697-46C9-AFEA-F63178C739B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112690-9CC1-42CA-92EF-22A5046497D0}">
      <dsp:nvSpPr>
        <dsp:cNvPr id="0" name=""/>
        <dsp:cNvSpPr/>
      </dsp:nvSpPr>
      <dsp:spPr>
        <a:xfrm>
          <a:off x="0" y="0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Value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Patient-Driven</a:t>
          </a:r>
        </a:p>
      </dsp:txBody>
      <dsp:txXfrm>
        <a:off x="35709" y="35709"/>
        <a:ext cx="3865988" cy="1147782"/>
      </dsp:txXfrm>
    </dsp:sp>
    <dsp:sp modelId="{44FCDAAD-01F0-4B5F-AC01-AA624E3EDD7F}">
      <dsp:nvSpPr>
        <dsp:cNvPr id="0" name=""/>
        <dsp:cNvSpPr/>
      </dsp:nvSpPr>
      <dsp:spPr>
        <a:xfrm>
          <a:off x="457199" y="14223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Quality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Practitioner-Driven</a:t>
          </a:r>
        </a:p>
      </dsp:txBody>
      <dsp:txXfrm>
        <a:off x="492908" y="1458108"/>
        <a:ext cx="3860502" cy="1147782"/>
      </dsp:txXfrm>
    </dsp:sp>
    <dsp:sp modelId="{F374B58B-DD19-4846-902F-F2A0A40B53F0}">
      <dsp:nvSpPr>
        <dsp:cNvPr id="0" name=""/>
        <dsp:cNvSpPr/>
      </dsp:nvSpPr>
      <dsp:spPr>
        <a:xfrm>
          <a:off x="914399" y="28447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Results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Provider-Driven</a:t>
          </a:r>
        </a:p>
      </dsp:txBody>
      <dsp:txXfrm>
        <a:off x="950108" y="2880508"/>
        <a:ext cx="3860502" cy="1147782"/>
      </dsp:txXfrm>
    </dsp:sp>
    <dsp:sp modelId="{6A0F8408-68AE-4879-BCBB-6F1D070EBBEC}">
      <dsp:nvSpPr>
        <dsp:cNvPr id="0" name=""/>
        <dsp:cNvSpPr/>
      </dsp:nvSpPr>
      <dsp:spPr>
        <a:xfrm>
          <a:off x="4389120" y="924560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567428" y="924560"/>
        <a:ext cx="435864" cy="596341"/>
      </dsp:txXfrm>
    </dsp:sp>
    <dsp:sp modelId="{BC27DFCF-341C-4832-B707-7562421074B8}">
      <dsp:nvSpPr>
        <dsp:cNvPr id="0" name=""/>
        <dsp:cNvSpPr/>
      </dsp:nvSpPr>
      <dsp:spPr>
        <a:xfrm>
          <a:off x="4846320" y="2338832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024628" y="2338832"/>
        <a:ext cx="435864" cy="5963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700719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447800" y="2819399"/>
          <a:ext cx="428625" cy="2743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952500" y="3067049"/>
          <a:ext cx="1447792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2">
                  <a:lumMod val="75000"/>
                </a:schemeClr>
              </a:solidFill>
            </a:rPr>
            <a:t>Innovation</a:t>
          </a:r>
        </a:p>
      </dsp:txBody>
      <dsp:txXfrm>
        <a:off x="952500" y="3067049"/>
        <a:ext cx="1447792" cy="514350"/>
      </dsp:txXfrm>
    </dsp:sp>
    <dsp:sp modelId="{3260B18C-0F12-415C-B2B5-B0D612D38936}">
      <dsp:nvSpPr>
        <dsp:cNvPr id="0" name=""/>
        <dsp:cNvSpPr/>
      </dsp:nvSpPr>
      <dsp:spPr>
        <a:xfrm>
          <a:off x="1066804" y="1516378"/>
          <a:ext cx="1134242" cy="79504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Resources</a:t>
          </a:r>
        </a:p>
      </dsp:txBody>
      <dsp:txXfrm>
        <a:off x="1232910" y="1632809"/>
        <a:ext cx="802030" cy="562179"/>
      </dsp:txXfrm>
    </dsp:sp>
    <dsp:sp modelId="{F96B2562-BEBF-42CE-9FF0-1BBD38426426}">
      <dsp:nvSpPr>
        <dsp:cNvPr id="0" name=""/>
        <dsp:cNvSpPr/>
      </dsp:nvSpPr>
      <dsp:spPr>
        <a:xfrm>
          <a:off x="645786" y="940915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/>
            <a:t>Ideas</a:t>
          </a:r>
        </a:p>
      </dsp:txBody>
      <dsp:txXfrm>
        <a:off x="787229" y="1056364"/>
        <a:ext cx="682947" cy="557438"/>
      </dsp:txXfrm>
    </dsp:sp>
    <dsp:sp modelId="{1700B4C8-12E4-4D00-876C-94377F786E85}">
      <dsp:nvSpPr>
        <dsp:cNvPr id="0" name=""/>
        <dsp:cNvSpPr/>
      </dsp:nvSpPr>
      <dsp:spPr>
        <a:xfrm>
          <a:off x="1434456" y="754378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/>
            <a:t>Technology</a:t>
          </a:r>
        </a:p>
      </dsp:txBody>
      <dsp:txXfrm>
        <a:off x="1575899" y="869827"/>
        <a:ext cx="682947" cy="557438"/>
      </dsp:txXfrm>
    </dsp:sp>
    <dsp:sp modelId="{CDFE8F55-FE62-4CE9-AB0C-1431255D3302}">
      <dsp:nvSpPr>
        <dsp:cNvPr id="0" name=""/>
        <dsp:cNvSpPr/>
      </dsp:nvSpPr>
      <dsp:spPr>
        <a:xfrm>
          <a:off x="457198" y="464832"/>
          <a:ext cx="2400300" cy="2194546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B6F08F-F180-42E5-86EE-1F47EC70A8B7}">
      <dsp:nvSpPr>
        <dsp:cNvPr id="0" name=""/>
        <dsp:cNvSpPr/>
      </dsp:nvSpPr>
      <dsp:spPr>
        <a:xfrm>
          <a:off x="2" y="0"/>
          <a:ext cx="4190997" cy="2336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95289F-4E10-4B57-8C58-6BB3CB9CCF4B}">
      <dsp:nvSpPr>
        <dsp:cNvPr id="0" name=""/>
        <dsp:cNvSpPr/>
      </dsp:nvSpPr>
      <dsp:spPr>
        <a:xfrm>
          <a:off x="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New Concepts</a:t>
          </a:r>
        </a:p>
      </dsp:txBody>
      <dsp:txXfrm>
        <a:off x="45629" y="746669"/>
        <a:ext cx="1166042" cy="843462"/>
      </dsp:txXfrm>
    </dsp:sp>
    <dsp:sp modelId="{EDBBB759-F01A-4C3B-A1A8-D2C8F1E5A578}">
      <dsp:nvSpPr>
        <dsp:cNvPr id="0" name=""/>
        <dsp:cNvSpPr/>
      </dsp:nvSpPr>
      <dsp:spPr>
        <a:xfrm>
          <a:off x="1466849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New Products &amp; Services</a:t>
          </a:r>
        </a:p>
      </dsp:txBody>
      <dsp:txXfrm>
        <a:off x="1512478" y="746669"/>
        <a:ext cx="1166042" cy="843462"/>
      </dsp:txXfrm>
    </dsp:sp>
    <dsp:sp modelId="{0564D69C-C697-46C9-AFEA-F63178C739BD}">
      <dsp:nvSpPr>
        <dsp:cNvPr id="0" name=""/>
        <dsp:cNvSpPr/>
      </dsp:nvSpPr>
      <dsp:spPr>
        <a:xfrm>
          <a:off x="293370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New     Value Delivery</a:t>
          </a:r>
        </a:p>
      </dsp:txBody>
      <dsp:txXfrm>
        <a:off x="2979329" y="746669"/>
        <a:ext cx="1166042" cy="843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#5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DD8D3DF-C8E7-400F-A470-C35BFABFEA8B}" type="datetime1">
              <a:rPr lang="en-US"/>
              <a:pPr>
                <a:defRPr/>
              </a:pPr>
              <a:t>4/23/20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DFC0378-E924-45D2-833F-2407825596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BA5DA134-F246-4A0D-B32C-1C816EB1D884}" type="datetime1">
              <a:rPr lang="en-US"/>
              <a:pPr>
                <a:defRPr/>
              </a:pPr>
              <a:t>4/23/20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D8C2B3F5-6F9B-4CB9-8D11-1CB8B4199F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8086183-1692-4BAB-89CE-8EA69FACF634}" type="slidenum">
              <a:rPr lang="en-US" smtClean="0">
                <a:latin typeface="Calibri" pitchFamily="34" charset="0"/>
              </a:rPr>
              <a:pPr/>
              <a:t>1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F044FF-5D58-4B71-9743-A702AF10826E}" type="slidenum">
              <a:rPr lang="en-US" smtClean="0">
                <a:latin typeface="Calibri" pitchFamily="34" charset="0"/>
              </a:rPr>
              <a:pPr/>
              <a:t>2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A6487A0-066A-4A22-8DFD-9A39B981C7E8}" type="slidenum">
              <a:rPr lang="en-US" smtClean="0">
                <a:latin typeface="Calibri" pitchFamily="34" charset="0"/>
              </a:rPr>
              <a:pPr/>
              <a:t>5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42860BF-E294-4513-9F1C-003FAAC914C4}" type="slidenum">
              <a:rPr lang="en-US" smtClean="0">
                <a:latin typeface="Calibri" pitchFamily="34" charset="0"/>
              </a:rPr>
              <a:pPr/>
              <a:t>6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982A622-745F-4962-875B-0ADA09E6DA90}" type="slidenum">
              <a:rPr lang="en-US" smtClean="0">
                <a:latin typeface="Calibri" pitchFamily="34" charset="0"/>
              </a:rPr>
              <a:pPr/>
              <a:t>7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11E45C7-64D4-4801-B5EA-FD192A93681B}" type="slidenum">
              <a:rPr lang="en-US" smtClean="0">
                <a:latin typeface="Calibri" pitchFamily="34" charset="0"/>
              </a:rPr>
              <a:pPr/>
              <a:t>8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7CC1184-0578-4AC4-BBEF-A4F127FA2C39}" type="slidenum">
              <a:rPr lang="en-US" smtClean="0">
                <a:latin typeface="Calibri" pitchFamily="34" charset="0"/>
              </a:rPr>
              <a:pPr/>
              <a:t>9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BD134A0-657D-41F1-9E66-AB3AE6B97A02}" type="slidenum">
              <a:rPr lang="en-US" smtClean="0">
                <a:latin typeface="Calibri" pitchFamily="34" charset="0"/>
              </a:rPr>
              <a:pPr/>
              <a:t>10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967E0A2-8659-4B14-B129-2CA54DA3F4C1}" type="slidenum">
              <a:rPr lang="en-US" smtClean="0">
                <a:latin typeface="Calibri" pitchFamily="34" charset="0"/>
              </a:rPr>
              <a:pPr/>
              <a:t>11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C7119FC-7C01-4018-8445-2E62D3CA4D59}" type="slidenum">
              <a:rPr lang="en-US" smtClean="0">
                <a:latin typeface="Calibri" pitchFamily="34" charset="0"/>
              </a:rPr>
              <a:pPr/>
              <a:t>12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CD0BB94-9E74-4702-9353-84CB161F2723}" type="slidenum">
              <a:rPr lang="en-US" smtClean="0">
                <a:latin typeface="Calibri" pitchFamily="34" charset="0"/>
              </a:rPr>
              <a:pPr/>
              <a:t>13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234C9EB-C7A4-4235-86DC-D3FDF026DCA4}" type="slidenum">
              <a:rPr lang="en-US" smtClean="0">
                <a:latin typeface="Calibri" pitchFamily="34" charset="0"/>
              </a:rPr>
              <a:pPr/>
              <a:t>14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DF5B4E5-F26D-41E2-B832-7E86140F3804}" type="slidenum">
              <a:rPr lang="en-US" smtClean="0">
                <a:latin typeface="Calibri" pitchFamily="34" charset="0"/>
              </a:rPr>
              <a:pPr/>
              <a:t>15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DD206A6-4065-45FB-8162-EF7FB979AD68}" type="slidenum">
              <a:rPr lang="en-US" smtClean="0">
                <a:latin typeface="Calibri" pitchFamily="34" charset="0"/>
              </a:rPr>
              <a:pPr/>
              <a:t>16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724FB15-D4DD-42F5-8CEF-6AFF62F6DDF1}" type="slidenum">
              <a:rPr lang="en-US" smtClean="0">
                <a:latin typeface="Calibri" pitchFamily="34" charset="0"/>
              </a:rPr>
              <a:pPr/>
              <a:t>17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8A67391-9C2F-4576-BC27-1C9C10A952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10"/>
          <p:cNvSpPr>
            <a:spLocks noGrp="1"/>
          </p:cNvSpPr>
          <p:nvPr>
            <p:ph type="sldNum" sz="quarter" idx="10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B17766A0-4E7E-4346-9845-753A3E560A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887C531-DA27-446A-8A3B-0540AE8DE5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FC9C5604-86D9-4EB0-BC59-58A9D6CCB31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DCA6F392-9C2D-4F42-B20A-C1BECCDA9F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B372FCA7-C354-429C-9ED2-828CB4DE6D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DBBCB50-9D3D-47BD-8364-0BC282FB85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6D52CC7-5F5A-4913-8F2B-3DD5AAB29E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98569EF-EF0C-43C2-A2A7-1FCA48F5D3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C33277A-904F-48AA-BB90-3186DF325E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fld id="{5D87D35D-A695-453C-87D5-A9ECB16D7C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6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pitchFamily="34" charset="-128"/>
              </a:rPr>
              <a:t>A New Value Proposition</a:t>
            </a:r>
            <a:br>
              <a:rPr lang="en-US" b="1">
                <a:ea typeface="ＭＳ Ｐゴシック" pitchFamily="34" charset="-128"/>
              </a:rPr>
            </a:br>
            <a:r>
              <a:rPr lang="en-US" b="1">
                <a:ea typeface="ＭＳ Ｐゴシック" pitchFamily="34" charset="-128"/>
              </a:rPr>
              <a:t>for the AMA</a:t>
            </a:r>
          </a:p>
        </p:txBody>
      </p:sp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7413" y="3733800"/>
            <a:ext cx="2744787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itchFamily="34" charset="-128"/>
              </a:rPr>
              <a:t>Proposal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itchFamily="2" charset="2"/>
              <a:buChar char="q"/>
            </a:pP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 marL="457200" lvl="1" indent="0">
              <a:buNone/>
            </a:pPr>
            <a:r>
              <a:rPr lang="en-US" b="1" i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Implement a value-driven measurement system for healthcare to expand the membership, relevancy, and revenue potential for the AMA.   </a:t>
            </a:r>
          </a:p>
          <a:p>
            <a:pPr marL="457200" lvl="1" indent="0">
              <a:buNone/>
            </a:pPr>
            <a:endParaRPr lang="en-US" sz="2400" b="1" dirty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latin typeface="Calibri" pitchFamily="34" charset="0"/>
                <a:cs typeface="Calibri" pitchFamily="34" charset="0"/>
              </a:rPr>
              <a:t>To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provide a unified vision </a:t>
            </a:r>
            <a:r>
              <a:rPr lang="en-US" sz="2000" b="1" dirty="0">
                <a:latin typeface="Calibri" pitchFamily="34" charset="0"/>
                <a:cs typeface="Calibri" pitchFamily="34" charset="0"/>
              </a:rPr>
              <a:t>for delivering sustainable value for patients, practitioners, and provider.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drive innovation </a:t>
            </a:r>
            <a:r>
              <a:rPr lang="en-US" sz="2000" b="1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&amp; collaboration.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guide continuous improvement</a:t>
            </a:r>
            <a:r>
              <a:rPr lang="en-US" sz="2000" b="1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 (quality and efficiency) across the continuum of care.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Vision</a:t>
            </a:r>
          </a:p>
        </p:txBody>
      </p:sp>
      <p:graphicFrame>
        <p:nvGraphicFramePr>
          <p:cNvPr id="12" name="Diagram 11"/>
          <p:cNvGraphicFramePr/>
          <p:nvPr/>
        </p:nvGraphicFramePr>
        <p:xfrm>
          <a:off x="1524000" y="1651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 descr="business person 2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334000" y="4597400"/>
            <a:ext cx="1057275" cy="1057275"/>
          </a:xfrm>
          <a:prstGeom prst="rect">
            <a:avLst/>
          </a:prstGeom>
        </p:spPr>
      </p:pic>
      <p:pic>
        <p:nvPicPr>
          <p:cNvPr id="15" name="Picture 14" descr="doctor 2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876800" y="3149600"/>
            <a:ext cx="1066800" cy="1066800"/>
          </a:xfrm>
          <a:prstGeom prst="rect">
            <a:avLst/>
          </a:prstGeom>
        </p:spPr>
      </p:pic>
      <p:pic>
        <p:nvPicPr>
          <p:cNvPr id="16" name="Picture 15" descr="patient 2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572000" y="1778000"/>
            <a:ext cx="990600" cy="99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4572000"/>
            <a:ext cx="2362200" cy="138499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“We continue to pay for lots of medical procedures that don't add to health value and in fact just add costs to the system..”</a:t>
            </a:r>
          </a:p>
          <a:p>
            <a:r>
              <a:rPr lang="en-US" sz="1400" dirty="0"/>
              <a:t>      - Kathleen Sebelius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Drive LEAN with Value-Driven Measurement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84860" y="4038600"/>
            <a:ext cx="1452739" cy="2209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1" name="Rectangle 9"/>
          <p:cNvSpPr txBox="1">
            <a:spLocks noChangeArrowheads="1"/>
          </p:cNvSpPr>
          <p:nvPr/>
        </p:nvSpPr>
        <p:spPr bwMode="auto">
          <a:xfrm>
            <a:off x="609600" y="1373188"/>
            <a:ext cx="8305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Specify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value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in the eyes of the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customer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+mj-lt"/>
              <a:buAutoNum type="arabicPeriod" startAt="2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Identify the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value stream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and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eliminate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waste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 startAt="2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Make value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flow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at the pull of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the customer.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 startAt="2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Involve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and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Empower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employees.</a:t>
            </a:r>
          </a:p>
          <a:p>
            <a:pPr marL="533400" lvl="0" indent="-533400" eaLnBrk="0" hangingPunct="0">
              <a:spcBef>
                <a:spcPct val="20000"/>
              </a:spcBef>
              <a:buClr>
                <a:srgbClr val="001C67"/>
              </a:buClr>
              <a:buFont typeface="Arial" charset="0"/>
              <a:buAutoNum type="arabicPeriod" startAt="2"/>
            </a:pPr>
            <a:r>
              <a:rPr lang="en-US" sz="2400" dirty="0">
                <a:solidFill>
                  <a:srgbClr val="E12800"/>
                </a:solidFill>
                <a:ea typeface="ＭＳ Ｐゴシック" pitchFamily="-110" charset="-128"/>
              </a:rPr>
              <a:t>Continuously</a:t>
            </a:r>
            <a:r>
              <a:rPr lang="en-US" sz="2400" dirty="0">
                <a:ea typeface="ＭＳ Ｐゴシック" pitchFamily="-110" charset="-128"/>
              </a:rPr>
              <a:t> improve in the </a:t>
            </a:r>
            <a:br>
              <a:rPr lang="en-US" sz="2800" dirty="0">
                <a:ea typeface="ＭＳ Ｐゴシック" pitchFamily="-110" charset="-128"/>
              </a:rPr>
            </a:br>
            <a:r>
              <a:rPr lang="en-US" sz="2800" dirty="0">
                <a:ea typeface="ＭＳ Ｐゴシック" pitchFamily="-110" charset="-128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pursuit of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perfection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62800" y="1371600"/>
            <a:ext cx="15430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AutoShape 4"/>
          <p:cNvSpPr>
            <a:spLocks noChangeArrowheads="1"/>
          </p:cNvSpPr>
          <p:nvPr/>
        </p:nvSpPr>
        <p:spPr bwMode="auto">
          <a:xfrm rot="5400000">
            <a:off x="7604919" y="3444081"/>
            <a:ext cx="792162" cy="457200"/>
          </a:xfrm>
          <a:prstGeom prst="rightArrow">
            <a:avLst>
              <a:gd name="adj1" fmla="val 50000"/>
              <a:gd name="adj2" fmla="val 52799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4" name="AutoShape 4"/>
          <p:cNvSpPr>
            <a:spLocks noChangeArrowheads="1"/>
          </p:cNvSpPr>
          <p:nvPr/>
        </p:nvSpPr>
        <p:spPr bwMode="auto">
          <a:xfrm rot="5400000">
            <a:off x="2651919" y="2301081"/>
            <a:ext cx="792162" cy="457200"/>
          </a:xfrm>
          <a:prstGeom prst="rightArrow">
            <a:avLst>
              <a:gd name="adj1" fmla="val 50000"/>
              <a:gd name="adj2" fmla="val 52799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pitchFamily="34" charset="-128"/>
              </a:rPr>
              <a:t>Current Challenges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>
                <a:ea typeface="ＭＳ Ｐゴシック" pitchFamily="34" charset="-128"/>
              </a:rPr>
              <a:t>Eroding member base.  </a:t>
            </a:r>
          </a:p>
          <a:p>
            <a:pPr eaLnBrk="1" hangingPunct="1"/>
            <a:r>
              <a:rPr lang="en-US" sz="2400" dirty="0">
                <a:ea typeface="ＭＳ Ｐゴシック" pitchFamily="34" charset="-128"/>
              </a:rPr>
              <a:t>Aging membership.</a:t>
            </a:r>
          </a:p>
          <a:p>
            <a:pPr eaLnBrk="1" hangingPunct="1"/>
            <a:r>
              <a:rPr lang="en-US" sz="2400" dirty="0">
                <a:ea typeface="ＭＳ Ｐゴシック" pitchFamily="34" charset="-128"/>
              </a:rPr>
              <a:t>Decline in revenues from membership.</a:t>
            </a:r>
          </a:p>
          <a:p>
            <a:pPr eaLnBrk="1" hangingPunct="1"/>
            <a:r>
              <a:rPr lang="en-US" sz="2400" dirty="0">
                <a:ea typeface="ＭＳ Ｐゴシック" pitchFamily="34" charset="-128"/>
              </a:rPr>
              <a:t>Not perceived as an innovation leader. </a:t>
            </a:r>
          </a:p>
          <a:p>
            <a:pPr eaLnBrk="1" hangingPunct="1"/>
            <a:r>
              <a:rPr lang="en-US" sz="2400" dirty="0">
                <a:ea typeface="ＭＳ Ｐゴシック" pitchFamily="34" charset="-128"/>
              </a:rPr>
              <a:t>Value across the continuum of care is not measured from a patient (customer) perspective.</a:t>
            </a:r>
          </a:p>
          <a:p>
            <a:pPr eaLnBrk="1" hangingPunct="1"/>
            <a:r>
              <a:rPr lang="en-US" sz="2400" dirty="0">
                <a:ea typeface="ＭＳ Ｐゴシック" pitchFamily="34" charset="-128"/>
              </a:rPr>
              <a:t>Healthcare is fractionalized and becoming more distributed.</a:t>
            </a:r>
          </a:p>
          <a:p>
            <a:pPr eaLnBrk="1" hangingPunct="1"/>
            <a:r>
              <a:rPr lang="en-US" sz="2400" dirty="0">
                <a:ea typeface="ＭＳ Ｐゴシック" pitchFamily="34" charset="-128"/>
              </a:rPr>
              <a:t>The government is trying to lead healthcare reform.</a:t>
            </a:r>
          </a:p>
          <a:p>
            <a:pPr eaLnBrk="1" hangingPunct="1"/>
            <a:r>
              <a:rPr lang="en-US" sz="2400" dirty="0">
                <a:ea typeface="ＭＳ Ｐゴシック" pitchFamily="34" charset="-128"/>
              </a:rPr>
              <a:t>Need for clear leadership to drive reform, innovation, and unification across the healthcare continuum.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0" y="1600200"/>
            <a:ext cx="2209800" cy="116955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“Cost containment doesn't mean a lot unless we also have a corollary of increasing quality.”</a:t>
            </a:r>
          </a:p>
          <a:p>
            <a:r>
              <a:rPr lang="en-US" sz="1400" dirty="0"/>
              <a:t>      - Kathleen Sebelius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ＭＳ Ｐゴシック" pitchFamily="34" charset="-128"/>
              </a:rPr>
              <a:t>AMA’s Role in Healthcare Reform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ea typeface="ＭＳ Ｐゴシック" pitchFamily="34" charset="-128"/>
              </a:rPr>
              <a:t>A relevant voice that should be heard by the government. </a:t>
            </a:r>
          </a:p>
          <a:p>
            <a:r>
              <a:rPr lang="en-US" sz="2400" dirty="0">
                <a:ea typeface="ＭＳ Ｐゴシック" pitchFamily="34" charset="-128"/>
              </a:rPr>
              <a:t>Provide healthcare stakeholders with the following answers: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Practitioners are worried about quality, timeliness, and effort of care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Patients are worried about quality of care, loss of control, and cost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Providers are worried about loss of control and revenue</a:t>
            </a:r>
          </a:p>
          <a:p>
            <a:r>
              <a:rPr lang="en-US" sz="2400" dirty="0">
                <a:ea typeface="ＭＳ Ｐゴシック" pitchFamily="34" charset="-128"/>
              </a:rPr>
              <a:t>Opportunity for unifying leadership to provide guidance and direction for change (much of which will be disruptive). </a:t>
            </a:r>
          </a:p>
          <a:p>
            <a:r>
              <a:rPr lang="en-US" sz="2400" dirty="0">
                <a:ea typeface="ＭＳ Ｐゴシック" pitchFamily="34" charset="-128"/>
              </a:rPr>
              <a:t>Opportunity to encourage collaboration and cooperation to solve the healthcare needs in the US and across the world.</a:t>
            </a:r>
          </a:p>
          <a:p>
            <a:r>
              <a:rPr lang="en-US" sz="2400" dirty="0">
                <a:ea typeface="ＭＳ Ｐゴシック" pitchFamily="34" charset="-128"/>
              </a:rPr>
              <a:t>Opportunity to create a “system” of healthcare guided by consistent value-driven metrics (outcomes).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ＭＳ Ｐゴシック" pitchFamily="34" charset="-128"/>
              </a:rPr>
              <a:t>Needs of the Patients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ea typeface="ＭＳ Ｐゴシック" pitchFamily="34" charset="-128"/>
              </a:rPr>
              <a:t>To have affordable healthcare.</a:t>
            </a:r>
          </a:p>
          <a:p>
            <a:r>
              <a:rPr lang="en-US" sz="2400" dirty="0">
                <a:ea typeface="ＭＳ Ｐゴシック" pitchFamily="34" charset="-128"/>
              </a:rPr>
              <a:t>To have attainable healthcare.</a:t>
            </a:r>
          </a:p>
          <a:p>
            <a:r>
              <a:rPr lang="en-US" sz="2400" dirty="0">
                <a:ea typeface="ＭＳ Ｐゴシック" pitchFamily="34" charset="-128"/>
              </a:rPr>
              <a:t>To have more accessible healthcare. </a:t>
            </a:r>
          </a:p>
          <a:p>
            <a:r>
              <a:rPr lang="en-US" sz="2400" dirty="0">
                <a:ea typeface="ＭＳ Ｐゴシック" pitchFamily="34" charset="-128"/>
              </a:rPr>
              <a:t>To have consistent levels of quality (results).</a:t>
            </a:r>
          </a:p>
          <a:p>
            <a:r>
              <a:rPr lang="en-US" sz="2400" dirty="0">
                <a:ea typeface="ＭＳ Ｐゴシック" pitchFamily="34" charset="-128"/>
              </a:rPr>
              <a:t>To receive a total healthcare experience:</a:t>
            </a:r>
          </a:p>
          <a:p>
            <a:pPr lvl="1"/>
            <a:r>
              <a:rPr lang="en-US" sz="2400" dirty="0">
                <a:ea typeface="ＭＳ Ｐゴシック" pitchFamily="34" charset="-128"/>
              </a:rPr>
              <a:t>Ensure their functional outcomes met.</a:t>
            </a:r>
          </a:p>
          <a:p>
            <a:pPr lvl="1"/>
            <a:r>
              <a:rPr lang="en-US" sz="2400" dirty="0">
                <a:ea typeface="ＭＳ Ｐゴシック" pitchFamily="34" charset="-128"/>
              </a:rPr>
              <a:t>Ensure their emotional outcomes met.</a:t>
            </a:r>
          </a:p>
          <a:p>
            <a:pPr lvl="1"/>
            <a:r>
              <a:rPr lang="en-US" sz="2400" dirty="0">
                <a:ea typeface="ＭＳ Ｐゴシック" pitchFamily="34" charset="-128"/>
              </a:rPr>
              <a:t>Ensure their outcomes are met across the continuum of care (beyond the hospital, into clinics, and into the home).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0" y="1600200"/>
            <a:ext cx="2362200" cy="138499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“We continue to pay for lots of medical procedures that don't add to health value and in fact just add costs to the system..”</a:t>
            </a:r>
          </a:p>
          <a:p>
            <a:r>
              <a:rPr lang="en-US" sz="1400" dirty="0"/>
              <a:t>      - Kathleen Sebelius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ＭＳ Ｐゴシック" pitchFamily="34" charset="-128"/>
              </a:rPr>
              <a:t>Needs of the Practitioners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ea typeface="ＭＳ Ｐゴシック" pitchFamily="34" charset="-128"/>
              </a:rPr>
              <a:t>To improve diagnostic capabilities in a cost-effective manner.</a:t>
            </a:r>
          </a:p>
          <a:p>
            <a:r>
              <a:rPr lang="en-US" sz="2400" dirty="0">
                <a:ea typeface="ＭＳ Ｐゴシック" pitchFamily="34" charset="-128"/>
              </a:rPr>
              <a:t>To improve clinical processes. </a:t>
            </a:r>
          </a:p>
          <a:p>
            <a:r>
              <a:rPr lang="en-US" sz="2400" dirty="0">
                <a:ea typeface="ＭＳ Ｐゴシック" pitchFamily="34" charset="-128"/>
              </a:rPr>
              <a:t>To provide consistent levels of quality.</a:t>
            </a:r>
          </a:p>
          <a:p>
            <a:r>
              <a:rPr lang="en-US" sz="2400" dirty="0">
                <a:ea typeface="ＭＳ Ｐゴシック" pitchFamily="34" charset="-128"/>
              </a:rPr>
              <a:t>To move beyond service, where they can deliver a positive  experience. </a:t>
            </a:r>
          </a:p>
          <a:p>
            <a:r>
              <a:rPr lang="en-US" sz="2400" dirty="0">
                <a:ea typeface="ＭＳ Ｐゴシック" pitchFamily="34" charset="-128"/>
              </a:rPr>
              <a:t>To be able to reliably measure value for their patients, for themselves as individual practitioners , and for their practices.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ＭＳ Ｐゴシック" pitchFamily="34" charset="-128"/>
              </a:rPr>
              <a:t>Needs of the Providers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830763"/>
          </a:xfrm>
        </p:spPr>
        <p:txBody>
          <a:bodyPr/>
          <a:lstStyle/>
          <a:p>
            <a:r>
              <a:rPr lang="en-US" sz="2400" dirty="0">
                <a:ea typeface="ＭＳ Ｐゴシック" pitchFamily="34" charset="-128"/>
              </a:rPr>
              <a:t>To get pharmaceutical and device manufacturers, insurers, and healthcare suppliers to become aligned, unified and collaboratively focused on a consistent set of outcomes.</a:t>
            </a:r>
          </a:p>
          <a:p>
            <a:r>
              <a:rPr lang="en-US" sz="2400" dirty="0">
                <a:ea typeface="ＭＳ Ｐゴシック" pitchFamily="34" charset="-128"/>
              </a:rPr>
              <a:t>To increase collaboration NOT competition.</a:t>
            </a:r>
          </a:p>
          <a:p>
            <a:r>
              <a:rPr lang="en-US" sz="2400" dirty="0">
                <a:ea typeface="ＭＳ Ｐゴシック" pitchFamily="34" charset="-128"/>
              </a:rPr>
              <a:t>To understand how to identify, measure and deliver value throughout the healthcare value network.</a:t>
            </a:r>
          </a:p>
          <a:p>
            <a:r>
              <a:rPr lang="en-US" sz="2400" dirty="0">
                <a:ea typeface="ＭＳ Ｐゴシック" pitchFamily="34" charset="-128"/>
              </a:rPr>
              <a:t>To move towards a shared revenue model where everyone can still win, but not at the expense of others (esp. the patients &amp; the public).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ＭＳ Ｐゴシック" pitchFamily="34" charset="-128"/>
              </a:rPr>
              <a:t>AMA at the forefront of Healthcare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r>
              <a:rPr lang="en-US" sz="2400" dirty="0">
                <a:ea typeface="ＭＳ Ｐゴシック" pitchFamily="34" charset="-128"/>
              </a:rPr>
              <a:t>Defining &amp; delivering the prescription for healthcare reform should come from within healthcare (not the government).</a:t>
            </a:r>
          </a:p>
          <a:p>
            <a:r>
              <a:rPr lang="en-US" sz="2400" dirty="0">
                <a:ea typeface="ＭＳ Ｐゴシック" pitchFamily="34" charset="-128"/>
              </a:rPr>
              <a:t>Creating a vision for a new healthcare system by forming a collaborative model with healthcare advocacy organizations, institutions, providers and practitioners.</a:t>
            </a:r>
          </a:p>
          <a:p>
            <a:r>
              <a:rPr lang="en-US" sz="2400" dirty="0">
                <a:ea typeface="ＭＳ Ｐゴシック" pitchFamily="34" charset="-128"/>
              </a:rPr>
              <a:t>Providing the practitioners with a consistent set of benchmarks for measuring the value they deliver to patients.</a:t>
            </a:r>
          </a:p>
          <a:p>
            <a:r>
              <a:rPr lang="en-US" sz="2400" dirty="0">
                <a:ea typeface="ＭＳ Ｐゴシック" pitchFamily="34" charset="-128"/>
              </a:rPr>
              <a:t>Driving open innovation among providers to create a more efficient process for guiding and creating value.</a:t>
            </a:r>
          </a:p>
          <a:p>
            <a:r>
              <a:rPr lang="en-US" sz="2400" dirty="0">
                <a:ea typeface="ＭＳ Ｐゴシック" pitchFamily="34" charset="-128"/>
              </a:rPr>
              <a:t>Working collaboratively with the government to guide more efficient and effective funding that drives healthcare reform.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ＭＳ Ｐゴシック" pitchFamily="34" charset="-128"/>
              </a:rPr>
              <a:t>Moving from Assumptions to Implementation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ea typeface="ＭＳ Ｐゴシック" pitchFamily="34" charset="-128"/>
              </a:rPr>
              <a:t>Establish a program focused on mapping the Jobs &amp; Outcomes across the healthcare domain.</a:t>
            </a:r>
          </a:p>
          <a:p>
            <a:r>
              <a:rPr lang="en-US" sz="2400" dirty="0">
                <a:ea typeface="ＭＳ Ｐゴシック" pitchFamily="34" charset="-128"/>
              </a:rPr>
              <a:t>Build a portfolio of unmet needs (opportunities) for improving value delivery to patients and practitioners.</a:t>
            </a:r>
          </a:p>
          <a:p>
            <a:r>
              <a:rPr lang="en-US" sz="2400" dirty="0">
                <a:ea typeface="ＭＳ Ｐゴシック" pitchFamily="34" charset="-128"/>
              </a:rPr>
              <a:t>Establish a prioritization model to direct resources in an efficient manner.</a:t>
            </a:r>
          </a:p>
          <a:p>
            <a:r>
              <a:rPr lang="en-US" sz="2400" dirty="0">
                <a:ea typeface="ＭＳ Ｐゴシック" pitchFamily="34" charset="-128"/>
              </a:rPr>
              <a:t>Create an open innovation framework using the opportunities to generate ideas that can address the most important (prioritized) unmet needs. </a:t>
            </a:r>
          </a:p>
          <a:p>
            <a:r>
              <a:rPr lang="en-US" sz="2400" dirty="0">
                <a:ea typeface="ＭＳ Ｐゴシック" pitchFamily="34" charset="-128"/>
              </a:rPr>
              <a:t>Establish a shared revenue model as part of a collaborative to address unmet needs.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ＭＳ Ｐゴシック" pitchFamily="34" charset="-128"/>
              </a:rPr>
              <a:t>Measuring Value for Healthcare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Build a portfolio of jobs &amp; outcomes: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For measuring value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For driving innovation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For directing efforts to improve quality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For guiding initiatives to reduce cost</a:t>
            </a:r>
          </a:p>
          <a:p>
            <a:pPr lvl="1"/>
            <a:endParaRPr lang="en-US" dirty="0">
              <a:ea typeface="ＭＳ Ｐゴシック" pitchFamily="34" charset="-128"/>
            </a:endParaRPr>
          </a:p>
          <a:p>
            <a:pPr lvl="1">
              <a:buFont typeface="Arial" charset="0"/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 Value is created between the Patient &amp; Practitioner</a:t>
            </a:r>
          </a:p>
          <a:p>
            <a:pPr lvl="1"/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ＭＳ Ｐゴシック" pitchFamily="34" charset="-128"/>
              </a:rPr>
              <a:t>Enabling Value for Healthcare</a:t>
            </a:r>
          </a:p>
        </p:txBody>
      </p:sp>
      <p:sp>
        <p:nvSpPr>
          <p:cNvPr id="19" name="Flowchart: Process 18"/>
          <p:cNvSpPr/>
          <p:nvPr/>
        </p:nvSpPr>
        <p:spPr>
          <a:xfrm>
            <a:off x="381000" y="1524000"/>
            <a:ext cx="85344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2400" b="1" dirty="0">
                <a:solidFill>
                  <a:schemeClr val="tx1"/>
                </a:solidFill>
              </a:rPr>
              <a:t>Value-Driven Healthcare Platform</a:t>
            </a:r>
          </a:p>
        </p:txBody>
      </p:sp>
      <p:sp>
        <p:nvSpPr>
          <p:cNvPr id="22" name="Flowchart: Magnetic Disk 21"/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4" name="Flowchart: Magnetic Disk 23"/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6" name="Flowchart: Magnetic Disk 25"/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28" name="Down Arrow 27"/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aphicFrame>
        <p:nvGraphicFramePr>
          <p:cNvPr id="32" name="Diagram 31"/>
          <p:cNvGraphicFramePr/>
          <p:nvPr/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Flowchart: Magnetic Disk 32"/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Compliance</a:t>
            </a:r>
          </a:p>
        </p:txBody>
      </p:sp>
      <p:graphicFrame>
        <p:nvGraphicFramePr>
          <p:cNvPr id="38" name="Diagram 37"/>
          <p:cNvGraphicFramePr/>
          <p:nvPr/>
        </p:nvGraphicFramePr>
        <p:xfrm>
          <a:off x="4648200" y="2311400"/>
          <a:ext cx="41910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668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>
                <a:solidFill>
                  <a:schemeClr val="accent2">
                    <a:lumMod val="75000"/>
                  </a:schemeClr>
                </a:solidFill>
              </a:rPr>
              <a:t>Value-Driven metrics are used to drive innovation &amp; direct Quality &amp; Efficiency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4800" y="1905000"/>
            <a:ext cx="20574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>
                <a:solidFill>
                  <a:schemeClr val="tx2">
                    <a:lumMod val="75000"/>
                  </a:schemeClr>
                </a:solidFill>
              </a:rPr>
              <a:t>Value Measurement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53000" y="4191000"/>
            <a:ext cx="25146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>
                <a:solidFill>
                  <a:schemeClr val="tx2">
                    <a:lumMod val="75000"/>
                  </a:schemeClr>
                </a:solidFill>
              </a:rPr>
              <a:t>Quality &amp; Efficiency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sosceles Triangle 11"/>
          <p:cNvSpPr/>
          <p:nvPr/>
        </p:nvSpPr>
        <p:spPr>
          <a:xfrm>
            <a:off x="2438400" y="1447800"/>
            <a:ext cx="4953000" cy="4648200"/>
          </a:xfrm>
          <a:prstGeom prst="triangle">
            <a:avLst/>
          </a:prstGeom>
          <a:gradFill>
            <a:gsLst>
              <a:gs pos="12000">
                <a:schemeClr val="accent4">
                  <a:shade val="51000"/>
                  <a:satMod val="130000"/>
                  <a:alpha val="53000"/>
                </a:schemeClr>
              </a:gs>
              <a:gs pos="80000">
                <a:schemeClr val="accent4">
                  <a:shade val="93000"/>
                  <a:satMod val="130000"/>
                </a:schemeClr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ＭＳ Ｐゴシック" pitchFamily="34" charset="-128"/>
              </a:rPr>
              <a:t>An Expanded Membership Model</a:t>
            </a:r>
          </a:p>
        </p:txBody>
      </p:sp>
      <p:sp>
        <p:nvSpPr>
          <p:cNvPr id="33797" name="TextBox 5"/>
          <p:cNvSpPr txBox="1">
            <a:spLocks noChangeArrowheads="1"/>
          </p:cNvSpPr>
          <p:nvPr/>
        </p:nvSpPr>
        <p:spPr bwMode="auto">
          <a:xfrm>
            <a:off x="3048000" y="5181600"/>
            <a:ext cx="2057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48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2895600" cy="24622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Providing Patients with a way to measure the value they should be receiving for healthcare throughout the continuum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Practitioners to measure and optimize the value they deliver to Patients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the Providers to  deliver value to Patients &amp; Practitioners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2438400"/>
            <a:ext cx="4295565" cy="2838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ＭＳ Ｐゴシック" pitchFamily="34" charset="-128"/>
              </a:rPr>
              <a:t>Reducing Costs &amp; Driving Value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457200" y="1341437"/>
            <a:ext cx="8382000" cy="4830763"/>
          </a:xfrm>
        </p:spPr>
        <p:txBody>
          <a:bodyPr/>
          <a:lstStyle/>
          <a:p>
            <a:r>
              <a:rPr lang="en-US" dirty="0">
                <a:ea typeface="ＭＳ Ｐゴシック" pitchFamily="34" charset="-128"/>
              </a:rPr>
              <a:t>Today…</a:t>
            </a:r>
          </a:p>
          <a:p>
            <a:pPr lvl="1"/>
            <a:r>
              <a:rPr lang="en-US" sz="2400" dirty="0">
                <a:ea typeface="ＭＳ Ｐゴシック" pitchFamily="34" charset="-128"/>
              </a:rPr>
              <a:t>We rely on a variety of measures to deliver value across an increasingly distributed network of healthcare participants (providers, practitioners)</a:t>
            </a:r>
          </a:p>
          <a:p>
            <a:r>
              <a:rPr lang="en-US" dirty="0">
                <a:ea typeface="ＭＳ Ｐゴシック" pitchFamily="34" charset="-128"/>
              </a:rPr>
              <a:t>Tomorrow…</a:t>
            </a:r>
          </a:p>
          <a:p>
            <a:pPr lvl="1"/>
            <a:r>
              <a:rPr lang="en-US" sz="2400" dirty="0">
                <a:ea typeface="ＭＳ Ｐゴシック" pitchFamily="34" charset="-128"/>
              </a:rPr>
              <a:t>We will use patient-driven measures of value to:</a:t>
            </a:r>
          </a:p>
          <a:p>
            <a:pPr lvl="2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ea typeface="ＭＳ Ｐゴシック" pitchFamily="34" charset="-128"/>
              </a:rPr>
              <a:t>Unify the delivery of value to the patient across the continuum of healthcare </a:t>
            </a:r>
          </a:p>
          <a:p>
            <a:pPr lvl="2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ea typeface="ＭＳ Ｐゴシック" pitchFamily="34" charset="-128"/>
              </a:rPr>
              <a:t>Ensure continuous improvement efforts focused on quality and results (efficiency and costs) align with value-driven metrics</a:t>
            </a:r>
          </a:p>
          <a:p>
            <a:pPr lvl="2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ea typeface="ＭＳ Ｐゴシック" pitchFamily="34" charset="-128"/>
              </a:rPr>
              <a:t>Guide providers to build the right products &amp; services for patients and practitioners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ＭＳ Ｐゴシック" pitchFamily="34" charset="-128"/>
              </a:rPr>
              <a:t>Positioning the AMA to Lead Healthcare Reform</a:t>
            </a:r>
          </a:p>
        </p:txBody>
      </p:sp>
      <p:sp>
        <p:nvSpPr>
          <p:cNvPr id="4" name="Flowchart: Process 3"/>
          <p:cNvSpPr/>
          <p:nvPr/>
        </p:nvSpPr>
        <p:spPr>
          <a:xfrm>
            <a:off x="381000" y="1524000"/>
            <a:ext cx="8382000" cy="46482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2133600" y="1600200"/>
            <a:ext cx="4648200" cy="53340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6" name="Rounded Rectangle 5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2000" b="1" dirty="0"/>
                <a:t>Value Measurement Repository</a:t>
              </a:r>
            </a:p>
          </p:txBody>
        </p:sp>
      </p:grpSp>
      <p:grpSp>
        <p:nvGrpSpPr>
          <p:cNvPr id="3" name="Group 7"/>
          <p:cNvGrpSpPr/>
          <p:nvPr/>
        </p:nvGrpSpPr>
        <p:grpSpPr>
          <a:xfrm>
            <a:off x="10668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9" name="Rounded Rectangle 8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Healthcare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Advocacy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Groups</a:t>
              </a:r>
            </a:p>
          </p:txBody>
        </p:sp>
      </p:grpSp>
      <p:grpSp>
        <p:nvGrpSpPr>
          <p:cNvPr id="5" name="Group 10"/>
          <p:cNvGrpSpPr/>
          <p:nvPr/>
        </p:nvGrpSpPr>
        <p:grpSpPr>
          <a:xfrm>
            <a:off x="2438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2" name="Rounded Rectangle 1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Healthcare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Disciplines</a:t>
              </a:r>
            </a:p>
          </p:txBody>
        </p:sp>
      </p:grpSp>
      <p:grpSp>
        <p:nvGrpSpPr>
          <p:cNvPr id="8" name="Group 13"/>
          <p:cNvGrpSpPr/>
          <p:nvPr/>
        </p:nvGrpSpPr>
        <p:grpSpPr>
          <a:xfrm>
            <a:off x="38481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5" name="Rounded Rectangle 14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Providers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(Products &amp; Services)</a:t>
              </a:r>
            </a:p>
          </p:txBody>
        </p:sp>
      </p:grpSp>
      <p:grpSp>
        <p:nvGrpSpPr>
          <p:cNvPr id="11" name="Group 16"/>
          <p:cNvGrpSpPr/>
          <p:nvPr/>
        </p:nvGrpSpPr>
        <p:grpSpPr>
          <a:xfrm>
            <a:off x="52197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8" name="Rounded Rectangle 17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Institutions</a:t>
              </a:r>
            </a:p>
          </p:txBody>
        </p:sp>
      </p:grpSp>
      <p:grpSp>
        <p:nvGrpSpPr>
          <p:cNvPr id="14" name="Group 20"/>
          <p:cNvGrpSpPr/>
          <p:nvPr/>
        </p:nvGrpSpPr>
        <p:grpSpPr>
          <a:xfrm>
            <a:off x="6629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22" name="Rounded Rectangle 2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Government Bodies</a:t>
              </a:r>
            </a:p>
          </p:txBody>
        </p:sp>
      </p:grpSp>
      <p:sp>
        <p:nvSpPr>
          <p:cNvPr id="25" name="Pentagon 24"/>
          <p:cNvSpPr/>
          <p:nvPr/>
        </p:nvSpPr>
        <p:spPr>
          <a:xfrm>
            <a:off x="381000" y="5562600"/>
            <a:ext cx="7543800" cy="609600"/>
          </a:xfrm>
          <a:prstGeom prst="homePlate">
            <a:avLst/>
          </a:prstGeom>
          <a:gradFill flip="none"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Driving Innovation</a:t>
            </a:r>
          </a:p>
        </p:txBody>
      </p:sp>
      <p:sp>
        <p:nvSpPr>
          <p:cNvPr id="28" name="Pentagon 27"/>
          <p:cNvSpPr/>
          <p:nvPr/>
        </p:nvSpPr>
        <p:spPr>
          <a:xfrm rot="16200000">
            <a:off x="6057900" y="3467100"/>
            <a:ext cx="4648200" cy="762000"/>
          </a:xfrm>
          <a:prstGeom prst="homePlate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Enabling Value</a:t>
            </a:r>
          </a:p>
        </p:txBody>
      </p:sp>
      <p:sp>
        <p:nvSpPr>
          <p:cNvPr id="36876" name="TextBox 31"/>
          <p:cNvSpPr txBox="1">
            <a:spLocks noChangeArrowheads="1"/>
          </p:cNvSpPr>
          <p:nvPr/>
        </p:nvSpPr>
        <p:spPr bwMode="auto">
          <a:xfrm>
            <a:off x="2133600" y="3581400"/>
            <a:ext cx="48006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68275" indent="-168275">
              <a:buFont typeface="Arial" charset="0"/>
              <a:buChar char="•"/>
            </a:pPr>
            <a:r>
              <a:rPr lang="en-US" b="1" i="1"/>
              <a:t>Advocacy Body for: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Value enablement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Value capture &amp; measurement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Collaboration  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Unification &amp; cooperation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Reform &amp; Sustainable Innovation</a:t>
            </a:r>
          </a:p>
        </p:txBody>
      </p:sp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4114800"/>
            <a:ext cx="1371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ea typeface="ＭＳ Ｐゴシック" pitchFamily="34" charset="-128"/>
              </a:rPr>
              <a:t>Thank You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ea typeface="ＭＳ Ｐゴシック" pitchFamily="34" charset="-128"/>
              </a:rPr>
              <a:t>Prepared by </a:t>
            </a:r>
          </a:p>
          <a:p>
            <a:pPr lvl="1"/>
            <a:r>
              <a:rPr lang="en-US">
                <a:ea typeface="ＭＳ Ｐゴシック" pitchFamily="34" charset="-128"/>
              </a:rPr>
              <a:t>Jeffrey Wallk (Managing Partner)</a:t>
            </a:r>
          </a:p>
          <a:p>
            <a:pPr lvl="1"/>
            <a:r>
              <a:rPr lang="en-US">
                <a:ea typeface="ＭＳ Ｐゴシック" pitchFamily="34" charset="-128"/>
              </a:rPr>
              <a:t>Helene Sigman (Strategic Partner)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990685-1496-41A7-8D7C-6CE4810F3A23}" type="slidenum">
              <a:rPr lang="en-US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8648</TotalTime>
  <Words>1086</Words>
  <Application>Microsoft Macintosh PowerPoint</Application>
  <PresentationFormat>On-screen Show (4:3)</PresentationFormat>
  <Paragraphs>156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VEG</vt:lpstr>
      <vt:lpstr>A New Value Proposition for the AMA</vt:lpstr>
      <vt:lpstr>Proposal</vt:lpstr>
      <vt:lpstr>The Vision</vt:lpstr>
      <vt:lpstr>Drive LEAN with Value-Driven Measurement</vt:lpstr>
      <vt:lpstr>Current Challenges</vt:lpstr>
      <vt:lpstr>AMA’s Role in Healthcare Reform</vt:lpstr>
      <vt:lpstr>Needs of the Patients</vt:lpstr>
      <vt:lpstr>Needs of the Practitioners</vt:lpstr>
      <vt:lpstr>Needs of the Providers</vt:lpstr>
      <vt:lpstr>AMA at the forefront of Healthcare</vt:lpstr>
      <vt:lpstr>Moving from Assumptions to Implementation</vt:lpstr>
      <vt:lpstr>Measuring Value for Healthcare</vt:lpstr>
      <vt:lpstr>Enabling Value for Healthcare</vt:lpstr>
      <vt:lpstr>An Expanded Membership Model</vt:lpstr>
      <vt:lpstr>Reducing Costs &amp; Driving Value</vt:lpstr>
      <vt:lpstr>Positioning the AMA to Lead Healthcare Reform</vt:lpstr>
      <vt:lpstr>Thank You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Jeffrey Wallk</cp:lastModifiedBy>
  <cp:revision>223</cp:revision>
  <dcterms:created xsi:type="dcterms:W3CDTF">2009-06-09T11:36:35Z</dcterms:created>
  <dcterms:modified xsi:type="dcterms:W3CDTF">2020-04-23T22:25:36Z</dcterms:modified>
</cp:coreProperties>
</file>
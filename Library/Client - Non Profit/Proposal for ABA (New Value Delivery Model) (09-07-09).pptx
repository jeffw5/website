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3"/>
  </p:notesMasterIdLst>
  <p:handoutMasterIdLst>
    <p:handoutMasterId r:id="rId24"/>
  </p:handoutMasterIdLst>
  <p:sldIdLst>
    <p:sldId id="257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1" r:id="rId12"/>
    <p:sldId id="270" r:id="rId13"/>
    <p:sldId id="279" r:id="rId14"/>
    <p:sldId id="280" r:id="rId15"/>
    <p:sldId id="271" r:id="rId16"/>
    <p:sldId id="272" r:id="rId17"/>
    <p:sldId id="273" r:id="rId18"/>
    <p:sldId id="274" r:id="rId19"/>
    <p:sldId id="275" r:id="rId20"/>
    <p:sldId id="276" r:id="rId21"/>
    <p:sldId id="292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22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54DF016-5BD5-4EFC-88CF-21C654E7D25E}">
      <dgm:prSet phldrT="[Text]"/>
      <dgm:spPr/>
      <dgm:t>
        <a:bodyPr/>
        <a:lstStyle/>
        <a:p>
          <a:r>
            <a:rPr lang="en-US" dirty="0" smtClean="0"/>
            <a:t>BOT</a:t>
          </a:r>
          <a:endParaRPr lang="en-US" dirty="0"/>
        </a:p>
      </dgm:t>
    </dgm:pt>
    <dgm:pt modelId="{3D1AE5EE-73B2-4FF5-9F79-0B5ADA83DA6A}" type="parTrans" cxnId="{4F3AAFCE-DFFF-478E-8D3E-DDBE7271AD53}">
      <dgm:prSet/>
      <dgm:spPr/>
      <dgm:t>
        <a:bodyPr/>
        <a:lstStyle/>
        <a:p>
          <a:endParaRPr lang="en-US"/>
        </a:p>
      </dgm:t>
    </dgm:pt>
    <dgm:pt modelId="{7589FA88-C7A5-40C0-A884-E36CE5B4C4E2}" type="sibTrans" cxnId="{4F3AAFCE-DFFF-478E-8D3E-DDBE7271AD53}">
      <dgm:prSet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dirty="0" smtClean="0"/>
            <a:t>BOD</a:t>
          </a:r>
          <a:endParaRPr lang="en-US" dirty="0"/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/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/>
        </a:p>
      </dgm:t>
    </dgm:pt>
    <dgm:pt modelId="{F6D6D062-0F29-43D9-A253-0507B9B54260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Steering Committee</a:t>
          </a:r>
          <a:endParaRPr lang="en-US" dirty="0"/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/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/>
        </a:p>
      </dgm:t>
    </dgm:pt>
    <dgm:pt modelId="{87C26E61-7C43-4524-969A-B9D6B39E873C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Director</a:t>
          </a:r>
          <a:endParaRPr lang="en-US" dirty="0"/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/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/>
        </a:p>
      </dgm:t>
    </dgm:pt>
    <dgm:pt modelId="{A27364AF-6F0A-44CC-BD25-8D835547BFB7}">
      <dgm:prSet phldrT="[Text]"/>
      <dgm:spPr/>
      <dgm:t>
        <a:bodyPr/>
        <a:lstStyle/>
        <a:p>
          <a:r>
            <a:rPr lang="en-US" dirty="0" smtClean="0"/>
            <a:t>ABA</a:t>
          </a:r>
          <a:endParaRPr lang="en-US" dirty="0" smtClean="0"/>
        </a:p>
        <a:p>
          <a:r>
            <a:rPr lang="en-US" dirty="0" smtClean="0"/>
            <a:t>CMO</a:t>
          </a:r>
          <a:endParaRPr lang="en-US" dirty="0"/>
        </a:p>
      </dgm:t>
    </dgm:pt>
    <dgm:pt modelId="{A5B58571-CEC0-4A53-97C2-874FAC591D95}" type="parTrans" cxnId="{9C96FC83-867F-4960-B302-2EE061DA97FC}">
      <dgm:prSet/>
      <dgm:spPr/>
      <dgm:t>
        <a:bodyPr/>
        <a:lstStyle/>
        <a:p>
          <a:endParaRPr lang="en-US"/>
        </a:p>
      </dgm:t>
    </dgm:pt>
    <dgm:pt modelId="{91D84EDD-00CD-403E-ADCD-3ACBAF1D509A}" type="sibTrans" cxnId="{9C96FC83-867F-4960-B302-2EE061DA97FC}">
      <dgm:prSet/>
      <dgm:spPr/>
      <dgm:t>
        <a:bodyPr/>
        <a:lstStyle/>
        <a:p>
          <a:endParaRPr lang="en-US"/>
        </a:p>
      </dgm:t>
    </dgm:pt>
    <dgm:pt modelId="{0450E8F6-ACBC-4C83-BCF3-599A7357A3E5}">
      <dgm:prSet phldrT="[Text]"/>
      <dgm:spPr/>
      <dgm:t>
        <a:bodyPr/>
        <a:lstStyle/>
        <a:p>
          <a:r>
            <a:rPr lang="en-US" dirty="0" smtClean="0"/>
            <a:t>ABA</a:t>
          </a:r>
          <a:endParaRPr lang="en-US" dirty="0" smtClean="0"/>
        </a:p>
        <a:p>
          <a:r>
            <a:rPr lang="en-US" dirty="0" smtClean="0"/>
            <a:t>CMO</a:t>
          </a:r>
          <a:endParaRPr lang="en-US" dirty="0"/>
        </a:p>
      </dgm:t>
    </dgm:pt>
    <dgm:pt modelId="{A9BCB028-9D99-4F0A-A2C1-AB3D197DB870}" type="parTrans" cxnId="{F9E854E4-F118-48A4-B34E-50D235BF85C6}">
      <dgm:prSet/>
      <dgm:spPr/>
      <dgm:t>
        <a:bodyPr/>
        <a:lstStyle/>
        <a:p>
          <a:endParaRPr lang="en-US"/>
        </a:p>
      </dgm:t>
    </dgm:pt>
    <dgm:pt modelId="{8F201034-2483-41E5-BCC4-3F84806359FA}" type="sibTrans" cxnId="{F9E854E4-F118-48A4-B34E-50D235BF85C6}">
      <dgm:prSet/>
      <dgm:spPr/>
      <dgm:t>
        <a:bodyPr/>
        <a:lstStyle/>
        <a:p>
          <a:endParaRPr lang="en-US"/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2190FB-B00D-47AE-AB45-E2D23D62B3FF}" type="pres">
      <dgm:prSet presAssocID="{054DF016-5BD5-4EFC-88CF-21C654E7D25E}" presName="root1" presStyleCnt="0"/>
      <dgm:spPr/>
    </dgm:pt>
    <dgm:pt modelId="{24F0EF54-C2EB-4D84-BA98-D2655CED7A54}" type="pres">
      <dgm:prSet presAssocID="{054DF016-5BD5-4EFC-88CF-21C654E7D25E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C48DC2C-4250-4547-A318-59125DD0329B}" type="pres">
      <dgm:prSet presAssocID="{054DF016-5BD5-4EFC-88CF-21C654E7D25E}" presName="level2hierChild" presStyleCnt="0"/>
      <dgm:spPr/>
    </dgm:pt>
    <dgm:pt modelId="{A43347C9-403B-4E4D-9795-D148B0768BA5}" type="pres">
      <dgm:prSet presAssocID="{2D240DE1-5A60-4537-9A30-C41684A0F833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2A18E778-11AD-4167-8372-AD7A46808E9E}" type="pres">
      <dgm:prSet presAssocID="{2D240DE1-5A60-4537-9A30-C41684A0F833}" presName="connTx" presStyleLbl="parChTrans1D2" presStyleIdx="0" presStyleCnt="2"/>
      <dgm:spPr/>
      <dgm:t>
        <a:bodyPr/>
        <a:lstStyle/>
        <a:p>
          <a:endParaRPr lang="en-US"/>
        </a:p>
      </dgm:t>
    </dgm:pt>
    <dgm:pt modelId="{23B64296-4573-416C-AB21-27374ECDBFDC}" type="pres">
      <dgm:prSet presAssocID="{EE35D43F-75DA-4C1D-B18E-0A2B36E11905}" presName="root2" presStyleCnt="0"/>
      <dgm:spPr/>
    </dgm:pt>
    <dgm:pt modelId="{D622A0C4-4258-4F4B-AC82-429295C05170}" type="pres">
      <dgm:prSet presAssocID="{EE35D43F-75DA-4C1D-B18E-0A2B36E11905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34F2A9-07DD-490E-93FD-A45E84203EC3}" type="pres">
      <dgm:prSet presAssocID="{EE35D43F-75DA-4C1D-B18E-0A2B36E11905}" presName="level3hierChild" presStyleCnt="0"/>
      <dgm:spPr/>
    </dgm:pt>
    <dgm:pt modelId="{99221A49-23D2-46C3-8C8A-FB00E4F562BD}" type="pres">
      <dgm:prSet presAssocID="{E517D0C8-4150-4615-8887-6A0CD7D31349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3" presStyleIdx="0" presStyleCnt="3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</dgm:pt>
    <dgm:pt modelId="{9D95555D-5936-4E8D-ACCB-27506019A7EE}" type="pres">
      <dgm:prSet presAssocID="{F6D6D062-0F29-43D9-A253-0507B9B54260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</dgm:pt>
    <dgm:pt modelId="{EDF96D6C-5518-4FC8-9121-428AD6D5675C}" type="pres">
      <dgm:prSet presAssocID="{E399F8D2-F1BA-442F-8EEA-C8CE06BB4545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3" presStyleIdx="1" presStyleCnt="3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</dgm:pt>
    <dgm:pt modelId="{A224596F-4C82-45EE-B45F-A7CF519EA4A8}" type="pres">
      <dgm:prSet presAssocID="{87C26E61-7C43-4524-969A-B9D6B39E873C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</dgm:pt>
    <dgm:pt modelId="{A97F2495-3FC0-4BC7-A752-6134EA881013}" type="pres">
      <dgm:prSet presAssocID="{A5B58571-CEC0-4A53-97C2-874FAC591D9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850500D-5567-45AF-9B6C-AFD677DF0431}" type="pres">
      <dgm:prSet presAssocID="{A5B58571-CEC0-4A53-97C2-874FAC591D9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8C43619-51F0-4F44-B047-FEB4D88EB26B}" type="pres">
      <dgm:prSet presAssocID="{A27364AF-6F0A-44CC-BD25-8D835547BFB7}" presName="root2" presStyleCnt="0"/>
      <dgm:spPr/>
    </dgm:pt>
    <dgm:pt modelId="{2BFEA00B-5956-4FCE-A02C-C8983555D6C7}" type="pres">
      <dgm:prSet presAssocID="{A27364AF-6F0A-44CC-BD25-8D835547BFB7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BFB4CFB-E3A8-4EB7-9EB4-8DB63ED3222B}" type="pres">
      <dgm:prSet presAssocID="{A27364AF-6F0A-44CC-BD25-8D835547BFB7}" presName="level3hierChild" presStyleCnt="0"/>
      <dgm:spPr/>
    </dgm:pt>
    <dgm:pt modelId="{8D1E59DD-C1D3-4E92-8036-C384B3314D63}" type="pres">
      <dgm:prSet presAssocID="{A9BCB028-9D99-4F0A-A2C1-AB3D197DB870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D5A5119E-610C-4E34-952F-621AF12FCD4B}" type="pres">
      <dgm:prSet presAssocID="{A9BCB028-9D99-4F0A-A2C1-AB3D197DB870}" presName="connTx" presStyleLbl="parChTrans1D3" presStyleIdx="2" presStyleCnt="3"/>
      <dgm:spPr/>
      <dgm:t>
        <a:bodyPr/>
        <a:lstStyle/>
        <a:p>
          <a:endParaRPr lang="en-US"/>
        </a:p>
      </dgm:t>
    </dgm:pt>
    <dgm:pt modelId="{71FE7AC9-1654-42B5-AAAF-05C0C8A381C5}" type="pres">
      <dgm:prSet presAssocID="{0450E8F6-ACBC-4C83-BCF3-599A7357A3E5}" presName="root2" presStyleCnt="0"/>
      <dgm:spPr/>
    </dgm:pt>
    <dgm:pt modelId="{095B81E4-8826-4564-BD32-098CE3D5FCF0}" type="pres">
      <dgm:prSet presAssocID="{0450E8F6-ACBC-4C83-BCF3-599A7357A3E5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E28BD7-8613-4B5F-86DE-70EEC53EF916}" type="pres">
      <dgm:prSet presAssocID="{0450E8F6-ACBC-4C83-BCF3-599A7357A3E5}" presName="level3hierChild" presStyleCnt="0"/>
      <dgm:spPr/>
    </dgm:pt>
  </dgm:ptLst>
  <dgm:cxnLst>
    <dgm:cxn modelId="{A3AFB60A-5958-4531-BFB3-4776295BB4B9}" type="presOf" srcId="{EE35D43F-75DA-4C1D-B18E-0A2B36E11905}" destId="{D622A0C4-4258-4F4B-AC82-429295C05170}" srcOrd="0" destOrd="0" presId="urn:microsoft.com/office/officeart/2005/8/layout/hierarchy2"/>
    <dgm:cxn modelId="{B5EBA67F-70CD-4679-85D9-D8AD8D87735B}" type="presOf" srcId="{B040E5C4-FC0F-4D0C-B085-E5BD63E46C39}" destId="{312713A3-9FC9-4430-A5B9-DDFD3D77C9B9}" srcOrd="0" destOrd="0" presId="urn:microsoft.com/office/officeart/2005/8/layout/hierarchy2"/>
    <dgm:cxn modelId="{AB4B8F2A-825C-49F9-976C-B071DAE01A39}" type="presOf" srcId="{0450E8F6-ACBC-4C83-BCF3-599A7357A3E5}" destId="{095B81E4-8826-4564-BD32-098CE3D5FCF0}" srcOrd="0" destOrd="0" presId="urn:microsoft.com/office/officeart/2005/8/layout/hierarchy2"/>
    <dgm:cxn modelId="{9C96FC83-867F-4960-B302-2EE061DA97FC}" srcId="{054DF016-5BD5-4EFC-88CF-21C654E7D25E}" destId="{A27364AF-6F0A-44CC-BD25-8D835547BFB7}" srcOrd="1" destOrd="0" parTransId="{A5B58571-CEC0-4A53-97C2-874FAC591D95}" sibTransId="{91D84EDD-00CD-403E-ADCD-3ACBAF1D509A}"/>
    <dgm:cxn modelId="{32A6CA5E-F382-4FDD-8459-BAE4E3C85631}" type="presOf" srcId="{87C26E61-7C43-4524-969A-B9D6B39E873C}" destId="{A224596F-4C82-45EE-B45F-A7CF519EA4A8}" srcOrd="0" destOrd="0" presId="urn:microsoft.com/office/officeart/2005/8/layout/hierarchy2"/>
    <dgm:cxn modelId="{C476608C-BA9C-4D3C-8020-A196D948C1F5}" srcId="{054DF016-5BD5-4EFC-88CF-21C654E7D25E}" destId="{EE35D43F-75DA-4C1D-B18E-0A2B36E11905}" srcOrd="0" destOrd="0" parTransId="{2D240DE1-5A60-4537-9A30-C41684A0F833}" sibTransId="{5CABC33F-7F29-4496-B917-AE7B0FD239BD}"/>
    <dgm:cxn modelId="{DCC3586E-75A2-49D6-87F9-659D4A8A361B}" type="presOf" srcId="{A9BCB028-9D99-4F0A-A2C1-AB3D197DB870}" destId="{8D1E59DD-C1D3-4E92-8036-C384B3314D63}" srcOrd="0" destOrd="0" presId="urn:microsoft.com/office/officeart/2005/8/layout/hierarchy2"/>
    <dgm:cxn modelId="{8BB6C7CF-AAF0-46FC-AD43-8F541F248F6B}" type="presOf" srcId="{A5B58571-CEC0-4A53-97C2-874FAC591D95}" destId="{A97F2495-3FC0-4BC7-A752-6134EA881013}" srcOrd="0" destOrd="0" presId="urn:microsoft.com/office/officeart/2005/8/layout/hierarchy2"/>
    <dgm:cxn modelId="{C2DBF2D2-F5EF-4CE9-BDC5-7C63E5A895F6}" type="presOf" srcId="{2D240DE1-5A60-4537-9A30-C41684A0F833}" destId="{2A18E778-11AD-4167-8372-AD7A46808E9E}" srcOrd="1" destOrd="0" presId="urn:microsoft.com/office/officeart/2005/8/layout/hierarchy2"/>
    <dgm:cxn modelId="{4F2C500A-AD81-4EBB-8917-FA073BD2AC90}" type="presOf" srcId="{A9BCB028-9D99-4F0A-A2C1-AB3D197DB870}" destId="{D5A5119E-610C-4E34-952F-621AF12FCD4B}" srcOrd="1" destOrd="0" presId="urn:microsoft.com/office/officeart/2005/8/layout/hierarchy2"/>
    <dgm:cxn modelId="{7D5FDF62-0BDE-49FA-95B9-C04D72871179}" type="presOf" srcId="{2D240DE1-5A60-4537-9A30-C41684A0F833}" destId="{A43347C9-403B-4E4D-9795-D148B0768BA5}" srcOrd="0" destOrd="0" presId="urn:microsoft.com/office/officeart/2005/8/layout/hierarchy2"/>
    <dgm:cxn modelId="{C2BED542-425B-4260-A28F-B26A04A12888}" type="presOf" srcId="{E399F8D2-F1BA-442F-8EEA-C8CE06BB4545}" destId="{42B6EB2E-4BDA-4467-A06D-099A8A52351F}" srcOrd="1" destOrd="0" presId="urn:microsoft.com/office/officeart/2005/8/layout/hierarchy2"/>
    <dgm:cxn modelId="{B4913532-B401-42F1-A720-E0C44B1AE851}" type="presOf" srcId="{A5B58571-CEC0-4A53-97C2-874FAC591D95}" destId="{4850500D-5567-45AF-9B6C-AFD677DF0431}" srcOrd="1" destOrd="0" presId="urn:microsoft.com/office/officeart/2005/8/layout/hierarchy2"/>
    <dgm:cxn modelId="{37905C5D-1D46-456D-9942-18F767633233}" type="presOf" srcId="{E399F8D2-F1BA-442F-8EEA-C8CE06BB4545}" destId="{EDF96D6C-5518-4FC8-9121-428AD6D5675C}" srcOrd="0" destOrd="0" presId="urn:microsoft.com/office/officeart/2005/8/layout/hierarchy2"/>
    <dgm:cxn modelId="{F4832E0D-D1AC-443E-A5E3-9B0A3D166678}" type="presOf" srcId="{F6D6D062-0F29-43D9-A253-0507B9B54260}" destId="{9D95555D-5936-4E8D-ACCB-27506019A7EE}" srcOrd="0" destOrd="0" presId="urn:microsoft.com/office/officeart/2005/8/layout/hierarchy2"/>
    <dgm:cxn modelId="{0E859336-980E-4DA1-8F19-E237A9C736D4}" type="presOf" srcId="{054DF016-5BD5-4EFC-88CF-21C654E7D25E}" destId="{24F0EF54-C2EB-4D84-BA98-D2655CED7A54}" srcOrd="0" destOrd="0" presId="urn:microsoft.com/office/officeart/2005/8/layout/hierarchy2"/>
    <dgm:cxn modelId="{9296A552-F3C8-490B-9D51-86CB0DB4C4AD}" type="presOf" srcId="{E517D0C8-4150-4615-8887-6A0CD7D31349}" destId="{00B906A1-C230-4C7F-87C3-1BBBEDCFFADF}" srcOrd="1" destOrd="0" presId="urn:microsoft.com/office/officeart/2005/8/layout/hierarchy2"/>
    <dgm:cxn modelId="{4F3AAFCE-DFFF-478E-8D3E-DDBE7271AD53}" srcId="{B040E5C4-FC0F-4D0C-B085-E5BD63E46C39}" destId="{054DF016-5BD5-4EFC-88CF-21C654E7D25E}" srcOrd="0" destOrd="0" parTransId="{3D1AE5EE-73B2-4FF5-9F79-0B5ADA83DA6A}" sibTransId="{7589FA88-C7A5-40C0-A884-E36CE5B4C4E2}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F9E854E4-F118-48A4-B34E-50D235BF85C6}" srcId="{A27364AF-6F0A-44CC-BD25-8D835547BFB7}" destId="{0450E8F6-ACBC-4C83-BCF3-599A7357A3E5}" srcOrd="0" destOrd="0" parTransId="{A9BCB028-9D99-4F0A-A2C1-AB3D197DB870}" sibTransId="{8F201034-2483-41E5-BCC4-3F84806359FA}"/>
    <dgm:cxn modelId="{0130BE5A-B82A-4AE3-9F4B-63B32DAD21E1}" type="presOf" srcId="{E517D0C8-4150-4615-8887-6A0CD7D31349}" destId="{99221A49-23D2-46C3-8C8A-FB00E4F562BD}" srcOrd="0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64F37295-5699-46FD-9359-DBD6200A0AEB}" type="presOf" srcId="{A27364AF-6F0A-44CC-BD25-8D835547BFB7}" destId="{2BFEA00B-5956-4FCE-A02C-C8983555D6C7}" srcOrd="0" destOrd="0" presId="urn:microsoft.com/office/officeart/2005/8/layout/hierarchy2"/>
    <dgm:cxn modelId="{9F3A539E-AFBC-4B2B-BC7E-B46F8176B037}" type="presParOf" srcId="{312713A3-9FC9-4430-A5B9-DDFD3D77C9B9}" destId="{2D2190FB-B00D-47AE-AB45-E2D23D62B3FF}" srcOrd="0" destOrd="0" presId="urn:microsoft.com/office/officeart/2005/8/layout/hierarchy2"/>
    <dgm:cxn modelId="{62CC5D60-0B62-4E55-BA08-4A59E1ED15E7}" type="presParOf" srcId="{2D2190FB-B00D-47AE-AB45-E2D23D62B3FF}" destId="{24F0EF54-C2EB-4D84-BA98-D2655CED7A54}" srcOrd="0" destOrd="0" presId="urn:microsoft.com/office/officeart/2005/8/layout/hierarchy2"/>
    <dgm:cxn modelId="{D122F072-9A8E-47ED-A19A-83D7480EAC25}" type="presParOf" srcId="{2D2190FB-B00D-47AE-AB45-E2D23D62B3FF}" destId="{6C48DC2C-4250-4547-A318-59125DD0329B}" srcOrd="1" destOrd="0" presId="urn:microsoft.com/office/officeart/2005/8/layout/hierarchy2"/>
    <dgm:cxn modelId="{1891A8E3-833C-45B5-A85F-124EB6941ADF}" type="presParOf" srcId="{6C48DC2C-4250-4547-A318-59125DD0329B}" destId="{A43347C9-403B-4E4D-9795-D148B0768BA5}" srcOrd="0" destOrd="0" presId="urn:microsoft.com/office/officeart/2005/8/layout/hierarchy2"/>
    <dgm:cxn modelId="{29B7130B-E74A-44F0-BAC4-02EA6D41F225}" type="presParOf" srcId="{A43347C9-403B-4E4D-9795-D148B0768BA5}" destId="{2A18E778-11AD-4167-8372-AD7A46808E9E}" srcOrd="0" destOrd="0" presId="urn:microsoft.com/office/officeart/2005/8/layout/hierarchy2"/>
    <dgm:cxn modelId="{6D5AE6F5-4E6D-46A8-80AD-2E53028D151C}" type="presParOf" srcId="{6C48DC2C-4250-4547-A318-59125DD0329B}" destId="{23B64296-4573-416C-AB21-27374ECDBFDC}" srcOrd="1" destOrd="0" presId="urn:microsoft.com/office/officeart/2005/8/layout/hierarchy2"/>
    <dgm:cxn modelId="{D7EEA990-2FC0-4081-A26B-C9BEED3B70F3}" type="presParOf" srcId="{23B64296-4573-416C-AB21-27374ECDBFDC}" destId="{D622A0C4-4258-4F4B-AC82-429295C05170}" srcOrd="0" destOrd="0" presId="urn:microsoft.com/office/officeart/2005/8/layout/hierarchy2"/>
    <dgm:cxn modelId="{F0E8A906-8F0C-4F18-9686-8CC980C3A637}" type="presParOf" srcId="{23B64296-4573-416C-AB21-27374ECDBFDC}" destId="{8A34F2A9-07DD-490E-93FD-A45E84203EC3}" srcOrd="1" destOrd="0" presId="urn:microsoft.com/office/officeart/2005/8/layout/hierarchy2"/>
    <dgm:cxn modelId="{DA39A229-AF58-4065-9602-28D9A24DC65D}" type="presParOf" srcId="{8A34F2A9-07DD-490E-93FD-A45E84203EC3}" destId="{99221A49-23D2-46C3-8C8A-FB00E4F562BD}" srcOrd="0" destOrd="0" presId="urn:microsoft.com/office/officeart/2005/8/layout/hierarchy2"/>
    <dgm:cxn modelId="{27931C16-5A21-44FD-93D7-6B92918C01F9}" type="presParOf" srcId="{99221A49-23D2-46C3-8C8A-FB00E4F562BD}" destId="{00B906A1-C230-4C7F-87C3-1BBBEDCFFADF}" srcOrd="0" destOrd="0" presId="urn:microsoft.com/office/officeart/2005/8/layout/hierarchy2"/>
    <dgm:cxn modelId="{AE9C35F4-9500-4C3C-87B0-C0F3341ED4A4}" type="presParOf" srcId="{8A34F2A9-07DD-490E-93FD-A45E84203EC3}" destId="{CA1923FC-CEC8-45A2-A2D1-C8E64F5B18BF}" srcOrd="1" destOrd="0" presId="urn:microsoft.com/office/officeart/2005/8/layout/hierarchy2"/>
    <dgm:cxn modelId="{37934617-9AD7-43BE-84BB-4EA2E1F6D9D4}" type="presParOf" srcId="{CA1923FC-CEC8-45A2-A2D1-C8E64F5B18BF}" destId="{9D95555D-5936-4E8D-ACCB-27506019A7EE}" srcOrd="0" destOrd="0" presId="urn:microsoft.com/office/officeart/2005/8/layout/hierarchy2"/>
    <dgm:cxn modelId="{B8BFECD1-3565-4C5C-BC36-FD76FBA4068C}" type="presParOf" srcId="{CA1923FC-CEC8-45A2-A2D1-C8E64F5B18BF}" destId="{BA122DA3-9E02-4995-A51F-037FD4C01B98}" srcOrd="1" destOrd="0" presId="urn:microsoft.com/office/officeart/2005/8/layout/hierarchy2"/>
    <dgm:cxn modelId="{562F644C-1CA9-475D-9178-7203AAE1EAEF}" type="presParOf" srcId="{8A34F2A9-07DD-490E-93FD-A45E84203EC3}" destId="{EDF96D6C-5518-4FC8-9121-428AD6D5675C}" srcOrd="2" destOrd="0" presId="urn:microsoft.com/office/officeart/2005/8/layout/hierarchy2"/>
    <dgm:cxn modelId="{A00A2CE8-B421-433F-A90F-EB504FB514C1}" type="presParOf" srcId="{EDF96D6C-5518-4FC8-9121-428AD6D5675C}" destId="{42B6EB2E-4BDA-4467-A06D-099A8A52351F}" srcOrd="0" destOrd="0" presId="urn:microsoft.com/office/officeart/2005/8/layout/hierarchy2"/>
    <dgm:cxn modelId="{CFE529C1-E91C-4987-BA2E-2BCF7616B65A}" type="presParOf" srcId="{8A34F2A9-07DD-490E-93FD-A45E84203EC3}" destId="{FDD2A712-0D9E-4B6C-8BE6-93597BCF349B}" srcOrd="3" destOrd="0" presId="urn:microsoft.com/office/officeart/2005/8/layout/hierarchy2"/>
    <dgm:cxn modelId="{A4CD28DD-2F7E-48F3-9DEF-F59D0CAEE9B7}" type="presParOf" srcId="{FDD2A712-0D9E-4B6C-8BE6-93597BCF349B}" destId="{A224596F-4C82-45EE-B45F-A7CF519EA4A8}" srcOrd="0" destOrd="0" presId="urn:microsoft.com/office/officeart/2005/8/layout/hierarchy2"/>
    <dgm:cxn modelId="{2A353E57-24E9-4B3A-9BED-CBCDE666A363}" type="presParOf" srcId="{FDD2A712-0D9E-4B6C-8BE6-93597BCF349B}" destId="{0CDE09AA-A28B-4F76-A741-B7DAC5CDB719}" srcOrd="1" destOrd="0" presId="urn:microsoft.com/office/officeart/2005/8/layout/hierarchy2"/>
    <dgm:cxn modelId="{B920BAB9-FE1C-4D96-8068-F10E350B46F8}" type="presParOf" srcId="{6C48DC2C-4250-4547-A318-59125DD0329B}" destId="{A97F2495-3FC0-4BC7-A752-6134EA881013}" srcOrd="2" destOrd="0" presId="urn:microsoft.com/office/officeart/2005/8/layout/hierarchy2"/>
    <dgm:cxn modelId="{328D0F5A-8648-407B-AD84-9CCB44620347}" type="presParOf" srcId="{A97F2495-3FC0-4BC7-A752-6134EA881013}" destId="{4850500D-5567-45AF-9B6C-AFD677DF0431}" srcOrd="0" destOrd="0" presId="urn:microsoft.com/office/officeart/2005/8/layout/hierarchy2"/>
    <dgm:cxn modelId="{387958B0-4A69-469F-90B2-410D985EE87A}" type="presParOf" srcId="{6C48DC2C-4250-4547-A318-59125DD0329B}" destId="{F8C43619-51F0-4F44-B047-FEB4D88EB26B}" srcOrd="3" destOrd="0" presId="urn:microsoft.com/office/officeart/2005/8/layout/hierarchy2"/>
    <dgm:cxn modelId="{9604AFDF-0AED-4B26-9722-AFEE34B1609F}" type="presParOf" srcId="{F8C43619-51F0-4F44-B047-FEB4D88EB26B}" destId="{2BFEA00B-5956-4FCE-A02C-C8983555D6C7}" srcOrd="0" destOrd="0" presId="urn:microsoft.com/office/officeart/2005/8/layout/hierarchy2"/>
    <dgm:cxn modelId="{656B7CA2-B132-4E1C-8D9A-3D3143B4E288}" type="presParOf" srcId="{F8C43619-51F0-4F44-B047-FEB4D88EB26B}" destId="{5BFB4CFB-E3A8-4EB7-9EB4-8DB63ED3222B}" srcOrd="1" destOrd="0" presId="urn:microsoft.com/office/officeart/2005/8/layout/hierarchy2"/>
    <dgm:cxn modelId="{EBE519DE-0B1F-4170-85BF-16DA04BEE03B}" type="presParOf" srcId="{5BFB4CFB-E3A8-4EB7-9EB4-8DB63ED3222B}" destId="{8D1E59DD-C1D3-4E92-8036-C384B3314D63}" srcOrd="0" destOrd="0" presId="urn:microsoft.com/office/officeart/2005/8/layout/hierarchy2"/>
    <dgm:cxn modelId="{AEEA6B88-3367-4529-B019-90986F12105E}" type="presParOf" srcId="{8D1E59DD-C1D3-4E92-8036-C384B3314D63}" destId="{D5A5119E-610C-4E34-952F-621AF12FCD4B}" srcOrd="0" destOrd="0" presId="urn:microsoft.com/office/officeart/2005/8/layout/hierarchy2"/>
    <dgm:cxn modelId="{578BD4F9-A1E3-4D39-8270-8CC6EB347900}" type="presParOf" srcId="{5BFB4CFB-E3A8-4EB7-9EB4-8DB63ED3222B}" destId="{71FE7AC9-1654-42B5-AAAF-05C0C8A381C5}" srcOrd="1" destOrd="0" presId="urn:microsoft.com/office/officeart/2005/8/layout/hierarchy2"/>
    <dgm:cxn modelId="{616BA689-0328-4DF8-9D9B-EF52C64E5B91}" type="presParOf" srcId="{71FE7AC9-1654-42B5-AAAF-05C0C8A381C5}" destId="{095B81E4-8826-4564-BD32-098CE3D5FCF0}" srcOrd="0" destOrd="0" presId="urn:microsoft.com/office/officeart/2005/8/layout/hierarchy2"/>
    <dgm:cxn modelId="{CCFDB436-773A-46B0-8B88-0569FDB81B47}" type="presParOf" srcId="{71FE7AC9-1654-42B5-AAAF-05C0C8A381C5}" destId="{74E28BD7-8613-4B5F-86DE-70EEC53EF91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4F0EF54-C2EB-4D84-BA98-D2655CED7A54}">
      <dsp:nvSpPr>
        <dsp:cNvPr id="0" name=""/>
        <dsp:cNvSpPr/>
      </dsp:nvSpPr>
      <dsp:spPr>
        <a:xfrm>
          <a:off x="631" y="2185312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BOT</a:t>
          </a:r>
          <a:endParaRPr lang="en-US" sz="2000" kern="1200" dirty="0"/>
        </a:p>
      </dsp:txBody>
      <dsp:txXfrm>
        <a:off x="631" y="2185312"/>
        <a:ext cx="2165351" cy="1082675"/>
      </dsp:txXfrm>
    </dsp:sp>
    <dsp:sp modelId="{A43347C9-403B-4E4D-9795-D148B0768BA5}">
      <dsp:nvSpPr>
        <dsp:cNvPr id="0" name=""/>
        <dsp:cNvSpPr/>
      </dsp:nvSpPr>
      <dsp:spPr>
        <a:xfrm rot="18770822">
          <a:off x="1962226" y="2239575"/>
          <a:ext cx="1273654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1273654" y="2017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8770822">
        <a:off x="2567212" y="2227905"/>
        <a:ext cx="63682" cy="63682"/>
      </dsp:txXfrm>
    </dsp:sp>
    <dsp:sp modelId="{D622A0C4-4258-4F4B-AC82-429295C05170}">
      <dsp:nvSpPr>
        <dsp:cNvPr id="0" name=""/>
        <dsp:cNvSpPr/>
      </dsp:nvSpPr>
      <dsp:spPr>
        <a:xfrm>
          <a:off x="3032124" y="1251504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BOD</a:t>
          </a:r>
          <a:endParaRPr lang="en-US" sz="2000" kern="1200" dirty="0"/>
        </a:p>
      </dsp:txBody>
      <dsp:txXfrm>
        <a:off x="3032124" y="1251504"/>
        <a:ext cx="2165351" cy="1082675"/>
      </dsp:txXfrm>
    </dsp:sp>
    <dsp:sp modelId="{99221A49-23D2-46C3-8C8A-FB00E4F562BD}">
      <dsp:nvSpPr>
        <dsp:cNvPr id="0" name=""/>
        <dsp:cNvSpPr/>
      </dsp:nvSpPr>
      <dsp:spPr>
        <a:xfrm rot="19457599">
          <a:off x="5097218" y="1461402"/>
          <a:ext cx="1066655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1066655" y="2017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5603879" y="1454907"/>
        <a:ext cx="53332" cy="53332"/>
      </dsp:txXfrm>
    </dsp:sp>
    <dsp:sp modelId="{9D95555D-5936-4E8D-ACCB-27506019A7EE}">
      <dsp:nvSpPr>
        <dsp:cNvPr id="0" name=""/>
        <dsp:cNvSpPr/>
      </dsp:nvSpPr>
      <dsp:spPr>
        <a:xfrm>
          <a:off x="6063616" y="628966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Program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Steering Committee</a:t>
          </a:r>
          <a:endParaRPr lang="en-US" sz="2000" kern="1200" dirty="0"/>
        </a:p>
      </dsp:txBody>
      <dsp:txXfrm>
        <a:off x="6063616" y="628966"/>
        <a:ext cx="2165351" cy="1082675"/>
      </dsp:txXfrm>
    </dsp:sp>
    <dsp:sp modelId="{EDF96D6C-5518-4FC8-9121-428AD6D5675C}">
      <dsp:nvSpPr>
        <dsp:cNvPr id="0" name=""/>
        <dsp:cNvSpPr/>
      </dsp:nvSpPr>
      <dsp:spPr>
        <a:xfrm rot="2142401">
          <a:off x="5097218" y="2083941"/>
          <a:ext cx="1066655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1066655" y="2017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5603879" y="2077445"/>
        <a:ext cx="53332" cy="53332"/>
      </dsp:txXfrm>
    </dsp:sp>
    <dsp:sp modelId="{A224596F-4C82-45EE-B45F-A7CF519EA4A8}">
      <dsp:nvSpPr>
        <dsp:cNvPr id="0" name=""/>
        <dsp:cNvSpPr/>
      </dsp:nvSpPr>
      <dsp:spPr>
        <a:xfrm>
          <a:off x="6063616" y="1874043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Program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Director</a:t>
          </a:r>
          <a:endParaRPr lang="en-US" sz="2000" kern="1200" dirty="0"/>
        </a:p>
      </dsp:txBody>
      <dsp:txXfrm>
        <a:off x="6063616" y="1874043"/>
        <a:ext cx="2165351" cy="1082675"/>
      </dsp:txXfrm>
    </dsp:sp>
    <dsp:sp modelId="{A97F2495-3FC0-4BC7-A752-6134EA881013}">
      <dsp:nvSpPr>
        <dsp:cNvPr id="0" name=""/>
        <dsp:cNvSpPr/>
      </dsp:nvSpPr>
      <dsp:spPr>
        <a:xfrm rot="2829178">
          <a:off x="1962226" y="3173383"/>
          <a:ext cx="1273654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1273654" y="2017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829178">
        <a:off x="2567212" y="3161713"/>
        <a:ext cx="63682" cy="63682"/>
      </dsp:txXfrm>
    </dsp:sp>
    <dsp:sp modelId="{2BFEA00B-5956-4FCE-A02C-C8983555D6C7}">
      <dsp:nvSpPr>
        <dsp:cNvPr id="0" name=""/>
        <dsp:cNvSpPr/>
      </dsp:nvSpPr>
      <dsp:spPr>
        <a:xfrm>
          <a:off x="3032124" y="3119120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ABA</a:t>
          </a:r>
          <a:endParaRPr lang="en-US" sz="2000" kern="1200" dirty="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CMO</a:t>
          </a:r>
          <a:endParaRPr lang="en-US" sz="2000" kern="1200" dirty="0"/>
        </a:p>
      </dsp:txBody>
      <dsp:txXfrm>
        <a:off x="3032124" y="3119120"/>
        <a:ext cx="2165351" cy="1082675"/>
      </dsp:txXfrm>
    </dsp:sp>
    <dsp:sp modelId="{8D1E59DD-C1D3-4E92-8036-C384B3314D63}">
      <dsp:nvSpPr>
        <dsp:cNvPr id="0" name=""/>
        <dsp:cNvSpPr/>
      </dsp:nvSpPr>
      <dsp:spPr>
        <a:xfrm>
          <a:off x="5197475" y="3640287"/>
          <a:ext cx="866140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866140" y="2017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608892" y="3638805"/>
        <a:ext cx="43307" cy="43307"/>
      </dsp:txXfrm>
    </dsp:sp>
    <dsp:sp modelId="{095B81E4-8826-4564-BD32-098CE3D5FCF0}">
      <dsp:nvSpPr>
        <dsp:cNvPr id="0" name=""/>
        <dsp:cNvSpPr/>
      </dsp:nvSpPr>
      <dsp:spPr>
        <a:xfrm>
          <a:off x="6063616" y="3119120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ABA</a:t>
          </a:r>
          <a:endParaRPr lang="en-US" sz="2000" kern="1200" dirty="0" smtClean="0"/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CMO</a:t>
          </a:r>
          <a:endParaRPr lang="en-US" sz="2000" kern="1200" dirty="0"/>
        </a:p>
      </dsp:txBody>
      <dsp:txXfrm>
        <a:off x="6063616" y="3119120"/>
        <a:ext cx="2165351" cy="1082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0DB8C4-3BD2-47FE-B88A-0472FB3FC17F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3D4289C-8493-4E63-AF53-D90E3BD50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6EE55AA-28B4-4551-B527-B786BD651246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FDE667A-B541-42EB-AFA1-818156A26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cs typeface="+mn-cs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9F18F26-F0A7-4867-9B50-B61B56729298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9B1A13B-7143-457F-9A83-279316F5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>
                <a:cs typeface="Arial" pitchFamily="34" charset="0"/>
              </a:rPr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761283-92D1-465A-A9DE-39C1FE64F1B0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EA57725-A5CD-4197-8D5F-07A59FCA7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DB4570B-824E-4710-9FE7-4999F7678D30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D5D752D-DB20-4E61-9C42-04CC536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18F216-1DCA-4CBA-98DA-01F0A8D357B0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86D9F4F0-59D6-4DAE-9DC1-E2C1EA9AEE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9276F0D-77EE-4E97-972A-77DC7C07586C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F7AB826-232E-4629-97E5-A4AD76A053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8403592-4301-49FE-AB1B-72F22E9A6758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00D9CA1-F449-4B62-9FEE-53124E9D8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ED000F-6DD7-4B8F-B405-AB2F688E2F27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EDD0FC1-BF73-4473-9C32-E5565BB691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3246C29-74FE-4BDE-BB7E-48B722A004D5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638F575-5C92-4641-AC7D-93565BB5F4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E62F3E-EB45-4360-8B66-20490B5DFFFD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6879031-AAC8-4347-9B22-776558086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B29E5D2-6DAA-4C51-856A-06DF7B1863BD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9003868-752D-4AF2-80DC-EFC2BFBF8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2C23AB1-A186-4D17-B0BE-DBDC6EFF55B7}" type="datetimeFigureOut">
              <a:rPr lang="en-US"/>
              <a:pPr>
                <a:defRPr/>
              </a:pPr>
              <a:t>9/7/2009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0CFA1D-0092-447C-A60E-2973D07A7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7772400" cy="1069975"/>
          </a:xfrm>
        </p:spPr>
        <p:txBody>
          <a:bodyPr/>
          <a:lstStyle/>
          <a:p>
            <a:pPr eaLnBrk="1" hangingPunct="1"/>
            <a:r>
              <a:rPr lang="en-US" b="1" dirty="0" smtClean="0"/>
              <a:t>Proposal for a New</a:t>
            </a:r>
            <a:br>
              <a:rPr lang="en-US" b="1" dirty="0" smtClean="0"/>
            </a:br>
            <a:r>
              <a:rPr lang="en-US" b="1" dirty="0" smtClean="0"/>
              <a:t>Value </a:t>
            </a:r>
            <a:r>
              <a:rPr lang="en-US" b="1" dirty="0" smtClean="0"/>
              <a:t>Delivery Model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962400"/>
            <a:ext cx="408622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Current State</a:t>
            </a:r>
          </a:p>
          <a:p>
            <a:pPr lvl="0"/>
            <a:r>
              <a:rPr lang="en-US" sz="2400" dirty="0" smtClean="0"/>
              <a:t>Objectives</a:t>
            </a:r>
          </a:p>
          <a:p>
            <a:pPr lvl="0"/>
            <a:r>
              <a:rPr lang="en-US" sz="2400" dirty="0" smtClean="0"/>
              <a:t>Benefits</a:t>
            </a:r>
          </a:p>
          <a:p>
            <a:pPr lvl="0"/>
            <a:r>
              <a:rPr lang="en-US" sz="2400" dirty="0" smtClean="0"/>
              <a:t>Program Charter</a:t>
            </a:r>
          </a:p>
          <a:p>
            <a:r>
              <a:rPr lang="en-US" sz="2400" dirty="0" smtClean="0"/>
              <a:t>Program Roadmap</a:t>
            </a:r>
          </a:p>
          <a:p>
            <a:pPr lvl="0"/>
            <a:r>
              <a:rPr lang="en-US" sz="2400" dirty="0" smtClean="0"/>
              <a:t>Program Governance</a:t>
            </a:r>
          </a:p>
          <a:p>
            <a:pPr lvl="0"/>
            <a:r>
              <a:rPr lang="en-US" sz="2400" dirty="0" smtClean="0"/>
              <a:t>Funding </a:t>
            </a:r>
            <a:r>
              <a:rPr lang="en-US" sz="2400" dirty="0" smtClean="0"/>
              <a:t>Plan</a:t>
            </a:r>
          </a:p>
          <a:p>
            <a:endParaRPr lang="en-US" sz="2400" dirty="0" smtClean="0"/>
          </a:p>
          <a:p>
            <a:r>
              <a:rPr lang="en-US" sz="2400" dirty="0" smtClean="0"/>
              <a:t>Project 1 </a:t>
            </a:r>
            <a:r>
              <a:rPr lang="en-US" sz="2400" dirty="0" smtClean="0"/>
              <a:t>Overview</a:t>
            </a:r>
          </a:p>
          <a:p>
            <a:r>
              <a:rPr lang="en-US" sz="2400" dirty="0" smtClean="0"/>
              <a:t>Appendix:  Strategyn Model</a:t>
            </a:r>
            <a:endParaRPr lang="en-US" sz="24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4572000"/>
            <a:ext cx="4419600" cy="0"/>
          </a:xfrm>
          <a:prstGeom prst="line">
            <a:avLst/>
          </a:prstGeom>
          <a:ln w="57150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Current State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The value </a:t>
            </a:r>
            <a:r>
              <a:rPr lang="en-US" sz="2400" dirty="0" smtClean="0"/>
              <a:t>delivered by </a:t>
            </a:r>
            <a:r>
              <a:rPr lang="en-US" sz="2400" dirty="0" smtClean="0"/>
              <a:t>the ABA </a:t>
            </a:r>
            <a:r>
              <a:rPr lang="en-US" sz="2400" dirty="0" smtClean="0"/>
              <a:t>is difficult to identify and measure.</a:t>
            </a:r>
          </a:p>
          <a:p>
            <a:pPr eaLnBrk="1" hangingPunct="1"/>
            <a:r>
              <a:rPr lang="en-US" sz="2400" dirty="0" smtClean="0"/>
              <a:t>Business case for justifying </a:t>
            </a:r>
            <a:r>
              <a:rPr lang="en-US" sz="2400" dirty="0" smtClean="0"/>
              <a:t>legal </a:t>
            </a:r>
            <a:r>
              <a:rPr lang="en-US" sz="2400" dirty="0" smtClean="0"/>
              <a:t>investments is challenging  to create without hard metrics around cost reduction, cycle time reduction, and value enablement.</a:t>
            </a:r>
          </a:p>
          <a:p>
            <a:pPr eaLnBrk="1" hangingPunct="1"/>
            <a:r>
              <a:rPr lang="en-US" sz="2400" dirty="0" smtClean="0"/>
              <a:t>The ABA </a:t>
            </a:r>
            <a:r>
              <a:rPr lang="en-US" sz="2400" dirty="0" smtClean="0"/>
              <a:t>resources are inconsistently positioned to influence the planning, investment, and execution around change.</a:t>
            </a:r>
          </a:p>
          <a:p>
            <a:pPr eaLnBrk="1" hangingPunct="1"/>
            <a:r>
              <a:rPr lang="en-US" sz="2400" dirty="0" smtClean="0"/>
              <a:t>Organizations do not know how best to use </a:t>
            </a:r>
            <a:r>
              <a:rPr lang="en-US" sz="2400" dirty="0" smtClean="0"/>
              <a:t>legal </a:t>
            </a:r>
            <a:r>
              <a:rPr lang="en-US" sz="2400" dirty="0" smtClean="0"/>
              <a:t>resources to </a:t>
            </a:r>
            <a:r>
              <a:rPr lang="en-US" sz="2400" dirty="0" smtClean="0"/>
              <a:t>mitigate risk and/or enable value </a:t>
            </a:r>
            <a:r>
              <a:rPr lang="en-US" sz="2400" dirty="0" smtClean="0"/>
              <a:t>for their customers and stakeholders.</a:t>
            </a:r>
          </a:p>
          <a:p>
            <a:pPr eaLnBrk="1" hangingPunct="1"/>
            <a:r>
              <a:rPr lang="en-US" sz="2400" dirty="0" smtClean="0"/>
              <a:t>Practitioners (lawyers) </a:t>
            </a:r>
            <a:r>
              <a:rPr lang="en-US" sz="2400" dirty="0" smtClean="0"/>
              <a:t>do not have a consistent way to assess the impact of their contributions (short term and long term).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Objectives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95400"/>
            <a:ext cx="8305800" cy="4830763"/>
          </a:xfrm>
        </p:spPr>
        <p:txBody>
          <a:bodyPr/>
          <a:lstStyle/>
          <a:p>
            <a:r>
              <a:rPr lang="en-US" sz="2400" dirty="0" smtClean="0"/>
              <a:t>Create a reference model for defining the </a:t>
            </a:r>
            <a:r>
              <a:rPr lang="en-US" sz="2400" dirty="0" smtClean="0"/>
              <a:t>legal </a:t>
            </a:r>
            <a:r>
              <a:rPr lang="en-US" sz="2400" dirty="0" smtClean="0"/>
              <a:t>jobs from which duties, practices, and value are derived.  </a:t>
            </a:r>
          </a:p>
          <a:p>
            <a:pPr eaLnBrk="1" hangingPunct="1"/>
            <a:r>
              <a:rPr lang="en-US" sz="2400" dirty="0" smtClean="0"/>
              <a:t>Build a repository of metrics that </a:t>
            </a:r>
            <a:r>
              <a:rPr lang="en-US" sz="2400" dirty="0" smtClean="0"/>
              <a:t>the ABA </a:t>
            </a:r>
            <a:r>
              <a:rPr lang="en-US" sz="2400" dirty="0" smtClean="0"/>
              <a:t>can use to measure the value that </a:t>
            </a:r>
            <a:r>
              <a:rPr lang="en-US" sz="2400" dirty="0" smtClean="0"/>
              <a:t>practitioners </a:t>
            </a:r>
            <a:r>
              <a:rPr lang="en-US" sz="2400" dirty="0" smtClean="0"/>
              <a:t>deliver </a:t>
            </a:r>
            <a:r>
              <a:rPr lang="en-US" sz="2400" dirty="0" smtClean="0"/>
              <a:t>to customers (governance).</a:t>
            </a:r>
          </a:p>
          <a:p>
            <a:pPr eaLnBrk="1" hangingPunct="1"/>
            <a:r>
              <a:rPr lang="en-US" sz="2400" dirty="0" smtClean="0"/>
              <a:t>Map the value metrics against the </a:t>
            </a:r>
            <a:r>
              <a:rPr lang="en-US" sz="2400" dirty="0" smtClean="0"/>
              <a:t>services </a:t>
            </a:r>
            <a:r>
              <a:rPr lang="en-US" sz="2400" dirty="0" smtClean="0"/>
              <a:t>(practices &amp; methodologies) and </a:t>
            </a:r>
            <a:r>
              <a:rPr lang="en-US" sz="2400" dirty="0" smtClean="0"/>
              <a:t>products </a:t>
            </a:r>
            <a:r>
              <a:rPr lang="en-US" sz="2400" dirty="0" smtClean="0"/>
              <a:t>(tools &amp; deliverables) used to deliver value to customers. </a:t>
            </a:r>
          </a:p>
          <a:p>
            <a:pPr eaLnBrk="1" hangingPunct="1"/>
            <a:r>
              <a:rPr lang="en-US" sz="2400" dirty="0" smtClean="0"/>
              <a:t>Identify opportunities (gaps between what is delivered versus what customers want) to improve </a:t>
            </a:r>
            <a:r>
              <a:rPr lang="en-US" sz="2400" dirty="0" smtClean="0"/>
              <a:t>services </a:t>
            </a:r>
            <a:r>
              <a:rPr lang="en-US" sz="2400" dirty="0" smtClean="0"/>
              <a:t>&amp; products.</a:t>
            </a:r>
          </a:p>
          <a:p>
            <a:pPr eaLnBrk="1" hangingPunct="1"/>
            <a:r>
              <a:rPr lang="en-US" sz="2400" dirty="0" smtClean="0"/>
              <a:t>Identify products &amp; services that </a:t>
            </a:r>
            <a:r>
              <a:rPr lang="en-US" sz="2400" dirty="0" smtClean="0"/>
              <a:t>the ABA </a:t>
            </a:r>
            <a:r>
              <a:rPr lang="en-US" sz="2400" dirty="0" smtClean="0"/>
              <a:t>can deliver to help:</a:t>
            </a:r>
          </a:p>
          <a:p>
            <a:pPr lvl="1"/>
            <a:r>
              <a:rPr lang="en-US" sz="2000" dirty="0" smtClean="0"/>
              <a:t>Practitioners (lawyers) </a:t>
            </a:r>
            <a:r>
              <a:rPr lang="en-US" sz="2000" dirty="0" smtClean="0"/>
              <a:t>optimize </a:t>
            </a:r>
            <a:r>
              <a:rPr lang="en-US" sz="2000" dirty="0" smtClean="0"/>
              <a:t>their value delivery</a:t>
            </a:r>
          </a:p>
          <a:p>
            <a:pPr lvl="1"/>
            <a:r>
              <a:rPr lang="en-US" sz="2000" dirty="0" smtClean="0"/>
              <a:t>Stakeholders leverage </a:t>
            </a:r>
            <a:r>
              <a:rPr lang="en-US" sz="2000" dirty="0" smtClean="0"/>
              <a:t>practitioners </a:t>
            </a:r>
            <a:r>
              <a:rPr lang="en-US" sz="2000" dirty="0" smtClean="0"/>
              <a:t>to optimize their value delivery 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Benefits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Practice:</a:t>
            </a:r>
          </a:p>
          <a:p>
            <a:pPr lvl="1"/>
            <a:r>
              <a:rPr lang="en-US" sz="2000" dirty="0" smtClean="0"/>
              <a:t>The practitioners (lawyers) </a:t>
            </a:r>
            <a:r>
              <a:rPr lang="en-US" sz="2000" dirty="0" smtClean="0"/>
              <a:t>will be able to justify the value of their services by creating measureable lineage from products &amp; services to addressing customer needs.</a:t>
            </a:r>
          </a:p>
          <a:p>
            <a:pPr lvl="0"/>
            <a:r>
              <a:rPr lang="en-US" sz="2400" dirty="0" smtClean="0"/>
              <a:t>Profession:</a:t>
            </a:r>
          </a:p>
          <a:p>
            <a:pPr lvl="1"/>
            <a:r>
              <a:rPr lang="en-US" sz="2000" dirty="0" smtClean="0"/>
              <a:t>The ABA will </a:t>
            </a:r>
            <a:r>
              <a:rPr lang="en-US" sz="2000" dirty="0" smtClean="0"/>
              <a:t>be able to align the value gaps with its roadmap to ensure the practices, certification, education, and governance support the unmet customer needs for </a:t>
            </a:r>
            <a:r>
              <a:rPr lang="en-US" sz="2000" dirty="0" smtClean="0"/>
              <a:t>the </a:t>
            </a:r>
            <a:r>
              <a:rPr lang="en-US" sz="2000" dirty="0" smtClean="0"/>
              <a:t>products &amp; </a:t>
            </a:r>
            <a:r>
              <a:rPr lang="en-US" sz="2000" dirty="0" smtClean="0"/>
              <a:t>services delivered by the practitioners (lawyers).</a:t>
            </a:r>
            <a:endParaRPr lang="en-US" sz="2000" dirty="0" smtClean="0"/>
          </a:p>
          <a:p>
            <a:pPr lvl="0"/>
            <a:r>
              <a:rPr lang="en-US" sz="2400" dirty="0" smtClean="0"/>
              <a:t>Public:</a:t>
            </a:r>
          </a:p>
          <a:p>
            <a:pPr lvl="1"/>
            <a:r>
              <a:rPr lang="en-US" sz="2000" dirty="0" smtClean="0"/>
              <a:t>Enterprises will be able to understand the need, value, and positioning for </a:t>
            </a:r>
            <a:r>
              <a:rPr lang="en-US" sz="2000" dirty="0" smtClean="0"/>
              <a:t>the ABA</a:t>
            </a:r>
            <a:r>
              <a:rPr lang="en-US" sz="2000" dirty="0" smtClean="0"/>
              <a:t> </a:t>
            </a:r>
            <a:r>
              <a:rPr lang="en-US" sz="2000" dirty="0" smtClean="0"/>
              <a:t>to augment their own value delivery of products and services.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Program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551460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Program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Developing a Legal 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Value Model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ABA – 103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October1</a:t>
                      </a:r>
                      <a:r>
                        <a:rPr kumimoji="0" lang="en-US" sz="1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2009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Sponsor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ABA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BOD BOT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Director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TBD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Scope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and implement a customer focus framework for capturing and modeling metrics used to model the outcomes for customers and a set of metrics for which to benchmark the products &amp; services delivered by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legal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practitioners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endParaRPr kumimoji="0" lang="en-US" sz="11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Objectives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 a customer focus methodology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Define a complete list of jobs performed by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lawyer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repository of customer outcomes &amp; value metrics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process to prioritize and align the outcomes &amp; metrics with GAPS in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ABA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practices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Institutionalize the customer focus methodology within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ABA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licensing program to promote the usage of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Legal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metrics &amp; drive revenue for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ABA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Governance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Establish a steering committee with members from the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BOD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small team of dedicated trained resources to staff each project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lead will be the Program Director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Steering Committee will approve scope, program objectives, and  project deliverables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(Note:  Each project represents 1 job that will be studied to capture the </a:t>
                      </a:r>
                      <a:r>
                        <a:rPr kumimoji="0" 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legaloutcomes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&amp; value metrics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Q4 </a:t>
            </a:r>
            <a:r>
              <a:rPr lang="en-US" sz="2400" dirty="0" smtClean="0"/>
              <a:t>2009</a:t>
            </a:r>
          </a:p>
          <a:p>
            <a:pPr lvl="1"/>
            <a:r>
              <a:rPr lang="en-US" sz="2000" dirty="0" smtClean="0"/>
              <a:t>Draft the proposal for the work stream</a:t>
            </a:r>
          </a:p>
          <a:p>
            <a:pPr lvl="1"/>
            <a:r>
              <a:rPr lang="en-US" sz="2000" dirty="0" smtClean="0"/>
              <a:t>Obtain approval from </a:t>
            </a:r>
            <a:r>
              <a:rPr lang="en-US" sz="2000" dirty="0" smtClean="0"/>
              <a:t>ABA </a:t>
            </a:r>
            <a:r>
              <a:rPr lang="en-US" sz="2000" dirty="0" smtClean="0"/>
              <a:t>leadership</a:t>
            </a:r>
          </a:p>
          <a:p>
            <a:pPr lvl="1"/>
            <a:r>
              <a:rPr lang="en-US" sz="2000" dirty="0" smtClean="0"/>
              <a:t>Build a steering committee for the program</a:t>
            </a:r>
          </a:p>
          <a:p>
            <a:pPr lvl="1"/>
            <a:r>
              <a:rPr lang="en-US" sz="2000" dirty="0" smtClean="0"/>
              <a:t>Secure funding for the first project</a:t>
            </a:r>
          </a:p>
          <a:p>
            <a:pPr lvl="0"/>
            <a:r>
              <a:rPr lang="en-US" sz="2400" dirty="0" smtClean="0"/>
              <a:t>Q1 2010</a:t>
            </a:r>
            <a:endParaRPr lang="en-US" sz="2400" dirty="0" smtClean="0"/>
          </a:p>
          <a:p>
            <a:pPr lvl="1"/>
            <a:r>
              <a:rPr lang="en-US" sz="2000" dirty="0" smtClean="0"/>
              <a:t>Continue securing funding for the project</a:t>
            </a:r>
          </a:p>
          <a:p>
            <a:pPr lvl="1"/>
            <a:r>
              <a:rPr lang="en-US" sz="2000" dirty="0" smtClean="0"/>
              <a:t>Draft resources for the project team</a:t>
            </a:r>
          </a:p>
          <a:p>
            <a:pPr lvl="1"/>
            <a:r>
              <a:rPr lang="en-US" sz="2000" dirty="0" smtClean="0"/>
              <a:t>Finalize project schedule</a:t>
            </a:r>
          </a:p>
          <a:p>
            <a:pPr lvl="1"/>
            <a:r>
              <a:rPr lang="en-US" sz="2000" dirty="0" smtClean="0"/>
              <a:t>Begin work on initial deliverables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Q2 </a:t>
            </a:r>
            <a:r>
              <a:rPr lang="en-US" sz="2400" dirty="0" smtClean="0"/>
              <a:t>2010</a:t>
            </a:r>
          </a:p>
          <a:p>
            <a:pPr lvl="1"/>
            <a:r>
              <a:rPr lang="en-US" sz="2000" dirty="0" smtClean="0"/>
              <a:t>Complete qualitative study for Project 1</a:t>
            </a:r>
          </a:p>
          <a:p>
            <a:pPr lvl="1"/>
            <a:r>
              <a:rPr lang="en-US" sz="2000" dirty="0" smtClean="0"/>
              <a:t>Complete quantitative study for Project 1</a:t>
            </a:r>
          </a:p>
          <a:p>
            <a:pPr lvl="1"/>
            <a:r>
              <a:rPr lang="en-US" sz="2000" dirty="0" smtClean="0"/>
              <a:t>Conduct analysis of Project 1 results</a:t>
            </a:r>
          </a:p>
          <a:p>
            <a:r>
              <a:rPr lang="en-US" sz="2400" dirty="0" smtClean="0"/>
              <a:t>Q3 </a:t>
            </a:r>
            <a:r>
              <a:rPr lang="en-US" sz="2400" dirty="0" smtClean="0"/>
              <a:t>2010</a:t>
            </a:r>
          </a:p>
          <a:p>
            <a:pPr lvl="1"/>
            <a:r>
              <a:rPr lang="en-US" sz="2000" dirty="0" smtClean="0"/>
              <a:t>Present Project 1 results to </a:t>
            </a:r>
            <a:r>
              <a:rPr lang="en-US" sz="2000" dirty="0" smtClean="0"/>
              <a:t>ABA </a:t>
            </a:r>
            <a:r>
              <a:rPr lang="en-US" sz="2000" dirty="0" smtClean="0"/>
              <a:t>leadership</a:t>
            </a:r>
          </a:p>
          <a:p>
            <a:pPr lvl="1"/>
            <a:r>
              <a:rPr lang="en-US" sz="2000" dirty="0" smtClean="0"/>
              <a:t>Publish results for Project 1 to Public</a:t>
            </a:r>
          </a:p>
          <a:p>
            <a:pPr lvl="1"/>
            <a:r>
              <a:rPr lang="en-US" sz="2000" dirty="0" smtClean="0"/>
              <a:t>Capture feedback and gauge response</a:t>
            </a:r>
          </a:p>
          <a:p>
            <a:pPr lvl="1"/>
            <a:r>
              <a:rPr lang="en-US" sz="2000" dirty="0" smtClean="0"/>
              <a:t>Review program with Steering Committee for next steps</a:t>
            </a:r>
          </a:p>
          <a:p>
            <a:pPr lvl="1"/>
            <a:r>
              <a:rPr lang="en-US" sz="2000" dirty="0" smtClean="0"/>
              <a:t>Secure funding for additional projects per program</a:t>
            </a:r>
          </a:p>
          <a:p>
            <a:r>
              <a:rPr lang="en-US" sz="2400" dirty="0" smtClean="0"/>
              <a:t>Q4 </a:t>
            </a:r>
            <a:r>
              <a:rPr lang="en-US" sz="2400" dirty="0" smtClean="0"/>
              <a:t>2010</a:t>
            </a:r>
          </a:p>
          <a:p>
            <a:pPr lvl="1"/>
            <a:r>
              <a:rPr lang="en-US" sz="2000" dirty="0" smtClean="0"/>
              <a:t>Move forward with next project(s)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4830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Jeff Wallk</a:t>
            </a:r>
          </a:p>
          <a:p>
            <a:pPr lvl="1"/>
            <a:r>
              <a:rPr lang="en-US" sz="2000" dirty="0" smtClean="0"/>
              <a:t>Mark Lane</a:t>
            </a:r>
          </a:p>
          <a:p>
            <a:pPr lvl="1"/>
            <a:r>
              <a:rPr lang="en-US" sz="2000" dirty="0" smtClean="0"/>
              <a:t>Greg Black</a:t>
            </a:r>
          </a:p>
          <a:p>
            <a:pPr lvl="1"/>
            <a:r>
              <a:rPr lang="en-US" sz="2000" dirty="0" smtClean="0"/>
              <a:t>Marc </a:t>
            </a:r>
            <a:r>
              <a:rPr lang="en-US" sz="2000" dirty="0" err="1" smtClean="0"/>
              <a:t>Paradis</a:t>
            </a:r>
            <a:endParaRPr lang="en-US" sz="2000" dirty="0" smtClean="0"/>
          </a:p>
          <a:p>
            <a:pPr lvl="1"/>
            <a:r>
              <a:rPr lang="en-US" sz="2000" dirty="0" smtClean="0"/>
              <a:t>Mark </a:t>
            </a:r>
            <a:r>
              <a:rPr lang="en-US" sz="2000" dirty="0" err="1" smtClean="0"/>
              <a:t>Sternberger</a:t>
            </a:r>
            <a:endParaRPr lang="en-US" sz="2000" dirty="0" smtClean="0"/>
          </a:p>
          <a:p>
            <a:pPr lvl="0"/>
            <a:r>
              <a:rPr lang="en-US" sz="2400" dirty="0" smtClean="0"/>
              <a:t>Project Team</a:t>
            </a:r>
          </a:p>
          <a:p>
            <a:pPr lvl="1"/>
            <a:r>
              <a:rPr lang="en-US" sz="2000" dirty="0" smtClean="0"/>
              <a:t>Jeff Wallk    (commitment of 10 hours / week)</a:t>
            </a:r>
          </a:p>
          <a:p>
            <a:pPr lvl="1"/>
            <a:r>
              <a:rPr lang="en-US" sz="2000" dirty="0" smtClean="0"/>
              <a:t>Volunteer 1 (commitment of 6 hours / week)</a:t>
            </a:r>
          </a:p>
          <a:p>
            <a:pPr lvl="1"/>
            <a:r>
              <a:rPr lang="en-US" sz="2000" dirty="0" smtClean="0"/>
              <a:t>Volunteer 2 (commitment of 4 hours / week)</a:t>
            </a:r>
          </a:p>
          <a:p>
            <a:pPr lvl="1"/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(Overview)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</a:t>
            </a:r>
            <a:r>
              <a:rPr lang="en-US" kern="1200" dirty="0" smtClean="0">
                <a:latin typeface="+mj-lt"/>
                <a:ea typeface="+mj-ea"/>
                <a:cs typeface="+mj-cs"/>
              </a:rPr>
              <a:t>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 findings to Board of Directors (BOD)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05600" y="1676400"/>
            <a:ext cx="1447800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buNone/>
            </a:pPr>
            <a:r>
              <a:rPr lang="en-US" sz="1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Based on the Strategyn Methodology (see appendix)</a:t>
            </a:r>
            <a:endParaRPr lang="en-US" sz="1400" b="1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</a:t>
            </a:r>
            <a:r>
              <a:rPr lang="en-US" kern="1200" dirty="0" smtClean="0">
                <a:latin typeface="+mj-lt"/>
                <a:ea typeface="+mj-ea"/>
                <a:cs typeface="+mj-cs"/>
              </a:rPr>
              <a:t>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Establishing the opportunity pipeline</a:t>
            </a:r>
          </a:p>
          <a:p>
            <a:pPr lvl="1"/>
            <a:r>
              <a:rPr lang="en-US" sz="2000" dirty="0" smtClean="0"/>
              <a:t>Prioritize the list of opportunities</a:t>
            </a:r>
          </a:p>
          <a:p>
            <a:pPr lvl="1"/>
            <a:r>
              <a:rPr lang="en-US" sz="2000" dirty="0" smtClean="0"/>
              <a:t>Introduce tools for generating ideas (to address opportunities)</a:t>
            </a:r>
          </a:p>
          <a:p>
            <a:pPr lvl="1"/>
            <a:r>
              <a:rPr lang="en-US" sz="2000" dirty="0" smtClean="0"/>
              <a:t>Conduct an open innovation competition (to generate ideas)</a:t>
            </a:r>
          </a:p>
          <a:p>
            <a:pPr lvl="1"/>
            <a:r>
              <a:rPr lang="en-US" sz="2000" dirty="0" smtClean="0"/>
              <a:t>Steering Committee to select the best ideas </a:t>
            </a:r>
          </a:p>
          <a:p>
            <a:pPr lvl="2"/>
            <a:r>
              <a:rPr lang="en-US" sz="1600" dirty="0" smtClean="0"/>
              <a:t>Provide recognition to contestants</a:t>
            </a:r>
          </a:p>
          <a:p>
            <a:pPr lvl="2"/>
            <a:r>
              <a:rPr lang="en-US" sz="1600" dirty="0" smtClean="0"/>
              <a:t>Select the best ideas &amp; agree upon list of recommendations to pursue</a:t>
            </a:r>
          </a:p>
          <a:p>
            <a:pPr lvl="1"/>
            <a:r>
              <a:rPr lang="en-US" sz="2000" dirty="0" smtClean="0"/>
              <a:t>Present top ideas to </a:t>
            </a:r>
            <a:r>
              <a:rPr lang="en-US" sz="2000" dirty="0" smtClean="0"/>
              <a:t>ABA </a:t>
            </a:r>
            <a:r>
              <a:rPr lang="en-US" sz="2000" dirty="0" smtClean="0"/>
              <a:t>Board with recommendations</a:t>
            </a:r>
          </a:p>
          <a:p>
            <a:r>
              <a:rPr lang="en-US" sz="2400" dirty="0" smtClean="0"/>
              <a:t>Transition ideas to innovation</a:t>
            </a:r>
          </a:p>
          <a:p>
            <a:pPr lvl="1"/>
            <a:r>
              <a:rPr lang="en-US" sz="2000" dirty="0" smtClean="0"/>
              <a:t>Gain board approval to pursue recommendations</a:t>
            </a:r>
          </a:p>
          <a:p>
            <a:pPr lvl="1"/>
            <a:r>
              <a:rPr lang="en-US" sz="2000" dirty="0" smtClean="0"/>
              <a:t>Board assigns ownership to develop &amp; implement changes</a:t>
            </a:r>
          </a:p>
          <a:p>
            <a:pPr lvl="2"/>
            <a:r>
              <a:rPr lang="en-US" sz="1600" dirty="0" smtClean="0"/>
              <a:t>Create new products &amp; services</a:t>
            </a:r>
          </a:p>
          <a:p>
            <a:pPr lvl="2"/>
            <a:r>
              <a:rPr lang="en-US" sz="1600" dirty="0" smtClean="0"/>
              <a:t>Modify existing products &amp; services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Appendix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 smtClean="0">
                <a:solidFill>
                  <a:schemeClr val="tx2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(Overview of Strategyn Methodology)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a Job ?</a:t>
            </a:r>
            <a:endParaRPr lang="en-US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85233"/>
            <a:ext cx="7239000" cy="479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76400"/>
            <a:ext cx="743340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Model for Relating Jobs &amp; Outcomes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76400"/>
            <a:ext cx="613608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&amp; Measuring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981200"/>
            <a:ext cx="8247063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Identifying &amp; Prioritizing Opportunities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1166" y="1676400"/>
            <a:ext cx="7029184" cy="496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sz="2400" b="1" dirty="0" smtClean="0"/>
              <a:t>Job of Storing &amp; Retrieving Music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96718"/>
            <a:ext cx="6427787" cy="4856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Prepared by </a:t>
            </a:r>
          </a:p>
          <a:p>
            <a:pPr lvl="1"/>
            <a:r>
              <a:rPr lang="en-US" dirty="0" smtClean="0"/>
              <a:t>Jeffrey Wallk (Managing Partner)</a:t>
            </a:r>
          </a:p>
          <a:p>
            <a:pPr lvl="1"/>
            <a:r>
              <a:rPr lang="en-US" dirty="0" smtClean="0"/>
              <a:t>Helene Sigman (Principle Consultant)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5241</TotalTime>
  <Words>990</Words>
  <Application>Microsoft Office PowerPoint</Application>
  <PresentationFormat>On-screen Show (4:3)</PresentationFormat>
  <Paragraphs>189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VEG</vt:lpstr>
      <vt:lpstr>Proposal for a New Value Delivery Model</vt:lpstr>
      <vt:lpstr>Outline</vt:lpstr>
      <vt:lpstr>Current State</vt:lpstr>
      <vt:lpstr>Objectives</vt:lpstr>
      <vt:lpstr>Benefits</vt:lpstr>
      <vt:lpstr>Program Charter</vt:lpstr>
      <vt:lpstr>Program Roadmap</vt:lpstr>
      <vt:lpstr>Program Roadmap</vt:lpstr>
      <vt:lpstr>Program Governance</vt:lpstr>
      <vt:lpstr>Staffing Plan</vt:lpstr>
      <vt:lpstr>Slide 11</vt:lpstr>
      <vt:lpstr>Key Milestones &amp; Deliverables</vt:lpstr>
      <vt:lpstr>Key Milestones &amp; Deliverables</vt:lpstr>
      <vt:lpstr>Slide 14</vt:lpstr>
      <vt:lpstr>What is a Job ?</vt:lpstr>
      <vt:lpstr>What are outcomes ?</vt:lpstr>
      <vt:lpstr>Model for Relating Jobs &amp; Outcomes</vt:lpstr>
      <vt:lpstr>Capturing &amp; Measuring Value</vt:lpstr>
      <vt:lpstr>Identifying &amp; Prioritizing Opportunities</vt:lpstr>
      <vt:lpstr>Example: Job of Storing &amp; Retrieving Music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34</cp:revision>
  <dcterms:created xsi:type="dcterms:W3CDTF">2009-06-09T11:36:35Z</dcterms:created>
  <dcterms:modified xsi:type="dcterms:W3CDTF">2009-09-07T15:15:53Z</dcterms:modified>
</cp:coreProperties>
</file>
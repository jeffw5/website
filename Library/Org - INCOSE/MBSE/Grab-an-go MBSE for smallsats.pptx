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204700" cy="6858000"/>
  <p:notesSz cx="122047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5352" y="2125980"/>
            <a:ext cx="10373995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3840480"/>
            <a:ext cx="854329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39293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187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981B1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41404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39293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187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981B1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10235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5420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39293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187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981B1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39293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187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39293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187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292849"/>
            <a:ext cx="12198350" cy="56514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1006111" y="0"/>
            <a:ext cx="1192237" cy="99790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0271759" y="4818888"/>
            <a:ext cx="1932431" cy="18318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9171" y="486157"/>
            <a:ext cx="10766356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981B1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0447" y="1558544"/>
            <a:ext cx="9923805" cy="1503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41404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9598" y="6377940"/>
            <a:ext cx="390550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10235" y="6377940"/>
            <a:ext cx="280708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202492" y="6423604"/>
            <a:ext cx="302259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939293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187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incose.org/iw2021/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://www.incose.org/iw2021/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hyperlink" Target="http://www.incose.org/iw2021/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incose.org/iw2021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hyperlink" Target="http://www.incose.org/iw2021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://www.incose.org/iw2021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hyperlink" Target="http://www.incose.org/iw2021/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hyperlink" Target="http://www.incose.org/iw2021/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hyperlink" Target="http://www.incose.org/iw2021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hyperlink" Target="http://www.incose.org/iw2021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hyperlink" Target="http://www.incose.org/iw2021/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hyperlink" Target="http://www.incose.org/iw2021/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incose.org/iw2021/" TargetMode="External"/><Relationship Id="rId3" Type="http://schemas.openxmlformats.org/officeDocument/2006/relationships/image" Target="../media/image28.png"/><Relationship Id="rId4" Type="http://schemas.openxmlformats.org/officeDocument/2006/relationships/image" Target="../media/image6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517" y="6432804"/>
            <a:ext cx="27635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414042"/>
                </a:solidFill>
                <a:latin typeface="Arial"/>
                <a:cs typeface="Arial"/>
                <a:hlinkClick r:id="rId2"/>
              </a:rPr>
              <a:t>www.incose.org/iw2021/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6991" y="5474208"/>
            <a:ext cx="3197860" cy="158750"/>
            <a:chOff x="316991" y="5474208"/>
            <a:chExt cx="3197860" cy="158750"/>
          </a:xfrm>
        </p:grpSpPr>
        <p:sp>
          <p:nvSpPr>
            <p:cNvPr id="4" name="object 4"/>
            <p:cNvSpPr/>
            <p:nvPr/>
          </p:nvSpPr>
          <p:spPr>
            <a:xfrm>
              <a:off x="316991" y="5474208"/>
              <a:ext cx="3197351" cy="1584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59777" y="5532386"/>
              <a:ext cx="3074670" cy="0"/>
            </a:xfrm>
            <a:custGeom>
              <a:avLst/>
              <a:gdLst/>
              <a:ahLst/>
              <a:cxnLst/>
              <a:rect l="l" t="t" r="r" b="b"/>
              <a:pathLst>
                <a:path w="3074670" h="0">
                  <a:moveTo>
                    <a:pt x="0" y="0"/>
                  </a:moveTo>
                  <a:lnTo>
                    <a:pt x="3074091" y="1"/>
                  </a:lnTo>
                </a:path>
              </a:pathLst>
            </a:custGeom>
            <a:ln w="76200">
              <a:solidFill>
                <a:srgbClr val="981B1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9777983" y="4782311"/>
            <a:ext cx="2426207" cy="20756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887379" y="5604764"/>
            <a:ext cx="1194435" cy="8458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dirty="0" sz="18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ts val="2180"/>
              </a:lnSpc>
              <a:spcBef>
                <a:spcPts val="30"/>
              </a:spcBef>
            </a:pPr>
            <a:r>
              <a:rPr dirty="0" sz="1800" spc="-5">
                <a:solidFill>
                  <a:srgbClr val="414042"/>
                </a:solidFill>
                <a:latin typeface="Arial Black"/>
                <a:cs typeface="Arial Black"/>
              </a:rPr>
              <a:t>L</a:t>
            </a:r>
            <a:r>
              <a:rPr dirty="0" sz="1800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800" spc="-5">
                <a:solidFill>
                  <a:srgbClr val="414042"/>
                </a:solidFill>
                <a:latin typeface="Arial Black"/>
                <a:cs typeface="Arial Black"/>
              </a:rPr>
              <a:t>gh</a:t>
            </a:r>
            <a:r>
              <a:rPr dirty="0" sz="1800">
                <a:solidFill>
                  <a:srgbClr val="414042"/>
                </a:solidFill>
                <a:latin typeface="Arial Black"/>
                <a:cs typeface="Arial Black"/>
              </a:rPr>
              <a:t>t</a:t>
            </a:r>
            <a:r>
              <a:rPr dirty="0" sz="1800" spc="-5">
                <a:solidFill>
                  <a:srgbClr val="414042"/>
                </a:solidFill>
                <a:latin typeface="Arial Black"/>
                <a:cs typeface="Arial Black"/>
              </a:rPr>
              <a:t>n</a:t>
            </a:r>
            <a:r>
              <a:rPr dirty="0" sz="1800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800" spc="-5">
                <a:solidFill>
                  <a:srgbClr val="414042"/>
                </a:solidFill>
                <a:latin typeface="Arial Black"/>
                <a:cs typeface="Arial Black"/>
              </a:rPr>
              <a:t>ng  </a:t>
            </a:r>
            <a:r>
              <a:rPr dirty="0" sz="1800" spc="-15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720699"/>
            <a:ext cx="12173115" cy="16548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69031" y="4623308"/>
            <a:ext cx="1035113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5">
                <a:solidFill>
                  <a:srgbClr val="981B1E"/>
                </a:solidFill>
                <a:latin typeface="Arial"/>
                <a:cs typeface="Arial"/>
              </a:rPr>
              <a:t>Grab-and-Go MBSE for</a:t>
            </a:r>
            <a:r>
              <a:rPr dirty="0" sz="5400" spc="-45">
                <a:solidFill>
                  <a:srgbClr val="981B1E"/>
                </a:solidFill>
                <a:latin typeface="Arial"/>
                <a:cs typeface="Arial"/>
              </a:rPr>
              <a:t> </a:t>
            </a:r>
            <a:r>
              <a:rPr dirty="0" sz="5400" spc="-5">
                <a:solidFill>
                  <a:srgbClr val="981B1E"/>
                </a:solidFill>
                <a:latin typeface="Arial"/>
                <a:cs typeface="Arial"/>
              </a:rPr>
              <a:t>Smallsats</a:t>
            </a:r>
            <a:endParaRPr sz="5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9031" y="3943604"/>
            <a:ext cx="756983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Samantha Infeld, AMA Inc.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and </a:t>
            </a:r>
            <a:r>
              <a:rPr dirty="0" sz="2400" spc="-40">
                <a:solidFill>
                  <a:srgbClr val="414042"/>
                </a:solidFill>
                <a:latin typeface="Arial"/>
                <a:cs typeface="Arial"/>
              </a:rPr>
              <a:t>Taekyoo </a:t>
            </a:r>
            <a:r>
              <a:rPr dirty="0" sz="2400" spc="-15">
                <a:solidFill>
                  <a:srgbClr val="414042"/>
                </a:solidFill>
                <a:latin typeface="Arial"/>
                <a:cs typeface="Arial"/>
              </a:rPr>
              <a:t>Won,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UC</a:t>
            </a:r>
            <a:r>
              <a:rPr dirty="0" sz="2400" spc="-27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Irvine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4814" y="5448300"/>
            <a:ext cx="937260" cy="67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14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ghtn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71" y="515619"/>
            <a:ext cx="1031811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/>
              <a:t>MBSE </a:t>
            </a:r>
            <a:r>
              <a:rPr dirty="0" sz="4000"/>
              <a:t>at </a:t>
            </a:r>
            <a:r>
              <a:rPr dirty="0" sz="4000" spc="-10"/>
              <a:t>NASA </a:t>
            </a:r>
            <a:r>
              <a:rPr dirty="0" sz="4000"/>
              <a:t>and the </a:t>
            </a:r>
            <a:r>
              <a:rPr dirty="0" sz="4000" spc="-5"/>
              <a:t>EDS MBSE</a:t>
            </a:r>
            <a:r>
              <a:rPr dirty="0" sz="4000" spc="-340"/>
              <a:t> </a:t>
            </a:r>
            <a:r>
              <a:rPr dirty="0" sz="4000" spc="-60"/>
              <a:t>Template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90395" indent="-304800">
              <a:lnSpc>
                <a:spcPts val="3229"/>
              </a:lnSpc>
              <a:spcBef>
                <a:spcPts val="100"/>
              </a:spcBef>
              <a:buChar char="•"/>
              <a:tabLst>
                <a:tab pos="1889760" algn="l"/>
                <a:tab pos="1890395" algn="l"/>
              </a:tabLst>
            </a:pPr>
            <a:r>
              <a:rPr dirty="0" spc="-5"/>
              <a:t>Making systems engineering easier for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5"/>
              <a:t>workforce</a:t>
            </a:r>
          </a:p>
          <a:p>
            <a:pPr marL="1890395" marR="461009" indent="-304800">
              <a:lnSpc>
                <a:spcPct val="80000"/>
              </a:lnSpc>
              <a:spcBef>
                <a:spcPts val="635"/>
              </a:spcBef>
              <a:buChar char="•"/>
              <a:tabLst>
                <a:tab pos="1889760" algn="l"/>
                <a:tab pos="1890395" algn="l"/>
              </a:tabLst>
            </a:pPr>
            <a:r>
              <a:rPr dirty="0" spc="-5"/>
              <a:t>NASA MBSE Infusion And Modernization</a:t>
            </a:r>
            <a:r>
              <a:rPr dirty="0" spc="-305"/>
              <a:t> </a:t>
            </a:r>
            <a:r>
              <a:rPr dirty="0" spc="-5"/>
              <a:t>Initiative  (MIAMI) 2016-2020 and the on-going MBSE  Community of Practice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13367" y="3859783"/>
            <a:ext cx="8350884" cy="192151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317500" marR="5080" indent="-304800">
              <a:lnSpc>
                <a:spcPct val="80000"/>
              </a:lnSpc>
              <a:spcBef>
                <a:spcPts val="745"/>
              </a:spcBef>
              <a:buChar char="•"/>
              <a:tabLst>
                <a:tab pos="316865" algn="l"/>
                <a:tab pos="317500" algn="l"/>
              </a:tabLst>
            </a:pP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Engineering Design Studio, NASA Langley</a:t>
            </a:r>
            <a:r>
              <a:rPr dirty="0" sz="2700" spc="-15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Research  Center (LaRC)</a:t>
            </a:r>
            <a:endParaRPr sz="2700">
              <a:latin typeface="Arial"/>
              <a:cs typeface="Arial"/>
            </a:endParaRPr>
          </a:p>
          <a:p>
            <a:pPr marL="317500" marR="119380" indent="-304800">
              <a:lnSpc>
                <a:spcPct val="77800"/>
              </a:lnSpc>
              <a:spcBef>
                <a:spcPts val="770"/>
              </a:spcBef>
              <a:buChar char="•"/>
              <a:tabLst>
                <a:tab pos="316865" algn="l"/>
                <a:tab pos="317500" algn="l"/>
              </a:tabLst>
            </a:pPr>
            <a:r>
              <a:rPr dirty="0" sz="2700" spc="-80">
                <a:solidFill>
                  <a:srgbClr val="414042"/>
                </a:solidFill>
                <a:latin typeface="Arial"/>
                <a:cs typeface="Arial"/>
              </a:rPr>
              <a:t>Tech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development plan for collaboration and system  modeling</a:t>
            </a:r>
            <a:endParaRPr sz="2700">
              <a:latin typeface="Arial"/>
              <a:cs typeface="Arial"/>
            </a:endParaRPr>
          </a:p>
          <a:p>
            <a:pPr marL="317500" indent="-304800">
              <a:lnSpc>
                <a:spcPct val="100000"/>
              </a:lnSpc>
              <a:spcBef>
                <a:spcPts val="45"/>
              </a:spcBef>
              <a:buChar char="•"/>
              <a:tabLst>
                <a:tab pos="316865" algn="l"/>
                <a:tab pos="317500" algn="l"/>
              </a:tabLst>
            </a:pP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AR/VR, </a:t>
            </a:r>
            <a:r>
              <a:rPr dirty="0" sz="2700" spc="-10">
                <a:solidFill>
                  <a:srgbClr val="414042"/>
                </a:solidFill>
                <a:latin typeface="Arial"/>
                <a:cs typeface="Arial"/>
              </a:rPr>
              <a:t>Office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365 environment,</a:t>
            </a:r>
            <a:r>
              <a:rPr dirty="0" sz="2700" spc="-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700" spc="-5">
                <a:solidFill>
                  <a:srgbClr val="414042"/>
                </a:solidFill>
                <a:latin typeface="Arial"/>
                <a:cs typeface="Arial"/>
              </a:rPr>
              <a:t>SysML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7969" y="1534553"/>
            <a:ext cx="1624617" cy="15927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715269" y="4030395"/>
            <a:ext cx="1650364" cy="1650364"/>
            <a:chOff x="715269" y="4030395"/>
            <a:chExt cx="1650364" cy="1650364"/>
          </a:xfrm>
        </p:grpSpPr>
        <p:sp>
          <p:nvSpPr>
            <p:cNvPr id="8" name="object 8"/>
            <p:cNvSpPr/>
            <p:nvPr/>
          </p:nvSpPr>
          <p:spPr>
            <a:xfrm>
              <a:off x="727969" y="4043095"/>
              <a:ext cx="1624965" cy="1624965"/>
            </a:xfrm>
            <a:custGeom>
              <a:avLst/>
              <a:gdLst/>
              <a:ahLst/>
              <a:cxnLst/>
              <a:rect l="l" t="t" r="r" b="b"/>
              <a:pathLst>
                <a:path w="1624964" h="1624964">
                  <a:moveTo>
                    <a:pt x="1624617" y="0"/>
                  </a:moveTo>
                  <a:lnTo>
                    <a:pt x="0" y="0"/>
                  </a:lnTo>
                  <a:lnTo>
                    <a:pt x="0" y="1624618"/>
                  </a:lnTo>
                  <a:lnTo>
                    <a:pt x="1624617" y="1624618"/>
                  </a:lnTo>
                  <a:lnTo>
                    <a:pt x="16246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27969" y="4043095"/>
              <a:ext cx="1624965" cy="1624965"/>
            </a:xfrm>
            <a:custGeom>
              <a:avLst/>
              <a:gdLst/>
              <a:ahLst/>
              <a:cxnLst/>
              <a:rect l="l" t="t" r="r" b="b"/>
              <a:pathLst>
                <a:path w="1624964" h="1624964">
                  <a:moveTo>
                    <a:pt x="0" y="0"/>
                  </a:moveTo>
                  <a:lnTo>
                    <a:pt x="1624610" y="0"/>
                  </a:lnTo>
                  <a:lnTo>
                    <a:pt x="1624610" y="1624610"/>
                  </a:lnTo>
                  <a:lnTo>
                    <a:pt x="0" y="162461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140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34500" y="4402355"/>
              <a:ext cx="1411545" cy="9312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150700" y="6423604"/>
            <a:ext cx="2200910" cy="252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10">
                <a:solidFill>
                  <a:srgbClr val="939293"/>
                </a:solidFill>
                <a:latin typeface="Arial"/>
                <a:cs typeface="Arial"/>
                <a:hlinkClick r:id="rId4"/>
              </a:rPr>
              <a:t>www.incose.org/iw2021/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1870"/>
              </a:lnSpc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4814" y="5448300"/>
            <a:ext cx="937260" cy="67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14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ghtn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71" y="486157"/>
            <a:ext cx="961771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Motivation </a:t>
            </a:r>
            <a:r>
              <a:rPr dirty="0"/>
              <a:t>for an </a:t>
            </a:r>
            <a:r>
              <a:rPr dirty="0" spc="-5"/>
              <a:t>EDS MBSE</a:t>
            </a:r>
            <a:r>
              <a:rPr dirty="0" spc="-75"/>
              <a:t> </a:t>
            </a:r>
            <a:r>
              <a:rPr dirty="0" spc="-65"/>
              <a:t>Template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173" y="1635252"/>
            <a:ext cx="9285605" cy="3025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marR="926465" indent="-457200">
              <a:lnSpc>
                <a:spcPct val="1000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Short-term nature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of EDS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studies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calls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for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 </a:t>
            </a: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structured environment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,  </a:t>
            </a: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repeatable processes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, and </a:t>
            </a: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common</a:t>
            </a:r>
            <a:r>
              <a:rPr dirty="0" sz="2000" spc="-20" b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products</a:t>
            </a:r>
            <a:endParaRPr sz="2000">
              <a:latin typeface="Arial"/>
              <a:cs typeface="Arial"/>
            </a:endParaRPr>
          </a:p>
          <a:p>
            <a:pPr marL="469265" marR="753745" indent="-457200">
              <a:lnSpc>
                <a:spcPct val="100000"/>
              </a:lnSpc>
              <a:spcBef>
                <a:spcPts val="5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Incorporate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modeling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ideas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and examples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from studies into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 </a:t>
            </a: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re-usable  template</a:t>
            </a:r>
            <a:endParaRPr sz="2000">
              <a:latin typeface="Arial"/>
              <a:cs typeface="Arial"/>
            </a:endParaRPr>
          </a:p>
          <a:p>
            <a:pPr marL="469265" marR="5080" indent="-457200">
              <a:lnSpc>
                <a:spcPct val="100000"/>
              </a:lnSpc>
              <a:spcBef>
                <a:spcPts val="50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Follow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general structure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of a flight project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organization,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with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space-based 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example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diagrams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and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tables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linked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from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each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starter</a:t>
            </a:r>
            <a:r>
              <a:rPr dirty="0" sz="2000" spc="-6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artifact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414042"/>
              </a:buClr>
              <a:buFont typeface="Arial"/>
              <a:buChar char="•"/>
            </a:pPr>
            <a:endParaRPr sz="2950">
              <a:latin typeface="Arial"/>
              <a:cs typeface="Arial"/>
            </a:endParaRPr>
          </a:p>
          <a:p>
            <a:pPr marL="469265" marR="1024255" indent="-457200">
              <a:lnSpc>
                <a:spcPct val="1000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Assistance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and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consistency for </a:t>
            </a: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navigation </a:t>
            </a:r>
            <a:r>
              <a:rPr dirty="0" sz="2000" b="1">
                <a:solidFill>
                  <a:srgbClr val="414042"/>
                </a:solidFill>
                <a:latin typeface="Arial"/>
                <a:cs typeface="Arial"/>
              </a:rPr>
              <a:t>and </a:t>
            </a: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tracking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the study  (separate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easily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removable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EDS package) and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then the flight</a:t>
            </a:r>
            <a:r>
              <a:rPr dirty="0" sz="2000" spc="-6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project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173" y="5052060"/>
            <a:ext cx="9032875" cy="1003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Support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 </a:t>
            </a: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consistent </a:t>
            </a:r>
            <a:r>
              <a:rPr dirty="0" sz="2000" b="1">
                <a:solidFill>
                  <a:srgbClr val="414042"/>
                </a:solidFill>
                <a:latin typeface="Arial"/>
                <a:cs typeface="Arial"/>
              </a:rPr>
              <a:t>EDS </a:t>
            </a: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process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and </a:t>
            </a: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successful systems</a:t>
            </a:r>
            <a:r>
              <a:rPr dirty="0" sz="2000" spc="20" b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engineering</a:t>
            </a:r>
            <a:endParaRPr sz="20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</a:pP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throughout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project’s</a:t>
            </a:r>
            <a:r>
              <a:rPr dirty="0" sz="2000" spc="-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life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Post-study usability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in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the transition to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project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systems</a:t>
            </a:r>
            <a:r>
              <a:rPr dirty="0" sz="2000" spc="-5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engineers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025748" y="1219629"/>
            <a:ext cx="2172601" cy="35475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150700" y="6423604"/>
            <a:ext cx="2200910" cy="252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10">
                <a:solidFill>
                  <a:srgbClr val="939293"/>
                </a:solidFill>
                <a:latin typeface="Arial"/>
                <a:cs typeface="Arial"/>
                <a:hlinkClick r:id="rId3"/>
              </a:rPr>
              <a:t>www.incose.org/iw2021/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1870"/>
              </a:lnSpc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4814" y="5448300"/>
            <a:ext cx="937260" cy="67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14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ghtn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50700" y="6423604"/>
            <a:ext cx="2200910" cy="252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10">
                <a:solidFill>
                  <a:srgbClr val="939293"/>
                </a:solidFill>
                <a:latin typeface="Arial"/>
                <a:cs typeface="Arial"/>
                <a:hlinkClick r:id="rId2"/>
              </a:rPr>
              <a:t>www.incose.org/iw2021/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1870"/>
              </a:lnSpc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71" y="486157"/>
            <a:ext cx="63214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Smallsat MBSE</a:t>
            </a:r>
            <a:r>
              <a:rPr dirty="0" spc="-110"/>
              <a:t> </a:t>
            </a:r>
            <a:r>
              <a:rPr dirty="0" spc="-65"/>
              <a:t>Template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171" y="1469643"/>
            <a:ext cx="10611485" cy="2896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ts val="191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Needs</a:t>
            </a:r>
            <a:endParaRPr sz="1600">
              <a:latin typeface="Arial"/>
              <a:cs typeface="Arial"/>
            </a:endParaRPr>
          </a:p>
          <a:p>
            <a:pPr lvl="1" marL="1003300" marR="5080" indent="-381000">
              <a:lnSpc>
                <a:spcPct val="77500"/>
              </a:lnSpc>
              <a:spcBef>
                <a:spcPts val="420"/>
              </a:spcBef>
              <a:buChar char="–"/>
              <a:tabLst>
                <a:tab pos="1002665" algn="l"/>
                <a:tab pos="1003300" algn="l"/>
              </a:tabLst>
            </a:pPr>
            <a:r>
              <a:rPr dirty="0" sz="1600">
                <a:solidFill>
                  <a:srgbClr val="414042"/>
                </a:solidFill>
                <a:latin typeface="Arial"/>
                <a:cs typeface="Arial"/>
              </a:rPr>
              <a:t>a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simple, accessible MBSE template and </a:t>
            </a:r>
            <a:r>
              <a:rPr dirty="0" sz="1600" spc="-10">
                <a:solidFill>
                  <a:srgbClr val="414042"/>
                </a:solidFill>
                <a:latin typeface="Arial"/>
                <a:cs typeface="Arial"/>
              </a:rPr>
              <a:t>available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libraries </a:t>
            </a:r>
            <a:r>
              <a:rPr dirty="0" sz="1600">
                <a:solidFill>
                  <a:srgbClr val="414042"/>
                </a:solidFill>
                <a:latin typeface="Arial"/>
                <a:cs typeface="Arial"/>
              </a:rPr>
              <a:t>for </a:t>
            </a:r>
            <a:r>
              <a:rPr dirty="0" sz="1600" spc="-5" b="1">
                <a:solidFill>
                  <a:srgbClr val="414042"/>
                </a:solidFill>
                <a:latin typeface="Arial"/>
                <a:cs typeface="Arial"/>
              </a:rPr>
              <a:t>rapid prototyping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and transitioning models  into </a:t>
            </a:r>
            <a:r>
              <a:rPr dirty="0" sz="1600" spc="-5" b="1">
                <a:solidFill>
                  <a:srgbClr val="414042"/>
                </a:solidFill>
                <a:latin typeface="Arial"/>
                <a:cs typeface="Arial"/>
              </a:rPr>
              <a:t>flight project</a:t>
            </a:r>
            <a:r>
              <a:rPr dirty="0" sz="1600" spc="25" b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414042"/>
                </a:solidFill>
                <a:latin typeface="Arial"/>
                <a:cs typeface="Arial"/>
              </a:rPr>
              <a:t>development.</a:t>
            </a:r>
            <a:endParaRPr sz="1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414042"/>
              </a:buClr>
              <a:buFont typeface="Arial"/>
              <a:buChar char="–"/>
            </a:pPr>
            <a:endParaRPr sz="1700">
              <a:latin typeface="Arial"/>
              <a:cs typeface="Arial"/>
            </a:endParaRPr>
          </a:p>
          <a:p>
            <a:pPr lvl="1" marL="1003300" indent="-381000">
              <a:lnSpc>
                <a:spcPct val="100000"/>
              </a:lnSpc>
              <a:buChar char="–"/>
              <a:tabLst>
                <a:tab pos="1002665" algn="l"/>
                <a:tab pos="1003300" algn="l"/>
              </a:tabLst>
            </a:pP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rigorous, trackable </a:t>
            </a:r>
            <a:r>
              <a:rPr dirty="0" sz="1600" spc="-5" b="1">
                <a:solidFill>
                  <a:srgbClr val="414042"/>
                </a:solidFill>
                <a:latin typeface="Arial"/>
                <a:cs typeface="Arial"/>
              </a:rPr>
              <a:t>System Engineering support </a:t>
            </a:r>
            <a:r>
              <a:rPr dirty="0" sz="1600">
                <a:solidFill>
                  <a:srgbClr val="414042"/>
                </a:solidFill>
                <a:latin typeface="Arial"/>
                <a:cs typeface="Arial"/>
              </a:rPr>
              <a:t>for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growing number of </a:t>
            </a:r>
            <a:r>
              <a:rPr dirty="0" sz="1600" spc="-10">
                <a:solidFill>
                  <a:srgbClr val="414042"/>
                </a:solidFill>
                <a:latin typeface="Arial"/>
                <a:cs typeface="Arial"/>
              </a:rPr>
              <a:t>CubeSat</a:t>
            </a:r>
            <a:r>
              <a:rPr dirty="0" sz="1600" spc="114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projects</a:t>
            </a:r>
            <a:endParaRPr sz="1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414042"/>
              </a:buClr>
              <a:buFont typeface="Arial"/>
              <a:buChar char="–"/>
            </a:pPr>
            <a:endParaRPr sz="1600">
              <a:latin typeface="Arial"/>
              <a:cs typeface="Arial"/>
            </a:endParaRPr>
          </a:p>
          <a:p>
            <a:pPr marL="469900" indent="-457200">
              <a:lnSpc>
                <a:spcPts val="1910"/>
              </a:lnSpc>
              <a:spcBef>
                <a:spcPts val="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Goals</a:t>
            </a:r>
            <a:endParaRPr sz="1600">
              <a:latin typeface="Arial"/>
              <a:cs typeface="Arial"/>
            </a:endParaRPr>
          </a:p>
          <a:p>
            <a:pPr lvl="1" marL="1003300" indent="-381000">
              <a:lnSpc>
                <a:spcPts val="1910"/>
              </a:lnSpc>
              <a:buFont typeface="Arial"/>
              <a:buChar char="–"/>
              <a:tabLst>
                <a:tab pos="1002665" algn="l"/>
                <a:tab pos="1003300" algn="l"/>
              </a:tabLst>
            </a:pPr>
            <a:r>
              <a:rPr dirty="0" sz="1600" spc="-5" b="1">
                <a:solidFill>
                  <a:srgbClr val="414042"/>
                </a:solidFill>
                <a:latin typeface="Arial"/>
                <a:cs typeface="Arial"/>
              </a:rPr>
              <a:t>validate MBSE use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in </a:t>
            </a:r>
            <a:r>
              <a:rPr dirty="0" sz="1600" spc="-10">
                <a:solidFill>
                  <a:srgbClr val="414042"/>
                </a:solidFill>
                <a:latin typeface="Arial"/>
                <a:cs typeface="Arial"/>
              </a:rPr>
              <a:t>EDS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and</a:t>
            </a:r>
            <a:r>
              <a:rPr dirty="0" sz="1600" spc="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projects</a:t>
            </a:r>
            <a:endParaRPr sz="1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414042"/>
              </a:buClr>
              <a:buFont typeface="Arial"/>
              <a:buChar char="–"/>
            </a:pPr>
            <a:endParaRPr sz="1700">
              <a:latin typeface="Arial"/>
              <a:cs typeface="Arial"/>
            </a:endParaRPr>
          </a:p>
          <a:p>
            <a:pPr lvl="1" marL="1003300" indent="-381000">
              <a:lnSpc>
                <a:spcPct val="100000"/>
              </a:lnSpc>
              <a:buChar char="–"/>
              <a:tabLst>
                <a:tab pos="1002665" algn="l"/>
                <a:tab pos="1003300" algn="l"/>
              </a:tabLst>
            </a:pP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provide </a:t>
            </a:r>
            <a:r>
              <a:rPr dirty="0" sz="1600" spc="-5" b="1">
                <a:solidFill>
                  <a:srgbClr val="414042"/>
                </a:solidFill>
                <a:latin typeface="Arial"/>
                <a:cs typeface="Arial"/>
              </a:rPr>
              <a:t>direction </a:t>
            </a:r>
            <a:r>
              <a:rPr dirty="0" sz="1600" b="1">
                <a:solidFill>
                  <a:srgbClr val="414042"/>
                </a:solidFill>
                <a:latin typeface="Arial"/>
                <a:cs typeface="Arial"/>
              </a:rPr>
              <a:t>for </a:t>
            </a:r>
            <a:r>
              <a:rPr dirty="0" sz="1600" spc="-5" b="1">
                <a:solidFill>
                  <a:srgbClr val="414042"/>
                </a:solidFill>
                <a:latin typeface="Arial"/>
                <a:cs typeface="Arial"/>
              </a:rPr>
              <a:t>MBSE</a:t>
            </a:r>
            <a:r>
              <a:rPr dirty="0" sz="1600" spc="5" b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414042"/>
                </a:solidFill>
                <a:latin typeface="Arial"/>
                <a:cs typeface="Arial"/>
              </a:rPr>
              <a:t>resources</a:t>
            </a:r>
            <a:endParaRPr sz="1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414042"/>
              </a:buClr>
              <a:buFont typeface="Arial"/>
              <a:buChar char="–"/>
            </a:pPr>
            <a:endParaRPr sz="1600">
              <a:latin typeface="Arial"/>
              <a:cs typeface="Arial"/>
            </a:endParaRPr>
          </a:p>
          <a:p>
            <a:pPr lvl="1" marL="1003300" indent="-381000">
              <a:lnSpc>
                <a:spcPct val="100000"/>
              </a:lnSpc>
              <a:buChar char="–"/>
              <a:tabLst>
                <a:tab pos="1002665" algn="l"/>
                <a:tab pos="1003300" algn="l"/>
              </a:tabLst>
            </a:pP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enhance capability </a:t>
            </a:r>
            <a:r>
              <a:rPr dirty="0" sz="1600">
                <a:solidFill>
                  <a:srgbClr val="414042"/>
                </a:solidFill>
                <a:latin typeface="Arial"/>
                <a:cs typeface="Arial"/>
              </a:rPr>
              <a:t>to </a:t>
            </a:r>
            <a:r>
              <a:rPr dirty="0" sz="1600" spc="-5" b="1">
                <a:solidFill>
                  <a:srgbClr val="414042"/>
                </a:solidFill>
                <a:latin typeface="Arial"/>
                <a:cs typeface="Arial"/>
              </a:rPr>
              <a:t>rapidly reconfigure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in additional</a:t>
            </a:r>
            <a:r>
              <a:rPr dirty="0" sz="1600" spc="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variables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775" y="4581651"/>
            <a:ext cx="8364855" cy="979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Char char="–"/>
              <a:tabLst>
                <a:tab pos="393065" algn="l"/>
                <a:tab pos="393700" algn="l"/>
              </a:tabLst>
            </a:pP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plug into emerging </a:t>
            </a:r>
            <a:r>
              <a:rPr dirty="0" sz="1600" spc="-5" b="1">
                <a:solidFill>
                  <a:srgbClr val="414042"/>
                </a:solidFill>
                <a:latin typeface="Arial"/>
                <a:cs typeface="Arial"/>
              </a:rPr>
              <a:t>standardized smallsat</a:t>
            </a:r>
            <a:r>
              <a:rPr dirty="0" sz="1600" spc="20" b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414042"/>
                </a:solidFill>
                <a:latin typeface="Arial"/>
                <a:cs typeface="Arial"/>
              </a:rPr>
              <a:t>model</a:t>
            </a:r>
            <a:endParaRPr sz="1600">
              <a:latin typeface="Arial"/>
              <a:cs typeface="Arial"/>
            </a:endParaRPr>
          </a:p>
          <a:p>
            <a:pPr lvl="1" marL="927735" indent="-304800">
              <a:lnSpc>
                <a:spcPct val="100000"/>
              </a:lnSpc>
              <a:spcBef>
                <a:spcPts val="80"/>
              </a:spcBef>
              <a:buChar char="•"/>
              <a:tabLst>
                <a:tab pos="927100" algn="l"/>
                <a:tab pos="927735" algn="l"/>
              </a:tabLst>
            </a:pP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Cubesat System Reference Model (CSRM), from INCOSE Space Systems </a:t>
            </a:r>
            <a:r>
              <a:rPr dirty="0" sz="1400" spc="-10">
                <a:solidFill>
                  <a:srgbClr val="414042"/>
                </a:solidFill>
                <a:latin typeface="Arial"/>
                <a:cs typeface="Arial"/>
              </a:rPr>
              <a:t>Working</a:t>
            </a:r>
            <a:r>
              <a:rPr dirty="0" sz="1400" spc="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Group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414042"/>
              </a:buClr>
              <a:buFont typeface="Arial"/>
              <a:buChar char="•"/>
            </a:pPr>
            <a:endParaRPr sz="1650">
              <a:latin typeface="Arial"/>
              <a:cs typeface="Arial"/>
            </a:endParaRPr>
          </a:p>
          <a:p>
            <a:pPr marL="393700" indent="-381000">
              <a:lnSpc>
                <a:spcPct val="100000"/>
              </a:lnSpc>
              <a:spcBef>
                <a:spcPts val="5"/>
              </a:spcBef>
              <a:buChar char="–"/>
              <a:tabLst>
                <a:tab pos="393065" algn="l"/>
                <a:tab pos="393700" algn="l"/>
              </a:tabLst>
            </a:pP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ease use of </a:t>
            </a:r>
            <a:r>
              <a:rPr dirty="0" sz="1600">
                <a:solidFill>
                  <a:srgbClr val="414042"/>
                </a:solidFill>
                <a:latin typeface="Arial"/>
                <a:cs typeface="Arial"/>
              </a:rPr>
              <a:t>a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smallsat modeling plug-in out of </a:t>
            </a:r>
            <a:r>
              <a:rPr dirty="0" sz="1600">
                <a:solidFill>
                  <a:srgbClr val="414042"/>
                </a:solidFill>
                <a:latin typeface="Arial"/>
                <a:cs typeface="Arial"/>
              </a:rPr>
              <a:t>a </a:t>
            </a:r>
            <a:r>
              <a:rPr dirty="0" sz="1600" spc="-10">
                <a:solidFill>
                  <a:srgbClr val="414042"/>
                </a:solidFill>
                <a:latin typeface="Arial"/>
                <a:cs typeface="Arial"/>
              </a:rPr>
              <a:t>NASA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SBIR (Orbital </a:t>
            </a:r>
            <a:r>
              <a:rPr dirty="0" sz="1600" spc="-15">
                <a:solidFill>
                  <a:srgbClr val="414042"/>
                </a:solidFill>
                <a:latin typeface="Arial"/>
                <a:cs typeface="Arial"/>
              </a:rPr>
              <a:t>Transport’s</a:t>
            </a:r>
            <a:r>
              <a:rPr dirty="0" sz="1600" spc="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METIS)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775" y="5773419"/>
            <a:ext cx="725550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</a:tabLst>
            </a:pPr>
            <a:r>
              <a:rPr dirty="0" sz="1600">
                <a:solidFill>
                  <a:srgbClr val="414042"/>
                </a:solidFill>
                <a:latin typeface="Arial"/>
                <a:cs typeface="Arial"/>
              </a:rPr>
              <a:t>–	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make </a:t>
            </a:r>
            <a:r>
              <a:rPr dirty="0" sz="16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template </a:t>
            </a:r>
            <a:r>
              <a:rPr dirty="0" sz="1600" spc="-5" b="1">
                <a:solidFill>
                  <a:srgbClr val="414042"/>
                </a:solidFill>
                <a:latin typeface="Arial"/>
                <a:cs typeface="Arial"/>
              </a:rPr>
              <a:t>ready for smoother regular use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by smallsat</a:t>
            </a:r>
            <a:r>
              <a:rPr dirty="0" sz="1600" spc="1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community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6125" y="1259979"/>
            <a:ext cx="7899806" cy="52540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06536" y="1458468"/>
            <a:ext cx="3665220" cy="4661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6835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981B1E"/>
                </a:solidFill>
                <a:latin typeface="Arial"/>
                <a:cs typeface="Arial"/>
              </a:rPr>
              <a:t>Content diagram for  navigation </a:t>
            </a:r>
            <a:r>
              <a:rPr dirty="0" sz="2000" spc="-10" b="1">
                <a:solidFill>
                  <a:srgbClr val="981B1E"/>
                </a:solidFill>
                <a:latin typeface="Arial"/>
                <a:cs typeface="Arial"/>
              </a:rPr>
              <a:t>while </a:t>
            </a:r>
            <a:r>
              <a:rPr dirty="0" sz="2000" spc="-5" b="1">
                <a:solidFill>
                  <a:srgbClr val="981B1E"/>
                </a:solidFill>
                <a:latin typeface="Arial"/>
                <a:cs typeface="Arial"/>
              </a:rPr>
              <a:t>adding  content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"/>
              <a:cs typeface="Arial"/>
            </a:endParaRPr>
          </a:p>
          <a:p>
            <a:pPr marL="12700" marR="389255">
              <a:lnSpc>
                <a:spcPct val="100000"/>
              </a:lnSpc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review and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navigate the  system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by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major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areas</a:t>
            </a:r>
            <a:r>
              <a:rPr dirty="0" sz="2000" spc="-9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of  concept development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to  ensure appropriate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work is 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completed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in</a:t>
            </a:r>
            <a:r>
              <a:rPr dirty="0" sz="2000" spc="-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each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Arial"/>
              <a:cs typeface="Arial"/>
            </a:endParaRPr>
          </a:p>
          <a:p>
            <a:pPr marL="12700" marR="372745">
              <a:lnSpc>
                <a:spcPct val="100000"/>
              </a:lnSpc>
            </a:pP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update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if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diagrams/tables are 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added or</a:t>
            </a:r>
            <a:r>
              <a:rPr dirty="0" sz="2000" spc="-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deleted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Arial"/>
              <a:cs typeface="Arial"/>
            </a:endParaRPr>
          </a:p>
          <a:p>
            <a:pPr marL="2740660">
              <a:lnSpc>
                <a:spcPct val="100000"/>
              </a:lnSpc>
              <a:spcBef>
                <a:spcPts val="5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2740660" marR="5080">
              <a:lnSpc>
                <a:spcPct val="1014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ghtn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0700" y="6423604"/>
            <a:ext cx="2200910" cy="252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10">
                <a:solidFill>
                  <a:srgbClr val="939293"/>
                </a:solidFill>
                <a:latin typeface="Arial"/>
                <a:cs typeface="Arial"/>
                <a:hlinkClick r:id="rId3"/>
              </a:rPr>
              <a:t>www.incose.org/iw2021/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1870"/>
              </a:lnSpc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9171" y="486157"/>
            <a:ext cx="100507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8965" algn="l"/>
              </a:tabLst>
            </a:pPr>
            <a:r>
              <a:rPr dirty="0" spc="-5"/>
              <a:t>LaRC</a:t>
            </a:r>
            <a:r>
              <a:rPr dirty="0" spc="5"/>
              <a:t> </a:t>
            </a:r>
            <a:r>
              <a:rPr dirty="0" spc="-5"/>
              <a:t>Small	Satellite </a:t>
            </a:r>
            <a:r>
              <a:rPr dirty="0" spc="-65"/>
              <a:t>Template</a:t>
            </a:r>
            <a:r>
              <a:rPr dirty="0" spc="-80"/>
              <a:t> </a:t>
            </a:r>
            <a:r>
              <a:rPr dirty="0" spc="-5"/>
              <a:t>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4814" y="5448300"/>
            <a:ext cx="937260" cy="67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14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ghtn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71" y="486157"/>
            <a:ext cx="875792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Integrated with </a:t>
            </a:r>
            <a:r>
              <a:rPr dirty="0"/>
              <a:t>the </a:t>
            </a:r>
            <a:r>
              <a:rPr dirty="0" spc="-5"/>
              <a:t>CSRM</a:t>
            </a:r>
            <a:r>
              <a:rPr dirty="0" spc="20"/>
              <a:t> </a:t>
            </a:r>
            <a:r>
              <a:rPr dirty="0" spc="-5"/>
              <a:t>structure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4264" y="5319267"/>
            <a:ext cx="9611360" cy="1031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2200">
                <a:solidFill>
                  <a:srgbClr val="414042"/>
                </a:solidFill>
                <a:latin typeface="Arial"/>
                <a:cs typeface="Arial"/>
              </a:rPr>
              <a:t>starter </a:t>
            </a: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diagrams contain elements placed in </a:t>
            </a:r>
            <a:r>
              <a:rPr dirty="0" sz="2200">
                <a:solidFill>
                  <a:srgbClr val="414042"/>
                </a:solidFill>
                <a:latin typeface="Arial"/>
                <a:cs typeface="Arial"/>
              </a:rPr>
              <a:t>the correct </a:t>
            </a: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place </a:t>
            </a:r>
            <a:r>
              <a:rPr dirty="0" sz="2200">
                <a:solidFill>
                  <a:srgbClr val="414042"/>
                </a:solidFill>
                <a:latin typeface="Arial"/>
                <a:cs typeface="Arial"/>
              </a:rPr>
              <a:t>of</a:t>
            </a:r>
            <a:r>
              <a:rPr dirty="0" sz="2200" spc="7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CSRM</a:t>
            </a:r>
            <a:endParaRPr sz="2200">
              <a:latin typeface="Arial"/>
              <a:cs typeface="Arial"/>
            </a:endParaRPr>
          </a:p>
          <a:p>
            <a:pPr marL="469900" indent="-457200">
              <a:lnSpc>
                <a:spcPts val="2615"/>
              </a:lnSpc>
              <a:spcBef>
                <a:spcPts val="4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links </a:t>
            </a:r>
            <a:r>
              <a:rPr dirty="0" sz="2200">
                <a:solidFill>
                  <a:srgbClr val="414042"/>
                </a:solidFill>
                <a:latin typeface="Arial"/>
                <a:cs typeface="Arial"/>
              </a:rPr>
              <a:t>to the </a:t>
            </a: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population information in </a:t>
            </a:r>
            <a:r>
              <a:rPr dirty="0" sz="2200">
                <a:solidFill>
                  <a:srgbClr val="414042"/>
                </a:solidFill>
                <a:latin typeface="Arial"/>
                <a:cs typeface="Arial"/>
              </a:rPr>
              <a:t>the</a:t>
            </a:r>
            <a:r>
              <a:rPr dirty="0" sz="2200" spc="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CSRM</a:t>
            </a:r>
            <a:endParaRPr sz="2200">
              <a:latin typeface="Arial"/>
              <a:cs typeface="Arial"/>
            </a:endParaRPr>
          </a:p>
          <a:p>
            <a:pPr marL="469900" indent="-457200">
              <a:lnSpc>
                <a:spcPts val="2615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2200" spc="-20">
                <a:solidFill>
                  <a:srgbClr val="414042"/>
                </a:solidFill>
                <a:latin typeface="Arial"/>
                <a:cs typeface="Arial"/>
              </a:rPr>
              <a:t>tailor, </a:t>
            </a:r>
            <a:r>
              <a:rPr dirty="0" sz="2200">
                <a:solidFill>
                  <a:srgbClr val="414042"/>
                </a:solidFill>
                <a:latin typeface="Arial"/>
                <a:cs typeface="Arial"/>
              </a:rPr>
              <a:t>or </a:t>
            </a: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find </a:t>
            </a:r>
            <a:r>
              <a:rPr dirty="0" sz="2200">
                <a:solidFill>
                  <a:srgbClr val="414042"/>
                </a:solidFill>
                <a:latin typeface="Arial"/>
                <a:cs typeface="Arial"/>
              </a:rPr>
              <a:t>them </a:t>
            </a: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in </a:t>
            </a:r>
            <a:r>
              <a:rPr dirty="0" sz="2200">
                <a:solidFill>
                  <a:srgbClr val="414042"/>
                </a:solidFill>
                <a:latin typeface="Arial"/>
                <a:cs typeface="Arial"/>
              </a:rPr>
              <a:t>the model and create new </a:t>
            </a: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elements in </a:t>
            </a:r>
            <a:r>
              <a:rPr dirty="0" sz="2200">
                <a:solidFill>
                  <a:srgbClr val="414042"/>
                </a:solidFill>
                <a:latin typeface="Arial"/>
                <a:cs typeface="Arial"/>
              </a:rPr>
              <a:t>the same</a:t>
            </a:r>
            <a:r>
              <a:rPr dirty="0" sz="2200" spc="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way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81485" y="1144676"/>
            <a:ext cx="6117983" cy="40145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62342" y="1183170"/>
            <a:ext cx="3994787" cy="4162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150700" y="6423604"/>
            <a:ext cx="2200910" cy="252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10">
                <a:solidFill>
                  <a:srgbClr val="939293"/>
                </a:solidFill>
                <a:latin typeface="Arial"/>
                <a:cs typeface="Arial"/>
                <a:hlinkClick r:id="rId4"/>
              </a:rPr>
              <a:t>www.incose.org/iw2021/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1870"/>
              </a:lnSpc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4814" y="5448300"/>
            <a:ext cx="937260" cy="67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14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ghtn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71" y="545084"/>
            <a:ext cx="7416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/>
              <a:t>Example starter diagrams </a:t>
            </a:r>
            <a:r>
              <a:rPr dirty="0" sz="3600"/>
              <a:t>–</a:t>
            </a:r>
            <a:r>
              <a:rPr dirty="0" sz="3600" spc="-30"/>
              <a:t> </a:t>
            </a:r>
            <a:r>
              <a:rPr dirty="0" sz="3600" spc="-5"/>
              <a:t>ConOps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4362634" y="1150995"/>
            <a:ext cx="6946931" cy="3659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4821" y="1516138"/>
            <a:ext cx="3670194" cy="37375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150700" y="6423604"/>
            <a:ext cx="2200910" cy="252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10">
                <a:solidFill>
                  <a:srgbClr val="939293"/>
                </a:solidFill>
                <a:latin typeface="Arial"/>
                <a:cs typeface="Arial"/>
                <a:hlinkClick r:id="rId4"/>
              </a:rPr>
              <a:t>www.incose.org/iw2021/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1870"/>
              </a:lnSpc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4814" y="5448300"/>
            <a:ext cx="937260" cy="67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14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ghtn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1217" y="520700"/>
            <a:ext cx="108972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/>
              <a:t>Example starter diagrams </a:t>
            </a:r>
            <a:r>
              <a:rPr dirty="0" sz="3600"/>
              <a:t>– </a:t>
            </a:r>
            <a:r>
              <a:rPr dirty="0" sz="3600" spc="-5"/>
              <a:t>Needs, Goals,</a:t>
            </a:r>
            <a:r>
              <a:rPr dirty="0" sz="3600"/>
              <a:t> </a:t>
            </a:r>
            <a:r>
              <a:rPr dirty="0" sz="3600" spc="-5"/>
              <a:t>Objectives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1772704" y="1411097"/>
            <a:ext cx="8652941" cy="4334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150700" y="6423604"/>
            <a:ext cx="2200910" cy="252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10">
                <a:solidFill>
                  <a:srgbClr val="939293"/>
                </a:solidFill>
                <a:latin typeface="Arial"/>
                <a:cs typeface="Arial"/>
                <a:hlinkClick r:id="rId3"/>
              </a:rPr>
              <a:t>www.incose.org/iw2021/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1870"/>
              </a:lnSpc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4814" y="5448300"/>
            <a:ext cx="937260" cy="67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14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ghtn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71" y="486157"/>
            <a:ext cx="96570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LaRC SmallSat </a:t>
            </a:r>
            <a:r>
              <a:rPr dirty="0" spc="-65"/>
              <a:t>Template </a:t>
            </a:r>
            <a:r>
              <a:rPr dirty="0" spc="10"/>
              <a:t>User’s</a:t>
            </a:r>
            <a:r>
              <a:rPr dirty="0" spc="-10"/>
              <a:t> </a:t>
            </a:r>
            <a:r>
              <a:rPr dirty="0" spc="-5"/>
              <a:t>Guide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6496" y="1468628"/>
            <a:ext cx="5137150" cy="404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240029" indent="-457200">
              <a:lnSpc>
                <a:spcPct val="1000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3000" spc="-10">
                <a:solidFill>
                  <a:srgbClr val="414042"/>
                </a:solidFill>
                <a:latin typeface="Arial"/>
                <a:cs typeface="Arial"/>
              </a:rPr>
              <a:t>Guides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user </a:t>
            </a:r>
            <a:r>
              <a:rPr dirty="0" sz="3000" spc="-10">
                <a:solidFill>
                  <a:srgbClr val="414042"/>
                </a:solidFill>
                <a:latin typeface="Arial"/>
                <a:cs typeface="Arial"/>
              </a:rPr>
              <a:t>through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each  aspect of </a:t>
            </a:r>
            <a:r>
              <a:rPr dirty="0" sz="3000" spc="-10">
                <a:solidFill>
                  <a:srgbClr val="414042"/>
                </a:solidFill>
                <a:latin typeface="Arial"/>
                <a:cs typeface="Arial"/>
              </a:rPr>
              <a:t>concept  development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as shown on  </a:t>
            </a:r>
            <a:r>
              <a:rPr dirty="0" sz="3000" spc="-10">
                <a:solidFill>
                  <a:srgbClr val="414042"/>
                </a:solidFill>
                <a:latin typeface="Arial"/>
                <a:cs typeface="Arial"/>
              </a:rPr>
              <a:t>Content</a:t>
            </a: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000" spc="-10">
                <a:solidFill>
                  <a:srgbClr val="414042"/>
                </a:solidFill>
                <a:latin typeface="Arial"/>
                <a:cs typeface="Arial"/>
              </a:rPr>
              <a:t>Diagram</a:t>
            </a:r>
            <a:endParaRPr sz="3000">
              <a:latin typeface="Arial"/>
              <a:cs typeface="Arial"/>
            </a:endParaRPr>
          </a:p>
          <a:p>
            <a:pPr lvl="1" marL="1003300" indent="-381000">
              <a:lnSpc>
                <a:spcPct val="100000"/>
              </a:lnSpc>
              <a:spcBef>
                <a:spcPts val="600"/>
              </a:spcBef>
              <a:buChar char="–"/>
              <a:tabLst>
                <a:tab pos="1002665" algn="l"/>
                <a:tab pos="1003300" algn="l"/>
              </a:tabLst>
            </a:pP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Needs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Goals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and</a:t>
            </a:r>
            <a:r>
              <a:rPr dirty="0" sz="2400" spc="-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Objectives</a:t>
            </a:r>
            <a:endParaRPr sz="2400">
              <a:latin typeface="Arial"/>
              <a:cs typeface="Arial"/>
            </a:endParaRPr>
          </a:p>
          <a:p>
            <a:pPr lvl="1" marL="1003300" indent="-381000">
              <a:lnSpc>
                <a:spcPct val="100000"/>
              </a:lnSpc>
              <a:spcBef>
                <a:spcPts val="600"/>
              </a:spcBef>
              <a:buChar char="–"/>
              <a:tabLst>
                <a:tab pos="1002665" algn="l"/>
                <a:tab pos="1003300" algn="l"/>
              </a:tabLst>
            </a:pP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Concept of</a:t>
            </a:r>
            <a:r>
              <a:rPr dirty="0" sz="2400" spc="-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Operations</a:t>
            </a:r>
            <a:endParaRPr sz="2400">
              <a:latin typeface="Arial"/>
              <a:cs typeface="Arial"/>
            </a:endParaRPr>
          </a:p>
          <a:p>
            <a:pPr lvl="1" marL="1003300" indent="-381000">
              <a:lnSpc>
                <a:spcPct val="100000"/>
              </a:lnSpc>
              <a:spcBef>
                <a:spcPts val="525"/>
              </a:spcBef>
              <a:buChar char="–"/>
              <a:tabLst>
                <a:tab pos="1002665" algn="l"/>
                <a:tab pos="1003300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Architecture</a:t>
            </a:r>
            <a:endParaRPr sz="2400">
              <a:latin typeface="Arial"/>
              <a:cs typeface="Arial"/>
            </a:endParaRPr>
          </a:p>
          <a:p>
            <a:pPr lvl="1" marL="1003300" indent="-381000">
              <a:lnSpc>
                <a:spcPct val="100000"/>
              </a:lnSpc>
              <a:spcBef>
                <a:spcPts val="625"/>
              </a:spcBef>
              <a:buChar char="–"/>
              <a:tabLst>
                <a:tab pos="1002665" algn="l"/>
                <a:tab pos="1003300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Requirements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and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 Constraints</a:t>
            </a:r>
            <a:endParaRPr sz="2400">
              <a:latin typeface="Arial"/>
              <a:cs typeface="Arial"/>
            </a:endParaRPr>
          </a:p>
          <a:p>
            <a:pPr lvl="1" marL="1003300" indent="-381000">
              <a:lnSpc>
                <a:spcPct val="100000"/>
              </a:lnSpc>
              <a:spcBef>
                <a:spcPts val="530"/>
              </a:spcBef>
              <a:buChar char="–"/>
              <a:tabLst>
                <a:tab pos="1002665" algn="l"/>
                <a:tab pos="1003300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Interfaces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42152" y="3708704"/>
            <a:ext cx="4732680" cy="26572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14502" y="1632784"/>
            <a:ext cx="4502359" cy="19769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150700" y="6423604"/>
            <a:ext cx="2200910" cy="252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10">
                <a:solidFill>
                  <a:srgbClr val="939293"/>
                </a:solidFill>
                <a:latin typeface="Arial"/>
                <a:cs typeface="Arial"/>
                <a:hlinkClick r:id="rId4"/>
              </a:rPr>
              <a:t>www.incose.org/iw2021/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1870"/>
              </a:lnSpc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4814" y="5448300"/>
            <a:ext cx="937260" cy="67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14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ghtn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06623" y="1356360"/>
            <a:ext cx="5141976" cy="3901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9171" y="486157"/>
            <a:ext cx="73914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Testing </a:t>
            </a:r>
            <a:r>
              <a:rPr dirty="0" spc="-5"/>
              <a:t>with CubeSat</a:t>
            </a:r>
            <a:r>
              <a:rPr dirty="0" spc="95"/>
              <a:t> </a:t>
            </a:r>
            <a:r>
              <a:rPr dirty="0" spc="-5"/>
              <a:t>projects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9173" y="1522983"/>
            <a:ext cx="1903095" cy="17170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spc="-5">
                <a:solidFill>
                  <a:srgbClr val="414042"/>
                </a:solidFill>
                <a:latin typeface="Arial"/>
                <a:cs typeface="Arial"/>
              </a:rPr>
              <a:t>DiBAR</a:t>
            </a:r>
            <a:endParaRPr sz="3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700" spc="-10">
                <a:solidFill>
                  <a:srgbClr val="414042"/>
                </a:solidFill>
                <a:latin typeface="Arial"/>
                <a:cs typeface="Arial"/>
              </a:rPr>
              <a:t>SAGE</a:t>
            </a:r>
            <a:r>
              <a:rPr dirty="0" sz="3700" spc="-8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700" spc="-5">
                <a:solidFill>
                  <a:srgbClr val="414042"/>
                </a:solidFill>
                <a:latin typeface="Arial"/>
                <a:cs typeface="Arial"/>
              </a:rPr>
              <a:t>IV</a:t>
            </a:r>
            <a:endParaRPr sz="37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6753" y="989520"/>
            <a:ext cx="11668760" cy="5414645"/>
            <a:chOff x="246753" y="989520"/>
            <a:chExt cx="11668760" cy="5414645"/>
          </a:xfrm>
        </p:grpSpPr>
        <p:sp>
          <p:nvSpPr>
            <p:cNvPr id="7" name="object 7"/>
            <p:cNvSpPr/>
            <p:nvPr/>
          </p:nvSpPr>
          <p:spPr>
            <a:xfrm>
              <a:off x="246753" y="4024464"/>
              <a:ext cx="2937593" cy="221679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483017" y="989520"/>
              <a:ext cx="4432300" cy="26796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553455" y="5071872"/>
              <a:ext cx="4995672" cy="133197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5150700" y="6423604"/>
            <a:ext cx="2200910" cy="252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10">
                <a:solidFill>
                  <a:srgbClr val="939293"/>
                </a:solidFill>
                <a:latin typeface="Arial"/>
                <a:cs typeface="Arial"/>
                <a:hlinkClick r:id="rId6"/>
              </a:rPr>
              <a:t>www.incose.org/iw2021/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1870"/>
              </a:lnSpc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4814" y="5448300"/>
            <a:ext cx="937260" cy="67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14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ghtn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2482" y="2738437"/>
            <a:ext cx="5188585" cy="3771900"/>
            <a:chOff x="362482" y="2738437"/>
            <a:chExt cx="5188585" cy="3771900"/>
          </a:xfrm>
        </p:grpSpPr>
        <p:sp>
          <p:nvSpPr>
            <p:cNvPr id="4" name="object 4"/>
            <p:cNvSpPr/>
            <p:nvPr/>
          </p:nvSpPr>
          <p:spPr>
            <a:xfrm>
              <a:off x="367244" y="2743200"/>
              <a:ext cx="5179060" cy="3762375"/>
            </a:xfrm>
            <a:custGeom>
              <a:avLst/>
              <a:gdLst/>
              <a:ahLst/>
              <a:cxnLst/>
              <a:rect l="l" t="t" r="r" b="b"/>
              <a:pathLst>
                <a:path w="5179060" h="3762375">
                  <a:moveTo>
                    <a:pt x="4551668" y="0"/>
                  </a:moveTo>
                  <a:lnTo>
                    <a:pt x="626974" y="0"/>
                  </a:lnTo>
                  <a:lnTo>
                    <a:pt x="577977" y="1886"/>
                  </a:lnTo>
                  <a:lnTo>
                    <a:pt x="530010" y="7452"/>
                  </a:lnTo>
                  <a:lnTo>
                    <a:pt x="483215" y="16558"/>
                  </a:lnTo>
                  <a:lnTo>
                    <a:pt x="437729" y="29066"/>
                  </a:lnTo>
                  <a:lnTo>
                    <a:pt x="393693" y="44835"/>
                  </a:lnTo>
                  <a:lnTo>
                    <a:pt x="351246" y="63726"/>
                  </a:lnTo>
                  <a:lnTo>
                    <a:pt x="310528" y="85600"/>
                  </a:lnTo>
                  <a:lnTo>
                    <a:pt x="271677" y="110318"/>
                  </a:lnTo>
                  <a:lnTo>
                    <a:pt x="234833" y="137739"/>
                  </a:lnTo>
                  <a:lnTo>
                    <a:pt x="200136" y="167725"/>
                  </a:lnTo>
                  <a:lnTo>
                    <a:pt x="167725" y="200137"/>
                  </a:lnTo>
                  <a:lnTo>
                    <a:pt x="137739" y="234834"/>
                  </a:lnTo>
                  <a:lnTo>
                    <a:pt x="110317" y="271678"/>
                  </a:lnTo>
                  <a:lnTo>
                    <a:pt x="85600" y="310529"/>
                  </a:lnTo>
                  <a:lnTo>
                    <a:pt x="63726" y="351247"/>
                  </a:lnTo>
                  <a:lnTo>
                    <a:pt x="44835" y="393694"/>
                  </a:lnTo>
                  <a:lnTo>
                    <a:pt x="29066" y="437729"/>
                  </a:lnTo>
                  <a:lnTo>
                    <a:pt x="16558" y="483215"/>
                  </a:lnTo>
                  <a:lnTo>
                    <a:pt x="7452" y="530010"/>
                  </a:lnTo>
                  <a:lnTo>
                    <a:pt x="1886" y="577976"/>
                  </a:lnTo>
                  <a:lnTo>
                    <a:pt x="0" y="626973"/>
                  </a:lnTo>
                  <a:lnTo>
                    <a:pt x="0" y="3134795"/>
                  </a:lnTo>
                  <a:lnTo>
                    <a:pt x="1886" y="3183793"/>
                  </a:lnTo>
                  <a:lnTo>
                    <a:pt x="7452" y="3231759"/>
                  </a:lnTo>
                  <a:lnTo>
                    <a:pt x="16558" y="3278555"/>
                  </a:lnTo>
                  <a:lnTo>
                    <a:pt x="29066" y="3324040"/>
                  </a:lnTo>
                  <a:lnTo>
                    <a:pt x="44835" y="3368076"/>
                  </a:lnTo>
                  <a:lnTo>
                    <a:pt x="63726" y="3410523"/>
                  </a:lnTo>
                  <a:lnTo>
                    <a:pt x="85600" y="3451242"/>
                  </a:lnTo>
                  <a:lnTo>
                    <a:pt x="110317" y="3490093"/>
                  </a:lnTo>
                  <a:lnTo>
                    <a:pt x="137739" y="3526937"/>
                  </a:lnTo>
                  <a:lnTo>
                    <a:pt x="167725" y="3561634"/>
                  </a:lnTo>
                  <a:lnTo>
                    <a:pt x="200136" y="3594045"/>
                  </a:lnTo>
                  <a:lnTo>
                    <a:pt x="234833" y="3624032"/>
                  </a:lnTo>
                  <a:lnTo>
                    <a:pt x="271677" y="3651453"/>
                  </a:lnTo>
                  <a:lnTo>
                    <a:pt x="310528" y="3676171"/>
                  </a:lnTo>
                  <a:lnTo>
                    <a:pt x="351246" y="3698045"/>
                  </a:lnTo>
                  <a:lnTo>
                    <a:pt x="393693" y="3716936"/>
                  </a:lnTo>
                  <a:lnTo>
                    <a:pt x="437729" y="3732705"/>
                  </a:lnTo>
                  <a:lnTo>
                    <a:pt x="483215" y="3745212"/>
                  </a:lnTo>
                  <a:lnTo>
                    <a:pt x="530010" y="3754319"/>
                  </a:lnTo>
                  <a:lnTo>
                    <a:pt x="577977" y="3759885"/>
                  </a:lnTo>
                  <a:lnTo>
                    <a:pt x="626974" y="3761771"/>
                  </a:lnTo>
                  <a:lnTo>
                    <a:pt x="4551668" y="3761771"/>
                  </a:lnTo>
                  <a:lnTo>
                    <a:pt x="4600665" y="3759885"/>
                  </a:lnTo>
                  <a:lnTo>
                    <a:pt x="4648631" y="3754319"/>
                  </a:lnTo>
                  <a:lnTo>
                    <a:pt x="4695427" y="3745212"/>
                  </a:lnTo>
                  <a:lnTo>
                    <a:pt x="4740912" y="3732705"/>
                  </a:lnTo>
                  <a:lnTo>
                    <a:pt x="4784947" y="3716936"/>
                  </a:lnTo>
                  <a:lnTo>
                    <a:pt x="4827394" y="3698045"/>
                  </a:lnTo>
                  <a:lnTo>
                    <a:pt x="4868113" y="3676171"/>
                  </a:lnTo>
                  <a:lnTo>
                    <a:pt x="4906963" y="3651453"/>
                  </a:lnTo>
                  <a:lnTo>
                    <a:pt x="4943807" y="3624032"/>
                  </a:lnTo>
                  <a:lnTo>
                    <a:pt x="4978504" y="3594045"/>
                  </a:lnTo>
                  <a:lnTo>
                    <a:pt x="5010916" y="3561634"/>
                  </a:lnTo>
                  <a:lnTo>
                    <a:pt x="5040902" y="3526937"/>
                  </a:lnTo>
                  <a:lnTo>
                    <a:pt x="5068323" y="3490093"/>
                  </a:lnTo>
                  <a:lnTo>
                    <a:pt x="5093041" y="3451242"/>
                  </a:lnTo>
                  <a:lnTo>
                    <a:pt x="5114915" y="3410523"/>
                  </a:lnTo>
                  <a:lnTo>
                    <a:pt x="5133806" y="3368076"/>
                  </a:lnTo>
                  <a:lnTo>
                    <a:pt x="5149575" y="3324040"/>
                  </a:lnTo>
                  <a:lnTo>
                    <a:pt x="5162083" y="3278555"/>
                  </a:lnTo>
                  <a:lnTo>
                    <a:pt x="5171189" y="3231759"/>
                  </a:lnTo>
                  <a:lnTo>
                    <a:pt x="5176755" y="3183793"/>
                  </a:lnTo>
                  <a:lnTo>
                    <a:pt x="5178642" y="3134795"/>
                  </a:lnTo>
                  <a:lnTo>
                    <a:pt x="5178642" y="626973"/>
                  </a:lnTo>
                  <a:lnTo>
                    <a:pt x="5176755" y="577976"/>
                  </a:lnTo>
                  <a:lnTo>
                    <a:pt x="5171189" y="530010"/>
                  </a:lnTo>
                  <a:lnTo>
                    <a:pt x="5162083" y="483215"/>
                  </a:lnTo>
                  <a:lnTo>
                    <a:pt x="5149575" y="437729"/>
                  </a:lnTo>
                  <a:lnTo>
                    <a:pt x="5133806" y="393694"/>
                  </a:lnTo>
                  <a:lnTo>
                    <a:pt x="5114915" y="351247"/>
                  </a:lnTo>
                  <a:lnTo>
                    <a:pt x="5093041" y="310529"/>
                  </a:lnTo>
                  <a:lnTo>
                    <a:pt x="5068323" y="271678"/>
                  </a:lnTo>
                  <a:lnTo>
                    <a:pt x="5040902" y="234834"/>
                  </a:lnTo>
                  <a:lnTo>
                    <a:pt x="5010916" y="200137"/>
                  </a:lnTo>
                  <a:lnTo>
                    <a:pt x="4978504" y="167725"/>
                  </a:lnTo>
                  <a:lnTo>
                    <a:pt x="4943807" y="137739"/>
                  </a:lnTo>
                  <a:lnTo>
                    <a:pt x="4906963" y="110318"/>
                  </a:lnTo>
                  <a:lnTo>
                    <a:pt x="4868113" y="85600"/>
                  </a:lnTo>
                  <a:lnTo>
                    <a:pt x="4827394" y="63726"/>
                  </a:lnTo>
                  <a:lnTo>
                    <a:pt x="4784947" y="44835"/>
                  </a:lnTo>
                  <a:lnTo>
                    <a:pt x="4740912" y="29066"/>
                  </a:lnTo>
                  <a:lnTo>
                    <a:pt x="4695427" y="16558"/>
                  </a:lnTo>
                  <a:lnTo>
                    <a:pt x="4648631" y="7452"/>
                  </a:lnTo>
                  <a:lnTo>
                    <a:pt x="4600665" y="1886"/>
                  </a:lnTo>
                  <a:lnTo>
                    <a:pt x="4551668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67244" y="2743200"/>
              <a:ext cx="5179060" cy="3762375"/>
            </a:xfrm>
            <a:custGeom>
              <a:avLst/>
              <a:gdLst/>
              <a:ahLst/>
              <a:cxnLst/>
              <a:rect l="l" t="t" r="r" b="b"/>
              <a:pathLst>
                <a:path w="5179060" h="3762375">
                  <a:moveTo>
                    <a:pt x="0" y="626976"/>
                  </a:moveTo>
                  <a:lnTo>
                    <a:pt x="1886" y="577978"/>
                  </a:lnTo>
                  <a:lnTo>
                    <a:pt x="7452" y="530012"/>
                  </a:lnTo>
                  <a:lnTo>
                    <a:pt x="16558" y="483216"/>
                  </a:lnTo>
                  <a:lnTo>
                    <a:pt x="29066" y="437731"/>
                  </a:lnTo>
                  <a:lnTo>
                    <a:pt x="44835" y="393695"/>
                  </a:lnTo>
                  <a:lnTo>
                    <a:pt x="63726" y="351248"/>
                  </a:lnTo>
                  <a:lnTo>
                    <a:pt x="85600" y="310529"/>
                  </a:lnTo>
                  <a:lnTo>
                    <a:pt x="110318" y="271678"/>
                  </a:lnTo>
                  <a:lnTo>
                    <a:pt x="137739" y="234834"/>
                  </a:lnTo>
                  <a:lnTo>
                    <a:pt x="167725" y="200137"/>
                  </a:lnTo>
                  <a:lnTo>
                    <a:pt x="200137" y="167725"/>
                  </a:lnTo>
                  <a:lnTo>
                    <a:pt x="234834" y="137739"/>
                  </a:lnTo>
                  <a:lnTo>
                    <a:pt x="271678" y="110318"/>
                  </a:lnTo>
                  <a:lnTo>
                    <a:pt x="310529" y="85600"/>
                  </a:lnTo>
                  <a:lnTo>
                    <a:pt x="351248" y="63726"/>
                  </a:lnTo>
                  <a:lnTo>
                    <a:pt x="393695" y="44835"/>
                  </a:lnTo>
                  <a:lnTo>
                    <a:pt x="437731" y="29066"/>
                  </a:lnTo>
                  <a:lnTo>
                    <a:pt x="483216" y="16558"/>
                  </a:lnTo>
                  <a:lnTo>
                    <a:pt x="530012" y="7452"/>
                  </a:lnTo>
                  <a:lnTo>
                    <a:pt x="577978" y="1886"/>
                  </a:lnTo>
                  <a:lnTo>
                    <a:pt x="626976" y="0"/>
                  </a:lnTo>
                  <a:lnTo>
                    <a:pt x="4551672" y="0"/>
                  </a:lnTo>
                  <a:lnTo>
                    <a:pt x="4600670" y="1886"/>
                  </a:lnTo>
                  <a:lnTo>
                    <a:pt x="4648636" y="7452"/>
                  </a:lnTo>
                  <a:lnTo>
                    <a:pt x="4695432" y="16558"/>
                  </a:lnTo>
                  <a:lnTo>
                    <a:pt x="4740917" y="29066"/>
                  </a:lnTo>
                  <a:lnTo>
                    <a:pt x="4784953" y="44835"/>
                  </a:lnTo>
                  <a:lnTo>
                    <a:pt x="4827400" y="63726"/>
                  </a:lnTo>
                  <a:lnTo>
                    <a:pt x="4868118" y="85600"/>
                  </a:lnTo>
                  <a:lnTo>
                    <a:pt x="4906968" y="110318"/>
                  </a:lnTo>
                  <a:lnTo>
                    <a:pt x="4943812" y="137739"/>
                  </a:lnTo>
                  <a:lnTo>
                    <a:pt x="4978509" y="167725"/>
                  </a:lnTo>
                  <a:lnTo>
                    <a:pt x="5010920" y="200137"/>
                  </a:lnTo>
                  <a:lnTo>
                    <a:pt x="5040905" y="234834"/>
                  </a:lnTo>
                  <a:lnTo>
                    <a:pt x="5068326" y="271678"/>
                  </a:lnTo>
                  <a:lnTo>
                    <a:pt x="5093044" y="310529"/>
                  </a:lnTo>
                  <a:lnTo>
                    <a:pt x="5114917" y="351248"/>
                  </a:lnTo>
                  <a:lnTo>
                    <a:pt x="5133808" y="393695"/>
                  </a:lnTo>
                  <a:lnTo>
                    <a:pt x="5149577" y="437731"/>
                  </a:lnTo>
                  <a:lnTo>
                    <a:pt x="5162084" y="483216"/>
                  </a:lnTo>
                  <a:lnTo>
                    <a:pt x="5171190" y="530012"/>
                  </a:lnTo>
                  <a:lnTo>
                    <a:pt x="5176756" y="577978"/>
                  </a:lnTo>
                  <a:lnTo>
                    <a:pt x="5178642" y="626976"/>
                  </a:lnTo>
                  <a:lnTo>
                    <a:pt x="5178642" y="3134801"/>
                  </a:lnTo>
                  <a:lnTo>
                    <a:pt x="5176756" y="3183798"/>
                  </a:lnTo>
                  <a:lnTo>
                    <a:pt x="5171190" y="3231763"/>
                  </a:lnTo>
                  <a:lnTo>
                    <a:pt x="5162084" y="3278558"/>
                  </a:lnTo>
                  <a:lnTo>
                    <a:pt x="5149577" y="3324043"/>
                  </a:lnTo>
                  <a:lnTo>
                    <a:pt x="5133808" y="3368078"/>
                  </a:lnTo>
                  <a:lnTo>
                    <a:pt x="5114917" y="3410524"/>
                  </a:lnTo>
                  <a:lnTo>
                    <a:pt x="5093044" y="3451243"/>
                  </a:lnTo>
                  <a:lnTo>
                    <a:pt x="5068326" y="3490093"/>
                  </a:lnTo>
                  <a:lnTo>
                    <a:pt x="5040905" y="3526937"/>
                  </a:lnTo>
                  <a:lnTo>
                    <a:pt x="5010920" y="3561634"/>
                  </a:lnTo>
                  <a:lnTo>
                    <a:pt x="4978509" y="3594045"/>
                  </a:lnTo>
                  <a:lnTo>
                    <a:pt x="4943812" y="3624031"/>
                  </a:lnTo>
                  <a:lnTo>
                    <a:pt x="4906968" y="3651453"/>
                  </a:lnTo>
                  <a:lnTo>
                    <a:pt x="4868118" y="3676170"/>
                  </a:lnTo>
                  <a:lnTo>
                    <a:pt x="4827400" y="3698045"/>
                  </a:lnTo>
                  <a:lnTo>
                    <a:pt x="4784953" y="3716936"/>
                  </a:lnTo>
                  <a:lnTo>
                    <a:pt x="4740917" y="3732705"/>
                  </a:lnTo>
                  <a:lnTo>
                    <a:pt x="4695432" y="3745213"/>
                  </a:lnTo>
                  <a:lnTo>
                    <a:pt x="4648636" y="3754319"/>
                  </a:lnTo>
                  <a:lnTo>
                    <a:pt x="4600670" y="3759885"/>
                  </a:lnTo>
                  <a:lnTo>
                    <a:pt x="4551672" y="3761772"/>
                  </a:lnTo>
                  <a:lnTo>
                    <a:pt x="626976" y="3761772"/>
                  </a:lnTo>
                  <a:lnTo>
                    <a:pt x="577978" y="3759885"/>
                  </a:lnTo>
                  <a:lnTo>
                    <a:pt x="530012" y="3754319"/>
                  </a:lnTo>
                  <a:lnTo>
                    <a:pt x="483216" y="3745213"/>
                  </a:lnTo>
                  <a:lnTo>
                    <a:pt x="437731" y="3732705"/>
                  </a:lnTo>
                  <a:lnTo>
                    <a:pt x="393695" y="3716936"/>
                  </a:lnTo>
                  <a:lnTo>
                    <a:pt x="351248" y="3698045"/>
                  </a:lnTo>
                  <a:lnTo>
                    <a:pt x="310529" y="3676170"/>
                  </a:lnTo>
                  <a:lnTo>
                    <a:pt x="271678" y="3651453"/>
                  </a:lnTo>
                  <a:lnTo>
                    <a:pt x="234834" y="3624031"/>
                  </a:lnTo>
                  <a:lnTo>
                    <a:pt x="200137" y="3594045"/>
                  </a:lnTo>
                  <a:lnTo>
                    <a:pt x="167725" y="3561634"/>
                  </a:lnTo>
                  <a:lnTo>
                    <a:pt x="137739" y="3526937"/>
                  </a:lnTo>
                  <a:lnTo>
                    <a:pt x="110318" y="3490093"/>
                  </a:lnTo>
                  <a:lnTo>
                    <a:pt x="85600" y="3451243"/>
                  </a:lnTo>
                  <a:lnTo>
                    <a:pt x="63726" y="3410524"/>
                  </a:lnTo>
                  <a:lnTo>
                    <a:pt x="44835" y="3368078"/>
                  </a:lnTo>
                  <a:lnTo>
                    <a:pt x="29066" y="3324043"/>
                  </a:lnTo>
                  <a:lnTo>
                    <a:pt x="16558" y="3278558"/>
                  </a:lnTo>
                  <a:lnTo>
                    <a:pt x="7452" y="3231763"/>
                  </a:lnTo>
                  <a:lnTo>
                    <a:pt x="1886" y="3183798"/>
                  </a:lnTo>
                  <a:lnTo>
                    <a:pt x="0" y="3134801"/>
                  </a:lnTo>
                  <a:lnTo>
                    <a:pt x="0" y="626976"/>
                  </a:lnTo>
                  <a:close/>
                </a:path>
              </a:pathLst>
            </a:custGeom>
            <a:ln w="9525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16777" y="5302369"/>
              <a:ext cx="2773045" cy="1145540"/>
            </a:xfrm>
            <a:custGeom>
              <a:avLst/>
              <a:gdLst/>
              <a:ahLst/>
              <a:cxnLst/>
              <a:rect l="l" t="t" r="r" b="b"/>
              <a:pathLst>
                <a:path w="2773045" h="1145539">
                  <a:moveTo>
                    <a:pt x="2153457" y="0"/>
                  </a:moveTo>
                  <a:lnTo>
                    <a:pt x="2100544" y="2448"/>
                  </a:lnTo>
                  <a:lnTo>
                    <a:pt x="2048990" y="9908"/>
                  </a:lnTo>
                  <a:lnTo>
                    <a:pt x="2000037" y="22321"/>
                  </a:lnTo>
                  <a:lnTo>
                    <a:pt x="1954924" y="39631"/>
                  </a:lnTo>
                  <a:lnTo>
                    <a:pt x="1914891" y="61779"/>
                  </a:lnTo>
                  <a:lnTo>
                    <a:pt x="1894072" y="48110"/>
                  </a:lnTo>
                  <a:lnTo>
                    <a:pt x="1845004" y="25273"/>
                  </a:lnTo>
                  <a:lnTo>
                    <a:pt x="1764216" y="5015"/>
                  </a:lnTo>
                  <a:lnTo>
                    <a:pt x="1709912" y="28"/>
                  </a:lnTo>
                  <a:lnTo>
                    <a:pt x="1655839" y="1081"/>
                  </a:lnTo>
                  <a:lnTo>
                    <a:pt x="1603506" y="7890"/>
                  </a:lnTo>
                  <a:lnTo>
                    <a:pt x="1554424" y="20170"/>
                  </a:lnTo>
                  <a:lnTo>
                    <a:pt x="1510102" y="37636"/>
                  </a:lnTo>
                  <a:lnTo>
                    <a:pt x="1472050" y="60004"/>
                  </a:lnTo>
                  <a:lnTo>
                    <a:pt x="1441778" y="86989"/>
                  </a:lnTo>
                  <a:lnTo>
                    <a:pt x="1423527" y="77584"/>
                  </a:lnTo>
                  <a:lnTo>
                    <a:pt x="1383705" y="61136"/>
                  </a:lnTo>
                  <a:lnTo>
                    <a:pt x="1311195" y="41730"/>
                  </a:lnTo>
                  <a:lnTo>
                    <a:pt x="1258639" y="34273"/>
                  </a:lnTo>
                  <a:lnTo>
                    <a:pt x="1205571" y="31624"/>
                  </a:lnTo>
                  <a:lnTo>
                    <a:pt x="1152945" y="33618"/>
                  </a:lnTo>
                  <a:lnTo>
                    <a:pt x="1101713" y="40091"/>
                  </a:lnTo>
                  <a:lnTo>
                    <a:pt x="1052827" y="50879"/>
                  </a:lnTo>
                  <a:lnTo>
                    <a:pt x="1007240" y="65819"/>
                  </a:lnTo>
                  <a:lnTo>
                    <a:pt x="965904" y="84745"/>
                  </a:lnTo>
                  <a:lnTo>
                    <a:pt x="929770" y="107495"/>
                  </a:lnTo>
                  <a:lnTo>
                    <a:pt x="899793" y="133903"/>
                  </a:lnTo>
                  <a:lnTo>
                    <a:pt x="856882" y="121512"/>
                  </a:lnTo>
                  <a:lnTo>
                    <a:pt x="812069" y="111934"/>
                  </a:lnTo>
                  <a:lnTo>
                    <a:pt x="765787" y="105215"/>
                  </a:lnTo>
                  <a:lnTo>
                    <a:pt x="718471" y="101406"/>
                  </a:lnTo>
                  <a:lnTo>
                    <a:pt x="670556" y="100555"/>
                  </a:lnTo>
                  <a:lnTo>
                    <a:pt x="622474" y="102711"/>
                  </a:lnTo>
                  <a:lnTo>
                    <a:pt x="559691" y="110180"/>
                  </a:lnTo>
                  <a:lnTo>
                    <a:pt x="501003" y="122413"/>
                  </a:lnTo>
                  <a:lnTo>
                    <a:pt x="446983" y="138984"/>
                  </a:lnTo>
                  <a:lnTo>
                    <a:pt x="398204" y="159471"/>
                  </a:lnTo>
                  <a:lnTo>
                    <a:pt x="355241" y="183450"/>
                  </a:lnTo>
                  <a:lnTo>
                    <a:pt x="318667" y="210495"/>
                  </a:lnTo>
                  <a:lnTo>
                    <a:pt x="289056" y="240184"/>
                  </a:lnTo>
                  <a:lnTo>
                    <a:pt x="266980" y="272092"/>
                  </a:lnTo>
                  <a:lnTo>
                    <a:pt x="247730" y="340871"/>
                  </a:lnTo>
                  <a:lnTo>
                    <a:pt x="251703" y="376893"/>
                  </a:lnTo>
                  <a:lnTo>
                    <a:pt x="249370" y="380459"/>
                  </a:lnTo>
                  <a:lnTo>
                    <a:pt x="197726" y="386297"/>
                  </a:lnTo>
                  <a:lnTo>
                    <a:pt x="149555" y="397349"/>
                  </a:lnTo>
                  <a:lnTo>
                    <a:pt x="106017" y="413194"/>
                  </a:lnTo>
                  <a:lnTo>
                    <a:pt x="68274" y="433409"/>
                  </a:lnTo>
                  <a:lnTo>
                    <a:pt x="37488" y="457570"/>
                  </a:lnTo>
                  <a:lnTo>
                    <a:pt x="11550" y="490849"/>
                  </a:lnTo>
                  <a:lnTo>
                    <a:pt x="0" y="525459"/>
                  </a:lnTo>
                  <a:lnTo>
                    <a:pt x="2239" y="560105"/>
                  </a:lnTo>
                  <a:lnTo>
                    <a:pt x="17669" y="593492"/>
                  </a:lnTo>
                  <a:lnTo>
                    <a:pt x="45694" y="624327"/>
                  </a:lnTo>
                  <a:lnTo>
                    <a:pt x="85713" y="651316"/>
                  </a:lnTo>
                  <a:lnTo>
                    <a:pt x="137130" y="673165"/>
                  </a:lnTo>
                  <a:lnTo>
                    <a:pt x="100555" y="700543"/>
                  </a:lnTo>
                  <a:lnTo>
                    <a:pt x="75653" y="731345"/>
                  </a:lnTo>
                  <a:lnTo>
                    <a:pt x="63098" y="764425"/>
                  </a:lnTo>
                  <a:lnTo>
                    <a:pt x="63561" y="798636"/>
                  </a:lnTo>
                  <a:lnTo>
                    <a:pt x="98073" y="857837"/>
                  </a:lnTo>
                  <a:lnTo>
                    <a:pt x="129215" y="882613"/>
                  </a:lnTo>
                  <a:lnTo>
                    <a:pt x="167951" y="903436"/>
                  </a:lnTo>
                  <a:lnTo>
                    <a:pt x="213033" y="919753"/>
                  </a:lnTo>
                  <a:lnTo>
                    <a:pt x="263213" y="931010"/>
                  </a:lnTo>
                  <a:lnTo>
                    <a:pt x="317242" y="936655"/>
                  </a:lnTo>
                  <a:lnTo>
                    <a:pt x="373874" y="936135"/>
                  </a:lnTo>
                  <a:lnTo>
                    <a:pt x="379108" y="941167"/>
                  </a:lnTo>
                  <a:lnTo>
                    <a:pt x="409392" y="966418"/>
                  </a:lnTo>
                  <a:lnTo>
                    <a:pt x="443617" y="989224"/>
                  </a:lnTo>
                  <a:lnTo>
                    <a:pt x="481368" y="1009527"/>
                  </a:lnTo>
                  <a:lnTo>
                    <a:pt x="522230" y="1027268"/>
                  </a:lnTo>
                  <a:lnTo>
                    <a:pt x="565789" y="1042390"/>
                  </a:lnTo>
                  <a:lnTo>
                    <a:pt x="611631" y="1054833"/>
                  </a:lnTo>
                  <a:lnTo>
                    <a:pt x="659342" y="1064540"/>
                  </a:lnTo>
                  <a:lnTo>
                    <a:pt x="708506" y="1071453"/>
                  </a:lnTo>
                  <a:lnTo>
                    <a:pt x="758709" y="1075513"/>
                  </a:lnTo>
                  <a:lnTo>
                    <a:pt x="809537" y="1076661"/>
                  </a:lnTo>
                  <a:lnTo>
                    <a:pt x="860575" y="1074840"/>
                  </a:lnTo>
                  <a:lnTo>
                    <a:pt x="911409" y="1069992"/>
                  </a:lnTo>
                  <a:lnTo>
                    <a:pt x="961625" y="1062057"/>
                  </a:lnTo>
                  <a:lnTo>
                    <a:pt x="1010808" y="1050979"/>
                  </a:lnTo>
                  <a:lnTo>
                    <a:pt x="1058543" y="1036697"/>
                  </a:lnTo>
                  <a:lnTo>
                    <a:pt x="1095112" y="1063366"/>
                  </a:lnTo>
                  <a:lnTo>
                    <a:pt x="1137526" y="1086785"/>
                  </a:lnTo>
                  <a:lnTo>
                    <a:pt x="1185106" y="1106673"/>
                  </a:lnTo>
                  <a:lnTo>
                    <a:pt x="1237173" y="1122745"/>
                  </a:lnTo>
                  <a:lnTo>
                    <a:pt x="1293048" y="1134719"/>
                  </a:lnTo>
                  <a:lnTo>
                    <a:pt x="1350435" y="1142189"/>
                  </a:lnTo>
                  <a:lnTo>
                    <a:pt x="1407712" y="1145184"/>
                  </a:lnTo>
                  <a:lnTo>
                    <a:pt x="1464237" y="1143898"/>
                  </a:lnTo>
                  <a:lnTo>
                    <a:pt x="1519367" y="1138526"/>
                  </a:lnTo>
                  <a:lnTo>
                    <a:pt x="1572459" y="1129262"/>
                  </a:lnTo>
                  <a:lnTo>
                    <a:pt x="1622869" y="1116299"/>
                  </a:lnTo>
                  <a:lnTo>
                    <a:pt x="1669954" y="1099833"/>
                  </a:lnTo>
                  <a:lnTo>
                    <a:pt x="1713070" y="1080056"/>
                  </a:lnTo>
                  <a:lnTo>
                    <a:pt x="1751575" y="1057165"/>
                  </a:lnTo>
                  <a:lnTo>
                    <a:pt x="1784826" y="1031351"/>
                  </a:lnTo>
                  <a:lnTo>
                    <a:pt x="1812178" y="1002811"/>
                  </a:lnTo>
                  <a:lnTo>
                    <a:pt x="1832989" y="971737"/>
                  </a:lnTo>
                  <a:lnTo>
                    <a:pt x="1878098" y="985231"/>
                  </a:lnTo>
                  <a:lnTo>
                    <a:pt x="1925846" y="995077"/>
                  </a:lnTo>
                  <a:lnTo>
                    <a:pt x="1975541" y="1001160"/>
                  </a:lnTo>
                  <a:lnTo>
                    <a:pt x="2026486" y="1003367"/>
                  </a:lnTo>
                  <a:lnTo>
                    <a:pt x="2086704" y="1000910"/>
                  </a:lnTo>
                  <a:lnTo>
                    <a:pt x="2143905" y="993267"/>
                  </a:lnTo>
                  <a:lnTo>
                    <a:pt x="2197317" y="980864"/>
                  </a:lnTo>
                  <a:lnTo>
                    <a:pt x="2246172" y="964127"/>
                  </a:lnTo>
                  <a:lnTo>
                    <a:pt x="2289700" y="943481"/>
                  </a:lnTo>
                  <a:lnTo>
                    <a:pt x="2327130" y="919354"/>
                  </a:lnTo>
                  <a:lnTo>
                    <a:pt x="2357692" y="892170"/>
                  </a:lnTo>
                  <a:lnTo>
                    <a:pt x="2395135" y="830336"/>
                  </a:lnTo>
                  <a:lnTo>
                    <a:pt x="2400476" y="796538"/>
                  </a:lnTo>
                  <a:lnTo>
                    <a:pt x="2455081" y="790111"/>
                  </a:lnTo>
                  <a:lnTo>
                    <a:pt x="2507567" y="779851"/>
                  </a:lnTo>
                  <a:lnTo>
                    <a:pt x="2557297" y="765908"/>
                  </a:lnTo>
                  <a:lnTo>
                    <a:pt x="2603638" y="748432"/>
                  </a:lnTo>
                  <a:lnTo>
                    <a:pt x="2651688" y="724334"/>
                  </a:lnTo>
                  <a:lnTo>
                    <a:pt x="2691953" y="697235"/>
                  </a:lnTo>
                  <a:lnTo>
                    <a:pt x="2724309" y="667666"/>
                  </a:lnTo>
                  <a:lnTo>
                    <a:pt x="2748631" y="636156"/>
                  </a:lnTo>
                  <a:lnTo>
                    <a:pt x="2772680" y="569435"/>
                  </a:lnTo>
                  <a:lnTo>
                    <a:pt x="2772159" y="535284"/>
                  </a:lnTo>
                  <a:lnTo>
                    <a:pt x="2763111" y="501312"/>
                  </a:lnTo>
                  <a:lnTo>
                    <a:pt x="2745410" y="468050"/>
                  </a:lnTo>
                  <a:lnTo>
                    <a:pt x="2718934" y="436028"/>
                  </a:lnTo>
                  <a:lnTo>
                    <a:pt x="2683559" y="405775"/>
                  </a:lnTo>
                  <a:lnTo>
                    <a:pt x="2688061" y="399563"/>
                  </a:lnTo>
                  <a:lnTo>
                    <a:pt x="2692176" y="393267"/>
                  </a:lnTo>
                  <a:lnTo>
                    <a:pt x="2695899" y="386895"/>
                  </a:lnTo>
                  <a:lnTo>
                    <a:pt x="2699230" y="380452"/>
                  </a:lnTo>
                  <a:lnTo>
                    <a:pt x="2710063" y="346203"/>
                  </a:lnTo>
                  <a:lnTo>
                    <a:pt x="2709934" y="312384"/>
                  </a:lnTo>
                  <a:lnTo>
                    <a:pt x="2679504" y="248708"/>
                  </a:lnTo>
                  <a:lnTo>
                    <a:pt x="2650560" y="220187"/>
                  </a:lnTo>
                  <a:lnTo>
                    <a:pt x="2613366" y="194768"/>
                  </a:lnTo>
                  <a:lnTo>
                    <a:pt x="2568602" y="173120"/>
                  </a:lnTo>
                  <a:lnTo>
                    <a:pt x="2516945" y="155911"/>
                  </a:lnTo>
                  <a:lnTo>
                    <a:pt x="2459073" y="143809"/>
                  </a:lnTo>
                  <a:lnTo>
                    <a:pt x="2444995" y="114661"/>
                  </a:lnTo>
                  <a:lnTo>
                    <a:pt x="2391820" y="62906"/>
                  </a:lnTo>
                  <a:lnTo>
                    <a:pt x="2353917" y="41459"/>
                  </a:lnTo>
                  <a:lnTo>
                    <a:pt x="2307961" y="23292"/>
                  </a:lnTo>
                  <a:lnTo>
                    <a:pt x="2258406" y="10364"/>
                  </a:lnTo>
                  <a:lnTo>
                    <a:pt x="2206492" y="2619"/>
                  </a:lnTo>
                  <a:lnTo>
                    <a:pt x="215345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16777" y="5302366"/>
              <a:ext cx="2773045" cy="1145540"/>
            </a:xfrm>
            <a:custGeom>
              <a:avLst/>
              <a:gdLst/>
              <a:ahLst/>
              <a:cxnLst/>
              <a:rect l="l" t="t" r="r" b="b"/>
              <a:pathLst>
                <a:path w="2773045" h="1145539">
                  <a:moveTo>
                    <a:pt x="251703" y="376890"/>
                  </a:moveTo>
                  <a:lnTo>
                    <a:pt x="253013" y="305794"/>
                  </a:lnTo>
                  <a:lnTo>
                    <a:pt x="289055" y="240182"/>
                  </a:lnTo>
                  <a:lnTo>
                    <a:pt x="318667" y="210492"/>
                  </a:lnTo>
                  <a:lnTo>
                    <a:pt x="355241" y="183446"/>
                  </a:lnTo>
                  <a:lnTo>
                    <a:pt x="398204" y="159467"/>
                  </a:lnTo>
                  <a:lnTo>
                    <a:pt x="446983" y="138980"/>
                  </a:lnTo>
                  <a:lnTo>
                    <a:pt x="501003" y="122408"/>
                  </a:lnTo>
                  <a:lnTo>
                    <a:pt x="559691" y="110176"/>
                  </a:lnTo>
                  <a:lnTo>
                    <a:pt x="622475" y="102707"/>
                  </a:lnTo>
                  <a:lnTo>
                    <a:pt x="670556" y="100553"/>
                  </a:lnTo>
                  <a:lnTo>
                    <a:pt x="718470" y="101405"/>
                  </a:lnTo>
                  <a:lnTo>
                    <a:pt x="765785" y="105215"/>
                  </a:lnTo>
                  <a:lnTo>
                    <a:pt x="812065" y="111933"/>
                  </a:lnTo>
                  <a:lnTo>
                    <a:pt x="856877" y="121511"/>
                  </a:lnTo>
                  <a:lnTo>
                    <a:pt x="899787" y="133899"/>
                  </a:lnTo>
                  <a:lnTo>
                    <a:pt x="929766" y="107491"/>
                  </a:lnTo>
                  <a:lnTo>
                    <a:pt x="965900" y="84741"/>
                  </a:lnTo>
                  <a:lnTo>
                    <a:pt x="1007237" y="65814"/>
                  </a:lnTo>
                  <a:lnTo>
                    <a:pt x="1052825" y="50874"/>
                  </a:lnTo>
                  <a:lnTo>
                    <a:pt x="1101711" y="40085"/>
                  </a:lnTo>
                  <a:lnTo>
                    <a:pt x="1152944" y="33611"/>
                  </a:lnTo>
                  <a:lnTo>
                    <a:pt x="1205570" y="31617"/>
                  </a:lnTo>
                  <a:lnTo>
                    <a:pt x="1258639" y="34267"/>
                  </a:lnTo>
                  <a:lnTo>
                    <a:pt x="1311196" y="41724"/>
                  </a:lnTo>
                  <a:lnTo>
                    <a:pt x="1362291" y="54154"/>
                  </a:lnTo>
                  <a:lnTo>
                    <a:pt x="1404146" y="68950"/>
                  </a:lnTo>
                  <a:lnTo>
                    <a:pt x="1441771" y="86988"/>
                  </a:lnTo>
                  <a:lnTo>
                    <a:pt x="1472046" y="60000"/>
                  </a:lnTo>
                  <a:lnTo>
                    <a:pt x="1510101" y="37632"/>
                  </a:lnTo>
                  <a:lnTo>
                    <a:pt x="1554424" y="20166"/>
                  </a:lnTo>
                  <a:lnTo>
                    <a:pt x="1603507" y="7887"/>
                  </a:lnTo>
                  <a:lnTo>
                    <a:pt x="1655840" y="1079"/>
                  </a:lnTo>
                  <a:lnTo>
                    <a:pt x="1709914" y="26"/>
                  </a:lnTo>
                  <a:lnTo>
                    <a:pt x="1764217" y="5013"/>
                  </a:lnTo>
                  <a:lnTo>
                    <a:pt x="1817241" y="16324"/>
                  </a:lnTo>
                  <a:lnTo>
                    <a:pt x="1870698" y="35900"/>
                  </a:lnTo>
                  <a:lnTo>
                    <a:pt x="1914891" y="61776"/>
                  </a:lnTo>
                  <a:lnTo>
                    <a:pt x="1954922" y="39629"/>
                  </a:lnTo>
                  <a:lnTo>
                    <a:pt x="2000034" y="22320"/>
                  </a:lnTo>
                  <a:lnTo>
                    <a:pt x="2048987" y="9908"/>
                  </a:lnTo>
                  <a:lnTo>
                    <a:pt x="2100542" y="2448"/>
                  </a:lnTo>
                  <a:lnTo>
                    <a:pt x="2153457" y="0"/>
                  </a:lnTo>
                  <a:lnTo>
                    <a:pt x="2206492" y="2619"/>
                  </a:lnTo>
                  <a:lnTo>
                    <a:pt x="2258408" y="10363"/>
                  </a:lnTo>
                  <a:lnTo>
                    <a:pt x="2307965" y="23291"/>
                  </a:lnTo>
                  <a:lnTo>
                    <a:pt x="2353922" y="41459"/>
                  </a:lnTo>
                  <a:lnTo>
                    <a:pt x="2391819" y="62904"/>
                  </a:lnTo>
                  <a:lnTo>
                    <a:pt x="2422374" y="87499"/>
                  </a:lnTo>
                  <a:lnTo>
                    <a:pt x="2459072" y="143810"/>
                  </a:lnTo>
                  <a:lnTo>
                    <a:pt x="2516944" y="155910"/>
                  </a:lnTo>
                  <a:lnTo>
                    <a:pt x="2568602" y="173118"/>
                  </a:lnTo>
                  <a:lnTo>
                    <a:pt x="2613367" y="194765"/>
                  </a:lnTo>
                  <a:lnTo>
                    <a:pt x="2650561" y="220184"/>
                  </a:lnTo>
                  <a:lnTo>
                    <a:pt x="2679506" y="248705"/>
                  </a:lnTo>
                  <a:lnTo>
                    <a:pt x="2709936" y="312381"/>
                  </a:lnTo>
                  <a:lnTo>
                    <a:pt x="2710065" y="346201"/>
                  </a:lnTo>
                  <a:lnTo>
                    <a:pt x="2699232" y="380450"/>
                  </a:lnTo>
                  <a:lnTo>
                    <a:pt x="2695900" y="386893"/>
                  </a:lnTo>
                  <a:lnTo>
                    <a:pt x="2692177" y="393265"/>
                  </a:lnTo>
                  <a:lnTo>
                    <a:pt x="2688063" y="399560"/>
                  </a:lnTo>
                  <a:lnTo>
                    <a:pt x="2683562" y="405773"/>
                  </a:lnTo>
                  <a:lnTo>
                    <a:pt x="2718938" y="436025"/>
                  </a:lnTo>
                  <a:lnTo>
                    <a:pt x="2745415" y="468048"/>
                  </a:lnTo>
                  <a:lnTo>
                    <a:pt x="2763116" y="501310"/>
                  </a:lnTo>
                  <a:lnTo>
                    <a:pt x="2772164" y="535282"/>
                  </a:lnTo>
                  <a:lnTo>
                    <a:pt x="2772685" y="569433"/>
                  </a:lnTo>
                  <a:lnTo>
                    <a:pt x="2764801" y="603234"/>
                  </a:lnTo>
                  <a:lnTo>
                    <a:pt x="2724313" y="667664"/>
                  </a:lnTo>
                  <a:lnTo>
                    <a:pt x="2691958" y="697233"/>
                  </a:lnTo>
                  <a:lnTo>
                    <a:pt x="2651693" y="724331"/>
                  </a:lnTo>
                  <a:lnTo>
                    <a:pt x="2603642" y="748429"/>
                  </a:lnTo>
                  <a:lnTo>
                    <a:pt x="2557300" y="765905"/>
                  </a:lnTo>
                  <a:lnTo>
                    <a:pt x="2507569" y="779848"/>
                  </a:lnTo>
                  <a:lnTo>
                    <a:pt x="2455083" y="790108"/>
                  </a:lnTo>
                  <a:lnTo>
                    <a:pt x="2400472" y="796535"/>
                  </a:lnTo>
                  <a:lnTo>
                    <a:pt x="2395134" y="830333"/>
                  </a:lnTo>
                  <a:lnTo>
                    <a:pt x="2357695" y="892168"/>
                  </a:lnTo>
                  <a:lnTo>
                    <a:pt x="2327133" y="919352"/>
                  </a:lnTo>
                  <a:lnTo>
                    <a:pt x="2289704" y="943480"/>
                  </a:lnTo>
                  <a:lnTo>
                    <a:pt x="2246177" y="964125"/>
                  </a:lnTo>
                  <a:lnTo>
                    <a:pt x="2197322" y="980862"/>
                  </a:lnTo>
                  <a:lnTo>
                    <a:pt x="2143910" y="993265"/>
                  </a:lnTo>
                  <a:lnTo>
                    <a:pt x="2086709" y="1000907"/>
                  </a:lnTo>
                  <a:lnTo>
                    <a:pt x="2026491" y="1003363"/>
                  </a:lnTo>
                  <a:lnTo>
                    <a:pt x="1975547" y="1001155"/>
                  </a:lnTo>
                  <a:lnTo>
                    <a:pt x="1925853" y="995073"/>
                  </a:lnTo>
                  <a:lnTo>
                    <a:pt x="1878102" y="985229"/>
                  </a:lnTo>
                  <a:lnTo>
                    <a:pt x="1832991" y="971735"/>
                  </a:lnTo>
                  <a:lnTo>
                    <a:pt x="1812181" y="1002808"/>
                  </a:lnTo>
                  <a:lnTo>
                    <a:pt x="1784829" y="1031348"/>
                  </a:lnTo>
                  <a:lnTo>
                    <a:pt x="1751579" y="1057160"/>
                  </a:lnTo>
                  <a:lnTo>
                    <a:pt x="1713073" y="1080052"/>
                  </a:lnTo>
                  <a:lnTo>
                    <a:pt x="1669956" y="1099828"/>
                  </a:lnTo>
                  <a:lnTo>
                    <a:pt x="1622871" y="1116294"/>
                  </a:lnTo>
                  <a:lnTo>
                    <a:pt x="1572461" y="1129257"/>
                  </a:lnTo>
                  <a:lnTo>
                    <a:pt x="1519369" y="1138521"/>
                  </a:lnTo>
                  <a:lnTo>
                    <a:pt x="1464239" y="1143893"/>
                  </a:lnTo>
                  <a:lnTo>
                    <a:pt x="1407713" y="1145179"/>
                  </a:lnTo>
                  <a:lnTo>
                    <a:pt x="1350436" y="1142183"/>
                  </a:lnTo>
                  <a:lnTo>
                    <a:pt x="1293051" y="1134713"/>
                  </a:lnTo>
                  <a:lnTo>
                    <a:pt x="1237176" y="1122741"/>
                  </a:lnTo>
                  <a:lnTo>
                    <a:pt x="1185108" y="1106670"/>
                  </a:lnTo>
                  <a:lnTo>
                    <a:pt x="1137526" y="1086783"/>
                  </a:lnTo>
                  <a:lnTo>
                    <a:pt x="1095110" y="1063363"/>
                  </a:lnTo>
                  <a:lnTo>
                    <a:pt x="1058541" y="1036693"/>
                  </a:lnTo>
                  <a:lnTo>
                    <a:pt x="1010807" y="1050974"/>
                  </a:lnTo>
                  <a:lnTo>
                    <a:pt x="961625" y="1062053"/>
                  </a:lnTo>
                  <a:lnTo>
                    <a:pt x="911410" y="1069988"/>
                  </a:lnTo>
                  <a:lnTo>
                    <a:pt x="860576" y="1074836"/>
                  </a:lnTo>
                  <a:lnTo>
                    <a:pt x="809538" y="1076657"/>
                  </a:lnTo>
                  <a:lnTo>
                    <a:pt x="758710" y="1075509"/>
                  </a:lnTo>
                  <a:lnTo>
                    <a:pt x="708507" y="1071449"/>
                  </a:lnTo>
                  <a:lnTo>
                    <a:pt x="659343" y="1064536"/>
                  </a:lnTo>
                  <a:lnTo>
                    <a:pt x="611632" y="1054829"/>
                  </a:lnTo>
                  <a:lnTo>
                    <a:pt x="565790" y="1042386"/>
                  </a:lnTo>
                  <a:lnTo>
                    <a:pt x="522231" y="1027265"/>
                  </a:lnTo>
                  <a:lnTo>
                    <a:pt x="481368" y="1009524"/>
                  </a:lnTo>
                  <a:lnTo>
                    <a:pt x="443617" y="989221"/>
                  </a:lnTo>
                  <a:lnTo>
                    <a:pt x="409393" y="966415"/>
                  </a:lnTo>
                  <a:lnTo>
                    <a:pt x="379108" y="941165"/>
                  </a:lnTo>
                  <a:lnTo>
                    <a:pt x="373874" y="936133"/>
                  </a:lnTo>
                  <a:lnTo>
                    <a:pt x="317242" y="936653"/>
                  </a:lnTo>
                  <a:lnTo>
                    <a:pt x="263213" y="931008"/>
                  </a:lnTo>
                  <a:lnTo>
                    <a:pt x="213033" y="919750"/>
                  </a:lnTo>
                  <a:lnTo>
                    <a:pt x="167951" y="903434"/>
                  </a:lnTo>
                  <a:lnTo>
                    <a:pt x="129215" y="882611"/>
                  </a:lnTo>
                  <a:lnTo>
                    <a:pt x="98073" y="857835"/>
                  </a:lnTo>
                  <a:lnTo>
                    <a:pt x="63561" y="798634"/>
                  </a:lnTo>
                  <a:lnTo>
                    <a:pt x="63098" y="764423"/>
                  </a:lnTo>
                  <a:lnTo>
                    <a:pt x="75653" y="731342"/>
                  </a:lnTo>
                  <a:lnTo>
                    <a:pt x="100555" y="700540"/>
                  </a:lnTo>
                  <a:lnTo>
                    <a:pt x="137130" y="673163"/>
                  </a:lnTo>
                  <a:lnTo>
                    <a:pt x="85714" y="651314"/>
                  </a:lnTo>
                  <a:lnTo>
                    <a:pt x="45694" y="624325"/>
                  </a:lnTo>
                  <a:lnTo>
                    <a:pt x="17670" y="593489"/>
                  </a:lnTo>
                  <a:lnTo>
                    <a:pt x="2239" y="560102"/>
                  </a:lnTo>
                  <a:lnTo>
                    <a:pt x="0" y="525456"/>
                  </a:lnTo>
                  <a:lnTo>
                    <a:pt x="11550" y="490847"/>
                  </a:lnTo>
                  <a:lnTo>
                    <a:pt x="37488" y="457568"/>
                  </a:lnTo>
                  <a:lnTo>
                    <a:pt x="68274" y="433406"/>
                  </a:lnTo>
                  <a:lnTo>
                    <a:pt x="106017" y="413192"/>
                  </a:lnTo>
                  <a:lnTo>
                    <a:pt x="149555" y="397347"/>
                  </a:lnTo>
                  <a:lnTo>
                    <a:pt x="197727" y="386294"/>
                  </a:lnTo>
                  <a:lnTo>
                    <a:pt x="249369" y="380457"/>
                  </a:lnTo>
                  <a:lnTo>
                    <a:pt x="251703" y="376890"/>
                  </a:lnTo>
                  <a:close/>
                </a:path>
                <a:path w="2773045" h="1145539">
                  <a:moveTo>
                    <a:pt x="302561" y="689827"/>
                  </a:moveTo>
                  <a:lnTo>
                    <a:pt x="260159" y="689865"/>
                  </a:lnTo>
                  <a:lnTo>
                    <a:pt x="218473" y="686295"/>
                  </a:lnTo>
                  <a:lnTo>
                    <a:pt x="178216" y="679210"/>
                  </a:lnTo>
                  <a:lnTo>
                    <a:pt x="140102" y="668703"/>
                  </a:lnTo>
                </a:path>
                <a:path w="2773045" h="1145539">
                  <a:moveTo>
                    <a:pt x="445902" y="920998"/>
                  </a:moveTo>
                  <a:lnTo>
                    <a:pt x="428605" y="924506"/>
                  </a:lnTo>
                  <a:lnTo>
                    <a:pt x="410955" y="927366"/>
                  </a:lnTo>
                  <a:lnTo>
                    <a:pt x="393008" y="929569"/>
                  </a:lnTo>
                  <a:lnTo>
                    <a:pt x="374821" y="931108"/>
                  </a:lnTo>
                </a:path>
                <a:path w="2773045" h="1145539">
                  <a:moveTo>
                    <a:pt x="1058381" y="1032073"/>
                  </a:moveTo>
                  <a:lnTo>
                    <a:pt x="1046047" y="1021045"/>
                  </a:lnTo>
                  <a:lnTo>
                    <a:pt x="1034783" y="1009666"/>
                  </a:lnTo>
                  <a:lnTo>
                    <a:pt x="1024611" y="997963"/>
                  </a:lnTo>
                  <a:lnTo>
                    <a:pt x="1015551" y="985960"/>
                  </a:lnTo>
                </a:path>
                <a:path w="2773045" h="1145539">
                  <a:moveTo>
                    <a:pt x="1850371" y="917076"/>
                  </a:moveTo>
                  <a:lnTo>
                    <a:pt x="1847881" y="929905"/>
                  </a:lnTo>
                  <a:lnTo>
                    <a:pt x="1844195" y="942633"/>
                  </a:lnTo>
                  <a:lnTo>
                    <a:pt x="1839322" y="955233"/>
                  </a:lnTo>
                  <a:lnTo>
                    <a:pt x="1833271" y="967680"/>
                  </a:lnTo>
                </a:path>
              </a:pathLst>
            </a:custGeom>
            <a:ln w="25400">
              <a:solidFill>
                <a:srgbClr val="981B1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94489" y="5894070"/>
              <a:ext cx="233930" cy="2145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68491" y="5360421"/>
              <a:ext cx="2430780" cy="415925"/>
            </a:xfrm>
            <a:custGeom>
              <a:avLst/>
              <a:gdLst/>
              <a:ahLst/>
              <a:cxnLst/>
              <a:rect l="l" t="t" r="r" b="b"/>
              <a:pathLst>
                <a:path w="2430779" h="415925">
                  <a:moveTo>
                    <a:pt x="2430538" y="344915"/>
                  </a:moveTo>
                  <a:lnTo>
                    <a:pt x="2412912" y="364829"/>
                  </a:lnTo>
                  <a:lnTo>
                    <a:pt x="2391407" y="383405"/>
                  </a:lnTo>
                  <a:lnTo>
                    <a:pt x="2366254" y="400466"/>
                  </a:lnTo>
                  <a:lnTo>
                    <a:pt x="2337688" y="415833"/>
                  </a:lnTo>
                </a:path>
                <a:path w="2430779" h="415925">
                  <a:moveTo>
                    <a:pt x="2207738" y="81780"/>
                  </a:moveTo>
                  <a:lnTo>
                    <a:pt x="2210042" y="90096"/>
                  </a:lnTo>
                  <a:lnTo>
                    <a:pt x="2211629" y="98460"/>
                  </a:lnTo>
                  <a:lnTo>
                    <a:pt x="2212498" y="106857"/>
                  </a:lnTo>
                  <a:lnTo>
                    <a:pt x="2212648" y="115272"/>
                  </a:lnTo>
                </a:path>
                <a:path w="2430779" h="415925">
                  <a:moveTo>
                    <a:pt x="1614757" y="42712"/>
                  </a:moveTo>
                  <a:lnTo>
                    <a:pt x="1624560" y="31330"/>
                  </a:lnTo>
                  <a:lnTo>
                    <a:pt x="1635786" y="20390"/>
                  </a:lnTo>
                  <a:lnTo>
                    <a:pt x="1648391" y="9932"/>
                  </a:lnTo>
                  <a:lnTo>
                    <a:pt x="1662327" y="0"/>
                  </a:lnTo>
                </a:path>
                <a:path w="2430779" h="415925">
                  <a:moveTo>
                    <a:pt x="1169857" y="63067"/>
                  </a:moveTo>
                  <a:lnTo>
                    <a:pt x="1174084" y="53569"/>
                  </a:lnTo>
                  <a:lnTo>
                    <a:pt x="1179345" y="44246"/>
                  </a:lnTo>
                  <a:lnTo>
                    <a:pt x="1185621" y="35124"/>
                  </a:lnTo>
                  <a:lnTo>
                    <a:pt x="1192897" y="26231"/>
                  </a:lnTo>
                </a:path>
                <a:path w="2430779" h="415925">
                  <a:moveTo>
                    <a:pt x="647744" y="75578"/>
                  </a:moveTo>
                  <a:lnTo>
                    <a:pt x="670004" y="83433"/>
                  </a:lnTo>
                  <a:lnTo>
                    <a:pt x="691356" y="92023"/>
                  </a:lnTo>
                  <a:lnTo>
                    <a:pt x="711744" y="101326"/>
                  </a:lnTo>
                  <a:lnTo>
                    <a:pt x="731109" y="111316"/>
                  </a:lnTo>
                </a:path>
                <a:path w="2430779" h="415925">
                  <a:moveTo>
                    <a:pt x="14548" y="356445"/>
                  </a:moveTo>
                  <a:lnTo>
                    <a:pt x="9921" y="347171"/>
                  </a:lnTo>
                  <a:lnTo>
                    <a:pt x="5951" y="337806"/>
                  </a:lnTo>
                  <a:lnTo>
                    <a:pt x="2642" y="328360"/>
                  </a:lnTo>
                  <a:lnTo>
                    <a:pt x="0" y="318844"/>
                  </a:lnTo>
                </a:path>
              </a:pathLst>
            </a:custGeom>
            <a:ln w="25400">
              <a:solidFill>
                <a:srgbClr val="981B1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19171" y="486157"/>
            <a:ext cx="477964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Component</a:t>
            </a:r>
            <a:r>
              <a:rPr dirty="0" spc="-40"/>
              <a:t> </a:t>
            </a:r>
            <a:r>
              <a:rPr dirty="0" spc="-5"/>
              <a:t>Library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76496" y="1468628"/>
            <a:ext cx="5686425" cy="11258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Import satellite components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and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attributes  directly into the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model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to perform trade 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and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feasibility</a:t>
            </a:r>
            <a:r>
              <a:rPr dirty="0" sz="2400" spc="-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studies.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00474" y="4038980"/>
            <a:ext cx="348615" cy="1228090"/>
          </a:xfrm>
          <a:custGeom>
            <a:avLst/>
            <a:gdLst/>
            <a:ahLst/>
            <a:cxnLst/>
            <a:rect l="l" t="t" r="r" b="b"/>
            <a:pathLst>
              <a:path w="348614" h="1228089">
                <a:moveTo>
                  <a:pt x="41425" y="72417"/>
                </a:moveTo>
                <a:lnTo>
                  <a:pt x="32220" y="74864"/>
                </a:lnTo>
                <a:lnTo>
                  <a:pt x="338810" y="1228039"/>
                </a:lnTo>
                <a:lnTo>
                  <a:pt x="348005" y="1225588"/>
                </a:lnTo>
                <a:lnTo>
                  <a:pt x="41425" y="72417"/>
                </a:lnTo>
                <a:close/>
              </a:path>
              <a:path w="348614" h="1228089">
                <a:moveTo>
                  <a:pt x="17246" y="0"/>
                </a:moveTo>
                <a:lnTo>
                  <a:pt x="0" y="83426"/>
                </a:lnTo>
                <a:lnTo>
                  <a:pt x="32220" y="74864"/>
                </a:lnTo>
                <a:lnTo>
                  <a:pt x="28955" y="62585"/>
                </a:lnTo>
                <a:lnTo>
                  <a:pt x="38163" y="60147"/>
                </a:lnTo>
                <a:lnTo>
                  <a:pt x="70371" y="60147"/>
                </a:lnTo>
                <a:lnTo>
                  <a:pt x="17246" y="0"/>
                </a:lnTo>
                <a:close/>
              </a:path>
              <a:path w="348614" h="1228089">
                <a:moveTo>
                  <a:pt x="38163" y="60147"/>
                </a:moveTo>
                <a:lnTo>
                  <a:pt x="28955" y="62585"/>
                </a:lnTo>
                <a:lnTo>
                  <a:pt x="32220" y="74864"/>
                </a:lnTo>
                <a:lnTo>
                  <a:pt x="41425" y="72417"/>
                </a:lnTo>
                <a:lnTo>
                  <a:pt x="38163" y="60147"/>
                </a:lnTo>
                <a:close/>
              </a:path>
              <a:path w="348614" h="1228089">
                <a:moveTo>
                  <a:pt x="70371" y="60147"/>
                </a:moveTo>
                <a:lnTo>
                  <a:pt x="38163" y="60147"/>
                </a:lnTo>
                <a:lnTo>
                  <a:pt x="41425" y="72417"/>
                </a:lnTo>
                <a:lnTo>
                  <a:pt x="73647" y="63855"/>
                </a:lnTo>
                <a:lnTo>
                  <a:pt x="70371" y="60147"/>
                </a:lnTo>
                <a:close/>
              </a:path>
            </a:pathLst>
          </a:custGeom>
          <a:solidFill>
            <a:srgbClr val="981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948030" y="1579079"/>
            <a:ext cx="4939030" cy="527685"/>
          </a:xfrm>
          <a:prstGeom prst="rect">
            <a:avLst/>
          </a:prstGeom>
          <a:ln w="9525">
            <a:solidFill>
              <a:srgbClr val="92D050"/>
            </a:solidFill>
          </a:ln>
        </p:spPr>
        <p:txBody>
          <a:bodyPr wrap="square" lIns="0" tIns="889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70"/>
              </a:spcBef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Desired </a:t>
            </a:r>
            <a:r>
              <a:rPr dirty="0" sz="1800" spc="-25">
                <a:solidFill>
                  <a:srgbClr val="414042"/>
                </a:solidFill>
                <a:latin typeface="Arial"/>
                <a:cs typeface="Arial"/>
              </a:rPr>
              <a:t>Tool-Chain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Integration</a:t>
            </a:r>
            <a:r>
              <a:rPr dirty="0" sz="1800" spc="-1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Architecture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98736" y="2893987"/>
            <a:ext cx="1638300" cy="1145540"/>
          </a:xfrm>
          <a:prstGeom prst="rect">
            <a:avLst/>
          </a:prstGeom>
          <a:solidFill>
            <a:srgbClr val="981B1E"/>
          </a:solidFill>
          <a:ln w="25400">
            <a:solidFill>
              <a:srgbClr val="6E1113"/>
            </a:solidFill>
          </a:ln>
        </p:spPr>
        <p:txBody>
          <a:bodyPr wrap="square" lIns="0" tIns="116839" rIns="0" bIns="0" rtlCol="0" vert="horz">
            <a:spAutoFit/>
          </a:bodyPr>
          <a:lstStyle/>
          <a:p>
            <a:pPr algn="ctr" marL="163195" marR="155575">
              <a:lnSpc>
                <a:spcPct val="99100"/>
              </a:lnSpc>
              <a:spcBef>
                <a:spcPts val="919"/>
              </a:spcBef>
            </a:pP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MagicDraw  SysML 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(on</a:t>
            </a:r>
            <a:r>
              <a:rPr dirty="0" sz="1200" spc="-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user 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computer, 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saved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to  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agency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server)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100474" y="2253233"/>
            <a:ext cx="5435600" cy="3014345"/>
            <a:chOff x="4100474" y="2253233"/>
            <a:chExt cx="5435600" cy="3014345"/>
          </a:xfrm>
        </p:grpSpPr>
        <p:sp>
          <p:nvSpPr>
            <p:cNvPr id="16" name="object 16"/>
            <p:cNvSpPr/>
            <p:nvPr/>
          </p:nvSpPr>
          <p:spPr>
            <a:xfrm>
              <a:off x="4100474" y="4038980"/>
              <a:ext cx="348615" cy="1228090"/>
            </a:xfrm>
            <a:custGeom>
              <a:avLst/>
              <a:gdLst/>
              <a:ahLst/>
              <a:cxnLst/>
              <a:rect l="l" t="t" r="r" b="b"/>
              <a:pathLst>
                <a:path w="348614" h="1228089">
                  <a:moveTo>
                    <a:pt x="41425" y="72417"/>
                  </a:moveTo>
                  <a:lnTo>
                    <a:pt x="32220" y="74864"/>
                  </a:lnTo>
                  <a:lnTo>
                    <a:pt x="338810" y="1228039"/>
                  </a:lnTo>
                  <a:lnTo>
                    <a:pt x="348005" y="1225588"/>
                  </a:lnTo>
                  <a:lnTo>
                    <a:pt x="41425" y="72417"/>
                  </a:lnTo>
                  <a:close/>
                </a:path>
                <a:path w="348614" h="1228089">
                  <a:moveTo>
                    <a:pt x="17246" y="0"/>
                  </a:moveTo>
                  <a:lnTo>
                    <a:pt x="0" y="83426"/>
                  </a:lnTo>
                  <a:lnTo>
                    <a:pt x="32220" y="74864"/>
                  </a:lnTo>
                  <a:lnTo>
                    <a:pt x="28955" y="62585"/>
                  </a:lnTo>
                  <a:lnTo>
                    <a:pt x="38163" y="60147"/>
                  </a:lnTo>
                  <a:lnTo>
                    <a:pt x="70371" y="60147"/>
                  </a:lnTo>
                  <a:lnTo>
                    <a:pt x="17246" y="0"/>
                  </a:lnTo>
                  <a:close/>
                </a:path>
                <a:path w="348614" h="1228089">
                  <a:moveTo>
                    <a:pt x="38163" y="60147"/>
                  </a:moveTo>
                  <a:lnTo>
                    <a:pt x="28955" y="62585"/>
                  </a:lnTo>
                  <a:lnTo>
                    <a:pt x="32220" y="74864"/>
                  </a:lnTo>
                  <a:lnTo>
                    <a:pt x="41425" y="72417"/>
                  </a:lnTo>
                  <a:lnTo>
                    <a:pt x="38163" y="60147"/>
                  </a:lnTo>
                  <a:close/>
                </a:path>
                <a:path w="348614" h="1228089">
                  <a:moveTo>
                    <a:pt x="70371" y="60147"/>
                  </a:moveTo>
                  <a:lnTo>
                    <a:pt x="38163" y="60147"/>
                  </a:lnTo>
                  <a:lnTo>
                    <a:pt x="41425" y="72417"/>
                  </a:lnTo>
                  <a:lnTo>
                    <a:pt x="73647" y="63855"/>
                  </a:lnTo>
                  <a:lnTo>
                    <a:pt x="70371" y="60147"/>
                  </a:lnTo>
                  <a:close/>
                </a:path>
              </a:pathLst>
            </a:custGeom>
            <a:solidFill>
              <a:srgbClr val="9817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104608" y="2265933"/>
              <a:ext cx="2418715" cy="1145540"/>
            </a:xfrm>
            <a:custGeom>
              <a:avLst/>
              <a:gdLst/>
              <a:ahLst/>
              <a:cxnLst/>
              <a:rect l="l" t="t" r="r" b="b"/>
              <a:pathLst>
                <a:path w="2418715" h="1145539">
                  <a:moveTo>
                    <a:pt x="2418232" y="0"/>
                  </a:moveTo>
                  <a:lnTo>
                    <a:pt x="0" y="0"/>
                  </a:lnTo>
                  <a:lnTo>
                    <a:pt x="0" y="1144993"/>
                  </a:lnTo>
                  <a:lnTo>
                    <a:pt x="2418232" y="1144993"/>
                  </a:lnTo>
                  <a:lnTo>
                    <a:pt x="2418232" y="0"/>
                  </a:lnTo>
                  <a:close/>
                </a:path>
              </a:pathLst>
            </a:custGeom>
            <a:solidFill>
              <a:srgbClr val="98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104608" y="2265933"/>
              <a:ext cx="2418715" cy="1145540"/>
            </a:xfrm>
            <a:custGeom>
              <a:avLst/>
              <a:gdLst/>
              <a:ahLst/>
              <a:cxnLst/>
              <a:rect l="l" t="t" r="r" b="b"/>
              <a:pathLst>
                <a:path w="2418715" h="1145539">
                  <a:moveTo>
                    <a:pt x="0" y="0"/>
                  </a:moveTo>
                  <a:lnTo>
                    <a:pt x="2418241" y="0"/>
                  </a:lnTo>
                  <a:lnTo>
                    <a:pt x="2418241" y="1144990"/>
                  </a:lnTo>
                  <a:lnTo>
                    <a:pt x="0" y="114499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6E111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546175" y="2447035"/>
            <a:ext cx="1535430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CREO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(3D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model)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38885" y="4203014"/>
            <a:ext cx="1638300" cy="1145540"/>
          </a:xfrm>
          <a:prstGeom prst="rect">
            <a:avLst/>
          </a:prstGeom>
          <a:solidFill>
            <a:srgbClr val="981B1E"/>
          </a:solidFill>
          <a:ln w="25400">
            <a:solidFill>
              <a:srgbClr val="6E1113"/>
            </a:solidFill>
          </a:ln>
        </p:spPr>
        <p:txBody>
          <a:bodyPr wrap="square" lIns="0" tIns="194945" rIns="0" bIns="0" rtlCol="0" vert="horz">
            <a:spAutoFit/>
          </a:bodyPr>
          <a:lstStyle/>
          <a:p>
            <a:pPr marL="445770" marR="192405" indent="-245745">
              <a:lnSpc>
                <a:spcPct val="100000"/>
              </a:lnSpc>
              <a:spcBef>
                <a:spcPts val="1535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Microso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 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Excel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69563" y="2265933"/>
            <a:ext cx="2124710" cy="1617980"/>
          </a:xfrm>
          <a:prstGeom prst="rect">
            <a:avLst/>
          </a:prstGeom>
          <a:solidFill>
            <a:srgbClr val="981B1E"/>
          </a:solidFill>
          <a:ln w="25400">
            <a:solidFill>
              <a:srgbClr val="6E1113"/>
            </a:solidFill>
          </a:ln>
        </p:spPr>
        <p:txBody>
          <a:bodyPr wrap="square" lIns="0" tIns="34290" rIns="0" bIns="0" rtlCol="0" vert="horz">
            <a:spAutoFit/>
          </a:bodyPr>
          <a:lstStyle/>
          <a:p>
            <a:pPr algn="ctr" marL="144780" marR="137160">
              <a:lnSpc>
                <a:spcPct val="100000"/>
              </a:lnSpc>
              <a:spcBef>
                <a:spcPts val="270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Discipline 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Tool</a:t>
            </a:r>
            <a:r>
              <a:rPr dirty="0" sz="20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1 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(e.g.,</a:t>
            </a:r>
            <a:r>
              <a:rPr dirty="0" sz="2000" spc="-1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ANSYS,</a:t>
            </a:r>
            <a:endParaRPr sz="2000">
              <a:latin typeface="Arial"/>
              <a:cs typeface="Arial"/>
            </a:endParaRPr>
          </a:p>
          <a:p>
            <a:pPr algn="ctr" marL="130810" marR="12255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STK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orbital,</a:t>
            </a:r>
            <a:r>
              <a:rPr dirty="0" sz="20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cost 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parametric)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model,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etc.)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099078" y="4107535"/>
            <a:ext cx="1946910" cy="690880"/>
          </a:xfrm>
          <a:prstGeom prst="rect">
            <a:avLst/>
          </a:prstGeom>
          <a:solidFill>
            <a:srgbClr val="981B1E"/>
          </a:solidFill>
          <a:ln w="25400">
            <a:solidFill>
              <a:srgbClr val="6E1113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902335" marR="154940" indent="-741045">
              <a:lnSpc>
                <a:spcPct val="100000"/>
              </a:lnSpc>
              <a:spcBef>
                <a:spcPts val="215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Discipline</a:t>
            </a:r>
            <a:r>
              <a:rPr dirty="0" sz="20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Tool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53393" y="2441663"/>
            <a:ext cx="5020310" cy="2208530"/>
          </a:xfrm>
          <a:custGeom>
            <a:avLst/>
            <a:gdLst/>
            <a:ahLst/>
            <a:cxnLst/>
            <a:rect l="l" t="t" r="r" b="b"/>
            <a:pathLst>
              <a:path w="5020309" h="2208529">
                <a:moveTo>
                  <a:pt x="2124316" y="2202751"/>
                </a:moveTo>
                <a:lnTo>
                  <a:pt x="2106968" y="2182558"/>
                </a:lnTo>
                <a:lnTo>
                  <a:pt x="2068804" y="2138121"/>
                </a:lnTo>
                <a:lnTo>
                  <a:pt x="2055888" y="2168868"/>
                </a:lnTo>
                <a:lnTo>
                  <a:pt x="72085" y="1335989"/>
                </a:lnTo>
                <a:lnTo>
                  <a:pt x="74155" y="1331074"/>
                </a:lnTo>
                <a:lnTo>
                  <a:pt x="85001" y="1305242"/>
                </a:lnTo>
                <a:lnTo>
                  <a:pt x="0" y="1310881"/>
                </a:lnTo>
                <a:lnTo>
                  <a:pt x="55499" y="1375511"/>
                </a:lnTo>
                <a:lnTo>
                  <a:pt x="68402" y="1344764"/>
                </a:lnTo>
                <a:lnTo>
                  <a:pt x="2052205" y="2177643"/>
                </a:lnTo>
                <a:lnTo>
                  <a:pt x="2039302" y="2208377"/>
                </a:lnTo>
                <a:lnTo>
                  <a:pt x="2124316" y="2202751"/>
                </a:lnTo>
                <a:close/>
              </a:path>
              <a:path w="5020309" h="2208529">
                <a:moveTo>
                  <a:pt x="2124316" y="2273"/>
                </a:moveTo>
                <a:lnTo>
                  <a:pt x="2039150" y="0"/>
                </a:lnTo>
                <a:lnTo>
                  <a:pt x="2053259" y="30226"/>
                </a:lnTo>
                <a:lnTo>
                  <a:pt x="67017" y="958291"/>
                </a:lnTo>
                <a:lnTo>
                  <a:pt x="52908" y="928077"/>
                </a:lnTo>
                <a:lnTo>
                  <a:pt x="0" y="994854"/>
                </a:lnTo>
                <a:lnTo>
                  <a:pt x="85153" y="997115"/>
                </a:lnTo>
                <a:lnTo>
                  <a:pt x="73545" y="972286"/>
                </a:lnTo>
                <a:lnTo>
                  <a:pt x="71043" y="966914"/>
                </a:lnTo>
                <a:lnTo>
                  <a:pt x="2057298" y="38849"/>
                </a:lnTo>
                <a:lnTo>
                  <a:pt x="2071408" y="69037"/>
                </a:lnTo>
                <a:lnTo>
                  <a:pt x="2106422" y="24841"/>
                </a:lnTo>
                <a:lnTo>
                  <a:pt x="2124316" y="2273"/>
                </a:lnTo>
                <a:close/>
              </a:path>
              <a:path w="5020309" h="2208529">
                <a:moveTo>
                  <a:pt x="5019954" y="636003"/>
                </a:moveTo>
                <a:lnTo>
                  <a:pt x="5012372" y="630237"/>
                </a:lnTo>
                <a:lnTo>
                  <a:pt x="3863314" y="2139251"/>
                </a:lnTo>
                <a:lnTo>
                  <a:pt x="3836797" y="2119045"/>
                </a:lnTo>
                <a:lnTo>
                  <a:pt x="3820947" y="2202751"/>
                </a:lnTo>
                <a:lnTo>
                  <a:pt x="3897426" y="2165210"/>
                </a:lnTo>
                <a:lnTo>
                  <a:pt x="3884155" y="2155113"/>
                </a:lnTo>
                <a:lnTo>
                  <a:pt x="3870896" y="2145017"/>
                </a:lnTo>
                <a:lnTo>
                  <a:pt x="5019954" y="636003"/>
                </a:lnTo>
                <a:close/>
              </a:path>
            </a:pathLst>
          </a:custGeom>
          <a:solidFill>
            <a:srgbClr val="981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365546" y="2972942"/>
            <a:ext cx="1809114" cy="400685"/>
          </a:xfrm>
          <a:prstGeom prst="rect">
            <a:avLst/>
          </a:prstGeom>
          <a:solidFill>
            <a:srgbClr val="EEECE1"/>
          </a:solidFill>
        </p:spPr>
        <p:txBody>
          <a:bodyPr wrap="square" lIns="0" tIns="3429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ModelCenter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27737" y="3811600"/>
            <a:ext cx="1737995" cy="400685"/>
          </a:xfrm>
          <a:prstGeom prst="rect">
            <a:avLst/>
          </a:prstGeom>
          <a:solidFill>
            <a:srgbClr val="EEECE1"/>
          </a:solidFill>
        </p:spPr>
        <p:txBody>
          <a:bodyPr wrap="square" lIns="0" tIns="3365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ModelCenter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624897" y="5265788"/>
            <a:ext cx="1638300" cy="1145540"/>
          </a:xfrm>
          <a:custGeom>
            <a:avLst/>
            <a:gdLst/>
            <a:ahLst/>
            <a:cxnLst/>
            <a:rect l="l" t="t" r="r" b="b"/>
            <a:pathLst>
              <a:path w="1638300" h="1145539">
                <a:moveTo>
                  <a:pt x="1637969" y="0"/>
                </a:moveTo>
                <a:lnTo>
                  <a:pt x="0" y="0"/>
                </a:lnTo>
                <a:lnTo>
                  <a:pt x="0" y="1144990"/>
                </a:lnTo>
                <a:lnTo>
                  <a:pt x="1637969" y="1144990"/>
                </a:lnTo>
                <a:lnTo>
                  <a:pt x="1637969" y="0"/>
                </a:lnTo>
                <a:close/>
              </a:path>
            </a:pathLst>
          </a:custGeom>
          <a:solidFill>
            <a:srgbClr val="981B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624897" y="5265788"/>
            <a:ext cx="1638300" cy="1145540"/>
          </a:xfrm>
          <a:prstGeom prst="rect">
            <a:avLst/>
          </a:prstGeom>
          <a:ln w="25400">
            <a:solidFill>
              <a:srgbClr val="6E1113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014"/>
              </a:lnSpc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CubeSat</a:t>
            </a:r>
            <a:endParaRPr sz="2000">
              <a:latin typeface="Arial"/>
              <a:cs typeface="Arial"/>
            </a:endParaRPr>
          </a:p>
          <a:p>
            <a:pPr algn="ctr" marL="161925" marR="154305">
              <a:lnSpc>
                <a:spcPct val="100000"/>
              </a:lnSpc>
            </a:pP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omponen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 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Library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(in  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SV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Exce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00474" y="4038980"/>
            <a:ext cx="348615" cy="1228090"/>
          </a:xfrm>
          <a:custGeom>
            <a:avLst/>
            <a:gdLst/>
            <a:ahLst/>
            <a:cxnLst/>
            <a:rect l="l" t="t" r="r" b="b"/>
            <a:pathLst>
              <a:path w="348614" h="1228089">
                <a:moveTo>
                  <a:pt x="41425" y="72417"/>
                </a:moveTo>
                <a:lnTo>
                  <a:pt x="32220" y="74864"/>
                </a:lnTo>
                <a:lnTo>
                  <a:pt x="338810" y="1228039"/>
                </a:lnTo>
                <a:lnTo>
                  <a:pt x="348005" y="1225588"/>
                </a:lnTo>
                <a:lnTo>
                  <a:pt x="41425" y="72417"/>
                </a:lnTo>
                <a:close/>
              </a:path>
              <a:path w="348614" h="1228089">
                <a:moveTo>
                  <a:pt x="17246" y="0"/>
                </a:moveTo>
                <a:lnTo>
                  <a:pt x="0" y="83426"/>
                </a:lnTo>
                <a:lnTo>
                  <a:pt x="32220" y="74864"/>
                </a:lnTo>
                <a:lnTo>
                  <a:pt x="28955" y="62585"/>
                </a:lnTo>
                <a:lnTo>
                  <a:pt x="38163" y="60147"/>
                </a:lnTo>
                <a:lnTo>
                  <a:pt x="70371" y="60147"/>
                </a:lnTo>
                <a:lnTo>
                  <a:pt x="17246" y="0"/>
                </a:lnTo>
                <a:close/>
              </a:path>
              <a:path w="348614" h="1228089">
                <a:moveTo>
                  <a:pt x="38163" y="60147"/>
                </a:moveTo>
                <a:lnTo>
                  <a:pt x="28955" y="62585"/>
                </a:lnTo>
                <a:lnTo>
                  <a:pt x="32220" y="74864"/>
                </a:lnTo>
                <a:lnTo>
                  <a:pt x="41425" y="72417"/>
                </a:lnTo>
                <a:lnTo>
                  <a:pt x="38163" y="60147"/>
                </a:lnTo>
                <a:close/>
              </a:path>
              <a:path w="348614" h="1228089">
                <a:moveTo>
                  <a:pt x="70371" y="60147"/>
                </a:moveTo>
                <a:lnTo>
                  <a:pt x="38163" y="60147"/>
                </a:lnTo>
                <a:lnTo>
                  <a:pt x="41425" y="72417"/>
                </a:lnTo>
                <a:lnTo>
                  <a:pt x="73647" y="63855"/>
                </a:lnTo>
                <a:lnTo>
                  <a:pt x="70371" y="60147"/>
                </a:lnTo>
                <a:close/>
              </a:path>
            </a:pathLst>
          </a:custGeom>
          <a:solidFill>
            <a:srgbClr val="981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460570" y="4483328"/>
            <a:ext cx="1737995" cy="400685"/>
          </a:xfrm>
          <a:prstGeom prst="rect">
            <a:avLst/>
          </a:prstGeom>
          <a:solidFill>
            <a:srgbClr val="EEECE1"/>
          </a:solidFill>
        </p:spPr>
        <p:txBody>
          <a:bodyPr wrap="square" lIns="0" tIns="32384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54"/>
              </a:spcBef>
            </a:pP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ModelCenter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741739" y="4009618"/>
            <a:ext cx="1029335" cy="1732914"/>
          </a:xfrm>
          <a:custGeom>
            <a:avLst/>
            <a:gdLst/>
            <a:ahLst/>
            <a:cxnLst/>
            <a:rect l="l" t="t" r="r" b="b"/>
            <a:pathLst>
              <a:path w="1029335" h="1732914">
                <a:moveTo>
                  <a:pt x="883894" y="1703730"/>
                </a:moveTo>
                <a:lnTo>
                  <a:pt x="879411" y="1700771"/>
                </a:lnTo>
                <a:lnTo>
                  <a:pt x="812876" y="1656676"/>
                </a:lnTo>
                <a:lnTo>
                  <a:pt x="808824" y="1689773"/>
                </a:lnTo>
                <a:lnTo>
                  <a:pt x="1155" y="1591246"/>
                </a:lnTo>
                <a:lnTo>
                  <a:pt x="0" y="1600695"/>
                </a:lnTo>
                <a:lnTo>
                  <a:pt x="807681" y="1699234"/>
                </a:lnTo>
                <a:lnTo>
                  <a:pt x="803643" y="1732318"/>
                </a:lnTo>
                <a:lnTo>
                  <a:pt x="883894" y="1703730"/>
                </a:lnTo>
                <a:close/>
              </a:path>
              <a:path w="1029335" h="1732914">
                <a:moveTo>
                  <a:pt x="1029296" y="1310144"/>
                </a:moveTo>
                <a:lnTo>
                  <a:pt x="958037" y="75806"/>
                </a:lnTo>
                <a:lnTo>
                  <a:pt x="991323" y="73875"/>
                </a:lnTo>
                <a:lnTo>
                  <a:pt x="985139" y="63119"/>
                </a:lnTo>
                <a:lnTo>
                  <a:pt x="948905" y="0"/>
                </a:lnTo>
                <a:lnTo>
                  <a:pt x="915250" y="78270"/>
                </a:lnTo>
                <a:lnTo>
                  <a:pt x="948524" y="76352"/>
                </a:lnTo>
                <a:lnTo>
                  <a:pt x="1019797" y="1310690"/>
                </a:lnTo>
                <a:lnTo>
                  <a:pt x="1029296" y="1310144"/>
                </a:lnTo>
                <a:close/>
              </a:path>
            </a:pathLst>
          </a:custGeom>
          <a:solidFill>
            <a:srgbClr val="981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042998" y="4280027"/>
            <a:ext cx="1630680" cy="646430"/>
          </a:xfrm>
          <a:prstGeom prst="rect">
            <a:avLst/>
          </a:prstGeom>
          <a:solidFill>
            <a:srgbClr val="EEECE1"/>
          </a:solidFill>
        </p:spPr>
        <p:txBody>
          <a:bodyPr wrap="square" lIns="0" tIns="59055" rIns="0" bIns="0" rtlCol="0" vert="horz">
            <a:spAutoFit/>
          </a:bodyPr>
          <a:lstStyle/>
          <a:p>
            <a:pPr marL="90805" marR="172085">
              <a:lnSpc>
                <a:spcPts val="2110"/>
              </a:lnSpc>
              <a:spcBef>
                <a:spcPts val="465"/>
              </a:spcBef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CSV import  script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(in</a:t>
            </a:r>
            <a:r>
              <a:rPr dirty="0" sz="1800" spc="-8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MD)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93882" y="5402580"/>
            <a:ext cx="201612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User edit  manually or</a:t>
            </a:r>
            <a:r>
              <a:rPr dirty="0" sz="2000" spc="-1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using 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python</a:t>
            </a:r>
            <a:r>
              <a:rPr dirty="0" sz="2000" spc="-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script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15695" y="2953511"/>
            <a:ext cx="9484995" cy="1943100"/>
            <a:chOff x="615695" y="2953511"/>
            <a:chExt cx="9484995" cy="1943100"/>
          </a:xfrm>
        </p:grpSpPr>
        <p:sp>
          <p:nvSpPr>
            <p:cNvPr id="34" name="object 34"/>
            <p:cNvSpPr/>
            <p:nvPr/>
          </p:nvSpPr>
          <p:spPr>
            <a:xfrm>
              <a:off x="8774341" y="4448225"/>
              <a:ext cx="1326515" cy="448309"/>
            </a:xfrm>
            <a:custGeom>
              <a:avLst/>
              <a:gdLst/>
              <a:ahLst/>
              <a:cxnLst/>
              <a:rect l="l" t="t" r="r" b="b"/>
              <a:pathLst>
                <a:path w="1326515" h="448310">
                  <a:moveTo>
                    <a:pt x="60693" y="375424"/>
                  </a:moveTo>
                  <a:lnTo>
                    <a:pt x="0" y="435216"/>
                  </a:lnTo>
                  <a:lnTo>
                    <a:pt x="84251" y="447890"/>
                  </a:lnTo>
                  <a:lnTo>
                    <a:pt x="75218" y="420103"/>
                  </a:lnTo>
                  <a:lnTo>
                    <a:pt x="61861" y="420103"/>
                  </a:lnTo>
                  <a:lnTo>
                    <a:pt x="58915" y="411048"/>
                  </a:lnTo>
                  <a:lnTo>
                    <a:pt x="70997" y="407120"/>
                  </a:lnTo>
                  <a:lnTo>
                    <a:pt x="60693" y="375424"/>
                  </a:lnTo>
                  <a:close/>
                </a:path>
                <a:path w="1326515" h="448310">
                  <a:moveTo>
                    <a:pt x="70997" y="407120"/>
                  </a:moveTo>
                  <a:lnTo>
                    <a:pt x="58915" y="411048"/>
                  </a:lnTo>
                  <a:lnTo>
                    <a:pt x="61861" y="420103"/>
                  </a:lnTo>
                  <a:lnTo>
                    <a:pt x="73941" y="416176"/>
                  </a:lnTo>
                  <a:lnTo>
                    <a:pt x="70997" y="407120"/>
                  </a:lnTo>
                  <a:close/>
                </a:path>
                <a:path w="1326515" h="448310">
                  <a:moveTo>
                    <a:pt x="73941" y="416176"/>
                  </a:moveTo>
                  <a:lnTo>
                    <a:pt x="61861" y="420103"/>
                  </a:lnTo>
                  <a:lnTo>
                    <a:pt x="75218" y="420103"/>
                  </a:lnTo>
                  <a:lnTo>
                    <a:pt x="73941" y="416176"/>
                  </a:lnTo>
                  <a:close/>
                </a:path>
                <a:path w="1326515" h="448310">
                  <a:moveTo>
                    <a:pt x="1323263" y="0"/>
                  </a:moveTo>
                  <a:lnTo>
                    <a:pt x="70997" y="407120"/>
                  </a:lnTo>
                  <a:lnTo>
                    <a:pt x="73941" y="416176"/>
                  </a:lnTo>
                  <a:lnTo>
                    <a:pt x="1326210" y="9055"/>
                  </a:lnTo>
                  <a:lnTo>
                    <a:pt x="1323263" y="0"/>
                  </a:lnTo>
                  <a:close/>
                </a:path>
              </a:pathLst>
            </a:custGeom>
            <a:solidFill>
              <a:srgbClr val="9817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15695" y="2953511"/>
              <a:ext cx="1764792" cy="6492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697097" y="2986532"/>
            <a:ext cx="1574800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Current 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im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ti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50700" y="6423604"/>
            <a:ext cx="2200910" cy="252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10">
                <a:solidFill>
                  <a:srgbClr val="939293"/>
                </a:solidFill>
                <a:latin typeface="Arial"/>
                <a:cs typeface="Arial"/>
                <a:hlinkClick r:id="rId4"/>
              </a:rPr>
              <a:t>www.incose.org/iw2021/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1870"/>
              </a:lnSpc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4814" y="5448300"/>
            <a:ext cx="937260" cy="67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14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ghtn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71" y="486157"/>
            <a:ext cx="799020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Trade </a:t>
            </a:r>
            <a:r>
              <a:rPr dirty="0" spc="-5"/>
              <a:t>Studies with</a:t>
            </a:r>
            <a:r>
              <a:rPr dirty="0" spc="35"/>
              <a:t> </a:t>
            </a:r>
            <a:r>
              <a:rPr dirty="0" spc="-5"/>
              <a:t>ModelCenter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6496" y="1403603"/>
            <a:ext cx="8258809" cy="363156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0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All generic analyses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(mass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and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cost) are located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in </a:t>
            </a:r>
            <a:r>
              <a:rPr dirty="0" sz="2000" i="1">
                <a:solidFill>
                  <a:srgbClr val="414042"/>
                </a:solidFill>
                <a:latin typeface="Arial"/>
                <a:cs typeface="Arial"/>
              </a:rPr>
              <a:t>Analysis</a:t>
            </a:r>
            <a:r>
              <a:rPr dirty="0" sz="2000" spc="-75" i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package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Within the </a:t>
            </a:r>
            <a:r>
              <a:rPr dirty="0" sz="2000" i="1">
                <a:solidFill>
                  <a:srgbClr val="414042"/>
                </a:solidFill>
                <a:latin typeface="Arial"/>
                <a:cs typeface="Arial"/>
              </a:rPr>
              <a:t>Analysis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package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there are options for</a:t>
            </a:r>
            <a:r>
              <a:rPr dirty="0" sz="2000" spc="-5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analysis,</a:t>
            </a:r>
            <a:endParaRPr sz="2000">
              <a:latin typeface="Arial"/>
              <a:cs typeface="Arial"/>
            </a:endParaRPr>
          </a:p>
          <a:p>
            <a:pPr lvl="1" marL="1003300" indent="-381000">
              <a:lnSpc>
                <a:spcPct val="100000"/>
              </a:lnSpc>
              <a:spcBef>
                <a:spcPts val="490"/>
              </a:spcBef>
              <a:buFont typeface="Arial"/>
              <a:buChar char="–"/>
              <a:tabLst>
                <a:tab pos="1002665" algn="l"/>
                <a:tab pos="1003300" algn="l"/>
              </a:tabLst>
            </a:pPr>
            <a:r>
              <a:rPr dirty="0" sz="1800" spc="-5" i="1">
                <a:solidFill>
                  <a:srgbClr val="414042"/>
                </a:solidFill>
                <a:latin typeface="Arial"/>
                <a:cs typeface="Arial"/>
              </a:rPr>
              <a:t>Analysis patterns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–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e.g. mass roll-up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definition</a:t>
            </a:r>
            <a:endParaRPr sz="1800">
              <a:latin typeface="Arial"/>
              <a:cs typeface="Arial"/>
            </a:endParaRPr>
          </a:p>
          <a:p>
            <a:pPr lvl="1" marL="1003300" indent="-381000">
              <a:lnSpc>
                <a:spcPct val="100000"/>
              </a:lnSpc>
              <a:spcBef>
                <a:spcPts val="455"/>
              </a:spcBef>
              <a:buFont typeface="Arial"/>
              <a:buChar char="–"/>
              <a:tabLst>
                <a:tab pos="1002665" algn="l"/>
                <a:tab pos="1003300" algn="l"/>
              </a:tabLst>
            </a:pPr>
            <a:r>
              <a:rPr dirty="0" sz="1800" spc="-5" i="1">
                <a:solidFill>
                  <a:srgbClr val="414042"/>
                </a:solidFill>
                <a:latin typeface="Arial"/>
                <a:cs typeface="Arial"/>
              </a:rPr>
              <a:t>Constraints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–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constraint blocks created through MBSEAnalyzer</a:t>
            </a:r>
            <a:endParaRPr sz="1800">
              <a:latin typeface="Arial"/>
              <a:cs typeface="Arial"/>
            </a:endParaRPr>
          </a:p>
          <a:p>
            <a:pPr lvl="1" marL="1003300" indent="-381000">
              <a:lnSpc>
                <a:spcPct val="100000"/>
              </a:lnSpc>
              <a:spcBef>
                <a:spcPts val="335"/>
              </a:spcBef>
              <a:buFont typeface="Arial"/>
              <a:buChar char="–"/>
              <a:tabLst>
                <a:tab pos="1002665" algn="l"/>
                <a:tab pos="1003300" algn="l"/>
              </a:tabLst>
            </a:pPr>
            <a:r>
              <a:rPr dirty="0" sz="1800" spc="-5" i="1">
                <a:solidFill>
                  <a:srgbClr val="414042"/>
                </a:solidFill>
                <a:latin typeface="Arial"/>
                <a:cs typeface="Arial"/>
              </a:rPr>
              <a:t>Mass roll-up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–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mass analysis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context</a:t>
            </a:r>
            <a:endParaRPr sz="1800">
              <a:latin typeface="Arial"/>
              <a:cs typeface="Arial"/>
            </a:endParaRPr>
          </a:p>
          <a:p>
            <a:pPr lvl="1" marL="1002665" marR="773430" indent="-381000">
              <a:lnSpc>
                <a:spcPct val="102200"/>
              </a:lnSpc>
              <a:spcBef>
                <a:spcPts val="385"/>
              </a:spcBef>
              <a:buFont typeface="Arial"/>
              <a:buChar char="–"/>
              <a:tabLst>
                <a:tab pos="1002665" algn="l"/>
                <a:tab pos="1003300" algn="l"/>
              </a:tabLst>
            </a:pPr>
            <a:r>
              <a:rPr dirty="0" sz="1800" spc="-5" i="1">
                <a:solidFill>
                  <a:srgbClr val="414042"/>
                </a:solidFill>
                <a:latin typeface="Arial"/>
                <a:cs typeface="Arial"/>
              </a:rPr>
              <a:t>SSCM14 analysis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–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cost analysis context based on 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Aerospace’s </a:t>
            </a:r>
            <a:r>
              <a:rPr dirty="0" u="sng" sz="1800" spc="-10">
                <a:solidFill>
                  <a:srgbClr val="414042"/>
                </a:solidFill>
                <a:uFill>
                  <a:solidFill>
                    <a:srgbClr val="414042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5">
                <a:solidFill>
                  <a:srgbClr val="414042"/>
                </a:solidFill>
                <a:uFill>
                  <a:solidFill>
                    <a:srgbClr val="414042"/>
                  </a:solidFill>
                </a:uFill>
                <a:latin typeface="Arial"/>
                <a:cs typeface="Arial"/>
              </a:rPr>
              <a:t>S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mall</a:t>
            </a:r>
            <a:r>
              <a:rPr dirty="0" u="sng" sz="1800" spc="-5">
                <a:solidFill>
                  <a:srgbClr val="414042"/>
                </a:solidFill>
                <a:uFill>
                  <a:solidFill>
                    <a:srgbClr val="414042"/>
                  </a:solidFill>
                </a:uFill>
                <a:latin typeface="Arial"/>
                <a:cs typeface="Arial"/>
              </a:rPr>
              <a:t>S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at </a:t>
            </a:r>
            <a:r>
              <a:rPr dirty="0" u="sng" sz="1800" spc="-5">
                <a:solidFill>
                  <a:srgbClr val="414042"/>
                </a:solidFill>
                <a:uFill>
                  <a:solidFill>
                    <a:srgbClr val="414042"/>
                  </a:solidFill>
                </a:u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ost </a:t>
            </a:r>
            <a:r>
              <a:rPr dirty="0" u="sng" sz="1800" spc="-5">
                <a:solidFill>
                  <a:srgbClr val="414042"/>
                </a:solidFill>
                <a:uFill>
                  <a:solidFill>
                    <a:srgbClr val="414042"/>
                  </a:solidFill>
                </a:uFill>
                <a:latin typeface="Arial"/>
                <a:cs typeface="Arial"/>
              </a:rPr>
              <a:t>M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odel 20</a:t>
            </a:r>
            <a:r>
              <a:rPr dirty="0" u="sng" sz="1800" spc="-5">
                <a:solidFill>
                  <a:srgbClr val="414042"/>
                </a:solidFill>
                <a:uFill>
                  <a:solidFill>
                    <a:srgbClr val="414042"/>
                  </a:solidFill>
                </a:uFill>
                <a:latin typeface="Arial"/>
                <a:cs typeface="Arial"/>
              </a:rPr>
              <a:t>14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 (SSCM14)</a:t>
            </a:r>
            <a:endParaRPr sz="1800">
              <a:latin typeface="Arial"/>
              <a:cs typeface="Arial"/>
            </a:endParaRPr>
          </a:p>
          <a:p>
            <a:pPr lvl="1" marL="1002665" marR="553720" indent="-381000">
              <a:lnSpc>
                <a:spcPct val="102200"/>
              </a:lnSpc>
              <a:spcBef>
                <a:spcPts val="385"/>
              </a:spcBef>
              <a:buFont typeface="Arial"/>
              <a:buChar char="–"/>
              <a:tabLst>
                <a:tab pos="1002665" algn="l"/>
                <a:tab pos="1003300" algn="l"/>
              </a:tabLst>
            </a:pPr>
            <a:r>
              <a:rPr dirty="0" sz="1800" spc="-5" i="1">
                <a:solidFill>
                  <a:srgbClr val="414042"/>
                </a:solidFill>
                <a:latin typeface="Arial"/>
                <a:cs typeface="Arial"/>
              </a:rPr>
              <a:t>Multi_Objective_Function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–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combined mass and cost performance  metrics into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composite equally weighted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score.</a:t>
            </a:r>
            <a:endParaRPr sz="1800">
              <a:latin typeface="Arial"/>
              <a:cs typeface="Arial"/>
            </a:endParaRPr>
          </a:p>
          <a:p>
            <a:pPr marL="469900" marR="458470" indent="-457200">
              <a:lnSpc>
                <a:spcPct val="100000"/>
              </a:lnSpc>
              <a:spcBef>
                <a:spcPts val="42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All analysis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results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will be saved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(from MBSEAnalyzer)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as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block’s  instances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in </a:t>
            </a:r>
            <a:r>
              <a:rPr dirty="0" sz="2000" spc="-35" i="1">
                <a:solidFill>
                  <a:srgbClr val="414042"/>
                </a:solidFill>
                <a:latin typeface="Arial"/>
                <a:cs typeface="Arial"/>
              </a:rPr>
              <a:t>Trade </a:t>
            </a:r>
            <a:r>
              <a:rPr dirty="0" sz="2000" spc="-5" i="1">
                <a:solidFill>
                  <a:srgbClr val="414042"/>
                </a:solidFill>
                <a:latin typeface="Arial"/>
                <a:cs typeface="Arial"/>
              </a:rPr>
              <a:t>Studies</a:t>
            </a:r>
            <a:r>
              <a:rPr dirty="0" sz="2000" i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package.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170" y="6404355"/>
            <a:ext cx="25082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939293"/>
                </a:solidFill>
                <a:latin typeface="Arial"/>
                <a:cs typeface="Arial"/>
              </a:rPr>
              <a:t>12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067774" y="8966"/>
            <a:ext cx="3128010" cy="4493260"/>
            <a:chOff x="9067774" y="8966"/>
            <a:chExt cx="3128010" cy="4493260"/>
          </a:xfrm>
        </p:grpSpPr>
        <p:sp>
          <p:nvSpPr>
            <p:cNvPr id="7" name="object 7"/>
            <p:cNvSpPr/>
            <p:nvPr/>
          </p:nvSpPr>
          <p:spPr>
            <a:xfrm>
              <a:off x="9067774" y="8966"/>
              <a:ext cx="3127400" cy="44927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176435" y="2170099"/>
              <a:ext cx="2110105" cy="966469"/>
            </a:xfrm>
            <a:custGeom>
              <a:avLst/>
              <a:gdLst/>
              <a:ahLst/>
              <a:cxnLst/>
              <a:rect l="l" t="t" r="r" b="b"/>
              <a:pathLst>
                <a:path w="2110104" h="966469">
                  <a:moveTo>
                    <a:pt x="0" y="483127"/>
                  </a:moveTo>
                  <a:lnTo>
                    <a:pt x="7626" y="424732"/>
                  </a:lnTo>
                  <a:lnTo>
                    <a:pt x="29917" y="368404"/>
                  </a:lnTo>
                  <a:lnTo>
                    <a:pt x="65991" y="314548"/>
                  </a:lnTo>
                  <a:lnTo>
                    <a:pt x="114963" y="263568"/>
                  </a:lnTo>
                  <a:lnTo>
                    <a:pt x="175952" y="215869"/>
                  </a:lnTo>
                  <a:lnTo>
                    <a:pt x="210677" y="193375"/>
                  </a:lnTo>
                  <a:lnTo>
                    <a:pt x="248076" y="171854"/>
                  </a:lnTo>
                  <a:lnTo>
                    <a:pt x="288037" y="151355"/>
                  </a:lnTo>
                  <a:lnTo>
                    <a:pt x="330450" y="131928"/>
                  </a:lnTo>
                  <a:lnTo>
                    <a:pt x="375206" y="113625"/>
                  </a:lnTo>
                  <a:lnTo>
                    <a:pt x="422193" y="96496"/>
                  </a:lnTo>
                  <a:lnTo>
                    <a:pt x="471302" y="80591"/>
                  </a:lnTo>
                  <a:lnTo>
                    <a:pt x="522422" y="65960"/>
                  </a:lnTo>
                  <a:lnTo>
                    <a:pt x="575443" y="52656"/>
                  </a:lnTo>
                  <a:lnTo>
                    <a:pt x="630255" y="40727"/>
                  </a:lnTo>
                  <a:lnTo>
                    <a:pt x="686746" y="30225"/>
                  </a:lnTo>
                  <a:lnTo>
                    <a:pt x="744808" y="21200"/>
                  </a:lnTo>
                  <a:lnTo>
                    <a:pt x="804329" y="13703"/>
                  </a:lnTo>
                  <a:lnTo>
                    <a:pt x="865199" y="7783"/>
                  </a:lnTo>
                  <a:lnTo>
                    <a:pt x="927307" y="3493"/>
                  </a:lnTo>
                  <a:lnTo>
                    <a:pt x="990545" y="881"/>
                  </a:lnTo>
                  <a:lnTo>
                    <a:pt x="1054800" y="0"/>
                  </a:lnTo>
                  <a:lnTo>
                    <a:pt x="1119056" y="881"/>
                  </a:lnTo>
                  <a:lnTo>
                    <a:pt x="1182293" y="3493"/>
                  </a:lnTo>
                  <a:lnTo>
                    <a:pt x="1244402" y="7783"/>
                  </a:lnTo>
                  <a:lnTo>
                    <a:pt x="1305272" y="13703"/>
                  </a:lnTo>
                  <a:lnTo>
                    <a:pt x="1364793" y="21200"/>
                  </a:lnTo>
                  <a:lnTo>
                    <a:pt x="1422854" y="30225"/>
                  </a:lnTo>
                  <a:lnTo>
                    <a:pt x="1479346" y="40727"/>
                  </a:lnTo>
                  <a:lnTo>
                    <a:pt x="1534157" y="52656"/>
                  </a:lnTo>
                  <a:lnTo>
                    <a:pt x="1587178" y="65960"/>
                  </a:lnTo>
                  <a:lnTo>
                    <a:pt x="1638298" y="80591"/>
                  </a:lnTo>
                  <a:lnTo>
                    <a:pt x="1687407" y="96496"/>
                  </a:lnTo>
                  <a:lnTo>
                    <a:pt x="1734395" y="113625"/>
                  </a:lnTo>
                  <a:lnTo>
                    <a:pt x="1779150" y="131928"/>
                  </a:lnTo>
                  <a:lnTo>
                    <a:pt x="1821564" y="151355"/>
                  </a:lnTo>
                  <a:lnTo>
                    <a:pt x="1861525" y="171854"/>
                  </a:lnTo>
                  <a:lnTo>
                    <a:pt x="1898923" y="193375"/>
                  </a:lnTo>
                  <a:lnTo>
                    <a:pt x="1933648" y="215869"/>
                  </a:lnTo>
                  <a:lnTo>
                    <a:pt x="1965590" y="239283"/>
                  </a:lnTo>
                  <a:lnTo>
                    <a:pt x="2020681" y="288673"/>
                  </a:lnTo>
                  <a:lnTo>
                    <a:pt x="2063314" y="341142"/>
                  </a:lnTo>
                  <a:lnTo>
                    <a:pt x="2092606" y="396284"/>
                  </a:lnTo>
                  <a:lnTo>
                    <a:pt x="2107676" y="453696"/>
                  </a:lnTo>
                  <a:lnTo>
                    <a:pt x="2109601" y="483127"/>
                  </a:lnTo>
                  <a:lnTo>
                    <a:pt x="2107676" y="512558"/>
                  </a:lnTo>
                  <a:lnTo>
                    <a:pt x="2092606" y="569970"/>
                  </a:lnTo>
                  <a:lnTo>
                    <a:pt x="2063314" y="625112"/>
                  </a:lnTo>
                  <a:lnTo>
                    <a:pt x="2020681" y="677581"/>
                  </a:lnTo>
                  <a:lnTo>
                    <a:pt x="1965590" y="726971"/>
                  </a:lnTo>
                  <a:lnTo>
                    <a:pt x="1933648" y="750385"/>
                  </a:lnTo>
                  <a:lnTo>
                    <a:pt x="1898923" y="772878"/>
                  </a:lnTo>
                  <a:lnTo>
                    <a:pt x="1861525" y="794400"/>
                  </a:lnTo>
                  <a:lnTo>
                    <a:pt x="1821564" y="814899"/>
                  </a:lnTo>
                  <a:lnTo>
                    <a:pt x="1779150" y="834326"/>
                  </a:lnTo>
                  <a:lnTo>
                    <a:pt x="1734395" y="852629"/>
                  </a:lnTo>
                  <a:lnTo>
                    <a:pt x="1687407" y="869759"/>
                  </a:lnTo>
                  <a:lnTo>
                    <a:pt x="1638298" y="885664"/>
                  </a:lnTo>
                  <a:lnTo>
                    <a:pt x="1587178" y="900294"/>
                  </a:lnTo>
                  <a:lnTo>
                    <a:pt x="1534157" y="913598"/>
                  </a:lnTo>
                  <a:lnTo>
                    <a:pt x="1479346" y="925527"/>
                  </a:lnTo>
                  <a:lnTo>
                    <a:pt x="1422854" y="936029"/>
                  </a:lnTo>
                  <a:lnTo>
                    <a:pt x="1364793" y="945054"/>
                  </a:lnTo>
                  <a:lnTo>
                    <a:pt x="1305272" y="952552"/>
                  </a:lnTo>
                  <a:lnTo>
                    <a:pt x="1244402" y="958471"/>
                  </a:lnTo>
                  <a:lnTo>
                    <a:pt x="1182293" y="962762"/>
                  </a:lnTo>
                  <a:lnTo>
                    <a:pt x="1119056" y="965373"/>
                  </a:lnTo>
                  <a:lnTo>
                    <a:pt x="1054800" y="966255"/>
                  </a:lnTo>
                  <a:lnTo>
                    <a:pt x="990545" y="965373"/>
                  </a:lnTo>
                  <a:lnTo>
                    <a:pt x="927307" y="962762"/>
                  </a:lnTo>
                  <a:lnTo>
                    <a:pt x="865199" y="958471"/>
                  </a:lnTo>
                  <a:lnTo>
                    <a:pt x="804329" y="952552"/>
                  </a:lnTo>
                  <a:lnTo>
                    <a:pt x="744808" y="945054"/>
                  </a:lnTo>
                  <a:lnTo>
                    <a:pt x="686746" y="936029"/>
                  </a:lnTo>
                  <a:lnTo>
                    <a:pt x="630255" y="925527"/>
                  </a:lnTo>
                  <a:lnTo>
                    <a:pt x="575443" y="913598"/>
                  </a:lnTo>
                  <a:lnTo>
                    <a:pt x="522422" y="900294"/>
                  </a:lnTo>
                  <a:lnTo>
                    <a:pt x="471302" y="885664"/>
                  </a:lnTo>
                  <a:lnTo>
                    <a:pt x="422193" y="869759"/>
                  </a:lnTo>
                  <a:lnTo>
                    <a:pt x="375206" y="852629"/>
                  </a:lnTo>
                  <a:lnTo>
                    <a:pt x="330450" y="834326"/>
                  </a:lnTo>
                  <a:lnTo>
                    <a:pt x="288037" y="814899"/>
                  </a:lnTo>
                  <a:lnTo>
                    <a:pt x="248076" y="794400"/>
                  </a:lnTo>
                  <a:lnTo>
                    <a:pt x="210677" y="772878"/>
                  </a:lnTo>
                  <a:lnTo>
                    <a:pt x="175952" y="750385"/>
                  </a:lnTo>
                  <a:lnTo>
                    <a:pt x="144011" y="726971"/>
                  </a:lnTo>
                  <a:lnTo>
                    <a:pt x="88920" y="677581"/>
                  </a:lnTo>
                  <a:lnTo>
                    <a:pt x="46286" y="625112"/>
                  </a:lnTo>
                  <a:lnTo>
                    <a:pt x="16994" y="569970"/>
                  </a:lnTo>
                  <a:lnTo>
                    <a:pt x="1925" y="512558"/>
                  </a:lnTo>
                  <a:lnTo>
                    <a:pt x="0" y="483127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497898" y="3913708"/>
              <a:ext cx="1045210" cy="210820"/>
            </a:xfrm>
            <a:custGeom>
              <a:avLst/>
              <a:gdLst/>
              <a:ahLst/>
              <a:cxnLst/>
              <a:rect l="l" t="t" r="r" b="b"/>
              <a:pathLst>
                <a:path w="1045209" h="210820">
                  <a:moveTo>
                    <a:pt x="0" y="105344"/>
                  </a:moveTo>
                  <a:lnTo>
                    <a:pt x="41051" y="64339"/>
                  </a:lnTo>
                  <a:lnTo>
                    <a:pt x="108844" y="40971"/>
                  </a:lnTo>
                  <a:lnTo>
                    <a:pt x="153001" y="30854"/>
                  </a:lnTo>
                  <a:lnTo>
                    <a:pt x="203168" y="21949"/>
                  </a:lnTo>
                  <a:lnTo>
                    <a:pt x="258724" y="14382"/>
                  </a:lnTo>
                  <a:lnTo>
                    <a:pt x="319045" y="8278"/>
                  </a:lnTo>
                  <a:lnTo>
                    <a:pt x="383509" y="3762"/>
                  </a:lnTo>
                  <a:lnTo>
                    <a:pt x="451494" y="961"/>
                  </a:lnTo>
                  <a:lnTo>
                    <a:pt x="522378" y="0"/>
                  </a:lnTo>
                  <a:lnTo>
                    <a:pt x="593261" y="961"/>
                  </a:lnTo>
                  <a:lnTo>
                    <a:pt x="661247" y="3762"/>
                  </a:lnTo>
                  <a:lnTo>
                    <a:pt x="725711" y="8278"/>
                  </a:lnTo>
                  <a:lnTo>
                    <a:pt x="786033" y="14382"/>
                  </a:lnTo>
                  <a:lnTo>
                    <a:pt x="841589" y="21949"/>
                  </a:lnTo>
                  <a:lnTo>
                    <a:pt x="891757" y="30854"/>
                  </a:lnTo>
                  <a:lnTo>
                    <a:pt x="935914" y="40971"/>
                  </a:lnTo>
                  <a:lnTo>
                    <a:pt x="973439" y="52174"/>
                  </a:lnTo>
                  <a:lnTo>
                    <a:pt x="1026100" y="77339"/>
                  </a:lnTo>
                  <a:lnTo>
                    <a:pt x="1044760" y="105344"/>
                  </a:lnTo>
                  <a:lnTo>
                    <a:pt x="1039991" y="119638"/>
                  </a:lnTo>
                  <a:lnTo>
                    <a:pt x="1003708" y="146348"/>
                  </a:lnTo>
                  <a:lnTo>
                    <a:pt x="935914" y="169716"/>
                  </a:lnTo>
                  <a:lnTo>
                    <a:pt x="891757" y="179833"/>
                  </a:lnTo>
                  <a:lnTo>
                    <a:pt x="841589" y="188738"/>
                  </a:lnTo>
                  <a:lnTo>
                    <a:pt x="786033" y="196305"/>
                  </a:lnTo>
                  <a:lnTo>
                    <a:pt x="725711" y="202409"/>
                  </a:lnTo>
                  <a:lnTo>
                    <a:pt x="661247" y="206925"/>
                  </a:lnTo>
                  <a:lnTo>
                    <a:pt x="593261" y="209726"/>
                  </a:lnTo>
                  <a:lnTo>
                    <a:pt x="522378" y="210688"/>
                  </a:lnTo>
                  <a:lnTo>
                    <a:pt x="451494" y="209726"/>
                  </a:lnTo>
                  <a:lnTo>
                    <a:pt x="383509" y="206925"/>
                  </a:lnTo>
                  <a:lnTo>
                    <a:pt x="319045" y="202409"/>
                  </a:lnTo>
                  <a:lnTo>
                    <a:pt x="258724" y="196305"/>
                  </a:lnTo>
                  <a:lnTo>
                    <a:pt x="203168" y="188738"/>
                  </a:lnTo>
                  <a:lnTo>
                    <a:pt x="153001" y="179833"/>
                  </a:lnTo>
                  <a:lnTo>
                    <a:pt x="108844" y="169716"/>
                  </a:lnTo>
                  <a:lnTo>
                    <a:pt x="71320" y="158513"/>
                  </a:lnTo>
                  <a:lnTo>
                    <a:pt x="18659" y="133348"/>
                  </a:lnTo>
                  <a:lnTo>
                    <a:pt x="0" y="105344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987487" y="4711484"/>
            <a:ext cx="7983855" cy="2146935"/>
            <a:chOff x="987487" y="4711484"/>
            <a:chExt cx="7983855" cy="2146935"/>
          </a:xfrm>
        </p:grpSpPr>
        <p:sp>
          <p:nvSpPr>
            <p:cNvPr id="11" name="object 11"/>
            <p:cNvSpPr/>
            <p:nvPr/>
          </p:nvSpPr>
          <p:spPr>
            <a:xfrm>
              <a:off x="987487" y="5075099"/>
              <a:ext cx="3127400" cy="164637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536850" y="6168175"/>
              <a:ext cx="903605" cy="133350"/>
            </a:xfrm>
            <a:custGeom>
              <a:avLst/>
              <a:gdLst/>
              <a:ahLst/>
              <a:cxnLst/>
              <a:rect l="l" t="t" r="r" b="b"/>
              <a:pathLst>
                <a:path w="903604" h="133350">
                  <a:moveTo>
                    <a:pt x="0" y="66394"/>
                  </a:moveTo>
                  <a:lnTo>
                    <a:pt x="50398" y="35882"/>
                  </a:lnTo>
                  <a:lnTo>
                    <a:pt x="132249" y="19446"/>
                  </a:lnTo>
                  <a:lnTo>
                    <a:pt x="184860" y="12810"/>
                  </a:lnTo>
                  <a:lnTo>
                    <a:pt x="244024" y="7410"/>
                  </a:lnTo>
                  <a:lnTo>
                    <a:pt x="308809" y="3384"/>
                  </a:lnTo>
                  <a:lnTo>
                    <a:pt x="378287" y="868"/>
                  </a:lnTo>
                  <a:lnTo>
                    <a:pt x="451527" y="0"/>
                  </a:lnTo>
                  <a:lnTo>
                    <a:pt x="524767" y="868"/>
                  </a:lnTo>
                  <a:lnTo>
                    <a:pt x="594244" y="3384"/>
                  </a:lnTo>
                  <a:lnTo>
                    <a:pt x="659029" y="7410"/>
                  </a:lnTo>
                  <a:lnTo>
                    <a:pt x="718192" y="12810"/>
                  </a:lnTo>
                  <a:lnTo>
                    <a:pt x="770804" y="19446"/>
                  </a:lnTo>
                  <a:lnTo>
                    <a:pt x="815935" y="27182"/>
                  </a:lnTo>
                  <a:lnTo>
                    <a:pt x="880034" y="45408"/>
                  </a:lnTo>
                  <a:lnTo>
                    <a:pt x="903053" y="66394"/>
                  </a:lnTo>
                  <a:lnTo>
                    <a:pt x="897143" y="77163"/>
                  </a:lnTo>
                  <a:lnTo>
                    <a:pt x="852654" y="96905"/>
                  </a:lnTo>
                  <a:lnTo>
                    <a:pt x="770804" y="113341"/>
                  </a:lnTo>
                  <a:lnTo>
                    <a:pt x="718192" y="119977"/>
                  </a:lnTo>
                  <a:lnTo>
                    <a:pt x="659029" y="125377"/>
                  </a:lnTo>
                  <a:lnTo>
                    <a:pt x="594244" y="129403"/>
                  </a:lnTo>
                  <a:lnTo>
                    <a:pt x="524767" y="131919"/>
                  </a:lnTo>
                  <a:lnTo>
                    <a:pt x="451527" y="132788"/>
                  </a:lnTo>
                  <a:lnTo>
                    <a:pt x="378287" y="131919"/>
                  </a:lnTo>
                  <a:lnTo>
                    <a:pt x="308809" y="129403"/>
                  </a:lnTo>
                  <a:lnTo>
                    <a:pt x="244024" y="125377"/>
                  </a:lnTo>
                  <a:lnTo>
                    <a:pt x="184860" y="119977"/>
                  </a:lnTo>
                  <a:lnTo>
                    <a:pt x="132249" y="113341"/>
                  </a:lnTo>
                  <a:lnTo>
                    <a:pt x="87118" y="105605"/>
                  </a:lnTo>
                  <a:lnTo>
                    <a:pt x="23019" y="87379"/>
                  </a:lnTo>
                  <a:lnTo>
                    <a:pt x="0" y="66394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176409" y="6103045"/>
              <a:ext cx="2094864" cy="219710"/>
            </a:xfrm>
            <a:custGeom>
              <a:avLst/>
              <a:gdLst/>
              <a:ahLst/>
              <a:cxnLst/>
              <a:rect l="l" t="t" r="r" b="b"/>
              <a:pathLst>
                <a:path w="2094864" h="219710">
                  <a:moveTo>
                    <a:pt x="1984692" y="0"/>
                  </a:moveTo>
                  <a:lnTo>
                    <a:pt x="1984692" y="54847"/>
                  </a:lnTo>
                  <a:lnTo>
                    <a:pt x="0" y="54847"/>
                  </a:lnTo>
                  <a:lnTo>
                    <a:pt x="0" y="164542"/>
                  </a:lnTo>
                  <a:lnTo>
                    <a:pt x="1984692" y="164542"/>
                  </a:lnTo>
                  <a:lnTo>
                    <a:pt x="1984692" y="219389"/>
                  </a:lnTo>
                  <a:lnTo>
                    <a:pt x="2094395" y="109694"/>
                  </a:lnTo>
                  <a:lnTo>
                    <a:pt x="198469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176409" y="6103045"/>
              <a:ext cx="2094864" cy="219710"/>
            </a:xfrm>
            <a:custGeom>
              <a:avLst/>
              <a:gdLst/>
              <a:ahLst/>
              <a:cxnLst/>
              <a:rect l="l" t="t" r="r" b="b"/>
              <a:pathLst>
                <a:path w="2094864" h="219710">
                  <a:moveTo>
                    <a:pt x="0" y="54847"/>
                  </a:moveTo>
                  <a:lnTo>
                    <a:pt x="1984701" y="54847"/>
                  </a:lnTo>
                  <a:lnTo>
                    <a:pt x="1984701" y="0"/>
                  </a:lnTo>
                  <a:lnTo>
                    <a:pt x="2094391" y="109695"/>
                  </a:lnTo>
                  <a:lnTo>
                    <a:pt x="1984701" y="219390"/>
                  </a:lnTo>
                  <a:lnTo>
                    <a:pt x="1984701" y="164542"/>
                  </a:lnTo>
                  <a:lnTo>
                    <a:pt x="0" y="164542"/>
                  </a:lnTo>
                  <a:lnTo>
                    <a:pt x="0" y="54847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270804" y="4711484"/>
              <a:ext cx="3700195" cy="21465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968707" y="5476925"/>
              <a:ext cx="495934" cy="720090"/>
            </a:xfrm>
            <a:custGeom>
              <a:avLst/>
              <a:gdLst/>
              <a:ahLst/>
              <a:cxnLst/>
              <a:rect l="l" t="t" r="r" b="b"/>
              <a:pathLst>
                <a:path w="495935" h="720089">
                  <a:moveTo>
                    <a:pt x="0" y="360008"/>
                  </a:moveTo>
                  <a:lnTo>
                    <a:pt x="3241" y="301612"/>
                  </a:lnTo>
                  <a:lnTo>
                    <a:pt x="12627" y="246217"/>
                  </a:lnTo>
                  <a:lnTo>
                    <a:pt x="27646" y="194563"/>
                  </a:lnTo>
                  <a:lnTo>
                    <a:pt x="47789" y="147392"/>
                  </a:lnTo>
                  <a:lnTo>
                    <a:pt x="72546" y="105443"/>
                  </a:lnTo>
                  <a:lnTo>
                    <a:pt x="101407" y="69460"/>
                  </a:lnTo>
                  <a:lnTo>
                    <a:pt x="133861" y="40183"/>
                  </a:lnTo>
                  <a:lnTo>
                    <a:pt x="169400" y="18353"/>
                  </a:lnTo>
                  <a:lnTo>
                    <a:pt x="207512" y="4711"/>
                  </a:lnTo>
                  <a:lnTo>
                    <a:pt x="247689" y="0"/>
                  </a:lnTo>
                  <a:lnTo>
                    <a:pt x="287865" y="4711"/>
                  </a:lnTo>
                  <a:lnTo>
                    <a:pt x="325978" y="18353"/>
                  </a:lnTo>
                  <a:lnTo>
                    <a:pt x="361517" y="40183"/>
                  </a:lnTo>
                  <a:lnTo>
                    <a:pt x="393971" y="69460"/>
                  </a:lnTo>
                  <a:lnTo>
                    <a:pt x="422832" y="105443"/>
                  </a:lnTo>
                  <a:lnTo>
                    <a:pt x="447589" y="147392"/>
                  </a:lnTo>
                  <a:lnTo>
                    <a:pt x="467732" y="194563"/>
                  </a:lnTo>
                  <a:lnTo>
                    <a:pt x="482751" y="246217"/>
                  </a:lnTo>
                  <a:lnTo>
                    <a:pt x="492137" y="301612"/>
                  </a:lnTo>
                  <a:lnTo>
                    <a:pt x="495379" y="360008"/>
                  </a:lnTo>
                  <a:lnTo>
                    <a:pt x="492137" y="418403"/>
                  </a:lnTo>
                  <a:lnTo>
                    <a:pt x="482751" y="473798"/>
                  </a:lnTo>
                  <a:lnTo>
                    <a:pt x="467732" y="525452"/>
                  </a:lnTo>
                  <a:lnTo>
                    <a:pt x="447589" y="572624"/>
                  </a:lnTo>
                  <a:lnTo>
                    <a:pt x="422832" y="614572"/>
                  </a:lnTo>
                  <a:lnTo>
                    <a:pt x="393971" y="650555"/>
                  </a:lnTo>
                  <a:lnTo>
                    <a:pt x="361517" y="679832"/>
                  </a:lnTo>
                  <a:lnTo>
                    <a:pt x="325978" y="701662"/>
                  </a:lnTo>
                  <a:lnTo>
                    <a:pt x="287865" y="715304"/>
                  </a:lnTo>
                  <a:lnTo>
                    <a:pt x="247689" y="720016"/>
                  </a:lnTo>
                  <a:lnTo>
                    <a:pt x="207512" y="715304"/>
                  </a:lnTo>
                  <a:lnTo>
                    <a:pt x="169400" y="701662"/>
                  </a:lnTo>
                  <a:lnTo>
                    <a:pt x="133861" y="679832"/>
                  </a:lnTo>
                  <a:lnTo>
                    <a:pt x="101407" y="650555"/>
                  </a:lnTo>
                  <a:lnTo>
                    <a:pt x="72546" y="614572"/>
                  </a:lnTo>
                  <a:lnTo>
                    <a:pt x="47789" y="572624"/>
                  </a:lnTo>
                  <a:lnTo>
                    <a:pt x="27646" y="525452"/>
                  </a:lnTo>
                  <a:lnTo>
                    <a:pt x="12627" y="473798"/>
                  </a:lnTo>
                  <a:lnTo>
                    <a:pt x="3241" y="418403"/>
                  </a:lnTo>
                  <a:lnTo>
                    <a:pt x="0" y="360008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247572" y="4806899"/>
              <a:ext cx="495934" cy="207645"/>
            </a:xfrm>
            <a:custGeom>
              <a:avLst/>
              <a:gdLst/>
              <a:ahLst/>
              <a:cxnLst/>
              <a:rect l="l" t="t" r="r" b="b"/>
              <a:pathLst>
                <a:path w="495934" h="207645">
                  <a:moveTo>
                    <a:pt x="0" y="103515"/>
                  </a:moveTo>
                  <a:lnTo>
                    <a:pt x="33816" y="51269"/>
                  </a:lnTo>
                  <a:lnTo>
                    <a:pt x="72546" y="30318"/>
                  </a:lnTo>
                  <a:lnTo>
                    <a:pt x="122675" y="14132"/>
                  </a:lnTo>
                  <a:lnTo>
                    <a:pt x="181843" y="3697"/>
                  </a:lnTo>
                  <a:lnTo>
                    <a:pt x="247689" y="0"/>
                  </a:lnTo>
                  <a:lnTo>
                    <a:pt x="313535" y="3697"/>
                  </a:lnTo>
                  <a:lnTo>
                    <a:pt x="372703" y="14132"/>
                  </a:lnTo>
                  <a:lnTo>
                    <a:pt x="422832" y="30318"/>
                  </a:lnTo>
                  <a:lnTo>
                    <a:pt x="461562" y="51269"/>
                  </a:lnTo>
                  <a:lnTo>
                    <a:pt x="495379" y="103515"/>
                  </a:lnTo>
                  <a:lnTo>
                    <a:pt x="486531" y="131033"/>
                  </a:lnTo>
                  <a:lnTo>
                    <a:pt x="422832" y="176711"/>
                  </a:lnTo>
                  <a:lnTo>
                    <a:pt x="372703" y="192897"/>
                  </a:lnTo>
                  <a:lnTo>
                    <a:pt x="313535" y="203332"/>
                  </a:lnTo>
                  <a:lnTo>
                    <a:pt x="247689" y="207030"/>
                  </a:lnTo>
                  <a:lnTo>
                    <a:pt x="181843" y="203332"/>
                  </a:lnTo>
                  <a:lnTo>
                    <a:pt x="122675" y="192897"/>
                  </a:lnTo>
                  <a:lnTo>
                    <a:pt x="72546" y="176711"/>
                  </a:lnTo>
                  <a:lnTo>
                    <a:pt x="33816" y="155761"/>
                  </a:lnTo>
                  <a:lnTo>
                    <a:pt x="0" y="103515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521246" y="5013934"/>
              <a:ext cx="726440" cy="770890"/>
            </a:xfrm>
            <a:custGeom>
              <a:avLst/>
              <a:gdLst/>
              <a:ahLst/>
              <a:cxnLst/>
              <a:rect l="l" t="t" r="r" b="b"/>
              <a:pathLst>
                <a:path w="726440" h="770889">
                  <a:moveTo>
                    <a:pt x="24523" y="689221"/>
                  </a:moveTo>
                  <a:lnTo>
                    <a:pt x="0" y="770808"/>
                  </a:lnTo>
                  <a:lnTo>
                    <a:pt x="79984" y="741479"/>
                  </a:lnTo>
                  <a:lnTo>
                    <a:pt x="65529" y="727858"/>
                  </a:lnTo>
                  <a:lnTo>
                    <a:pt x="47015" y="727858"/>
                  </a:lnTo>
                  <a:lnTo>
                    <a:pt x="40081" y="721326"/>
                  </a:lnTo>
                  <a:lnTo>
                    <a:pt x="48789" y="712085"/>
                  </a:lnTo>
                  <a:lnTo>
                    <a:pt x="24523" y="689221"/>
                  </a:lnTo>
                  <a:close/>
                </a:path>
                <a:path w="726440" h="770889">
                  <a:moveTo>
                    <a:pt x="48789" y="712085"/>
                  </a:moveTo>
                  <a:lnTo>
                    <a:pt x="40081" y="721326"/>
                  </a:lnTo>
                  <a:lnTo>
                    <a:pt x="47015" y="727858"/>
                  </a:lnTo>
                  <a:lnTo>
                    <a:pt x="55722" y="718618"/>
                  </a:lnTo>
                  <a:lnTo>
                    <a:pt x="48789" y="712085"/>
                  </a:lnTo>
                  <a:close/>
                </a:path>
                <a:path w="726440" h="770889">
                  <a:moveTo>
                    <a:pt x="55722" y="718618"/>
                  </a:moveTo>
                  <a:lnTo>
                    <a:pt x="47015" y="727858"/>
                  </a:lnTo>
                  <a:lnTo>
                    <a:pt x="65529" y="727858"/>
                  </a:lnTo>
                  <a:lnTo>
                    <a:pt x="55722" y="718618"/>
                  </a:lnTo>
                  <a:close/>
                </a:path>
                <a:path w="726440" h="770889">
                  <a:moveTo>
                    <a:pt x="670605" y="52188"/>
                  </a:moveTo>
                  <a:lnTo>
                    <a:pt x="48789" y="712085"/>
                  </a:lnTo>
                  <a:lnTo>
                    <a:pt x="55722" y="718618"/>
                  </a:lnTo>
                  <a:lnTo>
                    <a:pt x="677536" y="58720"/>
                  </a:lnTo>
                  <a:lnTo>
                    <a:pt x="670605" y="52188"/>
                  </a:lnTo>
                  <a:close/>
                </a:path>
                <a:path w="726440" h="770889">
                  <a:moveTo>
                    <a:pt x="713414" y="42951"/>
                  </a:moveTo>
                  <a:lnTo>
                    <a:pt x="679310" y="42951"/>
                  </a:lnTo>
                  <a:lnTo>
                    <a:pt x="686244" y="49479"/>
                  </a:lnTo>
                  <a:lnTo>
                    <a:pt x="677536" y="58720"/>
                  </a:lnTo>
                  <a:lnTo>
                    <a:pt x="701801" y="81584"/>
                  </a:lnTo>
                  <a:lnTo>
                    <a:pt x="713414" y="42951"/>
                  </a:lnTo>
                  <a:close/>
                </a:path>
                <a:path w="726440" h="770889">
                  <a:moveTo>
                    <a:pt x="679310" y="42951"/>
                  </a:moveTo>
                  <a:lnTo>
                    <a:pt x="670605" y="52188"/>
                  </a:lnTo>
                  <a:lnTo>
                    <a:pt x="677536" y="58720"/>
                  </a:lnTo>
                  <a:lnTo>
                    <a:pt x="686244" y="49479"/>
                  </a:lnTo>
                  <a:lnTo>
                    <a:pt x="679310" y="42951"/>
                  </a:lnTo>
                  <a:close/>
                </a:path>
                <a:path w="726440" h="770889">
                  <a:moveTo>
                    <a:pt x="726325" y="0"/>
                  </a:moveTo>
                  <a:lnTo>
                    <a:pt x="646341" y="29324"/>
                  </a:lnTo>
                  <a:lnTo>
                    <a:pt x="670605" y="52188"/>
                  </a:lnTo>
                  <a:lnTo>
                    <a:pt x="679310" y="42951"/>
                  </a:lnTo>
                  <a:lnTo>
                    <a:pt x="713414" y="42951"/>
                  </a:lnTo>
                  <a:lnTo>
                    <a:pt x="72632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774992" y="5370067"/>
            <a:ext cx="26289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O  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227892" y="6404355"/>
            <a:ext cx="25082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939293"/>
                </a:solidFill>
                <a:latin typeface="Arial"/>
                <a:cs typeface="Arial"/>
              </a:rPr>
              <a:t>12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4814" y="5448300"/>
            <a:ext cx="937260" cy="67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14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ghtn</a:t>
            </a: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i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71" y="486157"/>
            <a:ext cx="1039431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Component Library Loading Current</a:t>
            </a:r>
            <a:r>
              <a:rPr dirty="0" spc="40"/>
              <a:t> </a:t>
            </a:r>
            <a:r>
              <a:rPr dirty="0" spc="-25"/>
              <a:t>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6496" y="1834388"/>
            <a:ext cx="5705475" cy="41649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469900" marR="57150" indent="-457200">
              <a:lnSpc>
                <a:spcPct val="90400"/>
              </a:lnSpc>
              <a:spcBef>
                <a:spcPts val="37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Development in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Python to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scrape</a:t>
            </a:r>
            <a:r>
              <a:rPr dirty="0" sz="2400" spc="-8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data  from satellite parts database (e.g.  SPOON)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and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PDF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spec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sheets to  directly populate into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component  library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(Excel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or</a:t>
            </a:r>
            <a:r>
              <a:rPr dirty="0" sz="2400" spc="-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SQL)</a:t>
            </a:r>
            <a:endParaRPr sz="2400">
              <a:latin typeface="Arial"/>
              <a:cs typeface="Arial"/>
            </a:endParaRPr>
          </a:p>
          <a:p>
            <a:pPr marL="469900" marR="5080" indent="-457200">
              <a:lnSpc>
                <a:spcPct val="89200"/>
              </a:lnSpc>
              <a:spcBef>
                <a:spcPts val="62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SQL database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components to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use 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with METIS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Cameo plug-in</a:t>
            </a:r>
            <a:r>
              <a:rPr dirty="0" sz="2400" spc="-8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(developed  as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SBIR) for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loading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components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as 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instances;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also based on</a:t>
            </a:r>
            <a:r>
              <a:rPr dirty="0" sz="2400" spc="-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CSRM</a:t>
            </a:r>
            <a:endParaRPr sz="2400">
              <a:latin typeface="Arial"/>
              <a:cs typeface="Arial"/>
            </a:endParaRPr>
          </a:p>
          <a:p>
            <a:pPr marL="469900" marR="111125" indent="-457200">
              <a:lnSpc>
                <a:spcPct val="90400"/>
              </a:lnSpc>
              <a:spcBef>
                <a:spcPts val="58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METIS (Orbital </a:t>
            </a:r>
            <a:r>
              <a:rPr dirty="0" sz="2400" spc="-10">
                <a:solidFill>
                  <a:srgbClr val="414042"/>
                </a:solidFill>
                <a:latin typeface="Arial"/>
                <a:cs typeface="Arial"/>
              </a:rPr>
              <a:t>Transports)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will have  some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trade study presets too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in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future 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versions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08176" y="3495687"/>
            <a:ext cx="2825241" cy="16223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6328277" y="1724978"/>
            <a:ext cx="1699895" cy="769620"/>
            <a:chOff x="6328277" y="1724978"/>
            <a:chExt cx="1699895" cy="769620"/>
          </a:xfrm>
        </p:grpSpPr>
        <p:sp>
          <p:nvSpPr>
            <p:cNvPr id="7" name="object 7"/>
            <p:cNvSpPr/>
            <p:nvPr/>
          </p:nvSpPr>
          <p:spPr>
            <a:xfrm>
              <a:off x="6333040" y="1729738"/>
              <a:ext cx="1690370" cy="760095"/>
            </a:xfrm>
            <a:custGeom>
              <a:avLst/>
              <a:gdLst/>
              <a:ahLst/>
              <a:cxnLst/>
              <a:rect l="l" t="t" r="r" b="b"/>
              <a:pathLst>
                <a:path w="1690370" h="760094">
                  <a:moveTo>
                    <a:pt x="1295857" y="0"/>
                  </a:moveTo>
                  <a:lnTo>
                    <a:pt x="1248348" y="6183"/>
                  </a:lnTo>
                  <a:lnTo>
                    <a:pt x="1204408" y="19769"/>
                  </a:lnTo>
                  <a:lnTo>
                    <a:pt x="1166589" y="40628"/>
                  </a:lnTo>
                  <a:lnTo>
                    <a:pt x="1153893" y="31554"/>
                  </a:lnTo>
                  <a:lnTo>
                    <a:pt x="1139639" y="23448"/>
                  </a:lnTo>
                  <a:lnTo>
                    <a:pt x="1123976" y="16386"/>
                  </a:lnTo>
                  <a:lnTo>
                    <a:pt x="1107051" y="10440"/>
                  </a:lnTo>
                  <a:lnTo>
                    <a:pt x="1054890" y="452"/>
                  </a:lnTo>
                  <a:lnTo>
                    <a:pt x="1002144" y="923"/>
                  </a:lnTo>
                  <a:lnTo>
                    <a:pt x="952587" y="11082"/>
                  </a:lnTo>
                  <a:lnTo>
                    <a:pt x="909988" y="30159"/>
                  </a:lnTo>
                  <a:lnTo>
                    <a:pt x="878121" y="57380"/>
                  </a:lnTo>
                  <a:lnTo>
                    <a:pt x="866994" y="51128"/>
                  </a:lnTo>
                  <a:lnTo>
                    <a:pt x="829658" y="35574"/>
                  </a:lnTo>
                  <a:lnTo>
                    <a:pt x="777203" y="23654"/>
                  </a:lnTo>
                  <a:lnTo>
                    <a:pt x="723345" y="20706"/>
                  </a:lnTo>
                  <a:lnTo>
                    <a:pt x="670773" y="26225"/>
                  </a:lnTo>
                  <a:lnTo>
                    <a:pt x="622174" y="39706"/>
                  </a:lnTo>
                  <a:lnTo>
                    <a:pt x="580239" y="60643"/>
                  </a:lnTo>
                  <a:lnTo>
                    <a:pt x="547654" y="88533"/>
                  </a:lnTo>
                  <a:lnTo>
                    <a:pt x="507958" y="76888"/>
                  </a:lnTo>
                  <a:lnTo>
                    <a:pt x="465950" y="69480"/>
                  </a:lnTo>
                  <a:lnTo>
                    <a:pt x="422526" y="66419"/>
                  </a:lnTo>
                  <a:lnTo>
                    <a:pt x="378579" y="67819"/>
                  </a:lnTo>
                  <a:lnTo>
                    <a:pt x="319522" y="77051"/>
                  </a:lnTo>
                  <a:lnTo>
                    <a:pt x="267125" y="93697"/>
                  </a:lnTo>
                  <a:lnTo>
                    <a:pt x="222743" y="116666"/>
                  </a:lnTo>
                  <a:lnTo>
                    <a:pt x="187734" y="144863"/>
                  </a:lnTo>
                  <a:lnTo>
                    <a:pt x="163454" y="177197"/>
                  </a:lnTo>
                  <a:lnTo>
                    <a:pt x="151259" y="212573"/>
                  </a:lnTo>
                  <a:lnTo>
                    <a:pt x="152506" y="249899"/>
                  </a:lnTo>
                  <a:lnTo>
                    <a:pt x="151084" y="252274"/>
                  </a:lnTo>
                  <a:lnTo>
                    <a:pt x="112029" y="257671"/>
                  </a:lnTo>
                  <a:lnTo>
                    <a:pt x="46053" y="283824"/>
                  </a:lnTo>
                  <a:lnTo>
                    <a:pt x="0" y="342786"/>
                  </a:lnTo>
                  <a:lnTo>
                    <a:pt x="4129" y="382824"/>
                  </a:lnTo>
                  <a:lnTo>
                    <a:pt x="32333" y="418984"/>
                  </a:lnTo>
                  <a:lnTo>
                    <a:pt x="82656" y="446660"/>
                  </a:lnTo>
                  <a:lnTo>
                    <a:pt x="60353" y="464845"/>
                  </a:lnTo>
                  <a:lnTo>
                    <a:pt x="45169" y="485305"/>
                  </a:lnTo>
                  <a:lnTo>
                    <a:pt x="37515" y="507277"/>
                  </a:lnTo>
                  <a:lnTo>
                    <a:pt x="37800" y="529997"/>
                  </a:lnTo>
                  <a:lnTo>
                    <a:pt x="82206" y="588754"/>
                  </a:lnTo>
                  <a:lnTo>
                    <a:pt x="123163" y="608521"/>
                  </a:lnTo>
                  <a:lnTo>
                    <a:pt x="172468" y="619874"/>
                  </a:lnTo>
                  <a:lnTo>
                    <a:pt x="227004" y="621310"/>
                  </a:lnTo>
                  <a:lnTo>
                    <a:pt x="230192" y="624651"/>
                  </a:lnTo>
                  <a:lnTo>
                    <a:pt x="262315" y="651701"/>
                  </a:lnTo>
                  <a:lnTo>
                    <a:pt x="300645" y="674169"/>
                  </a:lnTo>
                  <a:lnTo>
                    <a:pt x="344011" y="691875"/>
                  </a:lnTo>
                  <a:lnTo>
                    <a:pt x="391243" y="704641"/>
                  </a:lnTo>
                  <a:lnTo>
                    <a:pt x="441172" y="712287"/>
                  </a:lnTo>
                  <a:lnTo>
                    <a:pt x="492628" y="714635"/>
                  </a:lnTo>
                  <a:lnTo>
                    <a:pt x="544440" y="711506"/>
                  </a:lnTo>
                  <a:lnTo>
                    <a:pt x="595438" y="702721"/>
                  </a:lnTo>
                  <a:lnTo>
                    <a:pt x="644453" y="688100"/>
                  </a:lnTo>
                  <a:lnTo>
                    <a:pt x="672896" y="709905"/>
                  </a:lnTo>
                  <a:lnTo>
                    <a:pt x="706747" y="728268"/>
                  </a:lnTo>
                  <a:lnTo>
                    <a:pt x="745198" y="742819"/>
                  </a:lnTo>
                  <a:lnTo>
                    <a:pt x="787443" y="753187"/>
                  </a:lnTo>
                  <a:lnTo>
                    <a:pt x="839925" y="759510"/>
                  </a:lnTo>
                  <a:lnTo>
                    <a:pt x="891817" y="759290"/>
                  </a:lnTo>
                  <a:lnTo>
                    <a:pt x="941796" y="752963"/>
                  </a:lnTo>
                  <a:lnTo>
                    <a:pt x="988538" y="740964"/>
                  </a:lnTo>
                  <a:lnTo>
                    <a:pt x="1030718" y="723728"/>
                  </a:lnTo>
                  <a:lnTo>
                    <a:pt x="1067013" y="701692"/>
                  </a:lnTo>
                  <a:lnTo>
                    <a:pt x="1096099" y="675290"/>
                  </a:lnTo>
                  <a:lnTo>
                    <a:pt x="1116652" y="644958"/>
                  </a:lnTo>
                  <a:lnTo>
                    <a:pt x="1144154" y="653918"/>
                  </a:lnTo>
                  <a:lnTo>
                    <a:pt x="1173267" y="660457"/>
                  </a:lnTo>
                  <a:lnTo>
                    <a:pt x="1203568" y="664498"/>
                  </a:lnTo>
                  <a:lnTo>
                    <a:pt x="1234635" y="665964"/>
                  </a:lnTo>
                  <a:lnTo>
                    <a:pt x="1294834" y="661311"/>
                  </a:lnTo>
                  <a:lnTo>
                    <a:pt x="1349052" y="647617"/>
                  </a:lnTo>
                  <a:lnTo>
                    <a:pt x="1395116" y="626190"/>
                  </a:lnTo>
                  <a:lnTo>
                    <a:pt x="1430852" y="598339"/>
                  </a:lnTo>
                  <a:lnTo>
                    <a:pt x="1454088" y="565373"/>
                  </a:lnTo>
                  <a:lnTo>
                    <a:pt x="1462651" y="528600"/>
                  </a:lnTo>
                  <a:lnTo>
                    <a:pt x="1495948" y="524333"/>
                  </a:lnTo>
                  <a:lnTo>
                    <a:pt x="1558274" y="508259"/>
                  </a:lnTo>
                  <a:lnTo>
                    <a:pt x="1630441" y="470581"/>
                  </a:lnTo>
                  <a:lnTo>
                    <a:pt x="1662525" y="440091"/>
                  </a:lnTo>
                  <a:lnTo>
                    <a:pt x="1682486" y="406544"/>
                  </a:lnTo>
                  <a:lnTo>
                    <a:pt x="1690033" y="371304"/>
                  </a:lnTo>
                  <a:lnTo>
                    <a:pt x="1684872" y="335737"/>
                  </a:lnTo>
                  <a:lnTo>
                    <a:pt x="1666711" y="301210"/>
                  </a:lnTo>
                  <a:lnTo>
                    <a:pt x="1635257" y="269089"/>
                  </a:lnTo>
                  <a:lnTo>
                    <a:pt x="1639079" y="263628"/>
                  </a:lnTo>
                  <a:lnTo>
                    <a:pt x="1642267" y="258002"/>
                  </a:lnTo>
                  <a:lnTo>
                    <a:pt x="1644807" y="252274"/>
                  </a:lnTo>
                  <a:lnTo>
                    <a:pt x="1652187" y="218233"/>
                  </a:lnTo>
                  <a:lnTo>
                    <a:pt x="1644992" y="185335"/>
                  </a:lnTo>
                  <a:lnTo>
                    <a:pt x="1624619" y="155076"/>
                  </a:lnTo>
                  <a:lnTo>
                    <a:pt x="1592463" y="128954"/>
                  </a:lnTo>
                  <a:lnTo>
                    <a:pt x="1549921" y="108467"/>
                  </a:lnTo>
                  <a:lnTo>
                    <a:pt x="1498389" y="95111"/>
                  </a:lnTo>
                  <a:lnTo>
                    <a:pt x="1489799" y="75754"/>
                  </a:lnTo>
                  <a:lnTo>
                    <a:pt x="1457378" y="41383"/>
                  </a:lnTo>
                  <a:lnTo>
                    <a:pt x="1391374" y="10350"/>
                  </a:lnTo>
                  <a:lnTo>
                    <a:pt x="1344383" y="1346"/>
                  </a:lnTo>
                  <a:lnTo>
                    <a:pt x="1295857" y="0"/>
                  </a:lnTo>
                  <a:close/>
                </a:path>
              </a:pathLst>
            </a:custGeom>
            <a:solidFill>
              <a:srgbClr val="98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33039" y="1729740"/>
              <a:ext cx="1690370" cy="760095"/>
            </a:xfrm>
            <a:custGeom>
              <a:avLst/>
              <a:gdLst/>
              <a:ahLst/>
              <a:cxnLst/>
              <a:rect l="l" t="t" r="r" b="b"/>
              <a:pathLst>
                <a:path w="1690370" h="760094">
                  <a:moveTo>
                    <a:pt x="152510" y="249906"/>
                  </a:moveTo>
                  <a:lnTo>
                    <a:pt x="163453" y="177200"/>
                  </a:lnTo>
                  <a:lnTo>
                    <a:pt x="187732" y="144864"/>
                  </a:lnTo>
                  <a:lnTo>
                    <a:pt x="222741" y="116665"/>
                  </a:lnTo>
                  <a:lnTo>
                    <a:pt x="267123" y="93696"/>
                  </a:lnTo>
                  <a:lnTo>
                    <a:pt x="319520" y="77048"/>
                  </a:lnTo>
                  <a:lnTo>
                    <a:pt x="378575" y="67815"/>
                  </a:lnTo>
                  <a:lnTo>
                    <a:pt x="422528" y="66420"/>
                  </a:lnTo>
                  <a:lnTo>
                    <a:pt x="465955" y="69481"/>
                  </a:lnTo>
                  <a:lnTo>
                    <a:pt x="507963" y="76887"/>
                  </a:lnTo>
                  <a:lnTo>
                    <a:pt x="547658" y="88531"/>
                  </a:lnTo>
                  <a:lnTo>
                    <a:pt x="580244" y="60643"/>
                  </a:lnTo>
                  <a:lnTo>
                    <a:pt x="622179" y="39707"/>
                  </a:lnTo>
                  <a:lnTo>
                    <a:pt x="670776" y="26226"/>
                  </a:lnTo>
                  <a:lnTo>
                    <a:pt x="723346" y="20707"/>
                  </a:lnTo>
                  <a:lnTo>
                    <a:pt x="777203" y="23653"/>
                  </a:lnTo>
                  <a:lnTo>
                    <a:pt x="829657" y="35570"/>
                  </a:lnTo>
                  <a:lnTo>
                    <a:pt x="866993" y="51127"/>
                  </a:lnTo>
                  <a:lnTo>
                    <a:pt x="878120" y="57375"/>
                  </a:lnTo>
                  <a:lnTo>
                    <a:pt x="909989" y="30159"/>
                  </a:lnTo>
                  <a:lnTo>
                    <a:pt x="952587" y="11085"/>
                  </a:lnTo>
                  <a:lnTo>
                    <a:pt x="1002143" y="926"/>
                  </a:lnTo>
                  <a:lnTo>
                    <a:pt x="1054887" y="455"/>
                  </a:lnTo>
                  <a:lnTo>
                    <a:pt x="1107046" y="10446"/>
                  </a:lnTo>
                  <a:lnTo>
                    <a:pt x="1123975" y="16386"/>
                  </a:lnTo>
                  <a:lnTo>
                    <a:pt x="1139640" y="23447"/>
                  </a:lnTo>
                  <a:lnTo>
                    <a:pt x="1153892" y="31553"/>
                  </a:lnTo>
                  <a:lnTo>
                    <a:pt x="1166586" y="40632"/>
                  </a:lnTo>
                  <a:lnTo>
                    <a:pt x="1204406" y="19772"/>
                  </a:lnTo>
                  <a:lnTo>
                    <a:pt x="1248347" y="6185"/>
                  </a:lnTo>
                  <a:lnTo>
                    <a:pt x="1295856" y="0"/>
                  </a:lnTo>
                  <a:lnTo>
                    <a:pt x="1344381" y="1344"/>
                  </a:lnTo>
                  <a:lnTo>
                    <a:pt x="1391372" y="10348"/>
                  </a:lnTo>
                  <a:lnTo>
                    <a:pt x="1434276" y="27139"/>
                  </a:lnTo>
                  <a:lnTo>
                    <a:pt x="1476010" y="57715"/>
                  </a:lnTo>
                  <a:lnTo>
                    <a:pt x="1498386" y="95113"/>
                  </a:lnTo>
                  <a:lnTo>
                    <a:pt x="1549921" y="108467"/>
                  </a:lnTo>
                  <a:lnTo>
                    <a:pt x="1592465" y="128953"/>
                  </a:lnTo>
                  <a:lnTo>
                    <a:pt x="1624622" y="155075"/>
                  </a:lnTo>
                  <a:lnTo>
                    <a:pt x="1644997" y="185334"/>
                  </a:lnTo>
                  <a:lnTo>
                    <a:pt x="1652194" y="218231"/>
                  </a:lnTo>
                  <a:lnTo>
                    <a:pt x="1644816" y="252269"/>
                  </a:lnTo>
                  <a:lnTo>
                    <a:pt x="1642266" y="258005"/>
                  </a:lnTo>
                  <a:lnTo>
                    <a:pt x="1639076" y="263625"/>
                  </a:lnTo>
                  <a:lnTo>
                    <a:pt x="1635256" y="269088"/>
                  </a:lnTo>
                  <a:lnTo>
                    <a:pt x="1666711" y="301210"/>
                  </a:lnTo>
                  <a:lnTo>
                    <a:pt x="1684872" y="335738"/>
                  </a:lnTo>
                  <a:lnTo>
                    <a:pt x="1690033" y="371306"/>
                  </a:lnTo>
                  <a:lnTo>
                    <a:pt x="1682486" y="406548"/>
                  </a:lnTo>
                  <a:lnTo>
                    <a:pt x="1662524" y="440096"/>
                  </a:lnTo>
                  <a:lnTo>
                    <a:pt x="1630440" y="470587"/>
                  </a:lnTo>
                  <a:lnTo>
                    <a:pt x="1586526" y="496653"/>
                  </a:lnTo>
                  <a:lnTo>
                    <a:pt x="1527955" y="517519"/>
                  </a:lnTo>
                  <a:lnTo>
                    <a:pt x="1462656" y="528602"/>
                  </a:lnTo>
                  <a:lnTo>
                    <a:pt x="1454094" y="565373"/>
                  </a:lnTo>
                  <a:lnTo>
                    <a:pt x="1430857" y="598339"/>
                  </a:lnTo>
                  <a:lnTo>
                    <a:pt x="1395120" y="626191"/>
                  </a:lnTo>
                  <a:lnTo>
                    <a:pt x="1349054" y="647618"/>
                  </a:lnTo>
                  <a:lnTo>
                    <a:pt x="1294835" y="661312"/>
                  </a:lnTo>
                  <a:lnTo>
                    <a:pt x="1234636" y="665963"/>
                  </a:lnTo>
                  <a:lnTo>
                    <a:pt x="1203571" y="664497"/>
                  </a:lnTo>
                  <a:lnTo>
                    <a:pt x="1173268" y="660456"/>
                  </a:lnTo>
                  <a:lnTo>
                    <a:pt x="1144155" y="653918"/>
                  </a:lnTo>
                  <a:lnTo>
                    <a:pt x="1116656" y="644956"/>
                  </a:lnTo>
                  <a:lnTo>
                    <a:pt x="1096101" y="675288"/>
                  </a:lnTo>
                  <a:lnTo>
                    <a:pt x="1067014" y="701690"/>
                  </a:lnTo>
                  <a:lnTo>
                    <a:pt x="1030718" y="723727"/>
                  </a:lnTo>
                  <a:lnTo>
                    <a:pt x="988537" y="740963"/>
                  </a:lnTo>
                  <a:lnTo>
                    <a:pt x="941795" y="752963"/>
                  </a:lnTo>
                  <a:lnTo>
                    <a:pt x="891816" y="759292"/>
                  </a:lnTo>
                  <a:lnTo>
                    <a:pt x="839924" y="759515"/>
                  </a:lnTo>
                  <a:lnTo>
                    <a:pt x="787442" y="753196"/>
                  </a:lnTo>
                  <a:lnTo>
                    <a:pt x="745200" y="742823"/>
                  </a:lnTo>
                  <a:lnTo>
                    <a:pt x="706750" y="728271"/>
                  </a:lnTo>
                  <a:lnTo>
                    <a:pt x="672898" y="709906"/>
                  </a:lnTo>
                  <a:lnTo>
                    <a:pt x="644454" y="688097"/>
                  </a:lnTo>
                  <a:lnTo>
                    <a:pt x="595440" y="702720"/>
                  </a:lnTo>
                  <a:lnTo>
                    <a:pt x="544443" y="711507"/>
                  </a:lnTo>
                  <a:lnTo>
                    <a:pt x="492632" y="714638"/>
                  </a:lnTo>
                  <a:lnTo>
                    <a:pt x="441177" y="712290"/>
                  </a:lnTo>
                  <a:lnTo>
                    <a:pt x="391247" y="704644"/>
                  </a:lnTo>
                  <a:lnTo>
                    <a:pt x="344014" y="691877"/>
                  </a:lnTo>
                  <a:lnTo>
                    <a:pt x="300647" y="674171"/>
                  </a:lnTo>
                  <a:lnTo>
                    <a:pt x="262316" y="651703"/>
                  </a:lnTo>
                  <a:lnTo>
                    <a:pt x="230191" y="624654"/>
                  </a:lnTo>
                  <a:lnTo>
                    <a:pt x="227000" y="621312"/>
                  </a:lnTo>
                  <a:lnTo>
                    <a:pt x="172465" y="619875"/>
                  </a:lnTo>
                  <a:lnTo>
                    <a:pt x="123161" y="608521"/>
                  </a:lnTo>
                  <a:lnTo>
                    <a:pt x="82204" y="588754"/>
                  </a:lnTo>
                  <a:lnTo>
                    <a:pt x="52710" y="562077"/>
                  </a:lnTo>
                  <a:lnTo>
                    <a:pt x="37513" y="507275"/>
                  </a:lnTo>
                  <a:lnTo>
                    <a:pt x="45169" y="485306"/>
                  </a:lnTo>
                  <a:lnTo>
                    <a:pt x="60352" y="464850"/>
                  </a:lnTo>
                  <a:lnTo>
                    <a:pt x="82652" y="446668"/>
                  </a:lnTo>
                  <a:lnTo>
                    <a:pt x="32331" y="418987"/>
                  </a:lnTo>
                  <a:lnTo>
                    <a:pt x="4128" y="382826"/>
                  </a:lnTo>
                  <a:lnTo>
                    <a:pt x="0" y="342790"/>
                  </a:lnTo>
                  <a:lnTo>
                    <a:pt x="21899" y="303486"/>
                  </a:lnTo>
                  <a:lnTo>
                    <a:pt x="46053" y="283827"/>
                  </a:lnTo>
                  <a:lnTo>
                    <a:pt x="76558" y="268373"/>
                  </a:lnTo>
                  <a:lnTo>
                    <a:pt x="112030" y="257673"/>
                  </a:lnTo>
                  <a:lnTo>
                    <a:pt x="151087" y="252274"/>
                  </a:lnTo>
                  <a:lnTo>
                    <a:pt x="152510" y="249906"/>
                  </a:lnTo>
                  <a:close/>
                </a:path>
                <a:path w="1690370" h="760094">
                  <a:moveTo>
                    <a:pt x="183519" y="457735"/>
                  </a:moveTo>
                  <a:lnTo>
                    <a:pt x="157666" y="457760"/>
                  </a:lnTo>
                  <a:lnTo>
                    <a:pt x="132249" y="455389"/>
                  </a:lnTo>
                  <a:lnTo>
                    <a:pt x="107703" y="450684"/>
                  </a:lnTo>
                  <a:lnTo>
                    <a:pt x="84465" y="443706"/>
                  </a:lnTo>
                </a:path>
                <a:path w="1690370" h="760094">
                  <a:moveTo>
                    <a:pt x="270916" y="611261"/>
                  </a:moveTo>
                  <a:lnTo>
                    <a:pt x="260370" y="613590"/>
                  </a:lnTo>
                  <a:lnTo>
                    <a:pt x="249608" y="615489"/>
                  </a:lnTo>
                  <a:lnTo>
                    <a:pt x="238666" y="616953"/>
                  </a:lnTo>
                  <a:lnTo>
                    <a:pt x="227577" y="617975"/>
                  </a:lnTo>
                </a:path>
                <a:path w="1690370" h="760094">
                  <a:moveTo>
                    <a:pt x="644357" y="685031"/>
                  </a:moveTo>
                  <a:lnTo>
                    <a:pt x="636836" y="677704"/>
                  </a:lnTo>
                  <a:lnTo>
                    <a:pt x="629968" y="670146"/>
                  </a:lnTo>
                  <a:lnTo>
                    <a:pt x="623766" y="662373"/>
                  </a:lnTo>
                  <a:lnTo>
                    <a:pt x="618244" y="654403"/>
                  </a:lnTo>
                </a:path>
                <a:path w="1690370" h="760094">
                  <a:moveTo>
                    <a:pt x="1127246" y="608656"/>
                  </a:moveTo>
                  <a:lnTo>
                    <a:pt x="1125730" y="617175"/>
                  </a:lnTo>
                  <a:lnTo>
                    <a:pt x="1123483" y="625628"/>
                  </a:lnTo>
                  <a:lnTo>
                    <a:pt x="1120513" y="633996"/>
                  </a:lnTo>
                  <a:lnTo>
                    <a:pt x="1116826" y="642263"/>
                  </a:lnTo>
                </a:path>
                <a:path w="1690370" h="760094">
                  <a:moveTo>
                    <a:pt x="1334576" y="401003"/>
                  </a:moveTo>
                  <a:lnTo>
                    <a:pt x="1387607" y="422983"/>
                  </a:lnTo>
                  <a:lnTo>
                    <a:pt x="1427801" y="452556"/>
                  </a:lnTo>
                  <a:lnTo>
                    <a:pt x="1453168" y="487752"/>
                  </a:lnTo>
                  <a:lnTo>
                    <a:pt x="1461716" y="526606"/>
                  </a:lnTo>
                </a:path>
                <a:path w="1690370" h="760094">
                  <a:moveTo>
                    <a:pt x="1634466" y="267227"/>
                  </a:moveTo>
                  <a:lnTo>
                    <a:pt x="1623714" y="280452"/>
                  </a:lnTo>
                  <a:lnTo>
                    <a:pt x="1610600" y="292789"/>
                  </a:lnTo>
                  <a:lnTo>
                    <a:pt x="1595264" y="304119"/>
                  </a:lnTo>
                  <a:lnTo>
                    <a:pt x="1577846" y="314325"/>
                  </a:lnTo>
                </a:path>
                <a:path w="1690370" h="760094">
                  <a:moveTo>
                    <a:pt x="1498616" y="92473"/>
                  </a:moveTo>
                  <a:lnTo>
                    <a:pt x="1500776" y="99811"/>
                  </a:lnTo>
                  <a:lnTo>
                    <a:pt x="1501786" y="107259"/>
                  </a:lnTo>
                  <a:lnTo>
                    <a:pt x="1501606" y="114715"/>
                  </a:lnTo>
                </a:path>
                <a:path w="1690370" h="760094">
                  <a:moveTo>
                    <a:pt x="1137066" y="66527"/>
                  </a:moveTo>
                  <a:lnTo>
                    <a:pt x="1143038" y="58968"/>
                  </a:lnTo>
                  <a:lnTo>
                    <a:pt x="1149882" y="51702"/>
                  </a:lnTo>
                  <a:lnTo>
                    <a:pt x="1157568" y="44757"/>
                  </a:lnTo>
                  <a:lnTo>
                    <a:pt x="1166066" y="38160"/>
                  </a:lnTo>
                </a:path>
                <a:path w="1690370" h="760094">
                  <a:moveTo>
                    <a:pt x="865802" y="80045"/>
                  </a:moveTo>
                  <a:lnTo>
                    <a:pt x="868377" y="73737"/>
                  </a:lnTo>
                  <a:lnTo>
                    <a:pt x="871584" y="67546"/>
                  </a:lnTo>
                  <a:lnTo>
                    <a:pt x="875411" y="61488"/>
                  </a:lnTo>
                  <a:lnTo>
                    <a:pt x="879849" y="55581"/>
                  </a:lnTo>
                </a:path>
                <a:path w="1690370" h="760094">
                  <a:moveTo>
                    <a:pt x="547457" y="88354"/>
                  </a:moveTo>
                  <a:lnTo>
                    <a:pt x="561030" y="93570"/>
                  </a:lnTo>
                  <a:lnTo>
                    <a:pt x="574049" y="99276"/>
                  </a:lnTo>
                  <a:lnTo>
                    <a:pt x="586480" y="105454"/>
                  </a:lnTo>
                  <a:lnTo>
                    <a:pt x="598287" y="112088"/>
                  </a:lnTo>
                </a:path>
                <a:path w="1690370" h="760094">
                  <a:moveTo>
                    <a:pt x="161386" y="274884"/>
                  </a:moveTo>
                  <a:lnTo>
                    <a:pt x="158565" y="268725"/>
                  </a:lnTo>
                  <a:lnTo>
                    <a:pt x="156145" y="262506"/>
                  </a:lnTo>
                  <a:lnTo>
                    <a:pt x="154127" y="256232"/>
                  </a:lnTo>
                  <a:lnTo>
                    <a:pt x="152515" y="249912"/>
                  </a:lnTo>
                </a:path>
              </a:pathLst>
            </a:custGeom>
            <a:ln w="9525">
              <a:solidFill>
                <a:srgbClr val="4140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646926" y="1876044"/>
            <a:ext cx="941705" cy="44005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283210" marR="5080" indent="-271145">
              <a:lnSpc>
                <a:spcPts val="1580"/>
              </a:lnSpc>
              <a:spcBef>
                <a:spcPts val="235"/>
              </a:spcBef>
            </a:pP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1400" spc="-5">
                <a:solidFill>
                  <a:srgbClr val="FFFFFF"/>
                </a:solidFill>
                <a:latin typeface="Arial"/>
                <a:cs typeface="Arial"/>
              </a:rPr>
              <a:t>omponen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t  </a:t>
            </a:r>
            <a:r>
              <a:rPr dirty="0" sz="1400" spc="-5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973347" y="1449692"/>
            <a:ext cx="1432560" cy="1106805"/>
            <a:chOff x="9973347" y="1449692"/>
            <a:chExt cx="1432560" cy="1106805"/>
          </a:xfrm>
        </p:grpSpPr>
        <p:sp>
          <p:nvSpPr>
            <p:cNvPr id="11" name="object 11"/>
            <p:cNvSpPr/>
            <p:nvPr/>
          </p:nvSpPr>
          <p:spPr>
            <a:xfrm>
              <a:off x="9978110" y="1591538"/>
              <a:ext cx="1423035" cy="960119"/>
            </a:xfrm>
            <a:custGeom>
              <a:avLst/>
              <a:gdLst/>
              <a:ahLst/>
              <a:cxnLst/>
              <a:rect l="l" t="t" r="r" b="b"/>
              <a:pathLst>
                <a:path w="1423034" h="960119">
                  <a:moveTo>
                    <a:pt x="1422615" y="0"/>
                  </a:moveTo>
                  <a:lnTo>
                    <a:pt x="1390637" y="40762"/>
                  </a:lnTo>
                  <a:lnTo>
                    <a:pt x="1336767" y="65340"/>
                  </a:lnTo>
                  <a:lnTo>
                    <a:pt x="1260191" y="87196"/>
                  </a:lnTo>
                  <a:lnTo>
                    <a:pt x="1214283" y="96931"/>
                  </a:lnTo>
                  <a:lnTo>
                    <a:pt x="1163771" y="105779"/>
                  </a:lnTo>
                  <a:lnTo>
                    <a:pt x="1109013" y="113670"/>
                  </a:lnTo>
                  <a:lnTo>
                    <a:pt x="1050366" y="120537"/>
                  </a:lnTo>
                  <a:lnTo>
                    <a:pt x="988188" y="126310"/>
                  </a:lnTo>
                  <a:lnTo>
                    <a:pt x="922836" y="130920"/>
                  </a:lnTo>
                  <a:lnTo>
                    <a:pt x="854668" y="134298"/>
                  </a:lnTo>
                  <a:lnTo>
                    <a:pt x="784042" y="136376"/>
                  </a:lnTo>
                  <a:lnTo>
                    <a:pt x="711314" y="137083"/>
                  </a:lnTo>
                  <a:lnTo>
                    <a:pt x="638586" y="136376"/>
                  </a:lnTo>
                  <a:lnTo>
                    <a:pt x="567959" y="134298"/>
                  </a:lnTo>
                  <a:lnTo>
                    <a:pt x="499790" y="130920"/>
                  </a:lnTo>
                  <a:lnTo>
                    <a:pt x="434438" y="126310"/>
                  </a:lnTo>
                  <a:lnTo>
                    <a:pt x="372259" y="120537"/>
                  </a:lnTo>
                  <a:lnTo>
                    <a:pt x="313611" y="113670"/>
                  </a:lnTo>
                  <a:lnTo>
                    <a:pt x="258851" y="105779"/>
                  </a:lnTo>
                  <a:lnTo>
                    <a:pt x="208338" y="96931"/>
                  </a:lnTo>
                  <a:lnTo>
                    <a:pt x="162429" y="87196"/>
                  </a:lnTo>
                  <a:lnTo>
                    <a:pt x="121481" y="76642"/>
                  </a:lnTo>
                  <a:lnTo>
                    <a:pt x="55898" y="53357"/>
                  </a:lnTo>
                  <a:lnTo>
                    <a:pt x="14451" y="27625"/>
                  </a:lnTo>
                  <a:lnTo>
                    <a:pt x="0" y="0"/>
                  </a:lnTo>
                  <a:lnTo>
                    <a:pt x="0" y="822502"/>
                  </a:lnTo>
                  <a:lnTo>
                    <a:pt x="31979" y="863265"/>
                  </a:lnTo>
                  <a:lnTo>
                    <a:pt x="85851" y="887843"/>
                  </a:lnTo>
                  <a:lnTo>
                    <a:pt x="162429" y="909698"/>
                  </a:lnTo>
                  <a:lnTo>
                    <a:pt x="208338" y="919433"/>
                  </a:lnTo>
                  <a:lnTo>
                    <a:pt x="258851" y="928281"/>
                  </a:lnTo>
                  <a:lnTo>
                    <a:pt x="313611" y="936173"/>
                  </a:lnTo>
                  <a:lnTo>
                    <a:pt x="372259" y="943040"/>
                  </a:lnTo>
                  <a:lnTo>
                    <a:pt x="434438" y="948813"/>
                  </a:lnTo>
                  <a:lnTo>
                    <a:pt x="499790" y="953423"/>
                  </a:lnTo>
                  <a:lnTo>
                    <a:pt x="567959" y="956801"/>
                  </a:lnTo>
                  <a:lnTo>
                    <a:pt x="638586" y="958878"/>
                  </a:lnTo>
                  <a:lnTo>
                    <a:pt x="711314" y="959586"/>
                  </a:lnTo>
                  <a:lnTo>
                    <a:pt x="784042" y="958878"/>
                  </a:lnTo>
                  <a:lnTo>
                    <a:pt x="854668" y="956801"/>
                  </a:lnTo>
                  <a:lnTo>
                    <a:pt x="922836" y="953423"/>
                  </a:lnTo>
                  <a:lnTo>
                    <a:pt x="988188" y="948813"/>
                  </a:lnTo>
                  <a:lnTo>
                    <a:pt x="1050366" y="943040"/>
                  </a:lnTo>
                  <a:lnTo>
                    <a:pt x="1109013" y="936173"/>
                  </a:lnTo>
                  <a:lnTo>
                    <a:pt x="1163771" y="928281"/>
                  </a:lnTo>
                  <a:lnTo>
                    <a:pt x="1214283" y="919433"/>
                  </a:lnTo>
                  <a:lnTo>
                    <a:pt x="1260191" y="909698"/>
                  </a:lnTo>
                  <a:lnTo>
                    <a:pt x="1301138" y="899145"/>
                  </a:lnTo>
                  <a:lnTo>
                    <a:pt x="1366719" y="875860"/>
                  </a:lnTo>
                  <a:lnTo>
                    <a:pt x="1408165" y="850128"/>
                  </a:lnTo>
                  <a:lnTo>
                    <a:pt x="1422615" y="822502"/>
                  </a:lnTo>
                  <a:lnTo>
                    <a:pt x="1422615" y="0"/>
                  </a:lnTo>
                  <a:close/>
                </a:path>
              </a:pathLst>
            </a:custGeom>
            <a:solidFill>
              <a:srgbClr val="98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978110" y="1454454"/>
              <a:ext cx="1423035" cy="274320"/>
            </a:xfrm>
            <a:custGeom>
              <a:avLst/>
              <a:gdLst/>
              <a:ahLst/>
              <a:cxnLst/>
              <a:rect l="l" t="t" r="r" b="b"/>
              <a:pathLst>
                <a:path w="1423034" h="274319">
                  <a:moveTo>
                    <a:pt x="711314" y="0"/>
                  </a:moveTo>
                  <a:lnTo>
                    <a:pt x="638586" y="707"/>
                  </a:lnTo>
                  <a:lnTo>
                    <a:pt x="567959" y="2785"/>
                  </a:lnTo>
                  <a:lnTo>
                    <a:pt x="499790" y="6163"/>
                  </a:lnTo>
                  <a:lnTo>
                    <a:pt x="434438" y="10773"/>
                  </a:lnTo>
                  <a:lnTo>
                    <a:pt x="372259" y="16546"/>
                  </a:lnTo>
                  <a:lnTo>
                    <a:pt x="313611" y="23412"/>
                  </a:lnTo>
                  <a:lnTo>
                    <a:pt x="258851" y="31304"/>
                  </a:lnTo>
                  <a:lnTo>
                    <a:pt x="208338" y="40152"/>
                  </a:lnTo>
                  <a:lnTo>
                    <a:pt x="162429" y="49887"/>
                  </a:lnTo>
                  <a:lnTo>
                    <a:pt x="121481" y="60440"/>
                  </a:lnTo>
                  <a:lnTo>
                    <a:pt x="55898" y="83726"/>
                  </a:lnTo>
                  <a:lnTo>
                    <a:pt x="14451" y="109457"/>
                  </a:lnTo>
                  <a:lnTo>
                    <a:pt x="0" y="137083"/>
                  </a:lnTo>
                  <a:lnTo>
                    <a:pt x="3672" y="151099"/>
                  </a:lnTo>
                  <a:lnTo>
                    <a:pt x="31979" y="177846"/>
                  </a:lnTo>
                  <a:lnTo>
                    <a:pt x="85851" y="202424"/>
                  </a:lnTo>
                  <a:lnTo>
                    <a:pt x="162429" y="224279"/>
                  </a:lnTo>
                  <a:lnTo>
                    <a:pt x="208338" y="234014"/>
                  </a:lnTo>
                  <a:lnTo>
                    <a:pt x="258851" y="242862"/>
                  </a:lnTo>
                  <a:lnTo>
                    <a:pt x="313611" y="250754"/>
                  </a:lnTo>
                  <a:lnTo>
                    <a:pt x="372259" y="257621"/>
                  </a:lnTo>
                  <a:lnTo>
                    <a:pt x="434438" y="263394"/>
                  </a:lnTo>
                  <a:lnTo>
                    <a:pt x="499790" y="268004"/>
                  </a:lnTo>
                  <a:lnTo>
                    <a:pt x="567959" y="271382"/>
                  </a:lnTo>
                  <a:lnTo>
                    <a:pt x="638586" y="273459"/>
                  </a:lnTo>
                  <a:lnTo>
                    <a:pt x="711314" y="274167"/>
                  </a:lnTo>
                  <a:lnTo>
                    <a:pt x="784042" y="273459"/>
                  </a:lnTo>
                  <a:lnTo>
                    <a:pt x="854668" y="271382"/>
                  </a:lnTo>
                  <a:lnTo>
                    <a:pt x="922836" y="268004"/>
                  </a:lnTo>
                  <a:lnTo>
                    <a:pt x="988188" y="263394"/>
                  </a:lnTo>
                  <a:lnTo>
                    <a:pt x="1050366" y="257621"/>
                  </a:lnTo>
                  <a:lnTo>
                    <a:pt x="1109013" y="250754"/>
                  </a:lnTo>
                  <a:lnTo>
                    <a:pt x="1163771" y="242862"/>
                  </a:lnTo>
                  <a:lnTo>
                    <a:pt x="1214283" y="234014"/>
                  </a:lnTo>
                  <a:lnTo>
                    <a:pt x="1260191" y="224279"/>
                  </a:lnTo>
                  <a:lnTo>
                    <a:pt x="1301138" y="213726"/>
                  </a:lnTo>
                  <a:lnTo>
                    <a:pt x="1366719" y="190441"/>
                  </a:lnTo>
                  <a:lnTo>
                    <a:pt x="1408165" y="164709"/>
                  </a:lnTo>
                  <a:lnTo>
                    <a:pt x="1422615" y="137083"/>
                  </a:lnTo>
                  <a:lnTo>
                    <a:pt x="1418943" y="123068"/>
                  </a:lnTo>
                  <a:lnTo>
                    <a:pt x="1390637" y="96320"/>
                  </a:lnTo>
                  <a:lnTo>
                    <a:pt x="1336767" y="71743"/>
                  </a:lnTo>
                  <a:lnTo>
                    <a:pt x="1260191" y="49887"/>
                  </a:lnTo>
                  <a:lnTo>
                    <a:pt x="1214283" y="40152"/>
                  </a:lnTo>
                  <a:lnTo>
                    <a:pt x="1163771" y="31304"/>
                  </a:lnTo>
                  <a:lnTo>
                    <a:pt x="1109013" y="23412"/>
                  </a:lnTo>
                  <a:lnTo>
                    <a:pt x="1050366" y="16546"/>
                  </a:lnTo>
                  <a:lnTo>
                    <a:pt x="988188" y="10773"/>
                  </a:lnTo>
                  <a:lnTo>
                    <a:pt x="922836" y="6163"/>
                  </a:lnTo>
                  <a:lnTo>
                    <a:pt x="854668" y="2785"/>
                  </a:lnTo>
                  <a:lnTo>
                    <a:pt x="784042" y="707"/>
                  </a:lnTo>
                  <a:lnTo>
                    <a:pt x="711314" y="0"/>
                  </a:lnTo>
                  <a:close/>
                </a:path>
              </a:pathLst>
            </a:custGeom>
            <a:solidFill>
              <a:srgbClr val="C176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78110" y="1454454"/>
              <a:ext cx="1423035" cy="1097280"/>
            </a:xfrm>
            <a:custGeom>
              <a:avLst/>
              <a:gdLst/>
              <a:ahLst/>
              <a:cxnLst/>
              <a:rect l="l" t="t" r="r" b="b"/>
              <a:pathLst>
                <a:path w="1423034" h="1097280">
                  <a:moveTo>
                    <a:pt x="1422620" y="137083"/>
                  </a:moveTo>
                  <a:lnTo>
                    <a:pt x="1390642" y="177847"/>
                  </a:lnTo>
                  <a:lnTo>
                    <a:pt x="1336770" y="202425"/>
                  </a:lnTo>
                  <a:lnTo>
                    <a:pt x="1260193" y="224280"/>
                  </a:lnTo>
                  <a:lnTo>
                    <a:pt x="1214284" y="234015"/>
                  </a:lnTo>
                  <a:lnTo>
                    <a:pt x="1163771" y="242863"/>
                  </a:lnTo>
                  <a:lnTo>
                    <a:pt x="1109012" y="250754"/>
                  </a:lnTo>
                  <a:lnTo>
                    <a:pt x="1050365" y="257620"/>
                  </a:lnTo>
                  <a:lnTo>
                    <a:pt x="988186" y="263393"/>
                  </a:lnTo>
                  <a:lnTo>
                    <a:pt x="922833" y="268003"/>
                  </a:lnTo>
                  <a:lnTo>
                    <a:pt x="854665" y="271381"/>
                  </a:lnTo>
                  <a:lnTo>
                    <a:pt x="784038" y="273458"/>
                  </a:lnTo>
                  <a:lnTo>
                    <a:pt x="711310" y="274166"/>
                  </a:lnTo>
                  <a:lnTo>
                    <a:pt x="638582" y="273458"/>
                  </a:lnTo>
                  <a:lnTo>
                    <a:pt x="567956" y="271381"/>
                  </a:lnTo>
                  <a:lnTo>
                    <a:pt x="499788" y="268003"/>
                  </a:lnTo>
                  <a:lnTo>
                    <a:pt x="434436" y="263393"/>
                  </a:lnTo>
                  <a:lnTo>
                    <a:pt x="372257" y="257620"/>
                  </a:lnTo>
                  <a:lnTo>
                    <a:pt x="313609" y="250754"/>
                  </a:lnTo>
                  <a:lnTo>
                    <a:pt x="258850" y="242863"/>
                  </a:lnTo>
                  <a:lnTo>
                    <a:pt x="208337" y="234015"/>
                  </a:lnTo>
                  <a:lnTo>
                    <a:pt x="162428" y="224280"/>
                  </a:lnTo>
                  <a:lnTo>
                    <a:pt x="121480" y="213727"/>
                  </a:lnTo>
                  <a:lnTo>
                    <a:pt x="55898" y="190442"/>
                  </a:lnTo>
                  <a:lnTo>
                    <a:pt x="14451" y="164710"/>
                  </a:lnTo>
                  <a:lnTo>
                    <a:pt x="0" y="137083"/>
                  </a:lnTo>
                  <a:lnTo>
                    <a:pt x="3672" y="123067"/>
                  </a:lnTo>
                  <a:lnTo>
                    <a:pt x="31979" y="96318"/>
                  </a:lnTo>
                  <a:lnTo>
                    <a:pt x="85851" y="71741"/>
                  </a:lnTo>
                  <a:lnTo>
                    <a:pt x="162428" y="49885"/>
                  </a:lnTo>
                  <a:lnTo>
                    <a:pt x="208337" y="40150"/>
                  </a:lnTo>
                  <a:lnTo>
                    <a:pt x="258850" y="31303"/>
                  </a:lnTo>
                  <a:lnTo>
                    <a:pt x="313609" y="23411"/>
                  </a:lnTo>
                  <a:lnTo>
                    <a:pt x="372257" y="16545"/>
                  </a:lnTo>
                  <a:lnTo>
                    <a:pt x="434436" y="10772"/>
                  </a:lnTo>
                  <a:lnTo>
                    <a:pt x="499788" y="6162"/>
                  </a:lnTo>
                  <a:lnTo>
                    <a:pt x="567956" y="2785"/>
                  </a:lnTo>
                  <a:lnTo>
                    <a:pt x="638582" y="707"/>
                  </a:lnTo>
                  <a:lnTo>
                    <a:pt x="711310" y="0"/>
                  </a:lnTo>
                  <a:lnTo>
                    <a:pt x="784038" y="707"/>
                  </a:lnTo>
                  <a:lnTo>
                    <a:pt x="854665" y="2785"/>
                  </a:lnTo>
                  <a:lnTo>
                    <a:pt x="922833" y="6162"/>
                  </a:lnTo>
                  <a:lnTo>
                    <a:pt x="988186" y="10772"/>
                  </a:lnTo>
                  <a:lnTo>
                    <a:pt x="1050365" y="16545"/>
                  </a:lnTo>
                  <a:lnTo>
                    <a:pt x="1109012" y="23411"/>
                  </a:lnTo>
                  <a:lnTo>
                    <a:pt x="1163771" y="31303"/>
                  </a:lnTo>
                  <a:lnTo>
                    <a:pt x="1214284" y="40150"/>
                  </a:lnTo>
                  <a:lnTo>
                    <a:pt x="1260193" y="49885"/>
                  </a:lnTo>
                  <a:lnTo>
                    <a:pt x="1301141" y="60438"/>
                  </a:lnTo>
                  <a:lnTo>
                    <a:pt x="1366723" y="83724"/>
                  </a:lnTo>
                  <a:lnTo>
                    <a:pt x="1408169" y="109456"/>
                  </a:lnTo>
                  <a:lnTo>
                    <a:pt x="1422620" y="137083"/>
                  </a:lnTo>
                  <a:close/>
                </a:path>
                <a:path w="1423034" h="1097280">
                  <a:moveTo>
                    <a:pt x="1422620" y="137083"/>
                  </a:moveTo>
                  <a:lnTo>
                    <a:pt x="1422620" y="959582"/>
                  </a:lnTo>
                  <a:lnTo>
                    <a:pt x="1418948" y="973598"/>
                  </a:lnTo>
                  <a:lnTo>
                    <a:pt x="1390642" y="1000347"/>
                  </a:lnTo>
                  <a:lnTo>
                    <a:pt x="1336770" y="1024925"/>
                  </a:lnTo>
                  <a:lnTo>
                    <a:pt x="1260193" y="1046781"/>
                  </a:lnTo>
                  <a:lnTo>
                    <a:pt x="1214284" y="1056517"/>
                  </a:lnTo>
                  <a:lnTo>
                    <a:pt x="1163771" y="1065365"/>
                  </a:lnTo>
                  <a:lnTo>
                    <a:pt x="1109012" y="1073257"/>
                  </a:lnTo>
                  <a:lnTo>
                    <a:pt x="1050365" y="1080124"/>
                  </a:lnTo>
                  <a:lnTo>
                    <a:pt x="988186" y="1085897"/>
                  </a:lnTo>
                  <a:lnTo>
                    <a:pt x="922833" y="1090507"/>
                  </a:lnTo>
                  <a:lnTo>
                    <a:pt x="854665" y="1093885"/>
                  </a:lnTo>
                  <a:lnTo>
                    <a:pt x="784038" y="1095962"/>
                  </a:lnTo>
                  <a:lnTo>
                    <a:pt x="711310" y="1096670"/>
                  </a:lnTo>
                  <a:lnTo>
                    <a:pt x="638582" y="1095962"/>
                  </a:lnTo>
                  <a:lnTo>
                    <a:pt x="567956" y="1093885"/>
                  </a:lnTo>
                  <a:lnTo>
                    <a:pt x="499788" y="1090507"/>
                  </a:lnTo>
                  <a:lnTo>
                    <a:pt x="434436" y="1085897"/>
                  </a:lnTo>
                  <a:lnTo>
                    <a:pt x="372257" y="1080124"/>
                  </a:lnTo>
                  <a:lnTo>
                    <a:pt x="313609" y="1073257"/>
                  </a:lnTo>
                  <a:lnTo>
                    <a:pt x="258850" y="1065365"/>
                  </a:lnTo>
                  <a:lnTo>
                    <a:pt x="208337" y="1056517"/>
                  </a:lnTo>
                  <a:lnTo>
                    <a:pt x="162428" y="1046781"/>
                  </a:lnTo>
                  <a:lnTo>
                    <a:pt x="121480" y="1036228"/>
                  </a:lnTo>
                  <a:lnTo>
                    <a:pt x="55898" y="1012941"/>
                  </a:lnTo>
                  <a:lnTo>
                    <a:pt x="14451" y="987209"/>
                  </a:lnTo>
                  <a:lnTo>
                    <a:pt x="0" y="959582"/>
                  </a:lnTo>
                  <a:lnTo>
                    <a:pt x="0" y="137083"/>
                  </a:lnTo>
                </a:path>
              </a:pathLst>
            </a:custGeom>
            <a:ln w="9525">
              <a:solidFill>
                <a:srgbClr val="4140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0069500" y="1760220"/>
            <a:ext cx="1240790" cy="6597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12700" marR="5080">
              <a:lnSpc>
                <a:spcPct val="98600"/>
              </a:lnSpc>
              <a:spcBef>
                <a:spcPts val="120"/>
              </a:spcBef>
            </a:pPr>
            <a:r>
              <a:rPr dirty="0" sz="1400" spc="-5">
                <a:solidFill>
                  <a:srgbClr val="FFFFFF"/>
                </a:solidFill>
                <a:latin typeface="Arial"/>
                <a:cs typeface="Arial"/>
              </a:rPr>
              <a:t>LaRC</a:t>
            </a:r>
            <a:r>
              <a:rPr dirty="0" sz="1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Arial"/>
                <a:cs typeface="Arial"/>
              </a:rPr>
              <a:t>SmallSat  component  library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41651" y="2062670"/>
            <a:ext cx="1358900" cy="171450"/>
          </a:xfrm>
          <a:custGeom>
            <a:avLst/>
            <a:gdLst/>
            <a:ahLst/>
            <a:cxnLst/>
            <a:rect l="l" t="t" r="r" b="b"/>
            <a:pathLst>
              <a:path w="1358900" h="171450">
                <a:moveTo>
                  <a:pt x="1186840" y="0"/>
                </a:moveTo>
                <a:lnTo>
                  <a:pt x="1186840" y="171450"/>
                </a:lnTo>
                <a:lnTo>
                  <a:pt x="1301140" y="114300"/>
                </a:lnTo>
                <a:lnTo>
                  <a:pt x="1215415" y="114300"/>
                </a:lnTo>
                <a:lnTo>
                  <a:pt x="1215415" y="57150"/>
                </a:lnTo>
                <a:lnTo>
                  <a:pt x="1301140" y="57150"/>
                </a:lnTo>
                <a:lnTo>
                  <a:pt x="1186840" y="0"/>
                </a:lnTo>
                <a:close/>
              </a:path>
              <a:path w="1358900" h="171450">
                <a:moveTo>
                  <a:pt x="118684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186840" y="114300"/>
                </a:lnTo>
                <a:lnTo>
                  <a:pt x="1186840" y="57150"/>
                </a:lnTo>
                <a:close/>
              </a:path>
              <a:path w="1358900" h="171450">
                <a:moveTo>
                  <a:pt x="1301140" y="57150"/>
                </a:moveTo>
                <a:lnTo>
                  <a:pt x="1215415" y="57150"/>
                </a:lnTo>
                <a:lnTo>
                  <a:pt x="1215415" y="114300"/>
                </a:lnTo>
                <a:lnTo>
                  <a:pt x="1301140" y="114300"/>
                </a:lnTo>
                <a:lnTo>
                  <a:pt x="1358290" y="85725"/>
                </a:lnTo>
                <a:lnTo>
                  <a:pt x="1301140" y="57150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290153" y="1830324"/>
            <a:ext cx="12185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Python</a:t>
            </a:r>
            <a:r>
              <a:rPr dirty="0" sz="1400" spc="-6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scraper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067279" y="2662656"/>
            <a:ext cx="826769" cy="699770"/>
          </a:xfrm>
          <a:custGeom>
            <a:avLst/>
            <a:gdLst/>
            <a:ahLst/>
            <a:cxnLst/>
            <a:rect l="l" t="t" r="r" b="b"/>
            <a:pathLst>
              <a:path w="826770" h="699770">
                <a:moveTo>
                  <a:pt x="76250" y="523786"/>
                </a:moveTo>
                <a:lnTo>
                  <a:pt x="0" y="699655"/>
                </a:lnTo>
                <a:lnTo>
                  <a:pt x="186436" y="655142"/>
                </a:lnTo>
                <a:lnTo>
                  <a:pt x="165108" y="629716"/>
                </a:lnTo>
                <a:lnTo>
                  <a:pt x="127812" y="629716"/>
                </a:lnTo>
                <a:lnTo>
                  <a:pt x="91084" y="585939"/>
                </a:lnTo>
                <a:lnTo>
                  <a:pt x="112978" y="567571"/>
                </a:lnTo>
                <a:lnTo>
                  <a:pt x="76250" y="523786"/>
                </a:lnTo>
                <a:close/>
              </a:path>
              <a:path w="826770" h="699770">
                <a:moveTo>
                  <a:pt x="112978" y="567571"/>
                </a:moveTo>
                <a:lnTo>
                  <a:pt x="91084" y="585939"/>
                </a:lnTo>
                <a:lnTo>
                  <a:pt x="127812" y="629716"/>
                </a:lnTo>
                <a:lnTo>
                  <a:pt x="149703" y="611351"/>
                </a:lnTo>
                <a:lnTo>
                  <a:pt x="112978" y="567571"/>
                </a:lnTo>
                <a:close/>
              </a:path>
              <a:path w="826770" h="699770">
                <a:moveTo>
                  <a:pt x="149703" y="611351"/>
                </a:moveTo>
                <a:lnTo>
                  <a:pt x="127812" y="629716"/>
                </a:lnTo>
                <a:lnTo>
                  <a:pt x="165108" y="629716"/>
                </a:lnTo>
                <a:lnTo>
                  <a:pt x="149703" y="611351"/>
                </a:lnTo>
                <a:close/>
              </a:path>
              <a:path w="826770" h="699770">
                <a:moveTo>
                  <a:pt x="789495" y="0"/>
                </a:moveTo>
                <a:lnTo>
                  <a:pt x="112978" y="567571"/>
                </a:lnTo>
                <a:lnTo>
                  <a:pt x="149703" y="611351"/>
                </a:lnTo>
                <a:lnTo>
                  <a:pt x="826236" y="43776"/>
                </a:lnTo>
                <a:lnTo>
                  <a:pt x="789495" y="0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603219" y="2967228"/>
            <a:ext cx="14357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MagicDraw</a:t>
            </a:r>
            <a:r>
              <a:rPr dirty="0" sz="1400" spc="-5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plugin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50700" y="6404355"/>
            <a:ext cx="22009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939293"/>
                </a:solidFill>
                <a:latin typeface="Arial"/>
                <a:cs typeface="Arial"/>
                <a:hlinkClick r:id="rId3"/>
              </a:rPr>
              <a:t>www.incose.org/iw2021/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227892" y="6404355"/>
            <a:ext cx="25082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939293"/>
                </a:solidFill>
                <a:latin typeface="Arial"/>
                <a:cs typeface="Arial"/>
              </a:rPr>
              <a:t>13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14138" y="3784092"/>
            <a:ext cx="27635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414042"/>
                </a:solidFill>
                <a:latin typeface="Arial"/>
                <a:cs typeface="Arial"/>
                <a:hlinkClick r:id="rId2"/>
              </a:rPr>
              <a:t>www.incose.org/iw2021/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646919" y="4636007"/>
            <a:ext cx="2557272" cy="22219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755033" y="5458459"/>
            <a:ext cx="1194435" cy="8458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ts val="2125"/>
              </a:lnSpc>
            </a:pPr>
            <a:r>
              <a:rPr dirty="0" sz="1800" spc="-5">
                <a:solidFill>
                  <a:srgbClr val="414042"/>
                </a:solidFill>
                <a:latin typeface="Arial Black"/>
                <a:cs typeface="Arial Black"/>
              </a:rPr>
              <a:t>Lightning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800" spc="-15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720699"/>
            <a:ext cx="12173115" cy="16548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2021-02-27T17:21:34Z</dcterms:created>
  <dcterms:modified xsi:type="dcterms:W3CDTF">2021-02-27T17:21:34Z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2021-01-28T00:00:00Z</vt:filetime>
  </property>
  <property fmtid="{D5CDD505-2E9C-101B-9397-08002B2CF9AE}" pid="3" name="LastSaved">
    <vt:filetime>2021-02-27T00:00:00Z</vt:filetime>
  </property>
</Properties>
</file>
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layout1.xml" ContentType="application/vnd.openxmlformats-officedocument.drawingml.diagram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colors3.xml" ContentType="application/vnd.openxmlformats-officedocument.drawingml.diagramColor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1" r:id="rId1"/>
  </p:sldMasterIdLst>
  <p:notesMasterIdLst>
    <p:notesMasterId r:id="rId16"/>
  </p:notesMasterIdLst>
  <p:handoutMasterIdLst>
    <p:handoutMasterId r:id="rId17"/>
  </p:handoutMasterIdLst>
  <p:sldIdLst>
    <p:sldId id="257" r:id="rId2"/>
    <p:sldId id="258" r:id="rId3"/>
    <p:sldId id="306" r:id="rId4"/>
    <p:sldId id="307" r:id="rId5"/>
    <p:sldId id="308" r:id="rId6"/>
    <p:sldId id="309" r:id="rId7"/>
    <p:sldId id="311" r:id="rId8"/>
    <p:sldId id="312" r:id="rId9"/>
    <p:sldId id="313" r:id="rId10"/>
    <p:sldId id="314" r:id="rId11"/>
    <p:sldId id="277" r:id="rId12"/>
    <p:sldId id="283" r:id="rId13"/>
    <p:sldId id="284" r:id="rId14"/>
    <p:sldId id="285" r:id="rId1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6231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277" autoAdjust="0"/>
    <p:restoredTop sz="94660"/>
  </p:normalViewPr>
  <p:slideViewPr>
    <p:cSldViewPr>
      <p:cViewPr varScale="1">
        <p:scale>
          <a:sx n="71" d="100"/>
          <a:sy n="71" d="100"/>
        </p:scale>
        <p:origin x="-151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74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953B3E-FE0E-4132-8507-9B770972069A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CA238D8-41AA-42D1-A624-A4BE17E3489D}">
      <dgm:prSet phldrT="[Text]"/>
      <dgm:spPr/>
      <dgm:t>
        <a:bodyPr/>
        <a:lstStyle/>
        <a:p>
          <a:r>
            <a:rPr lang="en-US" b="1" dirty="0" smtClean="0"/>
            <a:t>Value</a:t>
          </a:r>
          <a:endParaRPr lang="en-US" b="1" dirty="0"/>
        </a:p>
      </dgm:t>
    </dgm:pt>
    <dgm:pt modelId="{6FA72C3A-72F3-40C1-8749-0403B7B19AEC}" type="parTrans" cxnId="{FE37E077-C1FA-4AC5-B890-C36DE75CB9AE}">
      <dgm:prSet/>
      <dgm:spPr/>
      <dgm:t>
        <a:bodyPr/>
        <a:lstStyle/>
        <a:p>
          <a:endParaRPr lang="en-US"/>
        </a:p>
      </dgm:t>
    </dgm:pt>
    <dgm:pt modelId="{1323FBD4-0185-4499-9C77-8B125A9EDECB}" type="sibTrans" cxnId="{FE37E077-C1FA-4AC5-B890-C36DE75CB9AE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US"/>
        </a:p>
      </dgm:t>
    </dgm:pt>
    <dgm:pt modelId="{DBB4C2F7-4009-4772-A287-018D1DFA27A3}">
      <dgm:prSet phldrT="[Text]"/>
      <dgm:spPr/>
      <dgm:t>
        <a:bodyPr/>
        <a:lstStyle/>
        <a:p>
          <a:r>
            <a:rPr lang="en-US" b="1" dirty="0" smtClean="0"/>
            <a:t>Quality</a:t>
          </a:r>
          <a:endParaRPr lang="en-US" b="1" dirty="0"/>
        </a:p>
      </dgm:t>
    </dgm:pt>
    <dgm:pt modelId="{36F840AF-7E1B-42F5-9FEA-00725135DC0C}" type="parTrans" cxnId="{44C1A03A-48EE-4CE5-8585-EC265DA22029}">
      <dgm:prSet/>
      <dgm:spPr/>
      <dgm:t>
        <a:bodyPr/>
        <a:lstStyle/>
        <a:p>
          <a:endParaRPr lang="en-US"/>
        </a:p>
      </dgm:t>
    </dgm:pt>
    <dgm:pt modelId="{3EBECECA-EEE9-4671-989E-9D199CD8E4F3}" type="sibTrans" cxnId="{44C1A03A-48EE-4CE5-8585-EC265DA22029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US"/>
        </a:p>
      </dgm:t>
    </dgm:pt>
    <dgm:pt modelId="{797F2B97-E140-44EC-B0A7-251A59CA45CE}">
      <dgm:prSet phldrT="[Text]"/>
      <dgm:spPr/>
      <dgm:t>
        <a:bodyPr/>
        <a:lstStyle/>
        <a:p>
          <a:r>
            <a:rPr lang="en-US" dirty="0" smtClean="0"/>
            <a:t>Practitioner-Driven</a:t>
          </a:r>
          <a:endParaRPr lang="en-US" dirty="0"/>
        </a:p>
      </dgm:t>
    </dgm:pt>
    <dgm:pt modelId="{8D02BC7A-3D51-4B34-9986-C9B1FE3CFFE5}" type="parTrans" cxnId="{3FD6B0BB-80DC-42AB-BEF1-FABF153F6717}">
      <dgm:prSet/>
      <dgm:spPr/>
      <dgm:t>
        <a:bodyPr/>
        <a:lstStyle/>
        <a:p>
          <a:endParaRPr lang="en-US"/>
        </a:p>
      </dgm:t>
    </dgm:pt>
    <dgm:pt modelId="{4215C9C7-68AC-4EC3-8995-A4834E0849E5}" type="sibTrans" cxnId="{3FD6B0BB-80DC-42AB-BEF1-FABF153F6717}">
      <dgm:prSet/>
      <dgm:spPr/>
      <dgm:t>
        <a:bodyPr/>
        <a:lstStyle/>
        <a:p>
          <a:endParaRPr lang="en-US"/>
        </a:p>
      </dgm:t>
    </dgm:pt>
    <dgm:pt modelId="{1D895A9F-66CD-4D6A-87C1-D6070AA2D1F9}">
      <dgm:prSet phldrT="[Text]"/>
      <dgm:spPr/>
      <dgm:t>
        <a:bodyPr/>
        <a:lstStyle/>
        <a:p>
          <a:r>
            <a:rPr lang="en-US" b="1" dirty="0" smtClean="0"/>
            <a:t>Results</a:t>
          </a:r>
          <a:endParaRPr lang="en-US" b="1" dirty="0"/>
        </a:p>
      </dgm:t>
    </dgm:pt>
    <dgm:pt modelId="{7AA8497B-C2CC-4C8E-AC5B-345ACBA48BB7}" type="parTrans" cxnId="{FC7A256F-CA42-4098-82B2-7BE13DF4416C}">
      <dgm:prSet/>
      <dgm:spPr/>
      <dgm:t>
        <a:bodyPr/>
        <a:lstStyle/>
        <a:p>
          <a:endParaRPr lang="en-US"/>
        </a:p>
      </dgm:t>
    </dgm:pt>
    <dgm:pt modelId="{EE563ECF-BA11-485C-9105-3B86BDDB9B0B}" type="sibTrans" cxnId="{FC7A256F-CA42-4098-82B2-7BE13DF4416C}">
      <dgm:prSet/>
      <dgm:spPr/>
      <dgm:t>
        <a:bodyPr/>
        <a:lstStyle/>
        <a:p>
          <a:endParaRPr lang="en-US"/>
        </a:p>
      </dgm:t>
    </dgm:pt>
    <dgm:pt modelId="{F8612028-6F88-4858-AC54-F76CAE6CE636}">
      <dgm:prSet phldrT="[Text]"/>
      <dgm:spPr/>
      <dgm:t>
        <a:bodyPr/>
        <a:lstStyle/>
        <a:p>
          <a:r>
            <a:rPr lang="en-US" dirty="0" smtClean="0"/>
            <a:t>Provider-Driven</a:t>
          </a:r>
          <a:endParaRPr lang="en-US" dirty="0"/>
        </a:p>
      </dgm:t>
    </dgm:pt>
    <dgm:pt modelId="{217EE81B-17E9-4ECD-A44B-ECAAC82F554C}" type="parTrans" cxnId="{33939C41-5E32-4666-AB99-99D212C8DF44}">
      <dgm:prSet/>
      <dgm:spPr/>
      <dgm:t>
        <a:bodyPr/>
        <a:lstStyle/>
        <a:p>
          <a:endParaRPr lang="en-US"/>
        </a:p>
      </dgm:t>
    </dgm:pt>
    <dgm:pt modelId="{EBCD7AA3-FFCF-492D-BBCF-DF14AFE4441E}" type="sibTrans" cxnId="{33939C41-5E32-4666-AB99-99D212C8DF44}">
      <dgm:prSet/>
      <dgm:spPr/>
      <dgm:t>
        <a:bodyPr/>
        <a:lstStyle/>
        <a:p>
          <a:endParaRPr lang="en-US"/>
        </a:p>
      </dgm:t>
    </dgm:pt>
    <dgm:pt modelId="{B137D134-E00F-4B03-8649-9260A5728E45}">
      <dgm:prSet phldrT="[Text]"/>
      <dgm:spPr/>
      <dgm:t>
        <a:bodyPr/>
        <a:lstStyle/>
        <a:p>
          <a:r>
            <a:rPr lang="en-US" dirty="0" smtClean="0"/>
            <a:t>Patient-Driven</a:t>
          </a:r>
          <a:endParaRPr lang="en-US" dirty="0"/>
        </a:p>
      </dgm:t>
    </dgm:pt>
    <dgm:pt modelId="{A56E3852-5D08-455E-934F-CC4A209DEBA1}" type="sibTrans" cxnId="{E546E067-D952-4C16-BF55-4CDDE33654ED}">
      <dgm:prSet/>
      <dgm:spPr/>
      <dgm:t>
        <a:bodyPr/>
        <a:lstStyle/>
        <a:p>
          <a:endParaRPr lang="en-US"/>
        </a:p>
      </dgm:t>
    </dgm:pt>
    <dgm:pt modelId="{F18D071C-91F5-4256-9C04-9045C1A99306}" type="parTrans" cxnId="{E546E067-D952-4C16-BF55-4CDDE33654ED}">
      <dgm:prSet/>
      <dgm:spPr/>
      <dgm:t>
        <a:bodyPr/>
        <a:lstStyle/>
        <a:p>
          <a:endParaRPr lang="en-US"/>
        </a:p>
      </dgm:t>
    </dgm:pt>
    <dgm:pt modelId="{1E153542-D7E0-4561-8633-4F9C38EBC364}" type="pres">
      <dgm:prSet presAssocID="{BF953B3E-FE0E-4132-8507-9B770972069A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C6F8402-BB6D-4E54-A9CD-7AF6DDC9F657}" type="pres">
      <dgm:prSet presAssocID="{BF953B3E-FE0E-4132-8507-9B770972069A}" presName="dummyMaxCanvas" presStyleCnt="0">
        <dgm:presLayoutVars/>
      </dgm:prSet>
      <dgm:spPr/>
    </dgm:pt>
    <dgm:pt modelId="{19112690-9CC1-42CA-92EF-22A5046497D0}" type="pres">
      <dgm:prSet presAssocID="{BF953B3E-FE0E-4132-8507-9B770972069A}" presName="ThreeNodes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4FCDAAD-01F0-4B5F-AC01-AA624E3EDD7F}" type="pres">
      <dgm:prSet presAssocID="{BF953B3E-FE0E-4132-8507-9B770972069A}" presName="ThreeNodes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74B58B-DD19-4846-902F-F2A0A40B53F0}" type="pres">
      <dgm:prSet presAssocID="{BF953B3E-FE0E-4132-8507-9B770972069A}" presName="ThreeNodes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A0F8408-68AE-4879-BCBB-6F1D070EBBEC}" type="pres">
      <dgm:prSet presAssocID="{BF953B3E-FE0E-4132-8507-9B770972069A}" presName="ThreeConn_1-2" presStyleLbl="f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C27DFCF-341C-4832-B707-7562421074B8}" type="pres">
      <dgm:prSet presAssocID="{BF953B3E-FE0E-4132-8507-9B770972069A}" presName="ThreeConn_2-3" presStyleLbl="f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7EC5E8-DE49-43E0-8D6A-67245C3D29F1}" type="pres">
      <dgm:prSet presAssocID="{BF953B3E-FE0E-4132-8507-9B770972069A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8F0F54D-BDA7-46C0-84B2-112BAAC12E67}" type="pres">
      <dgm:prSet presAssocID="{BF953B3E-FE0E-4132-8507-9B770972069A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643E70-788A-439F-A22B-D54BB71AE1B4}" type="pres">
      <dgm:prSet presAssocID="{BF953B3E-FE0E-4132-8507-9B770972069A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FC39E0C-409E-499E-A066-B09A77E59F99}" type="presOf" srcId="{7CA238D8-41AA-42D1-A624-A4BE17E3489D}" destId="{C67EC5E8-DE49-43E0-8D6A-67245C3D29F1}" srcOrd="1" destOrd="0" presId="urn:microsoft.com/office/officeart/2005/8/layout/vProcess5"/>
    <dgm:cxn modelId="{3FD6B0BB-80DC-42AB-BEF1-FABF153F6717}" srcId="{DBB4C2F7-4009-4772-A287-018D1DFA27A3}" destId="{797F2B97-E140-44EC-B0A7-251A59CA45CE}" srcOrd="0" destOrd="0" parTransId="{8D02BC7A-3D51-4B34-9986-C9B1FE3CFFE5}" sibTransId="{4215C9C7-68AC-4EC3-8995-A4834E0849E5}"/>
    <dgm:cxn modelId="{7B1C84E5-41AE-4B1C-A51A-304B209AEB10}" type="presOf" srcId="{DBB4C2F7-4009-4772-A287-018D1DFA27A3}" destId="{78F0F54D-BDA7-46C0-84B2-112BAAC12E67}" srcOrd="1" destOrd="0" presId="urn:microsoft.com/office/officeart/2005/8/layout/vProcess5"/>
    <dgm:cxn modelId="{33939C41-5E32-4666-AB99-99D212C8DF44}" srcId="{1D895A9F-66CD-4D6A-87C1-D6070AA2D1F9}" destId="{F8612028-6F88-4858-AC54-F76CAE6CE636}" srcOrd="0" destOrd="0" parTransId="{217EE81B-17E9-4ECD-A44B-ECAAC82F554C}" sibTransId="{EBCD7AA3-FFCF-492D-BBCF-DF14AFE4441E}"/>
    <dgm:cxn modelId="{0A3E0E45-B624-4356-B81C-30839B24F11F}" type="presOf" srcId="{F8612028-6F88-4858-AC54-F76CAE6CE636}" destId="{F374B58B-DD19-4846-902F-F2A0A40B53F0}" srcOrd="0" destOrd="1" presId="urn:microsoft.com/office/officeart/2005/8/layout/vProcess5"/>
    <dgm:cxn modelId="{E546E067-D952-4C16-BF55-4CDDE33654ED}" srcId="{7CA238D8-41AA-42D1-A624-A4BE17E3489D}" destId="{B137D134-E00F-4B03-8649-9260A5728E45}" srcOrd="0" destOrd="0" parTransId="{F18D071C-91F5-4256-9C04-9045C1A99306}" sibTransId="{A56E3852-5D08-455E-934F-CC4A209DEBA1}"/>
    <dgm:cxn modelId="{5E4C8615-363F-4D43-9132-140217DF08BF}" type="presOf" srcId="{1D895A9F-66CD-4D6A-87C1-D6070AA2D1F9}" destId="{55643E70-788A-439F-A22B-D54BB71AE1B4}" srcOrd="1" destOrd="0" presId="urn:microsoft.com/office/officeart/2005/8/layout/vProcess5"/>
    <dgm:cxn modelId="{88FDCB47-221C-46F5-8D3E-D9D0A3BFCAE8}" type="presOf" srcId="{DBB4C2F7-4009-4772-A287-018D1DFA27A3}" destId="{44FCDAAD-01F0-4B5F-AC01-AA624E3EDD7F}" srcOrd="0" destOrd="0" presId="urn:microsoft.com/office/officeart/2005/8/layout/vProcess5"/>
    <dgm:cxn modelId="{FC7A256F-CA42-4098-82B2-7BE13DF4416C}" srcId="{BF953B3E-FE0E-4132-8507-9B770972069A}" destId="{1D895A9F-66CD-4D6A-87C1-D6070AA2D1F9}" srcOrd="2" destOrd="0" parTransId="{7AA8497B-C2CC-4C8E-AC5B-345ACBA48BB7}" sibTransId="{EE563ECF-BA11-485C-9105-3B86BDDB9B0B}"/>
    <dgm:cxn modelId="{B3AA4A58-BD30-4369-9C90-ABC3FA9D9B5E}" type="presOf" srcId="{1D895A9F-66CD-4D6A-87C1-D6070AA2D1F9}" destId="{F374B58B-DD19-4846-902F-F2A0A40B53F0}" srcOrd="0" destOrd="0" presId="urn:microsoft.com/office/officeart/2005/8/layout/vProcess5"/>
    <dgm:cxn modelId="{A2E4DC98-179A-4AC2-A25F-7BE11AD663AA}" type="presOf" srcId="{3EBECECA-EEE9-4671-989E-9D199CD8E4F3}" destId="{BC27DFCF-341C-4832-B707-7562421074B8}" srcOrd="0" destOrd="0" presId="urn:microsoft.com/office/officeart/2005/8/layout/vProcess5"/>
    <dgm:cxn modelId="{44C1A03A-48EE-4CE5-8585-EC265DA22029}" srcId="{BF953B3E-FE0E-4132-8507-9B770972069A}" destId="{DBB4C2F7-4009-4772-A287-018D1DFA27A3}" srcOrd="1" destOrd="0" parTransId="{36F840AF-7E1B-42F5-9FEA-00725135DC0C}" sibTransId="{3EBECECA-EEE9-4671-989E-9D199CD8E4F3}"/>
    <dgm:cxn modelId="{318C3011-DD1B-4CC5-BBD7-2BCE0BA5F109}" type="presOf" srcId="{BF953B3E-FE0E-4132-8507-9B770972069A}" destId="{1E153542-D7E0-4561-8633-4F9C38EBC364}" srcOrd="0" destOrd="0" presId="urn:microsoft.com/office/officeart/2005/8/layout/vProcess5"/>
    <dgm:cxn modelId="{78FFFAF4-A2B4-404B-B314-43CB47A5DBAD}" type="presOf" srcId="{1323FBD4-0185-4499-9C77-8B125A9EDECB}" destId="{6A0F8408-68AE-4879-BCBB-6F1D070EBBEC}" srcOrd="0" destOrd="0" presId="urn:microsoft.com/office/officeart/2005/8/layout/vProcess5"/>
    <dgm:cxn modelId="{0B11FB20-F812-4F50-837F-60E9F08A801D}" type="presOf" srcId="{F8612028-6F88-4858-AC54-F76CAE6CE636}" destId="{55643E70-788A-439F-A22B-D54BB71AE1B4}" srcOrd="1" destOrd="1" presId="urn:microsoft.com/office/officeart/2005/8/layout/vProcess5"/>
    <dgm:cxn modelId="{FE37E077-C1FA-4AC5-B890-C36DE75CB9AE}" srcId="{BF953B3E-FE0E-4132-8507-9B770972069A}" destId="{7CA238D8-41AA-42D1-A624-A4BE17E3489D}" srcOrd="0" destOrd="0" parTransId="{6FA72C3A-72F3-40C1-8749-0403B7B19AEC}" sibTransId="{1323FBD4-0185-4499-9C77-8B125A9EDECB}"/>
    <dgm:cxn modelId="{ED0DEEBB-0039-4345-97F3-89EE58325517}" type="presOf" srcId="{B137D134-E00F-4B03-8649-9260A5728E45}" destId="{C67EC5E8-DE49-43E0-8D6A-67245C3D29F1}" srcOrd="1" destOrd="1" presId="urn:microsoft.com/office/officeart/2005/8/layout/vProcess5"/>
    <dgm:cxn modelId="{084965CE-B948-41BD-8C45-13F022DA0807}" type="presOf" srcId="{797F2B97-E140-44EC-B0A7-251A59CA45CE}" destId="{78F0F54D-BDA7-46C0-84B2-112BAAC12E67}" srcOrd="1" destOrd="1" presId="urn:microsoft.com/office/officeart/2005/8/layout/vProcess5"/>
    <dgm:cxn modelId="{1FF41F56-B8CB-46FE-A12A-5CC3C0A44847}" type="presOf" srcId="{797F2B97-E140-44EC-B0A7-251A59CA45CE}" destId="{44FCDAAD-01F0-4B5F-AC01-AA624E3EDD7F}" srcOrd="0" destOrd="1" presId="urn:microsoft.com/office/officeart/2005/8/layout/vProcess5"/>
    <dgm:cxn modelId="{4853799E-7977-4716-8F14-8347D415FD80}" type="presOf" srcId="{B137D134-E00F-4B03-8649-9260A5728E45}" destId="{19112690-9CC1-42CA-92EF-22A5046497D0}" srcOrd="0" destOrd="1" presId="urn:microsoft.com/office/officeart/2005/8/layout/vProcess5"/>
    <dgm:cxn modelId="{A418437F-C91B-4FB7-B005-397E3F7EA769}" type="presOf" srcId="{7CA238D8-41AA-42D1-A624-A4BE17E3489D}" destId="{19112690-9CC1-42CA-92EF-22A5046497D0}" srcOrd="0" destOrd="0" presId="urn:microsoft.com/office/officeart/2005/8/layout/vProcess5"/>
    <dgm:cxn modelId="{CC315817-A8E5-4444-89FE-9AEF83F0065D}" type="presParOf" srcId="{1E153542-D7E0-4561-8633-4F9C38EBC364}" destId="{7C6F8402-BB6D-4E54-A9CD-7AF6DDC9F657}" srcOrd="0" destOrd="0" presId="urn:microsoft.com/office/officeart/2005/8/layout/vProcess5"/>
    <dgm:cxn modelId="{53A276B2-C56D-48AA-A145-3366007F1F3B}" type="presParOf" srcId="{1E153542-D7E0-4561-8633-4F9C38EBC364}" destId="{19112690-9CC1-42CA-92EF-22A5046497D0}" srcOrd="1" destOrd="0" presId="urn:microsoft.com/office/officeart/2005/8/layout/vProcess5"/>
    <dgm:cxn modelId="{5011C9C9-663B-40C7-9ADD-FBCD4E788359}" type="presParOf" srcId="{1E153542-D7E0-4561-8633-4F9C38EBC364}" destId="{44FCDAAD-01F0-4B5F-AC01-AA624E3EDD7F}" srcOrd="2" destOrd="0" presId="urn:microsoft.com/office/officeart/2005/8/layout/vProcess5"/>
    <dgm:cxn modelId="{7E16B21F-FA24-40FA-9182-84BF6FBDAEA5}" type="presParOf" srcId="{1E153542-D7E0-4561-8633-4F9C38EBC364}" destId="{F374B58B-DD19-4846-902F-F2A0A40B53F0}" srcOrd="3" destOrd="0" presId="urn:microsoft.com/office/officeart/2005/8/layout/vProcess5"/>
    <dgm:cxn modelId="{9D66A8BC-2D21-4C8B-B66F-BCAB8DE5D142}" type="presParOf" srcId="{1E153542-D7E0-4561-8633-4F9C38EBC364}" destId="{6A0F8408-68AE-4879-BCBB-6F1D070EBBEC}" srcOrd="4" destOrd="0" presId="urn:microsoft.com/office/officeart/2005/8/layout/vProcess5"/>
    <dgm:cxn modelId="{FFB1AA6D-4C78-4A96-8A90-44529D5724F4}" type="presParOf" srcId="{1E153542-D7E0-4561-8633-4F9C38EBC364}" destId="{BC27DFCF-341C-4832-B707-7562421074B8}" srcOrd="5" destOrd="0" presId="urn:microsoft.com/office/officeart/2005/8/layout/vProcess5"/>
    <dgm:cxn modelId="{461FFDEE-E8B2-47CC-9DF0-D6D7DA0C430E}" type="presParOf" srcId="{1E153542-D7E0-4561-8633-4F9C38EBC364}" destId="{C67EC5E8-DE49-43E0-8D6A-67245C3D29F1}" srcOrd="6" destOrd="0" presId="urn:microsoft.com/office/officeart/2005/8/layout/vProcess5"/>
    <dgm:cxn modelId="{2FA81E3E-B403-4CDD-B545-CBA4AF22F6F5}" type="presParOf" srcId="{1E153542-D7E0-4561-8633-4F9C38EBC364}" destId="{78F0F54D-BDA7-46C0-84B2-112BAAC12E67}" srcOrd="7" destOrd="0" presId="urn:microsoft.com/office/officeart/2005/8/layout/vProcess5"/>
    <dgm:cxn modelId="{B95312C8-790B-4A48-BFAD-1B6C5E275753}" type="presParOf" srcId="{1E153542-D7E0-4561-8633-4F9C38EBC364}" destId="{55643E70-788A-439F-A22B-D54BB71AE1B4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0769C5-73DC-4E8A-913F-24C08F2848CC}" type="doc">
      <dgm:prSet loTypeId="urn:microsoft.com/office/officeart/2005/8/layout/funnel1" loCatId="relationship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E624CA-334A-4EB5-BD8E-55849449CB58}">
      <dgm:prSet phldrT="[Text]" custT="1"/>
      <dgm:spPr/>
      <dgm:t>
        <a:bodyPr/>
        <a:lstStyle/>
        <a:p>
          <a:r>
            <a:rPr lang="en-US" sz="1050" b="1" dirty="0" smtClean="0"/>
            <a:t>Technology</a:t>
          </a:r>
          <a:endParaRPr lang="en-US" sz="1050" b="1" dirty="0"/>
        </a:p>
      </dgm:t>
    </dgm:pt>
    <dgm:pt modelId="{266A8274-3F4A-4440-B921-C6DE3F6B873C}" type="parTrans" cxnId="{0AB85BF0-1CEA-40C6-9CCA-88179EFB89BB}">
      <dgm:prSet/>
      <dgm:spPr/>
      <dgm:t>
        <a:bodyPr/>
        <a:lstStyle/>
        <a:p>
          <a:endParaRPr lang="en-US" b="1"/>
        </a:p>
      </dgm:t>
    </dgm:pt>
    <dgm:pt modelId="{4C230F2A-173C-40BF-A4C2-7E5B13B46B9A}" type="sibTrans" cxnId="{0AB85BF0-1CEA-40C6-9CCA-88179EFB89BB}">
      <dgm:prSet/>
      <dgm:spPr/>
      <dgm:t>
        <a:bodyPr/>
        <a:lstStyle/>
        <a:p>
          <a:endParaRPr lang="en-US" b="1"/>
        </a:p>
      </dgm:t>
    </dgm:pt>
    <dgm:pt modelId="{42874977-2580-429E-9A3F-5B0A5A2948AF}">
      <dgm:prSet phldrT="[Text]" custT="1"/>
      <dgm:spPr/>
      <dgm:t>
        <a:bodyPr/>
        <a:lstStyle/>
        <a:p>
          <a:r>
            <a:rPr lang="en-US" sz="1050" b="1" dirty="0" smtClean="0"/>
            <a:t>Ideas</a:t>
          </a:r>
          <a:endParaRPr lang="en-US" sz="1050" b="1" dirty="0"/>
        </a:p>
      </dgm:t>
    </dgm:pt>
    <dgm:pt modelId="{877779FA-F1F3-4080-8170-6F66203C1ADC}" type="parTrans" cxnId="{FAAECAC7-2CFC-4F19-8C5D-6E4D71D6E87D}">
      <dgm:prSet/>
      <dgm:spPr/>
      <dgm:t>
        <a:bodyPr/>
        <a:lstStyle/>
        <a:p>
          <a:endParaRPr lang="en-US" b="1"/>
        </a:p>
      </dgm:t>
    </dgm:pt>
    <dgm:pt modelId="{A81BCB58-7697-467D-9C3B-965DA2A1B17C}" type="sibTrans" cxnId="{FAAECAC7-2CFC-4F19-8C5D-6E4D71D6E87D}">
      <dgm:prSet/>
      <dgm:spPr/>
      <dgm:t>
        <a:bodyPr/>
        <a:lstStyle/>
        <a:p>
          <a:endParaRPr lang="en-US" b="1"/>
        </a:p>
      </dgm:t>
    </dgm:pt>
    <dgm:pt modelId="{973D7B39-D5D2-4B89-A3E7-1C0B9FD794DD}">
      <dgm:prSet phldrT="[Text]"/>
      <dgm:spPr/>
      <dgm:t>
        <a:bodyPr/>
        <a:lstStyle/>
        <a:p>
          <a:r>
            <a:rPr lang="en-US" b="1" dirty="0" smtClean="0"/>
            <a:t>Resources</a:t>
          </a:r>
          <a:endParaRPr lang="en-US" b="1" dirty="0"/>
        </a:p>
      </dgm:t>
    </dgm:pt>
    <dgm:pt modelId="{78954B27-6FCF-43C1-85B8-D3D3416E87FB}" type="parTrans" cxnId="{7321EFB7-9943-4AB2-A514-37083402F7F9}">
      <dgm:prSet/>
      <dgm:spPr/>
      <dgm:t>
        <a:bodyPr/>
        <a:lstStyle/>
        <a:p>
          <a:endParaRPr lang="en-US" b="1"/>
        </a:p>
      </dgm:t>
    </dgm:pt>
    <dgm:pt modelId="{5CD25503-0F80-4BCC-9AA0-B017F228E510}" type="sibTrans" cxnId="{7321EFB7-9943-4AB2-A514-37083402F7F9}">
      <dgm:prSet/>
      <dgm:spPr/>
      <dgm:t>
        <a:bodyPr/>
        <a:lstStyle/>
        <a:p>
          <a:endParaRPr lang="en-US" b="1"/>
        </a:p>
      </dgm:t>
    </dgm:pt>
    <dgm:pt modelId="{39749F21-8792-4349-A6A7-BF01EB94F789}">
      <dgm:prSet phldrT="[Text]"/>
      <dgm:spPr/>
      <dgm:t>
        <a:bodyPr/>
        <a:lstStyle/>
        <a:p>
          <a:r>
            <a:rPr lang="en-US" b="1" dirty="0" smtClean="0">
              <a:solidFill>
                <a:schemeClr val="tx2">
                  <a:lumMod val="75000"/>
                </a:schemeClr>
              </a:solidFill>
            </a:rPr>
            <a:t>Innovation</a:t>
          </a:r>
          <a:endParaRPr lang="en-US" b="1" dirty="0">
            <a:solidFill>
              <a:schemeClr val="tx2">
                <a:lumMod val="75000"/>
              </a:schemeClr>
            </a:solidFill>
          </a:endParaRPr>
        </a:p>
      </dgm:t>
    </dgm:pt>
    <dgm:pt modelId="{0D7C5BC1-381F-4F7F-B459-EC668E257A76}" type="parTrans" cxnId="{61A90DDC-A775-406A-BC0A-28A4EA596504}">
      <dgm:prSet/>
      <dgm:spPr/>
      <dgm:t>
        <a:bodyPr/>
        <a:lstStyle/>
        <a:p>
          <a:endParaRPr lang="en-US" b="1"/>
        </a:p>
      </dgm:t>
    </dgm:pt>
    <dgm:pt modelId="{9548677D-661F-4408-85F7-A8238D4F15D7}" type="sibTrans" cxnId="{61A90DDC-A775-406A-BC0A-28A4EA596504}">
      <dgm:prSet/>
      <dgm:spPr/>
      <dgm:t>
        <a:bodyPr/>
        <a:lstStyle/>
        <a:p>
          <a:endParaRPr lang="en-US" b="1"/>
        </a:p>
      </dgm:t>
    </dgm:pt>
    <dgm:pt modelId="{D7B10E75-58CC-4807-BD47-EBDD0F301C5F}" type="pres">
      <dgm:prSet presAssocID="{E20769C5-73DC-4E8A-913F-24C08F2848CC}" presName="Name0" presStyleCnt="0">
        <dgm:presLayoutVars>
          <dgm:chMax val="4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1C58007-ADFE-400C-A7E7-0C16929F4834}" type="pres">
      <dgm:prSet presAssocID="{E20769C5-73DC-4E8A-913F-24C08F2848CC}" presName="ellipse" presStyleLbl="trBgShp" presStyleIdx="0" presStyleCnt="1"/>
      <dgm:spPr/>
    </dgm:pt>
    <dgm:pt modelId="{BE474BB7-A5E2-4490-A567-03B382957073}" type="pres">
      <dgm:prSet presAssocID="{E20769C5-73DC-4E8A-913F-24C08F2848CC}" presName="arrow1" presStyleLbl="fgShp" presStyleIdx="0" presStyleCnt="1" custLinFactNeighborX="-12222" custLinFactNeighborY="86714"/>
      <dgm:spPr/>
    </dgm:pt>
    <dgm:pt modelId="{0B61870B-E2AE-47B9-90BE-64D52B77842D}" type="pres">
      <dgm:prSet presAssocID="{E20769C5-73DC-4E8A-913F-24C08F2848CC}" presName="rectangle" presStyleLbl="revTx" presStyleIdx="0" presStyleCnt="1" custScaleX="70370" custLinFactNeighborX="-1852" custLinFactNeighborY="5172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60B18C-0F12-415C-B2B5-B0D612D38936}" type="pres">
      <dgm:prSet presAssocID="{42874977-2580-429E-9A3F-5B0A5A2948AF}" presName="item1" presStyleLbl="node1" presStyleIdx="0" presStyleCnt="3" custScaleX="147013" custScaleY="103048" custLinFactNeighborX="-2088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6B2562-BEBF-42CE-9FF0-1BBD38426426}" type="pres">
      <dgm:prSet presAssocID="{973D7B39-D5D2-4B89-A3E7-1C0B9FD794DD}" presName="item2" presStyleLbl="node1" presStyleIdx="1" presStyleCnt="3" custScaleX="125185" custScaleY="102179" custLinFactNeighborX="-148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00B4C8-12E4-4D00-876C-94377F786E85}" type="pres">
      <dgm:prSet presAssocID="{39749F21-8792-4349-A6A7-BF01EB94F789}" presName="item3" presStyleLbl="node1" presStyleIdx="2" presStyleCnt="3" custScaleX="125185" custScaleY="102179" custLinFactNeighborX="-148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FE8F55-FE62-4CE9-AB0C-1431255D3302}" type="pres">
      <dgm:prSet presAssocID="{E20769C5-73DC-4E8A-913F-24C08F2848CC}" presName="funnel" presStyleLbl="trAlignAcc1" presStyleIdx="0" presStyleCnt="1" custScaleY="114285" custLinFactNeighborX="-2381" custLinFactNeighborY="-231"/>
      <dgm:spPr/>
      <dgm:t>
        <a:bodyPr/>
        <a:lstStyle/>
        <a:p>
          <a:endParaRPr lang="en-US"/>
        </a:p>
      </dgm:t>
    </dgm:pt>
  </dgm:ptLst>
  <dgm:cxnLst>
    <dgm:cxn modelId="{716799BA-ECBC-48CC-9874-0324F33AF11A}" type="presOf" srcId="{39749F21-8792-4349-A6A7-BF01EB94F789}" destId="{0B61870B-E2AE-47B9-90BE-64D52B77842D}" srcOrd="0" destOrd="0" presId="urn:microsoft.com/office/officeart/2005/8/layout/funnel1"/>
    <dgm:cxn modelId="{92ECECAC-0546-4913-9A3A-4EF5CB14B533}" type="presOf" srcId="{42874977-2580-429E-9A3F-5B0A5A2948AF}" destId="{F96B2562-BEBF-42CE-9FF0-1BBD38426426}" srcOrd="0" destOrd="0" presId="urn:microsoft.com/office/officeart/2005/8/layout/funnel1"/>
    <dgm:cxn modelId="{0AB85BF0-1CEA-40C6-9CCA-88179EFB89BB}" srcId="{E20769C5-73DC-4E8A-913F-24C08F2848CC}" destId="{CAE624CA-334A-4EB5-BD8E-55849449CB58}" srcOrd="0" destOrd="0" parTransId="{266A8274-3F4A-4440-B921-C6DE3F6B873C}" sibTransId="{4C230F2A-173C-40BF-A4C2-7E5B13B46B9A}"/>
    <dgm:cxn modelId="{7321EFB7-9943-4AB2-A514-37083402F7F9}" srcId="{E20769C5-73DC-4E8A-913F-24C08F2848CC}" destId="{973D7B39-D5D2-4B89-A3E7-1C0B9FD794DD}" srcOrd="2" destOrd="0" parTransId="{78954B27-6FCF-43C1-85B8-D3D3416E87FB}" sibTransId="{5CD25503-0F80-4BCC-9AA0-B017F228E510}"/>
    <dgm:cxn modelId="{61A90DDC-A775-406A-BC0A-28A4EA596504}" srcId="{E20769C5-73DC-4E8A-913F-24C08F2848CC}" destId="{39749F21-8792-4349-A6A7-BF01EB94F789}" srcOrd="3" destOrd="0" parTransId="{0D7C5BC1-381F-4F7F-B459-EC668E257A76}" sibTransId="{9548677D-661F-4408-85F7-A8238D4F15D7}"/>
    <dgm:cxn modelId="{87C9B43D-B3E5-4592-8FB2-E4D6BD873C9A}" type="presOf" srcId="{CAE624CA-334A-4EB5-BD8E-55849449CB58}" destId="{1700B4C8-12E4-4D00-876C-94377F786E85}" srcOrd="0" destOrd="0" presId="urn:microsoft.com/office/officeart/2005/8/layout/funnel1"/>
    <dgm:cxn modelId="{717C08D3-60C5-4EA7-8397-08C59B4965F9}" type="presOf" srcId="{E20769C5-73DC-4E8A-913F-24C08F2848CC}" destId="{D7B10E75-58CC-4807-BD47-EBDD0F301C5F}" srcOrd="0" destOrd="0" presId="urn:microsoft.com/office/officeart/2005/8/layout/funnel1"/>
    <dgm:cxn modelId="{841CA123-AC0B-4F79-973E-B1E9F9E56E2F}" type="presOf" srcId="{973D7B39-D5D2-4B89-A3E7-1C0B9FD794DD}" destId="{3260B18C-0F12-415C-B2B5-B0D612D38936}" srcOrd="0" destOrd="0" presId="urn:microsoft.com/office/officeart/2005/8/layout/funnel1"/>
    <dgm:cxn modelId="{FAAECAC7-2CFC-4F19-8C5D-6E4D71D6E87D}" srcId="{E20769C5-73DC-4E8A-913F-24C08F2848CC}" destId="{42874977-2580-429E-9A3F-5B0A5A2948AF}" srcOrd="1" destOrd="0" parTransId="{877779FA-F1F3-4080-8170-6F66203C1ADC}" sibTransId="{A81BCB58-7697-467D-9C3B-965DA2A1B17C}"/>
    <dgm:cxn modelId="{3B53AA57-753E-42D7-AD96-002A2FB8B7DA}" type="presParOf" srcId="{D7B10E75-58CC-4807-BD47-EBDD0F301C5F}" destId="{E1C58007-ADFE-400C-A7E7-0C16929F4834}" srcOrd="0" destOrd="0" presId="urn:microsoft.com/office/officeart/2005/8/layout/funnel1"/>
    <dgm:cxn modelId="{ECC0A3A0-699C-4AF6-A03F-04FB6A483A7B}" type="presParOf" srcId="{D7B10E75-58CC-4807-BD47-EBDD0F301C5F}" destId="{BE474BB7-A5E2-4490-A567-03B382957073}" srcOrd="1" destOrd="0" presId="urn:microsoft.com/office/officeart/2005/8/layout/funnel1"/>
    <dgm:cxn modelId="{F0727630-8D16-46AB-84D9-FC1244121FD6}" type="presParOf" srcId="{D7B10E75-58CC-4807-BD47-EBDD0F301C5F}" destId="{0B61870B-E2AE-47B9-90BE-64D52B77842D}" srcOrd="2" destOrd="0" presId="urn:microsoft.com/office/officeart/2005/8/layout/funnel1"/>
    <dgm:cxn modelId="{CF3B60FA-F2F8-4601-99C6-43C81A5D6956}" type="presParOf" srcId="{D7B10E75-58CC-4807-BD47-EBDD0F301C5F}" destId="{3260B18C-0F12-415C-B2B5-B0D612D38936}" srcOrd="3" destOrd="0" presId="urn:microsoft.com/office/officeart/2005/8/layout/funnel1"/>
    <dgm:cxn modelId="{9A01B11B-2EC6-497C-A399-40556FF35A18}" type="presParOf" srcId="{D7B10E75-58CC-4807-BD47-EBDD0F301C5F}" destId="{F96B2562-BEBF-42CE-9FF0-1BBD38426426}" srcOrd="4" destOrd="0" presId="urn:microsoft.com/office/officeart/2005/8/layout/funnel1"/>
    <dgm:cxn modelId="{E9F20009-C217-45DB-9595-3B9BD6713196}" type="presParOf" srcId="{D7B10E75-58CC-4807-BD47-EBDD0F301C5F}" destId="{1700B4C8-12E4-4D00-876C-94377F786E85}" srcOrd="5" destOrd="0" presId="urn:microsoft.com/office/officeart/2005/8/layout/funnel1"/>
    <dgm:cxn modelId="{07D0DC80-41A4-4E0F-93C4-0080A5BA93F0}" type="presParOf" srcId="{D7B10E75-58CC-4807-BD47-EBDD0F301C5F}" destId="{CDFE8F55-FE62-4CE9-AB0C-1431255D3302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73AE5C1-39E1-47D6-9713-8CA9BE6EA1DA}" type="doc">
      <dgm:prSet loTypeId="urn:microsoft.com/office/officeart/2005/8/layout/hProcess9" loCatId="process" qsTypeId="urn:microsoft.com/office/officeart/2005/8/quickstyle/simple4" qsCatId="simple" csTypeId="urn:microsoft.com/office/officeart/2005/8/colors/accent1_2" csCatId="accent1" phldr="1"/>
      <dgm:spPr/>
    </dgm:pt>
    <dgm:pt modelId="{56F0B946-F863-43B5-9AE7-3ED2571CC1F7}">
      <dgm:prSet phldrT="[Text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sz="1600" b="1" dirty="0" smtClean="0"/>
            <a:t>New Concepts</a:t>
          </a:r>
          <a:endParaRPr lang="en-US" sz="1600" b="1" dirty="0"/>
        </a:p>
      </dgm:t>
    </dgm:pt>
    <dgm:pt modelId="{F90C4F27-7C52-43B8-B857-1E6F68F3A0F9}" type="parTrans" cxnId="{BBBA1413-C0B6-46CE-A30D-94152ED34DE8}">
      <dgm:prSet/>
      <dgm:spPr/>
      <dgm:t>
        <a:bodyPr/>
        <a:lstStyle/>
        <a:p>
          <a:endParaRPr lang="en-US"/>
        </a:p>
      </dgm:t>
    </dgm:pt>
    <dgm:pt modelId="{2F244DAD-A6A4-49A0-AA28-7EC63C55D23B}" type="sibTrans" cxnId="{BBBA1413-C0B6-46CE-A30D-94152ED34DE8}">
      <dgm:prSet/>
      <dgm:spPr/>
      <dgm:t>
        <a:bodyPr/>
        <a:lstStyle/>
        <a:p>
          <a:endParaRPr lang="en-US"/>
        </a:p>
      </dgm:t>
    </dgm:pt>
    <dgm:pt modelId="{F75D5E40-C0EA-4FAA-9275-3C70938E00EE}">
      <dgm:prSet phldrT="[Text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sz="1600" b="1" dirty="0" smtClean="0"/>
            <a:t>New Products &amp; Services</a:t>
          </a:r>
        </a:p>
      </dgm:t>
    </dgm:pt>
    <dgm:pt modelId="{2407314F-7D22-4724-AF7B-2A237A1D7B5F}" type="parTrans" cxnId="{C39A6C43-E77D-4DD1-8F1C-021BDB497F58}">
      <dgm:prSet/>
      <dgm:spPr/>
      <dgm:t>
        <a:bodyPr/>
        <a:lstStyle/>
        <a:p>
          <a:endParaRPr lang="en-US"/>
        </a:p>
      </dgm:t>
    </dgm:pt>
    <dgm:pt modelId="{108A7A8B-C60D-477D-8727-EF1EB8DC2D8B}" type="sibTrans" cxnId="{C39A6C43-E77D-4DD1-8F1C-021BDB497F58}">
      <dgm:prSet/>
      <dgm:spPr/>
      <dgm:t>
        <a:bodyPr/>
        <a:lstStyle/>
        <a:p>
          <a:endParaRPr lang="en-US"/>
        </a:p>
      </dgm:t>
    </dgm:pt>
    <dgm:pt modelId="{5DCEAD6A-2995-470E-B294-EFE25C7FA270}">
      <dgm:prSet phldrT="[Text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sz="1600" b="1" dirty="0" smtClean="0"/>
            <a:t>New     Value Delivery</a:t>
          </a:r>
        </a:p>
      </dgm:t>
    </dgm:pt>
    <dgm:pt modelId="{C43D03E2-F01E-4C34-8DDA-D49BF43D1DF7}" type="parTrans" cxnId="{5C094F0F-9651-4E55-8F4F-F941285F8C98}">
      <dgm:prSet/>
      <dgm:spPr/>
      <dgm:t>
        <a:bodyPr/>
        <a:lstStyle/>
        <a:p>
          <a:endParaRPr lang="en-US"/>
        </a:p>
      </dgm:t>
    </dgm:pt>
    <dgm:pt modelId="{0024873B-96DA-47BE-9734-9BE93456D3FF}" type="sibTrans" cxnId="{5C094F0F-9651-4E55-8F4F-F941285F8C98}">
      <dgm:prSet/>
      <dgm:spPr/>
      <dgm:t>
        <a:bodyPr/>
        <a:lstStyle/>
        <a:p>
          <a:endParaRPr lang="en-US"/>
        </a:p>
      </dgm:t>
    </dgm:pt>
    <dgm:pt modelId="{F6218397-5286-4BF9-91BC-3A8217C085AF}" type="pres">
      <dgm:prSet presAssocID="{673AE5C1-39E1-47D6-9713-8CA9BE6EA1DA}" presName="CompostProcess" presStyleCnt="0">
        <dgm:presLayoutVars>
          <dgm:dir/>
          <dgm:resizeHandles val="exact"/>
        </dgm:presLayoutVars>
      </dgm:prSet>
      <dgm:spPr/>
    </dgm:pt>
    <dgm:pt modelId="{57B6F08F-F180-42E5-86EE-1F47EC70A8B7}" type="pres">
      <dgm:prSet presAssocID="{673AE5C1-39E1-47D6-9713-8CA9BE6EA1DA}" presName="arrow" presStyleLbl="bgShp" presStyleIdx="0" presStyleCnt="1" custScaleX="117647" custLinFactNeighborX="4011" custLinFactNeighborY="-1087"/>
      <dgm:spPr/>
    </dgm:pt>
    <dgm:pt modelId="{ED339E6A-99DE-44B5-8942-676116993976}" type="pres">
      <dgm:prSet presAssocID="{673AE5C1-39E1-47D6-9713-8CA9BE6EA1DA}" presName="linearProcess" presStyleCnt="0"/>
      <dgm:spPr/>
    </dgm:pt>
    <dgm:pt modelId="{D195289F-4E10-4B57-8C58-6BB3CB9CCF4B}" type="pres">
      <dgm:prSet presAssocID="{56F0B946-F863-43B5-9AE7-3ED2571CC1F7}" presName="tex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A6657B-DFA9-42AD-BD72-82BAEBF8B87E}" type="pres">
      <dgm:prSet presAssocID="{2F244DAD-A6A4-49A0-AA28-7EC63C55D23B}" presName="sibTrans" presStyleCnt="0"/>
      <dgm:spPr/>
    </dgm:pt>
    <dgm:pt modelId="{EDBBB759-F01A-4C3B-A1A8-D2C8F1E5A578}" type="pres">
      <dgm:prSet presAssocID="{F75D5E40-C0EA-4FAA-9275-3C70938E00EE}" presName="text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687DF4-201B-4FB8-B89C-9863D30313FA}" type="pres">
      <dgm:prSet presAssocID="{108A7A8B-C60D-477D-8727-EF1EB8DC2D8B}" presName="sibTrans" presStyleCnt="0"/>
      <dgm:spPr/>
    </dgm:pt>
    <dgm:pt modelId="{0564D69C-C697-46C9-AFEA-F63178C739BD}" type="pres">
      <dgm:prSet presAssocID="{5DCEAD6A-2995-470E-B294-EFE25C7FA270}" presName="tex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B091C9F-75E0-4B44-B1A9-3160362D5F81}" type="presOf" srcId="{673AE5C1-39E1-47D6-9713-8CA9BE6EA1DA}" destId="{F6218397-5286-4BF9-91BC-3A8217C085AF}" srcOrd="0" destOrd="0" presId="urn:microsoft.com/office/officeart/2005/8/layout/hProcess9"/>
    <dgm:cxn modelId="{C39A6C43-E77D-4DD1-8F1C-021BDB497F58}" srcId="{673AE5C1-39E1-47D6-9713-8CA9BE6EA1DA}" destId="{F75D5E40-C0EA-4FAA-9275-3C70938E00EE}" srcOrd="1" destOrd="0" parTransId="{2407314F-7D22-4724-AF7B-2A237A1D7B5F}" sibTransId="{108A7A8B-C60D-477D-8727-EF1EB8DC2D8B}"/>
    <dgm:cxn modelId="{5C680419-DD83-4503-BA2D-2E379F2DD5FE}" type="presOf" srcId="{5DCEAD6A-2995-470E-B294-EFE25C7FA270}" destId="{0564D69C-C697-46C9-AFEA-F63178C739BD}" srcOrd="0" destOrd="0" presId="urn:microsoft.com/office/officeart/2005/8/layout/hProcess9"/>
    <dgm:cxn modelId="{5C094F0F-9651-4E55-8F4F-F941285F8C98}" srcId="{673AE5C1-39E1-47D6-9713-8CA9BE6EA1DA}" destId="{5DCEAD6A-2995-470E-B294-EFE25C7FA270}" srcOrd="2" destOrd="0" parTransId="{C43D03E2-F01E-4C34-8DDA-D49BF43D1DF7}" sibTransId="{0024873B-96DA-47BE-9734-9BE93456D3FF}"/>
    <dgm:cxn modelId="{DFDDFED3-8F27-440D-A2A9-9DDF8C8625D7}" type="presOf" srcId="{56F0B946-F863-43B5-9AE7-3ED2571CC1F7}" destId="{D195289F-4E10-4B57-8C58-6BB3CB9CCF4B}" srcOrd="0" destOrd="0" presId="urn:microsoft.com/office/officeart/2005/8/layout/hProcess9"/>
    <dgm:cxn modelId="{BBBA1413-C0B6-46CE-A30D-94152ED34DE8}" srcId="{673AE5C1-39E1-47D6-9713-8CA9BE6EA1DA}" destId="{56F0B946-F863-43B5-9AE7-3ED2571CC1F7}" srcOrd="0" destOrd="0" parTransId="{F90C4F27-7C52-43B8-B857-1E6F68F3A0F9}" sibTransId="{2F244DAD-A6A4-49A0-AA28-7EC63C55D23B}"/>
    <dgm:cxn modelId="{2CB541E4-E337-4476-8F7A-3529FE284804}" type="presOf" srcId="{F75D5E40-C0EA-4FAA-9275-3C70938E00EE}" destId="{EDBBB759-F01A-4C3B-A1A8-D2C8F1E5A578}" srcOrd="0" destOrd="0" presId="urn:microsoft.com/office/officeart/2005/8/layout/hProcess9"/>
    <dgm:cxn modelId="{FFC382BE-22EE-426B-8406-B3A18E73C4C8}" type="presParOf" srcId="{F6218397-5286-4BF9-91BC-3A8217C085AF}" destId="{57B6F08F-F180-42E5-86EE-1F47EC70A8B7}" srcOrd="0" destOrd="0" presId="urn:microsoft.com/office/officeart/2005/8/layout/hProcess9"/>
    <dgm:cxn modelId="{CB6B4620-20C4-4C9F-B5C7-0F07D42C0B73}" type="presParOf" srcId="{F6218397-5286-4BF9-91BC-3A8217C085AF}" destId="{ED339E6A-99DE-44B5-8942-676116993976}" srcOrd="1" destOrd="0" presId="urn:microsoft.com/office/officeart/2005/8/layout/hProcess9"/>
    <dgm:cxn modelId="{12733E99-1122-44DB-9ED1-1ABF551F99E9}" type="presParOf" srcId="{ED339E6A-99DE-44B5-8942-676116993976}" destId="{D195289F-4E10-4B57-8C58-6BB3CB9CCF4B}" srcOrd="0" destOrd="0" presId="urn:microsoft.com/office/officeart/2005/8/layout/hProcess9"/>
    <dgm:cxn modelId="{E6B2645D-1192-40DC-8A24-58D35780A063}" type="presParOf" srcId="{ED339E6A-99DE-44B5-8942-676116993976}" destId="{B5A6657B-DFA9-42AD-BD72-82BAEBF8B87E}" srcOrd="1" destOrd="0" presId="urn:microsoft.com/office/officeart/2005/8/layout/hProcess9"/>
    <dgm:cxn modelId="{7D762745-A5B2-4BB7-89DD-969865BA5FF9}" type="presParOf" srcId="{ED339E6A-99DE-44B5-8942-676116993976}" destId="{EDBBB759-F01A-4C3B-A1A8-D2C8F1E5A578}" srcOrd="2" destOrd="0" presId="urn:microsoft.com/office/officeart/2005/8/layout/hProcess9"/>
    <dgm:cxn modelId="{DC4F8DED-0552-4162-ACE3-75248E44C2F5}" type="presParOf" srcId="{ED339E6A-99DE-44B5-8942-676116993976}" destId="{7E687DF4-201B-4FB8-B89C-9863D30313FA}" srcOrd="3" destOrd="0" presId="urn:microsoft.com/office/officeart/2005/8/layout/hProcess9"/>
    <dgm:cxn modelId="{BE7E1053-5C78-4125-B199-8D47436714AE}" type="presParOf" srcId="{ED339E6A-99DE-44B5-8942-676116993976}" destId="{0564D69C-C697-46C9-AFEA-F63178C739BD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xmlns="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19112690-9CC1-42CA-92EF-22A5046497D0}">
      <dsp:nvSpPr>
        <dsp:cNvPr id="0" name=""/>
        <dsp:cNvSpPr/>
      </dsp:nvSpPr>
      <dsp:spPr>
        <a:xfrm>
          <a:off x="0" y="0"/>
          <a:ext cx="5181600" cy="1219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Value</a:t>
          </a:r>
          <a:endParaRPr lang="en-US" sz="3000" b="1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Patient-Driven</a:t>
          </a:r>
          <a:endParaRPr lang="en-US" sz="2300" kern="1200" dirty="0"/>
        </a:p>
      </dsp:txBody>
      <dsp:txXfrm>
        <a:off x="0" y="0"/>
        <a:ext cx="3937406" cy="1219200"/>
      </dsp:txXfrm>
    </dsp:sp>
    <dsp:sp modelId="{44FCDAAD-01F0-4B5F-AC01-AA624E3EDD7F}">
      <dsp:nvSpPr>
        <dsp:cNvPr id="0" name=""/>
        <dsp:cNvSpPr/>
      </dsp:nvSpPr>
      <dsp:spPr>
        <a:xfrm>
          <a:off x="457199" y="1422399"/>
          <a:ext cx="5181600" cy="1219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Quality</a:t>
          </a:r>
          <a:endParaRPr lang="en-US" sz="3000" b="1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Practitioner-Driven</a:t>
          </a:r>
          <a:endParaRPr lang="en-US" sz="2300" kern="1200" dirty="0"/>
        </a:p>
      </dsp:txBody>
      <dsp:txXfrm>
        <a:off x="457199" y="1422399"/>
        <a:ext cx="3931920" cy="1219200"/>
      </dsp:txXfrm>
    </dsp:sp>
    <dsp:sp modelId="{F374B58B-DD19-4846-902F-F2A0A40B53F0}">
      <dsp:nvSpPr>
        <dsp:cNvPr id="0" name=""/>
        <dsp:cNvSpPr/>
      </dsp:nvSpPr>
      <dsp:spPr>
        <a:xfrm>
          <a:off x="914399" y="2844799"/>
          <a:ext cx="5181600" cy="1219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Results</a:t>
          </a:r>
          <a:endParaRPr lang="en-US" sz="3000" b="1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Provider-Driven</a:t>
          </a:r>
          <a:endParaRPr lang="en-US" sz="2300" kern="1200" dirty="0"/>
        </a:p>
      </dsp:txBody>
      <dsp:txXfrm>
        <a:off x="914399" y="2844799"/>
        <a:ext cx="3931920" cy="1219200"/>
      </dsp:txXfrm>
    </dsp:sp>
    <dsp:sp modelId="{6A0F8408-68AE-4879-BCBB-6F1D070EBBEC}">
      <dsp:nvSpPr>
        <dsp:cNvPr id="0" name=""/>
        <dsp:cNvSpPr/>
      </dsp:nvSpPr>
      <dsp:spPr>
        <a:xfrm>
          <a:off x="4389120" y="924560"/>
          <a:ext cx="792480" cy="792480"/>
        </a:xfrm>
        <a:prstGeom prst="downArrow">
          <a:avLst>
            <a:gd name="adj1" fmla="val 55000"/>
            <a:gd name="adj2" fmla="val 45000"/>
          </a:avLst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4389120" y="924560"/>
        <a:ext cx="792480" cy="792480"/>
      </dsp:txXfrm>
    </dsp:sp>
    <dsp:sp modelId="{BC27DFCF-341C-4832-B707-7562421074B8}">
      <dsp:nvSpPr>
        <dsp:cNvPr id="0" name=""/>
        <dsp:cNvSpPr/>
      </dsp:nvSpPr>
      <dsp:spPr>
        <a:xfrm>
          <a:off x="4846320" y="2338832"/>
          <a:ext cx="792480" cy="792480"/>
        </a:xfrm>
        <a:prstGeom prst="downArrow">
          <a:avLst>
            <a:gd name="adj1" fmla="val 55000"/>
            <a:gd name="adj2" fmla="val 45000"/>
          </a:avLst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4846320" y="2338832"/>
        <a:ext cx="792480" cy="792480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1C58007-ADFE-400C-A7E7-0C16929F4834}">
      <dsp:nvSpPr>
        <dsp:cNvPr id="0" name=""/>
        <dsp:cNvSpPr/>
      </dsp:nvSpPr>
      <dsp:spPr>
        <a:xfrm>
          <a:off x="605218" y="700719"/>
          <a:ext cx="2211705" cy="768096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474BB7-A5E2-4490-A567-03B382957073}">
      <dsp:nvSpPr>
        <dsp:cNvPr id="0" name=""/>
        <dsp:cNvSpPr/>
      </dsp:nvSpPr>
      <dsp:spPr>
        <a:xfrm>
          <a:off x="1447800" y="2819399"/>
          <a:ext cx="428625" cy="274320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B61870B-E2AE-47B9-90BE-64D52B77842D}">
      <dsp:nvSpPr>
        <dsp:cNvPr id="0" name=""/>
        <dsp:cNvSpPr/>
      </dsp:nvSpPr>
      <dsp:spPr>
        <a:xfrm>
          <a:off x="952500" y="3067049"/>
          <a:ext cx="1447792" cy="514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2">
                  <a:lumMod val="75000"/>
                </a:schemeClr>
              </a:solidFill>
            </a:rPr>
            <a:t>Innovation</a:t>
          </a:r>
          <a:endParaRPr lang="en-US" sz="1800" b="1" kern="1200" dirty="0">
            <a:solidFill>
              <a:schemeClr val="tx2">
                <a:lumMod val="75000"/>
              </a:schemeClr>
            </a:solidFill>
          </a:endParaRPr>
        </a:p>
      </dsp:txBody>
      <dsp:txXfrm>
        <a:off x="952500" y="3067049"/>
        <a:ext cx="1447792" cy="514350"/>
      </dsp:txXfrm>
    </dsp:sp>
    <dsp:sp modelId="{3260B18C-0F12-415C-B2B5-B0D612D38936}">
      <dsp:nvSpPr>
        <dsp:cNvPr id="0" name=""/>
        <dsp:cNvSpPr/>
      </dsp:nvSpPr>
      <dsp:spPr>
        <a:xfrm>
          <a:off x="1066804" y="1516378"/>
          <a:ext cx="1134242" cy="79504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Resources</a:t>
          </a:r>
          <a:endParaRPr lang="en-US" sz="1400" b="1" kern="1200" dirty="0"/>
        </a:p>
      </dsp:txBody>
      <dsp:txXfrm>
        <a:off x="1066804" y="1516378"/>
        <a:ext cx="1134242" cy="795041"/>
      </dsp:txXfrm>
    </dsp:sp>
    <dsp:sp modelId="{F96B2562-BEBF-42CE-9FF0-1BBD38426426}">
      <dsp:nvSpPr>
        <dsp:cNvPr id="0" name=""/>
        <dsp:cNvSpPr/>
      </dsp:nvSpPr>
      <dsp:spPr>
        <a:xfrm>
          <a:off x="645786" y="940915"/>
          <a:ext cx="965833" cy="78833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b="1" kern="1200" dirty="0" smtClean="0"/>
            <a:t>Ideas</a:t>
          </a:r>
          <a:endParaRPr lang="en-US" sz="1050" b="1" kern="1200" dirty="0"/>
        </a:p>
      </dsp:txBody>
      <dsp:txXfrm>
        <a:off x="645786" y="940915"/>
        <a:ext cx="965833" cy="788336"/>
      </dsp:txXfrm>
    </dsp:sp>
    <dsp:sp modelId="{1700B4C8-12E4-4D00-876C-94377F786E85}">
      <dsp:nvSpPr>
        <dsp:cNvPr id="0" name=""/>
        <dsp:cNvSpPr/>
      </dsp:nvSpPr>
      <dsp:spPr>
        <a:xfrm>
          <a:off x="1434456" y="754378"/>
          <a:ext cx="965833" cy="78833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b="1" kern="1200" dirty="0" smtClean="0"/>
            <a:t>Technology</a:t>
          </a:r>
          <a:endParaRPr lang="en-US" sz="1050" b="1" kern="1200" dirty="0"/>
        </a:p>
      </dsp:txBody>
      <dsp:txXfrm>
        <a:off x="1434456" y="754378"/>
        <a:ext cx="965833" cy="788336"/>
      </dsp:txXfrm>
    </dsp:sp>
    <dsp:sp modelId="{CDFE8F55-FE62-4CE9-AB0C-1431255D3302}">
      <dsp:nvSpPr>
        <dsp:cNvPr id="0" name=""/>
        <dsp:cNvSpPr/>
      </dsp:nvSpPr>
      <dsp:spPr>
        <a:xfrm>
          <a:off x="457198" y="464832"/>
          <a:ext cx="2400300" cy="2194546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3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7B6F08F-F180-42E5-86EE-1F47EC70A8B7}">
      <dsp:nvSpPr>
        <dsp:cNvPr id="0" name=""/>
        <dsp:cNvSpPr/>
      </dsp:nvSpPr>
      <dsp:spPr>
        <a:xfrm>
          <a:off x="2" y="0"/>
          <a:ext cx="4190997" cy="23368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195289F-4E10-4B57-8C58-6BB3CB9CCF4B}">
      <dsp:nvSpPr>
        <dsp:cNvPr id="0" name=""/>
        <dsp:cNvSpPr/>
      </dsp:nvSpPr>
      <dsp:spPr>
        <a:xfrm>
          <a:off x="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New Concepts</a:t>
          </a:r>
          <a:endParaRPr lang="en-US" sz="1600" b="1" kern="1200" dirty="0"/>
        </a:p>
      </dsp:txBody>
      <dsp:txXfrm>
        <a:off x="0" y="701040"/>
        <a:ext cx="1257300" cy="934720"/>
      </dsp:txXfrm>
    </dsp:sp>
    <dsp:sp modelId="{EDBBB759-F01A-4C3B-A1A8-D2C8F1E5A578}">
      <dsp:nvSpPr>
        <dsp:cNvPr id="0" name=""/>
        <dsp:cNvSpPr/>
      </dsp:nvSpPr>
      <dsp:spPr>
        <a:xfrm>
          <a:off x="1466849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New Products &amp; Services</a:t>
          </a:r>
        </a:p>
      </dsp:txBody>
      <dsp:txXfrm>
        <a:off x="1466849" y="701040"/>
        <a:ext cx="1257300" cy="934720"/>
      </dsp:txXfrm>
    </dsp:sp>
    <dsp:sp modelId="{0564D69C-C697-46C9-AFEA-F63178C739BD}">
      <dsp:nvSpPr>
        <dsp:cNvPr id="0" name=""/>
        <dsp:cNvSpPr/>
      </dsp:nvSpPr>
      <dsp:spPr>
        <a:xfrm>
          <a:off x="293370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New     Value Delivery</a:t>
          </a:r>
        </a:p>
      </dsp:txBody>
      <dsp:txXfrm>
        <a:off x="2933700" y="701040"/>
        <a:ext cx="1257300" cy="9347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9347140-79BA-44C2-966E-3D995EF9B3C7}" type="datetime1">
              <a:rPr lang="en-US"/>
              <a:pPr>
                <a:defRPr/>
              </a:pPr>
              <a:t>12/6/2009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4F31CA9-ABA2-45A0-8971-9BA979F5DB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fld id="{A89CF229-051E-44A0-AED0-AB7D973A544D}" type="datetime1">
              <a:rPr lang="en-US"/>
              <a:pPr>
                <a:defRPr/>
              </a:pPr>
              <a:t>12/6/2009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fld id="{FD0D5BCA-53DE-40D7-88FF-9A853F2B86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C7E5C65-64F1-4049-AE92-FA2E53E14397}" type="slidenum">
              <a:rPr lang="en-US" smtClean="0">
                <a:latin typeface="Calibri" pitchFamily="34" charset="0"/>
              </a:rPr>
              <a:pPr/>
              <a:t>1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EF044FF-5D58-4B71-9743-A702AF10826E}" type="slidenum">
              <a:rPr lang="en-US" smtClean="0">
                <a:latin typeface="Calibri" pitchFamily="34" charset="0"/>
              </a:rPr>
              <a:pPr/>
              <a:t>2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982A622-745F-4962-875B-0ADA09E6DA90}" type="slidenum">
              <a:rPr lang="en-US" smtClean="0">
                <a:latin typeface="Calibri" pitchFamily="34" charset="0"/>
              </a:rPr>
              <a:pPr/>
              <a:t>4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11E45C7-64D4-4801-B5EA-FD192A93681B}" type="slidenum">
              <a:rPr lang="en-US" smtClean="0">
                <a:latin typeface="Calibri" pitchFamily="34" charset="0"/>
              </a:rPr>
              <a:pPr/>
              <a:t>5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7CC1184-0578-4AC4-BBEF-A4F127FA2C39}" type="slidenum">
              <a:rPr lang="en-US" smtClean="0">
                <a:latin typeface="Calibri" pitchFamily="34" charset="0"/>
              </a:rPr>
              <a:pPr/>
              <a:t>6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234C9EB-C7A4-4235-86DC-D3FDF026DCA4}" type="slidenum">
              <a:rPr lang="en-US" smtClean="0">
                <a:latin typeface="Calibri" pitchFamily="34" charset="0"/>
              </a:rPr>
              <a:pPr/>
              <a:t>7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967E0A2-8659-4B14-B129-2CA54DA3F4C1}" type="slidenum">
              <a:rPr lang="en-US" smtClean="0">
                <a:latin typeface="Calibri" pitchFamily="34" charset="0"/>
              </a:rPr>
              <a:pPr/>
              <a:t>8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C7119FC-7C01-4018-8445-2E62D3CA4D59}" type="slidenum">
              <a:rPr lang="en-US" smtClean="0">
                <a:latin typeface="Calibri" pitchFamily="34" charset="0"/>
              </a:rPr>
              <a:pPr/>
              <a:t>9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CD0BB94-9E74-4702-9353-84CB161F2723}" type="slidenum">
              <a:rPr lang="en-US" smtClean="0">
                <a:latin typeface="Calibri" pitchFamily="34" charset="0"/>
              </a:rPr>
              <a:pPr/>
              <a:t>10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F1AF67C-D2CD-4594-AF10-4A5A19833DD6}" type="slidenum">
              <a:rPr lang="en-US" smtClean="0">
                <a:latin typeface="Calibri" pitchFamily="34" charset="0"/>
              </a:rPr>
              <a:pPr/>
              <a:t>11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376A3B-4A46-47C2-B481-A4F6F8DE9E1D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376A3B-4A46-47C2-B481-A4F6F8DE9E1D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376A3B-4A46-47C2-B481-A4F6F8DE9E1D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Grassy Ridgelines, Briones Regional Park, California.jpg"/>
          <p:cNvPicPr>
            <a:picLocks noChangeAspect="1"/>
          </p:cNvPicPr>
          <p:nvPr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219200" y="0"/>
            <a:ext cx="7924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6" name="Picture 8" descr="small VEG  logo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457200"/>
            <a:ext cx="4008438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F533C093-98A2-497E-A32A-7228F825A0B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mall VEG  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" y="0"/>
            <a:ext cx="3038475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/>
        </p:nvCxnSpPr>
        <p:spPr>
          <a:xfrm>
            <a:off x="457200" y="1219200"/>
            <a:ext cx="8229600" cy="0"/>
          </a:xfrm>
          <a:prstGeom prst="line">
            <a:avLst/>
          </a:prstGeom>
          <a:ln w="82550" cap="rnd">
            <a:solidFill>
              <a:srgbClr val="2167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350838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10"/>
          <p:cNvSpPr>
            <a:spLocks noGrp="1"/>
          </p:cNvSpPr>
          <p:nvPr>
            <p:ph type="sldNum" sz="quarter" idx="10"/>
          </p:nvPr>
        </p:nvSpPr>
        <p:spPr>
          <a:xfrm>
            <a:off x="8001000" y="6356350"/>
            <a:ext cx="685800" cy="365125"/>
          </a:xfrm>
        </p:spPr>
        <p:txBody>
          <a:bodyPr/>
          <a:lstStyle>
            <a:lvl1pPr>
              <a:defRPr sz="1600" b="1" smtClean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6619C600-E42E-42B5-8C11-E2681EF9B55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5333FBA-B604-4A19-AF4C-FE5CE305D4C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3C3AFA8F-E374-424E-8897-63D82F0486D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031ACDC2-793E-49E7-A07E-490389CA9DA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25EF8F8A-121D-478D-8DC8-40D20FA2F23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2FD2E986-2655-48CA-9C2D-1CAD5AAAFF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3B89C67D-C690-42E0-B8FE-C50BF455C91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77D3935B-5676-4021-B1C1-BB1D149F3C3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6A651EE9-E5B5-4D0A-9A98-E24B486F2E3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dirty="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dirty="0" smtClean="0">
                <a:solidFill>
                  <a:srgbClr val="AFADA5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fld id="{79560137-D3E2-4CFA-89E1-5A9B0FC26AE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7.jpeg"/><Relationship Id="rId4" Type="http://schemas.openxmlformats.org/officeDocument/2006/relationships/diagramLayout" Target="../diagrams/layout1.xml"/><Relationship Id="rId9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13" Type="http://schemas.openxmlformats.org/officeDocument/2006/relationships/image" Target="../media/image9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524000" y="1828800"/>
            <a:ext cx="6553200" cy="1470025"/>
          </a:xfrm>
        </p:spPr>
        <p:txBody>
          <a:bodyPr/>
          <a:lstStyle/>
          <a:p>
            <a:pPr eaLnBrk="1" hangingPunct="1"/>
            <a:r>
              <a:rPr lang="en-US" b="1" dirty="0" smtClean="0">
                <a:ea typeface="ＭＳ Ｐゴシック" pitchFamily="34" charset="-128"/>
              </a:rPr>
              <a:t>Value-Driven </a:t>
            </a:r>
            <a:br>
              <a:rPr lang="en-US" b="1" dirty="0" smtClean="0">
                <a:ea typeface="ＭＳ Ｐゴシック" pitchFamily="34" charset="-128"/>
              </a:rPr>
            </a:br>
            <a:r>
              <a:rPr lang="en-US" b="1" dirty="0" smtClean="0">
                <a:ea typeface="ＭＳ Ｐゴシック" pitchFamily="34" charset="-128"/>
              </a:rPr>
              <a:t>Model for Healthcare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57800" y="5029200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Georgia" pitchFamily="18" charset="0"/>
              </a:rPr>
              <a:t>Where Value is Measured in the eyes of the patient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Georgia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71800" y="4191000"/>
            <a:ext cx="2286000" cy="2068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76600" y="3276600"/>
            <a:ext cx="3419475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ea typeface="ＭＳ Ｐゴシック" pitchFamily="34" charset="-128"/>
              </a:rPr>
              <a:t>Proposal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	</a:t>
            </a:r>
          </a:p>
          <a:p>
            <a:pPr>
              <a:buNone/>
            </a:pPr>
            <a:r>
              <a:rPr lang="en-US" sz="2800" b="1" i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	Define </a:t>
            </a:r>
            <a:r>
              <a:rPr lang="en-US" sz="2800" b="1" i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a new approach for measuring the value of healthcare (using a patient-driven model) </a:t>
            </a:r>
            <a:endParaRPr lang="en-US" sz="2800" b="1" dirty="0" smtClean="0">
              <a:latin typeface="Calibri" pitchFamily="34" charset="0"/>
              <a:cs typeface="Calibri" pitchFamily="34" charset="0"/>
            </a:endParaRPr>
          </a:p>
          <a:p>
            <a:pPr marL="457200" lvl="1" indent="0">
              <a:buNone/>
            </a:pPr>
            <a:endParaRPr lang="en-US" sz="2400" b="1" dirty="0" smtClean="0">
              <a:latin typeface="Calibri" pitchFamily="34" charset="0"/>
              <a:cs typeface="Calibri" pitchFamily="34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-US" sz="2000" b="1" dirty="0" smtClean="0">
                <a:latin typeface="Calibri" pitchFamily="34" charset="0"/>
                <a:cs typeface="Calibri" pitchFamily="34" charset="0"/>
              </a:rPr>
              <a:t>To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provide a unified vision </a:t>
            </a:r>
            <a:r>
              <a:rPr lang="en-US" sz="2000" b="1" dirty="0" smtClean="0">
                <a:latin typeface="Calibri" pitchFamily="34" charset="0"/>
                <a:cs typeface="Calibri" pitchFamily="34" charset="0"/>
              </a:rPr>
              <a:t>for delivering sustainable value for patients, practitioners, and provider.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To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drive innovation </a:t>
            </a: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&amp; collaboration.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To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guide continuous improvement</a:t>
            </a: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 (quality and efficiency) across the continuum of care</a:t>
            </a:r>
            <a:endParaRPr lang="en-US" sz="2000" dirty="0" smtClean="0">
              <a:latin typeface="Calibri" pitchFamily="34" charset="0"/>
              <a:ea typeface="ＭＳ Ｐゴシック" pitchFamily="34" charset="-128"/>
              <a:cs typeface="Calibri" pitchFamily="34" charset="0"/>
            </a:endParaRPr>
          </a:p>
        </p:txBody>
      </p:sp>
      <p:sp>
        <p:nvSpPr>
          <p:cNvPr id="13316" name="Line 4"/>
          <p:cNvSpPr>
            <a:spLocks noChangeShapeType="1"/>
          </p:cNvSpPr>
          <p:nvPr/>
        </p:nvSpPr>
        <p:spPr bwMode="auto">
          <a:xfrm>
            <a:off x="1524000" y="5257800"/>
            <a:ext cx="6324600" cy="0"/>
          </a:xfrm>
          <a:prstGeom prst="line">
            <a:avLst/>
          </a:prstGeom>
          <a:noFill/>
          <a:ln w="57150">
            <a:solidFill>
              <a:srgbClr val="1B36BB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8B45B14-899C-4571-9F69-B0E8FA6BE4F1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Vision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graphicFrame>
        <p:nvGraphicFramePr>
          <p:cNvPr id="12" name="Diagram 11"/>
          <p:cNvGraphicFramePr/>
          <p:nvPr/>
        </p:nvGraphicFramePr>
        <p:xfrm>
          <a:off x="1524000" y="14478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 descr="business person 2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334000" y="4394200"/>
            <a:ext cx="1057275" cy="1057275"/>
          </a:xfrm>
          <a:prstGeom prst="rect">
            <a:avLst/>
          </a:prstGeom>
        </p:spPr>
      </p:pic>
      <p:pic>
        <p:nvPicPr>
          <p:cNvPr id="15" name="Picture 14" descr="doctor 2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4876800" y="2946400"/>
            <a:ext cx="1066800" cy="1066800"/>
          </a:xfrm>
          <a:prstGeom prst="rect">
            <a:avLst/>
          </a:prstGeom>
        </p:spPr>
      </p:pic>
      <p:pic>
        <p:nvPicPr>
          <p:cNvPr id="16" name="Picture 15" descr="patient 2.jp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4572000" y="1574800"/>
            <a:ext cx="990600" cy="99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638800"/>
            <a:ext cx="8001000" cy="73866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“Health care organizations are increasingly concerned with looking beyond financial performance measures, while focusing on how to deliver higher quality care “</a:t>
            </a:r>
          </a:p>
          <a:p>
            <a:r>
              <a:rPr lang="en-US" sz="1400" dirty="0" smtClean="0"/>
              <a:t>      - Love, Dianne, Revere, Lee, and Black, Ken. (2008), </a:t>
            </a:r>
            <a:r>
              <a:rPr lang="en-US" sz="1400" i="1" dirty="0" smtClean="0"/>
              <a:t>Journal of Health Care Finance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Patients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To have affordable healthcare.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have attainable healthcare.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have more accessible healthcare. 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have consistent levels of quality (results).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receive a total healthcare experience:</a:t>
            </a:r>
          </a:p>
          <a:p>
            <a:pPr lvl="1"/>
            <a:r>
              <a:rPr lang="en-US" sz="2400" dirty="0" smtClean="0">
                <a:ea typeface="ＭＳ Ｐゴシック" pitchFamily="34" charset="-128"/>
              </a:rPr>
              <a:t>Ensure their functional outcomes met.</a:t>
            </a:r>
          </a:p>
          <a:p>
            <a:pPr lvl="1"/>
            <a:r>
              <a:rPr lang="en-US" sz="2400" dirty="0" smtClean="0">
                <a:ea typeface="ＭＳ Ｐゴシック" pitchFamily="34" charset="-128"/>
              </a:rPr>
              <a:t>Ensure their emotional outcomes met.</a:t>
            </a:r>
          </a:p>
          <a:p>
            <a:pPr lvl="1"/>
            <a:r>
              <a:rPr lang="en-US" sz="2400" dirty="0" smtClean="0">
                <a:ea typeface="ＭＳ Ｐゴシック" pitchFamily="34" charset="-128"/>
              </a:rPr>
              <a:t>Ensure their outcomes are met across the continuum of care (beyond the hospital, into clinics, and into the home).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6AFF13-FBD9-4DDC-BC61-67DF0C43507F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477000" y="1600200"/>
            <a:ext cx="2362200" cy="138499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“We continue to pay for lots of medical procedures that don't add to health value and in fact just add costs to the system..”</a:t>
            </a:r>
          </a:p>
          <a:p>
            <a:r>
              <a:rPr lang="en-US" sz="1400" dirty="0" smtClean="0"/>
              <a:t>      - Kathleen Sebelius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Practitioners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smtClean="0">
                <a:ea typeface="ＭＳ Ｐゴシック" pitchFamily="34" charset="-128"/>
              </a:rPr>
              <a:t>To improve diagnostic capabilities in a cost-effective manner.</a:t>
            </a:r>
          </a:p>
          <a:p>
            <a:r>
              <a:rPr lang="en-US" sz="2400" smtClean="0">
                <a:ea typeface="ＭＳ Ｐゴシック" pitchFamily="34" charset="-128"/>
              </a:rPr>
              <a:t>To improve clinical processes. </a:t>
            </a:r>
          </a:p>
          <a:p>
            <a:r>
              <a:rPr lang="en-US" sz="2400" smtClean="0">
                <a:ea typeface="ＭＳ Ｐゴシック" pitchFamily="34" charset="-128"/>
              </a:rPr>
              <a:t>To provide consistent levels of quality.</a:t>
            </a:r>
          </a:p>
          <a:p>
            <a:r>
              <a:rPr lang="en-US" sz="2400" smtClean="0">
                <a:ea typeface="ＭＳ Ｐゴシック" pitchFamily="34" charset="-128"/>
              </a:rPr>
              <a:t>To move beyond service, where they can deliver a positive  experience. </a:t>
            </a:r>
          </a:p>
          <a:p>
            <a:r>
              <a:rPr lang="en-US" sz="2400" smtClean="0">
                <a:ea typeface="ＭＳ Ｐゴシック" pitchFamily="34" charset="-128"/>
              </a:rPr>
              <a:t>To be able to reliably measure value for their patients, for themselves as individual practitioners , and for their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7D1754-EBF7-40B4-9263-B045173B9D29}" type="slidenum">
              <a:rPr lang="en-US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Providers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534400" cy="4830763"/>
          </a:xfrm>
        </p:spPr>
        <p:txBody>
          <a:bodyPr/>
          <a:lstStyle/>
          <a:p>
            <a:r>
              <a:rPr lang="en-US" sz="2400" smtClean="0">
                <a:ea typeface="ＭＳ Ｐゴシック" pitchFamily="34" charset="-128"/>
              </a:rPr>
              <a:t>To get pharmaceutical and device manufacturers, insurers, and healthcare suppliers to become aligned, unified and collaboratively focused on a consistent set of outcomes.</a:t>
            </a:r>
          </a:p>
          <a:p>
            <a:r>
              <a:rPr lang="en-US" sz="2400" smtClean="0">
                <a:ea typeface="ＭＳ Ｐゴシック" pitchFamily="34" charset="-128"/>
              </a:rPr>
              <a:t>To increase collaboration NOT competition.</a:t>
            </a:r>
          </a:p>
          <a:p>
            <a:r>
              <a:rPr lang="en-US" sz="2400" smtClean="0">
                <a:ea typeface="ＭＳ Ｐゴシック" pitchFamily="34" charset="-128"/>
              </a:rPr>
              <a:t>To understand how to identify, measure and deliver value throughout the healthcare value network.</a:t>
            </a:r>
          </a:p>
          <a:p>
            <a:r>
              <a:rPr lang="en-US" sz="2400" smtClean="0">
                <a:ea typeface="ＭＳ Ｐゴシック" pitchFamily="34" charset="-128"/>
              </a:rPr>
              <a:t>To move towards a shared revenue model where everyone can still win, but not at the expense of others (esp. the patients &amp; the public).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9D9A88-38E3-479E-A0BA-0FCC23C694D0}" type="slidenum">
              <a:rPr lang="en-US"/>
              <a:pPr>
                <a:defRPr/>
              </a:pPr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sosceles Triangle 11"/>
          <p:cNvSpPr/>
          <p:nvPr/>
        </p:nvSpPr>
        <p:spPr>
          <a:xfrm>
            <a:off x="2438400" y="1447800"/>
            <a:ext cx="4953000" cy="4648200"/>
          </a:xfrm>
          <a:prstGeom prst="triangle">
            <a:avLst/>
          </a:prstGeom>
          <a:gradFill>
            <a:gsLst>
              <a:gs pos="12000">
                <a:schemeClr val="accent4">
                  <a:shade val="51000"/>
                  <a:satMod val="130000"/>
                  <a:alpha val="53000"/>
                </a:schemeClr>
              </a:gs>
              <a:gs pos="80000">
                <a:schemeClr val="accent4">
                  <a:shade val="93000"/>
                  <a:satMod val="130000"/>
                </a:schemeClr>
              </a:gs>
              <a:gs pos="100000">
                <a:schemeClr val="accent4"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An Expanded Membership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5DEC1B-D880-4351-9F40-9ABC1755827C}" type="slidenum">
              <a:rPr lang="en-US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81000" y="1524000"/>
            <a:ext cx="2895600" cy="246221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400" dirty="0"/>
              <a:t>Providing Patients with a way to measure the value they should be receiving for healthcare throughout the continuum</a:t>
            </a:r>
          </a:p>
          <a:p>
            <a:pPr>
              <a:defRPr/>
            </a:pPr>
            <a:endParaRPr lang="en-US" sz="1400" dirty="0"/>
          </a:p>
          <a:p>
            <a:pPr>
              <a:defRPr/>
            </a:pPr>
            <a:r>
              <a:rPr lang="en-US" sz="1400" dirty="0"/>
              <a:t>Guiding Practitioners to measure and optimize the value they deliver to Patients</a:t>
            </a:r>
          </a:p>
          <a:p>
            <a:pPr>
              <a:defRPr/>
            </a:pPr>
            <a:endParaRPr lang="en-US" sz="1400" dirty="0"/>
          </a:p>
          <a:p>
            <a:pPr>
              <a:defRPr/>
            </a:pPr>
            <a:r>
              <a:rPr lang="en-US" sz="1400" dirty="0"/>
              <a:t>Guiding the Providers to </a:t>
            </a:r>
            <a:r>
              <a:rPr lang="en-US" sz="1400" dirty="0" smtClean="0"/>
              <a:t> deliver </a:t>
            </a:r>
            <a:r>
              <a:rPr lang="en-US" sz="1400" dirty="0"/>
              <a:t>value to Patients &amp; Practitioners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19600" y="2438400"/>
            <a:ext cx="4295565" cy="2838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76600" y="4572000"/>
            <a:ext cx="1600200" cy="1448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Moving from Assumptions to Implementation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smtClean="0">
                <a:ea typeface="ＭＳ Ｐゴシック" pitchFamily="34" charset="-128"/>
              </a:rPr>
              <a:t>Establish a program focused on mapping the Jobs &amp; Outcomes across the healthcare domain.</a:t>
            </a:r>
          </a:p>
          <a:p>
            <a:r>
              <a:rPr lang="en-US" sz="2400" smtClean="0">
                <a:ea typeface="ＭＳ Ｐゴシック" pitchFamily="34" charset="-128"/>
              </a:rPr>
              <a:t>Build a portfolio of unmet needs (opportunities) for improving value delivery to patients and practitioners.</a:t>
            </a:r>
          </a:p>
          <a:p>
            <a:r>
              <a:rPr lang="en-US" sz="2400" smtClean="0">
                <a:ea typeface="ＭＳ Ｐゴシック" pitchFamily="34" charset="-128"/>
              </a:rPr>
              <a:t>Establish a prioritization model to direct resources in an efficient manner.</a:t>
            </a:r>
          </a:p>
          <a:p>
            <a:r>
              <a:rPr lang="en-US" sz="2400" smtClean="0">
                <a:ea typeface="ＭＳ Ｐゴシック" pitchFamily="34" charset="-128"/>
              </a:rPr>
              <a:t>Create an open innovation framework using the opportunities to generate ideas that can address the most important (prioritized) unmet needs. </a:t>
            </a:r>
          </a:p>
          <a:p>
            <a:r>
              <a:rPr lang="en-US" sz="2400" smtClean="0">
                <a:ea typeface="ＭＳ Ｐゴシック" pitchFamily="34" charset="-128"/>
              </a:rPr>
              <a:t>Establish a shared revenue model as part of a collaborative to address unmet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5D2C59-5E42-4FA5-82DF-A858C91AD997}" type="slidenum">
              <a:rPr lang="en-US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32713" y="0"/>
            <a:ext cx="1411287" cy="924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Measuring Value for Healthcare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Build a portfolio of jobs &amp; outcomes: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measuring value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ea typeface="ＭＳ Ｐゴシック" pitchFamily="34" charset="-128"/>
              </a:rPr>
              <a:t>*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driving innovation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directing efforts to improve quality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guiding initiatives to reduce cost</a:t>
            </a: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pPr lvl="1">
              <a:buFont typeface="Arial" charset="0"/>
              <a:buNone/>
            </a:pP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ea typeface="ＭＳ Ｐゴシック" pitchFamily="34" charset="-128"/>
              </a:rPr>
              <a:t>* Value is created between the Patient &amp; Practitioner</a:t>
            </a: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40C1908-C799-40F3-B9F5-8A581B6D6BBC}" type="slidenum">
              <a:rPr lang="en-US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32713" y="0"/>
            <a:ext cx="1411287" cy="924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Enabling Value for Healthcare</a:t>
            </a:r>
          </a:p>
        </p:txBody>
      </p:sp>
      <p:sp>
        <p:nvSpPr>
          <p:cNvPr id="19" name="Flowchart: Process 18"/>
          <p:cNvSpPr/>
          <p:nvPr/>
        </p:nvSpPr>
        <p:spPr>
          <a:xfrm>
            <a:off x="381000" y="1524000"/>
            <a:ext cx="8534400" cy="40386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sz="2400" b="1" dirty="0" smtClean="0">
                <a:solidFill>
                  <a:schemeClr val="tx1"/>
                </a:solidFill>
              </a:rPr>
              <a:t>Value-Driven Healthcare </a:t>
            </a:r>
            <a:r>
              <a:rPr lang="en-US" sz="2400" b="1" dirty="0">
                <a:solidFill>
                  <a:schemeClr val="tx1"/>
                </a:solidFill>
              </a:rPr>
              <a:t>Platform</a:t>
            </a:r>
          </a:p>
        </p:txBody>
      </p:sp>
      <p:sp>
        <p:nvSpPr>
          <p:cNvPr id="22" name="Flowchart: Magnetic Disk 21"/>
          <p:cNvSpPr/>
          <p:nvPr/>
        </p:nvSpPr>
        <p:spPr>
          <a:xfrm>
            <a:off x="609600" y="25146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24" name="Flowchart: Magnetic Disk 23"/>
          <p:cNvSpPr/>
          <p:nvPr/>
        </p:nvSpPr>
        <p:spPr>
          <a:xfrm>
            <a:off x="762000" y="26670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26" name="Flowchart: Magnetic Disk 25"/>
          <p:cNvSpPr/>
          <p:nvPr/>
        </p:nvSpPr>
        <p:spPr>
          <a:xfrm>
            <a:off x="914400" y="28194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Outcomes</a:t>
            </a:r>
          </a:p>
        </p:txBody>
      </p:sp>
      <p:sp>
        <p:nvSpPr>
          <p:cNvPr id="28" name="Down Arrow 27"/>
          <p:cNvSpPr/>
          <p:nvPr/>
        </p:nvSpPr>
        <p:spPr>
          <a:xfrm rot="16200000">
            <a:off x="2324100" y="33909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graphicFrame>
        <p:nvGraphicFramePr>
          <p:cNvPr id="32" name="Diagram 31"/>
          <p:cNvGraphicFramePr/>
          <p:nvPr/>
        </p:nvGraphicFramePr>
        <p:xfrm>
          <a:off x="1981200" y="1600200"/>
          <a:ext cx="3429000" cy="378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3" name="Flowchart: Magnetic Disk 32"/>
          <p:cNvSpPr/>
          <p:nvPr/>
        </p:nvSpPr>
        <p:spPr>
          <a:xfrm>
            <a:off x="914400" y="3810000"/>
            <a:ext cx="1295400" cy="8382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 smtClean="0"/>
              <a:t>Compliance</a:t>
            </a:r>
            <a:endParaRPr lang="en-US" b="1" dirty="0"/>
          </a:p>
        </p:txBody>
      </p:sp>
      <p:graphicFrame>
        <p:nvGraphicFramePr>
          <p:cNvPr id="38" name="Diagram 37"/>
          <p:cNvGraphicFramePr/>
          <p:nvPr/>
        </p:nvGraphicFramePr>
        <p:xfrm>
          <a:off x="4648200" y="2311400"/>
          <a:ext cx="4191000" cy="233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2" name="Slide Number Placeholder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8B004A5-7865-4A5B-AD53-0C3EC97B50CE}" type="slidenum">
              <a:rPr lang="en-US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66800" y="5715000"/>
            <a:ext cx="69342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="1" i="1" dirty="0" smtClean="0">
                <a:solidFill>
                  <a:schemeClr val="accent2">
                    <a:lumMod val="75000"/>
                  </a:schemeClr>
                </a:solidFill>
              </a:rPr>
              <a:t>Value-Driven metrics are used to drive innovation &amp; direct Quality &amp; Efficiency </a:t>
            </a:r>
            <a:endParaRPr lang="en-US" sz="1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04800" y="1905000"/>
            <a:ext cx="2057400" cy="5143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8016" tIns="128016" rIns="128016" bIns="128016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00" b="1" kern="1200" dirty="0" smtClean="0">
                <a:solidFill>
                  <a:schemeClr val="tx2">
                    <a:lumMod val="75000"/>
                  </a:schemeClr>
                </a:solidFill>
              </a:rPr>
              <a:t>Value Measurement</a:t>
            </a:r>
            <a:endParaRPr lang="en-US" sz="1800" b="1" kern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953000" y="4191000"/>
            <a:ext cx="2514600" cy="5143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8016" tIns="128016" rIns="128016" bIns="128016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00" b="1" kern="1200" dirty="0" smtClean="0">
                <a:solidFill>
                  <a:schemeClr val="tx2">
                    <a:lumMod val="75000"/>
                  </a:schemeClr>
                </a:solidFill>
              </a:rPr>
              <a:t>Quality &amp; Efficiency</a:t>
            </a:r>
            <a:endParaRPr lang="en-US" sz="1800" b="1" kern="12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732713" y="0"/>
            <a:ext cx="1411287" cy="924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Thank You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Prepared by 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Jeffrey Wallk (Managing Partner)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P.K. Rastogi, </a:t>
            </a:r>
            <a:r>
              <a:rPr lang="en-US" dirty="0" err="1" smtClean="0">
                <a:ea typeface="ＭＳ Ｐゴシック" pitchFamily="34" charset="-128"/>
              </a:rPr>
              <a:t>Phd</a:t>
            </a:r>
            <a:r>
              <a:rPr lang="en-US" dirty="0" smtClean="0">
                <a:ea typeface="ＭＳ Ｐゴシック" pitchFamily="34" charset="-128"/>
              </a:rPr>
              <a:t> (Strategic Partner)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239EC71-A283-4AC2-9E01-2218A6BF410B}" type="slidenum">
              <a:rPr lang="en-US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32713" y="0"/>
            <a:ext cx="1411287" cy="924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2130425"/>
            <a:ext cx="6248400" cy="2365375"/>
          </a:xfrm>
        </p:spPr>
        <p:txBody>
          <a:bodyPr/>
          <a:lstStyle/>
          <a:p>
            <a:pPr algn="l"/>
            <a:r>
              <a:rPr lang="en-US" sz="3200" b="1" i="1" dirty="0" smtClean="0">
                <a:solidFill>
                  <a:schemeClr val="tx2">
                    <a:lumMod val="75000"/>
                  </a:schemeClr>
                </a:solidFill>
              </a:rPr>
              <a:t>Management Consulting firm dedicated to helping clients identify &amp; create sustainable value for their customers &amp; stakeholders.</a:t>
            </a:r>
            <a:endParaRPr lang="en-US" sz="3200" b="1" i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Services</a:t>
            </a:r>
          </a:p>
        </p:txBody>
      </p:sp>
      <p:sp>
        <p:nvSpPr>
          <p:cNvPr id="4" name="AutoShape 71"/>
          <p:cNvSpPr>
            <a:spLocks noChangeArrowheads="1"/>
          </p:cNvSpPr>
          <p:nvPr/>
        </p:nvSpPr>
        <p:spPr bwMode="auto">
          <a:xfrm>
            <a:off x="381000" y="1296988"/>
            <a:ext cx="1981200" cy="3733800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1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4E6128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1600" b="1" dirty="0">
                <a:solidFill>
                  <a:srgbClr val="0070C0"/>
                </a:solidFill>
                <a:cs typeface="Times New Roman" pitchFamily="18" charset="0"/>
              </a:rPr>
              <a:t>Enabling  Innovation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Institutionalize Customer Focus 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Portfolio Mgmt for Customer Needs, Ideas, &amp; opportunities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Drive efficiency into the ideation pipeline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Aligning Value Platforms with Technology Platforms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endParaRPr lang="en-US" sz="1600" dirty="0">
              <a:cs typeface="Times New Roman" pitchFamily="18" charset="0"/>
            </a:endParaRPr>
          </a:p>
        </p:txBody>
      </p:sp>
      <p:sp>
        <p:nvSpPr>
          <p:cNvPr id="5" name="AutoShape 71"/>
          <p:cNvSpPr>
            <a:spLocks noChangeArrowheads="1"/>
          </p:cNvSpPr>
          <p:nvPr/>
        </p:nvSpPr>
        <p:spPr bwMode="auto">
          <a:xfrm>
            <a:off x="4572000" y="1296988"/>
            <a:ext cx="1981200" cy="3735387"/>
          </a:xfrm>
          <a:prstGeom prst="flowChartAlternateProcess">
            <a:avLst/>
          </a:prstGeom>
          <a:gradFill flip="none" rotWithShape="1">
            <a:gsLst>
              <a:gs pos="0">
                <a:schemeClr val="bg2">
                  <a:lumMod val="75000"/>
                  <a:shade val="30000"/>
                  <a:satMod val="115000"/>
                </a:schemeClr>
              </a:gs>
              <a:gs pos="50000">
                <a:schemeClr val="bg2">
                  <a:lumMod val="75000"/>
                  <a:shade val="67500"/>
                  <a:satMod val="115000"/>
                </a:schemeClr>
              </a:gs>
              <a:gs pos="100000">
                <a:schemeClr val="bg2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4E6128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1600" b="1" dirty="0">
                <a:solidFill>
                  <a:srgbClr val="A45200"/>
                </a:solidFill>
                <a:cs typeface="Times New Roman" pitchFamily="18" charset="0"/>
              </a:rPr>
              <a:t>Enabling Operational Excellence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Model-driven outcomes (beyond BPM)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Infuse Quality &amp; continuous learning into all processes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Make technology transparent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Drive efficiency &amp; productivity thru an outcome focus</a:t>
            </a:r>
          </a:p>
        </p:txBody>
      </p:sp>
      <p:sp>
        <p:nvSpPr>
          <p:cNvPr id="6" name="AutoShape 71"/>
          <p:cNvSpPr>
            <a:spLocks noChangeArrowheads="1"/>
          </p:cNvSpPr>
          <p:nvPr/>
        </p:nvSpPr>
        <p:spPr bwMode="auto">
          <a:xfrm>
            <a:off x="6629400" y="1296988"/>
            <a:ext cx="2133600" cy="3733800"/>
          </a:xfrm>
          <a:prstGeom prst="flowChartAlternateProcess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3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3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4E6128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cs typeface="Times New Roman" pitchFamily="18" charset="0"/>
              </a:rPr>
              <a:t>Enabling Business Models 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Profiling risk to create opportunity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Collaboration as a core competency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Leverage disruptive innovation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Fail </a:t>
            </a:r>
            <a:r>
              <a:rPr lang="en-US" sz="1400" dirty="0" smtClean="0">
                <a:cs typeface="Times New Roman" pitchFamily="18" charset="0"/>
              </a:rPr>
              <a:t>Fast Forward </a:t>
            </a:r>
            <a:r>
              <a:rPr lang="en-US" sz="1400" dirty="0">
                <a:cs typeface="Times New Roman" pitchFamily="18" charset="0"/>
              </a:rPr>
              <a:t>to achieve growth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Embracing change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Modeling for sustainable value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endParaRPr lang="en-US" sz="1600" dirty="0">
              <a:cs typeface="Times New Roman" pitchFamily="18" charset="0"/>
            </a:endParaRPr>
          </a:p>
        </p:txBody>
      </p:sp>
      <p:sp>
        <p:nvSpPr>
          <p:cNvPr id="7" name="AutoShape 71"/>
          <p:cNvSpPr>
            <a:spLocks noChangeArrowheads="1"/>
          </p:cNvSpPr>
          <p:nvPr/>
        </p:nvSpPr>
        <p:spPr bwMode="auto">
          <a:xfrm>
            <a:off x="2438400" y="1295400"/>
            <a:ext cx="2057400" cy="3735388"/>
          </a:xfrm>
          <a:prstGeom prst="flowChartAlternateProcess">
            <a:avLst/>
          </a:prstGeom>
          <a:gradFill flip="none" rotWithShape="1">
            <a:gsLst>
              <a:gs pos="0">
                <a:schemeClr val="accent4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4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4">
                  <a:lumMod val="40000"/>
                  <a:lumOff val="6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4E6128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1600" b="1" dirty="0">
                <a:solidFill>
                  <a:srgbClr val="7030A0"/>
                </a:solidFill>
                <a:cs typeface="Times New Roman" pitchFamily="18" charset="0"/>
              </a:rPr>
              <a:t>Enabling Adaptation &amp; Agility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Model products &amp; services for agility and adaptability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Drive reuse of assets thru holistic portfolio Mgmt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Leverage Quality to enable change 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Optimize Platforms  Change Mgmt Platform for sustainable value</a:t>
            </a:r>
          </a:p>
        </p:txBody>
      </p:sp>
      <p:sp>
        <p:nvSpPr>
          <p:cNvPr id="8" name="AutoShape 71"/>
          <p:cNvSpPr>
            <a:spLocks noChangeArrowheads="1"/>
          </p:cNvSpPr>
          <p:nvPr/>
        </p:nvSpPr>
        <p:spPr bwMode="auto">
          <a:xfrm>
            <a:off x="381000" y="5106988"/>
            <a:ext cx="8382000" cy="1295400"/>
          </a:xfrm>
          <a:prstGeom prst="flowChartAlternateProcess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2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2">
                  <a:lumMod val="40000"/>
                  <a:lumOff val="60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4E6128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1600" b="1" dirty="0">
                <a:solidFill>
                  <a:schemeClr val="accent2"/>
                </a:solidFill>
                <a:cs typeface="Times New Roman" pitchFamily="18" charset="0"/>
              </a:rPr>
              <a:t>Enabling  Knowledge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Modeling data to enhance knowledge capture (explicit &amp; tacit information)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Integrating information and insights to enable knowledge consumption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Designing platforms for sustainable learning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de-DE"/>
              <a:t>FH AUGSBURG_V3.PPT</a:t>
            </a: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BA439A8-4C49-4635-BBC1-7DBC44860E27}" type="slidenum">
              <a:rPr lang="de-DE"/>
              <a:pPr>
                <a:defRPr/>
              </a:pPr>
              <a:t>14</a:t>
            </a:fld>
            <a:endParaRPr lang="de-DE"/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Our Expertise</a:t>
            </a:r>
          </a:p>
        </p:txBody>
      </p:sp>
      <p:sp>
        <p:nvSpPr>
          <p:cNvPr id="304132" name="Rectangle 4"/>
          <p:cNvSpPr>
            <a:spLocks noChangeArrowheads="1"/>
          </p:cNvSpPr>
          <p:nvPr/>
        </p:nvSpPr>
        <p:spPr bwMode="auto">
          <a:xfrm>
            <a:off x="6172200" y="1495425"/>
            <a:ext cx="2895600" cy="467995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5400000" scaled="1"/>
            <a:tileRect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 eaLnBrk="0" hangingPunct="0">
              <a:defRPr/>
            </a:pPr>
            <a:r>
              <a:rPr lang="en-GB" altLang="en-GB" sz="2000" b="1" dirty="0" smtClean="0">
                <a:solidFill>
                  <a:srgbClr val="000066"/>
                </a:solidFill>
              </a:rPr>
              <a:t>Technical</a:t>
            </a:r>
            <a:endParaRPr lang="en-GB" altLang="en-GB" sz="2000" b="1" dirty="0">
              <a:solidFill>
                <a:srgbClr val="000066"/>
              </a:solidFill>
            </a:endParaRPr>
          </a:p>
        </p:txBody>
      </p:sp>
      <p:sp>
        <p:nvSpPr>
          <p:cNvPr id="304133" name="Rectangle 5"/>
          <p:cNvSpPr>
            <a:spLocks noChangeArrowheads="1"/>
          </p:cNvSpPr>
          <p:nvPr/>
        </p:nvSpPr>
        <p:spPr bwMode="auto">
          <a:xfrm>
            <a:off x="3111500" y="1495425"/>
            <a:ext cx="2895600" cy="467995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5400000" scaled="1"/>
            <a:tileRect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 eaLnBrk="0" hangingPunct="0">
              <a:defRPr/>
            </a:pPr>
            <a:r>
              <a:rPr lang="en-GB" altLang="en-GB" sz="2000" b="1" dirty="0" smtClean="0">
                <a:solidFill>
                  <a:srgbClr val="000066"/>
                </a:solidFill>
              </a:rPr>
              <a:t>Operational</a:t>
            </a:r>
            <a:endParaRPr lang="en-GB" altLang="en-GB" sz="2000" b="1" dirty="0">
              <a:solidFill>
                <a:srgbClr val="000066"/>
              </a:solidFill>
            </a:endParaRPr>
          </a:p>
        </p:txBody>
      </p:sp>
      <p:sp>
        <p:nvSpPr>
          <p:cNvPr id="304134" name="Rectangle 6"/>
          <p:cNvSpPr>
            <a:spLocks noChangeArrowheads="1"/>
          </p:cNvSpPr>
          <p:nvPr/>
        </p:nvSpPr>
        <p:spPr bwMode="auto">
          <a:xfrm>
            <a:off x="76200" y="1495425"/>
            <a:ext cx="2895600" cy="467995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5400000" scaled="1"/>
            <a:tileRect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 eaLnBrk="0" hangingPunct="0">
              <a:defRPr/>
            </a:pPr>
            <a:r>
              <a:rPr lang="en-GB" altLang="en-GB" sz="2000" b="1" dirty="0" smtClean="0">
                <a:solidFill>
                  <a:srgbClr val="000066"/>
                </a:solidFill>
              </a:rPr>
              <a:t>Strategic</a:t>
            </a:r>
            <a:endParaRPr lang="en-GB" altLang="en-GB" sz="2400" b="1" dirty="0"/>
          </a:p>
        </p:txBody>
      </p:sp>
      <p:sp>
        <p:nvSpPr>
          <p:cNvPr id="23561" name="Rectangle 7"/>
          <p:cNvSpPr>
            <a:spLocks noChangeArrowheads="1"/>
          </p:cNvSpPr>
          <p:nvPr/>
        </p:nvSpPr>
        <p:spPr bwMode="auto">
          <a:xfrm>
            <a:off x="228600" y="1912938"/>
            <a:ext cx="2590800" cy="140652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Aft>
                <a:spcPct val="20000"/>
              </a:spcAft>
            </a:pPr>
            <a:r>
              <a:rPr lang="en-GB" altLang="en-GB" sz="1600" b="1" dirty="0" smtClean="0"/>
              <a:t>Change Management</a:t>
            </a:r>
            <a:endParaRPr lang="en-GB" altLang="en-GB" b="1" dirty="0"/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Strategic Planning</a:t>
            </a:r>
            <a:endParaRPr lang="en-GB" altLang="en-GB" sz="1400" b="1" dirty="0"/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Business Model Innovation</a:t>
            </a:r>
            <a:endParaRPr lang="en-GB" altLang="en-GB" sz="1400" b="1" dirty="0"/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Enterprise Architecture</a:t>
            </a:r>
            <a:endParaRPr lang="en-GB" altLang="en-GB" sz="1400" b="1" dirty="0"/>
          </a:p>
        </p:txBody>
      </p:sp>
      <p:sp>
        <p:nvSpPr>
          <p:cNvPr id="23562" name="Rectangle 8"/>
          <p:cNvSpPr>
            <a:spLocks noChangeArrowheads="1"/>
          </p:cNvSpPr>
          <p:nvPr/>
        </p:nvSpPr>
        <p:spPr bwMode="auto">
          <a:xfrm>
            <a:off x="3278188" y="4648200"/>
            <a:ext cx="2590800" cy="979488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101600" indent="-101600" eaLnBrk="0" hangingPunct="0">
              <a:spcAft>
                <a:spcPct val="20000"/>
              </a:spcAft>
              <a:buClr>
                <a:srgbClr val="0099FF"/>
              </a:buClr>
            </a:pPr>
            <a:r>
              <a:rPr lang="en-GB" altLang="en-GB" sz="1600" b="1" dirty="0" smtClean="0"/>
              <a:t>Quality</a:t>
            </a:r>
            <a:endParaRPr lang="en-GB" altLang="en-GB" b="1" dirty="0"/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600" b="1" dirty="0"/>
              <a:t> </a:t>
            </a:r>
            <a:r>
              <a:rPr lang="en-GB" altLang="en-GB" sz="1400" b="1" dirty="0" smtClean="0"/>
              <a:t>Six Sigma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Lean &amp; Kaizen</a:t>
            </a:r>
            <a:endParaRPr lang="en-GB" altLang="en-GB" sz="1400" b="1" dirty="0"/>
          </a:p>
        </p:txBody>
      </p:sp>
      <p:sp>
        <p:nvSpPr>
          <p:cNvPr id="23563" name="Rectangle 9"/>
          <p:cNvSpPr>
            <a:spLocks noChangeArrowheads="1"/>
          </p:cNvSpPr>
          <p:nvPr/>
        </p:nvSpPr>
        <p:spPr bwMode="auto">
          <a:xfrm>
            <a:off x="6324600" y="3481387"/>
            <a:ext cx="2590800" cy="2005013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Aft>
                <a:spcPct val="20000"/>
              </a:spcAft>
            </a:pPr>
            <a:r>
              <a:rPr lang="en-GB" altLang="en-GB" sz="1600" b="1" dirty="0" smtClean="0"/>
              <a:t>Infrastructure Services</a:t>
            </a:r>
            <a:endParaRPr lang="en-GB" altLang="en-GB" b="1" dirty="0"/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Technology Platforms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Technology Alignment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Technology Optimization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Service Level Management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Agile Delivery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Adaptable Design</a:t>
            </a:r>
            <a:endParaRPr lang="en-GB" altLang="en-GB" sz="1400" b="1" dirty="0"/>
          </a:p>
        </p:txBody>
      </p:sp>
      <p:sp>
        <p:nvSpPr>
          <p:cNvPr id="23564" name="Rectangle 10"/>
          <p:cNvSpPr>
            <a:spLocks noChangeArrowheads="1"/>
          </p:cNvSpPr>
          <p:nvPr/>
        </p:nvSpPr>
        <p:spPr bwMode="auto">
          <a:xfrm>
            <a:off x="228600" y="3463925"/>
            <a:ext cx="2590800" cy="202247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92075" indent="-92075" eaLnBrk="0" hangingPunct="0">
              <a:spcAft>
                <a:spcPct val="20000"/>
              </a:spcAft>
            </a:pPr>
            <a:r>
              <a:rPr lang="en-GB" altLang="en-GB" b="1" dirty="0"/>
              <a:t> </a:t>
            </a:r>
            <a:r>
              <a:rPr lang="en-GB" altLang="en-GB" sz="1600" b="1" dirty="0" smtClean="0"/>
              <a:t>Product Marketing</a:t>
            </a:r>
            <a:endParaRPr lang="en-GB" altLang="en-GB" b="1" dirty="0"/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100" b="1" dirty="0"/>
              <a:t> </a:t>
            </a:r>
            <a:r>
              <a:rPr lang="en-GB" altLang="en-GB" sz="1400" b="1" dirty="0" smtClean="0"/>
              <a:t>Customer Focus</a:t>
            </a:r>
            <a:endParaRPr lang="en-GB" altLang="en-GB" sz="1400" b="1" dirty="0"/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Market Assessment</a:t>
            </a:r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Value Platforms</a:t>
            </a:r>
            <a:endParaRPr lang="en-GB" altLang="en-GB" sz="1400" b="1" dirty="0"/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Investment Planning</a:t>
            </a:r>
            <a:endParaRPr lang="en-GB" altLang="en-GB" sz="1400" b="1" dirty="0"/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Product Roadmaps</a:t>
            </a:r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Portfolio Planning</a:t>
            </a:r>
            <a:endParaRPr lang="en-GB" altLang="en-GB" sz="1400" b="1" dirty="0"/>
          </a:p>
        </p:txBody>
      </p:sp>
      <p:sp>
        <p:nvSpPr>
          <p:cNvPr id="23565" name="Rectangle 11"/>
          <p:cNvSpPr>
            <a:spLocks noChangeArrowheads="1"/>
          </p:cNvSpPr>
          <p:nvPr/>
        </p:nvSpPr>
        <p:spPr bwMode="auto">
          <a:xfrm>
            <a:off x="3263900" y="1912938"/>
            <a:ext cx="2590800" cy="87312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101600" indent="-101600" eaLnBrk="0" hangingPunct="0">
              <a:spcAft>
                <a:spcPct val="20000"/>
              </a:spcAft>
            </a:pPr>
            <a:r>
              <a:rPr lang="en-GB" altLang="en-GB" sz="1600" b="1" dirty="0" smtClean="0"/>
              <a:t>Concept Development</a:t>
            </a:r>
            <a:endParaRPr lang="en-GB" altLang="en-GB" sz="1600" b="1" dirty="0"/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Driving Innovation</a:t>
            </a:r>
            <a:endParaRPr lang="en-GB" altLang="en-GB" sz="1400" b="1" dirty="0"/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Continuous Improvement</a:t>
            </a:r>
            <a:endParaRPr lang="en-GB" altLang="en-GB" sz="1400" b="1" dirty="0"/>
          </a:p>
        </p:txBody>
      </p:sp>
      <p:sp>
        <p:nvSpPr>
          <p:cNvPr id="23566" name="Rectangle 12"/>
          <p:cNvSpPr>
            <a:spLocks noChangeArrowheads="1"/>
          </p:cNvSpPr>
          <p:nvPr/>
        </p:nvSpPr>
        <p:spPr bwMode="auto">
          <a:xfrm>
            <a:off x="3263900" y="2871788"/>
            <a:ext cx="2590800" cy="1700212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101600" indent="-101600" eaLnBrk="0" hangingPunct="0">
              <a:spcAft>
                <a:spcPct val="20000"/>
              </a:spcAft>
            </a:pPr>
            <a:r>
              <a:rPr lang="en-GB" altLang="en-GB" b="1" dirty="0"/>
              <a:t> </a:t>
            </a:r>
            <a:r>
              <a:rPr lang="en-GB" altLang="en-GB" sz="1600" b="1" dirty="0" smtClean="0"/>
              <a:t>Portfolio Management</a:t>
            </a:r>
            <a:endParaRPr lang="en-GB" altLang="en-GB" b="1" dirty="0"/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Prioritization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Portfolio Planning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Resource Planning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Product Design - Testing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Execution Management</a:t>
            </a:r>
            <a:endParaRPr lang="en-GB" altLang="en-GB" sz="1400" b="1" dirty="0"/>
          </a:p>
        </p:txBody>
      </p:sp>
      <p:sp>
        <p:nvSpPr>
          <p:cNvPr id="23567" name="Rectangle 13"/>
          <p:cNvSpPr>
            <a:spLocks noChangeArrowheads="1"/>
          </p:cNvSpPr>
          <p:nvPr/>
        </p:nvSpPr>
        <p:spPr bwMode="auto">
          <a:xfrm>
            <a:off x="6324600" y="1912938"/>
            <a:ext cx="2590800" cy="1439862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101600" indent="-101600" eaLnBrk="0" hangingPunct="0">
              <a:spcAft>
                <a:spcPct val="20000"/>
              </a:spcAft>
            </a:pPr>
            <a:r>
              <a:rPr lang="en-GB" altLang="en-GB" b="1" dirty="0"/>
              <a:t> </a:t>
            </a:r>
            <a:r>
              <a:rPr lang="en-GB" altLang="en-GB" sz="1600" b="1" dirty="0" smtClean="0"/>
              <a:t>Business Services</a:t>
            </a:r>
            <a:endParaRPr lang="en-GB" altLang="en-GB" b="1" dirty="0"/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Process Models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Metric Models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Integration Platforms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Knowledge Management </a:t>
            </a:r>
            <a:endParaRPr lang="en-GB" altLang="en-GB" sz="1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E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VEG</Template>
  <TotalTime>10474</TotalTime>
  <Words>835</Words>
  <Application>Microsoft Office PowerPoint</Application>
  <PresentationFormat>On-screen Show (4:3)</PresentationFormat>
  <Paragraphs>171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VEG</vt:lpstr>
      <vt:lpstr>Value-Driven  Model for Healthcare </vt:lpstr>
      <vt:lpstr>Proposal</vt:lpstr>
      <vt:lpstr>The Vision</vt:lpstr>
      <vt:lpstr>Needs of the Patients</vt:lpstr>
      <vt:lpstr>Needs of the Practitioners</vt:lpstr>
      <vt:lpstr>Needs of the Providers</vt:lpstr>
      <vt:lpstr>An Expanded Membership Model</vt:lpstr>
      <vt:lpstr>Moving from Assumptions to Implementation</vt:lpstr>
      <vt:lpstr>Measuring Value for Healthcare</vt:lpstr>
      <vt:lpstr>Enabling Value for Healthcare</vt:lpstr>
      <vt:lpstr>Thank You</vt:lpstr>
      <vt:lpstr>Management Consulting firm dedicated to helping clients identify &amp; create sustainable value for their customers &amp; stakeholders.</vt:lpstr>
      <vt:lpstr>Our Services</vt:lpstr>
      <vt:lpstr>Our Expertise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Delivery Model</dc:title>
  <dc:creator>jw</dc:creator>
  <cp:lastModifiedBy>JEFF</cp:lastModifiedBy>
  <cp:revision>224</cp:revision>
  <dcterms:created xsi:type="dcterms:W3CDTF">2009-06-09T11:36:35Z</dcterms:created>
  <dcterms:modified xsi:type="dcterms:W3CDTF">2009-12-06T21:35:04Z</dcterms:modified>
</cp:coreProperties>
</file>
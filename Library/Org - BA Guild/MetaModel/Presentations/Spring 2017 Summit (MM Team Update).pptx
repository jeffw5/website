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0"/>
  </p:notesMasterIdLst>
  <p:handoutMasterIdLst>
    <p:handoutMasterId r:id="rId11"/>
  </p:handoutMasterIdLst>
  <p:sldIdLst>
    <p:sldId id="259" r:id="rId2"/>
    <p:sldId id="262" r:id="rId3"/>
    <p:sldId id="263" r:id="rId4"/>
    <p:sldId id="268" r:id="rId5"/>
    <p:sldId id="266" r:id="rId6"/>
    <p:sldId id="265" r:id="rId7"/>
    <p:sldId id="267" r:id="rId8"/>
    <p:sldId id="260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74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25413"/>
    <a:srgbClr val="00C49E"/>
    <a:srgbClr val="252E33"/>
    <a:srgbClr val="3F4E56"/>
    <a:srgbClr val="0000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83"/>
    <p:restoredTop sz="97106" autoAdjust="0"/>
  </p:normalViewPr>
  <p:slideViewPr>
    <p:cSldViewPr snapToGrid="0">
      <p:cViewPr varScale="1">
        <p:scale>
          <a:sx n="103" d="100"/>
          <a:sy n="103" d="100"/>
        </p:scale>
        <p:origin x="328" y="176"/>
      </p:cViewPr>
      <p:guideLst>
        <p:guide orient="horz" pos="1774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Business Architecture Guild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2DA1F-A37C-41D2-82C0-7922EAA70BF9}" type="datetimeFigureOut">
              <a:rPr lang="en-US" smtClean="0"/>
              <a:t>2/18/17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2012 @ Business Architecture Guild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447DD-8410-4B48-BF9F-010B3E13D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6644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Business Architecture Guild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78605-75FF-4090-82E1-8992D952D785}" type="datetimeFigureOut">
              <a:rPr lang="en-US" smtClean="0"/>
              <a:t>2/18/17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2012 @ Business Architecture Guild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F5204-EB12-4271-A49D-308523C9B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912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FBC6A-D929-477C-9F9C-F4D337BD5F7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279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190" y="3523787"/>
            <a:ext cx="9146380" cy="365760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0" y="3523129"/>
            <a:ext cx="1463040" cy="365760"/>
          </a:xfrm>
          <a:prstGeom prst="rec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>
            <a:spLocks noGrp="1"/>
          </p:cNvSpPr>
          <p:nvPr>
            <p:ph type="ctrTitle"/>
          </p:nvPr>
        </p:nvSpPr>
        <p:spPr>
          <a:xfrm>
            <a:off x="457200" y="2798081"/>
            <a:ext cx="8229600" cy="615553"/>
          </a:xfrm>
          <a:noFill/>
        </p:spPr>
        <p:txBody>
          <a:bodyPr wrap="none" lIns="91440" tIns="0" rIns="91440" bIns="0" anchor="b">
            <a:spAutoFit/>
          </a:bodyPr>
          <a:lstStyle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1463040" y="3515231"/>
            <a:ext cx="6217920" cy="369332"/>
          </a:xfrm>
          <a:noFill/>
        </p:spPr>
        <p:txBody>
          <a:bodyPr wrap="none" anchor="ctr" anchorCtr="0">
            <a:spAutoFit/>
          </a:bodyPr>
          <a:lstStyle>
            <a:lvl1pPr algn="ctr">
              <a:defRPr sz="1800" b="0" spc="300" baseline="0">
                <a:solidFill>
                  <a:srgbClr val="252E33"/>
                </a:solidFill>
              </a:defRPr>
            </a:lvl1pPr>
            <a:lvl2pPr marL="0" indent="0">
              <a:buNone/>
              <a:defRPr/>
            </a:lvl2pPr>
            <a:lvl3pPr marL="237744" indent="0">
              <a:buNone/>
              <a:defRPr/>
            </a:lvl3pPr>
            <a:lvl4pPr marL="466344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SUBTITLE STYLE</a:t>
            </a:r>
          </a:p>
        </p:txBody>
      </p:sp>
      <p:sp>
        <p:nvSpPr>
          <p:cNvPr id="52" name="Date Placeholder 5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13EAD0-FE42-479E-BFD1-82A4FA54F9B8}" type="datetime1">
              <a:rPr lang="en-US" smtClean="0"/>
              <a:t>2/18/17</a:t>
            </a:fld>
            <a:endParaRPr lang="en-US" dirty="0"/>
          </a:p>
        </p:txBody>
      </p:sp>
      <p:sp>
        <p:nvSpPr>
          <p:cNvPr id="53" name="Footer Placeholder 5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56" name="Slide Number Placeholder 5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9" name="Rectangle 58"/>
          <p:cNvSpPr/>
          <p:nvPr userDrawn="1"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 userDrawn="1"/>
        </p:nvSpPr>
        <p:spPr>
          <a:xfrm>
            <a:off x="4723130" y="534126"/>
            <a:ext cx="4206240" cy="18288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3" descr="C:\Users\rou6\Documents\1_ILLUSTRATION\STA ppt\guild\BAGuild_Logo_DarkB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2"/>
          <a:stretch/>
        </p:blipFill>
        <p:spPr bwMode="auto">
          <a:xfrm>
            <a:off x="4723130" y="170063"/>
            <a:ext cx="4206240" cy="51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191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0628"/>
            <a:ext cx="8229600" cy="357984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2/18/17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4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3D1F-8B6B-46FD-90B9-289ACA433332}" type="datetime1">
              <a:rPr lang="en-US" smtClean="0"/>
              <a:t>2/18/17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Text Placeholder 38"/>
          <p:cNvSpPr>
            <a:spLocks noGrp="1"/>
          </p:cNvSpPr>
          <p:nvPr>
            <p:ph type="body" sz="quarter" idx="13" hasCustomPrompt="1"/>
          </p:nvPr>
        </p:nvSpPr>
        <p:spPr>
          <a:xfrm>
            <a:off x="1463040" y="3515226"/>
            <a:ext cx="6217920" cy="369332"/>
          </a:xfrm>
          <a:noFill/>
        </p:spPr>
        <p:txBody>
          <a:bodyPr wrap="none" anchor="ctr" anchorCtr="0">
            <a:spAutoFit/>
          </a:bodyPr>
          <a:lstStyle>
            <a:lvl1pPr algn="ctr">
              <a:defRPr sz="1800" b="0" spc="300" baseline="0">
                <a:solidFill>
                  <a:srgbClr val="252E33"/>
                </a:solidFill>
              </a:defRPr>
            </a:lvl1pPr>
            <a:lvl2pPr marL="0" indent="0">
              <a:buNone/>
              <a:defRPr/>
            </a:lvl2pPr>
            <a:lvl3pPr marL="237744" indent="0">
              <a:buNone/>
              <a:defRPr/>
            </a:lvl3pPr>
            <a:lvl4pPr marL="466344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SUBTITLE STYLE</a:t>
            </a:r>
          </a:p>
        </p:txBody>
      </p:sp>
      <p:sp>
        <p:nvSpPr>
          <p:cNvPr id="36" name="Title 35"/>
          <p:cNvSpPr>
            <a:spLocks noGrp="1"/>
          </p:cNvSpPr>
          <p:nvPr>
            <p:ph type="title"/>
          </p:nvPr>
        </p:nvSpPr>
        <p:spPr>
          <a:xfrm>
            <a:off x="520314" y="2798076"/>
            <a:ext cx="8103373" cy="615553"/>
          </a:xfrm>
          <a:noFill/>
        </p:spPr>
        <p:txBody>
          <a:bodyPr vert="horz" wrap="none" lIns="91440" tIns="0" rIns="91440" bIns="0" rtlCol="0" anchor="b">
            <a:spAutoFit/>
          </a:bodyPr>
          <a:lstStyle>
            <a:lvl1pPr>
              <a:defRPr lang="en-US" sz="4000" b="1" dirty="0">
                <a:solidFill>
                  <a:srgbClr val="252E33"/>
                </a:solidFill>
              </a:defRPr>
            </a:lvl1pPr>
          </a:lstStyle>
          <a:p>
            <a:pPr marL="0" lvl="0" algn="ctr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 userDrawn="1"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 userDrawn="1"/>
        </p:nvSpPr>
        <p:spPr>
          <a:xfrm>
            <a:off x="0" y="548102"/>
            <a:ext cx="9144000" cy="137160"/>
          </a:xfrm>
          <a:prstGeom prst="rec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 userDrawn="1"/>
        </p:nvSpPr>
        <p:spPr>
          <a:xfrm>
            <a:off x="4723130" y="534126"/>
            <a:ext cx="4206240" cy="18288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3" descr="C:\Users\rou6\Documents\1_ILLUSTRATION\STA ppt\guild\BAGuild_Logo_DarkB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2"/>
          <a:stretch/>
        </p:blipFill>
        <p:spPr bwMode="auto">
          <a:xfrm>
            <a:off x="4723130" y="170063"/>
            <a:ext cx="4206240" cy="51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29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2/18/17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81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2/18/17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7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2/18/17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2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2/18/17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03200" y="927100"/>
            <a:ext cx="8077200" cy="12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2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65759"/>
            <a:ext cx="6858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" y="6440697"/>
            <a:ext cx="68127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92FE3BD-E6E5-415F-8D6E-D2B3F7C63698}" type="datetime1">
              <a:rPr lang="en-US" smtClean="0"/>
              <a:t>2/18/17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94182" y="6440697"/>
            <a:ext cx="187552" cy="184666"/>
          </a:xfrm>
          <a:prstGeom prst="rect">
            <a:avLst/>
          </a:prstGeom>
          <a:ln w="19050">
            <a:noFill/>
          </a:ln>
        </p:spPr>
        <p:txBody>
          <a:bodyPr vert="horz" wrap="none" lIns="0" tIns="0" rIns="0" bIns="0" rtlCol="0" anchor="ctr">
            <a:spAutoFit/>
          </a:bodyPr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rou6\Documents\1_ILLUSTRATION\STA ppt\guild\BAGuild_Logo_LightBG.png"/>
          <p:cNvPicPr>
            <a:picLocks noChangeAspect="1" noChangeArrowheads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2867"/>
          <a:stretch/>
        </p:blipFill>
        <p:spPr bwMode="auto">
          <a:xfrm>
            <a:off x="2971800" y="5969851"/>
            <a:ext cx="3200400" cy="43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rou6\Documents\1_ILLUSTRATION\STA ppt\guild\BAGuild_Badge_NoLetters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320" y="304053"/>
            <a:ext cx="640080" cy="686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09800" y="6395870"/>
            <a:ext cx="4724400" cy="274320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228600" y="958850"/>
            <a:ext cx="8686800" cy="27432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7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tif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tif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4" Type="http://schemas.openxmlformats.org/officeDocument/2006/relationships/image" Target="../media/image8.tiff"/><Relationship Id="rId5" Type="http://schemas.openxmlformats.org/officeDocument/2006/relationships/image" Target="../media/image9.tiff"/><Relationship Id="rId6" Type="http://schemas.openxmlformats.org/officeDocument/2006/relationships/image" Target="../media/image10.tiff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www.businessarchitectureguild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381615" y="2798081"/>
            <a:ext cx="4380777" cy="615553"/>
          </a:xfrm>
        </p:spPr>
        <p:txBody>
          <a:bodyPr/>
          <a:lstStyle/>
          <a:p>
            <a:r>
              <a:rPr lang="en-US" dirty="0" smtClean="0"/>
              <a:t>Metamodel team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093297" y="3515231"/>
            <a:ext cx="2957413" cy="369332"/>
          </a:xfrm>
        </p:spPr>
        <p:txBody>
          <a:bodyPr/>
          <a:lstStyle/>
          <a:p>
            <a:r>
              <a:rPr lang="en-US" dirty="0" smtClean="0"/>
              <a:t>2017 </a:t>
            </a:r>
            <a:r>
              <a:rPr lang="en-US" dirty="0" smtClean="0"/>
              <a:t>Summit Update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015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2/18/17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 (2017 Snapshot)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06400" y="4284134"/>
            <a:ext cx="8229600" cy="1564744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The team is working on multiple threads. Much work and time was spent in the last 12-18 months incorporating new thinking and approach for the MM, engaging constituencies in OMG to socialize and build consensus towards a BAMM RFP, and working with the vendor community to outline opportunities for ongoing collaboration and participation for the future.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7939" y="1636134"/>
            <a:ext cx="1257299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OMG </a:t>
            </a:r>
            <a:r>
              <a:rPr lang="en-US" sz="1600" b="1" dirty="0" smtClean="0">
                <a:solidFill>
                  <a:schemeClr val="tx1"/>
                </a:solidFill>
              </a:rPr>
              <a:t>RFP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705239" y="1636134"/>
            <a:ext cx="5867400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RFP</a:t>
            </a:r>
            <a:r>
              <a:rPr lang="en-US" sz="1600" b="1" dirty="0" smtClean="0">
                <a:solidFill>
                  <a:schemeClr val="tx1"/>
                </a:solidFill>
              </a:rPr>
              <a:t> Response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705238" y="2104545"/>
            <a:ext cx="1219199" cy="4572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Core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350475" y="3044211"/>
            <a:ext cx="2583941" cy="45720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BIZBOK® Updates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7940" y="3506969"/>
            <a:ext cx="7486478" cy="45720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Vendor </a:t>
            </a:r>
            <a:r>
              <a:rPr lang="en-US" b="1" dirty="0" smtClean="0">
                <a:solidFill>
                  <a:schemeClr val="tx1"/>
                </a:solidFill>
              </a:rPr>
              <a:t>Engagement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7939" y="2104545"/>
            <a:ext cx="1257299" cy="4572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MM Design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950180" y="2098872"/>
            <a:ext cx="2289085" cy="4572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Penumbra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924438" y="2573967"/>
            <a:ext cx="5009980" cy="4572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Extensions</a:t>
            </a:r>
            <a:endParaRPr lang="en-US" sz="1600" b="1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81000" y="1305749"/>
            <a:ext cx="7553417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95413" y="1107714"/>
            <a:ext cx="12357" cy="39607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314837" y="1107714"/>
            <a:ext cx="12357" cy="39607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297835" y="1107714"/>
            <a:ext cx="12357" cy="39607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922060" y="1107714"/>
            <a:ext cx="12357" cy="39607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306336" y="1107714"/>
            <a:ext cx="12357" cy="39607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6460" y="999726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Q1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95602" y="999726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Q2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0288" y="999726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Q3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14536" y="999726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Q4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499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2/18/17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0999" y="365759"/>
            <a:ext cx="7866529" cy="548640"/>
          </a:xfrm>
        </p:spPr>
        <p:txBody>
          <a:bodyPr/>
          <a:lstStyle/>
          <a:p>
            <a:r>
              <a:rPr lang="en-US" dirty="0" smtClean="0"/>
              <a:t>Layered view of </a:t>
            </a:r>
            <a:r>
              <a:rPr lang="en-US" dirty="0" err="1" smtClean="0"/>
              <a:t>MetaModel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dirty="0" err="1" smtClean="0"/>
              <a:t>bizbok</a:t>
            </a:r>
            <a:r>
              <a:rPr lang="en-US" dirty="0" smtClean="0"/>
              <a:t>®)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38" y="1327909"/>
            <a:ext cx="7466742" cy="46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41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2/18/17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2014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Capability as the centerpiece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70476" y="1516220"/>
            <a:ext cx="8229600" cy="3648904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Capability is the natural starting point for a BA because it describes “what” a business does in a way that supports analysis of various related business management concerns by: </a:t>
            </a:r>
          </a:p>
          <a:p>
            <a:pPr marL="579438" lvl="2" indent="-341313">
              <a:spcBef>
                <a:spcPts val="600"/>
              </a:spcBef>
              <a:spcAft>
                <a:spcPts val="600"/>
              </a:spcAft>
              <a:buClr>
                <a:schemeClr val="accent6"/>
              </a:buClr>
              <a:buFont typeface="Wingdings" charset="2"/>
              <a:buChar char="v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Engaging business and operational stakeholders about their relevant concerns (current state), and </a:t>
            </a:r>
            <a:endParaRPr lang="en-US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579438" lvl="2" indent="-341313">
              <a:spcBef>
                <a:spcPts val="600"/>
              </a:spcBef>
              <a:spcAft>
                <a:spcPts val="600"/>
              </a:spcAft>
              <a:buClr>
                <a:schemeClr val="accent6"/>
              </a:buClr>
              <a:buFont typeface="Wingdings" charset="2"/>
              <a:buChar char="v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Guiding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them towards a progressive set of steps to achieve their goals and objectives (strategy) for the short term and over the long term (future states)</a:t>
            </a:r>
          </a:p>
        </p:txBody>
      </p:sp>
    </p:spTree>
    <p:extLst>
      <p:ext uri="{BB962C8B-B14F-4D97-AF65-F5344CB8AC3E}">
        <p14:creationId xmlns:p14="http://schemas.microsoft.com/office/powerpoint/2010/main" val="1473851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ECBC-A02B-4AAF-96EF-C1FB7CCADF94}" type="datetime1">
              <a:rPr lang="en-US" smtClean="0"/>
              <a:pPr/>
              <a:t>2/18/17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2 layers of MM</a:t>
            </a:r>
            <a:endParaRPr lang="en-US" dirty="0"/>
          </a:p>
        </p:txBody>
      </p:sp>
      <p:sp>
        <p:nvSpPr>
          <p:cNvPr id="7" name="Trapezoid 6"/>
          <p:cNvSpPr/>
          <p:nvPr/>
        </p:nvSpPr>
        <p:spPr>
          <a:xfrm rot="16852770">
            <a:off x="3446754" y="1283665"/>
            <a:ext cx="2467686" cy="3509291"/>
          </a:xfrm>
          <a:prstGeom prst="trapezoid">
            <a:avLst>
              <a:gd name="adj" fmla="val 4304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6986166"/>
              </p:ext>
            </p:extLst>
          </p:nvPr>
        </p:nvGraphicFramePr>
        <p:xfrm>
          <a:off x="5993026" y="2112277"/>
          <a:ext cx="2585823" cy="24688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585823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Business Strategy Mapping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Initiative Mapping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Product Mapping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Stakeholder Mapping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Policy Mapping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BPM and Management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Case Management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Business Performance Mgmt.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Requirements Alignment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4920" y="1742944"/>
            <a:ext cx="1791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mtClean="0"/>
              <a:t>Penumbra</a:t>
            </a:r>
            <a:endParaRPr lang="en-US"/>
          </a:p>
        </p:txBody>
      </p:sp>
      <p:sp>
        <p:nvSpPr>
          <p:cNvPr id="14" name="Trapezoid 13"/>
          <p:cNvSpPr/>
          <p:nvPr/>
        </p:nvSpPr>
        <p:spPr>
          <a:xfrm>
            <a:off x="1226329" y="3204964"/>
            <a:ext cx="1912287" cy="1154676"/>
          </a:xfrm>
          <a:prstGeom prst="trapezoid">
            <a:avLst>
              <a:gd name="adj" fmla="val 72283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87" y="1496342"/>
            <a:ext cx="3250826" cy="2006911"/>
          </a:xfrm>
          <a:prstGeom prst="rect">
            <a:avLst/>
          </a:prstGeom>
        </p:spPr>
      </p:pic>
      <p:graphicFrame>
        <p:nvGraphicFramePr>
          <p:cNvPr id="1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4739324"/>
              </p:ext>
            </p:extLst>
          </p:nvPr>
        </p:nvGraphicFramePr>
        <p:xfrm>
          <a:off x="269787" y="4756993"/>
          <a:ext cx="4005649" cy="12801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005649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Capability </a:t>
                      </a:r>
                      <a:r>
                        <a:rPr lang="mr-IN" sz="1200" u="none" strike="noStrike" dirty="0" smtClean="0">
                          <a:ln>
                            <a:noFill/>
                          </a:ln>
                          <a:effectLst/>
                        </a:rPr>
                        <a:t>–</a:t>
                      </a:r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 Centerpiece defines WHAT the business does</a:t>
                      </a:r>
                      <a:endParaRPr lang="en-US" sz="12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Value </a:t>
                      </a:r>
                      <a:r>
                        <a:rPr lang="mr-IN" sz="1200" u="none" strike="noStrike" dirty="0" smtClean="0">
                          <a:ln>
                            <a:noFill/>
                          </a:ln>
                          <a:effectLst/>
                        </a:rPr>
                        <a:t>–</a:t>
                      </a:r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 defines</a:t>
                      </a:r>
                      <a:r>
                        <a:rPr lang="en-US" sz="1200" u="none" strike="noStrike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WHY the business</a:t>
                      </a:r>
                      <a:r>
                        <a:rPr lang="en-US" sz="1200" u="none" strike="noStrike" baseline="0" dirty="0" smtClean="0">
                          <a:ln>
                            <a:noFill/>
                          </a:ln>
                          <a:effectLst/>
                        </a:rPr>
                        <a:t> has the capabilities</a:t>
                      </a:r>
                      <a:endParaRPr lang="en-US" sz="12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Information </a:t>
                      </a:r>
                      <a:r>
                        <a:rPr lang="mr-IN" sz="1200" u="none" strike="noStrike" dirty="0" smtClean="0">
                          <a:ln>
                            <a:noFill/>
                          </a:ln>
                          <a:effectLst/>
                        </a:rPr>
                        <a:t>–</a:t>
                      </a:r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 HOW we build alignment</a:t>
                      </a:r>
                      <a:r>
                        <a:rPr lang="en-US" sz="1200" u="none" strike="noStrike" baseline="0" dirty="0" smtClean="0">
                          <a:ln>
                            <a:noFill/>
                          </a:ln>
                          <a:effectLst/>
                        </a:rPr>
                        <a:t> between</a:t>
                      </a:r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 Capability,</a:t>
                      </a:r>
                      <a:r>
                        <a:rPr lang="en-US" sz="1200" u="none" strike="noStrike" baseline="0" dirty="0" smtClean="0">
                          <a:ln>
                            <a:noFill/>
                          </a:ln>
                          <a:effectLst/>
                        </a:rPr>
                        <a:t> Value, and Organization</a:t>
                      </a:r>
                      <a:endParaRPr lang="en-US" sz="12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Organization </a:t>
                      </a:r>
                      <a:r>
                        <a:rPr lang="mr-IN" sz="1200" u="none" strike="noStrike" dirty="0" smtClean="0">
                          <a:ln>
                            <a:noFill/>
                          </a:ln>
                          <a:effectLst/>
                        </a:rPr>
                        <a:t>–</a:t>
                      </a:r>
                      <a:r>
                        <a:rPr lang="en-US" sz="1200" u="none" strike="noStrike" baseline="0" dirty="0" smtClean="0">
                          <a:ln>
                            <a:noFill/>
                          </a:ln>
                          <a:effectLst/>
                        </a:rPr>
                        <a:t> HOW we align resources to deliver value</a:t>
                      </a:r>
                      <a:endParaRPr lang="en-US" sz="12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385494" y="4376561"/>
            <a:ext cx="1791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1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Scenario-Driven BA Meta 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58794"/>
          </a:xfrm>
        </p:spPr>
        <p:txBody>
          <a:bodyPr>
            <a:normAutofit/>
          </a:bodyPr>
          <a:lstStyle/>
          <a:p>
            <a:pPr lvl="0"/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The BA MM was derived from the practitioners of Business Architecture and the organizations by leveraging common business scenarios: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11004" y="2686302"/>
            <a:ext cx="7721991" cy="2209799"/>
          </a:xfrm>
          <a:prstGeom prst="rect">
            <a:avLst/>
          </a:prstGeom>
        </p:spPr>
        <p:txBody>
          <a:bodyPr vert="horz" lIns="91440" tIns="45720" rIns="91440" bIns="45720" numCol="2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/>
                </a:solidFill>
              </a:rPr>
              <a:t>Investment Analysis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Shift to Customer Centric Business Model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Merger &amp; Acquisition Analysis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New Product/Service Rollout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Globalization 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Business Capability Outsourcing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Supply Chain Streamlining 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Divestiture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Regulatory Compliance 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Change Management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Operational Cost Reduction 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Joint Venture Deployment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F152-005F-4D94-91F4-54D46561C73D}" type="datetime1">
              <a:rPr lang="en-US" smtClean="0"/>
              <a:t>2/18/17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1F13-D499-404E-A11B-CE66F4C6465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601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Vendor Engagement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72739"/>
            <a:ext cx="4065104" cy="4419600"/>
          </a:xfrm>
        </p:spPr>
        <p:txBody>
          <a:bodyPr>
            <a:normAutofit fontScale="92500" lnSpcReduction="20000"/>
          </a:bodyPr>
          <a:lstStyle/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Variations for candidate BA MM have been adopted, are under review for adoption, or have been or are being user implemented across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numerous tool vendors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(see list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  <a:p>
            <a:pPr lvl="0">
              <a:lnSpc>
                <a:spcPct val="120000"/>
              </a:lnSpc>
              <a:spcBef>
                <a:spcPts val="600"/>
              </a:spcBef>
            </a:pP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Candidate BA MM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is based on the concepts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captured across practitioner communities, as embodied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 the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BIZBOK®,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which has wide adoption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across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government, institutions, commercial, and non-profit (US &amp;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International)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233" y="1424070"/>
            <a:ext cx="1734886" cy="12378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r="22173"/>
          <a:stretch/>
        </p:blipFill>
        <p:spPr>
          <a:xfrm>
            <a:off x="6454148" y="3171605"/>
            <a:ext cx="2461252" cy="85898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113" y="4412531"/>
            <a:ext cx="2258322" cy="83641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5594" y="1072973"/>
            <a:ext cx="1837765" cy="11503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203" y="3930608"/>
            <a:ext cx="1807211" cy="48192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3581" y="2747999"/>
            <a:ext cx="2209800" cy="4476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5203" y="4984808"/>
            <a:ext cx="1752600" cy="70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47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7B1AF-C811-49A0-AC28-BC2743A8A5B8}" type="datetime1">
              <a:rPr lang="en-US" smtClean="0"/>
              <a:t>2/18/17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488711" y="3767024"/>
            <a:ext cx="8018654" cy="1887696"/>
          </a:xfrm>
        </p:spPr>
        <p:txBody>
          <a:bodyPr/>
          <a:lstStyle/>
          <a:p>
            <a:r>
              <a:rPr lang="en-US" dirty="0" smtClean="0"/>
              <a:t>We are looking for additional participants to accelerate </a:t>
            </a:r>
          </a:p>
          <a:p>
            <a:r>
              <a:rPr lang="en-US" dirty="0" smtClean="0"/>
              <a:t>our efforts on this landmark work plan. Please contact the </a:t>
            </a:r>
          </a:p>
          <a:p>
            <a:r>
              <a:rPr lang="en-US" dirty="0" smtClean="0"/>
              <a:t>Team Leader (Jeffrey Wallk) on the Guild Site (see link)</a:t>
            </a:r>
          </a:p>
          <a:p>
            <a:endParaRPr lang="en-US" dirty="0" smtClean="0"/>
          </a:p>
          <a:p>
            <a:r>
              <a:rPr lang="en-US" dirty="0"/>
              <a:t>(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www.businessarchitectureguild.org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520314" y="2798076"/>
            <a:ext cx="2744211" cy="615553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821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1_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>
    <a:spDef>
      <a:spPr>
        <a:solidFill>
          <a:srgbClr val="F2541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448</TotalTime>
  <Words>433</Words>
  <Application>Microsoft Macintosh PowerPoint</Application>
  <PresentationFormat>On-screen Show (4:3)</PresentationFormat>
  <Paragraphs>79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Calibri</vt:lpstr>
      <vt:lpstr>Franklin Gothic Book</vt:lpstr>
      <vt:lpstr>Franklin Gothic Medium</vt:lpstr>
      <vt:lpstr>Mangal</vt:lpstr>
      <vt:lpstr>Tunga</vt:lpstr>
      <vt:lpstr>Arial</vt:lpstr>
      <vt:lpstr>Wingdings</vt:lpstr>
      <vt:lpstr>1_Angles</vt:lpstr>
      <vt:lpstr>Metamodel team</vt:lpstr>
      <vt:lpstr>Roadmap (2017 Snapshot)</vt:lpstr>
      <vt:lpstr>Layered view of MetaModel (bizbok®)</vt:lpstr>
      <vt:lpstr>Capability as the centerpiece</vt:lpstr>
      <vt:lpstr>First 2 layers of MM</vt:lpstr>
      <vt:lpstr>Scenario-Driven BA Meta Modeling</vt:lpstr>
      <vt:lpstr>Vendor Engagement</vt:lpstr>
      <vt:lpstr>Thank you</vt:lpstr>
    </vt:vector>
  </TitlesOfParts>
  <Company>Toshiba</Company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kathy</dc:creator>
  <cp:lastModifiedBy>Jeffrey Wallk</cp:lastModifiedBy>
  <cp:revision>33</cp:revision>
  <dcterms:created xsi:type="dcterms:W3CDTF">2012-10-06T17:50:46Z</dcterms:created>
  <dcterms:modified xsi:type="dcterms:W3CDTF">2017-02-18T16:37:46Z</dcterms:modified>
</cp:coreProperties>
</file>
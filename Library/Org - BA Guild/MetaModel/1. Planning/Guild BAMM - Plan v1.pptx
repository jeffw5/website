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22"/>
  </p:notesMasterIdLst>
  <p:sldIdLst>
    <p:sldId id="256" r:id="rId2"/>
    <p:sldId id="267" r:id="rId3"/>
    <p:sldId id="268" r:id="rId4"/>
    <p:sldId id="274" r:id="rId5"/>
    <p:sldId id="276" r:id="rId6"/>
    <p:sldId id="289" r:id="rId7"/>
    <p:sldId id="290" r:id="rId8"/>
    <p:sldId id="277" r:id="rId9"/>
    <p:sldId id="278" r:id="rId10"/>
    <p:sldId id="279" r:id="rId11"/>
    <p:sldId id="280" r:id="rId12"/>
    <p:sldId id="282" r:id="rId13"/>
    <p:sldId id="281" r:id="rId14"/>
    <p:sldId id="283" r:id="rId15"/>
    <p:sldId id="284" r:id="rId16"/>
    <p:sldId id="286" r:id="rId17"/>
    <p:sldId id="285" r:id="rId18"/>
    <p:sldId id="287" r:id="rId19"/>
    <p:sldId id="288"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1"/>
    <p:restoredTop sz="96070"/>
  </p:normalViewPr>
  <p:slideViewPr>
    <p:cSldViewPr snapToGrid="0" snapToObjects="1">
      <p:cViewPr varScale="1">
        <p:scale>
          <a:sx n="100" d="100"/>
          <a:sy n="100" d="100"/>
        </p:scale>
        <p:origin x="160"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36069-7784-4139-B81E-57CA0D4FE9F6}" type="datetimeFigureOut">
              <a:rPr lang="en-US" smtClean="0"/>
              <a:t>12/10/15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31BC86-D1AB-4CCF-B75B-1D0C31F83BA7}" type="slidenum">
              <a:rPr lang="en-US" smtClean="0"/>
              <a:t>‹#›</a:t>
            </a:fld>
            <a:endParaRPr lang="en-US"/>
          </a:p>
        </p:txBody>
      </p:sp>
    </p:spTree>
    <p:extLst>
      <p:ext uri="{BB962C8B-B14F-4D97-AF65-F5344CB8AC3E}">
        <p14:creationId xmlns:p14="http://schemas.microsoft.com/office/powerpoint/2010/main" val="181537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31BC86-D1AB-4CCF-B75B-1D0C31F83BA7}" type="slidenum">
              <a:rPr lang="en-US" smtClean="0"/>
              <a:t>1</a:t>
            </a:fld>
            <a:endParaRPr lang="en-US"/>
          </a:p>
        </p:txBody>
      </p:sp>
    </p:spTree>
    <p:extLst>
      <p:ext uri="{BB962C8B-B14F-4D97-AF65-F5344CB8AC3E}">
        <p14:creationId xmlns:p14="http://schemas.microsoft.com/office/powerpoint/2010/main" val="2488583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31621F7-5C90-4907-93FE-359A53F4AD46}" type="datetime2">
              <a:rPr lang="en-US" smtClean="0"/>
              <a:t>Thursday, December 10, 2015</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4686"/>
            <a:ext cx="8229600" cy="499013"/>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739900"/>
            <a:ext cx="8229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03C990E-EF66-48EF-9074-93E42421AF30}" type="datetime2">
              <a:rPr lang="en-US" smtClean="0"/>
              <a:t>Thursday, December 10, 2015</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50800" y="342901"/>
            <a:ext cx="5082836" cy="6653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2F32C-E57C-4AF1-BFC5-413814108AAE}" type="datetime2">
              <a:rPr lang="en-US" smtClean="0"/>
              <a:t>Thursday, December 10, 2015</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3C7F65D-EEA7-47FC-A193-517237A06BFD}" type="datetime2">
              <a:rPr lang="en-US" smtClean="0"/>
              <a:t>Thursday, December 10, 2015</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14AAC1-0ED2-4A42-AD9C-E616A5261093}" type="datetime2">
              <a:rPr lang="en-US" smtClean="0"/>
              <a:t>Thursday, December 10, 2015</a:t>
            </a:fld>
            <a:endParaRPr lang="en-US"/>
          </a:p>
        </p:txBody>
      </p:sp>
      <p:sp>
        <p:nvSpPr>
          <p:cNvPr id="8" name="Footer Placeholder 7"/>
          <p:cNvSpPr>
            <a:spLocks noGrp="1"/>
          </p:cNvSpPr>
          <p:nvPr>
            <p:ph type="ftr" sz="quarter" idx="11"/>
          </p:nvPr>
        </p:nvSpPr>
        <p:spPr/>
        <p:txBody>
          <a:bodyPr/>
          <a:lstStyle/>
          <a:p>
            <a:pPr algn="r"/>
            <a:r>
              <a:rPr lang="en-US" smtClean="0"/>
              <a:t>Copyright 2014 @ Business Architecture Guild</a:t>
            </a: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B0F4521-793C-4D9C-85F8-86FAE5BBFE33}" type="datetime2">
              <a:rPr lang="en-US" smtClean="0"/>
              <a:t>Thursday, December 10, 2015</a:t>
            </a:fld>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7139E3-512B-45D0-B26D-41721BE65401}" type="datetime2">
              <a:rPr lang="en-US" smtClean="0"/>
              <a:t>Thursday, December 10, 2015</a:t>
            </a:fld>
            <a:endParaRPr lang="en-US"/>
          </a:p>
        </p:txBody>
      </p:sp>
      <p:sp>
        <p:nvSpPr>
          <p:cNvPr id="3" name="Footer Placeholder 2"/>
          <p:cNvSpPr>
            <a:spLocks noGrp="1"/>
          </p:cNvSpPr>
          <p:nvPr>
            <p:ph type="ftr" sz="quarter" idx="11"/>
          </p:nvPr>
        </p:nvSpPr>
        <p:spPr/>
        <p:txBody>
          <a:bodyPr/>
          <a:lstStyle/>
          <a:p>
            <a:pPr algn="r"/>
            <a:r>
              <a:rPr lang="en-US" smtClean="0"/>
              <a:t>Copyright 2014 @ Business Architecture Guild</a:t>
            </a: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687176-6832-4D20-9ADE-BE460D546666}" type="datetime2">
              <a:rPr lang="en-US" smtClean="0"/>
              <a:t>Thursday, December 10, 2015</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742E5-2019-480A-A3A4-035ADE4E467A}" type="datetime2">
              <a:rPr lang="en-US" smtClean="0"/>
              <a:t>Thursday, December 10, 2015</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ACFDC7-2E4F-458B-BAD4-4EA3389A7D12}" type="datetime2">
              <a:rPr lang="en-US" smtClean="0"/>
              <a:t>Thursday, December 10, 2015</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8405C-9716-4850-9C2B-3434C28F107C}" type="datetime2">
              <a:rPr lang="en-US" smtClean="0"/>
              <a:t>Thursday, December 10, 2015</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391310C1-E8D3-4FC9-B74F-2353FD9E22B0}" type="datetime2">
              <a:rPr lang="en-US" smtClean="0"/>
              <a:t>Thursday, December 10, 2015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lgn="r"/>
            <a:r>
              <a:rPr lang="en-US" smtClean="0"/>
              <a:t>Copyright 2014 @ Business Architecture Guild</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 Type="http://schemas.openxmlformats.org/officeDocument/2006/relationships/oleObject" Target="../embeddings/oleObject1.bin"/><Relationship Id="rId12" Type="http://schemas.openxmlformats.org/officeDocument/2006/relationships/image" Target="../media/image4.wmf"/><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hyperlink" Target="NULL" TargetMode="External"/><Relationship Id="rId4" Type="http://schemas.openxmlformats.org/officeDocument/2006/relationships/image" Target="../media/image5.jpeg"/><Relationship Id="rId5" Type="http://schemas.openxmlformats.org/officeDocument/2006/relationships/hyperlink" Target="http://images.google.co.in/imgres?imgurl=dmoz.org/img/moz/factory.gif&amp;imgrefurl=http://dmoz.org/Business/&amp;h=150&amp;w=200&amp;prev=/images?q=factory&amp;svnum=10&amp;hl=en&amp;lr=&amp;ie=UTF-8&amp;oe=UTF-8&amp;sa=N" TargetMode="External"/><Relationship Id="rId6" Type="http://schemas.openxmlformats.org/officeDocument/2006/relationships/image" Target="../media/image6.jpeg"/><Relationship Id="rId7" Type="http://schemas.openxmlformats.org/officeDocument/2006/relationships/hyperlink" Target="http://images.google.co.in/imgres?imgurl=www.objectwarehouse.com/images/splash/warehouse.gif&amp;imgrefurl=http://www.objectwarehouse.com/&amp;h=141&amp;w=163&amp;prev=/images?q=warehouse&amp;svnum=10&amp;hl=en&amp;lr=&amp;ie=UTF-8&amp;oe=UTF-8&amp;sa=N" TargetMode="External"/><Relationship Id="rId8" Type="http://schemas.openxmlformats.org/officeDocument/2006/relationships/image" Target="../media/image7.jpeg"/><Relationship Id="rId9" Type="http://schemas.openxmlformats.org/officeDocument/2006/relationships/hyperlink" Target="http://images.google.co.in/imgres?imgurl=www.beammacktrucks.com/truck.jpg&amp;imgrefurl=http://www.beammacktrucks.com/&amp;h=222&amp;w=278&amp;prev=/images?q=truck&amp;svnum=10&amp;hl=en&amp;lr=&amp;ie=UTF-8&amp;oe=UTF-8" TargetMode="External"/><Relationship Id="rId10"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n.wikipedia.org/wiki/Busines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12544"/>
            <a:ext cx="7848600" cy="1927225"/>
          </a:xfrm>
        </p:spPr>
        <p:txBody>
          <a:bodyPr/>
          <a:lstStyle/>
          <a:p>
            <a:r>
              <a:rPr lang="en-US" sz="4400" dirty="0" smtClean="0"/>
              <a:t>Guild – BAMM Team </a:t>
            </a:r>
            <a:br>
              <a:rPr lang="en-US" sz="4400" dirty="0" smtClean="0"/>
            </a:br>
            <a:r>
              <a:rPr lang="en-US" sz="3600" dirty="0" smtClean="0"/>
              <a:t>2016 Plan</a:t>
            </a:r>
            <a:endParaRPr lang="en-US" sz="4400" dirty="0"/>
          </a:p>
        </p:txBody>
      </p:sp>
      <p:sp>
        <p:nvSpPr>
          <p:cNvPr id="3" name="Subtitle 2"/>
          <p:cNvSpPr>
            <a:spLocks noGrp="1"/>
          </p:cNvSpPr>
          <p:nvPr>
            <p:ph type="subTitle" idx="1"/>
          </p:nvPr>
        </p:nvSpPr>
        <p:spPr>
          <a:xfrm>
            <a:off x="685800" y="4140200"/>
            <a:ext cx="6400800" cy="1117600"/>
          </a:xfrm>
        </p:spPr>
        <p:txBody>
          <a:bodyPr>
            <a:normAutofit/>
          </a:bodyPr>
          <a:lstStyle/>
          <a:p>
            <a:r>
              <a:rPr lang="en-US" smtClean="0"/>
              <a:t>Proposal:  Jeff Wallk </a:t>
            </a:r>
          </a:p>
          <a:p>
            <a:r>
              <a:rPr lang="en-US" dirty="0" smtClean="0"/>
              <a:t>December </a:t>
            </a:r>
            <a:r>
              <a:rPr lang="en-US" dirty="0" smtClean="0"/>
              <a:t>2015</a:t>
            </a:r>
            <a:endParaRPr lang="en-US" dirty="0"/>
          </a:p>
        </p:txBody>
      </p:sp>
      <p:pic>
        <p:nvPicPr>
          <p:cNvPr id="4" name="Picture 3"/>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98467" y="458555"/>
            <a:ext cx="5943600" cy="779145"/>
          </a:xfrm>
          <a:prstGeom prst="rect">
            <a:avLst/>
          </a:prstGeom>
          <a:noFill/>
          <a:ln>
            <a:noFill/>
          </a:ln>
        </p:spPr>
      </p:pic>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1</a:t>
            </a:fld>
            <a:endParaRPr lang="en-US"/>
          </a:p>
        </p:txBody>
      </p:sp>
    </p:spTree>
    <p:extLst>
      <p:ext uri="{BB962C8B-B14F-4D97-AF65-F5344CB8AC3E}">
        <p14:creationId xmlns:p14="http://schemas.microsoft.com/office/powerpoint/2010/main" val="856820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Outline</a:t>
            </a:r>
            <a:endParaRPr lang="en-US" dirty="0"/>
          </a:p>
        </p:txBody>
      </p:sp>
      <p:sp>
        <p:nvSpPr>
          <p:cNvPr id="3" name="Content Placeholder 2"/>
          <p:cNvSpPr>
            <a:spLocks noGrp="1"/>
          </p:cNvSpPr>
          <p:nvPr>
            <p:ph idx="1"/>
          </p:nvPr>
        </p:nvSpPr>
        <p:spPr/>
        <p:txBody>
          <a:bodyPr/>
          <a:lstStyle/>
          <a:p>
            <a:pPr>
              <a:spcBef>
                <a:spcPts val="1200"/>
              </a:spcBef>
            </a:pPr>
            <a:r>
              <a:rPr lang="en-US" dirty="0" smtClean="0"/>
              <a:t>Supply Chain Vision</a:t>
            </a:r>
          </a:p>
          <a:p>
            <a:pPr>
              <a:spcBef>
                <a:spcPts val="1200"/>
              </a:spcBef>
            </a:pPr>
            <a:r>
              <a:rPr lang="en-US" dirty="0" smtClean="0"/>
              <a:t>Key Artifacts</a:t>
            </a:r>
          </a:p>
          <a:p>
            <a:pPr>
              <a:spcBef>
                <a:spcPts val="1200"/>
              </a:spcBef>
            </a:pPr>
            <a:r>
              <a:rPr lang="en-US" dirty="0" smtClean="0"/>
              <a:t>Engagement Model (internal)*</a:t>
            </a:r>
          </a:p>
          <a:p>
            <a:pPr>
              <a:spcBef>
                <a:spcPts val="1200"/>
              </a:spcBef>
            </a:pPr>
            <a:r>
              <a:rPr lang="en-US" dirty="0" smtClean="0"/>
              <a:t>Engagement Model (external)*</a:t>
            </a:r>
            <a:endParaRPr lang="en-US" dirty="0"/>
          </a:p>
          <a:p>
            <a:pPr>
              <a:spcBef>
                <a:spcPts val="1200"/>
              </a:spcBef>
            </a:pPr>
            <a:r>
              <a:rPr lang="en-US" dirty="0"/>
              <a:t>Demand </a:t>
            </a:r>
            <a:r>
              <a:rPr lang="en-US" dirty="0" smtClean="0"/>
              <a:t>Planning</a:t>
            </a:r>
          </a:p>
          <a:p>
            <a:pPr>
              <a:spcBef>
                <a:spcPts val="1200"/>
              </a:spcBef>
            </a:pPr>
            <a:r>
              <a:rPr lang="en-US" dirty="0" smtClean="0"/>
              <a:t>Quarterly Update Cycle</a:t>
            </a:r>
          </a:p>
          <a:p>
            <a:pPr>
              <a:spcBef>
                <a:spcPts val="1200"/>
              </a:spcBef>
            </a:pPr>
            <a:endParaRPr lang="en-US" dirty="0"/>
          </a:p>
          <a:p>
            <a:pPr marL="0" indent="0">
              <a:spcBef>
                <a:spcPts val="1200"/>
              </a:spcBef>
              <a:buNone/>
            </a:pPr>
            <a:r>
              <a:rPr lang="en-US" dirty="0" smtClean="0"/>
              <a:t>* Guild Perspective</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2</a:t>
            </a:fld>
            <a:endParaRPr lang="en-US"/>
          </a:p>
        </p:txBody>
      </p:sp>
    </p:spTree>
    <p:extLst>
      <p:ext uri="{BB962C8B-B14F-4D97-AF65-F5344CB8AC3E}">
        <p14:creationId xmlns:p14="http://schemas.microsoft.com/office/powerpoint/2010/main" val="25834457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Thus far, the Guild BAMM Team has operated using a top down approach with the idea that what is produced will be adopted and /or consumed by standards organizations, vendors, and practitioners (business architects and any other architects).</a:t>
            </a:r>
          </a:p>
          <a:p>
            <a:pPr>
              <a:lnSpc>
                <a:spcPct val="110000"/>
              </a:lnSpc>
              <a:spcBef>
                <a:spcPts val="1200"/>
              </a:spcBef>
            </a:pPr>
            <a:r>
              <a:rPr lang="en-US" dirty="0" smtClean="0"/>
              <a:t>This has proven an tough road and with the ongoing effort to promote the Guild’s perspectives for BA in OMG has distracted the team’s ability to achieve continuity and productivity has fallen off. </a:t>
            </a:r>
          </a:p>
          <a:p>
            <a:pPr>
              <a:lnSpc>
                <a:spcPct val="110000"/>
              </a:lnSpc>
              <a:spcBef>
                <a:spcPts val="1200"/>
              </a:spcBef>
            </a:pPr>
            <a:r>
              <a:rPr lang="en-US" dirty="0" smtClean="0"/>
              <a:t>The purpose of a supply chain vision is to align the BAMM with the upstream and downstream value chain players.</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3</a:t>
            </a:fld>
            <a:endParaRPr lang="en-US"/>
          </a:p>
        </p:txBody>
      </p:sp>
    </p:spTree>
    <p:extLst>
      <p:ext uri="{BB962C8B-B14F-4D97-AF65-F5344CB8AC3E}">
        <p14:creationId xmlns:p14="http://schemas.microsoft.com/office/powerpoint/2010/main" val="4407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4</a:t>
            </a:fld>
            <a:endParaRPr lang="en-US"/>
          </a:p>
        </p:txBody>
      </p:sp>
      <p:sp>
        <p:nvSpPr>
          <p:cNvPr id="7" name="Rectangle 13"/>
          <p:cNvSpPr>
            <a:spLocks noChangeArrowheads="1"/>
          </p:cNvSpPr>
          <p:nvPr/>
        </p:nvSpPr>
        <p:spPr bwMode="auto">
          <a:xfrm>
            <a:off x="457200" y="3776313"/>
            <a:ext cx="8102599" cy="1584325"/>
          </a:xfrm>
          <a:prstGeom prst="rect">
            <a:avLst/>
          </a:prstGeom>
          <a:noFill/>
          <a:ln w="9525">
            <a:solidFill>
              <a:schemeClr val="tx1"/>
            </a:solidFill>
            <a:miter lim="800000"/>
            <a:headEnd/>
            <a:tailEnd/>
          </a:ln>
          <a:effectLst/>
        </p:spPr>
        <p:txBody>
          <a:bodyPr wrap="none" anchor="ctr"/>
          <a:lstStyle/>
          <a:p>
            <a:endParaRPr lang="en-US"/>
          </a:p>
        </p:txBody>
      </p:sp>
      <p:pic>
        <p:nvPicPr>
          <p:cNvPr id="8" name="Picture 8" descr="supplier-photo-1">
            <a:hlinkClick r:id="rId3" invalidUrl="http://images.google.co.in/imgres?imgurl=www.cubic.com/cds/_Ops-Mfg Web Page/ops_mfg/home_pg/photos/supplier-photo-1.jpg&amp;imgrefurl=http://www.cubic.com/cds/_Ops-Mfg Web Page/ops_mfg/home_pg/photos/&amp;h=225&amp;w=295&amp;prev=/images?q=supplier&amp;start=40&amp;svnum=10&amp;hl=en&amp;lr=&amp;ie=UTF-8&amp;oe=UTF-8&amp;sa=N"/>
          </p:cNvPr>
          <p:cNvPicPr>
            <a:picLocks noChangeAspect="1" noChangeArrowheads="1"/>
          </p:cNvPicPr>
          <p:nvPr/>
        </p:nvPicPr>
        <p:blipFill>
          <a:blip r:embed="rId4" cstate="print"/>
          <a:srcRect/>
          <a:stretch>
            <a:fillRect/>
          </a:stretch>
        </p:blipFill>
        <p:spPr bwMode="auto">
          <a:xfrm>
            <a:off x="660400" y="4065238"/>
            <a:ext cx="1047750" cy="800100"/>
          </a:xfrm>
          <a:prstGeom prst="rect">
            <a:avLst/>
          </a:prstGeom>
          <a:noFill/>
        </p:spPr>
      </p:pic>
      <p:pic>
        <p:nvPicPr>
          <p:cNvPr id="9" name="Picture 9" descr="factory">
            <a:hlinkClick r:id="rId5"/>
          </p:cNvPr>
          <p:cNvPicPr>
            <a:picLocks noChangeAspect="1" noChangeArrowheads="1"/>
          </p:cNvPicPr>
          <p:nvPr/>
        </p:nvPicPr>
        <p:blipFill>
          <a:blip r:embed="rId6" cstate="print"/>
          <a:srcRect/>
          <a:stretch>
            <a:fillRect/>
          </a:stretch>
        </p:blipFill>
        <p:spPr bwMode="auto">
          <a:xfrm>
            <a:off x="2441575" y="4081113"/>
            <a:ext cx="933450" cy="704850"/>
          </a:xfrm>
          <a:prstGeom prst="rect">
            <a:avLst/>
          </a:prstGeom>
          <a:noFill/>
        </p:spPr>
      </p:pic>
      <p:pic>
        <p:nvPicPr>
          <p:cNvPr id="10" name="Picture 10" descr="warehouse">
            <a:hlinkClick r:id="rId7"/>
          </p:cNvPr>
          <p:cNvPicPr>
            <a:picLocks noChangeAspect="1" noChangeArrowheads="1"/>
          </p:cNvPicPr>
          <p:nvPr/>
        </p:nvPicPr>
        <p:blipFill>
          <a:blip r:embed="rId8" cstate="print"/>
          <a:srcRect/>
          <a:stretch>
            <a:fillRect/>
          </a:stretch>
        </p:blipFill>
        <p:spPr bwMode="auto">
          <a:xfrm>
            <a:off x="4021137" y="4065238"/>
            <a:ext cx="866775" cy="752475"/>
          </a:xfrm>
          <a:prstGeom prst="rect">
            <a:avLst/>
          </a:prstGeom>
          <a:noFill/>
        </p:spPr>
      </p:pic>
      <p:pic>
        <p:nvPicPr>
          <p:cNvPr id="11" name="Picture 11" descr="truck">
            <a:hlinkClick r:id="rId9"/>
          </p:cNvPr>
          <p:cNvPicPr>
            <a:picLocks noChangeAspect="1" noChangeArrowheads="1"/>
          </p:cNvPicPr>
          <p:nvPr/>
        </p:nvPicPr>
        <p:blipFill>
          <a:blip r:embed="rId10" cstate="print"/>
          <a:srcRect/>
          <a:stretch>
            <a:fillRect/>
          </a:stretch>
        </p:blipFill>
        <p:spPr bwMode="auto">
          <a:xfrm>
            <a:off x="5548312" y="3849338"/>
            <a:ext cx="1028700" cy="828675"/>
          </a:xfrm>
          <a:prstGeom prst="rect">
            <a:avLst/>
          </a:prstGeom>
          <a:noFill/>
        </p:spPr>
      </p:pic>
      <p:graphicFrame>
        <p:nvGraphicFramePr>
          <p:cNvPr id="12" name="Object 12"/>
          <p:cNvGraphicFramePr>
            <a:graphicFrameLocks noChangeAspect="1"/>
          </p:cNvGraphicFramePr>
          <p:nvPr>
            <p:extLst>
              <p:ext uri="{D42A27DB-BD31-4B8C-83A1-F6EECF244321}">
                <p14:modId xmlns:p14="http://schemas.microsoft.com/office/powerpoint/2010/main" val="2113338480"/>
              </p:ext>
            </p:extLst>
          </p:nvPr>
        </p:nvGraphicFramePr>
        <p:xfrm>
          <a:off x="7148512" y="4136676"/>
          <a:ext cx="1008063" cy="709612"/>
        </p:xfrm>
        <a:graphic>
          <a:graphicData uri="http://schemas.openxmlformats.org/presentationml/2006/ole">
            <mc:AlternateContent xmlns:mc="http://schemas.openxmlformats.org/markup-compatibility/2006">
              <mc:Choice xmlns:v="urn:schemas-microsoft-com:vml" Requires="v">
                <p:oleObj spid="_x0000_s2075" name="Clip" r:id="rId11" imgW="1419120" imgH="1000080" progId="MS_ClipArt_Gallery.2">
                  <p:embed/>
                </p:oleObj>
              </mc:Choice>
              <mc:Fallback>
                <p:oleObj name="Clip" r:id="rId11" imgW="1419120" imgH="1000080"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48512" y="4136676"/>
                        <a:ext cx="1008063" cy="70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AutoShape 14"/>
          <p:cNvSpPr>
            <a:spLocks noChangeArrowheads="1"/>
          </p:cNvSpPr>
          <p:nvPr/>
        </p:nvSpPr>
        <p:spPr bwMode="auto">
          <a:xfrm>
            <a:off x="5856287" y="1904651"/>
            <a:ext cx="2089150" cy="576262"/>
          </a:xfrm>
          <a:prstGeom prst="roundRect">
            <a:avLst>
              <a:gd name="adj" fmla="val 16667"/>
            </a:avLst>
          </a:prstGeom>
          <a:solidFill>
            <a:srgbClr val="C0C0C0"/>
          </a:solidFill>
          <a:ln w="9525">
            <a:solidFill>
              <a:schemeClr val="tx1"/>
            </a:solidFill>
            <a:round/>
            <a:headEnd/>
            <a:tailEnd/>
          </a:ln>
          <a:effectLst/>
        </p:spPr>
        <p:txBody>
          <a:bodyPr wrap="none" anchor="ctr"/>
          <a:lstStyle/>
          <a:p>
            <a:r>
              <a:rPr lang="en-US" sz="1800">
                <a:latin typeface="Arial" charset="0"/>
              </a:rPr>
              <a:t>Demand Planning</a:t>
            </a:r>
          </a:p>
        </p:txBody>
      </p:sp>
      <p:sp>
        <p:nvSpPr>
          <p:cNvPr id="14" name="AutoShape 15"/>
          <p:cNvSpPr>
            <a:spLocks noChangeArrowheads="1"/>
          </p:cNvSpPr>
          <p:nvPr/>
        </p:nvSpPr>
        <p:spPr bwMode="auto">
          <a:xfrm>
            <a:off x="457200" y="1904651"/>
            <a:ext cx="3457575" cy="576262"/>
          </a:xfrm>
          <a:prstGeom prst="roundRect">
            <a:avLst>
              <a:gd name="adj" fmla="val 16667"/>
            </a:avLst>
          </a:prstGeom>
          <a:solidFill>
            <a:srgbClr val="C0C0C0"/>
          </a:solidFill>
          <a:ln w="9525">
            <a:solidFill>
              <a:schemeClr val="tx1"/>
            </a:solidFill>
            <a:round/>
            <a:headEnd/>
            <a:tailEnd/>
          </a:ln>
          <a:effectLst/>
        </p:spPr>
        <p:txBody>
          <a:bodyPr wrap="none" anchor="ctr"/>
          <a:lstStyle/>
          <a:p>
            <a:pPr algn="ctr"/>
            <a:r>
              <a:rPr lang="en-US" sz="1800" dirty="0" smtClean="0">
                <a:latin typeface="Arial" charset="0"/>
              </a:rPr>
              <a:t>Scenarios</a:t>
            </a:r>
            <a:endParaRPr lang="en-US" sz="1800" dirty="0">
              <a:latin typeface="Arial" charset="0"/>
            </a:endParaRPr>
          </a:p>
        </p:txBody>
      </p:sp>
      <p:sp>
        <p:nvSpPr>
          <p:cNvPr id="15" name="Line 17"/>
          <p:cNvSpPr>
            <a:spLocks noChangeShapeType="1"/>
          </p:cNvSpPr>
          <p:nvPr/>
        </p:nvSpPr>
        <p:spPr bwMode="auto">
          <a:xfrm flipH="1" flipV="1">
            <a:off x="4039622" y="2226912"/>
            <a:ext cx="1678290" cy="13049"/>
          </a:xfrm>
          <a:prstGeom prst="line">
            <a:avLst/>
          </a:prstGeom>
          <a:noFill/>
          <a:ln w="25400">
            <a:solidFill>
              <a:schemeClr val="tx1"/>
            </a:solidFill>
            <a:round/>
            <a:headEnd/>
            <a:tailEnd type="stealth" w="lg" len="lg"/>
          </a:ln>
          <a:effectLst/>
        </p:spPr>
        <p:txBody>
          <a:bodyPr/>
          <a:lstStyle/>
          <a:p>
            <a:endParaRPr lang="en-US"/>
          </a:p>
        </p:txBody>
      </p:sp>
      <p:sp>
        <p:nvSpPr>
          <p:cNvPr id="16" name="Text Box 18"/>
          <p:cNvSpPr txBox="1">
            <a:spLocks noChangeArrowheads="1"/>
          </p:cNvSpPr>
          <p:nvPr/>
        </p:nvSpPr>
        <p:spPr bwMode="auto">
          <a:xfrm>
            <a:off x="4327788" y="1897733"/>
            <a:ext cx="1390124" cy="646331"/>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Demand </a:t>
            </a:r>
            <a:endParaRPr lang="en-US" sz="1800" smtClean="0">
              <a:latin typeface="Arial" charset="0"/>
              <a:cs typeface="Arial" charset="0"/>
            </a:endParaRPr>
          </a:p>
          <a:p>
            <a:pPr algn="ctr"/>
            <a:r>
              <a:rPr lang="en-US" sz="1800" dirty="0" smtClean="0">
                <a:latin typeface="Arial" charset="0"/>
                <a:cs typeface="Arial" charset="0"/>
              </a:rPr>
              <a:t>Forecasting</a:t>
            </a:r>
            <a:endParaRPr lang="en-US" sz="1800" dirty="0">
              <a:latin typeface="Arial" charset="0"/>
              <a:cs typeface="Arial" charset="0"/>
            </a:endParaRPr>
          </a:p>
        </p:txBody>
      </p:sp>
      <p:sp>
        <p:nvSpPr>
          <p:cNvPr id="17" name="Text Box 19"/>
          <p:cNvSpPr txBox="1">
            <a:spLocks noChangeArrowheads="1"/>
          </p:cNvSpPr>
          <p:nvPr/>
        </p:nvSpPr>
        <p:spPr bwMode="auto">
          <a:xfrm>
            <a:off x="712139" y="4892326"/>
            <a:ext cx="922047"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BIZBOK </a:t>
            </a:r>
          </a:p>
          <a:p>
            <a:pPr algn="ctr"/>
            <a:r>
              <a:rPr lang="en-US" sz="1400" b="1" dirty="0" smtClean="0">
                <a:latin typeface="Arial" charset="0"/>
              </a:rPr>
              <a:t>Teams</a:t>
            </a:r>
            <a:endParaRPr lang="en-US" sz="1400" b="1" dirty="0">
              <a:latin typeface="Arial" charset="0"/>
            </a:endParaRPr>
          </a:p>
        </p:txBody>
      </p:sp>
      <p:sp>
        <p:nvSpPr>
          <p:cNvPr id="18" name="Text Box 20"/>
          <p:cNvSpPr txBox="1">
            <a:spLocks noChangeArrowheads="1"/>
          </p:cNvSpPr>
          <p:nvPr/>
        </p:nvSpPr>
        <p:spPr bwMode="auto">
          <a:xfrm>
            <a:off x="2477514" y="4892326"/>
            <a:ext cx="742511"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BAMM</a:t>
            </a:r>
          </a:p>
          <a:p>
            <a:pPr algn="ctr"/>
            <a:r>
              <a:rPr lang="en-US" sz="1400" b="1" dirty="0" smtClean="0">
                <a:latin typeface="Arial" charset="0"/>
              </a:rPr>
              <a:t>Team</a:t>
            </a:r>
            <a:endParaRPr lang="en-US" sz="1400" b="1" dirty="0">
              <a:latin typeface="Arial" charset="0"/>
            </a:endParaRPr>
          </a:p>
        </p:txBody>
      </p:sp>
      <p:sp>
        <p:nvSpPr>
          <p:cNvPr id="19" name="Text Box 21"/>
          <p:cNvSpPr txBox="1">
            <a:spLocks noChangeArrowheads="1"/>
          </p:cNvSpPr>
          <p:nvPr/>
        </p:nvSpPr>
        <p:spPr bwMode="auto">
          <a:xfrm>
            <a:off x="4039623" y="4892326"/>
            <a:ext cx="931409"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BAMM </a:t>
            </a:r>
          </a:p>
          <a:p>
            <a:pPr algn="ctr"/>
            <a:r>
              <a:rPr lang="en-US" sz="1400" b="1" dirty="0" smtClean="0">
                <a:latin typeface="Arial" charset="0"/>
              </a:rPr>
              <a:t>Versions</a:t>
            </a:r>
            <a:endParaRPr lang="en-US" sz="1400" b="1" dirty="0">
              <a:latin typeface="Arial" charset="0"/>
            </a:endParaRPr>
          </a:p>
        </p:txBody>
      </p:sp>
      <p:sp>
        <p:nvSpPr>
          <p:cNvPr id="20" name="Text Box 22"/>
          <p:cNvSpPr txBox="1">
            <a:spLocks noChangeArrowheads="1"/>
          </p:cNvSpPr>
          <p:nvPr/>
        </p:nvSpPr>
        <p:spPr bwMode="auto">
          <a:xfrm>
            <a:off x="5689228" y="4892326"/>
            <a:ext cx="891334" cy="307777"/>
          </a:xfrm>
          <a:prstGeom prst="rect">
            <a:avLst/>
          </a:prstGeom>
          <a:noFill/>
          <a:ln w="9525">
            <a:noFill/>
            <a:miter lim="800000"/>
            <a:headEnd/>
            <a:tailEnd/>
          </a:ln>
          <a:effectLst/>
        </p:spPr>
        <p:txBody>
          <a:bodyPr wrap="none">
            <a:spAutoFit/>
          </a:bodyPr>
          <a:lstStyle/>
          <a:p>
            <a:pPr algn="ctr"/>
            <a:r>
              <a:rPr lang="en-US" sz="1400" b="1" dirty="0" smtClean="0">
                <a:latin typeface="Arial" charset="0"/>
              </a:rPr>
              <a:t>Vendors</a:t>
            </a:r>
            <a:endParaRPr lang="en-US" sz="1400" b="1" dirty="0">
              <a:latin typeface="Arial" charset="0"/>
            </a:endParaRPr>
          </a:p>
        </p:txBody>
      </p:sp>
      <p:sp>
        <p:nvSpPr>
          <p:cNvPr id="21" name="Text Box 23"/>
          <p:cNvSpPr txBox="1">
            <a:spLocks noChangeArrowheads="1"/>
          </p:cNvSpPr>
          <p:nvPr/>
        </p:nvSpPr>
        <p:spPr bwMode="auto">
          <a:xfrm>
            <a:off x="6746273" y="4857401"/>
            <a:ext cx="1760162"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 Practitioners</a:t>
            </a:r>
          </a:p>
          <a:p>
            <a:pPr algn="ctr"/>
            <a:r>
              <a:rPr lang="en-US" sz="1400" b="1" dirty="0" smtClean="0">
                <a:latin typeface="Arial" charset="0"/>
              </a:rPr>
              <a:t>&amp; Other Architects</a:t>
            </a:r>
            <a:endParaRPr lang="en-US" sz="1400" b="1" dirty="0">
              <a:latin typeface="Arial" charset="0"/>
            </a:endParaRPr>
          </a:p>
        </p:txBody>
      </p:sp>
      <p:sp>
        <p:nvSpPr>
          <p:cNvPr id="22" name="Line 24"/>
          <p:cNvSpPr>
            <a:spLocks noChangeShapeType="1"/>
          </p:cNvSpPr>
          <p:nvPr/>
        </p:nvSpPr>
        <p:spPr bwMode="auto">
          <a:xfrm>
            <a:off x="1863725"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3" name="Line 25"/>
          <p:cNvSpPr>
            <a:spLocks noChangeShapeType="1"/>
          </p:cNvSpPr>
          <p:nvPr/>
        </p:nvSpPr>
        <p:spPr bwMode="auto">
          <a:xfrm>
            <a:off x="3448050"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4" name="Line 26"/>
          <p:cNvSpPr>
            <a:spLocks noChangeShapeType="1"/>
          </p:cNvSpPr>
          <p:nvPr/>
        </p:nvSpPr>
        <p:spPr bwMode="auto">
          <a:xfrm>
            <a:off x="5138737" y="4352576"/>
            <a:ext cx="503238" cy="0"/>
          </a:xfrm>
          <a:prstGeom prst="line">
            <a:avLst/>
          </a:prstGeom>
          <a:noFill/>
          <a:ln w="25400">
            <a:solidFill>
              <a:schemeClr val="tx1"/>
            </a:solidFill>
            <a:round/>
            <a:headEnd/>
            <a:tailEnd type="stealth" w="lg" len="lg"/>
          </a:ln>
          <a:effectLst/>
        </p:spPr>
        <p:txBody>
          <a:bodyPr/>
          <a:lstStyle/>
          <a:p>
            <a:endParaRPr lang="en-US"/>
          </a:p>
        </p:txBody>
      </p:sp>
      <p:sp>
        <p:nvSpPr>
          <p:cNvPr id="25" name="Line 27"/>
          <p:cNvSpPr>
            <a:spLocks noChangeShapeType="1"/>
          </p:cNvSpPr>
          <p:nvPr/>
        </p:nvSpPr>
        <p:spPr bwMode="auto">
          <a:xfrm>
            <a:off x="6578600"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6" name="Line 28"/>
          <p:cNvSpPr>
            <a:spLocks noChangeShapeType="1"/>
          </p:cNvSpPr>
          <p:nvPr/>
        </p:nvSpPr>
        <p:spPr bwMode="auto">
          <a:xfrm>
            <a:off x="5137150" y="4712938"/>
            <a:ext cx="1800225" cy="0"/>
          </a:xfrm>
          <a:prstGeom prst="line">
            <a:avLst/>
          </a:prstGeom>
          <a:noFill/>
          <a:ln w="31750">
            <a:solidFill>
              <a:srgbClr val="FF0000"/>
            </a:solidFill>
            <a:round/>
            <a:headEnd type="stealth" w="lg" len="lg"/>
            <a:tailEnd type="none" w="lg" len="lg"/>
          </a:ln>
          <a:effectLst/>
        </p:spPr>
        <p:txBody>
          <a:bodyPr/>
          <a:lstStyle/>
          <a:p>
            <a:endParaRPr lang="en-US"/>
          </a:p>
        </p:txBody>
      </p:sp>
      <p:sp>
        <p:nvSpPr>
          <p:cNvPr id="27" name="Line 30"/>
          <p:cNvSpPr>
            <a:spLocks noChangeShapeType="1"/>
          </p:cNvSpPr>
          <p:nvPr/>
        </p:nvSpPr>
        <p:spPr bwMode="auto">
          <a:xfrm>
            <a:off x="3448050" y="4712938"/>
            <a:ext cx="503237" cy="0"/>
          </a:xfrm>
          <a:prstGeom prst="line">
            <a:avLst/>
          </a:prstGeom>
          <a:noFill/>
          <a:ln w="31750">
            <a:solidFill>
              <a:srgbClr val="FF0000"/>
            </a:solidFill>
            <a:round/>
            <a:headEnd type="stealth" w="lg" len="lg"/>
            <a:tailEnd type="none" w="lg" len="lg"/>
          </a:ln>
          <a:effectLst/>
        </p:spPr>
        <p:txBody>
          <a:bodyPr/>
          <a:lstStyle/>
          <a:p>
            <a:endParaRPr lang="en-US"/>
          </a:p>
        </p:txBody>
      </p:sp>
      <p:sp>
        <p:nvSpPr>
          <p:cNvPr id="28" name="Line 31"/>
          <p:cNvSpPr>
            <a:spLocks noChangeShapeType="1"/>
          </p:cNvSpPr>
          <p:nvPr/>
        </p:nvSpPr>
        <p:spPr bwMode="auto">
          <a:xfrm flipV="1">
            <a:off x="1249362" y="2552351"/>
            <a:ext cx="0" cy="1152525"/>
          </a:xfrm>
          <a:prstGeom prst="line">
            <a:avLst/>
          </a:prstGeom>
          <a:noFill/>
          <a:ln w="25400">
            <a:solidFill>
              <a:schemeClr val="tx1"/>
            </a:solidFill>
            <a:round/>
            <a:headEnd/>
            <a:tailEnd type="stealth" w="lg" len="lg"/>
          </a:ln>
          <a:effectLst/>
        </p:spPr>
        <p:txBody>
          <a:bodyPr/>
          <a:lstStyle/>
          <a:p>
            <a:endParaRPr lang="en-US"/>
          </a:p>
        </p:txBody>
      </p:sp>
      <p:sp>
        <p:nvSpPr>
          <p:cNvPr id="29" name="Line 32"/>
          <p:cNvSpPr>
            <a:spLocks noChangeShapeType="1"/>
          </p:cNvSpPr>
          <p:nvPr/>
        </p:nvSpPr>
        <p:spPr bwMode="auto">
          <a:xfrm>
            <a:off x="3049587" y="2552351"/>
            <a:ext cx="0" cy="1152525"/>
          </a:xfrm>
          <a:prstGeom prst="line">
            <a:avLst/>
          </a:prstGeom>
          <a:noFill/>
          <a:ln w="25400">
            <a:solidFill>
              <a:schemeClr val="tx1"/>
            </a:solidFill>
            <a:round/>
            <a:headEnd/>
            <a:tailEnd type="stealth" w="lg" len="lg"/>
          </a:ln>
          <a:effectLst/>
        </p:spPr>
        <p:txBody>
          <a:bodyPr/>
          <a:lstStyle/>
          <a:p>
            <a:endParaRPr lang="en-US"/>
          </a:p>
        </p:txBody>
      </p:sp>
      <p:sp>
        <p:nvSpPr>
          <p:cNvPr id="30" name="Text Box 33"/>
          <p:cNvSpPr txBox="1">
            <a:spLocks noChangeArrowheads="1"/>
          </p:cNvSpPr>
          <p:nvPr/>
        </p:nvSpPr>
        <p:spPr bwMode="auto">
          <a:xfrm>
            <a:off x="3049587" y="2769838"/>
            <a:ext cx="1276350" cy="641350"/>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Production</a:t>
            </a:r>
          </a:p>
          <a:p>
            <a:pPr algn="ctr"/>
            <a:r>
              <a:rPr lang="en-US" sz="1800">
                <a:latin typeface="Arial" charset="0"/>
                <a:cs typeface="Arial" charset="0"/>
              </a:rPr>
              <a:t>Plan</a:t>
            </a:r>
          </a:p>
        </p:txBody>
      </p:sp>
      <p:sp>
        <p:nvSpPr>
          <p:cNvPr id="31" name="Text Box 34"/>
          <p:cNvSpPr txBox="1">
            <a:spLocks noChangeArrowheads="1"/>
          </p:cNvSpPr>
          <p:nvPr/>
        </p:nvSpPr>
        <p:spPr bwMode="auto">
          <a:xfrm>
            <a:off x="1320800" y="2769838"/>
            <a:ext cx="1492250" cy="641350"/>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Component</a:t>
            </a:r>
          </a:p>
          <a:p>
            <a:pPr algn="ctr"/>
            <a:r>
              <a:rPr lang="en-US" sz="1800">
                <a:latin typeface="Arial" charset="0"/>
                <a:cs typeface="Arial" charset="0"/>
              </a:rPr>
              <a:t>Requirement</a:t>
            </a:r>
          </a:p>
        </p:txBody>
      </p:sp>
      <p:sp>
        <p:nvSpPr>
          <p:cNvPr id="32" name="Line 35"/>
          <p:cNvSpPr>
            <a:spLocks noChangeShapeType="1"/>
          </p:cNvSpPr>
          <p:nvPr/>
        </p:nvSpPr>
        <p:spPr bwMode="auto">
          <a:xfrm flipH="1">
            <a:off x="7543799" y="2625374"/>
            <a:ext cx="1" cy="1006477"/>
          </a:xfrm>
          <a:prstGeom prst="line">
            <a:avLst/>
          </a:prstGeom>
          <a:noFill/>
          <a:ln w="31750">
            <a:solidFill>
              <a:srgbClr val="CC0000"/>
            </a:solidFill>
            <a:round/>
            <a:headEnd type="stealth" w="lg" len="lg"/>
            <a:tailEnd type="none" w="lg" len="lg"/>
          </a:ln>
          <a:effectLst/>
        </p:spPr>
        <p:txBody>
          <a:bodyPr/>
          <a:lstStyle/>
          <a:p>
            <a:endParaRPr lang="en-US"/>
          </a:p>
        </p:txBody>
      </p:sp>
      <p:sp>
        <p:nvSpPr>
          <p:cNvPr id="33" name="Line 36"/>
          <p:cNvSpPr>
            <a:spLocks noChangeShapeType="1"/>
          </p:cNvSpPr>
          <p:nvPr/>
        </p:nvSpPr>
        <p:spPr bwMode="auto">
          <a:xfrm flipV="1">
            <a:off x="4776787" y="5433663"/>
            <a:ext cx="0" cy="576263"/>
          </a:xfrm>
          <a:prstGeom prst="line">
            <a:avLst/>
          </a:prstGeom>
          <a:noFill/>
          <a:ln w="31750">
            <a:solidFill>
              <a:srgbClr val="FF0000"/>
            </a:solidFill>
            <a:round/>
            <a:headEnd type="stealth" w="lg" len="lg"/>
            <a:tailEnd type="none" w="lg" len="lg"/>
          </a:ln>
          <a:effectLst/>
        </p:spPr>
        <p:txBody>
          <a:bodyPr/>
          <a:lstStyle/>
          <a:p>
            <a:endParaRPr lang="en-US"/>
          </a:p>
        </p:txBody>
      </p:sp>
      <p:sp>
        <p:nvSpPr>
          <p:cNvPr id="34" name="AutoShape 37"/>
          <p:cNvSpPr>
            <a:spLocks noChangeArrowheads="1"/>
          </p:cNvSpPr>
          <p:nvPr/>
        </p:nvSpPr>
        <p:spPr bwMode="auto">
          <a:xfrm>
            <a:off x="2616200" y="6152801"/>
            <a:ext cx="4679950" cy="576262"/>
          </a:xfrm>
          <a:prstGeom prst="roundRect">
            <a:avLst>
              <a:gd name="adj" fmla="val 16667"/>
            </a:avLst>
          </a:prstGeom>
          <a:solidFill>
            <a:srgbClr val="C0C0C0"/>
          </a:solidFill>
          <a:ln w="9525">
            <a:solidFill>
              <a:schemeClr val="tx1"/>
            </a:solidFill>
            <a:round/>
            <a:headEnd/>
            <a:tailEnd/>
          </a:ln>
          <a:effectLst/>
        </p:spPr>
        <p:txBody>
          <a:bodyPr wrap="none" anchor="ctr"/>
          <a:lstStyle/>
          <a:p>
            <a:pPr algn="ctr"/>
            <a:r>
              <a:rPr lang="en-US" sz="1800" dirty="0" smtClean="0">
                <a:latin typeface="Arial" charset="0"/>
              </a:rPr>
              <a:t>Version </a:t>
            </a:r>
            <a:r>
              <a:rPr lang="en-US" sz="1800" dirty="0">
                <a:latin typeface="Arial" charset="0"/>
              </a:rPr>
              <a:t>Management</a:t>
            </a:r>
          </a:p>
        </p:txBody>
      </p:sp>
      <p:sp>
        <p:nvSpPr>
          <p:cNvPr id="35" name="Line 39"/>
          <p:cNvSpPr>
            <a:spLocks noChangeShapeType="1"/>
          </p:cNvSpPr>
          <p:nvPr/>
        </p:nvSpPr>
        <p:spPr bwMode="auto">
          <a:xfrm flipV="1">
            <a:off x="3121025" y="5433663"/>
            <a:ext cx="0" cy="574675"/>
          </a:xfrm>
          <a:prstGeom prst="line">
            <a:avLst/>
          </a:prstGeom>
          <a:noFill/>
          <a:ln w="25400">
            <a:solidFill>
              <a:schemeClr val="tx1"/>
            </a:solidFill>
            <a:round/>
            <a:headEnd/>
            <a:tailEnd type="stealth" w="lg" len="lg"/>
          </a:ln>
          <a:effectLst/>
        </p:spPr>
        <p:txBody>
          <a:bodyPr/>
          <a:lstStyle/>
          <a:p>
            <a:endParaRPr lang="en-US"/>
          </a:p>
        </p:txBody>
      </p:sp>
      <p:sp>
        <p:nvSpPr>
          <p:cNvPr id="36" name="Line 40"/>
          <p:cNvSpPr>
            <a:spLocks noChangeShapeType="1"/>
          </p:cNvSpPr>
          <p:nvPr/>
        </p:nvSpPr>
        <p:spPr bwMode="auto">
          <a:xfrm flipV="1">
            <a:off x="6216650" y="5433663"/>
            <a:ext cx="0" cy="574675"/>
          </a:xfrm>
          <a:prstGeom prst="line">
            <a:avLst/>
          </a:prstGeom>
          <a:noFill/>
          <a:ln w="25400">
            <a:solidFill>
              <a:schemeClr val="tx1"/>
            </a:solidFill>
            <a:round/>
            <a:headEnd/>
            <a:tailEnd type="stealth" w="lg" len="lg"/>
          </a:ln>
          <a:effectLst/>
        </p:spPr>
        <p:txBody>
          <a:bodyPr/>
          <a:lstStyle/>
          <a:p>
            <a:endParaRPr lang="en-US"/>
          </a:p>
        </p:txBody>
      </p:sp>
      <p:sp>
        <p:nvSpPr>
          <p:cNvPr id="37" name="Line 35"/>
          <p:cNvSpPr>
            <a:spLocks noChangeShapeType="1"/>
          </p:cNvSpPr>
          <p:nvPr/>
        </p:nvSpPr>
        <p:spPr bwMode="auto">
          <a:xfrm>
            <a:off x="6216650" y="2600324"/>
            <a:ext cx="1" cy="1112839"/>
          </a:xfrm>
          <a:prstGeom prst="line">
            <a:avLst/>
          </a:prstGeom>
          <a:noFill/>
          <a:ln w="31750">
            <a:solidFill>
              <a:srgbClr val="CC0000"/>
            </a:solidFill>
            <a:round/>
            <a:headEnd type="stealth" w="lg" len="lg"/>
            <a:tailEnd type="none" w="lg" len="lg"/>
          </a:ln>
          <a:effectLst/>
        </p:spPr>
        <p:txBody>
          <a:bodyPr/>
          <a:lstStyle/>
          <a:p>
            <a:endParaRPr lang="en-US"/>
          </a:p>
        </p:txBody>
      </p:sp>
    </p:spTree>
    <p:extLst>
      <p:ext uri="{BB962C8B-B14F-4D97-AF65-F5344CB8AC3E}">
        <p14:creationId xmlns:p14="http://schemas.microsoft.com/office/powerpoint/2010/main" val="1718776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Why should we consider adopting this type of approach ?</a:t>
            </a:r>
          </a:p>
          <a:p>
            <a:pPr lvl="1">
              <a:lnSpc>
                <a:spcPct val="110000"/>
              </a:lnSpc>
              <a:spcBef>
                <a:spcPts val="1200"/>
              </a:spcBef>
            </a:pPr>
            <a:r>
              <a:rPr lang="en-US" dirty="0" smtClean="0"/>
              <a:t>Aligns us with the value chain and the stakeholders we serve</a:t>
            </a:r>
          </a:p>
          <a:p>
            <a:pPr lvl="1">
              <a:lnSpc>
                <a:spcPct val="110000"/>
              </a:lnSpc>
              <a:spcBef>
                <a:spcPts val="1200"/>
              </a:spcBef>
            </a:pPr>
            <a:r>
              <a:rPr lang="en-US" dirty="0" smtClean="0"/>
              <a:t>Ensures we are not developing artifacts that will not be adopted</a:t>
            </a:r>
          </a:p>
          <a:p>
            <a:pPr lvl="1">
              <a:lnSpc>
                <a:spcPct val="110000"/>
              </a:lnSpc>
              <a:spcBef>
                <a:spcPts val="1200"/>
              </a:spcBef>
            </a:pPr>
            <a:r>
              <a:rPr lang="en-US" dirty="0" smtClean="0"/>
              <a:t>Establishes a much needed 360 feedback loop with stakeholders</a:t>
            </a:r>
          </a:p>
          <a:p>
            <a:pPr lvl="1">
              <a:lnSpc>
                <a:spcPct val="110000"/>
              </a:lnSpc>
              <a:spcBef>
                <a:spcPts val="1200"/>
              </a:spcBef>
            </a:pPr>
            <a:r>
              <a:rPr lang="en-US" dirty="0" smtClean="0"/>
              <a:t>Builds a collaborative across the BIZBOK teams and stakeholders to create an integrated Demand Planning capability</a:t>
            </a:r>
          </a:p>
          <a:p>
            <a:pPr lvl="1">
              <a:lnSpc>
                <a:spcPct val="110000"/>
              </a:lnSpc>
              <a:spcBef>
                <a:spcPts val="1200"/>
              </a:spcBef>
            </a:pPr>
            <a:r>
              <a:rPr lang="en-US" dirty="0" smtClean="0"/>
              <a:t>Fosters cooperation and improved communication with the vendor community</a:t>
            </a:r>
          </a:p>
          <a:p>
            <a:pPr lvl="1">
              <a:lnSpc>
                <a:spcPct val="110000"/>
              </a:lnSpc>
              <a:spcBef>
                <a:spcPts val="1200"/>
              </a:spcBef>
            </a:pPr>
            <a:r>
              <a:rPr lang="en-US" dirty="0" smtClean="0"/>
              <a:t>Promotes the use of measures and business architecture to ensure all parties are aligned to address the needs of the customer</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5</a:t>
            </a:fld>
            <a:endParaRPr lang="en-US"/>
          </a:p>
        </p:txBody>
      </p:sp>
    </p:spTree>
    <p:extLst>
      <p:ext uri="{BB962C8B-B14F-4D97-AF65-F5344CB8AC3E}">
        <p14:creationId xmlns:p14="http://schemas.microsoft.com/office/powerpoint/2010/main" val="5213272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Moving to a “Pull” Approach for Modeling</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To further the move towards a customer-centric modeling approach, a portfolio of demand will be developed using a combination of scenarios (some of which are identified below as commonly occurring in businesses) and vendor outcomes (which ensure their revenue models are not disrupted while providing the </a:t>
            </a:r>
            <a:r>
              <a:rPr lang="en-US" dirty="0" err="1" smtClean="0"/>
              <a:t>MetaModel</a:t>
            </a:r>
            <a:r>
              <a:rPr lang="en-US" dirty="0" smtClean="0"/>
              <a:t> team &amp; Tool team with direct access to the vendor community). </a:t>
            </a:r>
          </a:p>
          <a:p>
            <a:pPr>
              <a:lnSpc>
                <a:spcPct val="110000"/>
              </a:lnSpc>
              <a:spcBef>
                <a:spcPts val="1200"/>
              </a:spcBef>
            </a:pPr>
            <a:r>
              <a:rPr lang="en-US" dirty="0" smtClean="0"/>
              <a:t>The starting point with the vendor outcomes is to agree on a common core for the Metamodel elements that aligns with existing Metamodels in use by vendors (and which are being used by their customers – Business Architects).</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6</a:t>
            </a:fld>
            <a:endParaRPr lang="en-US"/>
          </a:p>
        </p:txBody>
      </p:sp>
    </p:spTree>
    <p:extLst>
      <p:ext uri="{BB962C8B-B14F-4D97-AF65-F5344CB8AC3E}">
        <p14:creationId xmlns:p14="http://schemas.microsoft.com/office/powerpoint/2010/main" val="18173709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Establishing Release Management</a:t>
            </a:r>
            <a:endParaRPr lang="en-US" dirty="0"/>
          </a:p>
        </p:txBody>
      </p:sp>
      <p:sp>
        <p:nvSpPr>
          <p:cNvPr id="3" name="Content Placeholder 2"/>
          <p:cNvSpPr>
            <a:spLocks noGrp="1"/>
          </p:cNvSpPr>
          <p:nvPr>
            <p:ph idx="1"/>
          </p:nvPr>
        </p:nvSpPr>
        <p:spPr>
          <a:xfrm>
            <a:off x="457200" y="1821788"/>
            <a:ext cx="8229600" cy="4876800"/>
          </a:xfrm>
        </p:spPr>
        <p:txBody>
          <a:bodyPr>
            <a:normAutofit lnSpcReduction="10000"/>
          </a:bodyPr>
          <a:lstStyle/>
          <a:p>
            <a:pPr>
              <a:lnSpc>
                <a:spcPct val="110000"/>
              </a:lnSpc>
              <a:spcBef>
                <a:spcPts val="1200"/>
              </a:spcBef>
            </a:pPr>
            <a:r>
              <a:rPr lang="en-US" dirty="0" smtClean="0"/>
              <a:t>Once we agree on the core elements for the Metamodel, we can begin working with the BIZBOK Tool team and the Vendors to agree on a publishing mechanism for enabling key features:</a:t>
            </a:r>
          </a:p>
          <a:p>
            <a:pPr lvl="1">
              <a:lnSpc>
                <a:spcPct val="110000"/>
              </a:lnSpc>
              <a:spcBef>
                <a:spcPts val="1200"/>
              </a:spcBef>
            </a:pPr>
            <a:r>
              <a:rPr lang="en-US" dirty="0"/>
              <a:t>F</a:t>
            </a:r>
            <a:r>
              <a:rPr lang="en-US" dirty="0" smtClean="0"/>
              <a:t>unctionality needed by the practitioners of business architecture to perform their jobs, as well as the </a:t>
            </a:r>
          </a:p>
          <a:p>
            <a:pPr lvl="1">
              <a:lnSpc>
                <a:spcPct val="110000"/>
              </a:lnSpc>
              <a:spcBef>
                <a:spcPts val="1200"/>
              </a:spcBef>
            </a:pPr>
            <a:r>
              <a:rPr lang="en-US" dirty="0" smtClean="0"/>
              <a:t>Metamodel artifacts (see next slides) that support the current and future needs of business architects (which we realize is an evolving discipline with increasing opportunities for integration with other disciplines). </a:t>
            </a:r>
          </a:p>
          <a:p>
            <a:pPr>
              <a:lnSpc>
                <a:spcPct val="110000"/>
              </a:lnSpc>
              <a:spcBef>
                <a:spcPts val="1200"/>
              </a:spcBef>
            </a:pPr>
            <a:r>
              <a:rPr lang="en-US" sz="1600" b="1" dirty="0" smtClean="0">
                <a:solidFill>
                  <a:srgbClr val="0070C0"/>
                </a:solidFill>
              </a:rPr>
              <a:t>Note:  Version Management &amp; Change Control will require careful coordination and will need to be driven by the Vendor Community and supported by the Metamodel &amp; Tool teams.</a:t>
            </a:r>
            <a:endParaRPr lang="en-US" sz="1600" b="1" dirty="0">
              <a:solidFill>
                <a:srgbClr val="0070C0"/>
              </a:solidFill>
            </a:endParaRP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7</a:t>
            </a:fld>
            <a:endParaRPr lang="en-US"/>
          </a:p>
        </p:txBody>
      </p:sp>
    </p:spTree>
    <p:extLst>
      <p:ext uri="{BB962C8B-B14F-4D97-AF65-F5344CB8AC3E}">
        <p14:creationId xmlns:p14="http://schemas.microsoft.com/office/powerpoint/2010/main" val="499561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t>
            </a:r>
            <a:r>
              <a:rPr lang="en-US" dirty="0" smtClean="0"/>
              <a:t>Artifacts - Glossary</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The Guild BAMM Team has struggled with progress due to distractions and challenges in overcoming terminology. Terms will come and go as they are more fluid in nature and are subject to interpretation based on perspectives. </a:t>
            </a:r>
          </a:p>
          <a:p>
            <a:pPr>
              <a:lnSpc>
                <a:spcPct val="110000"/>
              </a:lnSpc>
              <a:spcBef>
                <a:spcPts val="1200"/>
              </a:spcBef>
            </a:pPr>
            <a:r>
              <a:rPr lang="en-US" dirty="0" smtClean="0"/>
              <a:t>Moving forward, we need to align on the HOW not the WHAT regarding the use of terms. The goal is to establish a simple but extendible glossary &amp; semantic mapping capability. The BAMM team needs it as do the vendors and architecture practitioners (all disciplines).</a:t>
            </a:r>
          </a:p>
          <a:p>
            <a:pPr>
              <a:lnSpc>
                <a:spcPct val="110000"/>
              </a:lnSpc>
              <a:spcBef>
                <a:spcPts val="1200"/>
              </a:spcBef>
            </a:pP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8</a:t>
            </a:fld>
            <a:endParaRPr lang="en-US"/>
          </a:p>
        </p:txBody>
      </p:sp>
    </p:spTree>
    <p:extLst>
      <p:ext uri="{BB962C8B-B14F-4D97-AF65-F5344CB8AC3E}">
        <p14:creationId xmlns:p14="http://schemas.microsoft.com/office/powerpoint/2010/main" val="18701666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t>
            </a:r>
            <a:r>
              <a:rPr lang="en-US" dirty="0" smtClean="0"/>
              <a:t>Artifacts - </a:t>
            </a:r>
            <a:r>
              <a:rPr lang="en-US" dirty="0" err="1" smtClean="0"/>
              <a:t>MetaModel</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Leverage the MOF standard for defining Metamodels, which is also aligned with OMG. </a:t>
            </a:r>
          </a:p>
          <a:p>
            <a:pPr>
              <a:lnSpc>
                <a:spcPct val="110000"/>
              </a:lnSpc>
              <a:spcBef>
                <a:spcPts val="1200"/>
              </a:spcBef>
            </a:pPr>
            <a:r>
              <a:rPr lang="en-US" dirty="0" smtClean="0"/>
              <a:t>Address core domains (minimally) for strategy, initiative, stakeholder, product, and capability.</a:t>
            </a:r>
          </a:p>
          <a:p>
            <a:pPr>
              <a:lnSpc>
                <a:spcPct val="110000"/>
              </a:lnSpc>
              <a:spcBef>
                <a:spcPts val="1200"/>
              </a:spcBef>
            </a:pPr>
            <a:r>
              <a:rPr lang="en-US" dirty="0" smtClean="0"/>
              <a:t>Incorporate touch points to other architecture and professional disciplines (some of which are defined in OMG).</a:t>
            </a:r>
          </a:p>
          <a:p>
            <a:pPr>
              <a:lnSpc>
                <a:spcPct val="110000"/>
              </a:lnSpc>
              <a:spcBef>
                <a:spcPts val="1200"/>
              </a:spcBef>
            </a:pPr>
            <a:r>
              <a:rPr lang="en-US" dirty="0" smtClean="0"/>
              <a:t>Design for flexibility and adaptability to address:</a:t>
            </a:r>
          </a:p>
          <a:p>
            <a:pPr lvl="1">
              <a:lnSpc>
                <a:spcPct val="110000"/>
              </a:lnSpc>
              <a:spcBef>
                <a:spcPts val="1200"/>
              </a:spcBef>
            </a:pPr>
            <a:r>
              <a:rPr lang="en-US" dirty="0" smtClean="0"/>
              <a:t>Perspectives</a:t>
            </a:r>
          </a:p>
          <a:p>
            <a:pPr lvl="1">
              <a:lnSpc>
                <a:spcPct val="110000"/>
              </a:lnSpc>
              <a:spcBef>
                <a:spcPts val="1200"/>
              </a:spcBef>
            </a:pPr>
            <a:r>
              <a:rPr lang="en-US" dirty="0" smtClean="0"/>
              <a:t>Change &amp; Version Management </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9</a:t>
            </a:fld>
            <a:endParaRPr lang="en-US"/>
          </a:p>
        </p:txBody>
      </p:sp>
    </p:spTree>
    <p:extLst>
      <p:ext uri="{BB962C8B-B14F-4D97-AF65-F5344CB8AC3E}">
        <p14:creationId xmlns:p14="http://schemas.microsoft.com/office/powerpoint/2010/main" val="15217380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t>
            </a:r>
            <a:r>
              <a:rPr lang="en-US" dirty="0" smtClean="0"/>
              <a:t>Artifacts - Relationships</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Relationships need to specify cardinality</a:t>
            </a:r>
          </a:p>
          <a:p>
            <a:pPr>
              <a:lnSpc>
                <a:spcPct val="110000"/>
              </a:lnSpc>
              <a:spcBef>
                <a:spcPts val="1200"/>
              </a:spcBef>
            </a:pPr>
            <a:r>
              <a:rPr lang="en-US" dirty="0" smtClean="0"/>
              <a:t>Relationships need to be individually defined, tied to a scenario (see next slide) and x-ref to the Metamodel.</a:t>
            </a:r>
          </a:p>
          <a:p>
            <a:pPr>
              <a:lnSpc>
                <a:spcPct val="110000"/>
              </a:lnSpc>
              <a:spcBef>
                <a:spcPts val="1200"/>
              </a:spcBef>
            </a:pPr>
            <a:r>
              <a:rPr lang="en-US" dirty="0" smtClean="0"/>
              <a:t>The Metamodel will only reference a single line between concepts, however each line will have a 1:M relationship to specific instances of relationships. </a:t>
            </a:r>
          </a:p>
          <a:p>
            <a:pPr>
              <a:lnSpc>
                <a:spcPct val="110000"/>
              </a:lnSpc>
              <a:spcBef>
                <a:spcPts val="1200"/>
              </a:spcBef>
            </a:pPr>
            <a:r>
              <a:rPr lang="en-US" dirty="0" smtClean="0"/>
              <a:t>Each relationship instance may address one or more perspectives and scenarios. </a:t>
            </a:r>
            <a:r>
              <a:rPr lang="en-US" dirty="0" smtClean="0">
                <a:solidFill>
                  <a:srgbClr val="0070C0"/>
                </a:solidFill>
              </a:rPr>
              <a:t>*</a:t>
            </a:r>
          </a:p>
          <a:p>
            <a:pPr marL="274320" lvl="1" indent="0">
              <a:lnSpc>
                <a:spcPct val="110000"/>
              </a:lnSpc>
              <a:spcBef>
                <a:spcPts val="1200"/>
              </a:spcBef>
              <a:buNone/>
            </a:pPr>
            <a:r>
              <a:rPr lang="en-US" sz="1800" b="1" dirty="0" smtClean="0">
                <a:solidFill>
                  <a:srgbClr val="0070C0"/>
                </a:solidFill>
              </a:rPr>
              <a:t>* </a:t>
            </a:r>
            <a:r>
              <a:rPr lang="en-US" sz="1800" b="1" dirty="0">
                <a:solidFill>
                  <a:srgbClr val="0070C0"/>
                </a:solidFill>
              </a:rPr>
              <a:t>This is where we will need to align with the vendor community to ensure we can agree on a consistent approach to support release management</a:t>
            </a:r>
            <a:endParaRPr lang="en-US" sz="1800" b="1" dirty="0">
              <a:solidFill>
                <a:srgbClr val="0070C0"/>
              </a:solidFill>
            </a:endParaRP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10</a:t>
            </a:fld>
            <a:endParaRPr lang="en-US"/>
          </a:p>
        </p:txBody>
      </p:sp>
    </p:spTree>
    <p:extLst>
      <p:ext uri="{BB962C8B-B14F-4D97-AF65-F5344CB8AC3E}">
        <p14:creationId xmlns:p14="http://schemas.microsoft.com/office/powerpoint/2010/main" val="10390174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t>
            </a:r>
            <a:r>
              <a:rPr lang="en-US" dirty="0" smtClean="0"/>
              <a:t>Artifacts - Scenarios</a:t>
            </a:r>
            <a:endParaRPr lang="en-US" dirty="0"/>
          </a:p>
        </p:txBody>
      </p:sp>
      <p:sp>
        <p:nvSpPr>
          <p:cNvPr id="3" name="Content Placeholder 2"/>
          <p:cNvSpPr>
            <a:spLocks noGrp="1"/>
          </p:cNvSpPr>
          <p:nvPr>
            <p:ph idx="1"/>
          </p:nvPr>
        </p:nvSpPr>
        <p:spPr>
          <a:xfrm>
            <a:off x="457200" y="1821788"/>
            <a:ext cx="8229600" cy="1042182"/>
          </a:xfrm>
        </p:spPr>
        <p:txBody>
          <a:bodyPr>
            <a:normAutofit/>
          </a:bodyPr>
          <a:lstStyle/>
          <a:p>
            <a:pPr>
              <a:lnSpc>
                <a:spcPct val="110000"/>
              </a:lnSpc>
              <a:spcBef>
                <a:spcPts val="1200"/>
              </a:spcBef>
            </a:pPr>
            <a:r>
              <a:rPr lang="en-US" dirty="0" smtClean="0"/>
              <a:t>Define a subset of commonly referenced scenarios found in businesses. Below is a starting list: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11</a:t>
            </a:fld>
            <a:endParaRPr lang="en-US"/>
          </a:p>
        </p:txBody>
      </p:sp>
      <p:sp>
        <p:nvSpPr>
          <p:cNvPr id="6" name="Rectangle 5"/>
          <p:cNvSpPr/>
          <p:nvPr/>
        </p:nvSpPr>
        <p:spPr>
          <a:xfrm>
            <a:off x="690113" y="2863970"/>
            <a:ext cx="7815532" cy="2554545"/>
          </a:xfrm>
          <a:prstGeom prst="rect">
            <a:avLst/>
          </a:prstGeom>
        </p:spPr>
        <p:txBody>
          <a:bodyPr wrap="square" numCol="2">
            <a:spAutoFit/>
          </a:bodyPr>
          <a:lstStyle/>
          <a:p>
            <a:pPr marL="285750" lvl="0" indent="-285750">
              <a:buFont typeface="Arial" charset="0"/>
              <a:buChar char="•"/>
            </a:pPr>
            <a:r>
              <a:rPr lang="en-US" sz="2000" dirty="0"/>
              <a:t>Investment Analysis</a:t>
            </a:r>
          </a:p>
          <a:p>
            <a:pPr marL="285750" lvl="0" indent="-285750">
              <a:buFont typeface="Arial" charset="0"/>
              <a:buChar char="•"/>
            </a:pPr>
            <a:r>
              <a:rPr lang="en-US" sz="2000" dirty="0"/>
              <a:t>Shift to Customer Centric Business Model</a:t>
            </a:r>
          </a:p>
          <a:p>
            <a:pPr marL="285750" lvl="0" indent="-285750">
              <a:buFont typeface="Arial" charset="0"/>
              <a:buChar char="•"/>
            </a:pPr>
            <a:r>
              <a:rPr lang="en-US" sz="2000" dirty="0"/>
              <a:t>Merger &amp; Acquisition Analysis</a:t>
            </a:r>
          </a:p>
          <a:p>
            <a:pPr marL="285750" lvl="0" indent="-285750">
              <a:buFont typeface="Arial" charset="0"/>
              <a:buChar char="•"/>
            </a:pPr>
            <a:r>
              <a:rPr lang="en-US" sz="2000" dirty="0"/>
              <a:t>New Product/Service Rollout</a:t>
            </a:r>
          </a:p>
          <a:p>
            <a:pPr marL="285750" lvl="0" indent="-285750">
              <a:buFont typeface="Arial" charset="0"/>
              <a:buChar char="•"/>
            </a:pPr>
            <a:r>
              <a:rPr lang="en-US" sz="2000" dirty="0"/>
              <a:t>Globalization </a:t>
            </a:r>
          </a:p>
          <a:p>
            <a:pPr marL="285750" lvl="0" indent="-285750">
              <a:buFont typeface="Arial" charset="0"/>
              <a:buChar char="•"/>
            </a:pPr>
            <a:r>
              <a:rPr lang="en-US" sz="2000" dirty="0"/>
              <a:t>Business Capability Outsourcing</a:t>
            </a:r>
          </a:p>
          <a:p>
            <a:pPr marL="285750" lvl="0" indent="-285750">
              <a:buFont typeface="Arial" charset="0"/>
              <a:buChar char="•"/>
            </a:pPr>
            <a:r>
              <a:rPr lang="en-US" sz="2000" dirty="0"/>
              <a:t>Supply Chain Streamlining </a:t>
            </a:r>
          </a:p>
          <a:p>
            <a:pPr marL="285750" lvl="0" indent="-285750">
              <a:buFont typeface="Arial" charset="0"/>
              <a:buChar char="•"/>
            </a:pPr>
            <a:r>
              <a:rPr lang="en-US" sz="2000" dirty="0"/>
              <a:t>Divestiture</a:t>
            </a:r>
          </a:p>
          <a:p>
            <a:pPr marL="285750" lvl="0" indent="-285750">
              <a:buFont typeface="Arial" charset="0"/>
              <a:buChar char="•"/>
            </a:pPr>
            <a:r>
              <a:rPr lang="en-US" sz="2000" dirty="0"/>
              <a:t>Regulatory Compliance </a:t>
            </a:r>
          </a:p>
          <a:p>
            <a:pPr marL="285750" lvl="0" indent="-285750">
              <a:buFont typeface="Arial" charset="0"/>
              <a:buChar char="•"/>
            </a:pPr>
            <a:r>
              <a:rPr lang="en-US" sz="2000" dirty="0"/>
              <a:t>Change Management</a:t>
            </a:r>
          </a:p>
          <a:p>
            <a:pPr marL="285750" lvl="0" indent="-285750">
              <a:buFont typeface="Arial" charset="0"/>
              <a:buChar char="•"/>
            </a:pPr>
            <a:r>
              <a:rPr lang="en-US" sz="2000" dirty="0"/>
              <a:t>Operational Cost Reduction </a:t>
            </a:r>
          </a:p>
          <a:p>
            <a:pPr marL="285750" lvl="0" indent="-285750">
              <a:buFont typeface="Arial" charset="0"/>
              <a:buChar char="•"/>
            </a:pPr>
            <a:r>
              <a:rPr lang="en-US" sz="2000" dirty="0"/>
              <a:t>Joint Venture </a:t>
            </a:r>
            <a:r>
              <a:rPr lang="en-US" dirty="0"/>
              <a:t>Deployment</a:t>
            </a:r>
            <a:endParaRPr lang="en-US" dirty="0"/>
          </a:p>
        </p:txBody>
      </p:sp>
    </p:spTree>
    <p:extLst>
      <p:ext uri="{BB962C8B-B14F-4D97-AF65-F5344CB8AC3E}">
        <p14:creationId xmlns:p14="http://schemas.microsoft.com/office/powerpoint/2010/main" val="14563263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Modeling Principles</a:t>
            </a:r>
            <a:endParaRPr lang="en-US" dirty="0"/>
          </a:p>
        </p:txBody>
      </p:sp>
      <p:sp>
        <p:nvSpPr>
          <p:cNvPr id="6" name="Subtitle 5"/>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12</a:t>
            </a:fld>
            <a:endParaRPr lang="en-US"/>
          </a:p>
        </p:txBody>
      </p:sp>
    </p:spTree>
    <p:extLst>
      <p:ext uri="{BB962C8B-B14F-4D97-AF65-F5344CB8AC3E}">
        <p14:creationId xmlns:p14="http://schemas.microsoft.com/office/powerpoint/2010/main" val="1045308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Mechanism </a:t>
            </a:r>
            <a:r>
              <a:rPr lang="en-US" b="1" dirty="0"/>
              <a:t>for integration with other models</a:t>
            </a:r>
          </a:p>
          <a:p>
            <a:r>
              <a:rPr lang="en-US" dirty="0"/>
              <a:t>Submissions shall provide a mechanism for integrating a business architecture model instantiated from the submitted meta-model with external models. Submissions must meet at least the following two conditions:</a:t>
            </a:r>
          </a:p>
          <a:p>
            <a:pPr marL="731520" lvl="1" indent="-457200">
              <a:buFont typeface="+mj-lt"/>
              <a:buAutoNum type="arabicPeriod"/>
            </a:pPr>
            <a:r>
              <a:rPr lang="en-US" dirty="0" smtClean="0"/>
              <a:t>Integration </a:t>
            </a:r>
            <a:r>
              <a:rPr lang="en-US" dirty="0"/>
              <a:t>with other models instantiated from an OMG MOF-based </a:t>
            </a:r>
            <a:r>
              <a:rPr lang="en-US" dirty="0" smtClean="0"/>
              <a:t>meta-model</a:t>
            </a:r>
          </a:p>
          <a:p>
            <a:pPr marL="731520" lvl="1" indent="-457200">
              <a:buFont typeface="+mj-lt"/>
              <a:buAutoNum type="arabicPeriod"/>
            </a:pPr>
            <a:r>
              <a:rPr lang="en-US" dirty="0" smtClean="0"/>
              <a:t>Integration </a:t>
            </a:r>
            <a:r>
              <a:rPr lang="en-US" dirty="0"/>
              <a:t>with other models whose elements are uniquely identified by an Uniform Resource Identifier (IETF RCC 3986)</a:t>
            </a:r>
          </a:p>
          <a:p>
            <a:r>
              <a:rPr lang="en-US" sz="1900" i="1" dirty="0"/>
              <a:t>An example of such a mechanism would be the incorporation in a meta-model submission of “proxy” elements, whose sole purpose is to represent an element in an external model, and which would contain an identifier, which on presentation to a software program capable of working with the external model, would allow that software program to find and access 1 or 0 elements in that </a:t>
            </a:r>
            <a:r>
              <a:rPr lang="en-US" sz="1900" i="1" dirty="0" smtClean="0"/>
              <a:t>model</a:t>
            </a:r>
            <a:r>
              <a:rPr lang="en-US" sz="1900" i="1" dirty="0"/>
              <a: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13</a:t>
            </a:fld>
            <a:endParaRPr lang="en-US"/>
          </a:p>
        </p:txBody>
      </p:sp>
    </p:spTree>
    <p:extLst>
      <p:ext uri="{BB962C8B-B14F-4D97-AF65-F5344CB8AC3E}">
        <p14:creationId xmlns:p14="http://schemas.microsoft.com/office/powerpoint/2010/main" val="879087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Element </a:t>
            </a:r>
            <a:r>
              <a:rPr lang="en-US" b="1" dirty="0"/>
              <a:t>properties</a:t>
            </a:r>
          </a:p>
          <a:p>
            <a:r>
              <a:rPr lang="en-US" dirty="0"/>
              <a:t>All model elements instantiable from the proposed meta-model must have a label and a description and an ability to be tagged with a simple property-value list.</a:t>
            </a:r>
          </a:p>
          <a:p>
            <a:pPr marL="0" indent="0">
              <a:buNone/>
            </a:pPr>
            <a:endParaRPr lang="en-US" dirty="0" smtClean="0"/>
          </a:p>
          <a:p>
            <a:pPr marL="0" indent="0">
              <a:buNone/>
            </a:pPr>
            <a:r>
              <a:rPr lang="en-US" b="1" dirty="0" smtClean="0"/>
              <a:t>Model </a:t>
            </a:r>
            <a:r>
              <a:rPr lang="en-US" b="1" dirty="0"/>
              <a:t>Reuse</a:t>
            </a:r>
          </a:p>
          <a:p>
            <a:r>
              <a:rPr lang="en-US" dirty="0"/>
              <a:t>In order to facilitate model reuse, meta-model submissions must provide for both abstract and concrete versions of model elements. Abstract model elements should be reusable across businesses of the same type, while concrete model elements should represent parts of a specific business. Concrete model elements shall be associated with at most one abstract model element</a:t>
            </a:r>
            <a:r>
              <a:rPr lang="en-US" dirty="0" smtClean="0"/>
              <a:t>.</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14</a:t>
            </a:fld>
            <a:endParaRPr lang="en-US"/>
          </a:p>
        </p:txBody>
      </p:sp>
    </p:spTree>
    <p:extLst>
      <p:ext uri="{BB962C8B-B14F-4D97-AF65-F5344CB8AC3E}">
        <p14:creationId xmlns:p14="http://schemas.microsoft.com/office/powerpoint/2010/main" val="1441104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Model </a:t>
            </a:r>
            <a:r>
              <a:rPr lang="en-US" b="1" dirty="0"/>
              <a:t>representation target</a:t>
            </a:r>
          </a:p>
          <a:p>
            <a:r>
              <a:rPr lang="en-US" dirty="0"/>
              <a:t>The models instantiated from the proposed meta-model shall represent a business or a set of related businesses (e.g. a virtual enterprise) or a set of similar businesses (e.g. competitors in a marketplace) or a set of similar, related businesses. The term “business” is defined as in </a:t>
            </a:r>
            <a:r>
              <a:rPr lang="en-US" dirty="0">
                <a:hlinkClick r:id="rId2"/>
              </a:rPr>
              <a:t>https://</a:t>
            </a:r>
            <a:r>
              <a:rPr lang="en-US" dirty="0" err="1">
                <a:hlinkClick r:id="rId2"/>
              </a:rPr>
              <a:t>en.wikipedia.org</a:t>
            </a:r>
            <a:r>
              <a:rPr lang="en-US" dirty="0">
                <a:hlinkClick r:id="rId2"/>
              </a:rPr>
              <a:t>/wiki/Business</a:t>
            </a:r>
            <a:r>
              <a:rPr lang="en-US" dirty="0"/>
              <a:t>.</a:t>
            </a:r>
          </a:p>
          <a:p>
            <a:endParaRPr lang="en-US" dirty="0" smtClean="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15</a:t>
            </a:fld>
            <a:endParaRPr lang="en-US"/>
          </a:p>
        </p:txBody>
      </p:sp>
    </p:spTree>
    <p:extLst>
      <p:ext uri="{BB962C8B-B14F-4D97-AF65-F5344CB8AC3E}">
        <p14:creationId xmlns:p14="http://schemas.microsoft.com/office/powerpoint/2010/main" val="18648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Content requirements</a:t>
            </a:r>
            <a:endParaRPr lang="en-US" dirty="0"/>
          </a:p>
        </p:txBody>
      </p:sp>
      <p:sp>
        <p:nvSpPr>
          <p:cNvPr id="6" name="Subtitle 5"/>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16</a:t>
            </a:fld>
            <a:endParaRPr lang="en-US"/>
          </a:p>
        </p:txBody>
      </p:sp>
    </p:spTree>
    <p:extLst>
      <p:ext uri="{BB962C8B-B14F-4D97-AF65-F5344CB8AC3E}">
        <p14:creationId xmlns:p14="http://schemas.microsoft.com/office/powerpoint/2010/main" val="1743444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Content Requirements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Capability </a:t>
            </a:r>
            <a:r>
              <a:rPr lang="en-US" b="1" dirty="0"/>
              <a:t>modeling</a:t>
            </a:r>
          </a:p>
          <a:p>
            <a:r>
              <a:rPr lang="en-US" dirty="0"/>
              <a:t>The submitted meta-model shall be capable of instantiating a capability model such that capabilities may be arranged in a hierarchy (a singly rooted tree whose nodes have at most one parent</a:t>
            </a:r>
            <a:r>
              <a:rPr lang="en-US" dirty="0" smtClean="0"/>
              <a:t>).</a:t>
            </a:r>
          </a:p>
          <a:p>
            <a:endParaRPr lang="en-US" dirty="0"/>
          </a:p>
          <a:p>
            <a:pPr marL="0" indent="0">
              <a:buNone/>
            </a:pPr>
            <a:r>
              <a:rPr lang="en-US" b="1" dirty="0" smtClean="0"/>
              <a:t>Value </a:t>
            </a:r>
            <a:r>
              <a:rPr lang="en-US" b="1" dirty="0"/>
              <a:t>modeling</a:t>
            </a:r>
          </a:p>
          <a:p>
            <a:r>
              <a:rPr lang="en-US" dirty="0"/>
              <a:t>The submitted meta-model shall be capable of instantiating models representing sequences of value creating activities, together with representations of the value items created and the stakeholder roles who receive those value items</a:t>
            </a:r>
            <a:r>
              <a:rPr lang="en-US" dirty="0" smtClean="0"/>
              <a:t>.</a:t>
            </a:r>
            <a:endParaRPr lang="en-US" dirty="0"/>
          </a:p>
          <a:p>
            <a:r>
              <a:rPr lang="en-US" dirty="0"/>
              <a:t>A value creating activity shall be associated with zero or more capabilities in an associated capability model of the same business or set of businesses</a:t>
            </a:r>
            <a:r>
              <a:rPr lang="en-US" dirty="0" smtClean="0"/>
              <a:t>.</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17</a:t>
            </a:fld>
            <a:endParaRPr lang="en-US"/>
          </a:p>
        </p:txBody>
      </p:sp>
    </p:spTree>
    <p:extLst>
      <p:ext uri="{BB962C8B-B14F-4D97-AF65-F5344CB8AC3E}">
        <p14:creationId xmlns:p14="http://schemas.microsoft.com/office/powerpoint/2010/main" val="116481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 Requirements</a:t>
            </a:r>
          </a:p>
        </p:txBody>
      </p:sp>
      <p:sp>
        <p:nvSpPr>
          <p:cNvPr id="3" name="Content Placeholder 2"/>
          <p:cNvSpPr>
            <a:spLocks noGrp="1"/>
          </p:cNvSpPr>
          <p:nvPr>
            <p:ph idx="1"/>
          </p:nvPr>
        </p:nvSpPr>
        <p:spPr/>
        <p:txBody>
          <a:bodyPr>
            <a:normAutofit/>
          </a:bodyPr>
          <a:lstStyle/>
          <a:p>
            <a:pPr marL="0" indent="0">
              <a:buNone/>
            </a:pPr>
            <a:r>
              <a:rPr lang="en-US" b="1" dirty="0" smtClean="0"/>
              <a:t>Organization </a:t>
            </a:r>
            <a:r>
              <a:rPr lang="en-US" b="1" dirty="0"/>
              <a:t>modeling</a:t>
            </a:r>
          </a:p>
          <a:p>
            <a:r>
              <a:rPr lang="en-US" dirty="0"/>
              <a:t>The submitted meta-model shall be capable of instantiating models of organization structures of various types, including command and control structures and collaboration structures. Stakeholder roles from value models shall be included in organization models. Organization models shall include roles representing direction and control of capabilities and value creating activities</a:t>
            </a:r>
            <a:r>
              <a:rPr lang="en-US" dirty="0" smtClean="0"/>
              <a: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18</a:t>
            </a:fld>
            <a:endParaRPr lang="en-US"/>
          </a:p>
        </p:txBody>
      </p:sp>
    </p:spTree>
    <p:extLst>
      <p:ext uri="{BB962C8B-B14F-4D97-AF65-F5344CB8AC3E}">
        <p14:creationId xmlns:p14="http://schemas.microsoft.com/office/powerpoint/2010/main" val="744721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 Requirements</a:t>
            </a:r>
          </a:p>
        </p:txBody>
      </p:sp>
      <p:sp>
        <p:nvSpPr>
          <p:cNvPr id="3" name="Content Placeholder 2"/>
          <p:cNvSpPr>
            <a:spLocks noGrp="1"/>
          </p:cNvSpPr>
          <p:nvPr>
            <p:ph idx="1"/>
          </p:nvPr>
        </p:nvSpPr>
        <p:spPr/>
        <p:txBody>
          <a:bodyPr>
            <a:normAutofit/>
          </a:bodyPr>
          <a:lstStyle/>
          <a:p>
            <a:pPr marL="0" indent="0">
              <a:buNone/>
            </a:pPr>
            <a:r>
              <a:rPr lang="en-US" b="1" dirty="0" smtClean="0"/>
              <a:t>Information </a:t>
            </a:r>
            <a:r>
              <a:rPr lang="en-US" b="1" dirty="0"/>
              <a:t>modeling</a:t>
            </a:r>
          </a:p>
          <a:p>
            <a:r>
              <a:rPr lang="en-US" dirty="0"/>
              <a:t>The submitted meta-model shall be capable of instantiating models of information, and of associations of information model elements to capabilities representing business components which use and create the information. The instantiated models should be capable of representing the aggregation of information and the derivation of information from other </a:t>
            </a:r>
            <a:r>
              <a:rPr lang="en-US" dirty="0" smtClean="0"/>
              <a:t>information</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19</a:t>
            </a:fld>
            <a:endParaRPr lang="en-US"/>
          </a:p>
        </p:txBody>
      </p:sp>
    </p:spTree>
    <p:extLst>
      <p:ext uri="{BB962C8B-B14F-4D97-AF65-F5344CB8AC3E}">
        <p14:creationId xmlns:p14="http://schemas.microsoft.com/office/powerpoint/2010/main" val="297163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97000"/>
            <a:ext cx="91440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67803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Clarity.thmx</Template>
  <TotalTime>3617</TotalTime>
  <Words>1437</Words>
  <Application>Microsoft Macintosh PowerPoint</Application>
  <PresentationFormat>On-screen Show (4:3)</PresentationFormat>
  <Paragraphs>150</Paragraphs>
  <Slides>20</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4" baseType="lpstr">
      <vt:lpstr>Calibri</vt:lpstr>
      <vt:lpstr>Arial</vt:lpstr>
      <vt:lpstr>Clarity</vt:lpstr>
      <vt:lpstr>Clip</vt:lpstr>
      <vt:lpstr>Guild – BAMM Team  2016 Plan</vt:lpstr>
      <vt:lpstr>Outline</vt:lpstr>
      <vt:lpstr>Supply Chain Vision</vt:lpstr>
      <vt:lpstr>Supply Chain Vision</vt:lpstr>
      <vt:lpstr>Supply Chain Vision</vt:lpstr>
      <vt:lpstr>Moving to a “Pull” Approach for Modeling</vt:lpstr>
      <vt:lpstr>Establishing Release Management</vt:lpstr>
      <vt:lpstr>Key Artifacts - Glossary</vt:lpstr>
      <vt:lpstr>Key Artifacts - MetaModel</vt:lpstr>
      <vt:lpstr>Key Artifacts - Relationships</vt:lpstr>
      <vt:lpstr>Key Artifacts - Scenarios</vt:lpstr>
      <vt:lpstr>Modeling Principles</vt:lpstr>
      <vt:lpstr>Modeling Principles</vt:lpstr>
      <vt:lpstr>Modeling Principles</vt:lpstr>
      <vt:lpstr>Modeling Principles</vt:lpstr>
      <vt:lpstr>Content requirements</vt:lpstr>
      <vt:lpstr>Content Requirements</vt:lpstr>
      <vt:lpstr>Content Requirements</vt:lpstr>
      <vt:lpstr>Content Requirements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PLANNING RETREAT</dc:title>
  <dc:creator>Mark Nelson</dc:creator>
  <cp:lastModifiedBy>Jeffrey Wallk</cp:lastModifiedBy>
  <cp:revision>126</cp:revision>
  <dcterms:created xsi:type="dcterms:W3CDTF">2014-02-27T16:52:08Z</dcterms:created>
  <dcterms:modified xsi:type="dcterms:W3CDTF">2015-12-12T15:50:57Z</dcterms:modified>
</cp:coreProperties>
</file>
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73154" cy="5148072"/>
          </a:xfrm>
          <a:prstGeom prst="rect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7498080" y="457199"/>
            <a:ext cx="1828801" cy="1828801"/>
          </a:xfrm>
          <a:prstGeom prst="ellipse">
            <a:avLst/>
          </a:prstGeom>
          <a:ln w="19050">
            <a:solidFill>
              <a:srgbClr val="00D4FF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7863840" y="822960"/>
            <a:ext cx="1097281" cy="1097281"/>
          </a:xfrm>
          <a:prstGeom prst="ellips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502919" y="1879552"/>
            <a:ext cx="813816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300" sz="12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KNOWLEDGE SYSTEMS WORKING GROUP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02919" y="2168976"/>
            <a:ext cx="8138162" cy="1148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ts val="4200"/>
              </a:lnSpc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Bridging Knowledge &amp; AI</a:t>
            </a:r>
          </a:p>
          <a:p>
            <a:pPr algn="ctr">
              <a:lnSpc>
                <a:spcPts val="4200"/>
              </a:lnSpc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Across Engineering Disciplines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417319" y="3457308"/>
            <a:ext cx="6309362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4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Enabling semantic interoperability through vocabularies,</a:t>
            </a:r>
          </a:p>
          <a:p>
            <a:pPr algn="ctr">
              <a:defRPr sz="14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taxonomies, ontologies, and prompt engineering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02919" y="4406645"/>
            <a:ext cx="81381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INCOSE IW 2026</a:t>
            </a:r>
          </a:p>
        </p:txBody>
      </p:sp>
      <p:sp>
        <p:nvSpPr>
          <p:cNvPr id="27" name="Shape 7"/>
          <p:cNvSpPr/>
          <p:nvPr/>
        </p:nvSpPr>
        <p:spPr>
          <a:xfrm>
            <a:off x="3200399" y="4526279"/>
            <a:ext cx="731521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5212079" y="4526279"/>
            <a:ext cx="731521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-1"/>
            <a:ext cx="4572000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"/>
          <p:cNvSpPr/>
          <p:nvPr/>
        </p:nvSpPr>
        <p:spPr>
          <a:xfrm>
            <a:off x="4572000" y="-1"/>
            <a:ext cx="4572000" cy="36578"/>
          </a:xfrm>
          <a:prstGeom prst="rect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2"/>
          <p:cNvSpPr txBox="1"/>
          <p:nvPr/>
        </p:nvSpPr>
        <p:spPr>
          <a:xfrm>
            <a:off x="320040" y="275127"/>
            <a:ext cx="81381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10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320040" y="488416"/>
            <a:ext cx="813816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50+ Working Groups. One Language Barrier.</a:t>
            </a:r>
          </a:p>
        </p:txBody>
      </p:sp>
      <p:sp>
        <p:nvSpPr>
          <p:cNvPr id="34" name="Shape 4"/>
          <p:cNvSpPr/>
          <p:nvPr/>
        </p:nvSpPr>
        <p:spPr>
          <a:xfrm>
            <a:off x="1463039" y="2377439"/>
            <a:ext cx="1097281" cy="1097281"/>
          </a:xfrm>
          <a:prstGeom prst="ellipse">
            <a:avLst/>
          </a:prstGeom>
          <a:solidFill>
            <a:srgbClr val="162942"/>
          </a:solidFill>
          <a:ln w="19050">
            <a:solidFill>
              <a:srgbClr val="FF6B35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5"/>
          <p:cNvSpPr txBox="1"/>
          <p:nvPr/>
        </p:nvSpPr>
        <p:spPr>
          <a:xfrm>
            <a:off x="1508759" y="2755229"/>
            <a:ext cx="1005841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Semantic</a:t>
            </a:r>
          </a:p>
          <a:p>
            <a:pPr algn="ctr">
              <a:defRPr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Gap</a:t>
            </a:r>
          </a:p>
        </p:txBody>
      </p:sp>
      <p:sp>
        <p:nvSpPr>
          <p:cNvPr id="36" name="Shape 6"/>
          <p:cNvSpPr/>
          <p:nvPr/>
        </p:nvSpPr>
        <p:spPr>
          <a:xfrm>
            <a:off x="365759" y="1188719"/>
            <a:ext cx="822962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7"/>
          <p:cNvSpPr txBox="1"/>
          <p:nvPr/>
        </p:nvSpPr>
        <p:spPr>
          <a:xfrm>
            <a:off x="411479" y="1247531"/>
            <a:ext cx="73152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MBSE</a:t>
            </a:r>
          </a:p>
        </p:txBody>
      </p:sp>
      <p:sp>
        <p:nvSpPr>
          <p:cNvPr id="38" name="Shape 8"/>
          <p:cNvSpPr/>
          <p:nvPr/>
        </p:nvSpPr>
        <p:spPr>
          <a:xfrm>
            <a:off x="2743200" y="1371600"/>
            <a:ext cx="82296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9"/>
          <p:cNvSpPr txBox="1"/>
          <p:nvPr/>
        </p:nvSpPr>
        <p:spPr>
          <a:xfrm>
            <a:off x="2788919" y="1430411"/>
            <a:ext cx="73152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Requirements</a:t>
            </a:r>
          </a:p>
        </p:txBody>
      </p:sp>
      <p:sp>
        <p:nvSpPr>
          <p:cNvPr id="40" name="Shape 10"/>
          <p:cNvSpPr/>
          <p:nvPr/>
        </p:nvSpPr>
        <p:spPr>
          <a:xfrm>
            <a:off x="182879" y="2286000"/>
            <a:ext cx="822962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1"/>
          <p:cNvSpPr txBox="1"/>
          <p:nvPr/>
        </p:nvSpPr>
        <p:spPr>
          <a:xfrm>
            <a:off x="228599" y="2344811"/>
            <a:ext cx="73152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42" name="Shape 12"/>
          <p:cNvSpPr/>
          <p:nvPr/>
        </p:nvSpPr>
        <p:spPr>
          <a:xfrm>
            <a:off x="2926079" y="3017520"/>
            <a:ext cx="82296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3"/>
          <p:cNvSpPr txBox="1"/>
          <p:nvPr/>
        </p:nvSpPr>
        <p:spPr>
          <a:xfrm>
            <a:off x="2971799" y="3076331"/>
            <a:ext cx="7315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Healthcare</a:t>
            </a:r>
          </a:p>
        </p:txBody>
      </p:sp>
      <p:sp>
        <p:nvSpPr>
          <p:cNvPr id="44" name="Shape 14"/>
          <p:cNvSpPr/>
          <p:nvPr/>
        </p:nvSpPr>
        <p:spPr>
          <a:xfrm>
            <a:off x="731519" y="3657600"/>
            <a:ext cx="822962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5"/>
          <p:cNvSpPr txBox="1"/>
          <p:nvPr/>
        </p:nvSpPr>
        <p:spPr>
          <a:xfrm>
            <a:off x="777239" y="3716411"/>
            <a:ext cx="73152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Safety</a:t>
            </a:r>
          </a:p>
        </p:txBody>
      </p:sp>
      <p:sp>
        <p:nvSpPr>
          <p:cNvPr id="46" name="Shape 16"/>
          <p:cNvSpPr/>
          <p:nvPr/>
        </p:nvSpPr>
        <p:spPr>
          <a:xfrm>
            <a:off x="2560320" y="3840479"/>
            <a:ext cx="82296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7"/>
          <p:cNvSpPr txBox="1"/>
          <p:nvPr/>
        </p:nvSpPr>
        <p:spPr>
          <a:xfrm>
            <a:off x="2606040" y="3899291"/>
            <a:ext cx="7315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Space</a:t>
            </a:r>
          </a:p>
        </p:txBody>
      </p:sp>
      <p:sp>
        <p:nvSpPr>
          <p:cNvPr id="48" name="Shape 18"/>
          <p:cNvSpPr/>
          <p:nvPr/>
        </p:nvSpPr>
        <p:spPr>
          <a:xfrm>
            <a:off x="3017520" y="2194560"/>
            <a:ext cx="82296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9"/>
          <p:cNvSpPr txBox="1"/>
          <p:nvPr/>
        </p:nvSpPr>
        <p:spPr>
          <a:xfrm>
            <a:off x="3063240" y="2253371"/>
            <a:ext cx="7315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Risk</a:t>
            </a:r>
          </a:p>
        </p:txBody>
      </p:sp>
      <p:sp>
        <p:nvSpPr>
          <p:cNvPr id="50" name="Shape 20"/>
          <p:cNvSpPr/>
          <p:nvPr/>
        </p:nvSpPr>
        <p:spPr>
          <a:xfrm>
            <a:off x="274320" y="3200400"/>
            <a:ext cx="82296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21"/>
          <p:cNvSpPr txBox="1"/>
          <p:nvPr/>
        </p:nvSpPr>
        <p:spPr>
          <a:xfrm>
            <a:off x="320039" y="3259211"/>
            <a:ext cx="73152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Systems</a:t>
            </a:r>
          </a:p>
        </p:txBody>
      </p:sp>
      <p:sp>
        <p:nvSpPr>
          <p:cNvPr id="52" name="Shape 22"/>
          <p:cNvSpPr/>
          <p:nvPr/>
        </p:nvSpPr>
        <p:spPr>
          <a:xfrm>
            <a:off x="4114800" y="1143000"/>
            <a:ext cx="320041" cy="320041"/>
          </a:xfrm>
          <a:prstGeom prst="roundRect">
            <a:avLst>
              <a:gd name="adj" fmla="val 14286"/>
            </a:avLst>
          </a:prstGeom>
          <a:solidFill>
            <a:srgbClr val="162942"/>
          </a:solidFill>
          <a:ln w="6350">
            <a:solidFill>
              <a:srgbClr val="FF6B35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23"/>
          <p:cNvSpPr txBox="1"/>
          <p:nvPr/>
        </p:nvSpPr>
        <p:spPr>
          <a:xfrm>
            <a:off x="4160519" y="1158608"/>
            <a:ext cx="22860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54" name="Text 24"/>
          <p:cNvSpPr txBox="1"/>
          <p:nvPr/>
        </p:nvSpPr>
        <p:spPr>
          <a:xfrm>
            <a:off x="4571999" y="1129744"/>
            <a:ext cx="40233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Incompatible Terminologies</a:t>
            </a:r>
          </a:p>
        </p:txBody>
      </p:sp>
      <p:sp>
        <p:nvSpPr>
          <p:cNvPr id="55" name="Text 25"/>
          <p:cNvSpPr txBox="1"/>
          <p:nvPr/>
        </p:nvSpPr>
        <p:spPr>
          <a:xfrm>
            <a:off x="4571999" y="1371600"/>
            <a:ext cx="4297681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"Requirement" means different things in Requirements WG, MBSE Initiative, and Healthcare WG</a:t>
            </a:r>
          </a:p>
        </p:txBody>
      </p:sp>
      <p:sp>
        <p:nvSpPr>
          <p:cNvPr id="56" name="Shape 26"/>
          <p:cNvSpPr/>
          <p:nvPr/>
        </p:nvSpPr>
        <p:spPr>
          <a:xfrm>
            <a:off x="4114800" y="2011679"/>
            <a:ext cx="320041" cy="320041"/>
          </a:xfrm>
          <a:prstGeom prst="roundRect">
            <a:avLst>
              <a:gd name="adj" fmla="val 14286"/>
            </a:avLst>
          </a:prstGeom>
          <a:solidFill>
            <a:srgbClr val="162942"/>
          </a:solidFill>
          <a:ln w="6350">
            <a:solidFill>
              <a:srgbClr val="FF6B35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27"/>
          <p:cNvSpPr txBox="1"/>
          <p:nvPr/>
        </p:nvSpPr>
        <p:spPr>
          <a:xfrm>
            <a:off x="4160519" y="2027288"/>
            <a:ext cx="22860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58" name="Text 28"/>
          <p:cNvSpPr txBox="1"/>
          <p:nvPr/>
        </p:nvSpPr>
        <p:spPr>
          <a:xfrm>
            <a:off x="4571999" y="1998424"/>
            <a:ext cx="40233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Redundant Development</a:t>
            </a:r>
          </a:p>
        </p:txBody>
      </p:sp>
      <p:sp>
        <p:nvSpPr>
          <p:cNvPr id="59" name="Text 29"/>
          <p:cNvSpPr txBox="1"/>
          <p:nvPr/>
        </p:nvSpPr>
        <p:spPr>
          <a:xfrm>
            <a:off x="4571999" y="2240279"/>
            <a:ext cx="4297681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Multiple WGs independently build overlapping frameworks without coordination</a:t>
            </a:r>
          </a:p>
        </p:txBody>
      </p:sp>
      <p:sp>
        <p:nvSpPr>
          <p:cNvPr id="60" name="Shape 30"/>
          <p:cNvSpPr/>
          <p:nvPr/>
        </p:nvSpPr>
        <p:spPr>
          <a:xfrm>
            <a:off x="4114800" y="2880360"/>
            <a:ext cx="320041" cy="320041"/>
          </a:xfrm>
          <a:prstGeom prst="roundRect">
            <a:avLst>
              <a:gd name="adj" fmla="val 14286"/>
            </a:avLst>
          </a:prstGeom>
          <a:solidFill>
            <a:srgbClr val="162942"/>
          </a:solidFill>
          <a:ln w="6350">
            <a:solidFill>
              <a:srgbClr val="FF6B35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31"/>
          <p:cNvSpPr txBox="1"/>
          <p:nvPr/>
        </p:nvSpPr>
        <p:spPr>
          <a:xfrm>
            <a:off x="4160519" y="2895968"/>
            <a:ext cx="22860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62" name="Text 32"/>
          <p:cNvSpPr txBox="1"/>
          <p:nvPr/>
        </p:nvSpPr>
        <p:spPr>
          <a:xfrm>
            <a:off x="4571999" y="2867104"/>
            <a:ext cx="40233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Cannot Leverage Our Knowledge</a:t>
            </a:r>
          </a:p>
        </p:txBody>
      </p:sp>
      <p:sp>
        <p:nvSpPr>
          <p:cNvPr id="63" name="Text 33"/>
          <p:cNvSpPr txBox="1"/>
          <p:nvPr/>
        </p:nvSpPr>
        <p:spPr>
          <a:xfrm>
            <a:off x="4571999" y="3108960"/>
            <a:ext cx="429768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Without semantic grounding, AI systems hallucinate on SE topics</a:t>
            </a:r>
          </a:p>
        </p:txBody>
      </p:sp>
      <p:sp>
        <p:nvSpPr>
          <p:cNvPr id="64" name="Shape 34"/>
          <p:cNvSpPr/>
          <p:nvPr/>
        </p:nvSpPr>
        <p:spPr>
          <a:xfrm>
            <a:off x="4114800" y="3749040"/>
            <a:ext cx="320041" cy="320041"/>
          </a:xfrm>
          <a:prstGeom prst="roundRect">
            <a:avLst>
              <a:gd name="adj" fmla="val 14286"/>
            </a:avLst>
          </a:prstGeom>
          <a:solidFill>
            <a:srgbClr val="162942"/>
          </a:solidFill>
          <a:ln w="6350">
            <a:solidFill>
              <a:srgbClr val="FF6B35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35"/>
          <p:cNvSpPr txBox="1"/>
          <p:nvPr/>
        </p:nvSpPr>
        <p:spPr>
          <a:xfrm>
            <a:off x="4160519" y="3764648"/>
            <a:ext cx="22860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66" name="Text 36"/>
          <p:cNvSpPr txBox="1"/>
          <p:nvPr/>
        </p:nvSpPr>
        <p:spPr>
          <a:xfrm>
            <a:off x="4571999" y="3735784"/>
            <a:ext cx="40233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Missed Cross-Domain Insights</a:t>
            </a:r>
          </a:p>
        </p:txBody>
      </p:sp>
      <p:sp>
        <p:nvSpPr>
          <p:cNvPr id="67" name="Text 37"/>
          <p:cNvSpPr txBox="1"/>
          <p:nvPr/>
        </p:nvSpPr>
        <p:spPr>
          <a:xfrm>
            <a:off x="4571999" y="3977640"/>
            <a:ext cx="429768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infrastructure exists to synthesize expertise across disciplines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-1"/>
            <a:ext cx="4572000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1"/>
          <p:cNvSpPr/>
          <p:nvPr/>
        </p:nvSpPr>
        <p:spPr>
          <a:xfrm>
            <a:off x="4572000" y="-1"/>
            <a:ext cx="4572000" cy="36578"/>
          </a:xfrm>
          <a:prstGeom prst="rect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"/>
          <p:cNvSpPr txBox="1"/>
          <p:nvPr/>
        </p:nvSpPr>
        <p:spPr>
          <a:xfrm>
            <a:off x="320040" y="275127"/>
            <a:ext cx="81381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10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IMPACT</a:t>
            </a:r>
          </a:p>
        </p:txBody>
      </p:sp>
      <p:sp>
        <p:nvSpPr>
          <p:cNvPr id="72" name="Text 3"/>
          <p:cNvSpPr txBox="1"/>
          <p:nvPr/>
        </p:nvSpPr>
        <p:spPr>
          <a:xfrm>
            <a:off x="320040" y="488416"/>
            <a:ext cx="813816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What's at Stake for INCOSE</a:t>
            </a:r>
          </a:p>
        </p:txBody>
      </p:sp>
      <p:sp>
        <p:nvSpPr>
          <p:cNvPr id="73" name="Shape 4"/>
          <p:cNvSpPr/>
          <p:nvPr/>
        </p:nvSpPr>
        <p:spPr>
          <a:xfrm>
            <a:off x="365759" y="1143000"/>
            <a:ext cx="2743201" cy="2286000"/>
          </a:xfrm>
          <a:prstGeom prst="roundRect">
            <a:avLst>
              <a:gd name="adj" fmla="val 4000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5"/>
          <p:cNvSpPr/>
          <p:nvPr/>
        </p:nvSpPr>
        <p:spPr>
          <a:xfrm>
            <a:off x="365759" y="1143000"/>
            <a:ext cx="36577" cy="2286000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6"/>
          <p:cNvSpPr/>
          <p:nvPr/>
        </p:nvSpPr>
        <p:spPr>
          <a:xfrm>
            <a:off x="594359" y="1371600"/>
            <a:ext cx="502921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6350">
            <a:solidFill>
              <a:srgbClr val="FF6B35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7"/>
          <p:cNvSpPr txBox="1"/>
          <p:nvPr/>
        </p:nvSpPr>
        <p:spPr>
          <a:xfrm>
            <a:off x="640079" y="1393189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⚡</a:t>
            </a:r>
          </a:p>
        </p:txBody>
      </p:sp>
      <p:sp>
        <p:nvSpPr>
          <p:cNvPr id="77" name="Text 8"/>
          <p:cNvSpPr txBox="1"/>
          <p:nvPr/>
        </p:nvSpPr>
        <p:spPr>
          <a:xfrm>
            <a:off x="640079" y="2050148"/>
            <a:ext cx="21945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Lost Innovation</a:t>
            </a:r>
          </a:p>
        </p:txBody>
      </p:sp>
      <p:sp>
        <p:nvSpPr>
          <p:cNvPr id="78" name="Text 9"/>
          <p:cNvSpPr txBox="1"/>
          <p:nvPr/>
        </p:nvSpPr>
        <p:spPr>
          <a:xfrm>
            <a:off x="640079" y="2377439"/>
            <a:ext cx="2194561" cy="506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Critical cross-domain insights require multiple WGs but no infrastructure enables this collaboration</a:t>
            </a:r>
          </a:p>
        </p:txBody>
      </p:sp>
      <p:sp>
        <p:nvSpPr>
          <p:cNvPr id="79" name="Shape 10"/>
          <p:cNvSpPr/>
          <p:nvPr/>
        </p:nvSpPr>
        <p:spPr>
          <a:xfrm>
            <a:off x="3291840" y="1143000"/>
            <a:ext cx="2743201" cy="2286000"/>
          </a:xfrm>
          <a:prstGeom prst="roundRect">
            <a:avLst>
              <a:gd name="adj" fmla="val 4000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Shape 11"/>
          <p:cNvSpPr/>
          <p:nvPr/>
        </p:nvSpPr>
        <p:spPr>
          <a:xfrm>
            <a:off x="3291840" y="1143000"/>
            <a:ext cx="36577" cy="2286000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12"/>
          <p:cNvSpPr/>
          <p:nvPr/>
        </p:nvSpPr>
        <p:spPr>
          <a:xfrm>
            <a:off x="3520440" y="1371600"/>
            <a:ext cx="502921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6350">
            <a:solidFill>
              <a:srgbClr val="FF6B35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3"/>
          <p:cNvSpPr txBox="1"/>
          <p:nvPr/>
        </p:nvSpPr>
        <p:spPr>
          <a:xfrm>
            <a:off x="3566160" y="1393189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🎯</a:t>
            </a:r>
          </a:p>
        </p:txBody>
      </p:sp>
      <p:sp>
        <p:nvSpPr>
          <p:cNvPr id="83" name="Text 14"/>
          <p:cNvSpPr txBox="1"/>
          <p:nvPr/>
        </p:nvSpPr>
        <p:spPr>
          <a:xfrm>
            <a:off x="3566160" y="2050148"/>
            <a:ext cx="21945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Readiness Gap</a:t>
            </a:r>
          </a:p>
        </p:txBody>
      </p:sp>
      <p:sp>
        <p:nvSpPr>
          <p:cNvPr id="84" name="Text 15"/>
          <p:cNvSpPr txBox="1"/>
          <p:nvPr/>
        </p:nvSpPr>
        <p:spPr>
          <a:xfrm>
            <a:off x="3566160" y="2377439"/>
            <a:ext cx="2194561" cy="506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Organizations leveraging AI-ready knowledge structures are outpacing those with fragmented data</a:t>
            </a:r>
          </a:p>
        </p:txBody>
      </p:sp>
      <p:sp>
        <p:nvSpPr>
          <p:cNvPr id="85" name="Shape 16"/>
          <p:cNvSpPr/>
          <p:nvPr/>
        </p:nvSpPr>
        <p:spPr>
          <a:xfrm>
            <a:off x="6217920" y="1143000"/>
            <a:ext cx="2743201" cy="2286000"/>
          </a:xfrm>
          <a:prstGeom prst="roundRect">
            <a:avLst>
              <a:gd name="adj" fmla="val 4000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17"/>
          <p:cNvSpPr/>
          <p:nvPr/>
        </p:nvSpPr>
        <p:spPr>
          <a:xfrm>
            <a:off x="6217920" y="1143000"/>
            <a:ext cx="36577" cy="2286000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18"/>
          <p:cNvSpPr/>
          <p:nvPr/>
        </p:nvSpPr>
        <p:spPr>
          <a:xfrm>
            <a:off x="6446520" y="1371600"/>
            <a:ext cx="502921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6350">
            <a:solidFill>
              <a:srgbClr val="FF6B35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9"/>
          <p:cNvSpPr txBox="1"/>
          <p:nvPr/>
        </p:nvSpPr>
        <p:spPr>
          <a:xfrm>
            <a:off x="6492240" y="1393189"/>
            <a:ext cx="41148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📉</a:t>
            </a:r>
          </a:p>
        </p:txBody>
      </p:sp>
      <p:sp>
        <p:nvSpPr>
          <p:cNvPr id="89" name="Text 20"/>
          <p:cNvSpPr txBox="1"/>
          <p:nvPr/>
        </p:nvSpPr>
        <p:spPr>
          <a:xfrm>
            <a:off x="6492240" y="2050148"/>
            <a:ext cx="219456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Diminished Impact</a:t>
            </a:r>
          </a:p>
        </p:txBody>
      </p:sp>
      <p:sp>
        <p:nvSpPr>
          <p:cNvPr id="90" name="Text 21"/>
          <p:cNvSpPr txBox="1"/>
          <p:nvPr/>
        </p:nvSpPr>
        <p:spPr>
          <a:xfrm>
            <a:off x="6492240" y="2377439"/>
            <a:ext cx="2194561" cy="506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Siloed working groups deliver less value than a connected ecosystem could achieve</a:t>
            </a:r>
          </a:p>
        </p:txBody>
      </p:sp>
      <p:sp>
        <p:nvSpPr>
          <p:cNvPr id="91" name="Shape 22"/>
          <p:cNvSpPr/>
          <p:nvPr/>
        </p:nvSpPr>
        <p:spPr>
          <a:xfrm>
            <a:off x="365759" y="3657600"/>
            <a:ext cx="8412482" cy="822961"/>
          </a:xfrm>
          <a:prstGeom prst="roundRect">
            <a:avLst>
              <a:gd name="adj" fmla="val 8889"/>
            </a:avLst>
          </a:prstGeom>
          <a:solidFill>
            <a:srgbClr val="162942">
              <a:alpha val="50000"/>
            </a:srgbClr>
          </a:solidFill>
          <a:ln w="6350">
            <a:solidFill>
              <a:srgbClr val="00D4FF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hape 23"/>
          <p:cNvSpPr/>
          <p:nvPr/>
        </p:nvSpPr>
        <p:spPr>
          <a:xfrm>
            <a:off x="502919" y="3794759"/>
            <a:ext cx="54865" cy="548641"/>
          </a:xfrm>
          <a:prstGeom prst="rect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24"/>
          <p:cNvSpPr txBox="1"/>
          <p:nvPr/>
        </p:nvSpPr>
        <p:spPr>
          <a:xfrm>
            <a:off x="731519" y="3822652"/>
            <a:ext cx="777240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question isn't whether to act—it's how quickly we can enable interoperability</a:t>
            </a:r>
          </a:p>
        </p:txBody>
      </p:sp>
      <p:sp>
        <p:nvSpPr>
          <p:cNvPr id="94" name="Text 25"/>
          <p:cNvSpPr txBox="1"/>
          <p:nvPr/>
        </p:nvSpPr>
        <p:spPr>
          <a:xfrm>
            <a:off x="731519" y="4138467"/>
            <a:ext cx="777240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month of delay compounds fragmentation and missed opportunities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-1"/>
            <a:ext cx="4572000" cy="36578"/>
          </a:xfrm>
          <a:prstGeom prst="rect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1"/>
          <p:cNvSpPr/>
          <p:nvPr/>
        </p:nvSpPr>
        <p:spPr>
          <a:xfrm>
            <a:off x="4572000" y="-1"/>
            <a:ext cx="4572000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2"/>
          <p:cNvSpPr txBox="1"/>
          <p:nvPr/>
        </p:nvSpPr>
        <p:spPr>
          <a:xfrm>
            <a:off x="320040" y="275127"/>
            <a:ext cx="81381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10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99" name="Text 3"/>
          <p:cNvSpPr txBox="1"/>
          <p:nvPr/>
        </p:nvSpPr>
        <p:spPr>
          <a:xfrm>
            <a:off x="320040" y="494351"/>
            <a:ext cx="813816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Knowledge Engineering + Prompt Engineering</a:t>
            </a:r>
          </a:p>
        </p:txBody>
      </p:sp>
      <p:sp>
        <p:nvSpPr>
          <p:cNvPr id="100" name="Shape 4"/>
          <p:cNvSpPr/>
          <p:nvPr/>
        </p:nvSpPr>
        <p:spPr>
          <a:xfrm>
            <a:off x="1188719" y="2103120"/>
            <a:ext cx="1188721" cy="1188721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  <a:effectLst>
            <a:outerShdw sx="100000" sy="100000" kx="0" ky="0" algn="b" rotWithShape="0" blurRad="190500" dist="50800" dir="16200000">
              <a:srgbClr val="00D4FF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Text 5"/>
          <p:cNvSpPr txBox="1"/>
          <p:nvPr/>
        </p:nvSpPr>
        <p:spPr>
          <a:xfrm>
            <a:off x="1234439" y="2463129"/>
            <a:ext cx="1097281" cy="468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KSWG</a:t>
            </a:r>
          </a:p>
          <a:p>
            <a:pPr algn="ctr">
              <a:defRPr b="1" sz="9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Semantic</a:t>
            </a:r>
          </a:p>
          <a:p>
            <a:pPr algn="ctr">
              <a:defRPr b="1" sz="9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Integrator</a:t>
            </a:r>
          </a:p>
        </p:txBody>
      </p:sp>
      <p:sp>
        <p:nvSpPr>
          <p:cNvPr id="102" name="Shape 6"/>
          <p:cNvSpPr/>
          <p:nvPr/>
        </p:nvSpPr>
        <p:spPr>
          <a:xfrm>
            <a:off x="1463039" y="1005839"/>
            <a:ext cx="86868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7"/>
          <p:cNvSpPr txBox="1"/>
          <p:nvPr/>
        </p:nvSpPr>
        <p:spPr>
          <a:xfrm>
            <a:off x="1508759" y="1064651"/>
            <a:ext cx="77724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MBSE</a:t>
            </a:r>
          </a:p>
        </p:txBody>
      </p:sp>
      <p:sp>
        <p:nvSpPr>
          <p:cNvPr id="104" name="Shape 8"/>
          <p:cNvSpPr/>
          <p:nvPr/>
        </p:nvSpPr>
        <p:spPr>
          <a:xfrm>
            <a:off x="2743200" y="1371600"/>
            <a:ext cx="86868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9"/>
          <p:cNvSpPr txBox="1"/>
          <p:nvPr/>
        </p:nvSpPr>
        <p:spPr>
          <a:xfrm>
            <a:off x="2788919" y="1430411"/>
            <a:ext cx="77724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Systems</a:t>
            </a:r>
          </a:p>
        </p:txBody>
      </p:sp>
      <p:sp>
        <p:nvSpPr>
          <p:cNvPr id="106" name="Shape 10"/>
          <p:cNvSpPr/>
          <p:nvPr/>
        </p:nvSpPr>
        <p:spPr>
          <a:xfrm>
            <a:off x="3108960" y="2560320"/>
            <a:ext cx="86868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1"/>
          <p:cNvSpPr txBox="1"/>
          <p:nvPr/>
        </p:nvSpPr>
        <p:spPr>
          <a:xfrm>
            <a:off x="3154680" y="2619131"/>
            <a:ext cx="77724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Requirements</a:t>
            </a:r>
          </a:p>
        </p:txBody>
      </p:sp>
      <p:sp>
        <p:nvSpPr>
          <p:cNvPr id="108" name="Shape 12"/>
          <p:cNvSpPr/>
          <p:nvPr/>
        </p:nvSpPr>
        <p:spPr>
          <a:xfrm>
            <a:off x="2651760" y="3657600"/>
            <a:ext cx="86868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3"/>
          <p:cNvSpPr txBox="1"/>
          <p:nvPr/>
        </p:nvSpPr>
        <p:spPr>
          <a:xfrm>
            <a:off x="2697480" y="3716411"/>
            <a:ext cx="77724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Safety</a:t>
            </a:r>
          </a:p>
        </p:txBody>
      </p:sp>
      <p:sp>
        <p:nvSpPr>
          <p:cNvPr id="110" name="Shape 14"/>
          <p:cNvSpPr/>
          <p:nvPr/>
        </p:nvSpPr>
        <p:spPr>
          <a:xfrm>
            <a:off x="1371600" y="4114800"/>
            <a:ext cx="868681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5"/>
          <p:cNvSpPr txBox="1"/>
          <p:nvPr/>
        </p:nvSpPr>
        <p:spPr>
          <a:xfrm>
            <a:off x="1417319" y="4173611"/>
            <a:ext cx="77724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12" name="Shape 16"/>
          <p:cNvSpPr/>
          <p:nvPr/>
        </p:nvSpPr>
        <p:spPr>
          <a:xfrm>
            <a:off x="91439" y="3657600"/>
            <a:ext cx="868682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7"/>
          <p:cNvSpPr txBox="1"/>
          <p:nvPr/>
        </p:nvSpPr>
        <p:spPr>
          <a:xfrm>
            <a:off x="137159" y="3716411"/>
            <a:ext cx="77724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114" name="Shape 18"/>
          <p:cNvSpPr/>
          <p:nvPr/>
        </p:nvSpPr>
        <p:spPr>
          <a:xfrm>
            <a:off x="-274321" y="2560320"/>
            <a:ext cx="868682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9"/>
          <p:cNvSpPr txBox="1"/>
          <p:nvPr/>
        </p:nvSpPr>
        <p:spPr>
          <a:xfrm>
            <a:off x="-228601" y="2619131"/>
            <a:ext cx="77724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Healthcare</a:t>
            </a:r>
          </a:p>
        </p:txBody>
      </p:sp>
      <p:sp>
        <p:nvSpPr>
          <p:cNvPr id="116" name="Shape 20"/>
          <p:cNvSpPr/>
          <p:nvPr/>
        </p:nvSpPr>
        <p:spPr>
          <a:xfrm>
            <a:off x="182879" y="1371600"/>
            <a:ext cx="868682" cy="320041"/>
          </a:xfrm>
          <a:prstGeom prst="roundRect">
            <a:avLst>
              <a:gd name="adj" fmla="val 42857"/>
            </a:avLst>
          </a:prstGeom>
          <a:solidFill>
            <a:srgbClr val="162942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21"/>
          <p:cNvSpPr txBox="1"/>
          <p:nvPr/>
        </p:nvSpPr>
        <p:spPr>
          <a:xfrm>
            <a:off x="228599" y="1430411"/>
            <a:ext cx="777242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Risk</a:t>
            </a:r>
          </a:p>
        </p:txBody>
      </p:sp>
      <p:sp>
        <p:nvSpPr>
          <p:cNvPr id="118" name="Shape 22"/>
          <p:cNvSpPr/>
          <p:nvPr/>
        </p:nvSpPr>
        <p:spPr>
          <a:xfrm>
            <a:off x="4206240" y="1051560"/>
            <a:ext cx="4572001" cy="1600201"/>
          </a:xfrm>
          <a:prstGeom prst="roundRect">
            <a:avLst>
              <a:gd name="adj" fmla="val 4571"/>
            </a:avLst>
          </a:prstGeom>
          <a:solidFill>
            <a:srgbClr val="162942">
              <a:alpha val="30000"/>
            </a:srgbClr>
          </a:solidFill>
          <a:ln>
            <a:solidFill>
              <a:srgbClr val="00D4FF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23"/>
          <p:cNvSpPr/>
          <p:nvPr/>
        </p:nvSpPr>
        <p:spPr>
          <a:xfrm>
            <a:off x="4389120" y="1234439"/>
            <a:ext cx="365761" cy="365761"/>
          </a:xfrm>
          <a:prstGeom prst="roundRect">
            <a:avLst>
              <a:gd name="adj" fmla="val 12500"/>
            </a:avLst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24"/>
          <p:cNvSpPr txBox="1"/>
          <p:nvPr/>
        </p:nvSpPr>
        <p:spPr>
          <a:xfrm>
            <a:off x="4434840" y="122554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🔗</a:t>
            </a:r>
          </a:p>
        </p:txBody>
      </p:sp>
      <p:sp>
        <p:nvSpPr>
          <p:cNvPr id="121" name="Text 25"/>
          <p:cNvSpPr txBox="1"/>
          <p:nvPr/>
        </p:nvSpPr>
        <p:spPr>
          <a:xfrm>
            <a:off x="4892040" y="1279050"/>
            <a:ext cx="31089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Knowledge Engineering</a:t>
            </a:r>
          </a:p>
        </p:txBody>
      </p:sp>
      <p:sp>
        <p:nvSpPr>
          <p:cNvPr id="122" name="Text 26"/>
          <p:cNvSpPr txBox="1"/>
          <p:nvPr/>
        </p:nvSpPr>
        <p:spPr>
          <a:xfrm>
            <a:off x="4892039" y="1691639"/>
            <a:ext cx="3657602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Vocabularies — Standardized terms across all WGs</a:t>
            </a:r>
          </a:p>
          <a:p>
            <a:pPr>
              <a:lnSpc>
                <a:spcPts val="16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Taxonomies — Hierarchical classification systems</a:t>
            </a:r>
          </a:p>
          <a:p>
            <a:pPr>
              <a:lnSpc>
                <a:spcPts val="16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Ontologies — Formal semantic relationships</a:t>
            </a:r>
          </a:p>
        </p:txBody>
      </p:sp>
      <p:sp>
        <p:nvSpPr>
          <p:cNvPr id="123" name="Shape 27"/>
          <p:cNvSpPr/>
          <p:nvPr/>
        </p:nvSpPr>
        <p:spPr>
          <a:xfrm>
            <a:off x="4206240" y="2788920"/>
            <a:ext cx="4572001" cy="1600201"/>
          </a:xfrm>
          <a:prstGeom prst="roundRect">
            <a:avLst>
              <a:gd name="adj" fmla="val 4571"/>
            </a:avLst>
          </a:prstGeom>
          <a:solidFill>
            <a:srgbClr val="162942">
              <a:alpha val="30000"/>
            </a:srgbClr>
          </a:solidFill>
          <a:ln>
            <a:solidFill>
              <a:srgbClr val="FF6B35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28"/>
          <p:cNvSpPr/>
          <p:nvPr/>
        </p:nvSpPr>
        <p:spPr>
          <a:xfrm>
            <a:off x="4389120" y="2971800"/>
            <a:ext cx="365761" cy="365760"/>
          </a:xfrm>
          <a:prstGeom prst="roundRect">
            <a:avLst>
              <a:gd name="adj" fmla="val 12500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9"/>
          <p:cNvSpPr txBox="1"/>
          <p:nvPr/>
        </p:nvSpPr>
        <p:spPr>
          <a:xfrm>
            <a:off x="4434840" y="2962910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🤖</a:t>
            </a:r>
          </a:p>
        </p:txBody>
      </p:sp>
      <p:sp>
        <p:nvSpPr>
          <p:cNvPr id="126" name="Text 30"/>
          <p:cNvSpPr txBox="1"/>
          <p:nvPr/>
        </p:nvSpPr>
        <p:spPr>
          <a:xfrm>
            <a:off x="4892040" y="3016410"/>
            <a:ext cx="310896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Prompt Engineering</a:t>
            </a:r>
          </a:p>
        </p:txBody>
      </p:sp>
      <p:sp>
        <p:nvSpPr>
          <p:cNvPr id="127" name="Text 31"/>
          <p:cNvSpPr txBox="1"/>
          <p:nvPr/>
        </p:nvSpPr>
        <p:spPr>
          <a:xfrm>
            <a:off x="4892039" y="3428999"/>
            <a:ext cx="3657602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RAG 2.0 — Knowledge graph-enhanced AI responses</a:t>
            </a:r>
          </a:p>
          <a:p>
            <a:pPr>
              <a:lnSpc>
                <a:spcPts val="16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Semantic Guardrails — AI outputs aligned to standards</a:t>
            </a:r>
          </a:p>
          <a:p>
            <a:pPr>
              <a:lnSpc>
                <a:spcPts val="16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Human-AI Patterns — Explainable, trustworthy AI</a:t>
            </a:r>
          </a:p>
        </p:txBody>
      </p:sp>
      <p:sp>
        <p:nvSpPr>
          <p:cNvPr id="128" name="Shape 32"/>
          <p:cNvSpPr/>
          <p:nvPr/>
        </p:nvSpPr>
        <p:spPr>
          <a:xfrm>
            <a:off x="4206240" y="4663440"/>
            <a:ext cx="457201" cy="1"/>
          </a:xfrm>
          <a:prstGeom prst="line">
            <a:avLst/>
          </a:prstGeom>
          <a:ln w="1905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33"/>
          <p:cNvSpPr/>
          <p:nvPr/>
        </p:nvSpPr>
        <p:spPr>
          <a:xfrm>
            <a:off x="4663440" y="4663440"/>
            <a:ext cx="457201" cy="1"/>
          </a:xfrm>
          <a:prstGeom prst="line">
            <a:avLst/>
          </a:prstGeom>
          <a:ln w="19050">
            <a:solidFill>
              <a:srgbClr val="FF6B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34"/>
          <p:cNvSpPr txBox="1"/>
          <p:nvPr/>
        </p:nvSpPr>
        <p:spPr>
          <a:xfrm>
            <a:off x="5257799" y="4549947"/>
            <a:ext cx="35661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Unified Knowledge Fabric enabling AI-ready collaboration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-1"/>
            <a:ext cx="4572000" cy="36578"/>
          </a:xfrm>
          <a:prstGeom prst="rect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"/>
          <p:cNvSpPr/>
          <p:nvPr/>
        </p:nvSpPr>
        <p:spPr>
          <a:xfrm>
            <a:off x="4572000" y="-1"/>
            <a:ext cx="4572000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2"/>
          <p:cNvSpPr txBox="1"/>
          <p:nvPr/>
        </p:nvSpPr>
        <p:spPr>
          <a:xfrm>
            <a:off x="320040" y="275127"/>
            <a:ext cx="81381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10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BENEFITS</a:t>
            </a:r>
          </a:p>
        </p:txBody>
      </p:sp>
      <p:sp>
        <p:nvSpPr>
          <p:cNvPr id="135" name="Text 3"/>
          <p:cNvSpPr txBox="1"/>
          <p:nvPr/>
        </p:nvSpPr>
        <p:spPr>
          <a:xfrm>
            <a:off x="320040" y="488416"/>
            <a:ext cx="813816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Your Working Group Gains</a:t>
            </a:r>
          </a:p>
        </p:txBody>
      </p:sp>
      <p:sp>
        <p:nvSpPr>
          <p:cNvPr id="136" name="Shape 4"/>
          <p:cNvSpPr/>
          <p:nvPr/>
        </p:nvSpPr>
        <p:spPr>
          <a:xfrm>
            <a:off x="365759" y="1051560"/>
            <a:ext cx="4160522" cy="1280161"/>
          </a:xfrm>
          <a:prstGeom prst="roundRect">
            <a:avLst>
              <a:gd name="adj" fmla="val 7143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5"/>
          <p:cNvSpPr/>
          <p:nvPr/>
        </p:nvSpPr>
        <p:spPr>
          <a:xfrm>
            <a:off x="548640" y="1234439"/>
            <a:ext cx="548641" cy="548641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6"/>
          <p:cNvSpPr txBox="1"/>
          <p:nvPr/>
        </p:nvSpPr>
        <p:spPr>
          <a:xfrm>
            <a:off x="594360" y="1272539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🧠</a:t>
            </a:r>
          </a:p>
        </p:txBody>
      </p:sp>
      <p:sp>
        <p:nvSpPr>
          <p:cNvPr id="139" name="Text 7"/>
          <p:cNvSpPr txBox="1"/>
          <p:nvPr/>
        </p:nvSpPr>
        <p:spPr>
          <a:xfrm>
            <a:off x="1280159" y="1272908"/>
            <a:ext cx="29260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Understanding</a:t>
            </a:r>
          </a:p>
        </p:txBody>
      </p:sp>
      <p:sp>
        <p:nvSpPr>
          <p:cNvPr id="140" name="Text 8"/>
          <p:cNvSpPr txBox="1"/>
          <p:nvPr/>
        </p:nvSpPr>
        <p:spPr>
          <a:xfrm>
            <a:off x="1280159" y="1645920"/>
            <a:ext cx="3017521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Shared conceptual models let WGs understand each other's domains without translation</a:t>
            </a:r>
          </a:p>
        </p:txBody>
      </p:sp>
      <p:sp>
        <p:nvSpPr>
          <p:cNvPr id="141" name="Shape 9"/>
          <p:cNvSpPr/>
          <p:nvPr/>
        </p:nvSpPr>
        <p:spPr>
          <a:xfrm>
            <a:off x="4617720" y="1051560"/>
            <a:ext cx="4160521" cy="1280161"/>
          </a:xfrm>
          <a:prstGeom prst="roundRect">
            <a:avLst>
              <a:gd name="adj" fmla="val 7143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hape 10"/>
          <p:cNvSpPr/>
          <p:nvPr/>
        </p:nvSpPr>
        <p:spPr>
          <a:xfrm>
            <a:off x="4800600" y="1234439"/>
            <a:ext cx="548641" cy="548641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11"/>
          <p:cNvSpPr txBox="1"/>
          <p:nvPr/>
        </p:nvSpPr>
        <p:spPr>
          <a:xfrm>
            <a:off x="4846319" y="1272539"/>
            <a:ext cx="45720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🔄</a:t>
            </a:r>
          </a:p>
        </p:txBody>
      </p:sp>
      <p:sp>
        <p:nvSpPr>
          <p:cNvPr id="144" name="Text 12"/>
          <p:cNvSpPr txBox="1"/>
          <p:nvPr/>
        </p:nvSpPr>
        <p:spPr>
          <a:xfrm>
            <a:off x="5532119" y="1272908"/>
            <a:ext cx="29260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Coordination</a:t>
            </a:r>
          </a:p>
        </p:txBody>
      </p:sp>
      <p:sp>
        <p:nvSpPr>
          <p:cNvPr id="145" name="Text 13"/>
          <p:cNvSpPr txBox="1"/>
          <p:nvPr/>
        </p:nvSpPr>
        <p:spPr>
          <a:xfrm>
            <a:off x="5532119" y="1645920"/>
            <a:ext cx="3017522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Enterprise knowledge graphs provide infrastructure for cross-group initiatives</a:t>
            </a:r>
          </a:p>
        </p:txBody>
      </p:sp>
      <p:sp>
        <p:nvSpPr>
          <p:cNvPr id="146" name="Shape 14"/>
          <p:cNvSpPr/>
          <p:nvPr/>
        </p:nvSpPr>
        <p:spPr>
          <a:xfrm>
            <a:off x="365759" y="2468879"/>
            <a:ext cx="4160522" cy="1280161"/>
          </a:xfrm>
          <a:prstGeom prst="roundRect">
            <a:avLst>
              <a:gd name="adj" fmla="val 7143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15"/>
          <p:cNvSpPr/>
          <p:nvPr/>
        </p:nvSpPr>
        <p:spPr>
          <a:xfrm>
            <a:off x="548640" y="2651760"/>
            <a:ext cx="548641" cy="548641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6"/>
          <p:cNvSpPr txBox="1"/>
          <p:nvPr/>
        </p:nvSpPr>
        <p:spPr>
          <a:xfrm>
            <a:off x="594360" y="2689860"/>
            <a:ext cx="45720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💬</a:t>
            </a:r>
          </a:p>
        </p:txBody>
      </p:sp>
      <p:sp>
        <p:nvSpPr>
          <p:cNvPr id="149" name="Text 17"/>
          <p:cNvSpPr txBox="1"/>
          <p:nvPr/>
        </p:nvSpPr>
        <p:spPr>
          <a:xfrm>
            <a:off x="1280159" y="2690228"/>
            <a:ext cx="29260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Communication</a:t>
            </a:r>
          </a:p>
        </p:txBody>
      </p:sp>
      <p:sp>
        <p:nvSpPr>
          <p:cNvPr id="150" name="Text 18"/>
          <p:cNvSpPr txBox="1"/>
          <p:nvPr/>
        </p:nvSpPr>
        <p:spPr>
          <a:xfrm>
            <a:off x="1280159" y="3063239"/>
            <a:ext cx="3017521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Unified semantic layer enables unambiguous communication across all 50+ WGs</a:t>
            </a:r>
          </a:p>
        </p:txBody>
      </p:sp>
      <p:sp>
        <p:nvSpPr>
          <p:cNvPr id="151" name="Shape 19"/>
          <p:cNvSpPr/>
          <p:nvPr/>
        </p:nvSpPr>
        <p:spPr>
          <a:xfrm>
            <a:off x="4617720" y="2468879"/>
            <a:ext cx="4160521" cy="1280161"/>
          </a:xfrm>
          <a:prstGeom prst="roundRect">
            <a:avLst>
              <a:gd name="adj" fmla="val 7143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20"/>
          <p:cNvSpPr/>
          <p:nvPr/>
        </p:nvSpPr>
        <p:spPr>
          <a:xfrm>
            <a:off x="4800600" y="2651760"/>
            <a:ext cx="548641" cy="548641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21"/>
          <p:cNvSpPr txBox="1"/>
          <p:nvPr/>
        </p:nvSpPr>
        <p:spPr>
          <a:xfrm>
            <a:off x="4846319" y="2689860"/>
            <a:ext cx="45720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🚀</a:t>
            </a:r>
          </a:p>
        </p:txBody>
      </p:sp>
      <p:sp>
        <p:nvSpPr>
          <p:cNvPr id="154" name="Text 22"/>
          <p:cNvSpPr txBox="1"/>
          <p:nvPr/>
        </p:nvSpPr>
        <p:spPr>
          <a:xfrm>
            <a:off x="5532119" y="2690228"/>
            <a:ext cx="292608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Impact</a:t>
            </a:r>
          </a:p>
        </p:txBody>
      </p:sp>
      <p:sp>
        <p:nvSpPr>
          <p:cNvPr id="155" name="Text 23"/>
          <p:cNvSpPr txBox="1"/>
          <p:nvPr/>
        </p:nvSpPr>
        <p:spPr>
          <a:xfrm>
            <a:off x="5532119" y="3063239"/>
            <a:ext cx="3017522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AI-enhanced decision-making with 40% improved accuracy through RAG 2.0</a:t>
            </a:r>
          </a:p>
        </p:txBody>
      </p:sp>
      <p:sp>
        <p:nvSpPr>
          <p:cNvPr id="156" name="Shape 24"/>
          <p:cNvSpPr/>
          <p:nvPr/>
        </p:nvSpPr>
        <p:spPr>
          <a:xfrm>
            <a:off x="365759" y="3886200"/>
            <a:ext cx="8412482" cy="777241"/>
          </a:xfrm>
          <a:prstGeom prst="roundRect">
            <a:avLst>
              <a:gd name="adj" fmla="val 9412"/>
            </a:avLst>
          </a:prstGeom>
          <a:solidFill>
            <a:srgbClr val="162942"/>
          </a:solidFill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25"/>
          <p:cNvSpPr txBox="1"/>
          <p:nvPr/>
        </p:nvSpPr>
        <p:spPr>
          <a:xfrm>
            <a:off x="960119" y="3972904"/>
            <a:ext cx="1280162" cy="375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50+</a:t>
            </a:r>
          </a:p>
        </p:txBody>
      </p:sp>
      <p:sp>
        <p:nvSpPr>
          <p:cNvPr id="158" name="Text 26"/>
          <p:cNvSpPr txBox="1"/>
          <p:nvPr/>
        </p:nvSpPr>
        <p:spPr>
          <a:xfrm>
            <a:off x="960119" y="4345777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WGs Connected</a:t>
            </a:r>
          </a:p>
        </p:txBody>
      </p:sp>
      <p:sp>
        <p:nvSpPr>
          <p:cNvPr id="159" name="Shape 27"/>
          <p:cNvSpPr/>
          <p:nvPr/>
        </p:nvSpPr>
        <p:spPr>
          <a:xfrm>
            <a:off x="2468879" y="4069079"/>
            <a:ext cx="1" cy="411481"/>
          </a:xfrm>
          <a:prstGeom prst="line">
            <a:avLst/>
          </a:prstGeom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28"/>
          <p:cNvSpPr txBox="1"/>
          <p:nvPr/>
        </p:nvSpPr>
        <p:spPr>
          <a:xfrm>
            <a:off x="3063240" y="3972904"/>
            <a:ext cx="1280161" cy="375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4.8x</a:t>
            </a:r>
          </a:p>
        </p:txBody>
      </p:sp>
      <p:sp>
        <p:nvSpPr>
          <p:cNvPr id="161" name="Text 29"/>
          <p:cNvSpPr txBox="1"/>
          <p:nvPr/>
        </p:nvSpPr>
        <p:spPr>
          <a:xfrm>
            <a:off x="3063240" y="4345777"/>
            <a:ext cx="12801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First-Year ROI</a:t>
            </a:r>
          </a:p>
        </p:txBody>
      </p:sp>
      <p:sp>
        <p:nvSpPr>
          <p:cNvPr id="162" name="Shape 30"/>
          <p:cNvSpPr/>
          <p:nvPr/>
        </p:nvSpPr>
        <p:spPr>
          <a:xfrm>
            <a:off x="4572000" y="4069079"/>
            <a:ext cx="0" cy="411481"/>
          </a:xfrm>
          <a:prstGeom prst="line">
            <a:avLst/>
          </a:prstGeom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31"/>
          <p:cNvSpPr txBox="1"/>
          <p:nvPr/>
        </p:nvSpPr>
        <p:spPr>
          <a:xfrm>
            <a:off x="5166360" y="3972904"/>
            <a:ext cx="1280161" cy="375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164" name="Text 32"/>
          <p:cNvSpPr txBox="1"/>
          <p:nvPr/>
        </p:nvSpPr>
        <p:spPr>
          <a:xfrm>
            <a:off x="5166360" y="4345777"/>
            <a:ext cx="12801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Accuracy Gain</a:t>
            </a:r>
          </a:p>
        </p:txBody>
      </p:sp>
      <p:sp>
        <p:nvSpPr>
          <p:cNvPr id="165" name="Shape 33"/>
          <p:cNvSpPr/>
          <p:nvPr/>
        </p:nvSpPr>
        <p:spPr>
          <a:xfrm>
            <a:off x="6675119" y="4069079"/>
            <a:ext cx="1" cy="411481"/>
          </a:xfrm>
          <a:prstGeom prst="line">
            <a:avLst/>
          </a:prstGeom>
          <a:ln w="6350">
            <a:solidFill>
              <a:srgbClr val="2A4A6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34"/>
          <p:cNvSpPr txBox="1"/>
          <p:nvPr/>
        </p:nvSpPr>
        <p:spPr>
          <a:xfrm>
            <a:off x="7269479" y="3972904"/>
            <a:ext cx="1280161" cy="375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" name="Text 35"/>
          <p:cNvSpPr txBox="1"/>
          <p:nvPr/>
        </p:nvSpPr>
        <p:spPr>
          <a:xfrm>
            <a:off x="7269479" y="4345777"/>
            <a:ext cx="12801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Unified Language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9070847" y="0"/>
            <a:ext cx="73153" cy="5148072"/>
          </a:xfrm>
          <a:prstGeom prst="rect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1"/>
          <p:cNvSpPr/>
          <p:nvPr/>
        </p:nvSpPr>
        <p:spPr>
          <a:xfrm>
            <a:off x="274320" y="3657600"/>
            <a:ext cx="1188720" cy="1188720"/>
          </a:xfrm>
          <a:prstGeom prst="ellipse">
            <a:avLst/>
          </a:prstGeom>
          <a:ln w="12700">
            <a:solidFill>
              <a:srgbClr val="00D4FF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2"/>
          <p:cNvSpPr/>
          <p:nvPr/>
        </p:nvSpPr>
        <p:spPr>
          <a:xfrm>
            <a:off x="548639" y="3931920"/>
            <a:ext cx="640082" cy="640081"/>
          </a:xfrm>
          <a:prstGeom prst="ellipse">
            <a:avLst/>
          </a:prstGeom>
          <a:ln w="12700">
            <a:solidFill>
              <a:srgbClr val="FF6B35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3"/>
          <p:cNvSpPr txBox="1"/>
          <p:nvPr/>
        </p:nvSpPr>
        <p:spPr>
          <a:xfrm>
            <a:off x="502919" y="942292"/>
            <a:ext cx="813816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300" sz="12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ASK</a:t>
            </a:r>
          </a:p>
        </p:txBody>
      </p:sp>
      <p:sp>
        <p:nvSpPr>
          <p:cNvPr id="173" name="Text 4"/>
          <p:cNvSpPr txBox="1"/>
          <p:nvPr/>
        </p:nvSpPr>
        <p:spPr>
          <a:xfrm>
            <a:off x="502919" y="1268173"/>
            <a:ext cx="8138162" cy="57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Join Us in Building the Future</a:t>
            </a:r>
          </a:p>
        </p:txBody>
      </p:sp>
      <p:sp>
        <p:nvSpPr>
          <p:cNvPr id="174" name="Shape 5"/>
          <p:cNvSpPr/>
          <p:nvPr/>
        </p:nvSpPr>
        <p:spPr>
          <a:xfrm>
            <a:off x="1188719" y="2011679"/>
            <a:ext cx="2194562" cy="1828801"/>
          </a:xfrm>
          <a:prstGeom prst="roundRect">
            <a:avLst>
              <a:gd name="adj" fmla="val 5000"/>
            </a:avLst>
          </a:prstGeom>
          <a:solidFill>
            <a:srgbClr val="162942">
              <a:alpha val="30000"/>
            </a:srgbClr>
          </a:solidFill>
          <a:ln w="12700">
            <a:solidFill>
              <a:srgbClr val="00D4FF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6"/>
          <p:cNvSpPr/>
          <p:nvPr/>
        </p:nvSpPr>
        <p:spPr>
          <a:xfrm>
            <a:off x="1965960" y="2194560"/>
            <a:ext cx="502921" cy="502921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7"/>
          <p:cNvSpPr txBox="1"/>
          <p:nvPr/>
        </p:nvSpPr>
        <p:spPr>
          <a:xfrm>
            <a:off x="2011680" y="2270688"/>
            <a:ext cx="41148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7" name="Text 8"/>
          <p:cNvSpPr txBox="1"/>
          <p:nvPr/>
        </p:nvSpPr>
        <p:spPr>
          <a:xfrm>
            <a:off x="1234439" y="2850248"/>
            <a:ext cx="210312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Participate</a:t>
            </a:r>
          </a:p>
        </p:txBody>
      </p:sp>
      <p:sp>
        <p:nvSpPr>
          <p:cNvPr id="178" name="Text 9"/>
          <p:cNvSpPr txBox="1"/>
          <p:nvPr/>
        </p:nvSpPr>
        <p:spPr>
          <a:xfrm>
            <a:off x="1371600" y="3154679"/>
            <a:ext cx="1828801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Share your WG's key terms, concepts, and pain points</a:t>
            </a:r>
          </a:p>
        </p:txBody>
      </p:sp>
      <p:sp>
        <p:nvSpPr>
          <p:cNvPr id="179" name="Shape 10"/>
          <p:cNvSpPr/>
          <p:nvPr/>
        </p:nvSpPr>
        <p:spPr>
          <a:xfrm>
            <a:off x="3657600" y="2011679"/>
            <a:ext cx="2194561" cy="1828801"/>
          </a:xfrm>
          <a:prstGeom prst="roundRect">
            <a:avLst>
              <a:gd name="adj" fmla="val 5000"/>
            </a:avLst>
          </a:prstGeom>
          <a:solidFill>
            <a:srgbClr val="162942">
              <a:alpha val="30000"/>
            </a:srgbClr>
          </a:solidFill>
          <a:ln w="12700">
            <a:solidFill>
              <a:srgbClr val="FF6B35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11"/>
          <p:cNvSpPr/>
          <p:nvPr/>
        </p:nvSpPr>
        <p:spPr>
          <a:xfrm>
            <a:off x="4434840" y="2194560"/>
            <a:ext cx="502921" cy="502921"/>
          </a:xfrm>
          <a:prstGeom prst="ellipse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12"/>
          <p:cNvSpPr txBox="1"/>
          <p:nvPr/>
        </p:nvSpPr>
        <p:spPr>
          <a:xfrm>
            <a:off x="4480560" y="2270688"/>
            <a:ext cx="41148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2" name="Text 13"/>
          <p:cNvSpPr txBox="1"/>
          <p:nvPr/>
        </p:nvSpPr>
        <p:spPr>
          <a:xfrm>
            <a:off x="3703319" y="2850248"/>
            <a:ext cx="210312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Collaborate</a:t>
            </a:r>
          </a:p>
        </p:txBody>
      </p:sp>
      <p:sp>
        <p:nvSpPr>
          <p:cNvPr id="183" name="Text 14"/>
          <p:cNvSpPr txBox="1"/>
          <p:nvPr/>
        </p:nvSpPr>
        <p:spPr>
          <a:xfrm>
            <a:off x="3840479" y="3154679"/>
            <a:ext cx="1828801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Join our cross-WG sessions to map connections</a:t>
            </a:r>
          </a:p>
        </p:txBody>
      </p:sp>
      <p:sp>
        <p:nvSpPr>
          <p:cNvPr id="184" name="Shape 15"/>
          <p:cNvSpPr/>
          <p:nvPr/>
        </p:nvSpPr>
        <p:spPr>
          <a:xfrm>
            <a:off x="6126479" y="2011679"/>
            <a:ext cx="2194561" cy="1828801"/>
          </a:xfrm>
          <a:prstGeom prst="roundRect">
            <a:avLst>
              <a:gd name="adj" fmla="val 5000"/>
            </a:avLst>
          </a:prstGeom>
          <a:solidFill>
            <a:srgbClr val="162942">
              <a:alpha val="30000"/>
            </a:srgbClr>
          </a:solidFill>
          <a:ln w="12700">
            <a:solidFill>
              <a:srgbClr val="00D4FF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16"/>
          <p:cNvSpPr/>
          <p:nvPr/>
        </p:nvSpPr>
        <p:spPr>
          <a:xfrm>
            <a:off x="6903719" y="2194560"/>
            <a:ext cx="502921" cy="502921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7"/>
          <p:cNvSpPr txBox="1"/>
          <p:nvPr/>
        </p:nvSpPr>
        <p:spPr>
          <a:xfrm>
            <a:off x="6949439" y="2270688"/>
            <a:ext cx="41148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7" name="Text 18"/>
          <p:cNvSpPr txBox="1"/>
          <p:nvPr/>
        </p:nvSpPr>
        <p:spPr>
          <a:xfrm>
            <a:off x="6172199" y="2850248"/>
            <a:ext cx="210312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Champion</a:t>
            </a:r>
          </a:p>
        </p:txBody>
      </p:sp>
      <p:sp>
        <p:nvSpPr>
          <p:cNvPr id="188" name="Text 19"/>
          <p:cNvSpPr txBox="1"/>
          <p:nvPr/>
        </p:nvSpPr>
        <p:spPr>
          <a:xfrm>
            <a:off x="6309360" y="3154679"/>
            <a:ext cx="1828801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 a liaison between KSWG and your Working Group</a:t>
            </a:r>
          </a:p>
        </p:txBody>
      </p:sp>
      <p:sp>
        <p:nvSpPr>
          <p:cNvPr id="189" name="Shape 20"/>
          <p:cNvSpPr/>
          <p:nvPr/>
        </p:nvSpPr>
        <p:spPr>
          <a:xfrm>
            <a:off x="2743199" y="4160520"/>
            <a:ext cx="640081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21"/>
          <p:cNvSpPr txBox="1"/>
          <p:nvPr/>
        </p:nvSpPr>
        <p:spPr>
          <a:xfrm>
            <a:off x="3520440" y="4040884"/>
            <a:ext cx="210312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Let's talk after the session</a:t>
            </a:r>
          </a:p>
        </p:txBody>
      </p:sp>
      <p:sp>
        <p:nvSpPr>
          <p:cNvPr id="191" name="Shape 22"/>
          <p:cNvSpPr/>
          <p:nvPr/>
        </p:nvSpPr>
        <p:spPr>
          <a:xfrm>
            <a:off x="5760720" y="4160520"/>
            <a:ext cx="640081" cy="1"/>
          </a:xfrm>
          <a:prstGeom prst="line">
            <a:avLst/>
          </a:prstGeom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23"/>
          <p:cNvSpPr txBox="1"/>
          <p:nvPr/>
        </p:nvSpPr>
        <p:spPr>
          <a:xfrm>
            <a:off x="2331719" y="4352866"/>
            <a:ext cx="4480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KSWG Team</a:t>
            </a:r>
          </a:p>
        </p:txBody>
      </p:sp>
      <p:sp>
        <p:nvSpPr>
          <p:cNvPr id="193" name="Text 24"/>
          <p:cNvSpPr txBox="1"/>
          <p:nvPr/>
        </p:nvSpPr>
        <p:spPr>
          <a:xfrm>
            <a:off x="320040" y="4813691"/>
            <a:ext cx="448056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8BA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Knowledge Systems Working Group • INCOSE IW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
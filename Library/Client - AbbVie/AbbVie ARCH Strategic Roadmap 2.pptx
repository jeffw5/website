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png" ContentType="image/pn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7475200" cy="9753600"/>
  <p:notesSz cx="17475200" cy="9753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435100"/>
            <a:ext cx="17335500" cy="83185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79476" y="502708"/>
            <a:ext cx="9562465" cy="14243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555"/>
              </a:lnSpc>
            </a:pPr>
            <a:r>
              <a:rPr dirty="0"/>
              <a:t>G</a:t>
            </a:r>
            <a:r>
              <a:rPr dirty="0" spc="490"/>
              <a:t> </a:t>
            </a:r>
            <a:r>
              <a:rPr dirty="0" spc="-10"/>
              <a:t>NotebookLM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9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555"/>
              </a:lnSpc>
            </a:pPr>
            <a:r>
              <a:rPr dirty="0"/>
              <a:t>G</a:t>
            </a:r>
            <a:r>
              <a:rPr dirty="0" spc="490"/>
              <a:t> </a:t>
            </a:r>
            <a:r>
              <a:rPr dirty="0" spc="-10"/>
              <a:t>NotebookLM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3500" y="2209800"/>
            <a:ext cx="14808200" cy="66421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2025936" y="2534730"/>
            <a:ext cx="5335270" cy="52768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50" b="0" i="0">
                <a:solidFill>
                  <a:srgbClr val="051C46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555"/>
              </a:lnSpc>
            </a:pPr>
            <a:r>
              <a:rPr dirty="0"/>
              <a:t>G</a:t>
            </a:r>
            <a:r>
              <a:rPr dirty="0" spc="490"/>
              <a:t> </a:t>
            </a:r>
            <a:r>
              <a:rPr dirty="0" spc="-10"/>
              <a:t>NotebookLM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555"/>
              </a:lnSpc>
            </a:pPr>
            <a:r>
              <a:rPr dirty="0"/>
              <a:t>G</a:t>
            </a:r>
            <a:r>
              <a:rPr dirty="0" spc="490"/>
              <a:t> </a:t>
            </a:r>
            <a:r>
              <a:rPr dirty="0" spc="-10"/>
              <a:t>NotebookLM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555"/>
              </a:lnSpc>
            </a:pPr>
            <a:r>
              <a:rPr dirty="0"/>
              <a:t>G</a:t>
            </a:r>
            <a:r>
              <a:rPr dirty="0" spc="490"/>
              <a:t> </a:t>
            </a:r>
            <a:r>
              <a:rPr dirty="0" spc="-10"/>
              <a:t>NotebookLM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0854" y="556683"/>
            <a:ext cx="10424795" cy="1555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84800" y="3280833"/>
            <a:ext cx="7739380" cy="5330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6107423" y="9455853"/>
            <a:ext cx="1232534" cy="2127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555"/>
              </a:lnSpc>
            </a:pPr>
            <a:r>
              <a:rPr dirty="0"/>
              <a:t>G</a:t>
            </a:r>
            <a:r>
              <a:rPr dirty="0" spc="490"/>
              <a:t> </a:t>
            </a:r>
            <a:r>
              <a:rPr dirty="0" spc="-10"/>
              <a:t>NotebookLM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image" Target="../media/image7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Relationship Id="rId3" Type="http://schemas.openxmlformats.org/officeDocument/2006/relationships/image" Target="../media/image9.jpg"/><Relationship Id="rId4" Type="http://schemas.openxmlformats.org/officeDocument/2006/relationships/image" Target="../media/image10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jpg"/><Relationship Id="rId10" Type="http://schemas.openxmlformats.org/officeDocument/2006/relationships/image" Target="../media/image24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jpg"/><Relationship Id="rId3" Type="http://schemas.openxmlformats.org/officeDocument/2006/relationships/image" Target="../media/image27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jp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jp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jpg"/><Relationship Id="rId8" Type="http://schemas.openxmlformats.org/officeDocument/2006/relationships/image" Target="../media/image35.jp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jpg"/><Relationship Id="rId3" Type="http://schemas.openxmlformats.org/officeDocument/2006/relationships/image" Target="../media/image37.png"/><Relationship Id="rId4" Type="http://schemas.openxmlformats.org/officeDocument/2006/relationships/image" Target="../media/image38.jpg"/><Relationship Id="rId5" Type="http://schemas.openxmlformats.org/officeDocument/2006/relationships/image" Target="../media/image39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jp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jpg"/><Relationship Id="rId3" Type="http://schemas.openxmlformats.org/officeDocument/2006/relationships/image" Target="../media/image42.jpg"/><Relationship Id="rId4" Type="http://schemas.openxmlformats.org/officeDocument/2006/relationships/image" Target="../media/image43.jpg"/><Relationship Id="rId5" Type="http://schemas.openxmlformats.org/officeDocument/2006/relationships/image" Target="../media/image44.jp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ts val="5480"/>
              </a:lnSpc>
              <a:spcBef>
                <a:spcPts val="90"/>
              </a:spcBef>
            </a:pPr>
            <a:r>
              <a:rPr dirty="0" sz="4800" spc="-30">
                <a:solidFill>
                  <a:srgbClr val="0A214B"/>
                </a:solidFill>
              </a:rPr>
              <a:t>Building</a:t>
            </a:r>
            <a:r>
              <a:rPr dirty="0" sz="4800" spc="-254">
                <a:solidFill>
                  <a:srgbClr val="0A214B"/>
                </a:solidFill>
              </a:rPr>
              <a:t> </a:t>
            </a:r>
            <a:r>
              <a:rPr dirty="0" sz="4800" spc="85">
                <a:solidFill>
                  <a:srgbClr val="05183A"/>
                </a:solidFill>
              </a:rPr>
              <a:t>the</a:t>
            </a:r>
            <a:r>
              <a:rPr dirty="0" sz="4800" spc="-345">
                <a:solidFill>
                  <a:srgbClr val="05183A"/>
                </a:solidFill>
              </a:rPr>
              <a:t> </a:t>
            </a:r>
            <a:r>
              <a:rPr dirty="0" sz="4800">
                <a:solidFill>
                  <a:srgbClr val="082149"/>
                </a:solidFill>
              </a:rPr>
              <a:t>Architectural</a:t>
            </a:r>
            <a:r>
              <a:rPr dirty="0" sz="4800" spc="-55">
                <a:solidFill>
                  <a:srgbClr val="082149"/>
                </a:solidFill>
              </a:rPr>
              <a:t> </a:t>
            </a:r>
            <a:r>
              <a:rPr dirty="0" sz="4800" spc="-10">
                <a:solidFill>
                  <a:srgbClr val="081836"/>
                </a:solidFill>
              </a:rPr>
              <a:t>Bridge</a:t>
            </a:r>
            <a:endParaRPr sz="4800"/>
          </a:p>
          <a:p>
            <a:pPr marL="13335">
              <a:lnSpc>
                <a:spcPts val="5540"/>
              </a:lnSpc>
            </a:pPr>
            <a:r>
              <a:rPr dirty="0" sz="4850">
                <a:solidFill>
                  <a:srgbClr val="081C3B"/>
                </a:solidFill>
              </a:rPr>
              <a:t>for</a:t>
            </a:r>
            <a:r>
              <a:rPr dirty="0" sz="4850" spc="-305">
                <a:solidFill>
                  <a:srgbClr val="081C3B"/>
                </a:solidFill>
              </a:rPr>
              <a:t> </a:t>
            </a:r>
            <a:r>
              <a:rPr dirty="0" sz="4850" spc="-110">
                <a:solidFill>
                  <a:srgbClr val="051A3B"/>
                </a:solidFill>
              </a:rPr>
              <a:t>AbbVie's</a:t>
            </a:r>
            <a:r>
              <a:rPr dirty="0" sz="4850" spc="-229">
                <a:solidFill>
                  <a:srgbClr val="051A3B"/>
                </a:solidFill>
              </a:rPr>
              <a:t> </a:t>
            </a:r>
            <a:r>
              <a:rPr dirty="0" sz="4850" spc="-250">
                <a:solidFill>
                  <a:srgbClr val="071638"/>
                </a:solidFill>
              </a:rPr>
              <a:t>R&amp;D</a:t>
            </a:r>
            <a:r>
              <a:rPr dirty="0" sz="4850" spc="-350">
                <a:solidFill>
                  <a:srgbClr val="071638"/>
                </a:solidFill>
              </a:rPr>
              <a:t> </a:t>
            </a:r>
            <a:r>
              <a:rPr dirty="0" sz="4850" spc="-45">
                <a:solidFill>
                  <a:srgbClr val="0A2146"/>
                </a:solidFill>
              </a:rPr>
              <a:t>Convergence</a:t>
            </a:r>
            <a:r>
              <a:rPr dirty="0" sz="4850" spc="25">
                <a:solidFill>
                  <a:srgbClr val="0A2146"/>
                </a:solidFill>
              </a:rPr>
              <a:t> </a:t>
            </a:r>
            <a:r>
              <a:rPr dirty="0" sz="4850" spc="-25">
                <a:solidFill>
                  <a:srgbClr val="0F2142"/>
                </a:solidFill>
              </a:rPr>
              <a:t>Hub</a:t>
            </a:r>
            <a:endParaRPr sz="4850"/>
          </a:p>
        </p:txBody>
      </p:sp>
      <p:sp>
        <p:nvSpPr>
          <p:cNvPr id="3" name="object 3"/>
          <p:cNvSpPr txBox="1"/>
          <p:nvPr/>
        </p:nvSpPr>
        <p:spPr>
          <a:xfrm>
            <a:off x="686752" y="2139950"/>
            <a:ext cx="7226300" cy="1129030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algn="just" marL="12700" marR="5080" indent="12065">
              <a:lnSpc>
                <a:spcPct val="95600"/>
              </a:lnSpc>
              <a:spcBef>
                <a:spcPts val="229"/>
              </a:spcBef>
            </a:pPr>
            <a:r>
              <a:rPr dirty="0" sz="2500" spc="-300">
                <a:solidFill>
                  <a:srgbClr val="3B3B3B"/>
                </a:solidFill>
                <a:latin typeface="Arial"/>
                <a:cs typeface="Arial"/>
              </a:rPr>
              <a:t>A</a:t>
            </a:r>
            <a:r>
              <a:rPr dirty="0" sz="2500" spc="55">
                <a:solidFill>
                  <a:srgbClr val="3B3B3B"/>
                </a:solidFill>
                <a:latin typeface="Arial"/>
                <a:cs typeface="Arial"/>
              </a:rPr>
              <a:t> </a:t>
            </a:r>
            <a:r>
              <a:rPr dirty="0" sz="2500" spc="-35">
                <a:solidFill>
                  <a:srgbClr val="383838"/>
                </a:solidFill>
                <a:latin typeface="Arial"/>
                <a:cs typeface="Arial"/>
              </a:rPr>
              <a:t>strategic</a:t>
            </a:r>
            <a:r>
              <a:rPr dirty="0" sz="2500" spc="16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2500" spc="-75">
                <a:solidFill>
                  <a:srgbClr val="3B3B3B"/>
                </a:solidFill>
                <a:latin typeface="Arial"/>
                <a:cs typeface="Arial"/>
              </a:rPr>
              <a:t>roadmap</a:t>
            </a:r>
            <a:r>
              <a:rPr dirty="0" sz="2500" spc="155">
                <a:solidFill>
                  <a:srgbClr val="3B3B3B"/>
                </a:solidFill>
                <a:latin typeface="Arial"/>
                <a:cs typeface="Arial"/>
              </a:rPr>
              <a:t> </a:t>
            </a:r>
            <a:r>
              <a:rPr dirty="0" sz="2500" spc="-5">
                <a:solidFill>
                  <a:srgbClr val="444444"/>
                </a:solidFill>
                <a:latin typeface="Arial"/>
                <a:cs typeface="Arial"/>
              </a:rPr>
              <a:t>t</a:t>
            </a:r>
            <a:r>
              <a:rPr dirty="0" sz="2500">
                <a:solidFill>
                  <a:srgbClr val="444444"/>
                </a:solidFill>
                <a:latin typeface="Arial"/>
                <a:cs typeface="Arial"/>
              </a:rPr>
              <a:t>o </a:t>
            </a:r>
            <a:r>
              <a:rPr dirty="0" sz="2500" spc="-50">
                <a:solidFill>
                  <a:srgbClr val="383838"/>
                </a:solidFill>
                <a:latin typeface="Arial"/>
                <a:cs typeface="Arial"/>
              </a:rPr>
              <a:t>transform</a:t>
            </a:r>
            <a:r>
              <a:rPr dirty="0" sz="2500" spc="22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2500" spc="-55">
                <a:solidFill>
                  <a:srgbClr val="383838"/>
                </a:solidFill>
                <a:latin typeface="Arial"/>
                <a:cs typeface="Arial"/>
              </a:rPr>
              <a:t>disparate</a:t>
            </a:r>
            <a:r>
              <a:rPr dirty="0" sz="2500" spc="235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2500" spc="-80">
                <a:solidFill>
                  <a:srgbClr val="3F3F3F"/>
                </a:solidFill>
                <a:latin typeface="Arial"/>
                <a:cs typeface="Arial"/>
              </a:rPr>
              <a:t>data</a:t>
            </a:r>
            <a:r>
              <a:rPr dirty="0" sz="2500" spc="5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2500" spc="5">
                <a:solidFill>
                  <a:srgbClr val="3B3B3B"/>
                </a:solidFill>
                <a:latin typeface="Arial"/>
                <a:cs typeface="Arial"/>
              </a:rPr>
              <a:t>into</a:t>
            </a:r>
            <a:r>
              <a:rPr dirty="0" sz="2500">
                <a:solidFill>
                  <a:srgbClr val="3B3B3B"/>
                </a:solidFill>
                <a:latin typeface="Arial"/>
                <a:cs typeface="Arial"/>
              </a:rPr>
              <a:t> </a:t>
            </a:r>
            <a:r>
              <a:rPr dirty="0" sz="2550" spc="-300">
                <a:solidFill>
                  <a:srgbClr val="3D3D3D"/>
                </a:solidFill>
                <a:latin typeface="Arial"/>
                <a:cs typeface="Arial"/>
              </a:rPr>
              <a:t>a</a:t>
            </a:r>
            <a:r>
              <a:rPr dirty="0" sz="2550" spc="90">
                <a:solidFill>
                  <a:srgbClr val="3D3D3D"/>
                </a:solidFill>
                <a:latin typeface="Arial"/>
                <a:cs typeface="Arial"/>
              </a:rPr>
              <a:t> </a:t>
            </a:r>
            <a:r>
              <a:rPr dirty="0" sz="2550" spc="-50">
                <a:solidFill>
                  <a:srgbClr val="313131"/>
                </a:solidFill>
                <a:latin typeface="Arial"/>
                <a:cs typeface="Arial"/>
              </a:rPr>
              <a:t>unified</a:t>
            </a:r>
            <a:r>
              <a:rPr dirty="0" sz="2550" spc="45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2550" spc="-120">
                <a:solidFill>
                  <a:srgbClr val="2D2D2D"/>
                </a:solidFill>
                <a:latin typeface="Arial"/>
                <a:cs typeface="Arial"/>
              </a:rPr>
              <a:t>Semantic</a:t>
            </a:r>
            <a:r>
              <a:rPr dirty="0" sz="2550" spc="275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dirty="0" sz="2550" spc="-170">
                <a:solidFill>
                  <a:srgbClr val="363636"/>
                </a:solidFill>
                <a:latin typeface="Arial"/>
                <a:cs typeface="Arial"/>
              </a:rPr>
              <a:t>Layer</a:t>
            </a:r>
            <a:r>
              <a:rPr dirty="0" sz="2550" spc="215">
                <a:solidFill>
                  <a:srgbClr val="363636"/>
                </a:solidFill>
                <a:latin typeface="Arial"/>
                <a:cs typeface="Arial"/>
              </a:rPr>
              <a:t> </a:t>
            </a:r>
            <a:r>
              <a:rPr dirty="0" sz="2550" spc="-70">
                <a:solidFill>
                  <a:srgbClr val="383838"/>
                </a:solidFill>
                <a:latin typeface="Arial"/>
                <a:cs typeface="Arial"/>
              </a:rPr>
              <a:t>powering</a:t>
            </a:r>
            <a:r>
              <a:rPr dirty="0" sz="2550" spc="19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2550" spc="-40">
                <a:solidFill>
                  <a:srgbClr val="2D2D2D"/>
                </a:solidFill>
                <a:latin typeface="Arial"/>
                <a:cs typeface="Arial"/>
              </a:rPr>
              <a:t>nallucination-free</a:t>
            </a:r>
            <a:r>
              <a:rPr dirty="0" sz="2550" spc="-3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dirty="0" sz="2400" spc="-165">
                <a:solidFill>
                  <a:srgbClr val="363636"/>
                </a:solidFill>
                <a:latin typeface="Arial"/>
                <a:cs typeface="Arial"/>
              </a:rPr>
              <a:t>AI</a:t>
            </a:r>
            <a:r>
              <a:rPr dirty="0" sz="2400" spc="90">
                <a:solidFill>
                  <a:srgbClr val="363636"/>
                </a:solidFill>
                <a:latin typeface="Arial"/>
                <a:cs typeface="Arial"/>
              </a:rPr>
              <a:t> </a:t>
            </a:r>
            <a:r>
              <a:rPr dirty="0" sz="2400" spc="-45">
                <a:solidFill>
                  <a:srgbClr val="3A3A3A"/>
                </a:solidFill>
                <a:latin typeface="Arial"/>
                <a:cs typeface="Arial"/>
              </a:rPr>
              <a:t>and</a:t>
            </a:r>
            <a:r>
              <a:rPr dirty="0" sz="2400" spc="65">
                <a:solidFill>
                  <a:srgbClr val="3A3A3A"/>
                </a:solidFill>
                <a:latin typeface="Arial"/>
                <a:cs typeface="Arial"/>
              </a:rPr>
              <a:t> </a:t>
            </a:r>
            <a:r>
              <a:rPr dirty="0" sz="2400" spc="20">
                <a:solidFill>
                  <a:srgbClr val="343434"/>
                </a:solidFill>
                <a:latin typeface="Arial"/>
                <a:cs typeface="Arial"/>
              </a:rPr>
              <a:t>intuitive</a:t>
            </a:r>
            <a:r>
              <a:rPr dirty="0" sz="2400" spc="135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2400" spc="-40">
                <a:solidFill>
                  <a:srgbClr val="3A3A3A"/>
                </a:solidFill>
                <a:latin typeface="Arial"/>
                <a:cs typeface="Arial"/>
              </a:rPr>
              <a:t>user</a:t>
            </a:r>
            <a:r>
              <a:rPr dirty="0" sz="2400" spc="155">
                <a:solidFill>
                  <a:srgbClr val="3A3A3A"/>
                </a:solidFill>
                <a:latin typeface="Arial"/>
                <a:cs typeface="Arial"/>
              </a:rPr>
              <a:t> </a:t>
            </a:r>
            <a:r>
              <a:rPr dirty="0" sz="2400" spc="-30">
                <a:solidFill>
                  <a:srgbClr val="333333"/>
                </a:solidFill>
                <a:latin typeface="Arial"/>
                <a:cs typeface="Arial"/>
              </a:rPr>
              <a:t>experiences.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46200" y="392288"/>
            <a:ext cx="11880215" cy="1388745"/>
          </a:xfrm>
          <a:prstGeom prst="rect"/>
        </p:spPr>
        <p:txBody>
          <a:bodyPr wrap="square" lIns="0" tIns="132080" rIns="0" bIns="0" rtlCol="0" vert="horz">
            <a:spAutoFit/>
          </a:bodyPr>
          <a:lstStyle/>
          <a:p>
            <a:pPr marL="24130" marR="5080" indent="-12065">
              <a:lnSpc>
                <a:spcPts val="4900"/>
              </a:lnSpc>
              <a:spcBef>
                <a:spcPts val="1040"/>
              </a:spcBef>
            </a:pPr>
            <a:r>
              <a:rPr dirty="0" sz="4850" spc="-150">
                <a:solidFill>
                  <a:srgbClr val="112650"/>
                </a:solidFill>
              </a:rPr>
              <a:t>The</a:t>
            </a:r>
            <a:r>
              <a:rPr dirty="0" sz="4850" spc="-360">
                <a:solidFill>
                  <a:srgbClr val="112650"/>
                </a:solidFill>
              </a:rPr>
              <a:t> </a:t>
            </a:r>
            <a:r>
              <a:rPr dirty="0" sz="4850" spc="-40">
                <a:solidFill>
                  <a:srgbClr val="05183D"/>
                </a:solidFill>
              </a:rPr>
              <a:t>Mandate</a:t>
            </a:r>
            <a:r>
              <a:rPr dirty="0" sz="4850" spc="-300">
                <a:solidFill>
                  <a:srgbClr val="05183D"/>
                </a:solidFill>
              </a:rPr>
              <a:t> </a:t>
            </a:r>
            <a:r>
              <a:rPr dirty="0" sz="4850" spc="-10">
                <a:solidFill>
                  <a:srgbClr val="05163B"/>
                </a:solidFill>
              </a:rPr>
              <a:t>for</a:t>
            </a:r>
            <a:r>
              <a:rPr dirty="0" sz="4850" spc="-325">
                <a:solidFill>
                  <a:srgbClr val="05163B"/>
                </a:solidFill>
              </a:rPr>
              <a:t> </a:t>
            </a:r>
            <a:r>
              <a:rPr dirty="0" sz="4850" spc="-195">
                <a:solidFill>
                  <a:srgbClr val="03163B"/>
                </a:solidFill>
              </a:rPr>
              <a:t>a</a:t>
            </a:r>
            <a:r>
              <a:rPr dirty="0" sz="4850" spc="-375">
                <a:solidFill>
                  <a:srgbClr val="03163B"/>
                </a:solidFill>
              </a:rPr>
              <a:t> </a:t>
            </a:r>
            <a:r>
              <a:rPr dirty="0" sz="4850" spc="-40">
                <a:solidFill>
                  <a:srgbClr val="071841"/>
                </a:solidFill>
              </a:rPr>
              <a:t>Unified</a:t>
            </a:r>
            <a:r>
              <a:rPr dirty="0" sz="4850" spc="-300">
                <a:solidFill>
                  <a:srgbClr val="071841"/>
                </a:solidFill>
              </a:rPr>
              <a:t> </a:t>
            </a:r>
            <a:r>
              <a:rPr dirty="0" sz="4850" spc="-60">
                <a:solidFill>
                  <a:srgbClr val="081A3F"/>
                </a:solidFill>
              </a:rPr>
              <a:t>Connective</a:t>
            </a:r>
            <a:r>
              <a:rPr dirty="0" sz="4850" spc="-225">
                <a:solidFill>
                  <a:srgbClr val="081A3F"/>
                </a:solidFill>
              </a:rPr>
              <a:t> </a:t>
            </a:r>
            <a:r>
              <a:rPr dirty="0" sz="4850" spc="-65">
                <a:solidFill>
                  <a:srgbClr val="07183D"/>
                </a:solidFill>
              </a:rPr>
              <a:t>Tissue </a:t>
            </a:r>
            <a:r>
              <a:rPr dirty="0" sz="4850" spc="-10">
                <a:solidFill>
                  <a:srgbClr val="0A1A3B"/>
                </a:solidFill>
              </a:rPr>
              <a:t>in</a:t>
            </a:r>
            <a:r>
              <a:rPr dirty="0" sz="4850" spc="-365">
                <a:solidFill>
                  <a:srgbClr val="0A1A3B"/>
                </a:solidFill>
              </a:rPr>
              <a:t> </a:t>
            </a:r>
            <a:r>
              <a:rPr dirty="0" sz="4850" spc="-90">
                <a:solidFill>
                  <a:srgbClr val="07183D"/>
                </a:solidFill>
              </a:rPr>
              <a:t>Drug</a:t>
            </a:r>
            <a:r>
              <a:rPr dirty="0" sz="4850" spc="-350">
                <a:solidFill>
                  <a:srgbClr val="07183D"/>
                </a:solidFill>
              </a:rPr>
              <a:t> </a:t>
            </a:r>
            <a:r>
              <a:rPr dirty="0" sz="4850" spc="-10">
                <a:solidFill>
                  <a:srgbClr val="071C46"/>
                </a:solidFill>
              </a:rPr>
              <a:t>Discovery</a:t>
            </a:r>
            <a:endParaRPr sz="4850"/>
          </a:p>
        </p:txBody>
      </p:sp>
      <p:sp>
        <p:nvSpPr>
          <p:cNvPr id="3" name="object 3"/>
          <p:cNvSpPr txBox="1">
            <a:spLocks noGrp="1"/>
          </p:cNvSpPr>
          <p:nvPr>
            <p:ph idx="2" sz="half"/>
          </p:nvPr>
        </p:nvSpPr>
        <p:spPr>
          <a:prstGeom prst="rect"/>
        </p:spPr>
        <p:txBody>
          <a:bodyPr wrap="square" lIns="0" tIns="558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dirty="0" spc="-135">
                <a:solidFill>
                  <a:srgbClr val="0A214B"/>
                </a:solidFill>
              </a:rPr>
              <a:t>The</a:t>
            </a:r>
            <a:r>
              <a:rPr dirty="0" spc="-204">
                <a:solidFill>
                  <a:srgbClr val="0A214B"/>
                </a:solidFill>
              </a:rPr>
              <a:t> </a:t>
            </a:r>
            <a:r>
              <a:rPr dirty="0" spc="-20"/>
              <a:t>Goal</a:t>
            </a:r>
          </a:p>
          <a:p>
            <a:pPr marL="29209" marR="93345" indent="2540">
              <a:lnSpc>
                <a:spcPts val="3200"/>
              </a:lnSpc>
              <a:spcBef>
                <a:spcPts val="930"/>
              </a:spcBef>
            </a:pPr>
            <a:r>
              <a:rPr dirty="0" sz="3250" spc="-200">
                <a:solidFill>
                  <a:srgbClr val="000000"/>
                </a:solidFill>
                <a:latin typeface="Arial"/>
                <a:cs typeface="Arial"/>
              </a:rPr>
              <a:t>Act</a:t>
            </a:r>
            <a:r>
              <a:rPr dirty="0" sz="3250" spc="-14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3250" spc="-260">
                <a:solidFill>
                  <a:srgbClr val="000000"/>
                </a:solidFill>
                <a:latin typeface="Arial"/>
                <a:cs typeface="Arial"/>
              </a:rPr>
              <a:t>as</a:t>
            </a:r>
            <a:r>
              <a:rPr dirty="0" sz="3250" spc="-14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3250" spc="-16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dirty="0" sz="3250" spc="-22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3250" spc="-175">
                <a:solidFill>
                  <a:srgbClr val="000000"/>
                </a:solidFill>
                <a:latin typeface="Arial"/>
                <a:cs typeface="Arial"/>
              </a:rPr>
              <a:t>architectural</a:t>
            </a:r>
            <a:r>
              <a:rPr dirty="0" sz="325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3250" spc="-10">
                <a:solidFill>
                  <a:srgbClr val="000000"/>
                </a:solidFill>
                <a:latin typeface="Arial"/>
                <a:cs typeface="Arial"/>
              </a:rPr>
              <a:t>bridge </a:t>
            </a:r>
            <a:r>
              <a:rPr dirty="0" sz="3200" spc="-180">
                <a:solidFill>
                  <a:srgbClr val="000000"/>
                </a:solidFill>
                <a:latin typeface="Arial"/>
                <a:cs typeface="Arial"/>
              </a:rPr>
              <a:t>between</a:t>
            </a:r>
            <a:r>
              <a:rPr dirty="0" sz="3200" spc="-2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3200" spc="-240">
                <a:solidFill>
                  <a:srgbClr val="000000"/>
                </a:solidFill>
                <a:latin typeface="Arial"/>
                <a:cs typeface="Arial"/>
              </a:rPr>
              <a:t>AbbVie's</a:t>
            </a:r>
            <a:r>
              <a:rPr dirty="0" sz="3200" spc="-7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3200" spc="-229">
                <a:solidFill>
                  <a:srgbClr val="000000"/>
                </a:solidFill>
                <a:latin typeface="Arial"/>
                <a:cs typeface="Arial"/>
              </a:rPr>
              <a:t>vast</a:t>
            </a:r>
            <a:r>
              <a:rPr dirty="0" sz="3200" spc="-1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3200" spc="-365">
                <a:solidFill>
                  <a:srgbClr val="000000"/>
                </a:solidFill>
                <a:latin typeface="Arial"/>
                <a:cs typeface="Arial"/>
              </a:rPr>
              <a:t>R&amp;D</a:t>
            </a:r>
            <a:r>
              <a:rPr dirty="0" sz="3200" spc="-15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3200" spc="-130">
                <a:solidFill>
                  <a:srgbClr val="000000"/>
                </a:solidFill>
                <a:latin typeface="Arial"/>
                <a:cs typeface="Arial"/>
              </a:rPr>
              <a:t>data </a:t>
            </a:r>
            <a:r>
              <a:rPr dirty="0" sz="3200" spc="-190">
                <a:solidFill>
                  <a:srgbClr val="000000"/>
                </a:solidFill>
                <a:latin typeface="Arial"/>
                <a:cs typeface="Arial"/>
              </a:rPr>
              <a:t>and</a:t>
            </a:r>
            <a:r>
              <a:rPr dirty="0" sz="3200" spc="-13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3200" spc="-155">
                <a:solidFill>
                  <a:srgbClr val="000000"/>
                </a:solidFill>
                <a:latin typeface="Arial"/>
                <a:cs typeface="Arial"/>
              </a:rPr>
              <a:t>Al-</a:t>
            </a:r>
            <a:r>
              <a:rPr dirty="0" sz="3200" spc="-170">
                <a:solidFill>
                  <a:srgbClr val="000000"/>
                </a:solidFill>
                <a:latin typeface="Arial"/>
                <a:cs typeface="Arial"/>
              </a:rPr>
              <a:t>driven</a:t>
            </a:r>
            <a:r>
              <a:rPr dirty="0" sz="3200" spc="-10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3200" spc="-35">
                <a:solidFill>
                  <a:srgbClr val="000000"/>
                </a:solidFill>
                <a:latin typeface="Arial"/>
                <a:cs typeface="Arial"/>
              </a:rPr>
              <a:t>insights.</a:t>
            </a:r>
            <a:endParaRPr sz="3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50"/>
              </a:spcBef>
            </a:pPr>
            <a:endParaRPr sz="3200">
              <a:latin typeface="Arial"/>
              <a:cs typeface="Arial"/>
            </a:endParaRPr>
          </a:p>
          <a:p>
            <a:pPr marL="128270">
              <a:lnSpc>
                <a:spcPts val="5350"/>
              </a:lnSpc>
            </a:pPr>
            <a:r>
              <a:rPr dirty="0" sz="4500" spc="-210">
                <a:solidFill>
                  <a:srgbClr val="051C42"/>
                </a:solidFill>
                <a:latin typeface="Trebuchet MS"/>
                <a:cs typeface="Trebuchet MS"/>
              </a:rPr>
              <a:t>The</a:t>
            </a:r>
            <a:r>
              <a:rPr dirty="0" sz="4500" spc="-425">
                <a:solidFill>
                  <a:srgbClr val="051C42"/>
                </a:solidFill>
                <a:latin typeface="Trebuchet MS"/>
                <a:cs typeface="Trebuchet MS"/>
              </a:rPr>
              <a:t> </a:t>
            </a:r>
            <a:r>
              <a:rPr dirty="0" sz="4500" spc="-80">
                <a:solidFill>
                  <a:srgbClr val="011844"/>
                </a:solidFill>
                <a:latin typeface="Trebuchet MS"/>
                <a:cs typeface="Trebuchet MS"/>
              </a:rPr>
              <a:t>Output</a:t>
            </a:r>
            <a:endParaRPr sz="4500">
              <a:latin typeface="Trebuchet MS"/>
              <a:cs typeface="Trebuchet MS"/>
            </a:endParaRPr>
          </a:p>
          <a:p>
            <a:pPr marL="125095" marR="5080" indent="3810">
              <a:lnSpc>
                <a:spcPct val="75700"/>
              </a:lnSpc>
              <a:spcBef>
                <a:spcPts val="985"/>
              </a:spcBef>
            </a:pPr>
            <a:r>
              <a:rPr dirty="0" sz="3550" spc="-405">
                <a:solidFill>
                  <a:srgbClr val="000000"/>
                </a:solidFill>
                <a:latin typeface="Trebuchet MS"/>
                <a:cs typeface="Trebuchet MS"/>
              </a:rPr>
              <a:t>Transform</a:t>
            </a:r>
            <a:r>
              <a:rPr dirty="0" sz="3550" spc="-24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3550" spc="-375">
                <a:solidFill>
                  <a:srgbClr val="000000"/>
                </a:solidFill>
                <a:latin typeface="Trebuchet MS"/>
                <a:cs typeface="Trebuchet MS"/>
              </a:rPr>
              <a:t>the</a:t>
            </a:r>
            <a:r>
              <a:rPr dirty="0" sz="3550" spc="-335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3550" spc="-360">
                <a:solidFill>
                  <a:srgbClr val="000000"/>
                </a:solidFill>
                <a:latin typeface="Trebuchet MS"/>
                <a:cs typeface="Trebuchet MS"/>
              </a:rPr>
              <a:t>AbbVie</a:t>
            </a:r>
            <a:r>
              <a:rPr dirty="0" sz="3550" spc="-28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3550" spc="-345">
                <a:solidFill>
                  <a:srgbClr val="000000"/>
                </a:solidFill>
                <a:latin typeface="Trebuchet MS"/>
                <a:cs typeface="Trebuchet MS"/>
              </a:rPr>
              <a:t>R&amp;D </a:t>
            </a:r>
            <a:r>
              <a:rPr dirty="0" sz="3550" spc="-340">
                <a:solidFill>
                  <a:srgbClr val="000000"/>
                </a:solidFill>
                <a:latin typeface="Trebuchet MS"/>
                <a:cs typeface="Trebuchet MS"/>
              </a:rPr>
              <a:t>Convergence</a:t>
            </a:r>
            <a:r>
              <a:rPr dirty="0" sz="3550" spc="-3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3550" spc="-275">
                <a:solidFill>
                  <a:srgbClr val="000000"/>
                </a:solidFill>
                <a:latin typeface="Trebuchet MS"/>
                <a:cs typeface="Trebuchet MS"/>
              </a:rPr>
              <a:t>Hub(ARCH)</a:t>
            </a:r>
            <a:r>
              <a:rPr dirty="0" sz="3550" spc="-17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3550" spc="-415">
                <a:solidFill>
                  <a:srgbClr val="000000"/>
                </a:solidFill>
                <a:latin typeface="Trebuchet MS"/>
                <a:cs typeface="Trebuchet MS"/>
              </a:rPr>
              <a:t>into</a:t>
            </a:r>
            <a:r>
              <a:rPr dirty="0" sz="3550" spc="-345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3550" spc="-330">
                <a:solidFill>
                  <a:srgbClr val="000000"/>
                </a:solidFill>
                <a:latin typeface="Trebuchet MS"/>
                <a:cs typeface="Trebuchet MS"/>
              </a:rPr>
              <a:t>a </a:t>
            </a:r>
            <a:r>
              <a:rPr dirty="0" sz="3550" spc="-340">
                <a:solidFill>
                  <a:srgbClr val="000000"/>
                </a:solidFill>
                <a:latin typeface="Trebuchet MS"/>
                <a:cs typeface="Trebuchet MS"/>
              </a:rPr>
              <a:t>robust</a:t>
            </a:r>
            <a:r>
              <a:rPr dirty="0" sz="3550" spc="-25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3550" spc="-335">
                <a:solidFill>
                  <a:srgbClr val="000000"/>
                </a:solidFill>
                <a:latin typeface="Trebuchet MS"/>
                <a:cs typeface="Trebuchet MS"/>
              </a:rPr>
              <a:t>Semantic</a:t>
            </a:r>
            <a:r>
              <a:rPr dirty="0" sz="3550" spc="-245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3550" spc="-450">
                <a:solidFill>
                  <a:srgbClr val="000000"/>
                </a:solidFill>
                <a:latin typeface="Trebuchet MS"/>
                <a:cs typeface="Trebuchet MS"/>
              </a:rPr>
              <a:t>Layer.</a:t>
            </a:r>
            <a:endParaRPr sz="355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89750" y="2550184"/>
            <a:ext cx="5048250" cy="1677670"/>
          </a:xfrm>
          <a:prstGeom prst="rect">
            <a:avLst/>
          </a:prstGeom>
        </p:spPr>
        <p:txBody>
          <a:bodyPr wrap="square" lIns="0" tIns="72390" rIns="0" bIns="0" rtlCol="0" vert="horz">
            <a:spAutoFit/>
          </a:bodyPr>
          <a:lstStyle/>
          <a:p>
            <a:pPr marL="14604">
              <a:lnSpc>
                <a:spcPct val="100000"/>
              </a:lnSpc>
              <a:spcBef>
                <a:spcPts val="570"/>
              </a:spcBef>
            </a:pPr>
            <a:r>
              <a:rPr dirty="0" sz="4300" spc="-45">
                <a:solidFill>
                  <a:srgbClr val="051C46"/>
                </a:solidFill>
                <a:latin typeface="Trebuchet MS"/>
                <a:cs typeface="Trebuchet MS"/>
              </a:rPr>
              <a:t>The</a:t>
            </a:r>
            <a:r>
              <a:rPr dirty="0" sz="4300" spc="-280">
                <a:solidFill>
                  <a:srgbClr val="051C46"/>
                </a:solidFill>
                <a:latin typeface="Trebuchet MS"/>
                <a:cs typeface="Trebuchet MS"/>
              </a:rPr>
              <a:t> </a:t>
            </a:r>
            <a:r>
              <a:rPr dirty="0" sz="4300" spc="-10">
                <a:solidFill>
                  <a:srgbClr val="051C49"/>
                </a:solidFill>
                <a:latin typeface="Trebuchet MS"/>
                <a:cs typeface="Trebuchet MS"/>
              </a:rPr>
              <a:t>Method</a:t>
            </a:r>
            <a:endParaRPr sz="4300">
              <a:latin typeface="Trebuchet MS"/>
              <a:cs typeface="Trebuchet MS"/>
            </a:endParaRPr>
          </a:p>
          <a:p>
            <a:pPr marL="12700" marR="5080" indent="6985">
              <a:lnSpc>
                <a:spcPts val="3200"/>
              </a:lnSpc>
              <a:spcBef>
                <a:spcPts val="980"/>
              </a:spcBef>
            </a:pPr>
            <a:r>
              <a:rPr dirty="0" sz="3200" spc="-185">
                <a:latin typeface="Arial"/>
                <a:cs typeface="Arial"/>
              </a:rPr>
              <a:t>Apply</a:t>
            </a:r>
            <a:r>
              <a:rPr dirty="0" sz="3200" spc="-95">
                <a:latin typeface="Arial"/>
                <a:cs typeface="Arial"/>
              </a:rPr>
              <a:t> </a:t>
            </a:r>
            <a:r>
              <a:rPr dirty="0" sz="3200" spc="-160">
                <a:latin typeface="Arial"/>
                <a:cs typeface="Arial"/>
              </a:rPr>
              <a:t>Model-</a:t>
            </a:r>
            <a:r>
              <a:rPr dirty="0" sz="3200" spc="-165">
                <a:latin typeface="Arial"/>
                <a:cs typeface="Arial"/>
              </a:rPr>
              <a:t>Based</a:t>
            </a:r>
            <a:r>
              <a:rPr dirty="0" sz="3200" spc="40">
                <a:latin typeface="Arial"/>
                <a:cs typeface="Arial"/>
              </a:rPr>
              <a:t> </a:t>
            </a:r>
            <a:r>
              <a:rPr dirty="0" sz="3200" spc="-10">
                <a:latin typeface="Arial"/>
                <a:cs typeface="Arial"/>
              </a:rPr>
              <a:t>Systems </a:t>
            </a:r>
            <a:r>
              <a:rPr dirty="0" sz="3200" spc="-165">
                <a:latin typeface="Arial"/>
                <a:cs typeface="Arial"/>
              </a:rPr>
              <a:t>Engineering</a:t>
            </a:r>
            <a:r>
              <a:rPr dirty="0" sz="3200" spc="-45">
                <a:latin typeface="Arial"/>
                <a:cs typeface="Arial"/>
              </a:rPr>
              <a:t> </a:t>
            </a:r>
            <a:r>
              <a:rPr dirty="0" sz="3200" spc="-340">
                <a:latin typeface="Arial"/>
                <a:cs typeface="Arial"/>
              </a:rPr>
              <a:t>(MBSE}</a:t>
            </a:r>
            <a:r>
              <a:rPr dirty="0" sz="3200" spc="60">
                <a:latin typeface="Arial"/>
                <a:cs typeface="Arial"/>
              </a:rPr>
              <a:t> </a:t>
            </a:r>
            <a:r>
              <a:rPr dirty="0" sz="3200" spc="-105">
                <a:latin typeface="Arial"/>
                <a:cs typeface="Arial"/>
              </a:rPr>
              <a:t>principles.</a:t>
            </a:r>
            <a:endParaRPr sz="3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288321" y="5751336"/>
            <a:ext cx="6338570" cy="24688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5875">
              <a:lnSpc>
                <a:spcPts val="5325"/>
              </a:lnSpc>
              <a:spcBef>
                <a:spcPts val="110"/>
              </a:spcBef>
            </a:pPr>
            <a:r>
              <a:rPr dirty="0" sz="4500" spc="-185">
                <a:solidFill>
                  <a:srgbClr val="031A41"/>
                </a:solidFill>
                <a:latin typeface="Trebuchet MS"/>
                <a:cs typeface="Trebuchet MS"/>
              </a:rPr>
              <a:t>The</a:t>
            </a:r>
            <a:r>
              <a:rPr dirty="0" sz="4500" spc="-630">
                <a:solidFill>
                  <a:srgbClr val="031A41"/>
                </a:solidFill>
                <a:latin typeface="Trebuchet MS"/>
                <a:cs typeface="Trebuchet MS"/>
              </a:rPr>
              <a:t> </a:t>
            </a:r>
            <a:r>
              <a:rPr dirty="0" sz="4500" spc="-10">
                <a:solidFill>
                  <a:srgbClr val="051C44"/>
                </a:solidFill>
                <a:latin typeface="Trebuchet MS"/>
                <a:cs typeface="Trebuchet MS"/>
              </a:rPr>
              <a:t>Impact</a:t>
            </a:r>
            <a:endParaRPr sz="4500">
              <a:latin typeface="Trebuchet MS"/>
              <a:cs typeface="Trebuchet MS"/>
            </a:endParaRPr>
          </a:p>
          <a:p>
            <a:pPr marL="15875" marR="5080" indent="-3810">
              <a:lnSpc>
                <a:spcPct val="74500"/>
              </a:lnSpc>
              <a:spcBef>
                <a:spcPts val="1030"/>
              </a:spcBef>
            </a:pPr>
            <a:r>
              <a:rPr dirty="0" sz="3600" spc="-445">
                <a:latin typeface="Trebuchet MS"/>
                <a:cs typeface="Trebuchet MS"/>
              </a:rPr>
              <a:t>Power</a:t>
            </a:r>
            <a:r>
              <a:rPr dirty="0" sz="3600" spc="-125">
                <a:latin typeface="Trebuchet MS"/>
                <a:cs typeface="Trebuchet MS"/>
              </a:rPr>
              <a:t> </a:t>
            </a:r>
            <a:r>
              <a:rPr dirty="0" sz="3600" spc="-375">
                <a:latin typeface="Trebuchet MS"/>
                <a:cs typeface="Trebuchet MS"/>
              </a:rPr>
              <a:t>hallucination-</a:t>
            </a:r>
            <a:r>
              <a:rPr dirty="0" sz="3600" spc="-390">
                <a:latin typeface="Trebuchet MS"/>
                <a:cs typeface="Trebuchet MS"/>
              </a:rPr>
              <a:t>free</a:t>
            </a:r>
            <a:r>
              <a:rPr dirty="0" sz="3600" spc="-254">
                <a:latin typeface="Trebuchet MS"/>
                <a:cs typeface="Trebuchet MS"/>
              </a:rPr>
              <a:t> </a:t>
            </a:r>
            <a:r>
              <a:rPr dirty="0" sz="3600" spc="-215">
                <a:latin typeface="Trebuchet MS"/>
                <a:cs typeface="Trebuchet MS"/>
              </a:rPr>
              <a:t>AI</a:t>
            </a:r>
            <a:r>
              <a:rPr dirty="0" sz="3600" spc="-530">
                <a:latin typeface="Trebuchet MS"/>
                <a:cs typeface="Trebuchet MS"/>
              </a:rPr>
              <a:t> </a:t>
            </a:r>
            <a:r>
              <a:rPr dirty="0" sz="3600" spc="-385">
                <a:latin typeface="Trebuchet MS"/>
                <a:cs typeface="Trebuchet MS"/>
              </a:rPr>
              <a:t>and</a:t>
            </a:r>
            <a:r>
              <a:rPr dirty="0" sz="3600" spc="900">
                <a:latin typeface="Trebuchet MS"/>
                <a:cs typeface="Trebuchet MS"/>
              </a:rPr>
              <a:t> </a:t>
            </a:r>
            <a:r>
              <a:rPr dirty="0" sz="3600" spc="-459">
                <a:latin typeface="Trebuchet MS"/>
                <a:cs typeface="Trebuchet MS"/>
              </a:rPr>
              <a:t>intuitive</a:t>
            </a:r>
            <a:r>
              <a:rPr dirty="0" sz="3600" spc="-295">
                <a:latin typeface="Trebuchet MS"/>
                <a:cs typeface="Trebuchet MS"/>
              </a:rPr>
              <a:t> </a:t>
            </a:r>
            <a:r>
              <a:rPr dirty="0" sz="3600" spc="-310">
                <a:latin typeface="Trebuchet MS"/>
                <a:cs typeface="Trebuchet MS"/>
              </a:rPr>
              <a:t>user</a:t>
            </a:r>
            <a:r>
              <a:rPr dirty="0" sz="3600" spc="-345">
                <a:latin typeface="Trebuchet MS"/>
                <a:cs typeface="Trebuchet MS"/>
              </a:rPr>
              <a:t> </a:t>
            </a:r>
            <a:r>
              <a:rPr dirty="0" sz="3600" spc="-375">
                <a:latin typeface="Trebuchet MS"/>
                <a:cs typeface="Trebuchet MS"/>
              </a:rPr>
              <a:t>experiences</a:t>
            </a:r>
            <a:r>
              <a:rPr dirty="0" sz="3600" spc="-240">
                <a:latin typeface="Trebuchet MS"/>
                <a:cs typeface="Trebuchet MS"/>
              </a:rPr>
              <a:t> </a:t>
            </a:r>
            <a:r>
              <a:rPr dirty="0" sz="3600" spc="-425">
                <a:latin typeface="Trebuchet MS"/>
                <a:cs typeface="Trebuchet MS"/>
              </a:rPr>
              <a:t>for</a:t>
            </a:r>
            <a:r>
              <a:rPr dirty="0" sz="3600" spc="-380">
                <a:latin typeface="Trebuchet MS"/>
                <a:cs typeface="Trebuchet MS"/>
              </a:rPr>
              <a:t> </a:t>
            </a:r>
            <a:r>
              <a:rPr dirty="0" sz="3600" spc="-345">
                <a:latin typeface="Trebuchet MS"/>
                <a:cs typeface="Trebuchet MS"/>
              </a:rPr>
              <a:t>scientists, </a:t>
            </a:r>
            <a:r>
              <a:rPr dirty="0" sz="3600" spc="-385">
                <a:latin typeface="Trebuchet MS"/>
                <a:cs typeface="Trebuchet MS"/>
              </a:rPr>
              <a:t>practitioners,</a:t>
            </a:r>
            <a:r>
              <a:rPr dirty="0" sz="3600" spc="-670">
                <a:latin typeface="Trebuchet MS"/>
                <a:cs typeface="Trebuchet MS"/>
              </a:rPr>
              <a:t> </a:t>
            </a:r>
            <a:r>
              <a:rPr dirty="0" sz="3600" spc="-395">
                <a:latin typeface="Trebuchet MS"/>
                <a:cs typeface="Trebuchet MS"/>
              </a:rPr>
              <a:t>and</a:t>
            </a:r>
            <a:r>
              <a:rPr dirty="0" sz="3600" spc="-370">
                <a:latin typeface="Trebuchet MS"/>
                <a:cs typeface="Trebuchet MS"/>
              </a:rPr>
              <a:t> </a:t>
            </a:r>
            <a:r>
              <a:rPr dirty="0" sz="3600" spc="-400">
                <a:latin typeface="Trebuchet MS"/>
                <a:cs typeface="Trebuchet MS"/>
              </a:rPr>
              <a:t>patients</a:t>
            </a:r>
            <a:r>
              <a:rPr dirty="0" sz="3600" spc="-165">
                <a:latin typeface="Trebuchet MS"/>
                <a:cs typeface="Trebuchet MS"/>
              </a:rPr>
              <a:t> </a:t>
            </a:r>
            <a:r>
              <a:rPr dirty="0" sz="3600" spc="-430">
                <a:latin typeface="Trebuchet MS"/>
                <a:cs typeface="Trebuchet MS"/>
              </a:rPr>
              <a:t>over</a:t>
            </a:r>
            <a:r>
              <a:rPr dirty="0" sz="3600" spc="-370">
                <a:latin typeface="Trebuchet MS"/>
                <a:cs typeface="Trebuchet MS"/>
              </a:rPr>
              <a:t> </a:t>
            </a:r>
            <a:r>
              <a:rPr dirty="0" sz="3600" spc="-450">
                <a:latin typeface="Trebuchet MS"/>
                <a:cs typeface="Trebuchet MS"/>
              </a:rPr>
              <a:t>a </a:t>
            </a:r>
            <a:r>
              <a:rPr dirty="0" sz="3600" spc="-340">
                <a:latin typeface="Trebuchet MS"/>
                <a:cs typeface="Trebuchet MS"/>
              </a:rPr>
              <a:t>precise</a:t>
            </a:r>
            <a:r>
              <a:rPr dirty="0" sz="3600" spc="-360">
                <a:latin typeface="Trebuchet MS"/>
                <a:cs typeface="Trebuchet MS"/>
              </a:rPr>
              <a:t> </a:t>
            </a:r>
            <a:r>
              <a:rPr dirty="0" sz="3600" spc="-345">
                <a:latin typeface="Trebuchet MS"/>
                <a:cs typeface="Trebuchet MS"/>
              </a:rPr>
              <a:t>24-</a:t>
            </a:r>
            <a:r>
              <a:rPr dirty="0" sz="3600" spc="-415">
                <a:latin typeface="Trebuchet MS"/>
                <a:cs typeface="Trebuchet MS"/>
              </a:rPr>
              <a:t>month</a:t>
            </a:r>
            <a:r>
              <a:rPr dirty="0" sz="3600" spc="-200">
                <a:latin typeface="Trebuchet MS"/>
                <a:cs typeface="Trebuchet MS"/>
              </a:rPr>
              <a:t> </a:t>
            </a:r>
            <a:r>
              <a:rPr dirty="0" sz="3600" spc="-409">
                <a:latin typeface="Trebuchet MS"/>
                <a:cs typeface="Trebuchet MS"/>
              </a:rPr>
              <a:t>execution</a:t>
            </a:r>
            <a:r>
              <a:rPr dirty="0" sz="3600" spc="-315">
                <a:latin typeface="Trebuchet MS"/>
                <a:cs typeface="Trebuchet MS"/>
              </a:rPr>
              <a:t> </a:t>
            </a:r>
            <a:r>
              <a:rPr dirty="0" sz="3600" spc="-475">
                <a:latin typeface="Trebuchet MS"/>
                <a:cs typeface="Trebuchet MS"/>
              </a:rPr>
              <a:t>timeline.</a:t>
            </a:r>
            <a:endParaRPr sz="3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0800" y="1943100"/>
            <a:ext cx="5435600" cy="68707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23100" y="1930400"/>
            <a:ext cx="1130300" cy="6883400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661345" y="398638"/>
            <a:ext cx="14481175" cy="76644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4850" spc="-235">
                <a:solidFill>
                  <a:srgbClr val="0C214B"/>
                </a:solidFill>
              </a:rPr>
              <a:t>A</a:t>
            </a:r>
            <a:r>
              <a:rPr dirty="0" sz="4850" spc="-370">
                <a:solidFill>
                  <a:srgbClr val="0C214B"/>
                </a:solidFill>
              </a:rPr>
              <a:t> </a:t>
            </a:r>
            <a:r>
              <a:rPr dirty="0" sz="4850" spc="-125">
                <a:solidFill>
                  <a:srgbClr val="081F44"/>
                </a:solidFill>
              </a:rPr>
              <a:t>Four-</a:t>
            </a:r>
            <a:r>
              <a:rPr dirty="0" sz="4850" spc="-20">
                <a:solidFill>
                  <a:srgbClr val="081F44"/>
                </a:solidFill>
              </a:rPr>
              <a:t>Layer</a:t>
            </a:r>
            <a:r>
              <a:rPr dirty="0" sz="4850" spc="-245">
                <a:solidFill>
                  <a:srgbClr val="081F44"/>
                </a:solidFill>
              </a:rPr>
              <a:t> </a:t>
            </a:r>
            <a:r>
              <a:rPr dirty="0" sz="4850">
                <a:solidFill>
                  <a:srgbClr val="081A3F"/>
                </a:solidFill>
              </a:rPr>
              <a:t>Blueprint</a:t>
            </a:r>
            <a:r>
              <a:rPr dirty="0" sz="4850" spc="-180">
                <a:solidFill>
                  <a:srgbClr val="081A3F"/>
                </a:solidFill>
              </a:rPr>
              <a:t> </a:t>
            </a:r>
            <a:r>
              <a:rPr dirty="0" sz="4850">
                <a:solidFill>
                  <a:srgbClr val="0C1F46"/>
                </a:solidFill>
              </a:rPr>
              <a:t>for</a:t>
            </a:r>
            <a:r>
              <a:rPr dirty="0" sz="4850" spc="-325">
                <a:solidFill>
                  <a:srgbClr val="0C1F46"/>
                </a:solidFill>
              </a:rPr>
              <a:t> </a:t>
            </a:r>
            <a:r>
              <a:rPr dirty="0" sz="4850" spc="-20">
                <a:solidFill>
                  <a:srgbClr val="051A3B"/>
                </a:solidFill>
              </a:rPr>
              <a:t>Actionable</a:t>
            </a:r>
            <a:r>
              <a:rPr dirty="0" sz="4850" spc="-165">
                <a:solidFill>
                  <a:srgbClr val="051A3B"/>
                </a:solidFill>
              </a:rPr>
              <a:t> </a:t>
            </a:r>
            <a:r>
              <a:rPr dirty="0" sz="4850" spc="-280">
                <a:solidFill>
                  <a:srgbClr val="081F48"/>
                </a:solidFill>
              </a:rPr>
              <a:t>R&amp;D</a:t>
            </a:r>
            <a:r>
              <a:rPr dirty="0" sz="4850" spc="-459">
                <a:solidFill>
                  <a:srgbClr val="081F48"/>
                </a:solidFill>
              </a:rPr>
              <a:t> </a:t>
            </a:r>
            <a:r>
              <a:rPr dirty="0" sz="4850" spc="-10">
                <a:solidFill>
                  <a:srgbClr val="0C2146"/>
                </a:solidFill>
              </a:rPr>
              <a:t>Intelligence</a:t>
            </a:r>
            <a:endParaRPr sz="4850"/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55"/>
              </a:lnSpc>
            </a:pPr>
            <a:r>
              <a:rPr dirty="0"/>
              <a:t>G</a:t>
            </a:r>
            <a:r>
              <a:rPr dirty="0" spc="490"/>
              <a:t> </a:t>
            </a:r>
            <a:r>
              <a:rPr dirty="0" spc="-10"/>
              <a:t>NotebookLM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423672" y="2097263"/>
            <a:ext cx="7671434" cy="64198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9050">
              <a:lnSpc>
                <a:spcPts val="3270"/>
              </a:lnSpc>
              <a:spcBef>
                <a:spcPts val="135"/>
              </a:spcBef>
            </a:pPr>
            <a:r>
              <a:rPr dirty="0" sz="2950" spc="-85">
                <a:solidFill>
                  <a:srgbClr val="0C1634"/>
                </a:solidFill>
                <a:latin typeface="Arial"/>
                <a:cs typeface="Arial"/>
              </a:rPr>
              <a:t>Layer</a:t>
            </a:r>
            <a:r>
              <a:rPr dirty="0" sz="2950" spc="-10">
                <a:solidFill>
                  <a:srgbClr val="0C1634"/>
                </a:solidFill>
                <a:latin typeface="Arial"/>
                <a:cs typeface="Arial"/>
              </a:rPr>
              <a:t> </a:t>
            </a:r>
            <a:r>
              <a:rPr dirty="0" sz="2950" spc="-20">
                <a:solidFill>
                  <a:srgbClr val="03112F"/>
                </a:solidFill>
                <a:latin typeface="Arial"/>
                <a:cs typeface="Arial"/>
              </a:rPr>
              <a:t>4:</a:t>
            </a:r>
            <a:r>
              <a:rPr dirty="0" sz="2950" spc="-315">
                <a:solidFill>
                  <a:srgbClr val="03112F"/>
                </a:solidFill>
                <a:latin typeface="Arial"/>
                <a:cs typeface="Arial"/>
              </a:rPr>
              <a:t> </a:t>
            </a:r>
            <a:r>
              <a:rPr dirty="0" sz="2950" spc="-40">
                <a:solidFill>
                  <a:srgbClr val="030E26"/>
                </a:solidFill>
                <a:latin typeface="Arial"/>
                <a:cs typeface="Arial"/>
              </a:rPr>
              <a:t>Patient</a:t>
            </a:r>
            <a:r>
              <a:rPr dirty="0" sz="2950" spc="-165">
                <a:solidFill>
                  <a:srgbClr val="030E26"/>
                </a:solidFill>
                <a:latin typeface="Arial"/>
                <a:cs typeface="Arial"/>
              </a:rPr>
              <a:t> </a:t>
            </a:r>
            <a:r>
              <a:rPr dirty="0" sz="2950" spc="195">
                <a:solidFill>
                  <a:srgbClr val="000E2D"/>
                </a:solidFill>
                <a:latin typeface="Arial"/>
                <a:cs typeface="Arial"/>
              </a:rPr>
              <a:t>&amp;</a:t>
            </a:r>
            <a:r>
              <a:rPr dirty="0" sz="2950" spc="-465">
                <a:solidFill>
                  <a:srgbClr val="000E2D"/>
                </a:solidFill>
                <a:latin typeface="Arial"/>
                <a:cs typeface="Arial"/>
              </a:rPr>
              <a:t> </a:t>
            </a:r>
            <a:r>
              <a:rPr dirty="0" sz="2950">
                <a:solidFill>
                  <a:srgbClr val="0A132F"/>
                </a:solidFill>
                <a:latin typeface="Arial"/>
                <a:cs typeface="Arial"/>
              </a:rPr>
              <a:t>Practitioner-Centric</a:t>
            </a:r>
            <a:r>
              <a:rPr dirty="0" sz="2950" spc="-229">
                <a:solidFill>
                  <a:srgbClr val="0A132F"/>
                </a:solidFill>
                <a:latin typeface="Arial"/>
                <a:cs typeface="Arial"/>
              </a:rPr>
              <a:t> </a:t>
            </a:r>
            <a:r>
              <a:rPr dirty="0" sz="2950" spc="-195">
                <a:solidFill>
                  <a:srgbClr val="010A26"/>
                </a:solidFill>
                <a:latin typeface="Arial"/>
                <a:cs typeface="Arial"/>
              </a:rPr>
              <a:t>UX</a:t>
            </a:r>
            <a:r>
              <a:rPr dirty="0" sz="2950" spc="-65">
                <a:solidFill>
                  <a:srgbClr val="010A26"/>
                </a:solidFill>
                <a:latin typeface="Arial"/>
                <a:cs typeface="Arial"/>
              </a:rPr>
              <a:t> </a:t>
            </a:r>
            <a:r>
              <a:rPr dirty="0" sz="2950" spc="-55">
                <a:solidFill>
                  <a:srgbClr val="030F2F"/>
                </a:solidFill>
                <a:latin typeface="Arial"/>
                <a:cs typeface="Arial"/>
              </a:rPr>
              <a:t>Layer</a:t>
            </a:r>
            <a:endParaRPr sz="2950">
              <a:latin typeface="Arial"/>
              <a:cs typeface="Arial"/>
            </a:endParaRPr>
          </a:p>
          <a:p>
            <a:pPr marL="17145" marR="1462405" indent="-3175">
              <a:lnSpc>
                <a:spcPct val="73900"/>
              </a:lnSpc>
              <a:spcBef>
                <a:spcPts val="840"/>
              </a:spcBef>
            </a:pPr>
            <a:r>
              <a:rPr dirty="0" sz="3550" spc="-420">
                <a:latin typeface="Trebuchet MS"/>
                <a:cs typeface="Trebuchet MS"/>
              </a:rPr>
              <a:t>Delivers</a:t>
            </a:r>
            <a:r>
              <a:rPr dirty="0" sz="3550" spc="-295">
                <a:latin typeface="Trebuchet MS"/>
                <a:cs typeface="Trebuchet MS"/>
              </a:rPr>
              <a:t> </a:t>
            </a:r>
            <a:r>
              <a:rPr dirty="0" sz="3550" spc="-475">
                <a:latin typeface="Trebuchet MS"/>
                <a:cs typeface="Trebuchet MS"/>
              </a:rPr>
              <a:t>tailored</a:t>
            </a:r>
            <a:r>
              <a:rPr dirty="0" sz="3550" spc="-315">
                <a:latin typeface="Trebuchet MS"/>
                <a:cs typeface="Trebuchet MS"/>
              </a:rPr>
              <a:t> </a:t>
            </a:r>
            <a:r>
              <a:rPr dirty="0" sz="3550" spc="-455">
                <a:latin typeface="Trebuchet MS"/>
                <a:cs typeface="Trebuchet MS"/>
              </a:rPr>
              <a:t>experiences</a:t>
            </a:r>
            <a:r>
              <a:rPr dirty="0" sz="3550" spc="-100">
                <a:latin typeface="Trebuchet MS"/>
                <a:cs typeface="Trebuchet MS"/>
              </a:rPr>
              <a:t> </a:t>
            </a:r>
            <a:r>
              <a:rPr dirty="0" sz="3550" spc="-515">
                <a:latin typeface="Trebuchet MS"/>
                <a:cs typeface="Trebuchet MS"/>
              </a:rPr>
              <a:t>at</a:t>
            </a:r>
            <a:r>
              <a:rPr dirty="0" sz="3550" spc="-545">
                <a:latin typeface="Trebuchet MS"/>
                <a:cs typeface="Trebuchet MS"/>
              </a:rPr>
              <a:t> </a:t>
            </a:r>
            <a:r>
              <a:rPr dirty="0" sz="3550" spc="-480">
                <a:latin typeface="Trebuchet MS"/>
                <a:cs typeface="Trebuchet MS"/>
              </a:rPr>
              <a:t>the</a:t>
            </a:r>
            <a:r>
              <a:rPr dirty="0" sz="3550" spc="-440">
                <a:latin typeface="Trebuchet MS"/>
                <a:cs typeface="Trebuchet MS"/>
              </a:rPr>
              <a:t> </a:t>
            </a:r>
            <a:r>
              <a:rPr dirty="0" sz="3550" spc="-505">
                <a:latin typeface="Trebuchet MS"/>
                <a:cs typeface="Trebuchet MS"/>
              </a:rPr>
              <a:t>exact </a:t>
            </a:r>
            <a:r>
              <a:rPr dirty="0" sz="3550" spc="-450">
                <a:latin typeface="Trebuchet MS"/>
                <a:cs typeface="Trebuchet MS"/>
              </a:rPr>
              <a:t>point</a:t>
            </a:r>
            <a:r>
              <a:rPr dirty="0" sz="3550" spc="-335">
                <a:latin typeface="Trebuchet MS"/>
                <a:cs typeface="Trebuchet MS"/>
              </a:rPr>
              <a:t> </a:t>
            </a:r>
            <a:r>
              <a:rPr dirty="0" sz="3550" spc="-470">
                <a:latin typeface="Trebuchet MS"/>
                <a:cs typeface="Trebuchet MS"/>
              </a:rPr>
              <a:t>of</a:t>
            </a:r>
            <a:r>
              <a:rPr dirty="0" sz="3550" spc="-375">
                <a:latin typeface="Trebuchet MS"/>
                <a:cs typeface="Trebuchet MS"/>
              </a:rPr>
              <a:t> </a:t>
            </a:r>
            <a:r>
              <a:rPr dirty="0" sz="3550" spc="-445">
                <a:latin typeface="Trebuchet MS"/>
                <a:cs typeface="Trebuchet MS"/>
              </a:rPr>
              <a:t>consumption.</a:t>
            </a:r>
            <a:endParaRPr sz="3550">
              <a:latin typeface="Trebuchet MS"/>
              <a:cs typeface="Trebuchet MS"/>
            </a:endParaRPr>
          </a:p>
          <a:p>
            <a:pPr marL="13970" marR="1363980" indent="5080">
              <a:lnSpc>
                <a:spcPct val="79800"/>
              </a:lnSpc>
              <a:spcBef>
                <a:spcPts val="3654"/>
              </a:spcBef>
            </a:pPr>
            <a:r>
              <a:rPr dirty="0" sz="2950" spc="-90">
                <a:solidFill>
                  <a:srgbClr val="010A26"/>
                </a:solidFill>
                <a:latin typeface="Arial"/>
                <a:cs typeface="Arial"/>
              </a:rPr>
              <a:t>Layer</a:t>
            </a:r>
            <a:r>
              <a:rPr dirty="0" sz="2950" spc="-185">
                <a:solidFill>
                  <a:srgbClr val="010A26"/>
                </a:solidFill>
                <a:latin typeface="Arial"/>
                <a:cs typeface="Arial"/>
              </a:rPr>
              <a:t> </a:t>
            </a:r>
            <a:r>
              <a:rPr dirty="0" sz="2950">
                <a:solidFill>
                  <a:srgbClr val="0C1633"/>
                </a:solidFill>
                <a:latin typeface="Arial"/>
                <a:cs typeface="Arial"/>
              </a:rPr>
              <a:t>3:</a:t>
            </a:r>
            <a:r>
              <a:rPr dirty="0" sz="2950" spc="-355">
                <a:solidFill>
                  <a:srgbClr val="0C1633"/>
                </a:solidFill>
                <a:latin typeface="Arial"/>
                <a:cs typeface="Arial"/>
              </a:rPr>
              <a:t> </a:t>
            </a:r>
            <a:r>
              <a:rPr dirty="0" sz="2950" spc="-50">
                <a:solidFill>
                  <a:srgbClr val="010E34"/>
                </a:solidFill>
                <a:latin typeface="Arial"/>
                <a:cs typeface="Arial"/>
              </a:rPr>
              <a:t>AI</a:t>
            </a:r>
            <a:r>
              <a:rPr dirty="0" sz="2950" spc="-360">
                <a:solidFill>
                  <a:srgbClr val="010E34"/>
                </a:solidFill>
                <a:latin typeface="Arial"/>
                <a:cs typeface="Arial"/>
              </a:rPr>
              <a:t> </a:t>
            </a:r>
            <a:r>
              <a:rPr dirty="0" sz="2950" spc="95">
                <a:solidFill>
                  <a:srgbClr val="03112F"/>
                </a:solidFill>
                <a:latin typeface="Arial"/>
                <a:cs typeface="Arial"/>
              </a:rPr>
              <a:t>&amp;</a:t>
            </a:r>
            <a:r>
              <a:rPr dirty="0" sz="2950" spc="-395">
                <a:solidFill>
                  <a:srgbClr val="03112F"/>
                </a:solidFill>
                <a:latin typeface="Arial"/>
                <a:cs typeface="Arial"/>
              </a:rPr>
              <a:t> </a:t>
            </a:r>
            <a:r>
              <a:rPr dirty="0" sz="2950" spc="-20">
                <a:solidFill>
                  <a:srgbClr val="050F28"/>
                </a:solidFill>
                <a:latin typeface="Arial"/>
                <a:cs typeface="Arial"/>
              </a:rPr>
              <a:t>Prompt</a:t>
            </a:r>
            <a:r>
              <a:rPr dirty="0" sz="2950" spc="-140">
                <a:solidFill>
                  <a:srgbClr val="050F28"/>
                </a:solidFill>
                <a:latin typeface="Arial"/>
                <a:cs typeface="Arial"/>
              </a:rPr>
              <a:t> </a:t>
            </a:r>
            <a:r>
              <a:rPr dirty="0" sz="2950" spc="-35">
                <a:solidFill>
                  <a:srgbClr val="050F2D"/>
                </a:solidFill>
                <a:latin typeface="Arial"/>
                <a:cs typeface="Arial"/>
              </a:rPr>
              <a:t>Engineering</a:t>
            </a:r>
            <a:r>
              <a:rPr dirty="0" sz="2950" spc="-25">
                <a:solidFill>
                  <a:srgbClr val="050F2D"/>
                </a:solidFill>
                <a:latin typeface="Arial"/>
                <a:cs typeface="Arial"/>
              </a:rPr>
              <a:t> </a:t>
            </a:r>
            <a:r>
              <a:rPr dirty="0" sz="2950" spc="-70">
                <a:solidFill>
                  <a:srgbClr val="070F2D"/>
                </a:solidFill>
                <a:latin typeface="Arial"/>
                <a:cs typeface="Arial"/>
              </a:rPr>
              <a:t>Layer </a:t>
            </a:r>
            <a:r>
              <a:rPr dirty="0" sz="3550" spc="-415">
                <a:latin typeface="Trebuchet MS"/>
                <a:cs typeface="Trebuchet MS"/>
              </a:rPr>
              <a:t>Employs</a:t>
            </a:r>
            <a:r>
              <a:rPr dirty="0" sz="3550" spc="-185">
                <a:latin typeface="Trebuchet MS"/>
                <a:cs typeface="Trebuchet MS"/>
              </a:rPr>
              <a:t> </a:t>
            </a:r>
            <a:r>
              <a:rPr dirty="0" sz="3550" spc="-355">
                <a:latin typeface="Trebuchet MS"/>
                <a:cs typeface="Trebuchet MS"/>
              </a:rPr>
              <a:t>RAG</a:t>
            </a:r>
            <a:r>
              <a:rPr dirty="0" sz="3550" spc="-480">
                <a:latin typeface="Trebuchet MS"/>
                <a:cs typeface="Trebuchet MS"/>
              </a:rPr>
              <a:t> </a:t>
            </a:r>
            <a:r>
              <a:rPr dirty="0" sz="3550" spc="-470">
                <a:latin typeface="Trebuchet MS"/>
                <a:cs typeface="Trebuchet MS"/>
              </a:rPr>
              <a:t>to</a:t>
            </a:r>
            <a:r>
              <a:rPr dirty="0" sz="3550" spc="-475">
                <a:latin typeface="Trebuchet MS"/>
                <a:cs typeface="Trebuchet MS"/>
              </a:rPr>
              <a:t> </a:t>
            </a:r>
            <a:r>
              <a:rPr dirty="0" sz="3550" spc="-434">
                <a:latin typeface="Trebuchet MS"/>
                <a:cs typeface="Trebuchet MS"/>
              </a:rPr>
              <a:t>guarantee</a:t>
            </a:r>
            <a:r>
              <a:rPr dirty="0" sz="3550" spc="-275">
                <a:latin typeface="Trebuchet MS"/>
                <a:cs typeface="Trebuchet MS"/>
              </a:rPr>
              <a:t> </a:t>
            </a:r>
            <a:r>
              <a:rPr dirty="0" sz="3550" spc="-445">
                <a:latin typeface="Trebuchet MS"/>
                <a:cs typeface="Trebuchet MS"/>
              </a:rPr>
              <a:t>grounded, </a:t>
            </a:r>
            <a:r>
              <a:rPr dirty="0" sz="3550" spc="-415">
                <a:latin typeface="Trebuchet MS"/>
                <a:cs typeface="Trebuchet MS"/>
              </a:rPr>
              <a:t>hallucination-</a:t>
            </a:r>
            <a:r>
              <a:rPr dirty="0" sz="3550" spc="-434">
                <a:latin typeface="Trebuchet MS"/>
                <a:cs typeface="Trebuchet MS"/>
              </a:rPr>
              <a:t>free</a:t>
            </a:r>
            <a:r>
              <a:rPr dirty="0" sz="3550" spc="-345">
                <a:latin typeface="Trebuchet MS"/>
                <a:cs typeface="Trebuchet MS"/>
              </a:rPr>
              <a:t> </a:t>
            </a:r>
            <a:r>
              <a:rPr dirty="0" sz="3550" spc="-465">
                <a:latin typeface="Trebuchet MS"/>
                <a:cs typeface="Trebuchet MS"/>
              </a:rPr>
              <a:t>outputs.</a:t>
            </a:r>
            <a:endParaRPr sz="3550">
              <a:latin typeface="Trebuchet MS"/>
              <a:cs typeface="Trebuchet MS"/>
            </a:endParaRPr>
          </a:p>
          <a:p>
            <a:pPr marL="12700" marR="1336040" indent="6350">
              <a:lnSpc>
                <a:spcPct val="90400"/>
              </a:lnSpc>
              <a:spcBef>
                <a:spcPts val="3279"/>
              </a:spcBef>
            </a:pPr>
            <a:r>
              <a:rPr dirty="0" sz="2950" spc="-65">
                <a:solidFill>
                  <a:srgbClr val="0A1A38"/>
                </a:solidFill>
                <a:latin typeface="Trebuchet MS"/>
                <a:cs typeface="Trebuchet MS"/>
              </a:rPr>
              <a:t>Layer</a:t>
            </a:r>
            <a:r>
              <a:rPr dirty="0" sz="2950" spc="-160">
                <a:solidFill>
                  <a:srgbClr val="0A1A38"/>
                </a:solidFill>
                <a:latin typeface="Trebuchet MS"/>
                <a:cs typeface="Trebuchet MS"/>
              </a:rPr>
              <a:t> </a:t>
            </a:r>
            <a:r>
              <a:rPr dirty="0" sz="2950" spc="-90">
                <a:solidFill>
                  <a:srgbClr val="010F31"/>
                </a:solidFill>
                <a:latin typeface="Trebuchet MS"/>
                <a:cs typeface="Trebuchet MS"/>
              </a:rPr>
              <a:t>2:</a:t>
            </a:r>
            <a:r>
              <a:rPr dirty="0" sz="2950" spc="-610">
                <a:solidFill>
                  <a:srgbClr val="010F31"/>
                </a:solidFill>
                <a:latin typeface="Trebuchet MS"/>
                <a:cs typeface="Trebuchet MS"/>
              </a:rPr>
              <a:t> </a:t>
            </a:r>
            <a:r>
              <a:rPr dirty="0" sz="2950">
                <a:solidFill>
                  <a:srgbClr val="010F28"/>
                </a:solidFill>
                <a:latin typeface="Trebuchet MS"/>
                <a:cs typeface="Trebuchet MS"/>
              </a:rPr>
              <a:t>Semantic</a:t>
            </a:r>
            <a:r>
              <a:rPr dirty="0" sz="2950" spc="-220">
                <a:solidFill>
                  <a:srgbClr val="010F28"/>
                </a:solidFill>
                <a:latin typeface="Trebuchet MS"/>
                <a:cs typeface="Trebuchet MS"/>
              </a:rPr>
              <a:t> </a:t>
            </a:r>
            <a:r>
              <a:rPr dirty="0" sz="2950" spc="-60">
                <a:solidFill>
                  <a:srgbClr val="010823"/>
                </a:solidFill>
                <a:latin typeface="Trebuchet MS"/>
                <a:cs typeface="Trebuchet MS"/>
              </a:rPr>
              <a:t>Harmonization</a:t>
            </a:r>
            <a:r>
              <a:rPr dirty="0" sz="2950" spc="-50">
                <a:solidFill>
                  <a:srgbClr val="010823"/>
                </a:solidFill>
                <a:latin typeface="Trebuchet MS"/>
                <a:cs typeface="Trebuchet MS"/>
              </a:rPr>
              <a:t> </a:t>
            </a:r>
            <a:r>
              <a:rPr dirty="0" sz="2950" spc="-35">
                <a:solidFill>
                  <a:srgbClr val="0A183A"/>
                </a:solidFill>
                <a:latin typeface="Trebuchet MS"/>
                <a:cs typeface="Trebuchet MS"/>
              </a:rPr>
              <a:t>Layer </a:t>
            </a:r>
            <a:r>
              <a:rPr dirty="0" sz="3100" spc="-220">
                <a:latin typeface="Arial"/>
                <a:cs typeface="Arial"/>
              </a:rPr>
              <a:t>Translates</a:t>
            </a:r>
            <a:r>
              <a:rPr dirty="0" sz="3100" spc="25">
                <a:latin typeface="Arial"/>
                <a:cs typeface="Arial"/>
              </a:rPr>
              <a:t> </a:t>
            </a:r>
            <a:r>
              <a:rPr dirty="0" sz="3100" spc="-175">
                <a:latin typeface="Arial"/>
                <a:cs typeface="Arial"/>
              </a:rPr>
              <a:t>disparate</a:t>
            </a:r>
            <a:r>
              <a:rPr dirty="0" sz="3100" spc="-145">
                <a:latin typeface="Arial"/>
                <a:cs typeface="Arial"/>
              </a:rPr>
              <a:t> strings </a:t>
            </a:r>
            <a:r>
              <a:rPr dirty="0" sz="3100" spc="-125">
                <a:latin typeface="Arial"/>
                <a:cs typeface="Arial"/>
              </a:rPr>
              <a:t>into</a:t>
            </a:r>
            <a:r>
              <a:rPr dirty="0" sz="3100" spc="-225">
                <a:latin typeface="Arial"/>
                <a:cs typeface="Arial"/>
              </a:rPr>
              <a:t> </a:t>
            </a:r>
            <a:r>
              <a:rPr dirty="0" sz="3100" spc="-10">
                <a:latin typeface="Arial"/>
                <a:cs typeface="Arial"/>
              </a:rPr>
              <a:t>unified </a:t>
            </a:r>
            <a:r>
              <a:rPr dirty="0" sz="3100" spc="-155">
                <a:latin typeface="Arial"/>
                <a:cs typeface="Arial"/>
              </a:rPr>
              <a:t>biological</a:t>
            </a:r>
            <a:r>
              <a:rPr dirty="0" sz="3100" spc="-25">
                <a:latin typeface="Arial"/>
                <a:cs typeface="Arial"/>
              </a:rPr>
              <a:t> </a:t>
            </a:r>
            <a:r>
              <a:rPr dirty="0" sz="3100" spc="-10">
                <a:latin typeface="Arial"/>
                <a:cs typeface="Arial"/>
              </a:rPr>
              <a:t>things.</a:t>
            </a:r>
            <a:endParaRPr sz="3100">
              <a:latin typeface="Arial"/>
              <a:cs typeface="Arial"/>
            </a:endParaRPr>
          </a:p>
          <a:p>
            <a:pPr marL="22225" marR="165735" indent="-3175">
              <a:lnSpc>
                <a:spcPct val="92500"/>
              </a:lnSpc>
              <a:spcBef>
                <a:spcPts val="3345"/>
              </a:spcBef>
            </a:pPr>
            <a:r>
              <a:rPr dirty="0" sz="2950" spc="-80">
                <a:solidFill>
                  <a:srgbClr val="0C1C38"/>
                </a:solidFill>
                <a:latin typeface="Arial"/>
                <a:cs typeface="Arial"/>
              </a:rPr>
              <a:t>Layer1:</a:t>
            </a:r>
            <a:r>
              <a:rPr dirty="0" sz="2950" spc="-180">
                <a:solidFill>
                  <a:srgbClr val="0C1C38"/>
                </a:solidFill>
                <a:latin typeface="Arial"/>
                <a:cs typeface="Arial"/>
              </a:rPr>
              <a:t> </a:t>
            </a:r>
            <a:r>
              <a:rPr dirty="0" sz="2950" spc="-60">
                <a:solidFill>
                  <a:srgbClr val="031334"/>
                </a:solidFill>
                <a:latin typeface="Arial"/>
                <a:cs typeface="Arial"/>
              </a:rPr>
              <a:t>Data</a:t>
            </a:r>
            <a:r>
              <a:rPr dirty="0" sz="2950" spc="-225">
                <a:solidFill>
                  <a:srgbClr val="031334"/>
                </a:solidFill>
                <a:latin typeface="Arial"/>
                <a:cs typeface="Arial"/>
              </a:rPr>
              <a:t> </a:t>
            </a:r>
            <a:r>
              <a:rPr dirty="0" sz="2950">
                <a:solidFill>
                  <a:srgbClr val="03112B"/>
                </a:solidFill>
                <a:latin typeface="Arial"/>
                <a:cs typeface="Arial"/>
              </a:rPr>
              <a:t>Ingestion</a:t>
            </a:r>
            <a:r>
              <a:rPr dirty="0" sz="2950" spc="-210">
                <a:solidFill>
                  <a:srgbClr val="03112B"/>
                </a:solidFill>
                <a:latin typeface="Arial"/>
                <a:cs typeface="Arial"/>
              </a:rPr>
              <a:t> </a:t>
            </a:r>
            <a:r>
              <a:rPr dirty="0" sz="2950" spc="95">
                <a:solidFill>
                  <a:srgbClr val="05163A"/>
                </a:solidFill>
                <a:latin typeface="Arial"/>
                <a:cs typeface="Arial"/>
              </a:rPr>
              <a:t>&amp;</a:t>
            </a:r>
            <a:r>
              <a:rPr dirty="0" sz="2950" spc="-315">
                <a:solidFill>
                  <a:srgbClr val="05163A"/>
                </a:solidFill>
                <a:latin typeface="Arial"/>
                <a:cs typeface="Arial"/>
              </a:rPr>
              <a:t> </a:t>
            </a:r>
            <a:r>
              <a:rPr dirty="0" sz="2950" spc="-20">
                <a:solidFill>
                  <a:srgbClr val="030C26"/>
                </a:solidFill>
                <a:latin typeface="Arial"/>
                <a:cs typeface="Arial"/>
              </a:rPr>
              <a:t>Content</a:t>
            </a:r>
            <a:r>
              <a:rPr dirty="0" sz="2950" spc="-55">
                <a:solidFill>
                  <a:srgbClr val="030C26"/>
                </a:solidFill>
                <a:latin typeface="Arial"/>
                <a:cs typeface="Arial"/>
              </a:rPr>
              <a:t> </a:t>
            </a:r>
            <a:r>
              <a:rPr dirty="0" sz="2950" spc="-20">
                <a:solidFill>
                  <a:srgbClr val="07132D"/>
                </a:solidFill>
                <a:latin typeface="Arial"/>
                <a:cs typeface="Arial"/>
              </a:rPr>
              <a:t>Repositories </a:t>
            </a:r>
            <a:r>
              <a:rPr dirty="0" sz="3050" spc="-160">
                <a:latin typeface="Arial"/>
                <a:cs typeface="Arial"/>
              </a:rPr>
              <a:t>Centralizes</a:t>
            </a:r>
            <a:r>
              <a:rPr dirty="0" sz="3050" spc="-85">
                <a:latin typeface="Arial"/>
                <a:cs typeface="Arial"/>
              </a:rPr>
              <a:t> </a:t>
            </a:r>
            <a:r>
              <a:rPr dirty="0" sz="3050" spc="-185">
                <a:latin typeface="Arial"/>
                <a:cs typeface="Arial"/>
              </a:rPr>
              <a:t>over</a:t>
            </a:r>
            <a:r>
              <a:rPr dirty="0" sz="3050" spc="-155">
                <a:latin typeface="Arial"/>
                <a:cs typeface="Arial"/>
              </a:rPr>
              <a:t> </a:t>
            </a:r>
            <a:r>
              <a:rPr dirty="0" sz="3050" spc="-10">
                <a:latin typeface="Arial"/>
                <a:cs typeface="Arial"/>
              </a:rPr>
              <a:t>200</a:t>
            </a:r>
            <a:r>
              <a:rPr dirty="0" sz="3050" spc="-200">
                <a:latin typeface="Arial"/>
                <a:cs typeface="Arial"/>
              </a:rPr>
              <a:t> </a:t>
            </a:r>
            <a:r>
              <a:rPr dirty="0" sz="3050" spc="-85">
                <a:latin typeface="Arial"/>
                <a:cs typeface="Arial"/>
              </a:rPr>
              <a:t>distinct</a:t>
            </a:r>
            <a:r>
              <a:rPr dirty="0" sz="3050" spc="40">
                <a:latin typeface="Arial"/>
                <a:cs typeface="Arial"/>
              </a:rPr>
              <a:t> </a:t>
            </a:r>
            <a:r>
              <a:rPr dirty="0" sz="3050" spc="-160">
                <a:latin typeface="Arial"/>
                <a:cs typeface="Arial"/>
              </a:rPr>
              <a:t>sources</a:t>
            </a:r>
            <a:r>
              <a:rPr dirty="0" sz="3050" spc="-85">
                <a:latin typeface="Arial"/>
                <a:cs typeface="Arial"/>
              </a:rPr>
              <a:t> </a:t>
            </a:r>
            <a:r>
              <a:rPr dirty="0" sz="3050" spc="-25">
                <a:latin typeface="Arial"/>
                <a:cs typeface="Arial"/>
              </a:rPr>
              <a:t>and </a:t>
            </a:r>
            <a:r>
              <a:rPr dirty="0" sz="3050" spc="-155">
                <a:latin typeface="Arial"/>
                <a:cs typeface="Arial"/>
              </a:rPr>
              <a:t>legacy</a:t>
            </a:r>
            <a:r>
              <a:rPr dirty="0" sz="3050" spc="-55">
                <a:latin typeface="Arial"/>
                <a:cs typeface="Arial"/>
              </a:rPr>
              <a:t> </a:t>
            </a:r>
            <a:r>
              <a:rPr dirty="0" sz="3050" spc="-40">
                <a:latin typeface="Arial"/>
                <a:cs typeface="Arial"/>
              </a:rPr>
              <a:t>systems.</a:t>
            </a:r>
            <a:endParaRPr sz="3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0800" y="1943100"/>
            <a:ext cx="5435600" cy="68707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23100" y="1930400"/>
            <a:ext cx="1130300" cy="68834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458200" y="3924300"/>
            <a:ext cx="7912100" cy="4876800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624813" y="360891"/>
            <a:ext cx="12369165" cy="145605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5595"/>
              </a:lnSpc>
              <a:spcBef>
                <a:spcPts val="105"/>
              </a:spcBef>
            </a:pPr>
            <a:r>
              <a:rPr dirty="0" sz="5200" spc="-325">
                <a:solidFill>
                  <a:srgbClr val="0C1C3B"/>
                </a:solidFill>
              </a:rPr>
              <a:t>Layer1Centralizes</a:t>
            </a:r>
            <a:r>
              <a:rPr dirty="0" sz="5200" spc="-740">
                <a:solidFill>
                  <a:srgbClr val="0C1C3B"/>
                </a:solidFill>
              </a:rPr>
              <a:t> </a:t>
            </a:r>
            <a:r>
              <a:rPr dirty="0" sz="5200" spc="-430">
                <a:solidFill>
                  <a:srgbClr val="162649"/>
                </a:solidFill>
              </a:rPr>
              <a:t>over</a:t>
            </a:r>
            <a:r>
              <a:rPr dirty="0" sz="5200" spc="-295">
                <a:solidFill>
                  <a:srgbClr val="162649"/>
                </a:solidFill>
              </a:rPr>
              <a:t> </a:t>
            </a:r>
            <a:r>
              <a:rPr dirty="0" sz="5200" spc="-240">
                <a:solidFill>
                  <a:srgbClr val="0E1C3B"/>
                </a:solidFill>
              </a:rPr>
              <a:t>200</a:t>
            </a:r>
            <a:r>
              <a:rPr dirty="0" sz="5200" spc="-675">
                <a:solidFill>
                  <a:srgbClr val="0E1C3B"/>
                </a:solidFill>
              </a:rPr>
              <a:t> </a:t>
            </a:r>
            <a:r>
              <a:rPr dirty="0" sz="5200" spc="-305">
                <a:solidFill>
                  <a:srgbClr val="05112B"/>
                </a:solidFill>
              </a:rPr>
              <a:t>Distinct</a:t>
            </a:r>
            <a:r>
              <a:rPr dirty="0" sz="5200" spc="-370">
                <a:solidFill>
                  <a:srgbClr val="05112B"/>
                </a:solidFill>
              </a:rPr>
              <a:t> </a:t>
            </a:r>
            <a:r>
              <a:rPr dirty="0" sz="5200" spc="-475">
                <a:solidFill>
                  <a:srgbClr val="111F3F"/>
                </a:solidFill>
              </a:rPr>
              <a:t>Data</a:t>
            </a:r>
            <a:r>
              <a:rPr dirty="0" sz="5200" spc="-590">
                <a:solidFill>
                  <a:srgbClr val="111F3F"/>
                </a:solidFill>
              </a:rPr>
              <a:t> </a:t>
            </a:r>
            <a:r>
              <a:rPr dirty="0" sz="5200" spc="-450">
                <a:solidFill>
                  <a:srgbClr val="162846"/>
                </a:solidFill>
              </a:rPr>
              <a:t>Sources</a:t>
            </a:r>
            <a:endParaRPr sz="5200"/>
          </a:p>
          <a:p>
            <a:pPr marL="24130">
              <a:lnSpc>
                <a:spcPts val="5655"/>
              </a:lnSpc>
            </a:pPr>
            <a:r>
              <a:rPr dirty="0" sz="5250" spc="-475">
                <a:solidFill>
                  <a:srgbClr val="0C1A36"/>
                </a:solidFill>
              </a:rPr>
              <a:t>and</a:t>
            </a:r>
            <a:r>
              <a:rPr dirty="0" sz="5250" spc="-745">
                <a:solidFill>
                  <a:srgbClr val="0C1A36"/>
                </a:solidFill>
              </a:rPr>
              <a:t> </a:t>
            </a:r>
            <a:r>
              <a:rPr dirty="0" sz="5250" spc="-509">
                <a:solidFill>
                  <a:srgbClr val="132344"/>
                </a:solidFill>
              </a:rPr>
              <a:t>Legacy</a:t>
            </a:r>
            <a:r>
              <a:rPr dirty="0" sz="5250" spc="-360">
                <a:solidFill>
                  <a:srgbClr val="132344"/>
                </a:solidFill>
              </a:rPr>
              <a:t> </a:t>
            </a:r>
            <a:r>
              <a:rPr dirty="0" sz="5250" spc="-500">
                <a:solidFill>
                  <a:srgbClr val="0A1834"/>
                </a:solidFill>
              </a:rPr>
              <a:t>Systems</a:t>
            </a:r>
            <a:endParaRPr sz="5250"/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55"/>
              </a:lnSpc>
            </a:pPr>
            <a:r>
              <a:rPr dirty="0"/>
              <a:t>G</a:t>
            </a:r>
            <a:r>
              <a:rPr dirty="0" spc="490"/>
              <a:t> </a:t>
            </a:r>
            <a:r>
              <a:rPr dirty="0" spc="-10"/>
              <a:t>NotebookLM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428672" y="1927930"/>
            <a:ext cx="2544445" cy="1671320"/>
          </a:xfrm>
          <a:prstGeom prst="rect">
            <a:avLst/>
          </a:prstGeom>
        </p:spPr>
        <p:txBody>
          <a:bodyPr wrap="square" lIns="0" tIns="99060" rIns="0" bIns="0" rtlCol="0" vert="horz">
            <a:spAutoFit/>
          </a:bodyPr>
          <a:lstStyle/>
          <a:p>
            <a:pPr marL="12700" marR="133985" indent="17145">
              <a:lnSpc>
                <a:spcPct val="78400"/>
              </a:lnSpc>
              <a:spcBef>
                <a:spcPts val="780"/>
              </a:spcBef>
            </a:pPr>
            <a:r>
              <a:rPr dirty="0" sz="2550" spc="-20">
                <a:solidFill>
                  <a:srgbClr val="0A0A0A"/>
                </a:solidFill>
                <a:latin typeface="Arial"/>
                <a:cs typeface="Arial"/>
              </a:rPr>
              <a:t>AbbVie </a:t>
            </a:r>
            <a:r>
              <a:rPr dirty="0" sz="2550" spc="-114">
                <a:solidFill>
                  <a:srgbClr val="0C0C0C"/>
                </a:solidFill>
                <a:latin typeface="Arial"/>
                <a:cs typeface="Arial"/>
              </a:rPr>
              <a:t>Proprietary</a:t>
            </a:r>
            <a:r>
              <a:rPr dirty="0" sz="2550" spc="-10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2550" spc="-10">
                <a:solidFill>
                  <a:srgbClr val="0F0F0F"/>
                </a:solidFill>
                <a:latin typeface="Arial"/>
                <a:cs typeface="Arial"/>
              </a:rPr>
              <a:t>Data:</a:t>
            </a:r>
            <a:endParaRPr sz="2550">
              <a:latin typeface="Arial"/>
              <a:cs typeface="Arial"/>
            </a:endParaRPr>
          </a:p>
          <a:p>
            <a:pPr marL="18415" marR="5080" indent="-6350">
              <a:lnSpc>
                <a:spcPct val="82200"/>
              </a:lnSpc>
              <a:spcBef>
                <a:spcPts val="275"/>
              </a:spcBef>
            </a:pPr>
            <a:r>
              <a:rPr dirty="0" sz="2500" spc="-125">
                <a:latin typeface="Arial"/>
                <a:cs typeface="Arial"/>
              </a:rPr>
              <a:t>Internal</a:t>
            </a:r>
            <a:r>
              <a:rPr dirty="0" sz="2500" spc="-135">
                <a:latin typeface="Arial"/>
                <a:cs typeface="Arial"/>
              </a:rPr>
              <a:t> </a:t>
            </a:r>
            <a:r>
              <a:rPr dirty="0" sz="2500" spc="-114">
                <a:latin typeface="Arial"/>
                <a:cs typeface="Arial"/>
              </a:rPr>
              <a:t>clinical</a:t>
            </a:r>
            <a:r>
              <a:rPr dirty="0" sz="2500" spc="-50">
                <a:latin typeface="Arial"/>
                <a:cs typeface="Arial"/>
              </a:rPr>
              <a:t> </a:t>
            </a:r>
            <a:r>
              <a:rPr dirty="0" sz="2500" spc="-10">
                <a:latin typeface="Arial"/>
                <a:cs typeface="Arial"/>
              </a:rPr>
              <a:t>trial </a:t>
            </a:r>
            <a:r>
              <a:rPr dirty="0" sz="2400" spc="-110">
                <a:latin typeface="Arial"/>
                <a:cs typeface="Arial"/>
              </a:rPr>
              <a:t>data</a:t>
            </a:r>
            <a:r>
              <a:rPr dirty="0" sz="2400" spc="-105">
                <a:latin typeface="Arial"/>
                <a:cs typeface="Arial"/>
              </a:rPr>
              <a:t> </a:t>
            </a:r>
            <a:r>
              <a:rPr dirty="0" sz="2400" spc="-145">
                <a:latin typeface="Arial"/>
                <a:cs typeface="Arial"/>
              </a:rPr>
              <a:t>and</a:t>
            </a:r>
            <a:r>
              <a:rPr dirty="0" sz="2400" spc="-95">
                <a:latin typeface="Arial"/>
                <a:cs typeface="Arial"/>
              </a:rPr>
              <a:t> </a:t>
            </a:r>
            <a:r>
              <a:rPr dirty="0" sz="2400" spc="-150">
                <a:latin typeface="Arial"/>
                <a:cs typeface="Arial"/>
              </a:rPr>
              <a:t>Real-</a:t>
            </a:r>
            <a:r>
              <a:rPr dirty="0" sz="2400" spc="-100">
                <a:latin typeface="Arial"/>
                <a:cs typeface="Arial"/>
              </a:rPr>
              <a:t>World </a:t>
            </a:r>
            <a:r>
              <a:rPr dirty="0" sz="2400" spc="-140">
                <a:latin typeface="Arial"/>
                <a:cs typeface="Arial"/>
              </a:rPr>
              <a:t>Data</a:t>
            </a:r>
            <a:r>
              <a:rPr dirty="0" sz="2400" spc="-165">
                <a:latin typeface="Arial"/>
                <a:cs typeface="Arial"/>
              </a:rPr>
              <a:t> </a:t>
            </a:r>
            <a:r>
              <a:rPr dirty="0" sz="2400" spc="-80">
                <a:latin typeface="Arial"/>
                <a:cs typeface="Arial"/>
              </a:rPr>
              <a:t>(RWD).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272652" y="1927930"/>
            <a:ext cx="2007870" cy="1974214"/>
          </a:xfrm>
          <a:prstGeom prst="rect">
            <a:avLst/>
          </a:prstGeom>
        </p:spPr>
        <p:txBody>
          <a:bodyPr wrap="square" lIns="0" tIns="78105" rIns="0" bIns="0" rtlCol="0" vert="horz">
            <a:spAutoFit/>
          </a:bodyPr>
          <a:lstStyle/>
          <a:p>
            <a:pPr marL="12700" marR="5080" indent="4445">
              <a:lnSpc>
                <a:spcPct val="83800"/>
              </a:lnSpc>
              <a:spcBef>
                <a:spcPts val="615"/>
              </a:spcBef>
            </a:pPr>
            <a:r>
              <a:rPr dirty="0" sz="2550" spc="-10">
                <a:solidFill>
                  <a:srgbClr val="0C0C0C"/>
                </a:solidFill>
                <a:latin typeface="Arial"/>
                <a:cs typeface="Arial"/>
              </a:rPr>
              <a:t>External </a:t>
            </a:r>
            <a:r>
              <a:rPr dirty="0" sz="2550" spc="-30">
                <a:solidFill>
                  <a:srgbClr val="0E0E0E"/>
                </a:solidFill>
                <a:latin typeface="Arial"/>
                <a:cs typeface="Arial"/>
              </a:rPr>
              <a:t>Integration: </a:t>
            </a:r>
            <a:r>
              <a:rPr dirty="0" sz="2500" spc="-50">
                <a:latin typeface="Arial"/>
                <a:cs typeface="Arial"/>
              </a:rPr>
              <a:t>Seamless </a:t>
            </a:r>
            <a:r>
              <a:rPr dirty="0" sz="2400" spc="-85">
                <a:latin typeface="Arial"/>
                <a:cs typeface="Arial"/>
              </a:rPr>
              <a:t>connection</a:t>
            </a:r>
            <a:r>
              <a:rPr dirty="0" sz="2400">
                <a:latin typeface="Arial"/>
                <a:cs typeface="Arial"/>
              </a:rPr>
              <a:t> </a:t>
            </a:r>
            <a:r>
              <a:rPr dirty="0" sz="2400" spc="-45">
                <a:latin typeface="Arial"/>
                <a:cs typeface="Arial"/>
              </a:rPr>
              <a:t>with </a:t>
            </a:r>
            <a:r>
              <a:rPr dirty="0" sz="2400" spc="-110">
                <a:latin typeface="Arial"/>
                <a:cs typeface="Arial"/>
              </a:rPr>
              <a:t>massive</a:t>
            </a:r>
            <a:r>
              <a:rPr dirty="0" sz="2400" spc="-4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legacy </a:t>
            </a:r>
            <a:r>
              <a:rPr dirty="0" sz="2350" spc="-10">
                <a:latin typeface="Arial"/>
                <a:cs typeface="Arial"/>
              </a:rPr>
              <a:t>systems.</a:t>
            </a:r>
            <a:endParaRPr sz="23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883957" y="1936750"/>
            <a:ext cx="2787650" cy="1662430"/>
          </a:xfrm>
          <a:prstGeom prst="rect">
            <a:avLst/>
          </a:prstGeom>
        </p:spPr>
        <p:txBody>
          <a:bodyPr wrap="square" lIns="0" tIns="76835" rIns="0" bIns="0" rtlCol="0" vert="horz">
            <a:spAutoFit/>
          </a:bodyPr>
          <a:lstStyle/>
          <a:p>
            <a:pPr marL="12700" marR="5080" indent="40640">
              <a:lnSpc>
                <a:spcPct val="83200"/>
              </a:lnSpc>
              <a:spcBef>
                <a:spcPts val="605"/>
              </a:spcBef>
            </a:pPr>
            <a:r>
              <a:rPr dirty="0" sz="2500" spc="-155">
                <a:solidFill>
                  <a:srgbClr val="131313"/>
                </a:solidFill>
                <a:latin typeface="Arial"/>
                <a:cs typeface="Arial"/>
              </a:rPr>
              <a:t>The</a:t>
            </a:r>
            <a:r>
              <a:rPr dirty="0" sz="2500" spc="-260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2500" spc="-120">
                <a:solidFill>
                  <a:srgbClr val="0F0F0F"/>
                </a:solidFill>
                <a:latin typeface="Arial"/>
                <a:cs typeface="Arial"/>
              </a:rPr>
              <a:t>Tellic</a:t>
            </a:r>
            <a:r>
              <a:rPr dirty="0" sz="2500" spc="-4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2500" spc="-135">
                <a:latin typeface="Arial"/>
                <a:cs typeface="Arial"/>
              </a:rPr>
              <a:t>Advantage: </a:t>
            </a:r>
            <a:r>
              <a:rPr dirty="0" sz="2550" spc="-265">
                <a:latin typeface="Arial"/>
                <a:cs typeface="Arial"/>
              </a:rPr>
              <a:t>1B+</a:t>
            </a:r>
            <a:r>
              <a:rPr dirty="0" sz="2550" spc="-150">
                <a:latin typeface="Arial"/>
                <a:cs typeface="Arial"/>
              </a:rPr>
              <a:t> </a:t>
            </a:r>
            <a:r>
              <a:rPr dirty="0" sz="2550" spc="-60">
                <a:latin typeface="Arial"/>
                <a:cs typeface="Arial"/>
              </a:rPr>
              <a:t>biomedical </a:t>
            </a:r>
            <a:r>
              <a:rPr dirty="0" sz="2550" spc="-155">
                <a:latin typeface="Arial"/>
                <a:cs typeface="Arial"/>
              </a:rPr>
              <a:t>relationships</a:t>
            </a:r>
            <a:r>
              <a:rPr dirty="0" sz="2550" spc="-60">
                <a:latin typeface="Arial"/>
                <a:cs typeface="Arial"/>
              </a:rPr>
              <a:t> </a:t>
            </a:r>
            <a:r>
              <a:rPr dirty="0" sz="2550" spc="-20">
                <a:latin typeface="Arial"/>
                <a:cs typeface="Arial"/>
              </a:rPr>
              <a:t>from </a:t>
            </a:r>
            <a:r>
              <a:rPr dirty="0" sz="2400" spc="-105">
                <a:latin typeface="Arial"/>
                <a:cs typeface="Arial"/>
              </a:rPr>
              <a:t>literature,</a:t>
            </a:r>
            <a:r>
              <a:rPr dirty="0" sz="2400" spc="2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patents,</a:t>
            </a:r>
            <a:r>
              <a:rPr dirty="0" sz="2400" spc="-10">
                <a:latin typeface="Arial"/>
                <a:cs typeface="Arial"/>
              </a:rPr>
              <a:t> </a:t>
            </a:r>
            <a:r>
              <a:rPr dirty="0" sz="2400" spc="-105">
                <a:latin typeface="Arial"/>
                <a:cs typeface="Arial"/>
              </a:rPr>
              <a:t>and</a:t>
            </a:r>
            <a:r>
              <a:rPr dirty="0" sz="2400" spc="-27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trials.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0800" y="1943100"/>
            <a:ext cx="5435600" cy="68580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75700" y="2387600"/>
            <a:ext cx="5676900" cy="26670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541500" y="2324100"/>
            <a:ext cx="2197100" cy="2413000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626744" y="387349"/>
            <a:ext cx="13197205" cy="1422400"/>
          </a:xfrm>
          <a:prstGeom prst="rect"/>
        </p:spPr>
        <p:txBody>
          <a:bodyPr wrap="square" lIns="0" tIns="139700" rIns="0" bIns="0" rtlCol="0" vert="horz">
            <a:spAutoFit/>
          </a:bodyPr>
          <a:lstStyle/>
          <a:p>
            <a:pPr marL="25400" marR="5080" indent="-12700">
              <a:lnSpc>
                <a:spcPts val="5000"/>
              </a:lnSpc>
              <a:spcBef>
                <a:spcPts val="1100"/>
              </a:spcBef>
            </a:pPr>
            <a:r>
              <a:rPr dirty="0" sz="5000" spc="-350">
                <a:solidFill>
                  <a:srgbClr val="1A1A1A"/>
                </a:solidFill>
              </a:rPr>
              <a:t>Layer</a:t>
            </a:r>
            <a:r>
              <a:rPr dirty="0" sz="5000" spc="10">
                <a:solidFill>
                  <a:srgbClr val="1A1A1A"/>
                </a:solidFill>
              </a:rPr>
              <a:t> </a:t>
            </a:r>
            <a:r>
              <a:rPr dirty="0" sz="5000" spc="-145">
                <a:solidFill>
                  <a:srgbClr val="13233A"/>
                </a:solidFill>
              </a:rPr>
              <a:t>2</a:t>
            </a:r>
            <a:r>
              <a:rPr dirty="0" sz="5000" spc="-575">
                <a:solidFill>
                  <a:srgbClr val="13233A"/>
                </a:solidFill>
              </a:rPr>
              <a:t> </a:t>
            </a:r>
            <a:r>
              <a:rPr dirty="0" sz="5000" spc="-295">
                <a:solidFill>
                  <a:srgbClr val="1C1C1C"/>
                </a:solidFill>
              </a:rPr>
              <a:t>Harmonizes</a:t>
            </a:r>
            <a:r>
              <a:rPr dirty="0" sz="5000" spc="-80">
                <a:solidFill>
                  <a:srgbClr val="1C1C1C"/>
                </a:solidFill>
              </a:rPr>
              <a:t> </a:t>
            </a:r>
            <a:r>
              <a:rPr dirty="0" sz="5000" spc="-250">
                <a:solidFill>
                  <a:srgbClr val="0A1A34"/>
                </a:solidFill>
              </a:rPr>
              <a:t>Disparate</a:t>
            </a:r>
            <a:r>
              <a:rPr dirty="0" sz="5000" spc="-160">
                <a:solidFill>
                  <a:srgbClr val="0A1A34"/>
                </a:solidFill>
              </a:rPr>
              <a:t> </a:t>
            </a:r>
            <a:r>
              <a:rPr dirty="0" sz="5000" spc="-185">
                <a:solidFill>
                  <a:srgbClr val="1F1F1F"/>
                </a:solidFill>
              </a:rPr>
              <a:t>Strings</a:t>
            </a:r>
            <a:r>
              <a:rPr dirty="0" sz="5000" spc="-175">
                <a:solidFill>
                  <a:srgbClr val="1F1F1F"/>
                </a:solidFill>
              </a:rPr>
              <a:t> </a:t>
            </a:r>
            <a:r>
              <a:rPr dirty="0" sz="5000" spc="-90">
                <a:solidFill>
                  <a:srgbClr val="0C182F"/>
                </a:solidFill>
              </a:rPr>
              <a:t>into</a:t>
            </a:r>
            <a:r>
              <a:rPr dirty="0" sz="5000" spc="-475">
                <a:solidFill>
                  <a:srgbClr val="0C182F"/>
                </a:solidFill>
              </a:rPr>
              <a:t> </a:t>
            </a:r>
            <a:r>
              <a:rPr dirty="0" sz="5000" spc="-270">
                <a:solidFill>
                  <a:srgbClr val="13213F"/>
                </a:solidFill>
              </a:rPr>
              <a:t>Universal </a:t>
            </a:r>
            <a:r>
              <a:rPr dirty="0" sz="5000" spc="-220">
                <a:solidFill>
                  <a:srgbClr val="212121"/>
                </a:solidFill>
              </a:rPr>
              <a:t>Biological</a:t>
            </a:r>
            <a:r>
              <a:rPr dirty="0" sz="5000" spc="-80">
                <a:solidFill>
                  <a:srgbClr val="212121"/>
                </a:solidFill>
              </a:rPr>
              <a:t> </a:t>
            </a:r>
            <a:r>
              <a:rPr dirty="0" sz="5000" spc="-70">
                <a:solidFill>
                  <a:srgbClr val="1A1A1A"/>
                </a:solidFill>
              </a:rPr>
              <a:t>Things</a:t>
            </a:r>
            <a:endParaRPr sz="5000"/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55"/>
              </a:lnSpc>
            </a:pPr>
            <a:r>
              <a:rPr dirty="0"/>
              <a:t>G</a:t>
            </a:r>
            <a:r>
              <a:rPr dirty="0" spc="490"/>
              <a:t> </a:t>
            </a:r>
            <a:r>
              <a:rPr dirty="0" spc="-10"/>
              <a:t>NotebookLM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303778" y="2254602"/>
            <a:ext cx="2791460" cy="22675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19430">
              <a:lnSpc>
                <a:spcPts val="3260"/>
              </a:lnSpc>
              <a:spcBef>
                <a:spcPts val="95"/>
              </a:spcBef>
            </a:pPr>
            <a:r>
              <a:rPr dirty="0" sz="2850" spc="-365">
                <a:latin typeface="Arial"/>
                <a:cs typeface="Arial"/>
              </a:rPr>
              <a:t>”Tumor</a:t>
            </a:r>
            <a:endParaRPr sz="2850">
              <a:latin typeface="Arial"/>
              <a:cs typeface="Arial"/>
            </a:endParaRPr>
          </a:p>
          <a:p>
            <a:pPr marL="876300">
              <a:lnSpc>
                <a:spcPts val="2575"/>
              </a:lnSpc>
            </a:pPr>
            <a:r>
              <a:rPr dirty="0" sz="2600" spc="-95">
                <a:latin typeface="Arial"/>
                <a:cs typeface="Arial"/>
              </a:rPr>
              <a:t>”Neoplasm</a:t>
            </a:r>
            <a:endParaRPr sz="2600">
              <a:latin typeface="Arial"/>
              <a:cs typeface="Arial"/>
            </a:endParaRPr>
          </a:p>
          <a:p>
            <a:pPr algn="r" marR="1409700">
              <a:lnSpc>
                <a:spcPts val="2485"/>
              </a:lnSpc>
            </a:pPr>
            <a:r>
              <a:rPr dirty="0" sz="2700" spc="-75">
                <a:latin typeface="Trebuchet MS"/>
                <a:cs typeface="Trebuchet MS"/>
              </a:rPr>
              <a:t>"Tumor"</a:t>
            </a:r>
            <a:endParaRPr sz="2700">
              <a:latin typeface="Trebuchet MS"/>
              <a:cs typeface="Trebuchet MS"/>
            </a:endParaRPr>
          </a:p>
          <a:p>
            <a:pPr algn="r" marR="1329055">
              <a:lnSpc>
                <a:spcPts val="2360"/>
              </a:lnSpc>
            </a:pPr>
            <a:r>
              <a:rPr dirty="0" sz="2550" spc="-135">
                <a:latin typeface="Trebuchet MS"/>
                <a:cs typeface="Trebuchet MS"/>
              </a:rPr>
              <a:t>"Neoplasm"</a:t>
            </a:r>
            <a:endParaRPr sz="2550">
              <a:latin typeface="Trebuchet MS"/>
              <a:cs typeface="Trebuchet MS"/>
            </a:endParaRPr>
          </a:p>
          <a:p>
            <a:pPr marL="582930">
              <a:lnSpc>
                <a:spcPts val="3090"/>
              </a:lnSpc>
            </a:pPr>
            <a:r>
              <a:rPr dirty="0" sz="2850" spc="-120">
                <a:latin typeface="Trebuchet MS"/>
                <a:cs typeface="Trebuchet MS"/>
              </a:rPr>
              <a:t>"C0027651"</a:t>
            </a:r>
            <a:endParaRPr sz="2850">
              <a:latin typeface="Trebuchet MS"/>
              <a:cs typeface="Trebuchet MS"/>
            </a:endParaRPr>
          </a:p>
          <a:p>
            <a:pPr marL="45720">
              <a:lnSpc>
                <a:spcPct val="100000"/>
              </a:lnSpc>
              <a:spcBef>
                <a:spcPts val="580"/>
              </a:spcBef>
            </a:pPr>
            <a:r>
              <a:rPr dirty="0" baseline="26262" sz="4125" spc="-240">
                <a:latin typeface="Arial"/>
                <a:cs typeface="Arial"/>
              </a:rPr>
              <a:t>"T</a:t>
            </a:r>
            <a:r>
              <a:rPr dirty="0" baseline="24242" sz="4125" spc="-240">
                <a:latin typeface="Arial"/>
                <a:cs typeface="Arial"/>
              </a:rPr>
              <a:t>umo</a:t>
            </a:r>
            <a:r>
              <a:rPr dirty="0" baseline="26262" sz="4125" spc="-240">
                <a:latin typeface="Arial"/>
                <a:cs typeface="Arial"/>
              </a:rPr>
              <a:t>r”‹•</a:t>
            </a:r>
            <a:r>
              <a:rPr dirty="0" sz="2750" spc="-160">
                <a:latin typeface="Arial"/>
                <a:cs typeface="Arial"/>
              </a:rPr>
              <a:t>NeopIasm</a:t>
            </a:r>
            <a:endParaRPr sz="27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872235" y="4435122"/>
            <a:ext cx="1538605" cy="4489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750" spc="-280">
                <a:latin typeface="Arial"/>
                <a:cs typeface="Arial"/>
              </a:rPr>
              <a:t>“C0027651"</a:t>
            </a:r>
            <a:endParaRPr sz="27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867672" y="4606572"/>
            <a:ext cx="2379345" cy="779145"/>
          </a:xfrm>
          <a:prstGeom prst="rect">
            <a:avLst/>
          </a:prstGeom>
        </p:spPr>
        <p:txBody>
          <a:bodyPr wrap="square" lIns="0" tIns="104775" rIns="0" bIns="0" rtlCol="0" vert="horz">
            <a:spAutoFit/>
          </a:bodyPr>
          <a:lstStyle/>
          <a:p>
            <a:pPr marL="12700" marR="5080" indent="725805">
              <a:lnSpc>
                <a:spcPct val="78800"/>
              </a:lnSpc>
              <a:spcBef>
                <a:spcPts val="825"/>
              </a:spcBef>
            </a:pPr>
            <a:r>
              <a:rPr dirty="0" sz="2750" spc="-10">
                <a:solidFill>
                  <a:srgbClr val="131313"/>
                </a:solidFill>
                <a:latin typeface="Arial"/>
                <a:cs typeface="Arial"/>
              </a:rPr>
              <a:t>Neo4j </a:t>
            </a:r>
            <a:r>
              <a:rPr dirty="0" sz="2750" spc="-165">
                <a:solidFill>
                  <a:srgbClr val="0C0C0C"/>
                </a:solidFill>
                <a:latin typeface="Arial"/>
                <a:cs typeface="Arial"/>
              </a:rPr>
              <a:t>Semantic</a:t>
            </a:r>
            <a:r>
              <a:rPr dirty="0" sz="2750" spc="-5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2750" spc="-165">
                <a:solidFill>
                  <a:srgbClr val="0C0C0C"/>
                </a:solidFill>
                <a:latin typeface="Arial"/>
                <a:cs typeface="Arial"/>
              </a:rPr>
              <a:t>Engine</a:t>
            </a:r>
            <a:endParaRPr sz="27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433866" y="5913613"/>
            <a:ext cx="9342120" cy="2862580"/>
          </a:xfrm>
          <a:prstGeom prst="rect">
            <a:avLst/>
          </a:prstGeom>
        </p:spPr>
        <p:txBody>
          <a:bodyPr wrap="square" lIns="0" tIns="111125" rIns="0" bIns="0" rtlCol="0" vert="horz">
            <a:spAutoFit/>
          </a:bodyPr>
          <a:lstStyle/>
          <a:p>
            <a:pPr marL="443865" marR="497840" indent="-430530">
              <a:lnSpc>
                <a:spcPct val="79100"/>
              </a:lnSpc>
              <a:spcBef>
                <a:spcPts val="875"/>
              </a:spcBef>
              <a:buClr>
                <a:srgbClr val="0E1C34"/>
              </a:buClr>
              <a:buChar char="•"/>
              <a:tabLst>
                <a:tab pos="453390" algn="l"/>
              </a:tabLst>
            </a:pPr>
            <a:r>
              <a:rPr dirty="0" sz="2950" spc="-310">
                <a:solidFill>
                  <a:srgbClr val="08162A"/>
                </a:solidFill>
                <a:latin typeface="Arial"/>
                <a:cs typeface="Arial"/>
              </a:rPr>
              <a:t>The</a:t>
            </a:r>
            <a:r>
              <a:rPr dirty="0" sz="2950" spc="-355">
                <a:solidFill>
                  <a:srgbClr val="08162A"/>
                </a:solidFill>
                <a:latin typeface="Arial"/>
                <a:cs typeface="Arial"/>
              </a:rPr>
              <a:t> </a:t>
            </a:r>
            <a:r>
              <a:rPr dirty="0" sz="2950" spc="-280">
                <a:latin typeface="Arial"/>
                <a:cs typeface="Arial"/>
              </a:rPr>
              <a:t>Engine:</a:t>
            </a:r>
            <a:r>
              <a:rPr dirty="0" sz="2950" spc="-50">
                <a:latin typeface="Arial"/>
                <a:cs typeface="Arial"/>
              </a:rPr>
              <a:t> </a:t>
            </a:r>
            <a:r>
              <a:rPr dirty="0" sz="2950" spc="-515">
                <a:latin typeface="Arial"/>
                <a:cs typeface="Arial"/>
              </a:rPr>
              <a:t>A</a:t>
            </a:r>
            <a:r>
              <a:rPr dirty="0" sz="2950" spc="-195">
                <a:latin typeface="Arial"/>
                <a:cs typeface="Arial"/>
              </a:rPr>
              <a:t> </a:t>
            </a:r>
            <a:r>
              <a:rPr dirty="0" sz="2950" spc="-315">
                <a:latin typeface="Arial"/>
                <a:cs typeface="Arial"/>
              </a:rPr>
              <a:t>Neo4j</a:t>
            </a:r>
            <a:r>
              <a:rPr dirty="0" sz="2950" spc="-30">
                <a:latin typeface="Arial"/>
                <a:cs typeface="Arial"/>
              </a:rPr>
              <a:t> </a:t>
            </a:r>
            <a:r>
              <a:rPr dirty="0" sz="2950" spc="-295">
                <a:latin typeface="Arial"/>
                <a:cs typeface="Arial"/>
              </a:rPr>
              <a:t>graph</a:t>
            </a:r>
            <a:r>
              <a:rPr dirty="0" sz="2950" spc="-114">
                <a:latin typeface="Arial"/>
                <a:cs typeface="Arial"/>
              </a:rPr>
              <a:t> </a:t>
            </a:r>
            <a:r>
              <a:rPr dirty="0" sz="2950" spc="-295">
                <a:latin typeface="Arial"/>
                <a:cs typeface="Arial"/>
              </a:rPr>
              <a:t>database</a:t>
            </a:r>
            <a:r>
              <a:rPr dirty="0" sz="2950" spc="-25">
                <a:latin typeface="Arial"/>
                <a:cs typeface="Arial"/>
              </a:rPr>
              <a:t> </a:t>
            </a:r>
            <a:r>
              <a:rPr dirty="0" sz="2950" spc="-320">
                <a:latin typeface="Arial"/>
                <a:cs typeface="Arial"/>
              </a:rPr>
              <a:t>serves</a:t>
            </a:r>
            <a:r>
              <a:rPr dirty="0" sz="2950" spc="-80">
                <a:latin typeface="Arial"/>
                <a:cs typeface="Arial"/>
              </a:rPr>
              <a:t> </a:t>
            </a:r>
            <a:r>
              <a:rPr dirty="0" sz="2950" spc="-300">
                <a:latin typeface="Arial"/>
                <a:cs typeface="Arial"/>
              </a:rPr>
              <a:t>as</a:t>
            </a:r>
            <a:r>
              <a:rPr dirty="0" sz="2950" spc="-270">
                <a:latin typeface="Arial"/>
                <a:cs typeface="Arial"/>
              </a:rPr>
              <a:t> </a:t>
            </a:r>
            <a:r>
              <a:rPr dirty="0" sz="2950" spc="-215">
                <a:latin typeface="Arial"/>
                <a:cs typeface="Arial"/>
              </a:rPr>
              <a:t>the</a:t>
            </a:r>
            <a:r>
              <a:rPr dirty="0" sz="2950" spc="-270">
                <a:latin typeface="Arial"/>
                <a:cs typeface="Arial"/>
              </a:rPr>
              <a:t> </a:t>
            </a:r>
            <a:r>
              <a:rPr dirty="0" sz="2950" spc="-254">
                <a:latin typeface="Arial"/>
                <a:cs typeface="Arial"/>
              </a:rPr>
              <a:t>core</a:t>
            </a:r>
            <a:r>
              <a:rPr dirty="0" sz="2950" spc="-145">
                <a:latin typeface="Arial"/>
                <a:cs typeface="Arial"/>
              </a:rPr>
              <a:t> </a:t>
            </a:r>
            <a:r>
              <a:rPr dirty="0" sz="2950" spc="-229">
                <a:latin typeface="Arial"/>
                <a:cs typeface="Arial"/>
              </a:rPr>
              <a:t>of</a:t>
            </a:r>
            <a:r>
              <a:rPr dirty="0" sz="2950" spc="-90">
                <a:latin typeface="Arial"/>
                <a:cs typeface="Arial"/>
              </a:rPr>
              <a:t> </a:t>
            </a:r>
            <a:r>
              <a:rPr dirty="0" sz="2950" spc="-280">
                <a:latin typeface="Arial"/>
                <a:cs typeface="Arial"/>
              </a:rPr>
              <a:t>the </a:t>
            </a:r>
            <a:r>
              <a:rPr dirty="0" sz="2950" spc="-280">
                <a:latin typeface="Arial"/>
                <a:cs typeface="Arial"/>
              </a:rPr>
              <a:t>	</a:t>
            </a:r>
            <a:r>
              <a:rPr dirty="0" sz="2950" spc="-550">
                <a:latin typeface="Arial"/>
                <a:cs typeface="Arial"/>
              </a:rPr>
              <a:t>ARCH</a:t>
            </a:r>
            <a:r>
              <a:rPr dirty="0" sz="2950" spc="-80">
                <a:latin typeface="Arial"/>
                <a:cs typeface="Arial"/>
              </a:rPr>
              <a:t> </a:t>
            </a:r>
            <a:r>
              <a:rPr dirty="0" sz="2950" spc="-220">
                <a:latin typeface="Arial"/>
                <a:cs typeface="Arial"/>
              </a:rPr>
              <a:t>platform</a:t>
            </a:r>
            <a:r>
              <a:rPr dirty="0" sz="2950" spc="25">
                <a:latin typeface="Arial"/>
                <a:cs typeface="Arial"/>
              </a:rPr>
              <a:t> </a:t>
            </a:r>
            <a:r>
              <a:rPr dirty="0" sz="2950" spc="-190">
                <a:latin typeface="Arial"/>
                <a:cs typeface="Arial"/>
              </a:rPr>
              <a:t>for</a:t>
            </a:r>
            <a:r>
              <a:rPr dirty="0" sz="2950" spc="-185">
                <a:latin typeface="Arial"/>
                <a:cs typeface="Arial"/>
              </a:rPr>
              <a:t> </a:t>
            </a:r>
            <a:r>
              <a:rPr dirty="0" sz="2950" spc="-254">
                <a:latin typeface="Arial"/>
                <a:cs typeface="Arial"/>
              </a:rPr>
              <a:t>semantic</a:t>
            </a:r>
            <a:r>
              <a:rPr dirty="0" sz="2950" spc="-95">
                <a:latin typeface="Arial"/>
                <a:cs typeface="Arial"/>
              </a:rPr>
              <a:t> </a:t>
            </a:r>
            <a:r>
              <a:rPr dirty="0" sz="2950" spc="-140">
                <a:latin typeface="Arial"/>
                <a:cs typeface="Arial"/>
              </a:rPr>
              <a:t>harmonization.</a:t>
            </a:r>
            <a:endParaRPr sz="2950">
              <a:latin typeface="Arial"/>
              <a:cs typeface="Arial"/>
            </a:endParaRPr>
          </a:p>
          <a:p>
            <a:pPr marL="437515" marR="5080" indent="-422909">
              <a:lnSpc>
                <a:spcPts val="2800"/>
              </a:lnSpc>
              <a:spcBef>
                <a:spcPts val="2270"/>
              </a:spcBef>
              <a:buClr>
                <a:srgbClr val="0A182F"/>
              </a:buClr>
              <a:buChar char="•"/>
              <a:tabLst>
                <a:tab pos="442595" algn="l"/>
              </a:tabLst>
            </a:pPr>
            <a:r>
              <a:rPr dirty="0" sz="2750" spc="-170">
                <a:solidFill>
                  <a:srgbClr val="111111"/>
                </a:solidFill>
                <a:latin typeface="Arial"/>
                <a:cs typeface="Arial"/>
              </a:rPr>
              <a:t>Universal</a:t>
            </a:r>
            <a:r>
              <a:rPr dirty="0" sz="2750" spc="-125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750" spc="-140">
                <a:solidFill>
                  <a:srgbClr val="080808"/>
                </a:solidFill>
                <a:latin typeface="Arial"/>
                <a:cs typeface="Arial"/>
              </a:rPr>
              <a:t>Recognition:</a:t>
            </a:r>
            <a:r>
              <a:rPr dirty="0" sz="2750" spc="8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2750" spc="-250">
                <a:latin typeface="Arial"/>
                <a:cs typeface="Arial"/>
              </a:rPr>
              <a:t>Ensures</a:t>
            </a:r>
            <a:r>
              <a:rPr dirty="0" sz="2750" spc="10">
                <a:latin typeface="Arial"/>
                <a:cs typeface="Arial"/>
              </a:rPr>
              <a:t> </a:t>
            </a:r>
            <a:r>
              <a:rPr dirty="0" sz="2750" spc="-175">
                <a:latin typeface="Arial"/>
                <a:cs typeface="Arial"/>
              </a:rPr>
              <a:t>a</a:t>
            </a:r>
            <a:r>
              <a:rPr dirty="0" sz="2750" spc="-204">
                <a:latin typeface="Arial"/>
                <a:cs typeface="Arial"/>
              </a:rPr>
              <a:t> </a:t>
            </a:r>
            <a:r>
              <a:rPr dirty="0" sz="2750" spc="-225">
                <a:latin typeface="Arial"/>
                <a:cs typeface="Arial"/>
              </a:rPr>
              <a:t>gene</a:t>
            </a:r>
            <a:r>
              <a:rPr dirty="0" sz="2750" spc="-105">
                <a:latin typeface="Arial"/>
                <a:cs typeface="Arial"/>
              </a:rPr>
              <a:t> </a:t>
            </a:r>
            <a:r>
              <a:rPr dirty="0" sz="2750" spc="-180">
                <a:latin typeface="Arial"/>
                <a:cs typeface="Arial"/>
              </a:rPr>
              <a:t>or</a:t>
            </a:r>
            <a:r>
              <a:rPr dirty="0" sz="2750" spc="-55">
                <a:latin typeface="Arial"/>
                <a:cs typeface="Arial"/>
              </a:rPr>
              <a:t> </a:t>
            </a:r>
            <a:r>
              <a:rPr dirty="0" sz="2750" spc="-200">
                <a:latin typeface="Arial"/>
                <a:cs typeface="Arial"/>
              </a:rPr>
              <a:t>disease</a:t>
            </a:r>
            <a:r>
              <a:rPr dirty="0" sz="2750" spc="-80">
                <a:latin typeface="Arial"/>
                <a:cs typeface="Arial"/>
              </a:rPr>
              <a:t> </a:t>
            </a:r>
            <a:r>
              <a:rPr dirty="0" sz="2750" spc="-95">
                <a:latin typeface="Arial"/>
                <a:cs typeface="Arial"/>
              </a:rPr>
              <a:t>is</a:t>
            </a:r>
            <a:r>
              <a:rPr dirty="0" sz="2750" spc="-185">
                <a:latin typeface="Arial"/>
                <a:cs typeface="Arial"/>
              </a:rPr>
              <a:t> </a:t>
            </a:r>
            <a:r>
              <a:rPr dirty="0" sz="2750" spc="-55">
                <a:latin typeface="Arial"/>
                <a:cs typeface="Arial"/>
              </a:rPr>
              <a:t>recognized </a:t>
            </a:r>
            <a:r>
              <a:rPr dirty="0" sz="2750" spc="-55">
                <a:latin typeface="Arial"/>
                <a:cs typeface="Arial"/>
              </a:rPr>
              <a:t>	</a:t>
            </a:r>
            <a:r>
              <a:rPr dirty="0" sz="2750" spc="-155">
                <a:latin typeface="Arial"/>
                <a:cs typeface="Arial"/>
              </a:rPr>
              <a:t>universally</a:t>
            </a:r>
            <a:r>
              <a:rPr dirty="0" sz="2750" spc="40">
                <a:latin typeface="Arial"/>
                <a:cs typeface="Arial"/>
              </a:rPr>
              <a:t> </a:t>
            </a:r>
            <a:r>
              <a:rPr dirty="0" sz="2750" spc="-195">
                <a:latin typeface="Arial"/>
                <a:cs typeface="Arial"/>
              </a:rPr>
              <a:t>across</a:t>
            </a:r>
            <a:r>
              <a:rPr dirty="0" sz="2750" spc="-45">
                <a:latin typeface="Arial"/>
                <a:cs typeface="Arial"/>
              </a:rPr>
              <a:t> </a:t>
            </a:r>
            <a:r>
              <a:rPr dirty="0" sz="2750" spc="-125">
                <a:latin typeface="Arial"/>
                <a:cs typeface="Arial"/>
              </a:rPr>
              <a:t>the</a:t>
            </a:r>
            <a:r>
              <a:rPr dirty="0" sz="2750" spc="-200">
                <a:latin typeface="Arial"/>
                <a:cs typeface="Arial"/>
              </a:rPr>
              <a:t> </a:t>
            </a:r>
            <a:r>
              <a:rPr dirty="0" sz="2750" spc="-160">
                <a:latin typeface="Arial"/>
                <a:cs typeface="Arial"/>
              </a:rPr>
              <a:t>enterprise</a:t>
            </a:r>
            <a:r>
              <a:rPr dirty="0" sz="2750" spc="-85">
                <a:latin typeface="Arial"/>
                <a:cs typeface="Arial"/>
              </a:rPr>
              <a:t> </a:t>
            </a:r>
            <a:r>
              <a:rPr dirty="0" sz="2750" spc="-160">
                <a:latin typeface="Arial"/>
                <a:cs typeface="Arial"/>
              </a:rPr>
              <a:t>regardless</a:t>
            </a:r>
            <a:r>
              <a:rPr dirty="0" sz="2750" spc="50">
                <a:latin typeface="Arial"/>
                <a:cs typeface="Arial"/>
              </a:rPr>
              <a:t> </a:t>
            </a:r>
            <a:r>
              <a:rPr dirty="0" sz="2750" spc="-65">
                <a:latin typeface="Arial"/>
                <a:cs typeface="Arial"/>
              </a:rPr>
              <a:t>of</a:t>
            </a:r>
            <a:r>
              <a:rPr dirty="0" sz="2750" spc="-40">
                <a:latin typeface="Arial"/>
                <a:cs typeface="Arial"/>
              </a:rPr>
              <a:t> </a:t>
            </a:r>
            <a:r>
              <a:rPr dirty="0" sz="2750" spc="-170">
                <a:latin typeface="Arial"/>
                <a:cs typeface="Arial"/>
              </a:rPr>
              <a:t>source</a:t>
            </a:r>
            <a:r>
              <a:rPr dirty="0" sz="2750" spc="-155">
                <a:latin typeface="Arial"/>
                <a:cs typeface="Arial"/>
              </a:rPr>
              <a:t> </a:t>
            </a:r>
            <a:r>
              <a:rPr dirty="0" sz="2750" spc="-75">
                <a:latin typeface="Arial"/>
                <a:cs typeface="Arial"/>
              </a:rPr>
              <a:t>formatting.</a:t>
            </a:r>
            <a:endParaRPr sz="2750">
              <a:latin typeface="Arial"/>
              <a:cs typeface="Arial"/>
            </a:endParaRPr>
          </a:p>
          <a:p>
            <a:pPr marL="445134" indent="-432434">
              <a:lnSpc>
                <a:spcPts val="3235"/>
              </a:lnSpc>
              <a:spcBef>
                <a:spcPts val="1440"/>
              </a:spcBef>
              <a:buClr>
                <a:srgbClr val="262626"/>
              </a:buClr>
              <a:buChar char="•"/>
              <a:tabLst>
                <a:tab pos="445134" algn="l"/>
              </a:tabLst>
            </a:pPr>
            <a:r>
              <a:rPr dirty="0" sz="3100" spc="-385">
                <a:solidFill>
                  <a:srgbClr val="0F0F0F"/>
                </a:solidFill>
                <a:latin typeface="Arial"/>
                <a:cs typeface="Arial"/>
              </a:rPr>
              <a:t>Compliance</a:t>
            </a:r>
            <a:r>
              <a:rPr dirty="0" sz="3100" spc="-114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3100" spc="-455">
                <a:solidFill>
                  <a:srgbClr val="051123"/>
                </a:solidFill>
                <a:latin typeface="Arial"/>
                <a:cs typeface="Arial"/>
              </a:rPr>
              <a:t>&amp;</a:t>
            </a:r>
            <a:r>
              <a:rPr dirty="0" sz="3100" spc="-320">
                <a:solidFill>
                  <a:srgbClr val="051123"/>
                </a:solidFill>
                <a:latin typeface="Arial"/>
                <a:cs typeface="Arial"/>
              </a:rPr>
              <a:t> </a:t>
            </a:r>
            <a:r>
              <a:rPr dirty="0" sz="3100" spc="-240">
                <a:solidFill>
                  <a:srgbClr val="0F0F0F"/>
                </a:solidFill>
                <a:latin typeface="Arial"/>
                <a:cs typeface="Arial"/>
              </a:rPr>
              <a:t>Integrity:</a:t>
            </a:r>
            <a:r>
              <a:rPr dirty="0" sz="3100" spc="-2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3100" spc="-350">
                <a:latin typeface="Arial"/>
                <a:cs typeface="Arial"/>
              </a:rPr>
              <a:t>Applies</a:t>
            </a:r>
            <a:r>
              <a:rPr dirty="0" sz="3100" spc="-155">
                <a:latin typeface="Arial"/>
                <a:cs typeface="Arial"/>
              </a:rPr>
              <a:t> </a:t>
            </a:r>
            <a:r>
              <a:rPr dirty="0" sz="3100" spc="-290">
                <a:latin typeface="Arial"/>
                <a:cs typeface="Arial"/>
              </a:rPr>
              <a:t>controlled</a:t>
            </a:r>
            <a:r>
              <a:rPr dirty="0" sz="3100" spc="-40">
                <a:latin typeface="Arial"/>
                <a:cs typeface="Arial"/>
              </a:rPr>
              <a:t> </a:t>
            </a:r>
            <a:r>
              <a:rPr dirty="0" sz="3100" spc="-350">
                <a:latin typeface="Arial"/>
                <a:cs typeface="Arial"/>
              </a:rPr>
              <a:t>vocabularies</a:t>
            </a:r>
            <a:r>
              <a:rPr dirty="0" sz="3100" spc="65">
                <a:latin typeface="Arial"/>
                <a:cs typeface="Arial"/>
              </a:rPr>
              <a:t> </a:t>
            </a:r>
            <a:r>
              <a:rPr dirty="0" sz="3100" spc="-445">
                <a:latin typeface="Arial"/>
                <a:cs typeface="Arial"/>
              </a:rPr>
              <a:t>and</a:t>
            </a:r>
            <a:endParaRPr sz="3100">
              <a:latin typeface="Arial"/>
              <a:cs typeface="Arial"/>
            </a:endParaRPr>
          </a:p>
          <a:p>
            <a:pPr marL="451484">
              <a:lnSpc>
                <a:spcPts val="3415"/>
              </a:lnSpc>
            </a:pPr>
            <a:r>
              <a:rPr dirty="0" sz="3250" spc="-390">
                <a:latin typeface="Arial"/>
                <a:cs typeface="Arial"/>
              </a:rPr>
              <a:t>ontologies</a:t>
            </a:r>
            <a:r>
              <a:rPr dirty="0" sz="3250" spc="60">
                <a:latin typeface="Arial"/>
                <a:cs typeface="Arial"/>
              </a:rPr>
              <a:t> </a:t>
            </a:r>
            <a:r>
              <a:rPr dirty="0" sz="3250" spc="-409">
                <a:latin typeface="Arial"/>
                <a:cs typeface="Arial"/>
              </a:rPr>
              <a:t>via</a:t>
            </a:r>
            <a:r>
              <a:rPr dirty="0" sz="3250" spc="-265">
                <a:latin typeface="Arial"/>
                <a:cs typeface="Arial"/>
              </a:rPr>
              <a:t> </a:t>
            </a:r>
            <a:r>
              <a:rPr dirty="0" sz="3250" spc="-409">
                <a:latin typeface="Arial"/>
                <a:cs typeface="Arial"/>
              </a:rPr>
              <a:t>SciBite</a:t>
            </a:r>
            <a:r>
              <a:rPr dirty="0" sz="3250" spc="-204">
                <a:latin typeface="Arial"/>
                <a:cs typeface="Arial"/>
              </a:rPr>
              <a:t> </a:t>
            </a:r>
            <a:r>
              <a:rPr dirty="0" sz="3250" spc="-225">
                <a:latin typeface="Arial"/>
                <a:cs typeface="Arial"/>
              </a:rPr>
              <a:t>to</a:t>
            </a:r>
            <a:r>
              <a:rPr dirty="0" sz="3250" spc="-450">
                <a:latin typeface="Arial"/>
                <a:cs typeface="Arial"/>
              </a:rPr>
              <a:t> </a:t>
            </a:r>
            <a:r>
              <a:rPr dirty="0" sz="3250" spc="-390">
                <a:latin typeface="Arial"/>
                <a:cs typeface="Arial"/>
              </a:rPr>
              <a:t>maintain</a:t>
            </a:r>
            <a:r>
              <a:rPr dirty="0" sz="3250" spc="-130">
                <a:latin typeface="Arial"/>
                <a:cs typeface="Arial"/>
              </a:rPr>
              <a:t> </a:t>
            </a:r>
            <a:r>
              <a:rPr dirty="0" sz="3250" spc="-370">
                <a:latin typeface="Arial"/>
                <a:cs typeface="Arial"/>
              </a:rPr>
              <a:t>rigorous</a:t>
            </a:r>
            <a:r>
              <a:rPr dirty="0" sz="3250" spc="-130">
                <a:latin typeface="Arial"/>
                <a:cs typeface="Arial"/>
              </a:rPr>
              <a:t> </a:t>
            </a:r>
            <a:r>
              <a:rPr dirty="0" sz="3250" spc="-434">
                <a:latin typeface="Arial"/>
                <a:cs typeface="Arial"/>
              </a:rPr>
              <a:t>data</a:t>
            </a:r>
            <a:r>
              <a:rPr dirty="0" sz="3250" spc="-130">
                <a:latin typeface="Arial"/>
                <a:cs typeface="Arial"/>
              </a:rPr>
              <a:t> </a:t>
            </a:r>
            <a:r>
              <a:rPr dirty="0" sz="3250" spc="-335">
                <a:latin typeface="Arial"/>
                <a:cs typeface="Arial"/>
              </a:rPr>
              <a:t>integrity.</a:t>
            </a:r>
            <a:endParaRPr sz="32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3100" y="3492500"/>
            <a:ext cx="3937000" cy="38354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45600" y="4356100"/>
            <a:ext cx="317500" cy="14605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150600" y="4991100"/>
            <a:ext cx="279400" cy="1270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030200" y="4991100"/>
            <a:ext cx="292100" cy="1270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4922500" y="4991100"/>
            <a:ext cx="266700" cy="127000"/>
          </a:xfrm>
          <a:prstGeom prst="rect">
            <a:avLst/>
          </a:prstGeom>
        </p:spPr>
      </p:pic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5795433" y="4318000"/>
          <a:ext cx="11057890" cy="15487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44955"/>
                <a:gridCol w="2218055"/>
                <a:gridCol w="1532255"/>
                <a:gridCol w="346710"/>
                <a:gridCol w="1519555"/>
                <a:gridCol w="359409"/>
                <a:gridCol w="1548765"/>
                <a:gridCol w="329565"/>
                <a:gridCol w="1557020"/>
              </a:tblGrid>
              <a:tr h="77851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algn="ctr" marL="44450">
                        <a:lnSpc>
                          <a:spcPts val="2445"/>
                        </a:lnSpc>
                      </a:pPr>
                      <a:r>
                        <a:rPr dirty="0" sz="2200" spc="-20">
                          <a:latin typeface="Trebuchet MS"/>
                          <a:cs typeface="Trebuchet MS"/>
                        </a:rPr>
                        <a:t>User</a:t>
                      </a:r>
                      <a:endParaRPr sz="2200">
                        <a:latin typeface="Trebuchet MS"/>
                        <a:cs typeface="Trebuchet MS"/>
                      </a:endParaRPr>
                    </a:p>
                    <a:p>
                      <a:pPr algn="ctr" marL="60325">
                        <a:lnSpc>
                          <a:spcPts val="2445"/>
                        </a:lnSpc>
                      </a:pPr>
                      <a:r>
                        <a:rPr dirty="0" sz="2200" spc="-10">
                          <a:latin typeface="Arial"/>
                          <a:cs typeface="Arial"/>
                        </a:rPr>
                        <a:t>Question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B="0" marT="93345">
                    <a:lnL w="28575">
                      <a:solidFill>
                        <a:srgbClr val="2F4457"/>
                      </a:solidFill>
                      <a:prstDash val="solid"/>
                    </a:lnL>
                    <a:lnR w="28575">
                      <a:solidFill>
                        <a:srgbClr val="2F4457"/>
                      </a:solidFill>
                      <a:prstDash val="solid"/>
                    </a:lnR>
                    <a:lnT w="28575">
                      <a:solidFill>
                        <a:srgbClr val="2F4457"/>
                      </a:solidFill>
                      <a:prstDash val="solid"/>
                    </a:lnT>
                    <a:lnB w="28575">
                      <a:solidFill>
                        <a:srgbClr val="2F4457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marL="56515">
                        <a:lnSpc>
                          <a:spcPts val="2455"/>
                        </a:lnSpc>
                        <a:spcBef>
                          <a:spcPts val="2014"/>
                        </a:spcBef>
                      </a:pPr>
                      <a:r>
                        <a:rPr dirty="0" sz="2300" spc="-365">
                          <a:latin typeface="Arial"/>
                          <a:cs typeface="Arial"/>
                        </a:rPr>
                        <a:t>AWS</a:t>
                      </a:r>
                      <a:endParaRPr sz="2300">
                        <a:latin typeface="Arial"/>
                        <a:cs typeface="Arial"/>
                      </a:endParaRPr>
                    </a:p>
                    <a:p>
                      <a:pPr marL="52705">
                        <a:lnSpc>
                          <a:spcPts val="2235"/>
                        </a:lnSpc>
                        <a:tabLst>
                          <a:tab pos="639445" algn="l"/>
                        </a:tabLst>
                      </a:pPr>
                      <a:r>
                        <a:rPr dirty="0" sz="2400" spc="-965">
                          <a:solidFill>
                            <a:srgbClr val="1D3152"/>
                          </a:solidFill>
                          <a:latin typeface="Arial"/>
                          <a:cs typeface="Arial"/>
                        </a:rPr>
                        <a:t>—</a:t>
                      </a:r>
                      <a:r>
                        <a:rPr dirty="0" sz="2400" spc="-610">
                          <a:solidFill>
                            <a:srgbClr val="1D3152"/>
                          </a:solidFill>
                          <a:latin typeface="Arial"/>
                          <a:cs typeface="Arial"/>
                        </a:rPr>
                        <a:t>+</a:t>
                      </a:r>
                      <a:r>
                        <a:rPr dirty="0" sz="2400">
                          <a:solidFill>
                            <a:srgbClr val="1D315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2400" spc="-50">
                          <a:latin typeface="Arial"/>
                          <a:cs typeface="Arial"/>
                        </a:rPr>
                        <a:t>Bedrock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algn="ctr" marL="31115">
                        <a:lnSpc>
                          <a:spcPts val="2660"/>
                        </a:lnSpc>
                      </a:pPr>
                      <a:r>
                        <a:rPr dirty="0" sz="2500" spc="-85">
                          <a:latin typeface="Arial"/>
                          <a:cs typeface="Arial"/>
                        </a:rPr>
                        <a:t>Router</a:t>
                      </a:r>
                      <a:endParaRPr sz="2500">
                        <a:latin typeface="Arial"/>
                        <a:cs typeface="Arial"/>
                      </a:endParaRPr>
                    </a:p>
                  </a:txBody>
                  <a:tcPr marL="0" marR="0" marB="0" marT="255904">
                    <a:lnL w="28575">
                      <a:solidFill>
                        <a:srgbClr val="2F4457"/>
                      </a:solidFill>
                      <a:prstDash val="solid"/>
                    </a:lnL>
                    <a:lnR w="28575">
                      <a:solidFill>
                        <a:srgbClr val="2F4457"/>
                      </a:solidFill>
                      <a:prstDash val="solid"/>
                    </a:lnR>
                    <a:lnT w="28575">
                      <a:solidFill>
                        <a:srgbClr val="2F4457"/>
                      </a:solidFill>
                      <a:prstDash val="solid"/>
                    </a:lnT>
                    <a:lnB w="28575">
                      <a:solidFill>
                        <a:srgbClr val="2F4457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algn="just" marL="360045" marR="306070" indent="-7620">
                        <a:lnSpc>
                          <a:spcPct val="86200"/>
                        </a:lnSpc>
                        <a:spcBef>
                          <a:spcPts val="2480"/>
                        </a:spcBef>
                      </a:pPr>
                      <a:r>
                        <a:rPr dirty="0" sz="2200" spc="-85">
                          <a:latin typeface="Arial"/>
                          <a:cs typeface="Arial"/>
                        </a:rPr>
                        <a:t>Precise </a:t>
                      </a:r>
                      <a:r>
                        <a:rPr dirty="0" sz="2200" spc="-70">
                          <a:latin typeface="Arial"/>
                          <a:cs typeface="Arial"/>
                        </a:rPr>
                        <a:t>Cypher </a:t>
                      </a:r>
                      <a:r>
                        <a:rPr dirty="0" sz="2200" spc="-10">
                          <a:latin typeface="Arial"/>
                          <a:cs typeface="Arial"/>
                        </a:rPr>
                        <a:t>Query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B="0" marT="314960">
                    <a:lnL w="28575">
                      <a:solidFill>
                        <a:srgbClr val="2F4457"/>
                      </a:solidFill>
                      <a:prstDash val="solid"/>
                    </a:lnL>
                    <a:lnR w="28575">
                      <a:solidFill>
                        <a:srgbClr val="2F4457"/>
                      </a:solidFill>
                      <a:prstDash val="solid"/>
                    </a:lnR>
                    <a:lnT w="28575">
                      <a:solidFill>
                        <a:srgbClr val="2F4457"/>
                      </a:solidFill>
                      <a:prstDash val="solid"/>
                    </a:lnT>
                    <a:lnB w="28575">
                      <a:solidFill>
                        <a:srgbClr val="2F445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835"/>
                        </a:spcBef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marL="213360">
                        <a:lnSpc>
                          <a:spcPts val="1664"/>
                        </a:lnSpc>
                      </a:pPr>
                      <a:r>
                        <a:rPr dirty="0" sz="2200" spc="-5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.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B="0" marT="233045">
                    <a:lnL w="28575">
                      <a:solidFill>
                        <a:srgbClr val="2F4457"/>
                      </a:solidFill>
                      <a:prstDash val="solid"/>
                    </a:lnL>
                    <a:lnR w="28575">
                      <a:solidFill>
                        <a:srgbClr val="2F4457"/>
                      </a:solidFill>
                      <a:prstDash val="solid"/>
                    </a:lnR>
                    <a:lnT w="28575">
                      <a:solidFill>
                        <a:srgbClr val="2F4457"/>
                      </a:solidFill>
                      <a:prstDash val="solid"/>
                    </a:lnT>
                    <a:lnB w="28575">
                      <a:solidFill>
                        <a:srgbClr val="2F4457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marL="247015" marR="193675" indent="19050">
                        <a:lnSpc>
                          <a:spcPct val="86200"/>
                        </a:lnSpc>
                        <a:spcBef>
                          <a:spcPts val="2480"/>
                        </a:spcBef>
                      </a:pPr>
                      <a:r>
                        <a:rPr dirty="0" sz="2200" spc="-10">
                          <a:latin typeface="Arial"/>
                          <a:cs typeface="Arial"/>
                        </a:rPr>
                        <a:t>Neo4j </a:t>
                      </a:r>
                      <a:r>
                        <a:rPr dirty="0" sz="2200" spc="-105">
                          <a:latin typeface="Arial"/>
                          <a:cs typeface="Arial"/>
                        </a:rPr>
                        <a:t>Semantic </a:t>
                      </a:r>
                      <a:r>
                        <a:rPr dirty="0" sz="2200" spc="-10">
                          <a:latin typeface="Arial"/>
                          <a:cs typeface="Arial"/>
                        </a:rPr>
                        <a:t>Graph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B="0" marT="314960">
                    <a:lnL w="28575">
                      <a:solidFill>
                        <a:srgbClr val="2F4457"/>
                      </a:solidFill>
                      <a:prstDash val="solid"/>
                    </a:lnL>
                    <a:lnR w="28575">
                      <a:solidFill>
                        <a:srgbClr val="2F4457"/>
                      </a:solidFill>
                      <a:prstDash val="solid"/>
                    </a:lnR>
                    <a:lnT w="28575">
                      <a:solidFill>
                        <a:srgbClr val="2F4457"/>
                      </a:solidFill>
                      <a:prstDash val="solid"/>
                    </a:lnT>
                    <a:lnB w="28575">
                      <a:solidFill>
                        <a:srgbClr val="2F445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835"/>
                        </a:spcBef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marL="224154">
                        <a:lnSpc>
                          <a:spcPts val="1664"/>
                        </a:lnSpc>
                      </a:pPr>
                      <a:r>
                        <a:rPr dirty="0" sz="2200" spc="-50">
                          <a:solidFill>
                            <a:srgbClr val="2F2F2F"/>
                          </a:solidFill>
                          <a:latin typeface="Arial"/>
                          <a:cs typeface="Arial"/>
                        </a:rPr>
                        <a:t>•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B="0" marT="233045">
                    <a:lnL w="28575">
                      <a:solidFill>
                        <a:srgbClr val="2F4457"/>
                      </a:solidFill>
                      <a:prstDash val="solid"/>
                    </a:lnL>
                    <a:lnR w="28575">
                      <a:solidFill>
                        <a:srgbClr val="2F4457"/>
                      </a:solidFill>
                      <a:prstDash val="solid"/>
                    </a:lnR>
                    <a:lnT w="28575">
                      <a:solidFill>
                        <a:srgbClr val="2F4457"/>
                      </a:solidFill>
                      <a:prstDash val="solid"/>
                    </a:lnT>
                    <a:lnB w="28575">
                      <a:solidFill>
                        <a:srgbClr val="2F4457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algn="just" marL="359410" marR="236220" indent="-86360">
                        <a:lnSpc>
                          <a:spcPct val="86200"/>
                        </a:lnSpc>
                        <a:spcBef>
                          <a:spcPts val="2480"/>
                        </a:spcBef>
                      </a:pPr>
                      <a:r>
                        <a:rPr dirty="0" sz="2200" spc="-65">
                          <a:latin typeface="Arial"/>
                          <a:cs typeface="Arial"/>
                        </a:rPr>
                        <a:t>Absolute </a:t>
                      </a:r>
                      <a:r>
                        <a:rPr dirty="0" sz="2200" spc="-10">
                          <a:latin typeface="Arial"/>
                          <a:cs typeface="Arial"/>
                        </a:rPr>
                        <a:t>Ground Truth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B="0" marT="314960">
                    <a:lnL w="28575">
                      <a:solidFill>
                        <a:srgbClr val="2F4457"/>
                      </a:solidFill>
                      <a:prstDash val="solid"/>
                    </a:lnL>
                    <a:lnR w="28575">
                      <a:solidFill>
                        <a:srgbClr val="2F4457"/>
                      </a:solidFill>
                      <a:prstDash val="solid"/>
                    </a:lnR>
                    <a:lnT w="28575">
                      <a:solidFill>
                        <a:srgbClr val="2F4457"/>
                      </a:solidFill>
                      <a:prstDash val="solid"/>
                    </a:lnT>
                    <a:lnB w="28575">
                      <a:solidFill>
                        <a:srgbClr val="2F445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2F4457"/>
                      </a:solidFill>
                      <a:prstDash val="solid"/>
                    </a:lnL>
                    <a:lnR w="28575">
                      <a:solidFill>
                        <a:srgbClr val="2F4457"/>
                      </a:solidFill>
                      <a:prstDash val="solid"/>
                    </a:lnR>
                    <a:lnT w="28575">
                      <a:solidFill>
                        <a:srgbClr val="2F4457"/>
                      </a:solidFill>
                      <a:prstDash val="solid"/>
                    </a:lnT>
                    <a:lnB w="28575">
                      <a:solidFill>
                        <a:srgbClr val="2F4457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endParaRPr sz="2150">
                        <a:latin typeface="Times New Roman"/>
                        <a:cs typeface="Times New Roman"/>
                      </a:endParaRPr>
                    </a:p>
                    <a:p>
                      <a:pPr marL="361950" marR="312420" indent="-14604">
                        <a:lnSpc>
                          <a:spcPts val="2250"/>
                        </a:lnSpc>
                        <a:spcBef>
                          <a:spcPts val="5"/>
                        </a:spcBef>
                      </a:pPr>
                      <a:r>
                        <a:rPr dirty="0" sz="2150" spc="-50">
                          <a:latin typeface="Arial"/>
                          <a:cs typeface="Arial"/>
                        </a:rPr>
                        <a:t>Verified </a:t>
                      </a:r>
                      <a:r>
                        <a:rPr dirty="0" sz="2150" spc="-60">
                          <a:latin typeface="Arial"/>
                          <a:cs typeface="Arial"/>
                        </a:rPr>
                        <a:t>Answer</a:t>
                      </a:r>
                      <a:endParaRPr sz="2150">
                        <a:latin typeface="Arial"/>
                        <a:cs typeface="Arial"/>
                      </a:endParaRPr>
                    </a:p>
                  </a:txBody>
                  <a:tcPr marL="0" marR="0" marB="0" marT="151130">
                    <a:lnL w="28575">
                      <a:solidFill>
                        <a:srgbClr val="2F4457"/>
                      </a:solidFill>
                      <a:prstDash val="solid"/>
                    </a:lnL>
                    <a:lnR w="28575">
                      <a:solidFill>
                        <a:srgbClr val="2F4457"/>
                      </a:solidFill>
                      <a:prstDash val="solid"/>
                    </a:lnR>
                    <a:lnT w="28575">
                      <a:solidFill>
                        <a:srgbClr val="2F4457"/>
                      </a:solidFill>
                      <a:prstDash val="solid"/>
                    </a:lnT>
                    <a:lnB w="28575">
                      <a:solidFill>
                        <a:srgbClr val="2F4457"/>
                      </a:solidFill>
                      <a:prstDash val="solid"/>
                    </a:lnB>
                  </a:tcPr>
                </a:tc>
              </a:tr>
              <a:tr h="77025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93345">
                    <a:lnL w="28575">
                      <a:solidFill>
                        <a:srgbClr val="2F4457"/>
                      </a:solidFill>
                      <a:prstDash val="solid"/>
                    </a:lnL>
                    <a:lnR w="28575">
                      <a:solidFill>
                        <a:srgbClr val="2F4457"/>
                      </a:solidFill>
                      <a:prstDash val="solid"/>
                    </a:lnR>
                    <a:lnT w="28575">
                      <a:solidFill>
                        <a:srgbClr val="2F4457"/>
                      </a:solidFill>
                      <a:prstDash val="solid"/>
                    </a:lnT>
                    <a:lnB w="28575">
                      <a:solidFill>
                        <a:srgbClr val="2F4457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55904">
                    <a:lnL w="28575">
                      <a:solidFill>
                        <a:srgbClr val="2F4457"/>
                      </a:solidFill>
                      <a:prstDash val="solid"/>
                    </a:lnL>
                    <a:lnR w="28575">
                      <a:solidFill>
                        <a:srgbClr val="2F4457"/>
                      </a:solidFill>
                      <a:prstDash val="solid"/>
                    </a:lnR>
                    <a:lnT w="28575">
                      <a:solidFill>
                        <a:srgbClr val="2F4457"/>
                      </a:solidFill>
                      <a:prstDash val="solid"/>
                    </a:lnT>
                    <a:lnB w="28575">
                      <a:solidFill>
                        <a:srgbClr val="2F4457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14960">
                    <a:lnL w="28575">
                      <a:solidFill>
                        <a:srgbClr val="2F4457"/>
                      </a:solidFill>
                      <a:prstDash val="solid"/>
                    </a:lnL>
                    <a:lnR w="28575">
                      <a:solidFill>
                        <a:srgbClr val="2F4457"/>
                      </a:solidFill>
                      <a:prstDash val="solid"/>
                    </a:lnR>
                    <a:lnT w="28575">
                      <a:solidFill>
                        <a:srgbClr val="2F4457"/>
                      </a:solidFill>
                      <a:prstDash val="solid"/>
                    </a:lnT>
                    <a:lnB w="28575">
                      <a:solidFill>
                        <a:srgbClr val="2F445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2F4457"/>
                      </a:solidFill>
                      <a:prstDash val="solid"/>
                    </a:lnL>
                    <a:lnR w="28575">
                      <a:solidFill>
                        <a:srgbClr val="2F4457"/>
                      </a:solidFill>
                      <a:prstDash val="solid"/>
                    </a:lnR>
                    <a:lnT w="28575">
                      <a:solidFill>
                        <a:srgbClr val="2F4457"/>
                      </a:solidFill>
                      <a:prstDash val="solid"/>
                    </a:lnT>
                    <a:lnB w="28575">
                      <a:solidFill>
                        <a:srgbClr val="2F4457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14960">
                    <a:lnL w="28575">
                      <a:solidFill>
                        <a:srgbClr val="2F4457"/>
                      </a:solidFill>
                      <a:prstDash val="solid"/>
                    </a:lnL>
                    <a:lnR w="28575">
                      <a:solidFill>
                        <a:srgbClr val="2F4457"/>
                      </a:solidFill>
                      <a:prstDash val="solid"/>
                    </a:lnR>
                    <a:lnT w="28575">
                      <a:solidFill>
                        <a:srgbClr val="2F4457"/>
                      </a:solidFill>
                      <a:prstDash val="solid"/>
                    </a:lnT>
                    <a:lnB w="28575">
                      <a:solidFill>
                        <a:srgbClr val="2F445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2F4457"/>
                      </a:solidFill>
                      <a:prstDash val="solid"/>
                    </a:lnL>
                    <a:lnR w="28575">
                      <a:solidFill>
                        <a:srgbClr val="2F4457"/>
                      </a:solidFill>
                      <a:prstDash val="solid"/>
                    </a:lnR>
                    <a:lnT w="28575">
                      <a:solidFill>
                        <a:srgbClr val="2F4457"/>
                      </a:solidFill>
                      <a:prstDash val="solid"/>
                    </a:lnT>
                    <a:lnB w="28575">
                      <a:solidFill>
                        <a:srgbClr val="2F4457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14960">
                    <a:lnL w="28575">
                      <a:solidFill>
                        <a:srgbClr val="2F4457"/>
                      </a:solidFill>
                      <a:prstDash val="solid"/>
                    </a:lnL>
                    <a:lnR w="28575">
                      <a:solidFill>
                        <a:srgbClr val="2F4457"/>
                      </a:solidFill>
                      <a:prstDash val="solid"/>
                    </a:lnR>
                    <a:lnT w="28575">
                      <a:solidFill>
                        <a:srgbClr val="2F4457"/>
                      </a:solidFill>
                      <a:prstDash val="solid"/>
                    </a:lnT>
                    <a:lnB w="28575">
                      <a:solidFill>
                        <a:srgbClr val="2F445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0820">
                        <a:lnSpc>
                          <a:spcPts val="2014"/>
                        </a:lnSpc>
                      </a:pPr>
                      <a:r>
                        <a:rPr dirty="0" sz="2150" spc="5">
                          <a:solidFill>
                            <a:srgbClr val="282828"/>
                          </a:solidFill>
                          <a:latin typeface="Arial"/>
                          <a:cs typeface="Arial"/>
                        </a:rPr>
                        <a:t>“</a:t>
                      </a:r>
                      <a:endParaRPr sz="21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28575">
                      <a:solidFill>
                        <a:srgbClr val="2F4457"/>
                      </a:solidFill>
                      <a:prstDash val="solid"/>
                    </a:lnL>
                    <a:lnR w="28575">
                      <a:solidFill>
                        <a:srgbClr val="2F4457"/>
                      </a:solidFill>
                      <a:prstDash val="solid"/>
                    </a:lnR>
                    <a:lnT w="28575">
                      <a:solidFill>
                        <a:srgbClr val="2F4457"/>
                      </a:solidFill>
                      <a:prstDash val="solid"/>
                    </a:lnT>
                    <a:lnB w="28575">
                      <a:solidFill>
                        <a:srgbClr val="2F4457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51130">
                    <a:lnL w="28575">
                      <a:solidFill>
                        <a:srgbClr val="2F4457"/>
                      </a:solidFill>
                      <a:prstDash val="solid"/>
                    </a:lnL>
                    <a:lnR w="28575">
                      <a:solidFill>
                        <a:srgbClr val="2F4457"/>
                      </a:solidFill>
                      <a:prstDash val="solid"/>
                    </a:lnR>
                    <a:lnT w="28575">
                      <a:solidFill>
                        <a:srgbClr val="2F4457"/>
                      </a:solidFill>
                      <a:prstDash val="solid"/>
                    </a:lnT>
                    <a:lnB w="28575">
                      <a:solidFill>
                        <a:srgbClr val="2F445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55"/>
              </a:lnSpc>
            </a:pPr>
            <a:r>
              <a:rPr dirty="0"/>
              <a:t>G</a:t>
            </a:r>
            <a:r>
              <a:rPr dirty="0" spc="490"/>
              <a:t> </a:t>
            </a:r>
            <a:r>
              <a:rPr dirty="0" spc="-10"/>
              <a:t>NotebookLM</a:t>
            </a: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636508" y="426508"/>
            <a:ext cx="9425940" cy="1409700"/>
          </a:xfrm>
          <a:prstGeom prst="rect"/>
        </p:spPr>
        <p:txBody>
          <a:bodyPr wrap="square" lIns="0" tIns="97790" rIns="0" bIns="0" rtlCol="0" vert="horz">
            <a:spAutoFit/>
          </a:bodyPr>
          <a:lstStyle/>
          <a:p>
            <a:pPr marL="12700" marR="5080" indent="4445">
              <a:lnSpc>
                <a:spcPts val="5150"/>
              </a:lnSpc>
              <a:spcBef>
                <a:spcPts val="770"/>
              </a:spcBef>
            </a:pPr>
            <a:r>
              <a:rPr dirty="0" sz="4800" spc="-70">
                <a:solidFill>
                  <a:srgbClr val="0A182D"/>
                </a:solidFill>
              </a:rPr>
              <a:t>Layer</a:t>
            </a:r>
            <a:r>
              <a:rPr dirty="0" sz="4800" spc="-265">
                <a:solidFill>
                  <a:srgbClr val="0A182D"/>
                </a:solidFill>
              </a:rPr>
              <a:t> </a:t>
            </a:r>
            <a:r>
              <a:rPr dirty="0" sz="4800" spc="210">
                <a:solidFill>
                  <a:srgbClr val="08162B"/>
                </a:solidFill>
              </a:rPr>
              <a:t>3</a:t>
            </a:r>
            <a:r>
              <a:rPr dirty="0" sz="4800" spc="-420">
                <a:solidFill>
                  <a:srgbClr val="08162B"/>
                </a:solidFill>
              </a:rPr>
              <a:t> </a:t>
            </a:r>
            <a:r>
              <a:rPr dirty="0" sz="4800" spc="-85">
                <a:solidFill>
                  <a:srgbClr val="051326"/>
                </a:solidFill>
              </a:rPr>
              <a:t>Employs</a:t>
            </a:r>
            <a:r>
              <a:rPr dirty="0" sz="4800" spc="-160">
                <a:solidFill>
                  <a:srgbClr val="051326"/>
                </a:solidFill>
              </a:rPr>
              <a:t> </a:t>
            </a:r>
            <a:r>
              <a:rPr dirty="0" sz="4800" spc="-285">
                <a:solidFill>
                  <a:srgbClr val="071328"/>
                </a:solidFill>
              </a:rPr>
              <a:t>RAG</a:t>
            </a:r>
            <a:r>
              <a:rPr dirty="0" sz="4800" spc="-185">
                <a:solidFill>
                  <a:srgbClr val="071328"/>
                </a:solidFill>
              </a:rPr>
              <a:t> </a:t>
            </a:r>
            <a:r>
              <a:rPr dirty="0" sz="4800" spc="135">
                <a:solidFill>
                  <a:srgbClr val="031323"/>
                </a:solidFill>
              </a:rPr>
              <a:t>to</a:t>
            </a:r>
            <a:r>
              <a:rPr dirty="0" sz="4800" spc="-430">
                <a:solidFill>
                  <a:srgbClr val="031323"/>
                </a:solidFill>
              </a:rPr>
              <a:t> </a:t>
            </a:r>
            <a:r>
              <a:rPr dirty="0" sz="4800" spc="-30">
                <a:solidFill>
                  <a:srgbClr val="071831"/>
                </a:solidFill>
              </a:rPr>
              <a:t>Guarantee </a:t>
            </a:r>
            <a:r>
              <a:rPr dirty="0" sz="4800" spc="-10">
                <a:solidFill>
                  <a:srgbClr val="161616"/>
                </a:solidFill>
              </a:rPr>
              <a:t>Hallucination-Free</a:t>
            </a:r>
            <a:r>
              <a:rPr dirty="0" sz="4800" spc="-340">
                <a:solidFill>
                  <a:srgbClr val="161616"/>
                </a:solidFill>
              </a:rPr>
              <a:t> </a:t>
            </a:r>
            <a:r>
              <a:rPr dirty="0" sz="4800" spc="-35">
                <a:solidFill>
                  <a:srgbClr val="05182F"/>
                </a:solidFill>
              </a:rPr>
              <a:t>AI</a:t>
            </a:r>
            <a:r>
              <a:rPr dirty="0" sz="4800" spc="-560">
                <a:solidFill>
                  <a:srgbClr val="05182F"/>
                </a:solidFill>
              </a:rPr>
              <a:t> </a:t>
            </a:r>
            <a:r>
              <a:rPr dirty="0" sz="4800" spc="-10">
                <a:solidFill>
                  <a:srgbClr val="051326"/>
                </a:solidFill>
              </a:rPr>
              <a:t>Insights</a:t>
            </a:r>
            <a:endParaRPr sz="4800"/>
          </a:p>
        </p:txBody>
      </p:sp>
      <p:sp>
        <p:nvSpPr>
          <p:cNvPr id="9" name="object 9"/>
          <p:cNvSpPr txBox="1"/>
          <p:nvPr/>
        </p:nvSpPr>
        <p:spPr>
          <a:xfrm>
            <a:off x="7685616" y="2525183"/>
            <a:ext cx="1562100" cy="1549400"/>
          </a:xfrm>
          <a:prstGeom prst="rect">
            <a:avLst/>
          </a:prstGeom>
          <a:ln w="21166">
            <a:solidFill>
              <a:srgbClr val="344457"/>
            </a:solidFill>
          </a:ln>
        </p:spPr>
        <p:txBody>
          <a:bodyPr wrap="square" lIns="0" tIns="311785" rIns="0" bIns="0" rtlCol="0" vert="horz">
            <a:spAutoFit/>
          </a:bodyPr>
          <a:lstStyle/>
          <a:p>
            <a:pPr marL="370205" marR="167005" indent="-179070">
              <a:lnSpc>
                <a:spcPct val="87200"/>
              </a:lnSpc>
              <a:spcBef>
                <a:spcPts val="2455"/>
              </a:spcBef>
            </a:pPr>
            <a:r>
              <a:rPr dirty="0" sz="2200" spc="-75">
                <a:latin typeface="Arial"/>
                <a:cs typeface="Arial"/>
              </a:rPr>
              <a:t>Enterprise </a:t>
            </a:r>
            <a:r>
              <a:rPr dirty="0" sz="2150" spc="-10">
                <a:latin typeface="Arial"/>
                <a:cs typeface="Arial"/>
              </a:rPr>
              <a:t>Prompt </a:t>
            </a:r>
            <a:r>
              <a:rPr dirty="0" sz="2200" spc="-10">
                <a:latin typeface="Arial"/>
                <a:cs typeface="Arial"/>
              </a:rPr>
              <a:t>Library</a:t>
            </a:r>
            <a:endParaRPr sz="2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833100" y="6146447"/>
            <a:ext cx="2423795" cy="1157605"/>
          </a:xfrm>
          <a:prstGeom prst="rect">
            <a:avLst/>
          </a:prstGeom>
        </p:spPr>
        <p:txBody>
          <a:bodyPr wrap="square" lIns="0" tIns="81280" rIns="0" bIns="0" rtlCol="0" vert="horz">
            <a:spAutoFit/>
          </a:bodyPr>
          <a:lstStyle/>
          <a:p>
            <a:pPr marL="12700" marR="5080">
              <a:lnSpc>
                <a:spcPct val="79200"/>
              </a:lnSpc>
              <a:spcBef>
                <a:spcPts val="640"/>
              </a:spcBef>
            </a:pPr>
            <a:r>
              <a:rPr dirty="0" sz="2150" spc="-10">
                <a:latin typeface="Arial"/>
                <a:cs typeface="Arial"/>
              </a:rPr>
              <a:t>Enterprise</a:t>
            </a:r>
            <a:r>
              <a:rPr dirty="0" sz="2150" spc="-140">
                <a:latin typeface="Arial"/>
                <a:cs typeface="Arial"/>
              </a:rPr>
              <a:t> </a:t>
            </a:r>
            <a:r>
              <a:rPr dirty="0" sz="2150" spc="-25">
                <a:latin typeface="Arial"/>
                <a:cs typeface="Arial"/>
              </a:rPr>
              <a:t>LLM </a:t>
            </a:r>
            <a:r>
              <a:rPr dirty="0" sz="2150" spc="-20">
                <a:latin typeface="Arial"/>
                <a:cs typeface="Arial"/>
              </a:rPr>
              <a:t>Router:</a:t>
            </a:r>
            <a:r>
              <a:rPr dirty="0" sz="2150" spc="-125">
                <a:latin typeface="Arial"/>
                <a:cs typeface="Arial"/>
              </a:rPr>
              <a:t> </a:t>
            </a:r>
            <a:r>
              <a:rPr dirty="0" sz="2150" spc="-35">
                <a:latin typeface="Arial"/>
                <a:cs typeface="Arial"/>
              </a:rPr>
              <a:t>Utilizes</a:t>
            </a:r>
            <a:r>
              <a:rPr dirty="0" sz="2150" spc="-75">
                <a:latin typeface="Arial"/>
                <a:cs typeface="Arial"/>
              </a:rPr>
              <a:t> </a:t>
            </a:r>
            <a:r>
              <a:rPr dirty="0" sz="2150" spc="-215">
                <a:latin typeface="Arial"/>
                <a:cs typeface="Arial"/>
              </a:rPr>
              <a:t>AWS </a:t>
            </a:r>
            <a:r>
              <a:rPr dirty="0" sz="2200" spc="-100">
                <a:latin typeface="Arial"/>
                <a:cs typeface="Arial"/>
              </a:rPr>
              <a:t>Bedrock</a:t>
            </a:r>
            <a:r>
              <a:rPr dirty="0" sz="2200" spc="30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to</a:t>
            </a:r>
            <a:r>
              <a:rPr dirty="0" sz="2200" spc="-150">
                <a:latin typeface="Arial"/>
                <a:cs typeface="Arial"/>
              </a:rPr>
              <a:t> </a:t>
            </a:r>
            <a:r>
              <a:rPr dirty="0" sz="2200" spc="-10">
                <a:latin typeface="Arial"/>
                <a:cs typeface="Arial"/>
              </a:rPr>
              <a:t>process </a:t>
            </a:r>
            <a:r>
              <a:rPr dirty="0" sz="2300" spc="-175">
                <a:latin typeface="Arial"/>
                <a:cs typeface="Arial"/>
              </a:rPr>
              <a:t>user</a:t>
            </a:r>
            <a:r>
              <a:rPr dirty="0" sz="2300" spc="-50">
                <a:latin typeface="Arial"/>
                <a:cs typeface="Arial"/>
              </a:rPr>
              <a:t> </a:t>
            </a:r>
            <a:r>
              <a:rPr dirty="0" sz="2300" spc="-25">
                <a:latin typeface="Arial"/>
                <a:cs typeface="Arial"/>
              </a:rPr>
              <a:t>interactions.</a:t>
            </a:r>
            <a:endParaRPr sz="23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639103" y="6143977"/>
            <a:ext cx="2210435" cy="1675130"/>
          </a:xfrm>
          <a:prstGeom prst="rect">
            <a:avLst/>
          </a:prstGeom>
        </p:spPr>
        <p:txBody>
          <a:bodyPr wrap="square" lIns="0" tIns="78105" rIns="0" bIns="0" rtlCol="0" vert="horz">
            <a:spAutoFit/>
          </a:bodyPr>
          <a:lstStyle/>
          <a:p>
            <a:pPr marL="20320" marR="5080" indent="-8255">
              <a:lnSpc>
                <a:spcPct val="81200"/>
              </a:lnSpc>
              <a:spcBef>
                <a:spcPts val="615"/>
              </a:spcBef>
            </a:pPr>
            <a:r>
              <a:rPr dirty="0" sz="2200">
                <a:latin typeface="Arial"/>
                <a:cs typeface="Arial"/>
              </a:rPr>
              <a:t>Retrieval-</a:t>
            </a:r>
            <a:r>
              <a:rPr dirty="0" sz="2050" spc="-10">
                <a:latin typeface="Arial"/>
                <a:cs typeface="Arial"/>
              </a:rPr>
              <a:t>Augmented </a:t>
            </a:r>
            <a:r>
              <a:rPr dirty="0" sz="2150" spc="-35">
                <a:latin typeface="Arial"/>
                <a:cs typeface="Arial"/>
              </a:rPr>
              <a:t>Generation</a:t>
            </a:r>
            <a:r>
              <a:rPr dirty="0" sz="2150" spc="-70">
                <a:latin typeface="Arial"/>
                <a:cs typeface="Arial"/>
              </a:rPr>
              <a:t> </a:t>
            </a:r>
            <a:r>
              <a:rPr dirty="0" sz="2150" spc="-80">
                <a:latin typeface="Arial"/>
                <a:cs typeface="Arial"/>
              </a:rPr>
              <a:t>(RAG): </a:t>
            </a:r>
            <a:r>
              <a:rPr dirty="0" sz="2300" spc="-220">
                <a:latin typeface="Arial"/>
                <a:cs typeface="Arial"/>
              </a:rPr>
              <a:t>The</a:t>
            </a:r>
            <a:r>
              <a:rPr dirty="0" sz="2300" spc="5">
                <a:latin typeface="Arial"/>
                <a:cs typeface="Arial"/>
              </a:rPr>
              <a:t> </a:t>
            </a:r>
            <a:r>
              <a:rPr dirty="0" sz="2300" spc="-245">
                <a:latin typeface="Arial"/>
                <a:cs typeface="Arial"/>
              </a:rPr>
              <a:t>LLM</a:t>
            </a:r>
            <a:r>
              <a:rPr dirty="0" sz="2300" spc="5">
                <a:latin typeface="Arial"/>
                <a:cs typeface="Arial"/>
              </a:rPr>
              <a:t> </a:t>
            </a:r>
            <a:r>
              <a:rPr dirty="0" sz="2300" spc="-10">
                <a:latin typeface="Arial"/>
                <a:cs typeface="Arial"/>
              </a:rPr>
              <a:t>interacts </a:t>
            </a:r>
            <a:r>
              <a:rPr dirty="0" sz="2050">
                <a:latin typeface="Arial"/>
                <a:cs typeface="Arial"/>
              </a:rPr>
              <a:t>directly</a:t>
            </a:r>
            <a:r>
              <a:rPr dirty="0" sz="2050" spc="30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with</a:t>
            </a:r>
            <a:r>
              <a:rPr dirty="0" sz="2050" spc="60">
                <a:latin typeface="Arial"/>
                <a:cs typeface="Arial"/>
              </a:rPr>
              <a:t> </a:t>
            </a:r>
            <a:r>
              <a:rPr dirty="0" sz="2050" spc="-25">
                <a:latin typeface="Arial"/>
                <a:cs typeface="Arial"/>
              </a:rPr>
              <a:t>the </a:t>
            </a:r>
            <a:r>
              <a:rPr dirty="0" sz="2050">
                <a:latin typeface="Arial"/>
                <a:cs typeface="Arial"/>
              </a:rPr>
              <a:t>Neo4j</a:t>
            </a:r>
            <a:r>
              <a:rPr dirty="0" sz="2050" spc="-90">
                <a:latin typeface="Arial"/>
                <a:cs typeface="Arial"/>
              </a:rPr>
              <a:t> </a:t>
            </a:r>
            <a:r>
              <a:rPr dirty="0" sz="2050" spc="-10">
                <a:latin typeface="Arial"/>
                <a:cs typeface="Arial"/>
              </a:rPr>
              <a:t>graph.</a:t>
            </a:r>
            <a:endParaRPr sz="20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429029" y="6152797"/>
            <a:ext cx="2535555" cy="1668145"/>
          </a:xfrm>
          <a:prstGeom prst="rect">
            <a:avLst/>
          </a:prstGeom>
        </p:spPr>
        <p:txBody>
          <a:bodyPr wrap="square" lIns="0" tIns="78740" rIns="0" bIns="0" rtlCol="0" vert="horz">
            <a:spAutoFit/>
          </a:bodyPr>
          <a:lstStyle/>
          <a:p>
            <a:pPr marL="12700" marR="5080">
              <a:lnSpc>
                <a:spcPct val="79900"/>
              </a:lnSpc>
              <a:spcBef>
                <a:spcPts val="620"/>
              </a:spcBef>
            </a:pPr>
            <a:r>
              <a:rPr dirty="0" sz="2150" spc="-10">
                <a:latin typeface="Arial"/>
                <a:cs typeface="Arial"/>
              </a:rPr>
              <a:t>Context</a:t>
            </a:r>
            <a:r>
              <a:rPr dirty="0" sz="2150" spc="-105">
                <a:latin typeface="Arial"/>
                <a:cs typeface="Arial"/>
              </a:rPr>
              <a:t> </a:t>
            </a:r>
            <a:r>
              <a:rPr dirty="0" sz="2150" spc="-25">
                <a:latin typeface="Arial"/>
                <a:cs typeface="Arial"/>
              </a:rPr>
              <a:t>Engineering: </a:t>
            </a:r>
            <a:r>
              <a:rPr dirty="0" sz="2150" spc="-190">
                <a:latin typeface="Arial"/>
                <a:cs typeface="Arial"/>
              </a:rPr>
              <a:t>An</a:t>
            </a:r>
            <a:r>
              <a:rPr dirty="0" sz="2150" spc="25">
                <a:latin typeface="Arial"/>
                <a:cs typeface="Arial"/>
              </a:rPr>
              <a:t> </a:t>
            </a:r>
            <a:r>
              <a:rPr dirty="0" sz="2150" spc="-50">
                <a:latin typeface="Arial"/>
                <a:cs typeface="Arial"/>
              </a:rPr>
              <a:t>enterprise</a:t>
            </a:r>
            <a:r>
              <a:rPr dirty="0" sz="2150" spc="-70">
                <a:latin typeface="Arial"/>
                <a:cs typeface="Arial"/>
              </a:rPr>
              <a:t> </a:t>
            </a:r>
            <a:r>
              <a:rPr dirty="0" sz="2150" spc="-10">
                <a:latin typeface="Arial"/>
                <a:cs typeface="Arial"/>
              </a:rPr>
              <a:t>prompt </a:t>
            </a:r>
            <a:r>
              <a:rPr dirty="0" sz="2050">
                <a:latin typeface="Arial"/>
                <a:cs typeface="Arial"/>
              </a:rPr>
              <a:t>library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 spc="-25">
                <a:latin typeface="Arial"/>
                <a:cs typeface="Arial"/>
              </a:rPr>
              <a:t>ensures</a:t>
            </a:r>
            <a:r>
              <a:rPr dirty="0" sz="2050" spc="-15">
                <a:latin typeface="Arial"/>
                <a:cs typeface="Arial"/>
              </a:rPr>
              <a:t> </a:t>
            </a:r>
            <a:r>
              <a:rPr dirty="0" sz="2050" spc="-25">
                <a:latin typeface="Arial"/>
                <a:cs typeface="Arial"/>
              </a:rPr>
              <a:t>the </a:t>
            </a:r>
            <a:r>
              <a:rPr dirty="0" sz="2300" spc="-245">
                <a:latin typeface="Arial"/>
                <a:cs typeface="Arial"/>
              </a:rPr>
              <a:t>LLM</a:t>
            </a:r>
            <a:r>
              <a:rPr dirty="0" sz="2300" spc="-10">
                <a:latin typeface="Arial"/>
                <a:cs typeface="Arial"/>
              </a:rPr>
              <a:t> </a:t>
            </a:r>
            <a:r>
              <a:rPr dirty="0" sz="2300" spc="-120">
                <a:latin typeface="Arial"/>
                <a:cs typeface="Arial"/>
              </a:rPr>
              <a:t>retrieves</a:t>
            </a:r>
            <a:r>
              <a:rPr dirty="0" sz="2300" spc="45">
                <a:latin typeface="Arial"/>
                <a:cs typeface="Arial"/>
              </a:rPr>
              <a:t> </a:t>
            </a:r>
            <a:r>
              <a:rPr dirty="0" sz="2300" spc="-10">
                <a:latin typeface="Arial"/>
                <a:cs typeface="Arial"/>
              </a:rPr>
              <a:t>exact </a:t>
            </a:r>
            <a:r>
              <a:rPr dirty="0" sz="2150" spc="-45">
                <a:latin typeface="Arial"/>
                <a:cs typeface="Arial"/>
              </a:rPr>
              <a:t>Cypher</a:t>
            </a:r>
            <a:r>
              <a:rPr dirty="0" sz="2150" spc="-40">
                <a:latin typeface="Arial"/>
                <a:cs typeface="Arial"/>
              </a:rPr>
              <a:t> </a:t>
            </a:r>
            <a:r>
              <a:rPr dirty="0" sz="2150" spc="-10">
                <a:latin typeface="Arial"/>
                <a:cs typeface="Arial"/>
              </a:rPr>
              <a:t>query outputs.</a:t>
            </a:r>
            <a:endParaRPr sz="21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218119" y="6170436"/>
            <a:ext cx="2648585" cy="1382395"/>
          </a:xfrm>
          <a:prstGeom prst="rect">
            <a:avLst/>
          </a:prstGeom>
        </p:spPr>
        <p:txBody>
          <a:bodyPr wrap="square" lIns="0" tIns="64769" rIns="0" bIns="0" rtlCol="0" vert="horz">
            <a:spAutoFit/>
          </a:bodyPr>
          <a:lstStyle/>
          <a:p>
            <a:pPr marL="12700" marR="5080" indent="-635">
              <a:lnSpc>
                <a:spcPct val="83400"/>
              </a:lnSpc>
              <a:spcBef>
                <a:spcPts val="509"/>
              </a:spcBef>
            </a:pPr>
            <a:r>
              <a:rPr dirty="0" sz="2000" spc="65">
                <a:latin typeface="Arial"/>
                <a:cs typeface="Arial"/>
              </a:rPr>
              <a:t>The</a:t>
            </a:r>
            <a:r>
              <a:rPr dirty="0" sz="2000" spc="-6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Result:</a:t>
            </a:r>
            <a:r>
              <a:rPr dirty="0" sz="2000" spc="12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Answers </a:t>
            </a:r>
            <a:r>
              <a:rPr dirty="0" sz="2000">
                <a:latin typeface="Arial"/>
                <a:cs typeface="Arial"/>
              </a:rPr>
              <a:t>are</a:t>
            </a:r>
            <a:r>
              <a:rPr dirty="0" sz="2000" spc="1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strictly</a:t>
            </a:r>
            <a:r>
              <a:rPr dirty="0" sz="2000" spc="23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grounded</a:t>
            </a:r>
            <a:r>
              <a:rPr dirty="0" sz="2000" spc="50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in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factual</a:t>
            </a:r>
            <a:r>
              <a:rPr dirty="0" sz="2050" spc="2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data,</a:t>
            </a:r>
            <a:r>
              <a:rPr dirty="0" sz="2050" spc="30">
                <a:latin typeface="Arial"/>
                <a:cs typeface="Arial"/>
              </a:rPr>
              <a:t> </a:t>
            </a:r>
            <a:r>
              <a:rPr dirty="0" sz="2050" spc="-10">
                <a:latin typeface="Arial"/>
                <a:cs typeface="Arial"/>
              </a:rPr>
              <a:t>entirely </a:t>
            </a:r>
            <a:r>
              <a:rPr dirty="0" sz="2150" spc="-20">
                <a:latin typeface="Arial"/>
                <a:cs typeface="Arial"/>
              </a:rPr>
              <a:t>mitigating</a:t>
            </a:r>
            <a:r>
              <a:rPr dirty="0" sz="2150" spc="-100">
                <a:latin typeface="Arial"/>
                <a:cs typeface="Arial"/>
              </a:rPr>
              <a:t> </a:t>
            </a:r>
            <a:r>
              <a:rPr dirty="0" sz="2150">
                <a:latin typeface="Arial"/>
                <a:cs typeface="Arial"/>
              </a:rPr>
              <a:t>the</a:t>
            </a:r>
            <a:r>
              <a:rPr dirty="0" sz="2150" spc="-140">
                <a:latin typeface="Arial"/>
                <a:cs typeface="Arial"/>
              </a:rPr>
              <a:t> </a:t>
            </a:r>
            <a:r>
              <a:rPr dirty="0" sz="2150" spc="-10">
                <a:latin typeface="Arial"/>
                <a:cs typeface="Arial"/>
              </a:rPr>
              <a:t>risk</a:t>
            </a:r>
            <a:r>
              <a:rPr dirty="0" sz="2150" spc="-85">
                <a:latin typeface="Arial"/>
                <a:cs typeface="Arial"/>
              </a:rPr>
              <a:t> </a:t>
            </a:r>
            <a:r>
              <a:rPr dirty="0" sz="2150" spc="-25">
                <a:latin typeface="Arial"/>
                <a:cs typeface="Arial"/>
              </a:rPr>
              <a:t>of </a:t>
            </a:r>
            <a:r>
              <a:rPr dirty="0" sz="2050" spc="-10">
                <a:latin typeface="Arial"/>
                <a:cs typeface="Arial"/>
              </a:rPr>
              <a:t>hallucinations.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6600" y="3187700"/>
            <a:ext cx="4114800" cy="46736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46000" y="3619500"/>
            <a:ext cx="381000" cy="11430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5793316" y="3115732"/>
            <a:ext cx="0" cy="2590800"/>
          </a:xfrm>
          <a:custGeom>
            <a:avLst/>
            <a:gdLst/>
            <a:ahLst/>
            <a:cxnLst/>
            <a:rect l="l" t="t" r="r" b="b"/>
            <a:pathLst>
              <a:path w="0" h="2590800">
                <a:moveTo>
                  <a:pt x="0" y="2590800"/>
                </a:moveTo>
                <a:lnTo>
                  <a:pt x="0" y="0"/>
                </a:lnTo>
              </a:path>
            </a:pathLst>
          </a:custGeom>
          <a:ln w="12700">
            <a:solidFill>
              <a:srgbClr val="576067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5" name="object 5"/>
          <p:cNvGrpSpPr/>
          <p:nvPr/>
        </p:nvGrpSpPr>
        <p:grpSpPr>
          <a:xfrm>
            <a:off x="5786966" y="3115732"/>
            <a:ext cx="3314700" cy="2590800"/>
            <a:chOff x="5786966" y="3115732"/>
            <a:chExt cx="3314700" cy="2590800"/>
          </a:xfrm>
        </p:grpSpPr>
        <p:sp>
          <p:nvSpPr>
            <p:cNvPr id="6" name="object 6"/>
            <p:cNvSpPr/>
            <p:nvPr/>
          </p:nvSpPr>
          <p:spPr>
            <a:xfrm>
              <a:off x="9095316" y="3115732"/>
              <a:ext cx="0" cy="2590800"/>
            </a:xfrm>
            <a:custGeom>
              <a:avLst/>
              <a:gdLst/>
              <a:ahLst/>
              <a:cxnLst/>
              <a:rect l="l" t="t" r="r" b="b"/>
              <a:pathLst>
                <a:path w="0" h="2590800">
                  <a:moveTo>
                    <a:pt x="0" y="25908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57606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786966" y="3122082"/>
              <a:ext cx="3314700" cy="0"/>
            </a:xfrm>
            <a:custGeom>
              <a:avLst/>
              <a:gdLst/>
              <a:ahLst/>
              <a:cxnLst/>
              <a:rect l="l" t="t" r="r" b="b"/>
              <a:pathLst>
                <a:path w="3314700" h="0">
                  <a:moveTo>
                    <a:pt x="0" y="0"/>
                  </a:moveTo>
                  <a:lnTo>
                    <a:pt x="3314700" y="0"/>
                  </a:lnTo>
                </a:path>
              </a:pathLst>
            </a:custGeom>
            <a:ln w="12700">
              <a:solidFill>
                <a:srgbClr val="57606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786966" y="5700182"/>
              <a:ext cx="3314700" cy="0"/>
            </a:xfrm>
            <a:custGeom>
              <a:avLst/>
              <a:gdLst/>
              <a:ahLst/>
              <a:cxnLst/>
              <a:rect l="l" t="t" r="r" b="b"/>
              <a:pathLst>
                <a:path w="3314700" h="0">
                  <a:moveTo>
                    <a:pt x="0" y="0"/>
                  </a:moveTo>
                  <a:lnTo>
                    <a:pt x="3314700" y="0"/>
                  </a:lnTo>
                </a:path>
              </a:pathLst>
            </a:custGeom>
            <a:ln w="12700">
              <a:solidFill>
                <a:srgbClr val="57606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5786966" y="3287182"/>
              <a:ext cx="3314700" cy="0"/>
            </a:xfrm>
            <a:custGeom>
              <a:avLst/>
              <a:gdLst/>
              <a:ahLst/>
              <a:cxnLst/>
              <a:rect l="l" t="t" r="r" b="b"/>
              <a:pathLst>
                <a:path w="3314700" h="0">
                  <a:moveTo>
                    <a:pt x="0" y="0"/>
                  </a:moveTo>
                  <a:lnTo>
                    <a:pt x="3314700" y="0"/>
                  </a:lnTo>
                </a:path>
              </a:pathLst>
            </a:custGeom>
            <a:ln w="12700">
              <a:solidFill>
                <a:srgbClr val="57606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/>
          <p:nvPr/>
        </p:nvSpPr>
        <p:spPr>
          <a:xfrm>
            <a:off x="9603316" y="3115732"/>
            <a:ext cx="0" cy="2590800"/>
          </a:xfrm>
          <a:custGeom>
            <a:avLst/>
            <a:gdLst/>
            <a:ahLst/>
            <a:cxnLst/>
            <a:rect l="l" t="t" r="r" b="b"/>
            <a:pathLst>
              <a:path w="0" h="2590800">
                <a:moveTo>
                  <a:pt x="0" y="2590800"/>
                </a:moveTo>
                <a:lnTo>
                  <a:pt x="0" y="0"/>
                </a:lnTo>
              </a:path>
            </a:pathLst>
          </a:custGeom>
          <a:ln w="12700">
            <a:solidFill>
              <a:srgbClr val="575B67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1" name="object 11"/>
          <p:cNvGrpSpPr/>
          <p:nvPr/>
        </p:nvGrpSpPr>
        <p:grpSpPr>
          <a:xfrm>
            <a:off x="9596966" y="3115732"/>
            <a:ext cx="3314700" cy="2590800"/>
            <a:chOff x="9596966" y="3115732"/>
            <a:chExt cx="3314700" cy="2590800"/>
          </a:xfrm>
        </p:grpSpPr>
        <p:sp>
          <p:nvSpPr>
            <p:cNvPr id="12" name="object 12"/>
            <p:cNvSpPr/>
            <p:nvPr/>
          </p:nvSpPr>
          <p:spPr>
            <a:xfrm>
              <a:off x="12905320" y="3115732"/>
              <a:ext cx="0" cy="2590800"/>
            </a:xfrm>
            <a:custGeom>
              <a:avLst/>
              <a:gdLst/>
              <a:ahLst/>
              <a:cxnLst/>
              <a:rect l="l" t="t" r="r" b="b"/>
              <a:pathLst>
                <a:path w="0" h="2590800">
                  <a:moveTo>
                    <a:pt x="0" y="25908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575B6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9596966" y="3122082"/>
              <a:ext cx="3314700" cy="0"/>
            </a:xfrm>
            <a:custGeom>
              <a:avLst/>
              <a:gdLst/>
              <a:ahLst/>
              <a:cxnLst/>
              <a:rect l="l" t="t" r="r" b="b"/>
              <a:pathLst>
                <a:path w="3314700" h="0">
                  <a:moveTo>
                    <a:pt x="0" y="0"/>
                  </a:moveTo>
                  <a:lnTo>
                    <a:pt x="3314700" y="0"/>
                  </a:lnTo>
                </a:path>
              </a:pathLst>
            </a:custGeom>
            <a:ln w="12700">
              <a:solidFill>
                <a:srgbClr val="575B6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9596966" y="5700182"/>
              <a:ext cx="3314700" cy="0"/>
            </a:xfrm>
            <a:custGeom>
              <a:avLst/>
              <a:gdLst/>
              <a:ahLst/>
              <a:cxnLst/>
              <a:rect l="l" t="t" r="r" b="b"/>
              <a:pathLst>
                <a:path w="3314700" h="0">
                  <a:moveTo>
                    <a:pt x="0" y="0"/>
                  </a:moveTo>
                  <a:lnTo>
                    <a:pt x="3314700" y="0"/>
                  </a:lnTo>
                </a:path>
              </a:pathLst>
            </a:custGeom>
            <a:ln w="12700">
              <a:solidFill>
                <a:srgbClr val="575B6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9596966" y="3287182"/>
              <a:ext cx="3314700" cy="0"/>
            </a:xfrm>
            <a:custGeom>
              <a:avLst/>
              <a:gdLst/>
              <a:ahLst/>
              <a:cxnLst/>
              <a:rect l="l" t="t" r="r" b="b"/>
              <a:pathLst>
                <a:path w="3314700" h="0">
                  <a:moveTo>
                    <a:pt x="0" y="0"/>
                  </a:moveTo>
                  <a:lnTo>
                    <a:pt x="3314700" y="0"/>
                  </a:lnTo>
                </a:path>
              </a:pathLst>
            </a:custGeom>
            <a:ln w="12700">
              <a:solidFill>
                <a:srgbClr val="575B6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13406970" y="3115732"/>
          <a:ext cx="3390900" cy="25781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02000"/>
              </a:tblGrid>
              <a:tr h="1651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57606B"/>
                      </a:solidFill>
                      <a:prstDash val="solid"/>
                    </a:lnL>
                    <a:lnR w="12700">
                      <a:solidFill>
                        <a:srgbClr val="57606B"/>
                      </a:solidFill>
                      <a:prstDash val="solid"/>
                    </a:lnR>
                    <a:lnT w="12700">
                      <a:solidFill>
                        <a:srgbClr val="57606B"/>
                      </a:solidFill>
                      <a:prstDash val="solid"/>
                    </a:lnT>
                    <a:lnB w="12700">
                      <a:solidFill>
                        <a:srgbClr val="57606B"/>
                      </a:solidFill>
                      <a:prstDash val="solid"/>
                    </a:lnB>
                  </a:tcPr>
                </a:tc>
              </a:tr>
              <a:tr h="2413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endParaRPr sz="1350">
                        <a:latin typeface="Times New Roman"/>
                        <a:cs typeface="Times New Roman"/>
                      </a:endParaRPr>
                    </a:p>
                    <a:p>
                      <a:pPr marL="120014">
                        <a:lnSpc>
                          <a:spcPct val="100000"/>
                        </a:lnSpc>
                        <a:spcBef>
                          <a:spcPts val="5"/>
                        </a:spcBef>
                        <a:tabLst>
                          <a:tab pos="478790" algn="l"/>
                        </a:tabLst>
                      </a:pPr>
                      <a:r>
                        <a:rPr dirty="0" sz="1350" spc="-50">
                          <a:solidFill>
                            <a:srgbClr val="5D6777"/>
                          </a:solidFill>
                          <a:latin typeface="Arial"/>
                          <a:cs typeface="Arial"/>
                        </a:rPr>
                        <a:t>^</a:t>
                      </a:r>
                      <a:r>
                        <a:rPr dirty="0" sz="1350">
                          <a:solidFill>
                            <a:srgbClr val="5D6777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1350" spc="-70">
                          <a:solidFill>
                            <a:srgbClr val="212121"/>
                          </a:solidFill>
                          <a:latin typeface="Arial"/>
                          <a:cs typeface="Arial"/>
                        </a:rPr>
                        <a:t>Rare</a:t>
                      </a:r>
                      <a:r>
                        <a:rPr dirty="0" sz="1350" spc="-55">
                          <a:solidFill>
                            <a:srgbClr val="2121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 spc="-50">
                          <a:solidFill>
                            <a:srgbClr val="1C1C1C"/>
                          </a:solidFill>
                          <a:latin typeface="Arial"/>
                          <a:cs typeface="Arial"/>
                        </a:rPr>
                        <a:t>Hopes</a:t>
                      </a:r>
                      <a:r>
                        <a:rPr dirty="0" sz="1350" spc="-60">
                          <a:solidFill>
                            <a:srgbClr val="1C1C1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 spc="-25">
                          <a:solidFill>
                            <a:srgbClr val="606772"/>
                          </a:solidFill>
                          <a:latin typeface="Arial"/>
                          <a:cs typeface="Arial"/>
                        </a:rPr>
                        <a:t>UX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57606B"/>
                      </a:solidFill>
                      <a:prstDash val="solid"/>
                    </a:lnL>
                    <a:lnR w="12700">
                      <a:solidFill>
                        <a:srgbClr val="57606B"/>
                      </a:solidFill>
                      <a:prstDash val="solid"/>
                    </a:lnR>
                    <a:lnT w="12700">
                      <a:solidFill>
                        <a:srgbClr val="57606B"/>
                      </a:solidFill>
                      <a:prstDash val="solid"/>
                    </a:lnT>
                    <a:lnB w="12700">
                      <a:solidFill>
                        <a:srgbClr val="57606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17" name="object 1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487400" y="3302000"/>
            <a:ext cx="139700" cy="101600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071600" y="4273550"/>
            <a:ext cx="488950" cy="400050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5875000" y="4292600"/>
            <a:ext cx="450850" cy="495300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223000" y="4514850"/>
            <a:ext cx="660400" cy="107950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4960600" y="4578350"/>
            <a:ext cx="488950" cy="196850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293100" y="3600450"/>
            <a:ext cx="4165600" cy="488950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3893800" y="3892550"/>
            <a:ext cx="374650" cy="133350"/>
          </a:xfrm>
          <a:prstGeom prst="rect">
            <a:avLst/>
          </a:prstGeom>
        </p:spPr>
      </p:pic>
      <p:sp>
        <p:nvSpPr>
          <p:cNvPr id="24" name="object 24" descr="$PPTXTitle"/>
          <p:cNvSpPr txBox="1">
            <a:spLocks noGrp="1"/>
          </p:cNvSpPr>
          <p:nvPr>
            <p:ph type="title"/>
          </p:nvPr>
        </p:nvSpPr>
        <p:spPr>
          <a:xfrm>
            <a:off x="722550" y="479424"/>
            <a:ext cx="9496425" cy="1549400"/>
          </a:xfrm>
          <a:prstGeom prst="rect"/>
        </p:spPr>
        <p:txBody>
          <a:bodyPr wrap="square" lIns="0" tIns="202565" rIns="0" bIns="0" rtlCol="0" vert="horz">
            <a:spAutoFit/>
          </a:bodyPr>
          <a:lstStyle/>
          <a:p>
            <a:pPr marL="12700" marR="5080">
              <a:lnSpc>
                <a:spcPct val="78100"/>
              </a:lnSpc>
              <a:spcBef>
                <a:spcPts val="1595"/>
              </a:spcBef>
            </a:pPr>
            <a:r>
              <a:rPr dirty="0" sz="5600" spc="-500">
                <a:solidFill>
                  <a:srgbClr val="051838"/>
                </a:solidFill>
                <a:latin typeface="Trebuchet MS"/>
                <a:cs typeface="Trebuchet MS"/>
              </a:rPr>
              <a:t>Layer</a:t>
            </a:r>
            <a:r>
              <a:rPr dirty="0" sz="5600" spc="-270">
                <a:solidFill>
                  <a:srgbClr val="051838"/>
                </a:solidFill>
                <a:latin typeface="Trebuchet MS"/>
                <a:cs typeface="Trebuchet MS"/>
              </a:rPr>
              <a:t> </a:t>
            </a:r>
            <a:r>
              <a:rPr dirty="0" sz="5600" spc="-35">
                <a:solidFill>
                  <a:srgbClr val="01163D"/>
                </a:solidFill>
                <a:latin typeface="Trebuchet MS"/>
                <a:cs typeface="Trebuchet MS"/>
              </a:rPr>
              <a:t>4</a:t>
            </a:r>
            <a:r>
              <a:rPr dirty="0" sz="5600" spc="-650">
                <a:solidFill>
                  <a:srgbClr val="01163D"/>
                </a:solidFill>
                <a:latin typeface="Trebuchet MS"/>
                <a:cs typeface="Trebuchet MS"/>
              </a:rPr>
              <a:t> </a:t>
            </a:r>
            <a:r>
              <a:rPr dirty="0" sz="5600" spc="-405">
                <a:solidFill>
                  <a:srgbClr val="051131"/>
                </a:solidFill>
                <a:latin typeface="Trebuchet MS"/>
                <a:cs typeface="Trebuchet MS"/>
              </a:rPr>
              <a:t>Delivers</a:t>
            </a:r>
            <a:r>
              <a:rPr dirty="0" sz="5600" spc="-245">
                <a:solidFill>
                  <a:srgbClr val="051131"/>
                </a:solidFill>
                <a:latin typeface="Trebuchet MS"/>
                <a:cs typeface="Trebuchet MS"/>
              </a:rPr>
              <a:t> </a:t>
            </a:r>
            <a:r>
              <a:rPr dirty="0" sz="5600" spc="-525">
                <a:solidFill>
                  <a:srgbClr val="0C183B"/>
                </a:solidFill>
                <a:latin typeface="Trebuchet MS"/>
                <a:cs typeface="Trebuchet MS"/>
              </a:rPr>
              <a:t>Tailored</a:t>
            </a:r>
            <a:r>
              <a:rPr dirty="0" sz="5600" spc="-360">
                <a:solidFill>
                  <a:srgbClr val="0C183B"/>
                </a:solidFill>
                <a:latin typeface="Trebuchet MS"/>
                <a:cs typeface="Trebuchet MS"/>
              </a:rPr>
              <a:t> </a:t>
            </a:r>
            <a:r>
              <a:rPr dirty="0" sz="5600" spc="-360">
                <a:solidFill>
                  <a:srgbClr val="0A1C3F"/>
                </a:solidFill>
                <a:latin typeface="Trebuchet MS"/>
                <a:cs typeface="Trebuchet MS"/>
              </a:rPr>
              <a:t>User </a:t>
            </a:r>
            <a:r>
              <a:rPr dirty="0" sz="5600" spc="-360">
                <a:solidFill>
                  <a:srgbClr val="0A1A38"/>
                </a:solidFill>
                <a:latin typeface="Trebuchet MS"/>
                <a:cs typeface="Trebuchet MS"/>
              </a:rPr>
              <a:t>Experiences</a:t>
            </a:r>
            <a:r>
              <a:rPr dirty="0" sz="5600" spc="-15">
                <a:solidFill>
                  <a:srgbClr val="0A1A38"/>
                </a:solidFill>
                <a:latin typeface="Trebuchet MS"/>
                <a:cs typeface="Trebuchet MS"/>
              </a:rPr>
              <a:t> </a:t>
            </a:r>
            <a:r>
              <a:rPr dirty="0" sz="5600" spc="-245">
                <a:solidFill>
                  <a:srgbClr val="031331"/>
                </a:solidFill>
                <a:latin typeface="Trebuchet MS"/>
                <a:cs typeface="Trebuchet MS"/>
              </a:rPr>
              <a:t>Across</a:t>
            </a:r>
            <a:r>
              <a:rPr dirty="0" sz="5600" spc="-395">
                <a:solidFill>
                  <a:srgbClr val="031331"/>
                </a:solidFill>
                <a:latin typeface="Trebuchet MS"/>
                <a:cs typeface="Trebuchet MS"/>
              </a:rPr>
              <a:t> </a:t>
            </a:r>
            <a:r>
              <a:rPr dirty="0" sz="5600" spc="-505">
                <a:solidFill>
                  <a:srgbClr val="0C1A42"/>
                </a:solidFill>
                <a:latin typeface="Trebuchet MS"/>
                <a:cs typeface="Trebuchet MS"/>
              </a:rPr>
              <a:t>the</a:t>
            </a:r>
            <a:r>
              <a:rPr dirty="0" sz="5600" spc="-430">
                <a:solidFill>
                  <a:srgbClr val="0C1A42"/>
                </a:solidFill>
                <a:latin typeface="Trebuchet MS"/>
                <a:cs typeface="Trebuchet MS"/>
              </a:rPr>
              <a:t> </a:t>
            </a:r>
            <a:r>
              <a:rPr dirty="0" sz="5600" spc="-365">
                <a:solidFill>
                  <a:srgbClr val="051534"/>
                </a:solidFill>
                <a:latin typeface="Trebuchet MS"/>
                <a:cs typeface="Trebuchet MS"/>
              </a:rPr>
              <a:t>Ecosystem</a:t>
            </a:r>
            <a:endParaRPr sz="5600">
              <a:latin typeface="Trebuchet MS"/>
              <a:cs typeface="Trebuchet MS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55"/>
              </a:lnSpc>
            </a:pPr>
            <a:r>
              <a:rPr dirty="0"/>
              <a:t>G</a:t>
            </a:r>
            <a:r>
              <a:rPr dirty="0" spc="490"/>
              <a:t> </a:t>
            </a:r>
            <a:r>
              <a:rPr dirty="0" spc="-10"/>
              <a:t>NotebookLM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5896574" y="3546122"/>
            <a:ext cx="73660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1500" spc="-50">
                <a:solidFill>
                  <a:srgbClr val="7E879A"/>
                </a:solidFill>
                <a:latin typeface="Arial"/>
                <a:cs typeface="Arial"/>
              </a:rPr>
              <a:t>"</a:t>
            </a:r>
            <a:endParaRPr sz="15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213896" y="3546122"/>
            <a:ext cx="748030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1500" spc="-150">
                <a:solidFill>
                  <a:srgbClr val="050C1F"/>
                </a:solidFill>
                <a:latin typeface="Arial"/>
                <a:cs typeface="Arial"/>
              </a:rPr>
              <a:t>Ask</a:t>
            </a:r>
            <a:r>
              <a:rPr dirty="0" sz="1500" spc="20">
                <a:solidFill>
                  <a:srgbClr val="050C1F"/>
                </a:solidFill>
                <a:latin typeface="Arial"/>
                <a:cs typeface="Arial"/>
              </a:rPr>
              <a:t> </a:t>
            </a:r>
            <a:r>
              <a:rPr dirty="0" sz="1500" spc="-275">
                <a:solidFill>
                  <a:srgbClr val="0F0F0F"/>
                </a:solidFill>
                <a:latin typeface="Arial"/>
                <a:cs typeface="Arial"/>
              </a:rPr>
              <a:t>ARCH</a:t>
            </a:r>
            <a:endParaRPr sz="15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789136" y="6352116"/>
            <a:ext cx="3256279" cy="253047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0320">
              <a:lnSpc>
                <a:spcPct val="100000"/>
              </a:lnSpc>
              <a:spcBef>
                <a:spcPts val="130"/>
              </a:spcBef>
            </a:pPr>
            <a:r>
              <a:rPr dirty="0" sz="3300" spc="-10">
                <a:solidFill>
                  <a:srgbClr val="05112A"/>
                </a:solidFill>
                <a:latin typeface="Arial"/>
                <a:cs typeface="Arial"/>
              </a:rPr>
              <a:t>Scientists</a:t>
            </a:r>
            <a:endParaRPr sz="3300">
              <a:latin typeface="Arial"/>
              <a:cs typeface="Arial"/>
            </a:endParaRPr>
          </a:p>
          <a:p>
            <a:pPr marL="19050" marR="5080" indent="-6985">
              <a:lnSpc>
                <a:spcPct val="100899"/>
              </a:lnSpc>
              <a:spcBef>
                <a:spcPts val="2170"/>
              </a:spcBef>
            </a:pPr>
            <a:r>
              <a:rPr dirty="0" sz="1850">
                <a:latin typeface="Arial"/>
                <a:cs typeface="Arial"/>
              </a:rPr>
              <a:t>‘Ask</a:t>
            </a:r>
            <a:r>
              <a:rPr dirty="0" sz="1850" spc="-130">
                <a:latin typeface="Arial"/>
                <a:cs typeface="Arial"/>
              </a:rPr>
              <a:t> </a:t>
            </a:r>
            <a:r>
              <a:rPr dirty="0" sz="1850" spc="-110">
                <a:latin typeface="Arial"/>
                <a:cs typeface="Arial"/>
              </a:rPr>
              <a:t>ARCH'</a:t>
            </a:r>
            <a:r>
              <a:rPr dirty="0" sz="1850" spc="-20">
                <a:latin typeface="Arial"/>
                <a:cs typeface="Arial"/>
              </a:rPr>
              <a:t> </a:t>
            </a:r>
            <a:r>
              <a:rPr dirty="0" sz="1850" spc="-10">
                <a:latin typeface="Arial"/>
                <a:cs typeface="Arial"/>
              </a:rPr>
              <a:t>provides</a:t>
            </a:r>
            <a:r>
              <a:rPr dirty="0" sz="1850" spc="-55"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0A0A0A"/>
                </a:solidFill>
                <a:latin typeface="Arial"/>
                <a:cs typeface="Arial"/>
              </a:rPr>
              <a:t>a</a:t>
            </a:r>
            <a:r>
              <a:rPr dirty="0" sz="1850" spc="-105">
                <a:solidFill>
                  <a:srgbClr val="0A0A0A"/>
                </a:solidFill>
                <a:latin typeface="Arial"/>
                <a:cs typeface="Arial"/>
              </a:rPr>
              <a:t> </a:t>
            </a:r>
            <a:r>
              <a:rPr dirty="0" sz="1850" spc="-10">
                <a:latin typeface="Arial"/>
                <a:cs typeface="Arial"/>
              </a:rPr>
              <a:t>natural </a:t>
            </a:r>
            <a:r>
              <a:rPr dirty="0" sz="1850" spc="-30">
                <a:latin typeface="Arial"/>
                <a:cs typeface="Arial"/>
              </a:rPr>
              <a:t>language</a:t>
            </a:r>
            <a:r>
              <a:rPr dirty="0" sz="1850" spc="-20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interface</a:t>
            </a:r>
            <a:r>
              <a:rPr dirty="0" sz="1850" spc="-45">
                <a:latin typeface="Arial"/>
                <a:cs typeface="Arial"/>
              </a:rPr>
              <a:t> </a:t>
            </a:r>
            <a:r>
              <a:rPr dirty="0" sz="1850" spc="-10">
                <a:latin typeface="Arial"/>
                <a:cs typeface="Arial"/>
              </a:rPr>
              <a:t>alongside </a:t>
            </a:r>
            <a:r>
              <a:rPr dirty="0" sz="1850" spc="-20">
                <a:latin typeface="Arial"/>
                <a:cs typeface="Arial"/>
              </a:rPr>
              <a:t>visually</a:t>
            </a:r>
            <a:r>
              <a:rPr dirty="0" sz="1850" spc="-50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intuitive</a:t>
            </a:r>
            <a:r>
              <a:rPr dirty="0" sz="1850" spc="-20">
                <a:latin typeface="Arial"/>
                <a:cs typeface="Arial"/>
              </a:rPr>
              <a:t> </a:t>
            </a:r>
            <a:r>
              <a:rPr dirty="0" sz="1850" spc="-30">
                <a:latin typeface="Arial"/>
                <a:cs typeface="Arial"/>
              </a:rPr>
              <a:t>Target</a:t>
            </a:r>
            <a:r>
              <a:rPr dirty="0" sz="1850" spc="20">
                <a:latin typeface="Arial"/>
                <a:cs typeface="Arial"/>
              </a:rPr>
              <a:t> </a:t>
            </a:r>
            <a:r>
              <a:rPr dirty="0" sz="1850" spc="-25">
                <a:latin typeface="Arial"/>
                <a:cs typeface="Arial"/>
              </a:rPr>
              <a:t>and Safety</a:t>
            </a:r>
            <a:r>
              <a:rPr dirty="0" sz="1850" spc="-105">
                <a:latin typeface="Arial"/>
                <a:cs typeface="Arial"/>
              </a:rPr>
              <a:t> </a:t>
            </a:r>
            <a:r>
              <a:rPr dirty="0" sz="1850" spc="-30">
                <a:latin typeface="Arial"/>
                <a:cs typeface="Arial"/>
              </a:rPr>
              <a:t>Dossiers,</a:t>
            </a:r>
            <a:r>
              <a:rPr dirty="0" sz="1850" spc="-50">
                <a:latin typeface="Arial"/>
                <a:cs typeface="Arial"/>
              </a:rPr>
              <a:t> </a:t>
            </a:r>
            <a:r>
              <a:rPr dirty="0" sz="1850" spc="-10">
                <a:latin typeface="Arial"/>
                <a:cs typeface="Arial"/>
              </a:rPr>
              <a:t>eliminating</a:t>
            </a:r>
            <a:r>
              <a:rPr dirty="0" sz="1850" spc="-45">
                <a:latin typeface="Arial"/>
                <a:cs typeface="Arial"/>
              </a:rPr>
              <a:t> </a:t>
            </a:r>
            <a:r>
              <a:rPr dirty="0" sz="1850" spc="-25">
                <a:solidFill>
                  <a:srgbClr val="050505"/>
                </a:solidFill>
                <a:latin typeface="Arial"/>
                <a:cs typeface="Arial"/>
              </a:rPr>
              <a:t>the </a:t>
            </a:r>
            <a:r>
              <a:rPr dirty="0" sz="1850">
                <a:latin typeface="Arial"/>
                <a:cs typeface="Arial"/>
              </a:rPr>
              <a:t>need</a:t>
            </a:r>
            <a:r>
              <a:rPr dirty="0" sz="1850" spc="-25"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080808"/>
                </a:solidFill>
                <a:latin typeface="Arial"/>
                <a:cs typeface="Arial"/>
              </a:rPr>
              <a:t>to</a:t>
            </a:r>
            <a:r>
              <a:rPr dirty="0" sz="1850" spc="-9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1850" spc="-10">
                <a:latin typeface="Arial"/>
                <a:cs typeface="Arial"/>
              </a:rPr>
              <a:t>understand complex </a:t>
            </a:r>
            <a:r>
              <a:rPr dirty="0" sz="1950" spc="-75">
                <a:latin typeface="Arial"/>
                <a:cs typeface="Arial"/>
              </a:rPr>
              <a:t>database</a:t>
            </a:r>
            <a:r>
              <a:rPr dirty="0" sz="1950" spc="-60">
                <a:latin typeface="Arial"/>
                <a:cs typeface="Arial"/>
              </a:rPr>
              <a:t> </a:t>
            </a:r>
            <a:r>
              <a:rPr dirty="0" sz="1950" spc="-10">
                <a:latin typeface="Arial"/>
                <a:cs typeface="Arial"/>
              </a:rPr>
              <a:t>structures.</a:t>
            </a:r>
            <a:endParaRPr sz="195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606024" y="6343297"/>
            <a:ext cx="3135630" cy="2245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400" spc="-10">
                <a:solidFill>
                  <a:srgbClr val="111111"/>
                </a:solidFill>
                <a:latin typeface="Arial"/>
                <a:cs typeface="Arial"/>
              </a:rPr>
              <a:t>Practitioners</a:t>
            </a:r>
            <a:endParaRPr sz="3400">
              <a:latin typeface="Arial"/>
              <a:cs typeface="Arial"/>
            </a:endParaRPr>
          </a:p>
          <a:p>
            <a:pPr marL="13970" marR="5080" indent="1270">
              <a:lnSpc>
                <a:spcPct val="101400"/>
              </a:lnSpc>
              <a:spcBef>
                <a:spcPts val="2140"/>
              </a:spcBef>
            </a:pPr>
            <a:r>
              <a:rPr dirty="0" sz="1850" spc="-10">
                <a:latin typeface="Arial"/>
                <a:cs typeface="Arial"/>
              </a:rPr>
              <a:t>Modernized</a:t>
            </a:r>
            <a:r>
              <a:rPr dirty="0" sz="1850" spc="-5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interfaces</a:t>
            </a:r>
            <a:r>
              <a:rPr dirty="0" sz="1850" spc="-70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like</a:t>
            </a:r>
            <a:r>
              <a:rPr dirty="0" sz="1850" spc="-50">
                <a:latin typeface="Arial"/>
                <a:cs typeface="Arial"/>
              </a:rPr>
              <a:t> </a:t>
            </a:r>
            <a:r>
              <a:rPr dirty="0" sz="1850" spc="-25">
                <a:solidFill>
                  <a:srgbClr val="0A0A0A"/>
                </a:solidFill>
                <a:latin typeface="Arial"/>
                <a:cs typeface="Arial"/>
              </a:rPr>
              <a:t>the </a:t>
            </a:r>
            <a:r>
              <a:rPr dirty="0" sz="1850" spc="-65">
                <a:latin typeface="Arial"/>
                <a:cs typeface="Arial"/>
              </a:rPr>
              <a:t>AbbVie </a:t>
            </a:r>
            <a:r>
              <a:rPr dirty="0" sz="1850" spc="-35">
                <a:solidFill>
                  <a:srgbClr val="050505"/>
                </a:solidFill>
                <a:latin typeface="Arial"/>
                <a:cs typeface="Arial"/>
              </a:rPr>
              <a:t>Science</a:t>
            </a:r>
            <a:r>
              <a:rPr dirty="0" sz="1850" spc="45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1850" spc="-10">
                <a:latin typeface="Arial"/>
                <a:cs typeface="Arial"/>
              </a:rPr>
              <a:t>Oncology </a:t>
            </a:r>
            <a:r>
              <a:rPr dirty="0" sz="1850">
                <a:latin typeface="Arial"/>
                <a:cs typeface="Arial"/>
              </a:rPr>
              <a:t>plaiform</a:t>
            </a:r>
            <a:r>
              <a:rPr dirty="0" sz="1850" spc="35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deliver</a:t>
            </a:r>
            <a:r>
              <a:rPr dirty="0" sz="1850" spc="60">
                <a:latin typeface="Arial"/>
                <a:cs typeface="Arial"/>
              </a:rPr>
              <a:t> </a:t>
            </a:r>
            <a:r>
              <a:rPr dirty="0" sz="1850" spc="-10">
                <a:latin typeface="Arial"/>
                <a:cs typeface="Arial"/>
              </a:rPr>
              <a:t>tailored </a:t>
            </a:r>
            <a:r>
              <a:rPr dirty="0" sz="1850" spc="-25">
                <a:latin typeface="Arial"/>
                <a:cs typeface="Arial"/>
              </a:rPr>
              <a:t>research</a:t>
            </a:r>
            <a:r>
              <a:rPr dirty="0" sz="1850" spc="-30"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050505"/>
                </a:solidFill>
                <a:latin typeface="Arial"/>
                <a:cs typeface="Arial"/>
              </a:rPr>
              <a:t>updates</a:t>
            </a:r>
            <a:r>
              <a:rPr dirty="0" sz="1850" spc="-20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directly</a:t>
            </a:r>
            <a:r>
              <a:rPr dirty="0" sz="1850" spc="-45">
                <a:latin typeface="Arial"/>
                <a:cs typeface="Arial"/>
              </a:rPr>
              <a:t> </a:t>
            </a:r>
            <a:r>
              <a:rPr dirty="0" sz="1850" spc="30">
                <a:latin typeface="Arial"/>
                <a:cs typeface="Arial"/>
              </a:rPr>
              <a:t>to </a:t>
            </a:r>
            <a:r>
              <a:rPr dirty="0" sz="1850" spc="-25">
                <a:latin typeface="Arial"/>
                <a:cs typeface="Arial"/>
              </a:rPr>
              <a:t>Healthcare</a:t>
            </a:r>
            <a:r>
              <a:rPr dirty="0" sz="1850" spc="25">
                <a:latin typeface="Arial"/>
                <a:cs typeface="Arial"/>
              </a:rPr>
              <a:t> </a:t>
            </a:r>
            <a:r>
              <a:rPr dirty="0" sz="1850" spc="-10">
                <a:latin typeface="Arial"/>
                <a:cs typeface="Arial"/>
              </a:rPr>
              <a:t>Professionals.</a:t>
            </a:r>
            <a:endParaRPr sz="185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3426363" y="6343297"/>
            <a:ext cx="3234690" cy="22491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4">
              <a:lnSpc>
                <a:spcPct val="100000"/>
              </a:lnSpc>
              <a:spcBef>
                <a:spcPts val="100"/>
              </a:spcBef>
            </a:pPr>
            <a:r>
              <a:rPr dirty="0" sz="3400" spc="-10">
                <a:solidFill>
                  <a:srgbClr val="030F28"/>
                </a:solidFill>
                <a:latin typeface="Arial"/>
                <a:cs typeface="Arial"/>
              </a:rPr>
              <a:t>Patients</a:t>
            </a:r>
            <a:endParaRPr sz="3400">
              <a:latin typeface="Arial"/>
              <a:cs typeface="Arial"/>
            </a:endParaRPr>
          </a:p>
          <a:p>
            <a:pPr marL="12700" marR="5080" indent="3810">
              <a:lnSpc>
                <a:spcPct val="93800"/>
              </a:lnSpc>
              <a:spcBef>
                <a:spcPts val="2170"/>
              </a:spcBef>
            </a:pPr>
            <a:r>
              <a:rPr dirty="0" sz="2000" spc="-145">
                <a:solidFill>
                  <a:srgbClr val="050505"/>
                </a:solidFill>
                <a:latin typeface="Arial"/>
                <a:cs typeface="Arial"/>
              </a:rPr>
              <a:t>The</a:t>
            </a:r>
            <a:r>
              <a:rPr dirty="0" sz="2000" spc="-125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2000" spc="-195">
                <a:latin typeface="Arial"/>
                <a:cs typeface="Arial"/>
              </a:rPr>
              <a:t>Rare</a:t>
            </a:r>
            <a:r>
              <a:rPr dirty="0" sz="2000" spc="20">
                <a:latin typeface="Arial"/>
                <a:cs typeface="Arial"/>
              </a:rPr>
              <a:t> </a:t>
            </a:r>
            <a:r>
              <a:rPr dirty="0" sz="2000" spc="-135">
                <a:latin typeface="Arial"/>
                <a:cs typeface="Arial"/>
              </a:rPr>
              <a:t>Hopes</a:t>
            </a:r>
            <a:r>
              <a:rPr dirty="0" sz="2000" spc="30">
                <a:latin typeface="Arial"/>
                <a:cs typeface="Arial"/>
              </a:rPr>
              <a:t> </a:t>
            </a:r>
            <a:r>
              <a:rPr dirty="0" sz="2000" spc="-310">
                <a:latin typeface="Arial"/>
                <a:cs typeface="Arial"/>
              </a:rPr>
              <a:t>UX</a:t>
            </a:r>
            <a:r>
              <a:rPr dirty="0" sz="2000" spc="10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translates </a:t>
            </a:r>
            <a:r>
              <a:rPr dirty="0" sz="2000" spc="-105">
                <a:latin typeface="Arial"/>
                <a:cs typeface="Arial"/>
              </a:rPr>
              <a:t>complex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 spc="-114">
                <a:latin typeface="Arial"/>
                <a:cs typeface="Arial"/>
              </a:rPr>
              <a:t>graph</a:t>
            </a:r>
            <a:r>
              <a:rPr dirty="0" sz="2000" spc="-20">
                <a:latin typeface="Arial"/>
                <a:cs typeface="Arial"/>
              </a:rPr>
              <a:t> </a:t>
            </a:r>
            <a:r>
              <a:rPr dirty="0" sz="2000" spc="-95">
                <a:latin typeface="Arial"/>
                <a:cs typeface="Arial"/>
              </a:rPr>
              <a:t>hypotheses</a:t>
            </a:r>
            <a:r>
              <a:rPr dirty="0" sz="2000" spc="25">
                <a:latin typeface="Arial"/>
                <a:cs typeface="Arial"/>
              </a:rPr>
              <a:t> </a:t>
            </a:r>
            <a:r>
              <a:rPr dirty="0" sz="2000" spc="-45">
                <a:latin typeface="Arial"/>
                <a:cs typeface="Arial"/>
              </a:rPr>
              <a:t>into </a:t>
            </a:r>
            <a:r>
              <a:rPr dirty="0" sz="2000" spc="-100">
                <a:latin typeface="Arial"/>
                <a:cs typeface="Arial"/>
              </a:rPr>
              <a:t>accessible,</a:t>
            </a:r>
            <a:r>
              <a:rPr dirty="0" sz="2000" spc="-5">
                <a:latin typeface="Arial"/>
                <a:cs typeface="Arial"/>
              </a:rPr>
              <a:t> </a:t>
            </a:r>
            <a:r>
              <a:rPr dirty="0" sz="2000" spc="-90">
                <a:latin typeface="Arial"/>
                <a:cs typeface="Arial"/>
              </a:rPr>
              <a:t>actionable</a:t>
            </a:r>
            <a:r>
              <a:rPr dirty="0" sz="2000" spc="1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insights </a:t>
            </a:r>
            <a:r>
              <a:rPr dirty="0" sz="2000" spc="-95">
                <a:latin typeface="Arial"/>
                <a:cs typeface="Arial"/>
              </a:rPr>
              <a:t>for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 spc="-85">
                <a:solidFill>
                  <a:srgbClr val="050505"/>
                </a:solidFill>
                <a:latin typeface="Arial"/>
                <a:cs typeface="Arial"/>
              </a:rPr>
              <a:t>rare</a:t>
            </a:r>
            <a:r>
              <a:rPr dirty="0" sz="2000" spc="-25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2000" spc="-130">
                <a:latin typeface="Arial"/>
                <a:cs typeface="Arial"/>
              </a:rPr>
              <a:t>disease</a:t>
            </a:r>
            <a:r>
              <a:rPr dirty="0" sz="2000" spc="20">
                <a:latin typeface="Arial"/>
                <a:cs typeface="Arial"/>
              </a:rPr>
              <a:t> </a:t>
            </a:r>
            <a:r>
              <a:rPr dirty="0" sz="2000" spc="-80">
                <a:latin typeface="Arial"/>
                <a:cs typeface="Arial"/>
              </a:rPr>
              <a:t>patients</a:t>
            </a:r>
            <a:r>
              <a:rPr dirty="0" sz="2000" spc="-15">
                <a:latin typeface="Arial"/>
                <a:cs typeface="Arial"/>
              </a:rPr>
              <a:t> </a:t>
            </a:r>
            <a:r>
              <a:rPr dirty="0" sz="2000" spc="-25">
                <a:solidFill>
                  <a:srgbClr val="0A0A0A"/>
                </a:solidFill>
                <a:latin typeface="Arial"/>
                <a:cs typeface="Arial"/>
              </a:rPr>
              <a:t>and </a:t>
            </a:r>
            <a:r>
              <a:rPr dirty="0" sz="2000" spc="-50">
                <a:latin typeface="Arial"/>
                <a:cs typeface="Arial"/>
              </a:rPr>
              <a:t>their</a:t>
            </a:r>
            <a:r>
              <a:rPr dirty="0" sz="2000" spc="-6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doctors.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9800" y="2959100"/>
            <a:ext cx="15595600" cy="30226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18104" y="539044"/>
            <a:ext cx="13562965" cy="156718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22225">
              <a:lnSpc>
                <a:spcPts val="6155"/>
              </a:lnSpc>
              <a:spcBef>
                <a:spcPts val="105"/>
              </a:spcBef>
            </a:pPr>
            <a:r>
              <a:rPr dirty="0" sz="5550" spc="-300"/>
              <a:t>A</a:t>
            </a:r>
            <a:r>
              <a:rPr dirty="0" sz="5550" spc="-320"/>
              <a:t> </a:t>
            </a:r>
            <a:r>
              <a:rPr dirty="0" sz="5550" spc="-65"/>
              <a:t>24-</a:t>
            </a:r>
            <a:r>
              <a:rPr dirty="0" sz="5550"/>
              <a:t>Month</a:t>
            </a:r>
            <a:r>
              <a:rPr dirty="0" sz="5550" spc="-385"/>
              <a:t> </a:t>
            </a:r>
            <a:r>
              <a:rPr dirty="0" sz="5550" spc="-130"/>
              <a:t>Execution</a:t>
            </a:r>
            <a:r>
              <a:rPr dirty="0" sz="5550" spc="-150"/>
              <a:t> </a:t>
            </a:r>
            <a:r>
              <a:rPr dirty="0" sz="5550" spc="-210"/>
              <a:t>Roadmap</a:t>
            </a:r>
            <a:r>
              <a:rPr dirty="0" sz="5550" spc="-145"/>
              <a:t> </a:t>
            </a:r>
            <a:r>
              <a:rPr dirty="0" sz="5550" spc="-70"/>
              <a:t>Built</a:t>
            </a:r>
            <a:r>
              <a:rPr dirty="0" sz="5550" spc="-295"/>
              <a:t> </a:t>
            </a:r>
            <a:r>
              <a:rPr dirty="0" sz="5550" spc="-114"/>
              <a:t>Around</a:t>
            </a:r>
            <a:endParaRPr sz="5550"/>
          </a:p>
          <a:p>
            <a:pPr marL="12700">
              <a:lnSpc>
                <a:spcPts val="5975"/>
              </a:lnSpc>
            </a:pPr>
            <a:r>
              <a:rPr dirty="0" sz="5400" spc="-110"/>
              <a:t>Core</a:t>
            </a:r>
            <a:r>
              <a:rPr dirty="0" sz="5400" spc="-265"/>
              <a:t> </a:t>
            </a:r>
            <a:r>
              <a:rPr dirty="0" sz="5400" spc="-45"/>
              <a:t>Leadership</a:t>
            </a:r>
            <a:r>
              <a:rPr dirty="0" sz="5400" spc="-275"/>
              <a:t> </a:t>
            </a:r>
            <a:r>
              <a:rPr dirty="0" sz="5400" spc="-10"/>
              <a:t>Mandates</a:t>
            </a:r>
            <a:endParaRPr sz="5400"/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55"/>
              </a:lnSpc>
            </a:pPr>
            <a:r>
              <a:rPr dirty="0"/>
              <a:t>G</a:t>
            </a:r>
            <a:r>
              <a:rPr dirty="0" spc="490"/>
              <a:t> </a:t>
            </a:r>
            <a:r>
              <a:rPr dirty="0" spc="-10"/>
              <a:t>NotebookLM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44416" y="6321072"/>
            <a:ext cx="4144645" cy="2130425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algn="ctr" marL="546735" marR="553720">
              <a:lnSpc>
                <a:spcPts val="3000"/>
              </a:lnSpc>
              <a:spcBef>
                <a:spcPts val="475"/>
              </a:spcBef>
            </a:pPr>
            <a:r>
              <a:rPr dirty="0" sz="2750">
                <a:latin typeface="Arial"/>
                <a:cs typeface="Arial"/>
              </a:rPr>
              <a:t>Establish</a:t>
            </a:r>
            <a:r>
              <a:rPr dirty="0" sz="2750" spc="120">
                <a:latin typeface="Arial"/>
                <a:cs typeface="Arial"/>
              </a:rPr>
              <a:t> </a:t>
            </a:r>
            <a:r>
              <a:rPr dirty="0" sz="2750" spc="-10">
                <a:latin typeface="Arial"/>
                <a:cs typeface="Arial"/>
              </a:rPr>
              <a:t>Semantic </a:t>
            </a:r>
            <a:r>
              <a:rPr dirty="0" sz="2750">
                <a:latin typeface="Arial"/>
                <a:cs typeface="Arial"/>
              </a:rPr>
              <a:t>Ground</a:t>
            </a:r>
            <a:r>
              <a:rPr dirty="0" sz="2750" spc="110">
                <a:latin typeface="Arial"/>
                <a:cs typeface="Arial"/>
              </a:rPr>
              <a:t> </a:t>
            </a:r>
            <a:r>
              <a:rPr dirty="0" sz="2750" spc="-20">
                <a:latin typeface="Arial"/>
                <a:cs typeface="Arial"/>
              </a:rPr>
              <a:t>Truth</a:t>
            </a:r>
            <a:endParaRPr sz="2750">
              <a:latin typeface="Arial"/>
              <a:cs typeface="Arial"/>
            </a:endParaRPr>
          </a:p>
          <a:p>
            <a:pPr algn="ctr" marL="416559" marR="429259">
              <a:lnSpc>
                <a:spcPts val="3000"/>
              </a:lnSpc>
              <a:spcBef>
                <a:spcPts val="1200"/>
              </a:spcBef>
            </a:pPr>
            <a:r>
              <a:rPr dirty="0" sz="2950" spc="-105">
                <a:latin typeface="Arial"/>
                <a:cs typeface="Arial"/>
              </a:rPr>
              <a:t>Focus</a:t>
            </a:r>
            <a:r>
              <a:rPr dirty="0" sz="2950" spc="-75">
                <a:latin typeface="Arial"/>
                <a:cs typeface="Arial"/>
              </a:rPr>
              <a:t> </a:t>
            </a:r>
            <a:r>
              <a:rPr dirty="0" sz="2950" spc="-45">
                <a:latin typeface="Arial"/>
                <a:cs typeface="Arial"/>
              </a:rPr>
              <a:t>on</a:t>
            </a:r>
            <a:r>
              <a:rPr dirty="0" sz="2950" spc="-240">
                <a:latin typeface="Arial"/>
                <a:cs typeface="Arial"/>
              </a:rPr>
              <a:t> </a:t>
            </a:r>
            <a:r>
              <a:rPr dirty="0" sz="2950" spc="-70">
                <a:latin typeface="Arial"/>
                <a:cs typeface="Arial"/>
              </a:rPr>
              <a:t>integration, </a:t>
            </a:r>
            <a:r>
              <a:rPr dirty="0" sz="2950" spc="-105">
                <a:latin typeface="Arial"/>
                <a:cs typeface="Arial"/>
              </a:rPr>
              <a:t>zero</a:t>
            </a:r>
            <a:r>
              <a:rPr dirty="0" sz="2950" spc="-95">
                <a:latin typeface="Arial"/>
                <a:cs typeface="Arial"/>
              </a:rPr>
              <a:t> </a:t>
            </a:r>
            <a:r>
              <a:rPr dirty="0" sz="2950" spc="-90">
                <a:latin typeface="Arial"/>
                <a:cs typeface="Arial"/>
              </a:rPr>
              <a:t>data</a:t>
            </a:r>
            <a:r>
              <a:rPr dirty="0" sz="2950" spc="-105">
                <a:latin typeface="Arial"/>
                <a:cs typeface="Arial"/>
              </a:rPr>
              <a:t> </a:t>
            </a:r>
            <a:r>
              <a:rPr dirty="0" sz="2950" spc="-60">
                <a:latin typeface="Arial"/>
                <a:cs typeface="Arial"/>
              </a:rPr>
              <a:t>loss,</a:t>
            </a:r>
            <a:r>
              <a:rPr dirty="0" sz="2950" spc="-145">
                <a:latin typeface="Arial"/>
                <a:cs typeface="Arial"/>
              </a:rPr>
              <a:t> </a:t>
            </a:r>
            <a:r>
              <a:rPr dirty="0" sz="2950" spc="-25">
                <a:latin typeface="Arial"/>
                <a:cs typeface="Arial"/>
              </a:rPr>
              <a:t>and</a:t>
            </a:r>
            <a:endParaRPr sz="2950">
              <a:latin typeface="Arial"/>
              <a:cs typeface="Arial"/>
            </a:endParaRPr>
          </a:p>
          <a:p>
            <a:pPr algn="ctr">
              <a:lnSpc>
                <a:spcPts val="2990"/>
              </a:lnSpc>
            </a:pPr>
            <a:r>
              <a:rPr dirty="0" sz="2950" spc="-65">
                <a:latin typeface="Arial"/>
                <a:cs typeface="Arial"/>
              </a:rPr>
              <a:t>foundational</a:t>
            </a:r>
            <a:r>
              <a:rPr dirty="0" sz="2950" spc="-50">
                <a:latin typeface="Arial"/>
                <a:cs typeface="Arial"/>
              </a:rPr>
              <a:t> </a:t>
            </a:r>
            <a:r>
              <a:rPr dirty="0" sz="2950" spc="-160">
                <a:latin typeface="Arial"/>
                <a:cs typeface="Arial"/>
              </a:rPr>
              <a:t>AI</a:t>
            </a:r>
            <a:r>
              <a:rPr dirty="0" sz="2950" spc="-100">
                <a:latin typeface="Arial"/>
                <a:cs typeface="Arial"/>
              </a:rPr>
              <a:t> </a:t>
            </a:r>
            <a:r>
              <a:rPr dirty="0" sz="2950" spc="-65">
                <a:latin typeface="Arial"/>
                <a:cs typeface="Arial"/>
              </a:rPr>
              <a:t>grounding.</a:t>
            </a:r>
            <a:endParaRPr sz="29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75873" y="6321072"/>
            <a:ext cx="3472815" cy="2499995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algn="ctr" marL="168275" marR="144780">
              <a:lnSpc>
                <a:spcPts val="3000"/>
              </a:lnSpc>
              <a:spcBef>
                <a:spcPts val="475"/>
              </a:spcBef>
            </a:pPr>
            <a:r>
              <a:rPr dirty="0" sz="2750" spc="-70">
                <a:latin typeface="Arial"/>
                <a:cs typeface="Arial"/>
              </a:rPr>
              <a:t>R&amp;D</a:t>
            </a:r>
            <a:r>
              <a:rPr dirty="0" sz="2750" spc="16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Acceleration</a:t>
            </a:r>
            <a:r>
              <a:rPr dirty="0" sz="2750" spc="350">
                <a:latin typeface="Arial"/>
                <a:cs typeface="Arial"/>
              </a:rPr>
              <a:t> </a:t>
            </a:r>
            <a:r>
              <a:rPr dirty="0" sz="2750" spc="5">
                <a:latin typeface="Arial"/>
                <a:cs typeface="Arial"/>
              </a:rPr>
              <a:t>&amp; </a:t>
            </a:r>
            <a:r>
              <a:rPr dirty="0" sz="2750" spc="85">
                <a:latin typeface="Arial"/>
                <a:cs typeface="Arial"/>
              </a:rPr>
              <a:t>Product-</a:t>
            </a:r>
            <a:r>
              <a:rPr dirty="0" sz="2750" spc="90">
                <a:latin typeface="Arial"/>
                <a:cs typeface="Arial"/>
              </a:rPr>
              <a:t>Market</a:t>
            </a:r>
            <a:r>
              <a:rPr dirty="0" sz="2750" spc="-250">
                <a:latin typeface="Arial"/>
                <a:cs typeface="Arial"/>
              </a:rPr>
              <a:t> </a:t>
            </a:r>
            <a:r>
              <a:rPr dirty="0" sz="2750" spc="-25">
                <a:latin typeface="Arial"/>
                <a:cs typeface="Arial"/>
              </a:rPr>
              <a:t>Fit</a:t>
            </a:r>
            <a:endParaRPr sz="2750">
              <a:latin typeface="Arial"/>
              <a:cs typeface="Arial"/>
            </a:endParaRPr>
          </a:p>
          <a:p>
            <a:pPr algn="ctr" marL="12700" marR="5080" indent="1270">
              <a:lnSpc>
                <a:spcPct val="86500"/>
              </a:lnSpc>
              <a:spcBef>
                <a:spcPts val="1170"/>
              </a:spcBef>
            </a:pPr>
            <a:r>
              <a:rPr dirty="0" sz="2900" spc="-80">
                <a:latin typeface="Arial"/>
                <a:cs typeface="Arial"/>
              </a:rPr>
              <a:t>Focus</a:t>
            </a:r>
            <a:r>
              <a:rPr dirty="0" sz="2900" spc="-105">
                <a:latin typeface="Arial"/>
                <a:cs typeface="Arial"/>
              </a:rPr>
              <a:t> </a:t>
            </a:r>
            <a:r>
              <a:rPr dirty="0" sz="2900" spc="-50">
                <a:latin typeface="Arial"/>
                <a:cs typeface="Arial"/>
              </a:rPr>
              <a:t>on</a:t>
            </a:r>
            <a:r>
              <a:rPr dirty="0" sz="2900" spc="-150">
                <a:latin typeface="Arial"/>
                <a:cs typeface="Arial"/>
              </a:rPr>
              <a:t> </a:t>
            </a:r>
            <a:r>
              <a:rPr dirty="0" sz="2900" spc="-10">
                <a:latin typeface="Arial"/>
                <a:cs typeface="Arial"/>
              </a:rPr>
              <a:t>research </a:t>
            </a:r>
            <a:r>
              <a:rPr dirty="0" sz="2900" spc="-25">
                <a:latin typeface="Arial"/>
                <a:cs typeface="Arial"/>
              </a:rPr>
              <a:t>tools,</a:t>
            </a:r>
            <a:r>
              <a:rPr dirty="0" sz="2900" spc="-245">
                <a:latin typeface="Arial"/>
                <a:cs typeface="Arial"/>
              </a:rPr>
              <a:t> </a:t>
            </a:r>
            <a:r>
              <a:rPr dirty="0" sz="2900" spc="-20">
                <a:latin typeface="Arial"/>
                <a:cs typeface="Arial"/>
              </a:rPr>
              <a:t>dossier</a:t>
            </a:r>
            <a:r>
              <a:rPr dirty="0" sz="2900" spc="-110">
                <a:latin typeface="Arial"/>
                <a:cs typeface="Arial"/>
              </a:rPr>
              <a:t> </a:t>
            </a:r>
            <a:r>
              <a:rPr dirty="0" sz="2900" spc="-40">
                <a:latin typeface="Arial"/>
                <a:cs typeface="Arial"/>
              </a:rPr>
              <a:t>rollouts, </a:t>
            </a:r>
            <a:r>
              <a:rPr dirty="0" sz="2950" spc="-70">
                <a:latin typeface="Arial"/>
                <a:cs typeface="Arial"/>
              </a:rPr>
              <a:t>and</a:t>
            </a:r>
            <a:r>
              <a:rPr dirty="0" sz="2950" spc="-145">
                <a:latin typeface="Arial"/>
                <a:cs typeface="Arial"/>
              </a:rPr>
              <a:t> </a:t>
            </a:r>
            <a:r>
              <a:rPr dirty="0" sz="2950" spc="-20">
                <a:latin typeface="Arial"/>
                <a:cs typeface="Arial"/>
              </a:rPr>
              <a:t>patient</a:t>
            </a:r>
            <a:r>
              <a:rPr dirty="0" sz="2950" spc="-170">
                <a:latin typeface="Arial"/>
                <a:cs typeface="Arial"/>
              </a:rPr>
              <a:t> </a:t>
            </a:r>
            <a:r>
              <a:rPr dirty="0" sz="2950" spc="-10">
                <a:latin typeface="Arial"/>
                <a:cs typeface="Arial"/>
              </a:rPr>
              <a:t>digital </a:t>
            </a:r>
            <a:r>
              <a:rPr dirty="0" sz="2750" spc="-10">
                <a:latin typeface="Arial"/>
                <a:cs typeface="Arial"/>
              </a:rPr>
              <a:t>twins.</a:t>
            </a:r>
            <a:endParaRPr sz="27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631930" y="6321072"/>
            <a:ext cx="3736340" cy="2132330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algn="ctr" marL="255270" marR="217804">
              <a:lnSpc>
                <a:spcPts val="3000"/>
              </a:lnSpc>
              <a:spcBef>
                <a:spcPts val="475"/>
              </a:spcBef>
            </a:pPr>
            <a:r>
              <a:rPr dirty="0" sz="2750" spc="50">
                <a:latin typeface="Arial"/>
                <a:cs typeface="Arial"/>
              </a:rPr>
              <a:t>Articulation,</a:t>
            </a:r>
            <a:r>
              <a:rPr dirty="0" sz="2750" spc="-50">
                <a:latin typeface="Arial"/>
                <a:cs typeface="Arial"/>
              </a:rPr>
              <a:t> UX,</a:t>
            </a:r>
            <a:r>
              <a:rPr dirty="0" sz="2750" spc="-135">
                <a:latin typeface="Arial"/>
                <a:cs typeface="Arial"/>
              </a:rPr>
              <a:t> </a:t>
            </a:r>
            <a:r>
              <a:rPr dirty="0" sz="2750" spc="-25">
                <a:latin typeface="Arial"/>
                <a:cs typeface="Arial"/>
              </a:rPr>
              <a:t>and </a:t>
            </a:r>
            <a:r>
              <a:rPr dirty="0" sz="2750">
                <a:latin typeface="Arial"/>
                <a:cs typeface="Arial"/>
              </a:rPr>
              <a:t>Transition</a:t>
            </a:r>
            <a:r>
              <a:rPr dirty="0" sz="2750" spc="155">
                <a:latin typeface="Arial"/>
                <a:cs typeface="Arial"/>
              </a:rPr>
              <a:t> </a:t>
            </a:r>
            <a:r>
              <a:rPr dirty="0" sz="2750" spc="110">
                <a:latin typeface="Arial"/>
                <a:cs typeface="Arial"/>
              </a:rPr>
              <a:t>to</a:t>
            </a:r>
            <a:r>
              <a:rPr dirty="0" sz="2750" spc="-70">
                <a:latin typeface="Arial"/>
                <a:cs typeface="Arial"/>
              </a:rPr>
              <a:t> </a:t>
            </a:r>
            <a:r>
              <a:rPr dirty="0" sz="2750" spc="-20">
                <a:latin typeface="Arial"/>
                <a:cs typeface="Arial"/>
              </a:rPr>
              <a:t>LAMs</a:t>
            </a:r>
            <a:endParaRPr sz="2750">
              <a:latin typeface="Arial"/>
              <a:cs typeface="Arial"/>
            </a:endParaRPr>
          </a:p>
          <a:p>
            <a:pPr algn="ctr" marL="12700" marR="5080" indent="-5080">
              <a:lnSpc>
                <a:spcPts val="3000"/>
              </a:lnSpc>
              <a:spcBef>
                <a:spcPts val="1200"/>
              </a:spcBef>
            </a:pPr>
            <a:r>
              <a:rPr dirty="0" sz="2950" spc="-105">
                <a:latin typeface="Arial"/>
                <a:cs typeface="Arial"/>
              </a:rPr>
              <a:t>Focus</a:t>
            </a:r>
            <a:r>
              <a:rPr dirty="0" sz="2950" spc="-80">
                <a:latin typeface="Arial"/>
                <a:cs typeface="Arial"/>
              </a:rPr>
              <a:t> </a:t>
            </a:r>
            <a:r>
              <a:rPr dirty="0" sz="2950" spc="-90">
                <a:latin typeface="Arial"/>
                <a:cs typeface="Arial"/>
              </a:rPr>
              <a:t>on</a:t>
            </a:r>
            <a:r>
              <a:rPr dirty="0" sz="2950" spc="-160">
                <a:latin typeface="Arial"/>
                <a:cs typeface="Arial"/>
              </a:rPr>
              <a:t> </a:t>
            </a:r>
            <a:r>
              <a:rPr dirty="0" sz="2950" spc="-10">
                <a:latin typeface="Arial"/>
                <a:cs typeface="Arial"/>
              </a:rPr>
              <a:t>ecosystem </a:t>
            </a:r>
            <a:r>
              <a:rPr dirty="0" sz="3050" spc="-120">
                <a:latin typeface="Arial"/>
                <a:cs typeface="Arial"/>
              </a:rPr>
              <a:t>adoption</a:t>
            </a:r>
            <a:r>
              <a:rPr dirty="0" sz="3050" spc="-65">
                <a:latin typeface="Arial"/>
                <a:cs typeface="Arial"/>
              </a:rPr>
              <a:t> </a:t>
            </a:r>
            <a:r>
              <a:rPr dirty="0" sz="3050" spc="-25">
                <a:latin typeface="Arial"/>
                <a:cs typeface="Arial"/>
              </a:rPr>
              <a:t>and </a:t>
            </a:r>
            <a:r>
              <a:rPr dirty="0" sz="3050" spc="-120">
                <a:latin typeface="Arial"/>
                <a:cs typeface="Arial"/>
              </a:rPr>
              <a:t>autonomous</a:t>
            </a:r>
            <a:r>
              <a:rPr dirty="0" sz="3050" spc="-65">
                <a:latin typeface="Arial"/>
                <a:cs typeface="Arial"/>
              </a:rPr>
              <a:t> </a:t>
            </a:r>
            <a:r>
              <a:rPr dirty="0" sz="3050" spc="-155">
                <a:latin typeface="Arial"/>
                <a:cs typeface="Arial"/>
              </a:rPr>
              <a:t>workflows.</a:t>
            </a:r>
            <a:endParaRPr sz="3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94200" y="2387600"/>
            <a:ext cx="8699500" cy="41656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306300" y="685800"/>
            <a:ext cx="4394200" cy="1295400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6525" rIns="0" bIns="0" rtlCol="0" vert="horz">
            <a:spAutoFit/>
          </a:bodyPr>
          <a:lstStyle/>
          <a:p>
            <a:pPr marL="12700" marR="5080" indent="1270">
              <a:lnSpc>
                <a:spcPts val="5550"/>
              </a:lnSpc>
              <a:spcBef>
                <a:spcPts val="1075"/>
              </a:spcBef>
            </a:pPr>
            <a:r>
              <a:rPr dirty="0" sz="5400" spc="-75"/>
              <a:t>Phase1</a:t>
            </a:r>
            <a:r>
              <a:rPr dirty="0" sz="5400" spc="-735"/>
              <a:t> </a:t>
            </a:r>
            <a:r>
              <a:rPr dirty="0" sz="5400" spc="-35"/>
              <a:t>Solidifies</a:t>
            </a:r>
            <a:r>
              <a:rPr dirty="0" sz="5400" spc="-340"/>
              <a:t> </a:t>
            </a:r>
            <a:r>
              <a:rPr dirty="0" sz="5400" spc="-30"/>
              <a:t>Integration</a:t>
            </a:r>
            <a:r>
              <a:rPr dirty="0" sz="5400" spc="-185"/>
              <a:t> </a:t>
            </a:r>
            <a:r>
              <a:rPr dirty="0" sz="5400" spc="-25"/>
              <a:t>and </a:t>
            </a:r>
            <a:r>
              <a:rPr dirty="0" sz="5400" spc="-85"/>
              <a:t>Establishes</a:t>
            </a:r>
            <a:r>
              <a:rPr dirty="0" sz="5400" spc="-290"/>
              <a:t> </a:t>
            </a:r>
            <a:r>
              <a:rPr dirty="0" sz="5400" spc="-50"/>
              <a:t>Semantic</a:t>
            </a:r>
            <a:r>
              <a:rPr dirty="0" sz="5400" spc="-285"/>
              <a:t> </a:t>
            </a:r>
            <a:r>
              <a:rPr dirty="0" sz="5400" spc="-114"/>
              <a:t>Ground</a:t>
            </a:r>
            <a:r>
              <a:rPr dirty="0" sz="5400" spc="-260"/>
              <a:t> </a:t>
            </a:r>
            <a:r>
              <a:rPr dirty="0" sz="5400" spc="-105"/>
              <a:t>Truth</a:t>
            </a:r>
            <a:endParaRPr sz="5400"/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55"/>
              </a:lnSpc>
            </a:pPr>
            <a:r>
              <a:rPr dirty="0"/>
              <a:t>G</a:t>
            </a:r>
            <a:r>
              <a:rPr dirty="0" spc="490"/>
              <a:t> </a:t>
            </a:r>
            <a:r>
              <a:rPr dirty="0" spc="-10"/>
              <a:t>NotebookLM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113159" y="4893733"/>
            <a:ext cx="1692910" cy="1168400"/>
          </a:xfrm>
          <a:prstGeom prst="rect">
            <a:avLst/>
          </a:prstGeom>
        </p:spPr>
        <p:txBody>
          <a:bodyPr wrap="square" lIns="0" tIns="107314" rIns="0" bIns="0" rtlCol="0" vert="horz">
            <a:spAutoFit/>
          </a:bodyPr>
          <a:lstStyle/>
          <a:p>
            <a:pPr algn="ctr" marL="12065" marR="5080" indent="10160">
              <a:lnSpc>
                <a:spcPct val="79000"/>
              </a:lnSpc>
              <a:spcBef>
                <a:spcPts val="844"/>
              </a:spcBef>
            </a:pPr>
            <a:r>
              <a:rPr dirty="0" sz="2900" spc="-10">
                <a:latin typeface="Arial"/>
                <a:cs typeface="Arial"/>
              </a:rPr>
              <a:t>Tellic </a:t>
            </a:r>
            <a:r>
              <a:rPr dirty="0" sz="2900" spc="-150">
                <a:latin typeface="Arial"/>
                <a:cs typeface="Arial"/>
              </a:rPr>
              <a:t>Knowledge </a:t>
            </a:r>
            <a:r>
              <a:rPr dirty="0" sz="2900" spc="-10">
                <a:latin typeface="Arial"/>
                <a:cs typeface="Arial"/>
              </a:rPr>
              <a:t>Graph</a:t>
            </a:r>
            <a:endParaRPr sz="29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66541" y="3222272"/>
            <a:ext cx="2511425" cy="4489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750" spc="-180">
                <a:latin typeface="Arial"/>
                <a:cs typeface="Arial"/>
              </a:rPr>
              <a:t>MBSE</a:t>
            </a:r>
            <a:r>
              <a:rPr dirty="0" sz="2750" spc="-30">
                <a:latin typeface="Arial"/>
                <a:cs typeface="Arial"/>
              </a:rPr>
              <a:t> </a:t>
            </a:r>
            <a:r>
              <a:rPr dirty="0" sz="2750" spc="-20">
                <a:latin typeface="Arial"/>
                <a:cs typeface="Arial"/>
              </a:rPr>
              <a:t>Principles</a:t>
            </a:r>
            <a:endParaRPr sz="27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870160" y="4911372"/>
            <a:ext cx="1303655" cy="1151255"/>
          </a:xfrm>
          <a:prstGeom prst="rect">
            <a:avLst/>
          </a:prstGeom>
        </p:spPr>
        <p:txBody>
          <a:bodyPr wrap="square" lIns="0" tIns="99695" rIns="0" bIns="0" rtlCol="0" vert="horz">
            <a:spAutoFit/>
          </a:bodyPr>
          <a:lstStyle/>
          <a:p>
            <a:pPr algn="just" marL="12700" marR="5080" indent="118745">
              <a:lnSpc>
                <a:spcPct val="80100"/>
              </a:lnSpc>
              <a:spcBef>
                <a:spcPts val="785"/>
              </a:spcBef>
            </a:pPr>
            <a:r>
              <a:rPr dirty="0" sz="2750" spc="-10">
                <a:latin typeface="Arial"/>
                <a:cs typeface="Arial"/>
              </a:rPr>
              <a:t>AbbVie </a:t>
            </a:r>
            <a:r>
              <a:rPr dirty="0" sz="2850" spc="-10">
                <a:latin typeface="Arial"/>
                <a:cs typeface="Arial"/>
              </a:rPr>
              <a:t>Legacy </a:t>
            </a:r>
            <a:r>
              <a:rPr dirty="0" sz="2900" spc="-165">
                <a:latin typeface="Arial"/>
                <a:cs typeface="Arial"/>
              </a:rPr>
              <a:t>Systems</a:t>
            </a:r>
            <a:endParaRPr sz="29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20167" y="6803672"/>
            <a:ext cx="15146019" cy="242125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45440" indent="-332105">
              <a:lnSpc>
                <a:spcPts val="3250"/>
              </a:lnSpc>
              <a:spcBef>
                <a:spcPts val="125"/>
              </a:spcBef>
              <a:buChar char="•"/>
              <a:tabLst>
                <a:tab pos="345440" algn="l"/>
              </a:tabLst>
            </a:pPr>
            <a:r>
              <a:rPr dirty="0" sz="2750" spc="-55">
                <a:latin typeface="Arial"/>
                <a:cs typeface="Arial"/>
              </a:rPr>
              <a:t>Focus:</a:t>
            </a:r>
            <a:r>
              <a:rPr dirty="0" sz="2750" spc="-190">
                <a:latin typeface="Arial"/>
                <a:cs typeface="Arial"/>
              </a:rPr>
              <a:t> </a:t>
            </a:r>
            <a:r>
              <a:rPr dirty="0" sz="2750" spc="-10">
                <a:latin typeface="Arial"/>
                <a:cs typeface="Arial"/>
              </a:rPr>
              <a:t>Integration,</a:t>
            </a:r>
            <a:r>
              <a:rPr dirty="0" sz="2750" spc="-170">
                <a:latin typeface="Arial"/>
                <a:cs typeface="Arial"/>
              </a:rPr>
              <a:t> </a:t>
            </a:r>
            <a:r>
              <a:rPr dirty="0" sz="2750" spc="-50">
                <a:latin typeface="Arial"/>
                <a:cs typeface="Arial"/>
              </a:rPr>
              <a:t>Data</a:t>
            </a:r>
            <a:r>
              <a:rPr dirty="0" sz="2750" spc="-114">
                <a:latin typeface="Arial"/>
                <a:cs typeface="Arial"/>
              </a:rPr>
              <a:t> </a:t>
            </a:r>
            <a:r>
              <a:rPr dirty="0" sz="2750" spc="-65">
                <a:latin typeface="Arial"/>
                <a:cs typeface="Arial"/>
              </a:rPr>
              <a:t>Governance,</a:t>
            </a:r>
            <a:r>
              <a:rPr dirty="0" sz="2750" spc="8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and</a:t>
            </a:r>
            <a:r>
              <a:rPr dirty="0" sz="2750" spc="-65">
                <a:latin typeface="Arial"/>
                <a:cs typeface="Arial"/>
              </a:rPr>
              <a:t> </a:t>
            </a:r>
            <a:r>
              <a:rPr dirty="0" sz="2750" spc="-190">
                <a:latin typeface="Arial"/>
                <a:cs typeface="Arial"/>
              </a:rPr>
              <a:t>AI</a:t>
            </a:r>
            <a:r>
              <a:rPr dirty="0" sz="2750" spc="-75">
                <a:latin typeface="Arial"/>
                <a:cs typeface="Arial"/>
              </a:rPr>
              <a:t> </a:t>
            </a:r>
            <a:r>
              <a:rPr dirty="0" sz="2750" spc="-10">
                <a:latin typeface="Arial"/>
                <a:cs typeface="Arial"/>
              </a:rPr>
              <a:t>Grounding.</a:t>
            </a:r>
            <a:endParaRPr sz="2750">
              <a:latin typeface="Arial"/>
              <a:cs typeface="Arial"/>
            </a:endParaRPr>
          </a:p>
          <a:p>
            <a:pPr marL="344805" indent="-331470">
              <a:lnSpc>
                <a:spcPts val="3150"/>
              </a:lnSpc>
              <a:buChar char="•"/>
              <a:tabLst>
                <a:tab pos="344805" algn="l"/>
              </a:tabLst>
            </a:pPr>
            <a:r>
              <a:rPr dirty="0" sz="2750">
                <a:latin typeface="Arial"/>
                <a:cs typeface="Arial"/>
              </a:rPr>
              <a:t>Solidifying</a:t>
            </a:r>
            <a:r>
              <a:rPr dirty="0" sz="2750" spc="-130">
                <a:latin typeface="Arial"/>
                <a:cs typeface="Arial"/>
              </a:rPr>
              <a:t> </a:t>
            </a:r>
            <a:r>
              <a:rPr dirty="0" sz="2750" spc="-185">
                <a:latin typeface="Arial"/>
                <a:cs typeface="Arial"/>
              </a:rPr>
              <a:t>ARCH:</a:t>
            </a:r>
            <a:r>
              <a:rPr dirty="0" sz="2750" spc="-70">
                <a:latin typeface="Arial"/>
                <a:cs typeface="Arial"/>
              </a:rPr>
              <a:t> </a:t>
            </a:r>
            <a:r>
              <a:rPr dirty="0" sz="2750" spc="-65">
                <a:latin typeface="Arial"/>
                <a:cs typeface="Arial"/>
              </a:rPr>
              <a:t>Fully</a:t>
            </a:r>
            <a:r>
              <a:rPr dirty="0" sz="2750" spc="-12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integrate</a:t>
            </a:r>
            <a:r>
              <a:rPr dirty="0" sz="2750" spc="-55">
                <a:latin typeface="Arial"/>
                <a:cs typeface="Arial"/>
              </a:rPr>
              <a:t> </a:t>
            </a:r>
            <a:r>
              <a:rPr dirty="0" sz="2750" spc="-90">
                <a:latin typeface="Arial"/>
                <a:cs typeface="Arial"/>
              </a:rPr>
              <a:t>Tellic's</a:t>
            </a:r>
            <a:r>
              <a:rPr dirty="0" sz="2750" spc="-55">
                <a:latin typeface="Arial"/>
                <a:cs typeface="Arial"/>
              </a:rPr>
              <a:t> </a:t>
            </a:r>
            <a:r>
              <a:rPr dirty="0" sz="2750" spc="-35">
                <a:latin typeface="Arial"/>
                <a:cs typeface="Arial"/>
              </a:rPr>
              <a:t>medical</a:t>
            </a:r>
            <a:r>
              <a:rPr dirty="0" sz="2750" spc="-15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knowledge</a:t>
            </a:r>
            <a:r>
              <a:rPr dirty="0" sz="2750" spc="3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graph</a:t>
            </a:r>
            <a:r>
              <a:rPr dirty="0" sz="2750" spc="-2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with</a:t>
            </a:r>
            <a:r>
              <a:rPr dirty="0" sz="2750" spc="-60">
                <a:latin typeface="Arial"/>
                <a:cs typeface="Arial"/>
              </a:rPr>
              <a:t> </a:t>
            </a:r>
            <a:r>
              <a:rPr dirty="0" sz="2750" spc="-110">
                <a:latin typeface="Arial"/>
                <a:cs typeface="Arial"/>
              </a:rPr>
              <a:t>AbbVie's</a:t>
            </a:r>
            <a:r>
              <a:rPr dirty="0" sz="2750" spc="-5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legacy</a:t>
            </a:r>
            <a:r>
              <a:rPr dirty="0" sz="2750" spc="-10">
                <a:latin typeface="Arial"/>
                <a:cs typeface="Arial"/>
              </a:rPr>
              <a:t> systems.</a:t>
            </a:r>
            <a:endParaRPr sz="2750">
              <a:latin typeface="Arial"/>
              <a:cs typeface="Arial"/>
            </a:endParaRPr>
          </a:p>
          <a:p>
            <a:pPr marL="344805" marR="58419" indent="-332740">
              <a:lnSpc>
                <a:spcPts val="2900"/>
              </a:lnSpc>
              <a:spcBef>
                <a:spcPts val="480"/>
              </a:spcBef>
              <a:buChar char="•"/>
              <a:tabLst>
                <a:tab pos="349885" algn="l"/>
              </a:tabLst>
            </a:pPr>
            <a:r>
              <a:rPr dirty="0" sz="2900" spc="-295">
                <a:latin typeface="Arial"/>
                <a:cs typeface="Arial"/>
              </a:rPr>
              <a:t>MBSE</a:t>
            </a:r>
            <a:r>
              <a:rPr dirty="0" sz="2900" spc="-85">
                <a:latin typeface="Arial"/>
                <a:cs typeface="Arial"/>
              </a:rPr>
              <a:t> </a:t>
            </a:r>
            <a:r>
              <a:rPr dirty="0" sz="2900" spc="-80">
                <a:latin typeface="Arial"/>
                <a:cs typeface="Arial"/>
              </a:rPr>
              <a:t>Alignment:</a:t>
            </a:r>
            <a:r>
              <a:rPr dirty="0" sz="2900" spc="-120">
                <a:latin typeface="Arial"/>
                <a:cs typeface="Arial"/>
              </a:rPr>
              <a:t> </a:t>
            </a:r>
            <a:r>
              <a:rPr dirty="0" sz="2900" spc="-110">
                <a:latin typeface="Arial"/>
                <a:cs typeface="Arial"/>
              </a:rPr>
              <a:t>Apply</a:t>
            </a:r>
            <a:r>
              <a:rPr dirty="0" sz="2900" spc="-90">
                <a:latin typeface="Arial"/>
                <a:cs typeface="Arial"/>
              </a:rPr>
              <a:t> </a:t>
            </a:r>
            <a:r>
              <a:rPr dirty="0" sz="2900" spc="-130">
                <a:latin typeface="Arial"/>
                <a:cs typeface="Arial"/>
              </a:rPr>
              <a:t>Model-</a:t>
            </a:r>
            <a:r>
              <a:rPr dirty="0" sz="2900" spc="-105">
                <a:latin typeface="Arial"/>
                <a:cs typeface="Arial"/>
              </a:rPr>
              <a:t>Based</a:t>
            </a:r>
            <a:r>
              <a:rPr dirty="0" sz="2900" spc="-60">
                <a:latin typeface="Arial"/>
                <a:cs typeface="Arial"/>
              </a:rPr>
              <a:t> </a:t>
            </a:r>
            <a:r>
              <a:rPr dirty="0" sz="2900" spc="-150">
                <a:latin typeface="Arial"/>
                <a:cs typeface="Arial"/>
              </a:rPr>
              <a:t>Systems</a:t>
            </a:r>
            <a:r>
              <a:rPr dirty="0" sz="2900" spc="-45">
                <a:latin typeface="Arial"/>
                <a:cs typeface="Arial"/>
              </a:rPr>
              <a:t> </a:t>
            </a:r>
            <a:r>
              <a:rPr dirty="0" sz="2900" spc="-145">
                <a:latin typeface="Arial"/>
                <a:cs typeface="Arial"/>
              </a:rPr>
              <a:t>Engineering</a:t>
            </a:r>
            <a:r>
              <a:rPr dirty="0" sz="2900" spc="90">
                <a:latin typeface="Arial"/>
                <a:cs typeface="Arial"/>
              </a:rPr>
              <a:t> </a:t>
            </a:r>
            <a:r>
              <a:rPr dirty="0" sz="2900" spc="-95">
                <a:latin typeface="Arial"/>
                <a:cs typeface="Arial"/>
              </a:rPr>
              <a:t>principles</a:t>
            </a:r>
            <a:r>
              <a:rPr dirty="0" sz="2900" spc="40">
                <a:latin typeface="Arial"/>
                <a:cs typeface="Arial"/>
              </a:rPr>
              <a:t> </a:t>
            </a:r>
            <a:r>
              <a:rPr dirty="0" sz="2900">
                <a:latin typeface="Arial"/>
                <a:cs typeface="Arial"/>
              </a:rPr>
              <a:t>to</a:t>
            </a:r>
            <a:r>
              <a:rPr dirty="0" sz="2900" spc="-200">
                <a:latin typeface="Arial"/>
                <a:cs typeface="Arial"/>
              </a:rPr>
              <a:t> </a:t>
            </a:r>
            <a:r>
              <a:rPr dirty="0" sz="2900" spc="-125">
                <a:latin typeface="Arial"/>
                <a:cs typeface="Arial"/>
              </a:rPr>
              <a:t>guarantee</a:t>
            </a:r>
            <a:r>
              <a:rPr dirty="0" sz="2900" spc="-10">
                <a:latin typeface="Arial"/>
                <a:cs typeface="Arial"/>
              </a:rPr>
              <a:t> </a:t>
            </a:r>
            <a:r>
              <a:rPr dirty="0" sz="2900" spc="-140">
                <a:latin typeface="Arial"/>
                <a:cs typeface="Arial"/>
              </a:rPr>
              <a:t>zero</a:t>
            </a:r>
            <a:r>
              <a:rPr dirty="0" sz="2900" spc="-110">
                <a:latin typeface="Arial"/>
                <a:cs typeface="Arial"/>
              </a:rPr>
              <a:t> </a:t>
            </a:r>
            <a:r>
              <a:rPr dirty="0" sz="2900" spc="-105">
                <a:latin typeface="Arial"/>
                <a:cs typeface="Arial"/>
              </a:rPr>
              <a:t>data</a:t>
            </a:r>
            <a:r>
              <a:rPr dirty="0" sz="2900" spc="-90">
                <a:latin typeface="Arial"/>
                <a:cs typeface="Arial"/>
              </a:rPr>
              <a:t> </a:t>
            </a:r>
            <a:r>
              <a:rPr dirty="0" sz="2900" spc="-20">
                <a:latin typeface="Arial"/>
                <a:cs typeface="Arial"/>
              </a:rPr>
              <a:t>loss </a:t>
            </a:r>
            <a:r>
              <a:rPr dirty="0" sz="2900" spc="-20">
                <a:latin typeface="Arial"/>
                <a:cs typeface="Arial"/>
              </a:rPr>
              <a:t>	</a:t>
            </a:r>
            <a:r>
              <a:rPr dirty="0" sz="2900" spc="-105">
                <a:latin typeface="Arial"/>
                <a:cs typeface="Arial"/>
              </a:rPr>
              <a:t>during </a:t>
            </a:r>
            <a:r>
              <a:rPr dirty="0" sz="2900" spc="-10">
                <a:latin typeface="Arial"/>
                <a:cs typeface="Arial"/>
              </a:rPr>
              <a:t>ingestion.</a:t>
            </a:r>
            <a:endParaRPr sz="2900">
              <a:latin typeface="Arial"/>
              <a:cs typeface="Arial"/>
            </a:endParaRPr>
          </a:p>
          <a:p>
            <a:pPr marL="345440" marR="5080" indent="-333375">
              <a:lnSpc>
                <a:spcPts val="2900"/>
              </a:lnSpc>
              <a:spcBef>
                <a:spcPts val="350"/>
              </a:spcBef>
              <a:buChar char="•"/>
              <a:tabLst>
                <a:tab pos="347980" algn="l"/>
              </a:tabLst>
            </a:pPr>
            <a:r>
              <a:rPr dirty="0" sz="2900" spc="-100">
                <a:latin typeface="Arial"/>
                <a:cs typeface="Arial"/>
              </a:rPr>
              <a:t>Building </a:t>
            </a:r>
            <a:r>
              <a:rPr dirty="0" sz="2900" spc="-35">
                <a:latin typeface="Arial"/>
                <a:cs typeface="Arial"/>
              </a:rPr>
              <a:t>the</a:t>
            </a:r>
            <a:r>
              <a:rPr dirty="0" sz="2900" spc="-190">
                <a:latin typeface="Arial"/>
                <a:cs typeface="Arial"/>
              </a:rPr>
              <a:t> </a:t>
            </a:r>
            <a:r>
              <a:rPr dirty="0" sz="2900" spc="-125">
                <a:latin typeface="Arial"/>
                <a:cs typeface="Arial"/>
              </a:rPr>
              <a:t>Guardrails:</a:t>
            </a:r>
            <a:r>
              <a:rPr dirty="0" sz="2900" spc="-75">
                <a:latin typeface="Arial"/>
                <a:cs typeface="Arial"/>
              </a:rPr>
              <a:t> </a:t>
            </a:r>
            <a:r>
              <a:rPr dirty="0" sz="2900" spc="-120">
                <a:latin typeface="Arial"/>
                <a:cs typeface="Arial"/>
              </a:rPr>
              <a:t>Implement</a:t>
            </a:r>
            <a:r>
              <a:rPr dirty="0" sz="2900" spc="55">
                <a:latin typeface="Arial"/>
                <a:cs typeface="Arial"/>
              </a:rPr>
              <a:t> </a:t>
            </a:r>
            <a:r>
              <a:rPr dirty="0" sz="2900" spc="-70">
                <a:latin typeface="Arial"/>
                <a:cs typeface="Arial"/>
              </a:rPr>
              <a:t>initial</a:t>
            </a:r>
            <a:r>
              <a:rPr dirty="0" sz="2900" spc="-114">
                <a:latin typeface="Arial"/>
                <a:cs typeface="Arial"/>
              </a:rPr>
              <a:t> </a:t>
            </a:r>
            <a:r>
              <a:rPr dirty="0" sz="2900" spc="-405">
                <a:latin typeface="Arial"/>
                <a:cs typeface="Arial"/>
              </a:rPr>
              <a:t>RAG</a:t>
            </a:r>
            <a:r>
              <a:rPr dirty="0" sz="2900" spc="-20">
                <a:latin typeface="Arial"/>
                <a:cs typeface="Arial"/>
              </a:rPr>
              <a:t> </a:t>
            </a:r>
            <a:r>
              <a:rPr dirty="0" sz="2900" spc="-114">
                <a:latin typeface="Arial"/>
                <a:cs typeface="Arial"/>
              </a:rPr>
              <a:t>frameworks</a:t>
            </a:r>
            <a:r>
              <a:rPr dirty="0" sz="2900" spc="-30">
                <a:latin typeface="Arial"/>
                <a:cs typeface="Arial"/>
              </a:rPr>
              <a:t> </a:t>
            </a:r>
            <a:r>
              <a:rPr dirty="0" sz="2900" spc="-95">
                <a:latin typeface="Arial"/>
                <a:cs typeface="Arial"/>
              </a:rPr>
              <a:t>connecting</a:t>
            </a:r>
            <a:r>
              <a:rPr dirty="0" sz="2900" spc="-20">
                <a:latin typeface="Arial"/>
                <a:cs typeface="Arial"/>
              </a:rPr>
              <a:t> </a:t>
            </a:r>
            <a:r>
              <a:rPr dirty="0" sz="2900" spc="-25">
                <a:latin typeface="Arial"/>
                <a:cs typeface="Arial"/>
              </a:rPr>
              <a:t>the</a:t>
            </a:r>
            <a:r>
              <a:rPr dirty="0" sz="2900" spc="-135">
                <a:latin typeface="Arial"/>
                <a:cs typeface="Arial"/>
              </a:rPr>
              <a:t> </a:t>
            </a:r>
            <a:r>
              <a:rPr dirty="0" sz="2900" spc="-130">
                <a:latin typeface="Arial"/>
                <a:cs typeface="Arial"/>
              </a:rPr>
              <a:t>Neo4j</a:t>
            </a:r>
            <a:r>
              <a:rPr dirty="0" sz="2900" spc="-90">
                <a:latin typeface="Arial"/>
                <a:cs typeface="Arial"/>
              </a:rPr>
              <a:t> </a:t>
            </a:r>
            <a:r>
              <a:rPr dirty="0" sz="2900" spc="-110">
                <a:latin typeface="Arial"/>
                <a:cs typeface="Arial"/>
              </a:rPr>
              <a:t>graph</a:t>
            </a:r>
            <a:r>
              <a:rPr dirty="0" sz="2900" spc="-100">
                <a:latin typeface="Arial"/>
                <a:cs typeface="Arial"/>
              </a:rPr>
              <a:t> </a:t>
            </a:r>
            <a:r>
              <a:rPr dirty="0" sz="2900">
                <a:latin typeface="Arial"/>
                <a:cs typeface="Arial"/>
              </a:rPr>
              <a:t>to</a:t>
            </a:r>
            <a:r>
              <a:rPr dirty="0" sz="2900" spc="-120">
                <a:latin typeface="Arial"/>
                <a:cs typeface="Arial"/>
              </a:rPr>
              <a:t> </a:t>
            </a:r>
            <a:r>
              <a:rPr dirty="0" sz="2900" spc="-95">
                <a:latin typeface="Arial"/>
                <a:cs typeface="Arial"/>
              </a:rPr>
              <a:t>AbbVie‘s </a:t>
            </a:r>
            <a:r>
              <a:rPr dirty="0" sz="2900" spc="-95">
                <a:latin typeface="Arial"/>
                <a:cs typeface="Arial"/>
              </a:rPr>
              <a:t>	</a:t>
            </a:r>
            <a:r>
              <a:rPr dirty="0" sz="2900" spc="-195">
                <a:latin typeface="Arial"/>
                <a:cs typeface="Arial"/>
              </a:rPr>
              <a:t>LLMs</a:t>
            </a:r>
            <a:r>
              <a:rPr dirty="0" sz="2900" spc="-5">
                <a:latin typeface="Arial"/>
                <a:cs typeface="Arial"/>
              </a:rPr>
              <a:t> </a:t>
            </a:r>
            <a:r>
              <a:rPr dirty="0" sz="2900" spc="-10">
                <a:latin typeface="Arial"/>
                <a:cs typeface="Arial"/>
              </a:rPr>
              <a:t>to</a:t>
            </a:r>
            <a:r>
              <a:rPr dirty="0" sz="2900" spc="-190">
                <a:latin typeface="Arial"/>
                <a:cs typeface="Arial"/>
              </a:rPr>
              <a:t> </a:t>
            </a:r>
            <a:r>
              <a:rPr dirty="0" sz="2900" spc="-100">
                <a:latin typeface="Arial"/>
                <a:cs typeface="Arial"/>
              </a:rPr>
              <a:t>establish</a:t>
            </a:r>
            <a:r>
              <a:rPr dirty="0" sz="2900" spc="-85">
                <a:latin typeface="Arial"/>
                <a:cs typeface="Arial"/>
              </a:rPr>
              <a:t> </a:t>
            </a:r>
            <a:r>
              <a:rPr dirty="0" sz="2900" spc="-114">
                <a:latin typeface="Arial"/>
                <a:cs typeface="Arial"/>
              </a:rPr>
              <a:t>absolute</a:t>
            </a:r>
            <a:r>
              <a:rPr dirty="0" sz="2900" spc="-75">
                <a:latin typeface="Arial"/>
                <a:cs typeface="Arial"/>
              </a:rPr>
              <a:t> </a:t>
            </a:r>
            <a:r>
              <a:rPr dirty="0" sz="2900" spc="-200">
                <a:latin typeface="Arial"/>
                <a:cs typeface="Arial"/>
              </a:rPr>
              <a:t>AI</a:t>
            </a:r>
            <a:r>
              <a:rPr dirty="0" sz="2900" spc="-75">
                <a:latin typeface="Arial"/>
                <a:cs typeface="Arial"/>
              </a:rPr>
              <a:t> </a:t>
            </a:r>
            <a:r>
              <a:rPr dirty="0" sz="2900" spc="-114">
                <a:latin typeface="Arial"/>
                <a:cs typeface="Arial"/>
              </a:rPr>
              <a:t>ground</a:t>
            </a:r>
            <a:r>
              <a:rPr dirty="0" sz="2900" spc="40">
                <a:latin typeface="Arial"/>
                <a:cs typeface="Arial"/>
              </a:rPr>
              <a:t> </a:t>
            </a:r>
            <a:r>
              <a:rPr dirty="0" sz="2900" spc="-10">
                <a:latin typeface="Arial"/>
                <a:cs typeface="Arial"/>
              </a:rPr>
              <a:t>truth.</a:t>
            </a:r>
            <a:endParaRPr sz="2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11800" y="2565400"/>
            <a:ext cx="6083300" cy="62611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5415" rIns="0" bIns="0" rtlCol="0" vert="horz">
            <a:spAutoFit/>
          </a:bodyPr>
          <a:lstStyle/>
          <a:p>
            <a:pPr marL="11430" marR="5080">
              <a:lnSpc>
                <a:spcPts val="5550"/>
              </a:lnSpc>
              <a:spcBef>
                <a:spcPts val="1145"/>
              </a:spcBef>
            </a:pPr>
            <a:r>
              <a:rPr dirty="0"/>
              <a:t>Enforcing</a:t>
            </a:r>
            <a:r>
              <a:rPr dirty="0" spc="-229"/>
              <a:t> </a:t>
            </a:r>
            <a:r>
              <a:rPr dirty="0" spc="-85"/>
              <a:t>Data</a:t>
            </a:r>
            <a:r>
              <a:rPr dirty="0" spc="-240"/>
              <a:t> </a:t>
            </a:r>
            <a:r>
              <a:rPr dirty="0"/>
              <a:t>Quality</a:t>
            </a:r>
            <a:r>
              <a:rPr dirty="0" spc="-165"/>
              <a:t> </a:t>
            </a:r>
            <a:r>
              <a:rPr dirty="0" spc="-10"/>
              <a:t>and</a:t>
            </a:r>
            <a:r>
              <a:rPr dirty="0" spc="-459"/>
              <a:t> </a:t>
            </a:r>
            <a:r>
              <a:rPr dirty="0" spc="-25"/>
              <a:t>GxP </a:t>
            </a:r>
            <a:r>
              <a:rPr dirty="0" spc="-60"/>
              <a:t>Readiness</a:t>
            </a:r>
            <a:r>
              <a:rPr dirty="0" spc="-215"/>
              <a:t> </a:t>
            </a:r>
            <a:r>
              <a:rPr dirty="0" spc="80"/>
              <a:t>for</a:t>
            </a:r>
            <a:r>
              <a:rPr dirty="0" spc="-300"/>
              <a:t> </a:t>
            </a:r>
            <a:r>
              <a:rPr dirty="0"/>
              <a:t>Future</a:t>
            </a:r>
            <a:r>
              <a:rPr dirty="0" spc="-220"/>
              <a:t> </a:t>
            </a:r>
            <a:r>
              <a:rPr dirty="0" spc="-10"/>
              <a:t>Validation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55"/>
              </a:lnSpc>
            </a:pPr>
            <a:r>
              <a:rPr dirty="0"/>
              <a:t>G</a:t>
            </a:r>
            <a:r>
              <a:rPr dirty="0" spc="490"/>
              <a:t> </a:t>
            </a:r>
            <a:r>
              <a:rPr dirty="0" spc="-10"/>
              <a:t>NotebookLM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921772" y="2434872"/>
            <a:ext cx="4939665" cy="6583045"/>
          </a:xfrm>
          <a:prstGeom prst="rect">
            <a:avLst/>
          </a:prstGeom>
        </p:spPr>
        <p:txBody>
          <a:bodyPr wrap="square" lIns="0" tIns="70485" rIns="0" bIns="0" rtlCol="0" vert="horz">
            <a:spAutoFit/>
          </a:bodyPr>
          <a:lstStyle/>
          <a:p>
            <a:pPr marL="19685" marR="78740" indent="-7620">
              <a:lnSpc>
                <a:spcPts val="2900"/>
              </a:lnSpc>
              <a:spcBef>
                <a:spcPts val="555"/>
              </a:spcBef>
            </a:pPr>
            <a:r>
              <a:rPr dirty="0" sz="2750">
                <a:latin typeface="Arial"/>
                <a:cs typeface="Arial"/>
              </a:rPr>
              <a:t>Strict</a:t>
            </a:r>
            <a:r>
              <a:rPr dirty="0" sz="2750" spc="-45">
                <a:latin typeface="Arial"/>
                <a:cs typeface="Arial"/>
              </a:rPr>
              <a:t> </a:t>
            </a:r>
            <a:r>
              <a:rPr dirty="0" sz="2750" spc="-30">
                <a:latin typeface="Arial"/>
                <a:cs typeface="Arial"/>
              </a:rPr>
              <a:t>Service</a:t>
            </a:r>
            <a:r>
              <a:rPr dirty="0" sz="2750" spc="-65">
                <a:latin typeface="Arial"/>
                <a:cs typeface="Arial"/>
              </a:rPr>
              <a:t> </a:t>
            </a:r>
            <a:r>
              <a:rPr dirty="0" sz="2750" spc="-50">
                <a:latin typeface="Arial"/>
                <a:cs typeface="Arial"/>
              </a:rPr>
              <a:t>Level</a:t>
            </a:r>
            <a:r>
              <a:rPr dirty="0" sz="2750" spc="-70">
                <a:latin typeface="Arial"/>
                <a:cs typeface="Arial"/>
              </a:rPr>
              <a:t> </a:t>
            </a:r>
            <a:r>
              <a:rPr dirty="0" sz="2750" spc="-45">
                <a:latin typeface="Arial"/>
                <a:cs typeface="Arial"/>
              </a:rPr>
              <a:t>Agreements </a:t>
            </a:r>
            <a:r>
              <a:rPr dirty="0" sz="2750" spc="-10">
                <a:latin typeface="Arial"/>
                <a:cs typeface="Arial"/>
              </a:rPr>
              <a:t>(SLAs):</a:t>
            </a:r>
            <a:endParaRPr sz="2750">
              <a:latin typeface="Arial"/>
              <a:cs typeface="Arial"/>
            </a:endParaRPr>
          </a:p>
          <a:p>
            <a:pPr marL="15875" marR="143510" indent="-3175">
              <a:lnSpc>
                <a:spcPts val="2800"/>
              </a:lnSpc>
              <a:spcBef>
                <a:spcPts val="580"/>
              </a:spcBef>
            </a:pPr>
            <a:r>
              <a:rPr dirty="0" sz="2750" spc="-160">
                <a:latin typeface="Arial"/>
                <a:cs typeface="Arial"/>
              </a:rPr>
              <a:t>Establish</a:t>
            </a:r>
            <a:r>
              <a:rPr dirty="0" sz="2750" spc="-25">
                <a:latin typeface="Arial"/>
                <a:cs typeface="Arial"/>
              </a:rPr>
              <a:t> </a:t>
            </a:r>
            <a:r>
              <a:rPr dirty="0" sz="2750" spc="-110">
                <a:latin typeface="Arial"/>
                <a:cs typeface="Arial"/>
              </a:rPr>
              <a:t>unyielding</a:t>
            </a:r>
            <a:r>
              <a:rPr dirty="0" sz="2750" spc="45">
                <a:latin typeface="Arial"/>
                <a:cs typeface="Arial"/>
              </a:rPr>
              <a:t> </a:t>
            </a:r>
            <a:r>
              <a:rPr dirty="0" sz="2750" spc="-254">
                <a:latin typeface="Arial"/>
                <a:cs typeface="Arial"/>
              </a:rPr>
              <a:t>SLAs</a:t>
            </a:r>
            <a:r>
              <a:rPr dirty="0" sz="2750" spc="10">
                <a:latin typeface="Arial"/>
                <a:cs typeface="Arial"/>
              </a:rPr>
              <a:t> </a:t>
            </a:r>
            <a:r>
              <a:rPr dirty="0" sz="2750" spc="-70">
                <a:latin typeface="Arial"/>
                <a:cs typeface="Arial"/>
              </a:rPr>
              <a:t>for</a:t>
            </a:r>
            <a:r>
              <a:rPr dirty="0" sz="2750" spc="-140">
                <a:latin typeface="Arial"/>
                <a:cs typeface="Arial"/>
              </a:rPr>
              <a:t> </a:t>
            </a:r>
            <a:r>
              <a:rPr dirty="0" sz="2750" spc="-65">
                <a:latin typeface="Arial"/>
                <a:cs typeface="Arial"/>
              </a:rPr>
              <a:t>data </a:t>
            </a:r>
            <a:r>
              <a:rPr dirty="0" sz="2750" spc="-75">
                <a:latin typeface="Arial"/>
                <a:cs typeface="Arial"/>
              </a:rPr>
              <a:t>quality</a:t>
            </a:r>
            <a:r>
              <a:rPr dirty="0" sz="2750" spc="-65">
                <a:latin typeface="Arial"/>
                <a:cs typeface="Arial"/>
              </a:rPr>
              <a:t> </a:t>
            </a:r>
            <a:r>
              <a:rPr dirty="0" sz="2750" spc="-145">
                <a:latin typeface="Arial"/>
                <a:cs typeface="Arial"/>
              </a:rPr>
              <a:t>across</a:t>
            </a:r>
            <a:r>
              <a:rPr dirty="0" sz="2750" spc="-45">
                <a:latin typeface="Arial"/>
                <a:cs typeface="Arial"/>
              </a:rPr>
              <a:t> </a:t>
            </a:r>
            <a:r>
              <a:rPr dirty="0" sz="2750" spc="-55">
                <a:latin typeface="Arial"/>
                <a:cs typeface="Arial"/>
              </a:rPr>
              <a:t>the</a:t>
            </a:r>
            <a:r>
              <a:rPr dirty="0" sz="2750" spc="-180">
                <a:latin typeface="Arial"/>
                <a:cs typeface="Arial"/>
              </a:rPr>
              <a:t> </a:t>
            </a:r>
            <a:r>
              <a:rPr dirty="0" sz="2750" spc="-10">
                <a:latin typeface="Arial"/>
                <a:cs typeface="Arial"/>
              </a:rPr>
              <a:t>platform.</a:t>
            </a:r>
            <a:endParaRPr sz="2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040"/>
              </a:spcBef>
            </a:pPr>
            <a:r>
              <a:rPr dirty="0" sz="2750" spc="-254">
                <a:latin typeface="Arial"/>
                <a:cs typeface="Arial"/>
              </a:rPr>
              <a:t>FAIR</a:t>
            </a:r>
            <a:r>
              <a:rPr dirty="0" sz="2750" spc="-65">
                <a:latin typeface="Arial"/>
                <a:cs typeface="Arial"/>
              </a:rPr>
              <a:t> </a:t>
            </a:r>
            <a:r>
              <a:rPr dirty="0" sz="2750" spc="-10">
                <a:latin typeface="Arial"/>
                <a:cs typeface="Arial"/>
              </a:rPr>
              <a:t>Principles:</a:t>
            </a:r>
            <a:endParaRPr sz="2750">
              <a:latin typeface="Arial"/>
              <a:cs typeface="Arial"/>
            </a:endParaRPr>
          </a:p>
          <a:p>
            <a:pPr marL="13335" marR="5080">
              <a:lnSpc>
                <a:spcPts val="2800"/>
              </a:lnSpc>
              <a:spcBef>
                <a:spcPts val="660"/>
              </a:spcBef>
            </a:pPr>
            <a:r>
              <a:rPr dirty="0" sz="2750" spc="-185">
                <a:latin typeface="Arial"/>
                <a:cs typeface="Arial"/>
              </a:rPr>
              <a:t>Ensure</a:t>
            </a:r>
            <a:r>
              <a:rPr dirty="0" sz="2750" spc="-110">
                <a:latin typeface="Arial"/>
                <a:cs typeface="Arial"/>
              </a:rPr>
              <a:t> </a:t>
            </a:r>
            <a:r>
              <a:rPr dirty="0" sz="2750" spc="-130">
                <a:latin typeface="Arial"/>
                <a:cs typeface="Arial"/>
              </a:rPr>
              <a:t>all</a:t>
            </a:r>
            <a:r>
              <a:rPr dirty="0" sz="2750" spc="-165">
                <a:latin typeface="Arial"/>
                <a:cs typeface="Arial"/>
              </a:rPr>
              <a:t> </a:t>
            </a:r>
            <a:r>
              <a:rPr dirty="0" sz="2750" spc="-95">
                <a:latin typeface="Arial"/>
                <a:cs typeface="Arial"/>
              </a:rPr>
              <a:t>ingested</a:t>
            </a:r>
            <a:r>
              <a:rPr dirty="0" sz="2750" spc="25">
                <a:latin typeface="Arial"/>
                <a:cs typeface="Arial"/>
              </a:rPr>
              <a:t> </a:t>
            </a:r>
            <a:r>
              <a:rPr dirty="0" sz="2750" spc="-25">
                <a:latin typeface="Arial"/>
                <a:cs typeface="Arial"/>
              </a:rPr>
              <a:t>and </a:t>
            </a:r>
            <a:r>
              <a:rPr dirty="0" sz="2750" spc="-135">
                <a:latin typeface="Arial"/>
                <a:cs typeface="Arial"/>
              </a:rPr>
              <a:t>harmonized</a:t>
            </a:r>
            <a:r>
              <a:rPr dirty="0" sz="2750" spc="5">
                <a:latin typeface="Arial"/>
                <a:cs typeface="Arial"/>
              </a:rPr>
              <a:t> </a:t>
            </a:r>
            <a:r>
              <a:rPr dirty="0" sz="2750" spc="-110">
                <a:latin typeface="Arial"/>
                <a:cs typeface="Arial"/>
              </a:rPr>
              <a:t>data</a:t>
            </a:r>
            <a:r>
              <a:rPr dirty="0" sz="2750" spc="-70">
                <a:latin typeface="Arial"/>
                <a:cs typeface="Arial"/>
              </a:rPr>
              <a:t> </a:t>
            </a:r>
            <a:r>
              <a:rPr dirty="0" sz="2750" spc="-140">
                <a:latin typeface="Arial"/>
                <a:cs typeface="Arial"/>
              </a:rPr>
              <a:t>meets</a:t>
            </a:r>
            <a:r>
              <a:rPr dirty="0" sz="2750" spc="-125">
                <a:latin typeface="Arial"/>
                <a:cs typeface="Arial"/>
              </a:rPr>
              <a:t> </a:t>
            </a:r>
            <a:r>
              <a:rPr dirty="0" sz="2750" spc="-110">
                <a:latin typeface="Arial"/>
                <a:cs typeface="Arial"/>
              </a:rPr>
              <a:t>Findability, </a:t>
            </a:r>
            <a:r>
              <a:rPr dirty="0" sz="2750" spc="-114">
                <a:latin typeface="Arial"/>
                <a:cs typeface="Arial"/>
              </a:rPr>
              <a:t>Accessibility,</a:t>
            </a:r>
            <a:r>
              <a:rPr dirty="0" sz="2750" spc="-325">
                <a:latin typeface="Arial"/>
                <a:cs typeface="Arial"/>
              </a:rPr>
              <a:t> </a:t>
            </a:r>
            <a:r>
              <a:rPr dirty="0" sz="2750" spc="-95">
                <a:latin typeface="Arial"/>
                <a:cs typeface="Arial"/>
              </a:rPr>
              <a:t>Interoperability,</a:t>
            </a:r>
            <a:r>
              <a:rPr dirty="0" sz="2750" spc="55">
                <a:latin typeface="Arial"/>
                <a:cs typeface="Arial"/>
              </a:rPr>
              <a:t> </a:t>
            </a:r>
            <a:r>
              <a:rPr dirty="0" sz="2750" spc="-25">
                <a:latin typeface="Arial"/>
                <a:cs typeface="Arial"/>
              </a:rPr>
              <a:t>and </a:t>
            </a:r>
            <a:r>
              <a:rPr dirty="0" sz="2750" spc="-135">
                <a:latin typeface="Arial"/>
                <a:cs typeface="Arial"/>
              </a:rPr>
              <a:t>Reusability</a:t>
            </a:r>
            <a:r>
              <a:rPr dirty="0" sz="2750" spc="-25">
                <a:latin typeface="Arial"/>
                <a:cs typeface="Arial"/>
              </a:rPr>
              <a:t> </a:t>
            </a:r>
            <a:r>
              <a:rPr dirty="0" sz="2750" spc="-20">
                <a:latin typeface="Arial"/>
                <a:cs typeface="Arial"/>
              </a:rPr>
              <a:t>standards.</a:t>
            </a:r>
            <a:endParaRPr sz="2750">
              <a:latin typeface="Arial"/>
              <a:cs typeface="Arial"/>
            </a:endParaRPr>
          </a:p>
          <a:p>
            <a:pPr marL="13335">
              <a:lnSpc>
                <a:spcPct val="100000"/>
              </a:lnSpc>
              <a:spcBef>
                <a:spcPts val="2990"/>
              </a:spcBef>
            </a:pPr>
            <a:r>
              <a:rPr dirty="0" sz="2750" spc="-35">
                <a:latin typeface="Arial"/>
                <a:cs typeface="Arial"/>
              </a:rPr>
              <a:t>Regulatory</a:t>
            </a:r>
            <a:r>
              <a:rPr dirty="0" sz="2750" spc="-120">
                <a:latin typeface="Arial"/>
                <a:cs typeface="Arial"/>
              </a:rPr>
              <a:t> </a:t>
            </a:r>
            <a:r>
              <a:rPr dirty="0" sz="2750" spc="-10">
                <a:latin typeface="Arial"/>
                <a:cs typeface="Arial"/>
              </a:rPr>
              <a:t>Foresight:</a:t>
            </a:r>
            <a:endParaRPr sz="2750">
              <a:latin typeface="Arial"/>
              <a:cs typeface="Arial"/>
            </a:endParaRPr>
          </a:p>
          <a:p>
            <a:pPr marL="12700" marR="171450" indent="635">
              <a:lnSpc>
                <a:spcPts val="2800"/>
              </a:lnSpc>
              <a:spcBef>
                <a:spcPts val="710"/>
              </a:spcBef>
            </a:pPr>
            <a:r>
              <a:rPr dirty="0" sz="2750" spc="-145">
                <a:latin typeface="Arial"/>
                <a:cs typeface="Arial"/>
              </a:rPr>
              <a:t>Engineer</a:t>
            </a:r>
            <a:r>
              <a:rPr dirty="0" sz="2750" spc="-45">
                <a:latin typeface="Arial"/>
                <a:cs typeface="Arial"/>
              </a:rPr>
              <a:t> </a:t>
            </a:r>
            <a:r>
              <a:rPr dirty="0" sz="2750" spc="-80">
                <a:latin typeface="Arial"/>
                <a:cs typeface="Arial"/>
              </a:rPr>
              <a:t>the</a:t>
            </a:r>
            <a:r>
              <a:rPr dirty="0" sz="2750" spc="-114">
                <a:latin typeface="Arial"/>
                <a:cs typeface="Arial"/>
              </a:rPr>
              <a:t> semantic</a:t>
            </a:r>
            <a:r>
              <a:rPr dirty="0" sz="2750" spc="35">
                <a:latin typeface="Arial"/>
                <a:cs typeface="Arial"/>
              </a:rPr>
              <a:t> </a:t>
            </a:r>
            <a:r>
              <a:rPr dirty="0" sz="2750" spc="-150">
                <a:latin typeface="Arial"/>
                <a:cs typeface="Arial"/>
              </a:rPr>
              <a:t>layer</a:t>
            </a:r>
            <a:r>
              <a:rPr dirty="0" sz="2750" spc="-4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to</a:t>
            </a:r>
            <a:r>
              <a:rPr dirty="0" sz="2750" spc="-220">
                <a:latin typeface="Arial"/>
                <a:cs typeface="Arial"/>
              </a:rPr>
              <a:t> </a:t>
            </a:r>
            <a:r>
              <a:rPr dirty="0" sz="2750" spc="-55">
                <a:latin typeface="Arial"/>
                <a:cs typeface="Arial"/>
              </a:rPr>
              <a:t>be </a:t>
            </a:r>
            <a:r>
              <a:rPr dirty="0" sz="2750" spc="-100">
                <a:latin typeface="Arial"/>
                <a:cs typeface="Arial"/>
              </a:rPr>
              <a:t>fundamentally</a:t>
            </a:r>
            <a:r>
              <a:rPr dirty="0" sz="2750" spc="30">
                <a:latin typeface="Arial"/>
                <a:cs typeface="Arial"/>
              </a:rPr>
              <a:t> </a:t>
            </a:r>
            <a:r>
              <a:rPr dirty="0" sz="2750" spc="-185">
                <a:latin typeface="Arial"/>
                <a:cs typeface="Arial"/>
              </a:rPr>
              <a:t>GxP-</a:t>
            </a:r>
            <a:r>
              <a:rPr dirty="0" sz="2750" spc="-10">
                <a:latin typeface="Arial"/>
                <a:cs typeface="Arial"/>
              </a:rPr>
              <a:t>ready, </a:t>
            </a:r>
            <a:r>
              <a:rPr dirty="0" sz="2750" spc="-75">
                <a:latin typeface="Arial"/>
                <a:cs typeface="Arial"/>
              </a:rPr>
              <a:t>proactively</a:t>
            </a:r>
            <a:r>
              <a:rPr dirty="0" sz="2750" spc="-50">
                <a:latin typeface="Arial"/>
                <a:cs typeface="Arial"/>
              </a:rPr>
              <a:t> </a:t>
            </a:r>
            <a:r>
              <a:rPr dirty="0" sz="2750" spc="-85">
                <a:latin typeface="Arial"/>
                <a:cs typeface="Arial"/>
              </a:rPr>
              <a:t>supporting</a:t>
            </a:r>
            <a:r>
              <a:rPr dirty="0" sz="2750" spc="-105">
                <a:latin typeface="Arial"/>
                <a:cs typeface="Arial"/>
              </a:rPr>
              <a:t> </a:t>
            </a:r>
            <a:r>
              <a:rPr dirty="0" sz="2750" spc="-130">
                <a:latin typeface="Arial"/>
                <a:cs typeface="Arial"/>
              </a:rPr>
              <a:t>all</a:t>
            </a:r>
            <a:r>
              <a:rPr dirty="0" sz="2750" spc="-110">
                <a:latin typeface="Arial"/>
                <a:cs typeface="Arial"/>
              </a:rPr>
              <a:t> </a:t>
            </a:r>
            <a:r>
              <a:rPr dirty="0" sz="2750" spc="-10">
                <a:latin typeface="Arial"/>
                <a:cs typeface="Arial"/>
              </a:rPr>
              <a:t>future </a:t>
            </a:r>
            <a:r>
              <a:rPr dirty="0" sz="2750" spc="-80">
                <a:latin typeface="Arial"/>
                <a:cs typeface="Arial"/>
              </a:rPr>
              <a:t>regulatory</a:t>
            </a:r>
            <a:r>
              <a:rPr dirty="0" sz="2750" spc="-35">
                <a:latin typeface="Arial"/>
                <a:cs typeface="Arial"/>
              </a:rPr>
              <a:t> </a:t>
            </a:r>
            <a:r>
              <a:rPr dirty="0" sz="2750" spc="-30">
                <a:latin typeface="Arial"/>
                <a:cs typeface="Arial"/>
              </a:rPr>
              <a:t>validation </a:t>
            </a:r>
            <a:r>
              <a:rPr dirty="0" sz="2750" spc="-55">
                <a:latin typeface="Arial"/>
                <a:cs typeface="Arial"/>
              </a:rPr>
              <a:t>requirements.</a:t>
            </a:r>
            <a:endParaRPr sz="2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55900" y="3848100"/>
            <a:ext cx="850900" cy="2159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1353800" y="7260166"/>
            <a:ext cx="791845" cy="55244"/>
            <a:chOff x="11353800" y="7260166"/>
            <a:chExt cx="791845" cy="55244"/>
          </a:xfrm>
        </p:grpSpPr>
        <p:sp>
          <p:nvSpPr>
            <p:cNvPr id="4" name="object 4"/>
            <p:cNvSpPr/>
            <p:nvPr/>
          </p:nvSpPr>
          <p:spPr>
            <a:xfrm>
              <a:off x="11353800" y="7300383"/>
              <a:ext cx="791845" cy="0"/>
            </a:xfrm>
            <a:custGeom>
              <a:avLst/>
              <a:gdLst/>
              <a:ahLst/>
              <a:cxnLst/>
              <a:rect l="l" t="t" r="r" b="b"/>
              <a:pathLst>
                <a:path w="791845" h="0">
                  <a:moveTo>
                    <a:pt x="0" y="0"/>
                  </a:moveTo>
                  <a:lnTo>
                    <a:pt x="791633" y="0"/>
                  </a:lnTo>
                </a:path>
              </a:pathLst>
            </a:custGeom>
            <a:ln w="296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1353800" y="7274983"/>
              <a:ext cx="741045" cy="0"/>
            </a:xfrm>
            <a:custGeom>
              <a:avLst/>
              <a:gdLst/>
              <a:ahLst/>
              <a:cxnLst/>
              <a:rect l="l" t="t" r="r" b="b"/>
              <a:pathLst>
                <a:path w="741045" h="0">
                  <a:moveTo>
                    <a:pt x="0" y="0"/>
                  </a:moveTo>
                  <a:lnTo>
                    <a:pt x="740833" y="0"/>
                  </a:lnTo>
                </a:path>
              </a:pathLst>
            </a:custGeom>
            <a:ln w="296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/>
          <p:nvPr/>
        </p:nvSpPr>
        <p:spPr>
          <a:xfrm>
            <a:off x="11353800" y="7033683"/>
            <a:ext cx="982344" cy="0"/>
          </a:xfrm>
          <a:custGeom>
            <a:avLst/>
            <a:gdLst/>
            <a:ahLst/>
            <a:cxnLst/>
            <a:rect l="l" t="t" r="r" b="b"/>
            <a:pathLst>
              <a:path w="982345" h="0">
                <a:moveTo>
                  <a:pt x="0" y="0"/>
                </a:moveTo>
                <a:lnTo>
                  <a:pt x="982133" y="0"/>
                </a:lnTo>
              </a:path>
            </a:pathLst>
          </a:custGeom>
          <a:ln w="29633">
            <a:solidFill>
              <a:srgbClr val="6B7C9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7" name="object 7"/>
          <p:cNvGrpSpPr/>
          <p:nvPr/>
        </p:nvGrpSpPr>
        <p:grpSpPr>
          <a:xfrm>
            <a:off x="9740900" y="4478866"/>
            <a:ext cx="474345" cy="55244"/>
            <a:chOff x="9740900" y="4478866"/>
            <a:chExt cx="474345" cy="55244"/>
          </a:xfrm>
        </p:grpSpPr>
        <p:sp>
          <p:nvSpPr>
            <p:cNvPr id="8" name="object 8"/>
            <p:cNvSpPr/>
            <p:nvPr/>
          </p:nvSpPr>
          <p:spPr>
            <a:xfrm>
              <a:off x="9740900" y="4519083"/>
              <a:ext cx="474345" cy="0"/>
            </a:xfrm>
            <a:custGeom>
              <a:avLst/>
              <a:gdLst/>
              <a:ahLst/>
              <a:cxnLst/>
              <a:rect l="l" t="t" r="r" b="b"/>
              <a:pathLst>
                <a:path w="474345" h="0">
                  <a:moveTo>
                    <a:pt x="0" y="0"/>
                  </a:moveTo>
                  <a:lnTo>
                    <a:pt x="474133" y="0"/>
                  </a:lnTo>
                </a:path>
              </a:pathLst>
            </a:custGeom>
            <a:ln w="29633">
              <a:solidFill>
                <a:srgbClr val="60749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9753600" y="4493683"/>
              <a:ext cx="461645" cy="0"/>
            </a:xfrm>
            <a:custGeom>
              <a:avLst/>
              <a:gdLst/>
              <a:ahLst/>
              <a:cxnLst/>
              <a:rect l="l" t="t" r="r" b="b"/>
              <a:pathLst>
                <a:path w="461645" h="0">
                  <a:moveTo>
                    <a:pt x="0" y="0"/>
                  </a:moveTo>
                  <a:lnTo>
                    <a:pt x="461433" y="0"/>
                  </a:lnTo>
                </a:path>
              </a:pathLst>
            </a:custGeom>
            <a:ln w="29633">
              <a:solidFill>
                <a:srgbClr val="60749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/>
          <p:nvPr/>
        </p:nvSpPr>
        <p:spPr>
          <a:xfrm>
            <a:off x="11049000" y="4366683"/>
            <a:ext cx="804545" cy="0"/>
          </a:xfrm>
          <a:custGeom>
            <a:avLst/>
            <a:gdLst/>
            <a:ahLst/>
            <a:cxnLst/>
            <a:rect l="l" t="t" r="r" b="b"/>
            <a:pathLst>
              <a:path w="804545" h="0">
                <a:moveTo>
                  <a:pt x="0" y="0"/>
                </a:moveTo>
                <a:lnTo>
                  <a:pt x="804333" y="0"/>
                </a:lnTo>
              </a:path>
            </a:pathLst>
          </a:custGeom>
          <a:ln w="4233">
            <a:solidFill>
              <a:srgbClr val="64779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1150600" y="4252383"/>
            <a:ext cx="588645" cy="0"/>
          </a:xfrm>
          <a:custGeom>
            <a:avLst/>
            <a:gdLst/>
            <a:ahLst/>
            <a:cxnLst/>
            <a:rect l="l" t="t" r="r" b="b"/>
            <a:pathLst>
              <a:path w="588645" h="0">
                <a:moveTo>
                  <a:pt x="0" y="0"/>
                </a:moveTo>
                <a:lnTo>
                  <a:pt x="588433" y="0"/>
                </a:lnTo>
              </a:path>
            </a:pathLst>
          </a:custGeom>
          <a:ln w="2963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2" name="object 12"/>
          <p:cNvGrpSpPr/>
          <p:nvPr/>
        </p:nvGrpSpPr>
        <p:grpSpPr>
          <a:xfrm>
            <a:off x="9842500" y="3996266"/>
            <a:ext cx="664845" cy="55244"/>
            <a:chOff x="9842500" y="3996266"/>
            <a:chExt cx="664845" cy="55244"/>
          </a:xfrm>
        </p:grpSpPr>
        <p:sp>
          <p:nvSpPr>
            <p:cNvPr id="13" name="object 13"/>
            <p:cNvSpPr/>
            <p:nvPr/>
          </p:nvSpPr>
          <p:spPr>
            <a:xfrm>
              <a:off x="9842500" y="4036483"/>
              <a:ext cx="664845" cy="0"/>
            </a:xfrm>
            <a:custGeom>
              <a:avLst/>
              <a:gdLst/>
              <a:ahLst/>
              <a:cxnLst/>
              <a:rect l="l" t="t" r="r" b="b"/>
              <a:pathLst>
                <a:path w="664845" h="0">
                  <a:moveTo>
                    <a:pt x="0" y="0"/>
                  </a:moveTo>
                  <a:lnTo>
                    <a:pt x="664633" y="0"/>
                  </a:lnTo>
                </a:path>
              </a:pathLst>
            </a:custGeom>
            <a:ln w="29633">
              <a:solidFill>
                <a:srgbClr val="64779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9855200" y="4011083"/>
              <a:ext cx="652145" cy="0"/>
            </a:xfrm>
            <a:custGeom>
              <a:avLst/>
              <a:gdLst/>
              <a:ahLst/>
              <a:cxnLst/>
              <a:rect l="l" t="t" r="r" b="b"/>
              <a:pathLst>
                <a:path w="652145" h="0">
                  <a:moveTo>
                    <a:pt x="0" y="0"/>
                  </a:moveTo>
                  <a:lnTo>
                    <a:pt x="651933" y="0"/>
                  </a:lnTo>
                </a:path>
              </a:pathLst>
            </a:custGeom>
            <a:ln w="29633">
              <a:solidFill>
                <a:srgbClr val="64779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/>
          <p:nvPr/>
        </p:nvSpPr>
        <p:spPr>
          <a:xfrm>
            <a:off x="3086100" y="1581150"/>
            <a:ext cx="1663700" cy="0"/>
          </a:xfrm>
          <a:custGeom>
            <a:avLst/>
            <a:gdLst/>
            <a:ahLst/>
            <a:cxnLst/>
            <a:rect l="l" t="t" r="r" b="b"/>
            <a:pathLst>
              <a:path w="1663700" h="0">
                <a:moveTo>
                  <a:pt x="0" y="0"/>
                </a:moveTo>
                <a:lnTo>
                  <a:pt x="1663700" y="0"/>
                </a:lnTo>
              </a:path>
            </a:pathLst>
          </a:custGeom>
          <a:ln w="12700">
            <a:solidFill>
              <a:srgbClr val="7E7E7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2560300" y="749300"/>
            <a:ext cx="2298700" cy="622300"/>
          </a:xfrm>
          <a:prstGeom prst="rect">
            <a:avLst/>
          </a:prstGeom>
          <a:solidFill>
            <a:srgbClr val="DFF4FF"/>
          </a:solidFill>
        </p:spPr>
        <p:txBody>
          <a:bodyPr wrap="square" lIns="0" tIns="63500" rIns="0" bIns="0" rtlCol="0" vert="horz">
            <a:spAutoFit/>
          </a:bodyPr>
          <a:lstStyle/>
          <a:p>
            <a:pPr marL="175260">
              <a:lnSpc>
                <a:spcPct val="100000"/>
              </a:lnSpc>
              <a:spcBef>
                <a:spcPts val="500"/>
              </a:spcBef>
            </a:pPr>
            <a:r>
              <a:rPr dirty="0" sz="2900" spc="-60">
                <a:solidFill>
                  <a:srgbClr val="4B75A3"/>
                </a:solidFill>
                <a:latin typeface="Arial"/>
                <a:cs typeface="Arial"/>
              </a:rPr>
              <a:t>Months</a:t>
            </a:r>
            <a:r>
              <a:rPr dirty="0" sz="2900" spc="-85">
                <a:solidFill>
                  <a:srgbClr val="4B75A3"/>
                </a:solidFill>
                <a:latin typeface="Arial"/>
                <a:cs typeface="Arial"/>
              </a:rPr>
              <a:t> </a:t>
            </a:r>
            <a:r>
              <a:rPr dirty="0" sz="2900" spc="-130">
                <a:solidFill>
                  <a:srgbClr val="CAE4FD"/>
                </a:solidFill>
                <a:latin typeface="Arial"/>
                <a:cs typeface="Arial"/>
              </a:rPr>
              <a:t>6-</a:t>
            </a:r>
            <a:r>
              <a:rPr dirty="0" sz="2900" spc="-25">
                <a:solidFill>
                  <a:srgbClr val="CAE4FD"/>
                </a:solidFill>
                <a:latin typeface="Arial"/>
                <a:cs typeface="Arial"/>
              </a:rPr>
              <a:t>12</a:t>
            </a:r>
            <a:endParaRPr sz="29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151100" y="0"/>
            <a:ext cx="1828800" cy="1993900"/>
          </a:xfrm>
          <a:prstGeom prst="rect">
            <a:avLst/>
          </a:prstGeom>
          <a:solidFill>
            <a:srgbClr val="0A0F26"/>
          </a:solidFill>
        </p:spPr>
        <p:txBody>
          <a:bodyPr wrap="square" lIns="0" tIns="2781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190"/>
              </a:spcBef>
            </a:pPr>
            <a:endParaRPr sz="2050">
              <a:latin typeface="Times New Roman"/>
              <a:cs typeface="Times New Roman"/>
            </a:endParaRPr>
          </a:p>
          <a:p>
            <a:pPr algn="ctr" marL="10795">
              <a:lnSpc>
                <a:spcPts val="2380"/>
              </a:lnSpc>
            </a:pPr>
            <a:r>
              <a:rPr dirty="0" sz="205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dirty="0" sz="2050" spc="2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50" spc="-50">
                <a:solidFill>
                  <a:srgbClr val="495977"/>
                </a:solidFill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algn="ctr" marL="5715">
              <a:lnSpc>
                <a:spcPts val="2380"/>
              </a:lnSpc>
            </a:pPr>
            <a:r>
              <a:rPr dirty="0" sz="2050">
                <a:solidFill>
                  <a:srgbClr val="FFFFFF"/>
                </a:solidFill>
                <a:latin typeface="Arial"/>
                <a:cs typeface="Arial"/>
              </a:rPr>
              <a:t>G</a:t>
            </a:r>
            <a:r>
              <a:rPr dirty="0" sz="2050" spc="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50" spc="-10">
                <a:solidFill>
                  <a:srgbClr val="FFFFFF"/>
                </a:solidFill>
                <a:latin typeface="Arial"/>
                <a:cs typeface="Arial"/>
              </a:rPr>
              <a:t>eiffenberg</a:t>
            </a:r>
            <a:endParaRPr sz="205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9321800" y="3289300"/>
            <a:ext cx="7175500" cy="419100"/>
            <a:chOff x="9321800" y="3289300"/>
            <a:chExt cx="7175500" cy="419100"/>
          </a:xfrm>
        </p:grpSpPr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21800" y="3289300"/>
              <a:ext cx="7175500" cy="4191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321800" y="3289300"/>
              <a:ext cx="7175500" cy="419100"/>
            </a:xfrm>
            <a:prstGeom prst="rect">
              <a:avLst/>
            </a:prstGeom>
          </p:spPr>
        </p:pic>
      </p:grpSp>
      <p:pic>
        <p:nvPicPr>
          <p:cNvPr id="21" name="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99600" y="4749800"/>
            <a:ext cx="127000" cy="127000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4008100" y="5118100"/>
            <a:ext cx="139700" cy="152400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334500" y="4381500"/>
            <a:ext cx="292100" cy="279400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3995400" y="6477000"/>
            <a:ext cx="2082800" cy="139700"/>
          </a:xfrm>
          <a:prstGeom prst="rect">
            <a:avLst/>
          </a:prstGeom>
        </p:spPr>
      </p:pic>
      <p:sp>
        <p:nvSpPr>
          <p:cNvPr id="25" name="object 25" descr="$PPTXTitle"/>
          <p:cNvSpPr txBox="1">
            <a:spLocks noGrp="1"/>
          </p:cNvSpPr>
          <p:nvPr>
            <p:ph type="title"/>
          </p:nvPr>
        </p:nvSpPr>
        <p:spPr>
          <a:xfrm>
            <a:off x="873451" y="617713"/>
            <a:ext cx="10372725" cy="1630045"/>
          </a:xfrm>
          <a:prstGeom prst="rect"/>
        </p:spPr>
        <p:txBody>
          <a:bodyPr wrap="square" lIns="0" tIns="92710" rIns="0" bIns="0" rtlCol="0" vert="horz">
            <a:spAutoFit/>
          </a:bodyPr>
          <a:lstStyle/>
          <a:p>
            <a:pPr marL="27940" marR="5080" indent="-15875">
              <a:lnSpc>
                <a:spcPts val="6050"/>
              </a:lnSpc>
              <a:spcBef>
                <a:spcPts val="730"/>
              </a:spcBef>
            </a:pPr>
            <a:r>
              <a:rPr dirty="0" spc="-35">
                <a:solidFill>
                  <a:srgbClr val="010A2D"/>
                </a:solidFill>
              </a:rPr>
              <a:t>Phase</a:t>
            </a:r>
            <a:r>
              <a:rPr dirty="0" spc="-145">
                <a:solidFill>
                  <a:srgbClr val="010A2D"/>
                </a:solidFill>
              </a:rPr>
              <a:t> </a:t>
            </a:r>
            <a:r>
              <a:rPr dirty="0" spc="60">
                <a:solidFill>
                  <a:srgbClr val="031134"/>
                </a:solidFill>
              </a:rPr>
              <a:t>2</a:t>
            </a:r>
            <a:r>
              <a:rPr dirty="0" spc="-495">
                <a:solidFill>
                  <a:srgbClr val="031134"/>
                </a:solidFill>
              </a:rPr>
              <a:t> </a:t>
            </a:r>
            <a:r>
              <a:rPr dirty="0">
                <a:solidFill>
                  <a:srgbClr val="010A2B"/>
                </a:solidFill>
              </a:rPr>
              <a:t>Drives</a:t>
            </a:r>
            <a:r>
              <a:rPr dirty="0" spc="-360">
                <a:solidFill>
                  <a:srgbClr val="010A2B"/>
                </a:solidFill>
              </a:rPr>
              <a:t> </a:t>
            </a:r>
            <a:r>
              <a:rPr dirty="0" spc="-430">
                <a:solidFill>
                  <a:srgbClr val="030F38"/>
                </a:solidFill>
              </a:rPr>
              <a:t>R&amp;D</a:t>
            </a:r>
            <a:r>
              <a:rPr dirty="0" spc="-80">
                <a:solidFill>
                  <a:srgbClr val="030F38"/>
                </a:solidFill>
              </a:rPr>
              <a:t> </a:t>
            </a:r>
            <a:r>
              <a:rPr dirty="0" spc="-10">
                <a:solidFill>
                  <a:srgbClr val="010C2D"/>
                </a:solidFill>
              </a:rPr>
              <a:t>Acceleration </a:t>
            </a:r>
            <a:r>
              <a:rPr dirty="0">
                <a:solidFill>
                  <a:srgbClr val="030C31"/>
                </a:solidFill>
              </a:rPr>
              <a:t>and</a:t>
            </a:r>
            <a:r>
              <a:rPr dirty="0" spc="-370">
                <a:solidFill>
                  <a:srgbClr val="030C31"/>
                </a:solidFill>
              </a:rPr>
              <a:t> </a:t>
            </a:r>
            <a:r>
              <a:rPr dirty="0" spc="85">
                <a:solidFill>
                  <a:srgbClr val="030C2F"/>
                </a:solidFill>
              </a:rPr>
              <a:t>Scientific</a:t>
            </a:r>
            <a:r>
              <a:rPr dirty="0" spc="155">
                <a:solidFill>
                  <a:srgbClr val="030C2F"/>
                </a:solidFill>
              </a:rPr>
              <a:t> </a:t>
            </a:r>
            <a:r>
              <a:rPr dirty="0" spc="120">
                <a:solidFill>
                  <a:srgbClr val="030C2D"/>
                </a:solidFill>
              </a:rPr>
              <a:t>Product-</a:t>
            </a:r>
            <a:r>
              <a:rPr dirty="0" spc="130">
                <a:solidFill>
                  <a:srgbClr val="030C2D"/>
                </a:solidFill>
              </a:rPr>
              <a:t>Market</a:t>
            </a:r>
            <a:r>
              <a:rPr dirty="0" spc="-415">
                <a:solidFill>
                  <a:srgbClr val="030C2D"/>
                </a:solidFill>
              </a:rPr>
              <a:t> </a:t>
            </a:r>
            <a:r>
              <a:rPr dirty="0" spc="-25">
                <a:solidFill>
                  <a:srgbClr val="031138"/>
                </a:solidFill>
              </a:rPr>
              <a:t>Fit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55"/>
              </a:lnSpc>
            </a:pPr>
            <a:r>
              <a:rPr dirty="0"/>
              <a:t>G</a:t>
            </a:r>
            <a:r>
              <a:rPr dirty="0" spc="490"/>
              <a:t> </a:t>
            </a:r>
            <a:r>
              <a:rPr dirty="0" spc="-10"/>
              <a:t>NotebookLM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37465" rIns="0" bIns="0" rtlCol="0" vert="horz">
            <a:spAutoFit/>
          </a:bodyPr>
          <a:lstStyle/>
          <a:p>
            <a:pPr algn="just" marL="280035" marR="1295400" indent="-267335">
              <a:lnSpc>
                <a:spcPts val="3400"/>
              </a:lnSpc>
              <a:spcBef>
                <a:spcPts val="295"/>
              </a:spcBef>
              <a:buClr>
                <a:srgbClr val="010826"/>
              </a:buClr>
              <a:buChar char="•"/>
              <a:tabLst>
                <a:tab pos="290830" algn="l"/>
              </a:tabLst>
            </a:pPr>
            <a:r>
              <a:rPr dirty="0" spc="-75">
                <a:solidFill>
                  <a:srgbClr val="01051F"/>
                </a:solidFill>
              </a:rPr>
              <a:t>Focus:</a:t>
            </a:r>
            <a:r>
              <a:rPr dirty="0" spc="-125">
                <a:solidFill>
                  <a:srgbClr val="01051F"/>
                </a:solidFill>
              </a:rPr>
              <a:t> </a:t>
            </a:r>
            <a:r>
              <a:rPr dirty="0" spc="-180">
                <a:solidFill>
                  <a:srgbClr val="030303"/>
                </a:solidFill>
              </a:rPr>
              <a:t>Value</a:t>
            </a:r>
            <a:r>
              <a:rPr dirty="0" spc="-20">
                <a:solidFill>
                  <a:srgbClr val="030303"/>
                </a:solidFill>
              </a:rPr>
              <a:t> </a:t>
            </a:r>
            <a:r>
              <a:rPr dirty="0" spc="-100"/>
              <a:t>Creation </a:t>
            </a:r>
            <a:r>
              <a:rPr dirty="0" spc="-10"/>
              <a:t>for</a:t>
            </a:r>
            <a:r>
              <a:rPr dirty="0" spc="-175"/>
              <a:t> </a:t>
            </a:r>
            <a:r>
              <a:rPr dirty="0" spc="-65"/>
              <a:t>Scientists</a:t>
            </a:r>
            <a:r>
              <a:rPr dirty="0" spc="-30"/>
              <a:t> </a:t>
            </a:r>
            <a:r>
              <a:rPr dirty="0" spc="-25"/>
              <a:t>and </a:t>
            </a:r>
            <a:r>
              <a:rPr dirty="0" spc="-25"/>
              <a:t>	</a:t>
            </a:r>
            <a:r>
              <a:rPr dirty="0" spc="-110"/>
              <a:t>Translational</a:t>
            </a:r>
            <a:r>
              <a:rPr dirty="0" spc="10"/>
              <a:t> </a:t>
            </a:r>
            <a:r>
              <a:rPr dirty="0" spc="-50">
                <a:solidFill>
                  <a:srgbClr val="050505"/>
                </a:solidFill>
              </a:rPr>
              <a:t>Research.</a:t>
            </a:r>
          </a:p>
          <a:p>
            <a:pPr algn="just" marL="290195" marR="1052195" indent="-276225">
              <a:lnSpc>
                <a:spcPct val="102499"/>
              </a:lnSpc>
              <a:spcBef>
                <a:spcPts val="1340"/>
              </a:spcBef>
              <a:buClr>
                <a:srgbClr val="050A2F"/>
              </a:buClr>
              <a:buChar char="•"/>
              <a:tabLst>
                <a:tab pos="293370" algn="l"/>
              </a:tabLst>
            </a:pPr>
            <a:r>
              <a:rPr dirty="0" sz="2700">
                <a:solidFill>
                  <a:srgbClr val="01071C"/>
                </a:solidFill>
              </a:rPr>
              <a:t>The</a:t>
            </a:r>
            <a:r>
              <a:rPr dirty="0" sz="2700" spc="-160">
                <a:solidFill>
                  <a:srgbClr val="01071C"/>
                </a:solidFill>
              </a:rPr>
              <a:t> </a:t>
            </a:r>
            <a:r>
              <a:rPr dirty="0" sz="2700">
                <a:solidFill>
                  <a:srgbClr val="030723"/>
                </a:solidFill>
              </a:rPr>
              <a:t>Research</a:t>
            </a:r>
            <a:r>
              <a:rPr dirty="0" sz="2700" spc="160">
                <a:solidFill>
                  <a:srgbClr val="030723"/>
                </a:solidFill>
              </a:rPr>
              <a:t> </a:t>
            </a:r>
            <a:r>
              <a:rPr dirty="0" sz="2700"/>
              <a:t>Accelerator:</a:t>
            </a:r>
            <a:r>
              <a:rPr dirty="0" sz="2700" spc="380"/>
              <a:t> </a:t>
            </a:r>
            <a:r>
              <a:rPr dirty="0" sz="2700"/>
              <a:t>Transition</a:t>
            </a:r>
            <a:r>
              <a:rPr dirty="0" sz="2700" spc="310"/>
              <a:t> </a:t>
            </a:r>
            <a:r>
              <a:rPr dirty="0" sz="2700" spc="-25">
                <a:solidFill>
                  <a:srgbClr val="050505"/>
                </a:solidFill>
              </a:rPr>
              <a:t>the </a:t>
            </a:r>
            <a:r>
              <a:rPr dirty="0" sz="2700" spc="-25">
                <a:solidFill>
                  <a:srgbClr val="050505"/>
                </a:solidFill>
              </a:rPr>
              <a:t>	</a:t>
            </a:r>
            <a:r>
              <a:rPr dirty="0" sz="2750"/>
              <a:t>ontology</a:t>
            </a:r>
            <a:r>
              <a:rPr dirty="0" sz="2750" spc="80"/>
              <a:t> </a:t>
            </a:r>
            <a:r>
              <a:rPr dirty="0" sz="2750"/>
              <a:t>from</a:t>
            </a:r>
            <a:r>
              <a:rPr dirty="0" sz="2750" spc="-55"/>
              <a:t> </a:t>
            </a:r>
            <a:r>
              <a:rPr dirty="0" sz="2750">
                <a:solidFill>
                  <a:srgbClr val="050505"/>
                </a:solidFill>
              </a:rPr>
              <a:t>a</a:t>
            </a:r>
            <a:r>
              <a:rPr dirty="0" sz="2750" spc="-110">
                <a:solidFill>
                  <a:srgbClr val="050505"/>
                </a:solidFill>
              </a:rPr>
              <a:t> </a:t>
            </a:r>
            <a:r>
              <a:rPr dirty="0" sz="2750">
                <a:solidFill>
                  <a:srgbClr val="030303"/>
                </a:solidFill>
              </a:rPr>
              <a:t>backend</a:t>
            </a:r>
            <a:r>
              <a:rPr dirty="0" sz="2750" spc="20">
                <a:solidFill>
                  <a:srgbClr val="030303"/>
                </a:solidFill>
              </a:rPr>
              <a:t> </a:t>
            </a:r>
            <a:r>
              <a:rPr dirty="0" sz="2750">
                <a:solidFill>
                  <a:srgbClr val="030303"/>
                </a:solidFill>
              </a:rPr>
              <a:t>database</a:t>
            </a:r>
            <a:r>
              <a:rPr dirty="0" sz="2750" spc="35">
                <a:solidFill>
                  <a:srgbClr val="030303"/>
                </a:solidFill>
              </a:rPr>
              <a:t> </a:t>
            </a:r>
            <a:r>
              <a:rPr dirty="0" sz="2750"/>
              <a:t>into</a:t>
            </a:r>
            <a:r>
              <a:rPr dirty="0" sz="2750" spc="-110"/>
              <a:t> </a:t>
            </a:r>
            <a:r>
              <a:rPr dirty="0" sz="2750" spc="-50">
                <a:solidFill>
                  <a:srgbClr val="050505"/>
                </a:solidFill>
              </a:rPr>
              <a:t>a </a:t>
            </a:r>
            <a:r>
              <a:rPr dirty="0" sz="2750" spc="-50">
                <a:solidFill>
                  <a:srgbClr val="050505"/>
                </a:solidFill>
              </a:rPr>
              <a:t>	</a:t>
            </a:r>
            <a:r>
              <a:rPr dirty="0" spc="-65"/>
              <a:t>tangible,</a:t>
            </a:r>
            <a:r>
              <a:rPr dirty="0" spc="-125"/>
              <a:t> </a:t>
            </a:r>
            <a:r>
              <a:rPr dirty="0" spc="-105"/>
              <a:t>high-</a:t>
            </a:r>
            <a:r>
              <a:rPr dirty="0" spc="-40"/>
              <a:t>value</a:t>
            </a:r>
            <a:r>
              <a:rPr dirty="0" spc="-65"/>
              <a:t> </a:t>
            </a:r>
            <a:r>
              <a:rPr dirty="0" spc="-10"/>
              <a:t>product.</a:t>
            </a:r>
            <a:endParaRPr sz="2750"/>
          </a:p>
          <a:p>
            <a:pPr marL="281305" marR="5080" indent="-269240">
              <a:lnSpc>
                <a:spcPts val="3400"/>
              </a:lnSpc>
              <a:spcBef>
                <a:spcPts val="1500"/>
              </a:spcBef>
              <a:buClr>
                <a:srgbClr val="030828"/>
              </a:buClr>
              <a:buChar char="•"/>
              <a:tabLst>
                <a:tab pos="287020" algn="l"/>
              </a:tabLst>
            </a:pPr>
            <a:r>
              <a:rPr dirty="0" sz="2950" spc="-35">
                <a:solidFill>
                  <a:srgbClr val="010721"/>
                </a:solidFill>
              </a:rPr>
              <a:t>Strategic</a:t>
            </a:r>
            <a:r>
              <a:rPr dirty="0" sz="2950" spc="-185">
                <a:solidFill>
                  <a:srgbClr val="010721"/>
                </a:solidFill>
              </a:rPr>
              <a:t> </a:t>
            </a:r>
            <a:r>
              <a:rPr dirty="0" sz="2950" spc="-50">
                <a:solidFill>
                  <a:srgbClr val="070707"/>
                </a:solidFill>
              </a:rPr>
              <a:t>Partnerships:</a:t>
            </a:r>
            <a:r>
              <a:rPr dirty="0" sz="2950" spc="-155">
                <a:solidFill>
                  <a:srgbClr val="070707"/>
                </a:solidFill>
              </a:rPr>
              <a:t> </a:t>
            </a:r>
            <a:r>
              <a:rPr dirty="0" sz="2950" spc="-165"/>
              <a:t>Roll</a:t>
            </a:r>
            <a:r>
              <a:rPr dirty="0" sz="2950" spc="-40"/>
              <a:t> </a:t>
            </a:r>
            <a:r>
              <a:rPr dirty="0" sz="2950" spc="-45">
                <a:solidFill>
                  <a:srgbClr val="080808"/>
                </a:solidFill>
              </a:rPr>
              <a:t>out</a:t>
            </a:r>
            <a:r>
              <a:rPr dirty="0" sz="2950" spc="-150">
                <a:solidFill>
                  <a:srgbClr val="080808"/>
                </a:solidFill>
              </a:rPr>
              <a:t> </a:t>
            </a:r>
            <a:r>
              <a:rPr dirty="0" sz="2950" spc="-70"/>
              <a:t>tailored,</a:t>
            </a:r>
            <a:r>
              <a:rPr dirty="0" sz="2950" spc="-35"/>
              <a:t> </a:t>
            </a:r>
            <a:r>
              <a:rPr dirty="0" sz="2950" spc="-120"/>
              <a:t>visually </a:t>
            </a:r>
            <a:r>
              <a:rPr dirty="0" sz="2950" spc="-120"/>
              <a:t>	</a:t>
            </a:r>
            <a:r>
              <a:rPr dirty="0" sz="2750"/>
              <a:t>consistent</a:t>
            </a:r>
            <a:r>
              <a:rPr dirty="0" sz="2750" spc="90"/>
              <a:t> </a:t>
            </a:r>
            <a:r>
              <a:rPr dirty="0" sz="2750">
                <a:solidFill>
                  <a:srgbClr val="050505"/>
                </a:solidFill>
              </a:rPr>
              <a:t>UI</a:t>
            </a:r>
            <a:r>
              <a:rPr dirty="0" sz="2750" spc="-140">
                <a:solidFill>
                  <a:srgbClr val="050505"/>
                </a:solidFill>
              </a:rPr>
              <a:t> </a:t>
            </a:r>
            <a:r>
              <a:rPr dirty="0" sz="2750"/>
              <a:t>tools</a:t>
            </a:r>
            <a:r>
              <a:rPr dirty="0" sz="2750" spc="-135"/>
              <a:t> </a:t>
            </a:r>
            <a:r>
              <a:rPr dirty="0" sz="2750">
                <a:solidFill>
                  <a:srgbClr val="030303"/>
                </a:solidFill>
              </a:rPr>
              <a:t>developed</a:t>
            </a:r>
            <a:r>
              <a:rPr dirty="0" sz="2750" spc="5">
                <a:solidFill>
                  <a:srgbClr val="030303"/>
                </a:solidFill>
              </a:rPr>
              <a:t> </a:t>
            </a:r>
            <a:r>
              <a:rPr dirty="0" sz="2750" spc="-10"/>
              <a:t>alongside </a:t>
            </a:r>
            <a:r>
              <a:rPr dirty="0" sz="2750" spc="-10"/>
              <a:t>	</a:t>
            </a:r>
            <a:r>
              <a:rPr dirty="0" sz="2950" spc="-65"/>
              <a:t>partners</a:t>
            </a:r>
            <a:r>
              <a:rPr dirty="0" sz="2950" spc="-85"/>
              <a:t> </a:t>
            </a:r>
            <a:r>
              <a:rPr dirty="0" sz="2950" spc="-120">
                <a:solidFill>
                  <a:srgbClr val="0A0A0A"/>
                </a:solidFill>
              </a:rPr>
              <a:t>like</a:t>
            </a:r>
            <a:r>
              <a:rPr dirty="0" sz="2950" spc="-85">
                <a:solidFill>
                  <a:srgbClr val="0A0A0A"/>
                </a:solidFill>
              </a:rPr>
              <a:t> </a:t>
            </a:r>
            <a:r>
              <a:rPr dirty="0" sz="2950" spc="-240"/>
              <a:t>TXI</a:t>
            </a:r>
            <a:r>
              <a:rPr dirty="0" sz="2950" spc="-85"/>
              <a:t> </a:t>
            </a:r>
            <a:r>
              <a:rPr dirty="0" sz="2950" spc="-10"/>
              <a:t>Digital.</a:t>
            </a:r>
            <a:endParaRPr sz="2950"/>
          </a:p>
          <a:p>
            <a:pPr marL="283845" marR="52705" indent="-270510">
              <a:lnSpc>
                <a:spcPct val="103000"/>
              </a:lnSpc>
              <a:spcBef>
                <a:spcPts val="1270"/>
              </a:spcBef>
              <a:buClr>
                <a:srgbClr val="000834"/>
              </a:buClr>
              <a:buChar char="•"/>
              <a:tabLst>
                <a:tab pos="287655" algn="l"/>
              </a:tabLst>
            </a:pPr>
            <a:r>
              <a:rPr dirty="0" sz="2750">
                <a:solidFill>
                  <a:srgbClr val="00051A"/>
                </a:solidFill>
              </a:rPr>
              <a:t>Deploying</a:t>
            </a:r>
            <a:r>
              <a:rPr dirty="0" sz="2750" spc="20">
                <a:solidFill>
                  <a:srgbClr val="00051A"/>
                </a:solidFill>
              </a:rPr>
              <a:t> </a:t>
            </a:r>
            <a:r>
              <a:rPr dirty="0" sz="2750">
                <a:solidFill>
                  <a:srgbClr val="01031C"/>
                </a:solidFill>
              </a:rPr>
              <a:t>Ask</a:t>
            </a:r>
            <a:r>
              <a:rPr dirty="0" sz="2750" spc="-75">
                <a:solidFill>
                  <a:srgbClr val="01031C"/>
                </a:solidFill>
              </a:rPr>
              <a:t> </a:t>
            </a:r>
            <a:r>
              <a:rPr dirty="0" sz="2750" spc="-114">
                <a:solidFill>
                  <a:srgbClr val="080808"/>
                </a:solidFill>
              </a:rPr>
              <a:t>ARCH:</a:t>
            </a:r>
            <a:r>
              <a:rPr dirty="0" sz="2750" spc="-10">
                <a:solidFill>
                  <a:srgbClr val="080808"/>
                </a:solidFill>
              </a:rPr>
              <a:t> </a:t>
            </a:r>
            <a:r>
              <a:rPr dirty="0" sz="2750" spc="-80"/>
              <a:t>Release</a:t>
            </a:r>
            <a:r>
              <a:rPr dirty="0" sz="2750" spc="80"/>
              <a:t> </a:t>
            </a:r>
            <a:r>
              <a:rPr dirty="0" sz="2750" spc="-10"/>
              <a:t>conversational </a:t>
            </a:r>
            <a:r>
              <a:rPr dirty="0" sz="2750" spc="-10"/>
              <a:t>	</a:t>
            </a:r>
            <a:r>
              <a:rPr dirty="0" sz="2750">
                <a:solidFill>
                  <a:srgbClr val="030303"/>
                </a:solidFill>
              </a:rPr>
              <a:t>graph</a:t>
            </a:r>
            <a:r>
              <a:rPr dirty="0" sz="2750" spc="-5">
                <a:solidFill>
                  <a:srgbClr val="030303"/>
                </a:solidFill>
              </a:rPr>
              <a:t> </a:t>
            </a:r>
            <a:r>
              <a:rPr dirty="0" sz="2750"/>
              <a:t>querying</a:t>
            </a:r>
            <a:r>
              <a:rPr dirty="0" sz="2750" spc="80"/>
              <a:t> </a:t>
            </a:r>
            <a:r>
              <a:rPr dirty="0" sz="2750" spc="50">
                <a:solidFill>
                  <a:srgbClr val="030303"/>
                </a:solidFill>
              </a:rPr>
              <a:t>to</a:t>
            </a:r>
            <a:r>
              <a:rPr dirty="0" sz="2750" spc="-40">
                <a:solidFill>
                  <a:srgbClr val="030303"/>
                </a:solidFill>
              </a:rPr>
              <a:t> </a:t>
            </a:r>
            <a:r>
              <a:rPr dirty="0" sz="2750">
                <a:solidFill>
                  <a:srgbClr val="080808"/>
                </a:solidFill>
              </a:rPr>
              <a:t>the</a:t>
            </a:r>
            <a:r>
              <a:rPr dirty="0" sz="2750" spc="-60">
                <a:solidFill>
                  <a:srgbClr val="080808"/>
                </a:solidFill>
              </a:rPr>
              <a:t> </a:t>
            </a:r>
            <a:r>
              <a:rPr dirty="0" sz="2750"/>
              <a:t>broader</a:t>
            </a:r>
            <a:r>
              <a:rPr dirty="0" sz="2750" spc="160"/>
              <a:t> </a:t>
            </a:r>
            <a:r>
              <a:rPr dirty="0" sz="2750" spc="-10"/>
              <a:t>scientific </a:t>
            </a:r>
            <a:r>
              <a:rPr dirty="0" sz="2750" spc="-10"/>
              <a:t>	</a:t>
            </a:r>
            <a:r>
              <a:rPr dirty="0" sz="2750"/>
              <a:t>community</a:t>
            </a:r>
            <a:r>
              <a:rPr dirty="0" sz="2750" spc="65"/>
              <a:t> </a:t>
            </a:r>
            <a:r>
              <a:rPr dirty="0" sz="2750"/>
              <a:t>using</a:t>
            </a:r>
            <a:r>
              <a:rPr dirty="0" sz="2750" spc="-80"/>
              <a:t> </a:t>
            </a:r>
            <a:r>
              <a:rPr dirty="0" sz="2750" spc="-10"/>
              <a:t>advanced</a:t>
            </a:r>
            <a:r>
              <a:rPr dirty="0" sz="2750" spc="-85"/>
              <a:t> </a:t>
            </a:r>
            <a:r>
              <a:rPr dirty="0" sz="2750"/>
              <a:t>prompt</a:t>
            </a:r>
            <a:r>
              <a:rPr dirty="0" sz="2750" spc="5"/>
              <a:t> </a:t>
            </a:r>
            <a:r>
              <a:rPr dirty="0" sz="2750" spc="-10"/>
              <a:t>engineering.</a:t>
            </a:r>
            <a:endParaRPr sz="2750"/>
          </a:p>
        </p:txBody>
      </p:sp>
      <p:sp>
        <p:nvSpPr>
          <p:cNvPr id="27" name="object 27"/>
          <p:cNvSpPr txBox="1"/>
          <p:nvPr/>
        </p:nvSpPr>
        <p:spPr>
          <a:xfrm>
            <a:off x="11197749" y="4711700"/>
            <a:ext cx="1081405" cy="215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>
                <a:solidFill>
                  <a:srgbClr val="0A0A0A"/>
                </a:solidFill>
                <a:latin typeface="Arial"/>
                <a:cs typeface="Arial"/>
              </a:rPr>
              <a:t>Target</a:t>
            </a:r>
            <a:r>
              <a:rPr dirty="0" sz="1250" spc="15">
                <a:solidFill>
                  <a:srgbClr val="0A0A0A"/>
                </a:solidFill>
                <a:latin typeface="Arial"/>
                <a:cs typeface="Arial"/>
              </a:rPr>
              <a:t> </a:t>
            </a:r>
            <a:r>
              <a:rPr dirty="0" sz="1250" spc="-10">
                <a:latin typeface="Arial"/>
                <a:cs typeface="Arial"/>
              </a:rPr>
              <a:t>Dossier</a:t>
            </a:r>
            <a:endParaRPr sz="125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2506854" y="6081183"/>
            <a:ext cx="687070" cy="6604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542925" indent="-530225">
              <a:lnSpc>
                <a:spcPct val="100000"/>
              </a:lnSpc>
              <a:spcBef>
                <a:spcPts val="114"/>
              </a:spcBef>
              <a:buClr>
                <a:srgbClr val="758CB1"/>
              </a:buClr>
              <a:buChar char="•"/>
              <a:tabLst>
                <a:tab pos="542925" algn="l"/>
              </a:tabLst>
            </a:pPr>
            <a:r>
              <a:rPr dirty="0" sz="4150" spc="-415">
                <a:solidFill>
                  <a:srgbClr val="7E91B1"/>
                </a:solidFill>
                <a:latin typeface="Arial"/>
                <a:cs typeface="Arial"/>
              </a:rPr>
              <a:t>”</a:t>
            </a:r>
            <a:endParaRPr sz="415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3924598" y="4711700"/>
            <a:ext cx="1085215" cy="215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>
                <a:solidFill>
                  <a:srgbClr val="0A0A0A"/>
                </a:solidFill>
                <a:latin typeface="Arial"/>
                <a:cs typeface="Arial"/>
              </a:rPr>
              <a:t>Safety</a:t>
            </a:r>
            <a:r>
              <a:rPr dirty="0" sz="1250" spc="130">
                <a:solidFill>
                  <a:srgbClr val="0A0A0A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080808"/>
                </a:solidFill>
                <a:latin typeface="Arial"/>
                <a:cs typeface="Arial"/>
              </a:rPr>
              <a:t>Dossier</a:t>
            </a:r>
            <a:endParaRPr sz="12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43200" y="2908300"/>
            <a:ext cx="5092700" cy="31496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64500" y="2895600"/>
            <a:ext cx="1397000" cy="29337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664700" y="4152900"/>
            <a:ext cx="1981200" cy="6477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938000" y="3835400"/>
            <a:ext cx="3022600" cy="1219200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706314" y="648405"/>
            <a:ext cx="9415780" cy="1680845"/>
          </a:xfrm>
          <a:prstGeom prst="rect"/>
        </p:spPr>
        <p:txBody>
          <a:bodyPr wrap="square" lIns="0" tIns="105410" rIns="0" bIns="0" rtlCol="0" vert="horz">
            <a:spAutoFit/>
          </a:bodyPr>
          <a:lstStyle/>
          <a:p>
            <a:pPr marL="18415" marR="5080" indent="-6350">
              <a:lnSpc>
                <a:spcPts val="6200"/>
              </a:lnSpc>
              <a:spcBef>
                <a:spcPts val="830"/>
              </a:spcBef>
            </a:pPr>
            <a:r>
              <a:rPr dirty="0" sz="5700" spc="-170">
                <a:solidFill>
                  <a:srgbClr val="0E2141"/>
                </a:solidFill>
              </a:rPr>
              <a:t>Deploying</a:t>
            </a:r>
            <a:r>
              <a:rPr dirty="0" sz="5700" spc="-229">
                <a:solidFill>
                  <a:srgbClr val="0E2141"/>
                </a:solidFill>
              </a:rPr>
              <a:t> </a:t>
            </a:r>
            <a:r>
              <a:rPr dirty="0" sz="5700" spc="-155">
                <a:solidFill>
                  <a:srgbClr val="071A36"/>
                </a:solidFill>
              </a:rPr>
              <a:t>Patient</a:t>
            </a:r>
            <a:r>
              <a:rPr dirty="0" sz="5700" spc="-135">
                <a:solidFill>
                  <a:srgbClr val="071A36"/>
                </a:solidFill>
              </a:rPr>
              <a:t> </a:t>
            </a:r>
            <a:r>
              <a:rPr dirty="0" sz="5700" spc="-135">
                <a:solidFill>
                  <a:srgbClr val="071D3F"/>
                </a:solidFill>
              </a:rPr>
              <a:t>Digital</a:t>
            </a:r>
            <a:r>
              <a:rPr dirty="0" sz="5700" spc="-265">
                <a:solidFill>
                  <a:srgbClr val="071D3F"/>
                </a:solidFill>
              </a:rPr>
              <a:t> </a:t>
            </a:r>
            <a:r>
              <a:rPr dirty="0" sz="5700" spc="-110">
                <a:solidFill>
                  <a:srgbClr val="0C2142"/>
                </a:solidFill>
              </a:rPr>
              <a:t>Twins </a:t>
            </a:r>
            <a:r>
              <a:rPr dirty="0" sz="5700" spc="65">
                <a:solidFill>
                  <a:srgbClr val="0C213B"/>
                </a:solidFill>
              </a:rPr>
              <a:t>to</a:t>
            </a:r>
            <a:r>
              <a:rPr dirty="0" sz="5700" spc="-605">
                <a:solidFill>
                  <a:srgbClr val="0C213B"/>
                </a:solidFill>
              </a:rPr>
              <a:t> </a:t>
            </a:r>
            <a:r>
              <a:rPr dirty="0" sz="5700" spc="-170">
                <a:solidFill>
                  <a:srgbClr val="112849"/>
                </a:solidFill>
              </a:rPr>
              <a:t>Optimize </a:t>
            </a:r>
            <a:r>
              <a:rPr dirty="0" sz="5700" spc="-254">
                <a:solidFill>
                  <a:srgbClr val="081C36"/>
                </a:solidFill>
              </a:rPr>
              <a:t>Trial</a:t>
            </a:r>
            <a:r>
              <a:rPr dirty="0" sz="5700" spc="-250">
                <a:solidFill>
                  <a:srgbClr val="081C36"/>
                </a:solidFill>
              </a:rPr>
              <a:t> </a:t>
            </a:r>
            <a:r>
              <a:rPr dirty="0" sz="5700" spc="-10">
                <a:solidFill>
                  <a:srgbClr val="0A1C38"/>
                </a:solidFill>
              </a:rPr>
              <a:t>Design</a:t>
            </a:r>
            <a:endParaRPr sz="5700"/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55"/>
              </a:lnSpc>
            </a:pPr>
            <a:r>
              <a:rPr dirty="0"/>
              <a:t>G</a:t>
            </a:r>
            <a:r>
              <a:rPr dirty="0" spc="490"/>
              <a:t> </a:t>
            </a:r>
            <a:r>
              <a:rPr dirty="0" spc="-10"/>
              <a:t>NotebookLM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03324" y="6613610"/>
            <a:ext cx="4259580" cy="2417445"/>
          </a:xfrm>
          <a:prstGeom prst="rect">
            <a:avLst/>
          </a:prstGeom>
        </p:spPr>
        <p:txBody>
          <a:bodyPr wrap="square" lIns="0" tIns="2635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75"/>
              </a:spcBef>
            </a:pPr>
            <a:r>
              <a:rPr dirty="0" sz="3400" spc="-65">
                <a:solidFill>
                  <a:srgbClr val="111111"/>
                </a:solidFill>
                <a:latin typeface="Arial"/>
                <a:cs typeface="Arial"/>
              </a:rPr>
              <a:t>Prognostic</a:t>
            </a:r>
            <a:r>
              <a:rPr dirty="0" sz="3400" spc="-165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3400" spc="-10">
                <a:solidFill>
                  <a:srgbClr val="131313"/>
                </a:solidFill>
                <a:latin typeface="Arial"/>
                <a:cs typeface="Arial"/>
              </a:rPr>
              <a:t>Modeling</a:t>
            </a:r>
            <a:endParaRPr sz="3400">
              <a:latin typeface="Arial"/>
              <a:cs typeface="Arial"/>
            </a:endParaRPr>
          </a:p>
          <a:p>
            <a:pPr marL="21590" marR="5080" indent="4445">
              <a:lnSpc>
                <a:spcPct val="105100"/>
              </a:lnSpc>
              <a:spcBef>
                <a:spcPts val="1175"/>
              </a:spcBef>
            </a:pPr>
            <a:r>
              <a:rPr dirty="0" sz="2300" spc="-50">
                <a:latin typeface="Arial"/>
                <a:cs typeface="Arial"/>
              </a:rPr>
              <a:t>Train</a:t>
            </a:r>
            <a:r>
              <a:rPr dirty="0" sz="2300" spc="-110">
                <a:latin typeface="Arial"/>
                <a:cs typeface="Arial"/>
              </a:rPr>
              <a:t> </a:t>
            </a:r>
            <a:r>
              <a:rPr dirty="0" sz="2300">
                <a:latin typeface="Arial"/>
                <a:cs typeface="Arial"/>
              </a:rPr>
              <a:t>models</a:t>
            </a:r>
            <a:r>
              <a:rPr dirty="0" sz="2300" spc="-40">
                <a:latin typeface="Arial"/>
                <a:cs typeface="Arial"/>
              </a:rPr>
              <a:t> </a:t>
            </a:r>
            <a:r>
              <a:rPr dirty="0" sz="2300">
                <a:latin typeface="Arial"/>
                <a:cs typeface="Arial"/>
              </a:rPr>
              <a:t>on</a:t>
            </a:r>
            <a:r>
              <a:rPr dirty="0" sz="2300" spc="-65">
                <a:latin typeface="Arial"/>
                <a:cs typeface="Arial"/>
              </a:rPr>
              <a:t> </a:t>
            </a:r>
            <a:r>
              <a:rPr dirty="0" sz="2300">
                <a:latin typeface="Arial"/>
                <a:cs typeface="Arial"/>
              </a:rPr>
              <a:t>vast</a:t>
            </a:r>
            <a:r>
              <a:rPr dirty="0" sz="2300" spc="-30">
                <a:latin typeface="Arial"/>
                <a:cs typeface="Arial"/>
              </a:rPr>
              <a:t> </a:t>
            </a:r>
            <a:r>
              <a:rPr dirty="0" sz="2300">
                <a:latin typeface="Arial"/>
                <a:cs typeface="Arial"/>
              </a:rPr>
              <a:t>arrays</a:t>
            </a:r>
            <a:r>
              <a:rPr dirty="0" sz="2300" spc="40">
                <a:latin typeface="Arial"/>
                <a:cs typeface="Arial"/>
              </a:rPr>
              <a:t> </a:t>
            </a:r>
            <a:r>
              <a:rPr dirty="0" sz="2300" spc="-25">
                <a:latin typeface="Arial"/>
                <a:cs typeface="Arial"/>
              </a:rPr>
              <a:t>of </a:t>
            </a:r>
            <a:r>
              <a:rPr dirty="0" sz="2300">
                <a:latin typeface="Arial"/>
                <a:cs typeface="Arial"/>
              </a:rPr>
              <a:t>observational</a:t>
            </a:r>
            <a:r>
              <a:rPr dirty="0" sz="2300" spc="110">
                <a:latin typeface="Arial"/>
                <a:cs typeface="Arial"/>
              </a:rPr>
              <a:t> </a:t>
            </a:r>
            <a:r>
              <a:rPr dirty="0" sz="2300">
                <a:latin typeface="Arial"/>
                <a:cs typeface="Arial"/>
              </a:rPr>
              <a:t>data</a:t>
            </a:r>
            <a:r>
              <a:rPr dirty="0" sz="2300" spc="-45">
                <a:latin typeface="Arial"/>
                <a:cs typeface="Arial"/>
              </a:rPr>
              <a:t> </a:t>
            </a:r>
            <a:r>
              <a:rPr dirty="0" sz="2300">
                <a:latin typeface="Arial"/>
                <a:cs typeface="Arial"/>
              </a:rPr>
              <a:t>and</a:t>
            </a:r>
            <a:r>
              <a:rPr dirty="0" sz="2300" spc="-80">
                <a:latin typeface="Arial"/>
                <a:cs typeface="Arial"/>
              </a:rPr>
              <a:t> </a:t>
            </a:r>
            <a:r>
              <a:rPr dirty="0" sz="2300" spc="-10">
                <a:latin typeface="Arial"/>
                <a:cs typeface="Arial"/>
              </a:rPr>
              <a:t>historical </a:t>
            </a:r>
            <a:r>
              <a:rPr dirty="0" sz="2300">
                <a:latin typeface="Arial"/>
                <a:cs typeface="Arial"/>
              </a:rPr>
              <a:t>control</a:t>
            </a:r>
            <a:r>
              <a:rPr dirty="0" sz="2300" spc="135">
                <a:latin typeface="Arial"/>
                <a:cs typeface="Arial"/>
              </a:rPr>
              <a:t> </a:t>
            </a:r>
            <a:r>
              <a:rPr dirty="0" sz="2300" spc="-10">
                <a:latin typeface="Arial"/>
                <a:cs typeface="Arial"/>
              </a:rPr>
              <a:t>arms</a:t>
            </a:r>
            <a:r>
              <a:rPr dirty="0" sz="2300" spc="60">
                <a:latin typeface="Arial"/>
                <a:cs typeface="Arial"/>
              </a:rPr>
              <a:t> </a:t>
            </a:r>
            <a:r>
              <a:rPr dirty="0" sz="2300">
                <a:latin typeface="Arial"/>
                <a:cs typeface="Arial"/>
              </a:rPr>
              <a:t>stored</a:t>
            </a:r>
            <a:r>
              <a:rPr dirty="0" sz="2300" spc="-30">
                <a:latin typeface="Arial"/>
                <a:cs typeface="Arial"/>
              </a:rPr>
              <a:t> </a:t>
            </a:r>
            <a:r>
              <a:rPr dirty="0" sz="2300" spc="50">
                <a:latin typeface="Arial"/>
                <a:cs typeface="Arial"/>
              </a:rPr>
              <a:t>in</a:t>
            </a:r>
            <a:r>
              <a:rPr dirty="0" sz="2300" spc="-50">
                <a:latin typeface="Arial"/>
                <a:cs typeface="Arial"/>
              </a:rPr>
              <a:t> </a:t>
            </a:r>
            <a:r>
              <a:rPr dirty="0" sz="2300">
                <a:latin typeface="Arial"/>
                <a:cs typeface="Arial"/>
              </a:rPr>
              <a:t>the</a:t>
            </a:r>
            <a:r>
              <a:rPr dirty="0" sz="2300" spc="5">
                <a:latin typeface="Arial"/>
                <a:cs typeface="Arial"/>
              </a:rPr>
              <a:t> </a:t>
            </a:r>
            <a:r>
              <a:rPr dirty="0" sz="2300" spc="-20">
                <a:latin typeface="Arial"/>
                <a:cs typeface="Arial"/>
              </a:rPr>
              <a:t>ARCH </a:t>
            </a:r>
            <a:r>
              <a:rPr dirty="0" sz="2300" spc="-10">
                <a:latin typeface="Arial"/>
                <a:cs typeface="Arial"/>
              </a:rPr>
              <a:t>graph.</a:t>
            </a:r>
            <a:endParaRPr sz="23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953189" y="5976408"/>
            <a:ext cx="1595120" cy="3746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300">
                <a:solidFill>
                  <a:srgbClr val="0A0A0A"/>
                </a:solidFill>
                <a:latin typeface="Arial"/>
                <a:cs typeface="Arial"/>
              </a:rPr>
              <a:t>Digital</a:t>
            </a:r>
            <a:r>
              <a:rPr dirty="0" sz="2300" spc="320">
                <a:solidFill>
                  <a:srgbClr val="0A0A0A"/>
                </a:solidFill>
                <a:latin typeface="Arial"/>
                <a:cs typeface="Arial"/>
              </a:rPr>
              <a:t> </a:t>
            </a:r>
            <a:r>
              <a:rPr dirty="0" sz="2300" spc="-20">
                <a:solidFill>
                  <a:srgbClr val="050505"/>
                </a:solidFill>
                <a:latin typeface="Arial"/>
                <a:cs typeface="Arial"/>
              </a:rPr>
              <a:t>Twin</a:t>
            </a:r>
            <a:endParaRPr sz="23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355520" y="6670488"/>
            <a:ext cx="4297680" cy="1997710"/>
          </a:xfrm>
          <a:prstGeom prst="rect">
            <a:avLst/>
          </a:prstGeom>
        </p:spPr>
        <p:txBody>
          <a:bodyPr wrap="square" lIns="0" tIns="2063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25"/>
              </a:spcBef>
            </a:pPr>
            <a:r>
              <a:rPr dirty="0" sz="3400" spc="-90">
                <a:solidFill>
                  <a:srgbClr val="08152A"/>
                </a:solidFill>
                <a:latin typeface="Arial"/>
                <a:cs typeface="Arial"/>
              </a:rPr>
              <a:t>Simulating</a:t>
            </a:r>
            <a:r>
              <a:rPr dirty="0" sz="3400" spc="-80">
                <a:solidFill>
                  <a:srgbClr val="08152A"/>
                </a:solidFill>
                <a:latin typeface="Arial"/>
                <a:cs typeface="Arial"/>
              </a:rPr>
              <a:t> </a:t>
            </a:r>
            <a:r>
              <a:rPr dirty="0" sz="3400" spc="-10">
                <a:solidFill>
                  <a:srgbClr val="010F2A"/>
                </a:solidFill>
                <a:latin typeface="Arial"/>
                <a:cs typeface="Arial"/>
              </a:rPr>
              <a:t>Placebos</a:t>
            </a:r>
            <a:endParaRPr sz="3400">
              <a:latin typeface="Arial"/>
              <a:cs typeface="Arial"/>
            </a:endParaRPr>
          </a:p>
          <a:p>
            <a:pPr marL="22225" marR="5080" indent="-2540">
              <a:lnSpc>
                <a:spcPts val="2900"/>
              </a:lnSpc>
              <a:spcBef>
                <a:spcPts val="1300"/>
              </a:spcBef>
            </a:pPr>
            <a:r>
              <a:rPr dirty="0" sz="2500" spc="-150">
                <a:latin typeface="Arial"/>
                <a:cs typeface="Arial"/>
              </a:rPr>
              <a:t>Empower</a:t>
            </a:r>
            <a:r>
              <a:rPr dirty="0" sz="2500" spc="25">
                <a:latin typeface="Arial"/>
                <a:cs typeface="Arial"/>
              </a:rPr>
              <a:t> </a:t>
            </a:r>
            <a:r>
              <a:rPr dirty="0" sz="2500" spc="-55">
                <a:latin typeface="Arial"/>
                <a:cs typeface="Arial"/>
              </a:rPr>
              <a:t>scientists</a:t>
            </a:r>
            <a:r>
              <a:rPr dirty="0" sz="2500" spc="-85">
                <a:latin typeface="Arial"/>
                <a:cs typeface="Arial"/>
              </a:rPr>
              <a:t> </a:t>
            </a:r>
            <a:r>
              <a:rPr dirty="0" sz="2500">
                <a:latin typeface="Arial"/>
                <a:cs typeface="Arial"/>
              </a:rPr>
              <a:t>to</a:t>
            </a:r>
            <a:r>
              <a:rPr dirty="0" sz="2500" spc="-175">
                <a:latin typeface="Arial"/>
                <a:cs typeface="Arial"/>
              </a:rPr>
              <a:t> </a:t>
            </a:r>
            <a:r>
              <a:rPr dirty="0" sz="2500" spc="-110">
                <a:latin typeface="Arial"/>
                <a:cs typeface="Arial"/>
              </a:rPr>
              <a:t>accurately </a:t>
            </a:r>
            <a:r>
              <a:rPr dirty="0" sz="2500" spc="-114">
                <a:latin typeface="Arial"/>
                <a:cs typeface="Arial"/>
              </a:rPr>
              <a:t>simulate</a:t>
            </a:r>
            <a:r>
              <a:rPr dirty="0" sz="2500" spc="-60">
                <a:latin typeface="Arial"/>
                <a:cs typeface="Arial"/>
              </a:rPr>
              <a:t> </a:t>
            </a:r>
            <a:r>
              <a:rPr dirty="0" sz="2500" spc="-80">
                <a:latin typeface="Arial"/>
                <a:cs typeface="Arial"/>
              </a:rPr>
              <a:t>placebo</a:t>
            </a:r>
            <a:r>
              <a:rPr dirty="0" sz="2500" spc="15">
                <a:latin typeface="Arial"/>
                <a:cs typeface="Arial"/>
              </a:rPr>
              <a:t> </a:t>
            </a:r>
            <a:r>
              <a:rPr dirty="0" sz="2500" spc="-95">
                <a:latin typeface="Arial"/>
                <a:cs typeface="Arial"/>
              </a:rPr>
              <a:t>outcomes</a:t>
            </a:r>
            <a:r>
              <a:rPr dirty="0" sz="2500" spc="-20">
                <a:latin typeface="Arial"/>
                <a:cs typeface="Arial"/>
              </a:rPr>
              <a:t> </a:t>
            </a:r>
            <a:r>
              <a:rPr dirty="0" sz="2500" spc="-25">
                <a:latin typeface="Arial"/>
                <a:cs typeface="Arial"/>
              </a:rPr>
              <a:t>for </a:t>
            </a:r>
            <a:r>
              <a:rPr dirty="0" sz="2500" spc="-50">
                <a:latin typeface="Arial"/>
                <a:cs typeface="Arial"/>
              </a:rPr>
              <a:t>specific</a:t>
            </a:r>
            <a:r>
              <a:rPr dirty="0" sz="2500" spc="-125">
                <a:latin typeface="Arial"/>
                <a:cs typeface="Arial"/>
              </a:rPr>
              <a:t> </a:t>
            </a:r>
            <a:r>
              <a:rPr dirty="0" sz="2500" spc="-50">
                <a:latin typeface="Arial"/>
                <a:cs typeface="Arial"/>
              </a:rPr>
              <a:t>patient</a:t>
            </a:r>
            <a:r>
              <a:rPr dirty="0" sz="2500" spc="-65">
                <a:latin typeface="Arial"/>
                <a:cs typeface="Arial"/>
              </a:rPr>
              <a:t> </a:t>
            </a:r>
            <a:r>
              <a:rPr dirty="0" sz="2500" spc="-10">
                <a:latin typeface="Arial"/>
                <a:cs typeface="Arial"/>
              </a:rPr>
              <a:t>profiles.</a:t>
            </a:r>
            <a:endParaRPr sz="25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864762" y="6624973"/>
            <a:ext cx="4766945" cy="2406015"/>
          </a:xfrm>
          <a:prstGeom prst="rect">
            <a:avLst/>
          </a:prstGeom>
        </p:spPr>
        <p:txBody>
          <a:bodyPr wrap="square" lIns="0" tIns="264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85"/>
              </a:spcBef>
            </a:pPr>
            <a:r>
              <a:rPr dirty="0" sz="3300" spc="-114">
                <a:solidFill>
                  <a:srgbClr val="071631"/>
                </a:solidFill>
                <a:latin typeface="Arial"/>
                <a:cs typeface="Arial"/>
              </a:rPr>
              <a:t>Trial</a:t>
            </a:r>
            <a:r>
              <a:rPr dirty="0" sz="3300" spc="-125">
                <a:solidFill>
                  <a:srgbClr val="071631"/>
                </a:solidFill>
                <a:latin typeface="Arial"/>
                <a:cs typeface="Arial"/>
              </a:rPr>
              <a:t> </a:t>
            </a:r>
            <a:r>
              <a:rPr dirty="0" sz="3300" spc="-10">
                <a:solidFill>
                  <a:srgbClr val="0F0F0F"/>
                </a:solidFill>
                <a:latin typeface="Arial"/>
                <a:cs typeface="Arial"/>
              </a:rPr>
              <a:t>Optimization</a:t>
            </a:r>
            <a:endParaRPr sz="3300">
              <a:latin typeface="Arial"/>
              <a:cs typeface="Arial"/>
            </a:endParaRPr>
          </a:p>
          <a:p>
            <a:pPr marL="17780" marR="5080" indent="-5080">
              <a:lnSpc>
                <a:spcPct val="105100"/>
              </a:lnSpc>
              <a:spcBef>
                <a:spcPts val="1200"/>
              </a:spcBef>
            </a:pPr>
            <a:r>
              <a:rPr dirty="0" sz="2300">
                <a:latin typeface="Arial"/>
                <a:cs typeface="Arial"/>
              </a:rPr>
              <a:t>Direct</a:t>
            </a:r>
            <a:r>
              <a:rPr dirty="0" sz="2300" spc="75">
                <a:latin typeface="Arial"/>
                <a:cs typeface="Arial"/>
              </a:rPr>
              <a:t> </a:t>
            </a:r>
            <a:r>
              <a:rPr dirty="0" sz="2300">
                <a:latin typeface="Arial"/>
                <a:cs typeface="Arial"/>
              </a:rPr>
              <a:t>impact</a:t>
            </a:r>
            <a:r>
              <a:rPr dirty="0" sz="2300" spc="90">
                <a:latin typeface="Arial"/>
                <a:cs typeface="Arial"/>
              </a:rPr>
              <a:t> </a:t>
            </a:r>
            <a:r>
              <a:rPr dirty="0" sz="2300">
                <a:latin typeface="Arial"/>
                <a:cs typeface="Arial"/>
              </a:rPr>
              <a:t>on</a:t>
            </a:r>
            <a:r>
              <a:rPr dirty="0" sz="2300" spc="-45">
                <a:latin typeface="Arial"/>
                <a:cs typeface="Arial"/>
              </a:rPr>
              <a:t> </a:t>
            </a:r>
            <a:r>
              <a:rPr dirty="0" sz="2300">
                <a:latin typeface="Arial"/>
                <a:cs typeface="Arial"/>
              </a:rPr>
              <a:t>reducing</a:t>
            </a:r>
            <a:r>
              <a:rPr dirty="0" sz="2300" spc="-45">
                <a:latin typeface="Arial"/>
                <a:cs typeface="Arial"/>
              </a:rPr>
              <a:t> </a:t>
            </a:r>
            <a:r>
              <a:rPr dirty="0" sz="2300" spc="-10">
                <a:latin typeface="Arial"/>
                <a:cs typeface="Arial"/>
              </a:rPr>
              <a:t>redundant </a:t>
            </a:r>
            <a:r>
              <a:rPr dirty="0" sz="2300">
                <a:latin typeface="Arial"/>
                <a:cs typeface="Arial"/>
              </a:rPr>
              <a:t>experiments</a:t>
            </a:r>
            <a:r>
              <a:rPr dirty="0" sz="2300" spc="-5">
                <a:latin typeface="Arial"/>
                <a:cs typeface="Arial"/>
              </a:rPr>
              <a:t> </a:t>
            </a:r>
            <a:r>
              <a:rPr dirty="0" sz="2300">
                <a:latin typeface="Arial"/>
                <a:cs typeface="Arial"/>
              </a:rPr>
              <a:t>and</a:t>
            </a:r>
            <a:r>
              <a:rPr dirty="0" sz="2300" spc="-5">
                <a:latin typeface="Arial"/>
                <a:cs typeface="Arial"/>
              </a:rPr>
              <a:t> </a:t>
            </a:r>
            <a:r>
              <a:rPr dirty="0" sz="2300">
                <a:latin typeface="Arial"/>
                <a:cs typeface="Arial"/>
              </a:rPr>
              <a:t>optimizing</a:t>
            </a:r>
            <a:r>
              <a:rPr dirty="0" sz="2300" spc="35">
                <a:latin typeface="Arial"/>
                <a:cs typeface="Arial"/>
              </a:rPr>
              <a:t> </a:t>
            </a:r>
            <a:r>
              <a:rPr dirty="0" sz="2300" spc="-10">
                <a:latin typeface="Arial"/>
                <a:cs typeface="Arial"/>
              </a:rPr>
              <a:t>clinical </a:t>
            </a:r>
            <a:r>
              <a:rPr dirty="0" sz="2300">
                <a:latin typeface="Arial"/>
                <a:cs typeface="Arial"/>
              </a:rPr>
              <a:t>trial</a:t>
            </a:r>
            <a:r>
              <a:rPr dirty="0" sz="2300" spc="-125">
                <a:latin typeface="Arial"/>
                <a:cs typeface="Arial"/>
              </a:rPr>
              <a:t> </a:t>
            </a:r>
            <a:r>
              <a:rPr dirty="0" sz="2300">
                <a:latin typeface="Arial"/>
                <a:cs typeface="Arial"/>
              </a:rPr>
              <a:t>sample</a:t>
            </a:r>
            <a:r>
              <a:rPr dirty="0" sz="2300" spc="-5">
                <a:latin typeface="Arial"/>
                <a:cs typeface="Arial"/>
              </a:rPr>
              <a:t> </a:t>
            </a:r>
            <a:r>
              <a:rPr dirty="0" sz="2300" spc="-10">
                <a:latin typeface="Arial"/>
                <a:cs typeface="Arial"/>
              </a:rPr>
              <a:t>sizes,</a:t>
            </a:r>
            <a:r>
              <a:rPr dirty="0" sz="2300" spc="-45">
                <a:latin typeface="Arial"/>
                <a:cs typeface="Arial"/>
              </a:rPr>
              <a:t> </a:t>
            </a:r>
            <a:r>
              <a:rPr dirty="0" sz="2300" spc="-10">
                <a:latin typeface="Arial"/>
                <a:cs typeface="Arial"/>
              </a:rPr>
              <a:t>dramatically </a:t>
            </a:r>
            <a:r>
              <a:rPr dirty="0" sz="2300">
                <a:latin typeface="Arial"/>
                <a:cs typeface="Arial"/>
              </a:rPr>
              <a:t>accelerating</a:t>
            </a:r>
            <a:r>
              <a:rPr dirty="0" sz="2300" spc="420">
                <a:latin typeface="Arial"/>
                <a:cs typeface="Arial"/>
              </a:rPr>
              <a:t> </a:t>
            </a:r>
            <a:r>
              <a:rPr dirty="0" sz="2300">
                <a:latin typeface="Arial"/>
                <a:cs typeface="Arial"/>
              </a:rPr>
              <a:t>time-to-</a:t>
            </a:r>
            <a:r>
              <a:rPr dirty="0" sz="2300" spc="-10">
                <a:latin typeface="Arial"/>
                <a:cs typeface="Arial"/>
              </a:rPr>
              <a:t>market.</a:t>
            </a:r>
            <a:endParaRPr sz="2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77400" y="2933700"/>
            <a:ext cx="6311900" cy="511810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860800" y="4874683"/>
            <a:ext cx="321945" cy="0"/>
          </a:xfrm>
          <a:custGeom>
            <a:avLst/>
            <a:gdLst/>
            <a:ahLst/>
            <a:cxnLst/>
            <a:rect l="l" t="t" r="r" b="b"/>
            <a:pathLst>
              <a:path w="321945" h="0">
                <a:moveTo>
                  <a:pt x="0" y="0"/>
                </a:moveTo>
                <a:lnTo>
                  <a:pt x="321733" y="0"/>
                </a:lnTo>
              </a:path>
            </a:pathLst>
          </a:custGeom>
          <a:ln w="29633">
            <a:solidFill>
              <a:srgbClr val="28282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2420600" y="749300"/>
            <a:ext cx="2438400" cy="635000"/>
          </a:xfrm>
          <a:prstGeom prst="rect">
            <a:avLst/>
          </a:prstGeom>
          <a:solidFill>
            <a:srgbClr val="50627C"/>
          </a:solidFill>
        </p:spPr>
        <p:txBody>
          <a:bodyPr wrap="square" lIns="0" tIns="69850" rIns="0" bIns="0" rtlCol="0" vert="horz">
            <a:spAutoFit/>
          </a:bodyPr>
          <a:lstStyle/>
          <a:p>
            <a:pPr marL="175895">
              <a:lnSpc>
                <a:spcPct val="100000"/>
              </a:lnSpc>
              <a:spcBef>
                <a:spcPts val="550"/>
              </a:spcBef>
            </a:pPr>
            <a:r>
              <a:rPr dirty="0" sz="2850" spc="-110">
                <a:solidFill>
                  <a:srgbClr val="FFFFFF"/>
                </a:solidFill>
                <a:latin typeface="Arial"/>
                <a:cs typeface="Arial"/>
              </a:rPr>
              <a:t>Months</a:t>
            </a:r>
            <a:r>
              <a:rPr dirty="0" sz="285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50" spc="-95">
                <a:solidFill>
                  <a:srgbClr val="FFFFFF"/>
                </a:solidFill>
                <a:latin typeface="Arial"/>
                <a:cs typeface="Arial"/>
              </a:rPr>
              <a:t>12-</a:t>
            </a:r>
            <a:r>
              <a:rPr dirty="0" sz="2850" spc="-25">
                <a:solidFill>
                  <a:srgbClr val="FFFFFF"/>
                </a:solidFill>
                <a:latin typeface="Arial"/>
                <a:cs typeface="Arial"/>
              </a:rPr>
              <a:t>24</a:t>
            </a:r>
            <a:endParaRPr sz="2850">
              <a:latin typeface="Arial"/>
              <a:cs typeface="Arial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55"/>
              </a:lnSpc>
            </a:pPr>
            <a:r>
              <a:rPr dirty="0"/>
              <a:t>G</a:t>
            </a:r>
            <a:r>
              <a:rPr dirty="0" spc="490"/>
              <a:t> </a:t>
            </a:r>
            <a:r>
              <a:rPr dirty="0" spc="-10"/>
              <a:t>NotebookLM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5151100" y="0"/>
            <a:ext cx="1828800" cy="1993900"/>
          </a:xfrm>
          <a:prstGeom prst="rect">
            <a:avLst/>
          </a:prstGeom>
          <a:solidFill>
            <a:srgbClr val="363D49"/>
          </a:solidFill>
        </p:spPr>
        <p:txBody>
          <a:bodyPr wrap="square" lIns="0" tIns="2508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975"/>
              </a:spcBef>
            </a:pPr>
            <a:endParaRPr sz="2350">
              <a:latin typeface="Times New Roman"/>
              <a:cs typeface="Times New Roman"/>
            </a:endParaRPr>
          </a:p>
          <a:p>
            <a:pPr marL="570230" marR="545465" indent="167640">
              <a:lnSpc>
                <a:spcPts val="2400"/>
              </a:lnSpc>
            </a:pPr>
            <a:r>
              <a:rPr dirty="0" sz="2350" spc="-20">
                <a:solidFill>
                  <a:srgbClr val="FFFFFF"/>
                </a:solidFill>
                <a:latin typeface="Arial"/>
                <a:cs typeface="Arial"/>
              </a:rPr>
              <a:t>Elfi </a:t>
            </a:r>
            <a:r>
              <a:rPr dirty="0" sz="2350" spc="-105">
                <a:solidFill>
                  <a:srgbClr val="E8E8E8"/>
                </a:solidFill>
                <a:latin typeface="Arial"/>
                <a:cs typeface="Arial"/>
              </a:rPr>
              <a:t>Stach</a:t>
            </a:r>
            <a:endParaRPr sz="2350">
              <a:latin typeface="Arial"/>
              <a:cs typeface="Arial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885472" y="615244"/>
            <a:ext cx="11333480" cy="163893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6405"/>
              </a:lnSpc>
              <a:spcBef>
                <a:spcPts val="105"/>
              </a:spcBef>
            </a:pPr>
            <a:r>
              <a:rPr dirty="0" sz="5550" spc="-160">
                <a:solidFill>
                  <a:srgbClr val="010723"/>
                </a:solidFill>
              </a:rPr>
              <a:t>Phase</a:t>
            </a:r>
            <a:r>
              <a:rPr dirty="0" sz="5550" spc="-225">
                <a:solidFill>
                  <a:srgbClr val="010723"/>
                </a:solidFill>
              </a:rPr>
              <a:t> </a:t>
            </a:r>
            <a:r>
              <a:rPr dirty="0" sz="5550">
                <a:solidFill>
                  <a:srgbClr val="030C28"/>
                </a:solidFill>
              </a:rPr>
              <a:t>3</a:t>
            </a:r>
            <a:r>
              <a:rPr dirty="0" sz="5550" spc="-375">
                <a:solidFill>
                  <a:srgbClr val="030C28"/>
                </a:solidFill>
              </a:rPr>
              <a:t> </a:t>
            </a:r>
            <a:r>
              <a:rPr dirty="0" sz="5550" spc="-90">
                <a:solidFill>
                  <a:srgbClr val="050F2D"/>
                </a:solidFill>
              </a:rPr>
              <a:t>Scales</a:t>
            </a:r>
            <a:r>
              <a:rPr dirty="0" sz="5550" spc="-300">
                <a:solidFill>
                  <a:srgbClr val="050F2D"/>
                </a:solidFill>
              </a:rPr>
              <a:t> </a:t>
            </a:r>
            <a:r>
              <a:rPr dirty="0" sz="5550" spc="-20">
                <a:solidFill>
                  <a:srgbClr val="081534"/>
                </a:solidFill>
              </a:rPr>
              <a:t>User</a:t>
            </a:r>
            <a:r>
              <a:rPr dirty="0" sz="5550" spc="-180">
                <a:solidFill>
                  <a:srgbClr val="081534"/>
                </a:solidFill>
              </a:rPr>
              <a:t> </a:t>
            </a:r>
            <a:r>
              <a:rPr dirty="0" sz="5550" spc="-10">
                <a:solidFill>
                  <a:srgbClr val="010C2A"/>
                </a:solidFill>
              </a:rPr>
              <a:t>Adoption</a:t>
            </a:r>
            <a:endParaRPr sz="5550"/>
          </a:p>
          <a:p>
            <a:pPr marL="16510">
              <a:lnSpc>
                <a:spcPts val="6285"/>
              </a:lnSpc>
            </a:pPr>
            <a:r>
              <a:rPr dirty="0">
                <a:solidFill>
                  <a:srgbClr val="010A2B"/>
                </a:solidFill>
              </a:rPr>
              <a:t>and</a:t>
            </a:r>
            <a:r>
              <a:rPr dirty="0" spc="-475">
                <a:solidFill>
                  <a:srgbClr val="010A2B"/>
                </a:solidFill>
              </a:rPr>
              <a:t> </a:t>
            </a:r>
            <a:r>
              <a:rPr dirty="0">
                <a:solidFill>
                  <a:srgbClr val="01081F"/>
                </a:solidFill>
              </a:rPr>
              <a:t>Integrates</a:t>
            </a:r>
            <a:r>
              <a:rPr dirty="0" spc="-75">
                <a:solidFill>
                  <a:srgbClr val="01081F"/>
                </a:solidFill>
              </a:rPr>
              <a:t> </a:t>
            </a:r>
            <a:r>
              <a:rPr dirty="0" spc="-90">
                <a:solidFill>
                  <a:srgbClr val="050F26"/>
                </a:solidFill>
              </a:rPr>
              <a:t>Real-</a:t>
            </a:r>
            <a:r>
              <a:rPr dirty="0" spc="-55">
                <a:solidFill>
                  <a:srgbClr val="050F26"/>
                </a:solidFill>
              </a:rPr>
              <a:t>World</a:t>
            </a:r>
            <a:r>
              <a:rPr dirty="0" spc="50">
                <a:solidFill>
                  <a:srgbClr val="050F26"/>
                </a:solidFill>
              </a:rPr>
              <a:t> </a:t>
            </a:r>
            <a:r>
              <a:rPr dirty="0" spc="-10">
                <a:solidFill>
                  <a:srgbClr val="010823"/>
                </a:solidFill>
              </a:rPr>
              <a:t>Endpoints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83398" y="3169355"/>
            <a:ext cx="7601584" cy="1510665"/>
          </a:xfrm>
          <a:prstGeom prst="rect">
            <a:avLst/>
          </a:prstGeom>
        </p:spPr>
        <p:txBody>
          <a:bodyPr wrap="square" lIns="0" tIns="83185" rIns="0" bIns="0" rtlCol="0" vert="horz">
            <a:spAutoFit/>
          </a:bodyPr>
          <a:lstStyle/>
          <a:p>
            <a:pPr marL="278765" marR="361950" indent="-266700">
              <a:lnSpc>
                <a:spcPts val="3300"/>
              </a:lnSpc>
              <a:spcBef>
                <a:spcPts val="655"/>
              </a:spcBef>
              <a:buClr>
                <a:srgbClr val="050505"/>
              </a:buClr>
              <a:buChar char="•"/>
              <a:tabLst>
                <a:tab pos="281305" algn="l"/>
              </a:tabLst>
            </a:pPr>
            <a:r>
              <a:rPr dirty="0" sz="3200" spc="-200">
                <a:latin typeface="Arial"/>
                <a:cs typeface="Arial"/>
              </a:rPr>
              <a:t>Focus:</a:t>
            </a:r>
            <a:r>
              <a:rPr dirty="0" sz="3200" spc="-180">
                <a:latin typeface="Arial"/>
                <a:cs typeface="Arial"/>
              </a:rPr>
              <a:t> </a:t>
            </a:r>
            <a:r>
              <a:rPr dirty="0" sz="3200" spc="-295">
                <a:latin typeface="Arial"/>
                <a:cs typeface="Arial"/>
              </a:rPr>
              <a:t>Data</a:t>
            </a:r>
            <a:r>
              <a:rPr dirty="0" sz="3200" spc="85">
                <a:latin typeface="Arial"/>
                <a:cs typeface="Arial"/>
              </a:rPr>
              <a:t> </a:t>
            </a:r>
            <a:r>
              <a:rPr dirty="0" sz="3200" spc="-195">
                <a:latin typeface="Arial"/>
                <a:cs typeface="Arial"/>
              </a:rPr>
              <a:t>Literacy,</a:t>
            </a:r>
            <a:r>
              <a:rPr dirty="0" sz="3200" spc="30">
                <a:latin typeface="Arial"/>
                <a:cs typeface="Arial"/>
              </a:rPr>
              <a:t> </a:t>
            </a:r>
            <a:r>
              <a:rPr dirty="0" sz="3200" spc="-290">
                <a:latin typeface="Arial"/>
                <a:cs typeface="Arial"/>
              </a:rPr>
              <a:t>User</a:t>
            </a:r>
            <a:r>
              <a:rPr dirty="0" sz="3200" spc="70">
                <a:latin typeface="Arial"/>
                <a:cs typeface="Arial"/>
              </a:rPr>
              <a:t> </a:t>
            </a:r>
            <a:r>
              <a:rPr dirty="0" sz="3200" spc="-270">
                <a:latin typeface="Arial"/>
                <a:cs typeface="Arial"/>
              </a:rPr>
              <a:t>Enablement,</a:t>
            </a:r>
            <a:r>
              <a:rPr dirty="0" sz="3200" spc="254">
                <a:latin typeface="Arial"/>
                <a:cs typeface="Arial"/>
              </a:rPr>
              <a:t> </a:t>
            </a:r>
            <a:r>
              <a:rPr dirty="0" sz="3200" spc="-280">
                <a:latin typeface="Arial"/>
                <a:cs typeface="Arial"/>
              </a:rPr>
              <a:t>and </a:t>
            </a:r>
            <a:r>
              <a:rPr dirty="0" sz="3200" spc="-280">
                <a:latin typeface="Arial"/>
                <a:cs typeface="Arial"/>
              </a:rPr>
              <a:t>	</a:t>
            </a:r>
            <a:r>
              <a:rPr dirty="0" sz="3200" spc="-265">
                <a:latin typeface="Arial"/>
                <a:cs typeface="Arial"/>
              </a:rPr>
              <a:t>Ecosystem</a:t>
            </a:r>
            <a:r>
              <a:rPr dirty="0" sz="3200" spc="210">
                <a:latin typeface="Arial"/>
                <a:cs typeface="Arial"/>
              </a:rPr>
              <a:t> </a:t>
            </a:r>
            <a:r>
              <a:rPr dirty="0" sz="3200" spc="-285">
                <a:latin typeface="Arial"/>
                <a:cs typeface="Arial"/>
              </a:rPr>
              <a:t>Expansion.</a:t>
            </a:r>
            <a:endParaRPr sz="3200">
              <a:latin typeface="Arial"/>
              <a:cs typeface="Arial"/>
            </a:endParaRPr>
          </a:p>
          <a:p>
            <a:pPr marL="278130" indent="-264160">
              <a:lnSpc>
                <a:spcPct val="100000"/>
              </a:lnSpc>
              <a:spcBef>
                <a:spcPts val="990"/>
              </a:spcBef>
              <a:buChar char="•"/>
              <a:tabLst>
                <a:tab pos="278130" algn="l"/>
              </a:tabLst>
            </a:pPr>
            <a:r>
              <a:rPr dirty="0" sz="2950">
                <a:latin typeface="Arial"/>
                <a:cs typeface="Arial"/>
              </a:rPr>
              <a:t>Intuitive</a:t>
            </a:r>
            <a:r>
              <a:rPr dirty="0" sz="2950" spc="-210">
                <a:latin typeface="Arial"/>
                <a:cs typeface="Arial"/>
              </a:rPr>
              <a:t> </a:t>
            </a:r>
            <a:r>
              <a:rPr dirty="0" sz="2950" spc="-20">
                <a:latin typeface="Arial"/>
                <a:cs typeface="Arial"/>
              </a:rPr>
              <a:t>Design:</a:t>
            </a:r>
            <a:r>
              <a:rPr dirty="0" sz="2950" spc="-185">
                <a:latin typeface="Arial"/>
                <a:cs typeface="Arial"/>
              </a:rPr>
              <a:t> </a:t>
            </a:r>
            <a:r>
              <a:rPr dirty="0" sz="2950" spc="-75">
                <a:latin typeface="Arial"/>
                <a:cs typeface="Arial"/>
              </a:rPr>
              <a:t>Treat</a:t>
            </a:r>
            <a:r>
              <a:rPr dirty="0" sz="2950" spc="-130">
                <a:latin typeface="Arial"/>
                <a:cs typeface="Arial"/>
              </a:rPr>
              <a:t> </a:t>
            </a:r>
            <a:r>
              <a:rPr dirty="0" sz="2950" spc="-85">
                <a:latin typeface="Arial"/>
                <a:cs typeface="Arial"/>
              </a:rPr>
              <a:t>Data</a:t>
            </a:r>
            <a:r>
              <a:rPr dirty="0" sz="2950" spc="5">
                <a:latin typeface="Arial"/>
                <a:cs typeface="Arial"/>
              </a:rPr>
              <a:t> </a:t>
            </a:r>
            <a:r>
              <a:rPr dirty="0" sz="2950" spc="-40">
                <a:latin typeface="Arial"/>
                <a:cs typeface="Arial"/>
              </a:rPr>
              <a:t>Literacy</a:t>
            </a:r>
            <a:r>
              <a:rPr dirty="0" sz="2950" spc="40">
                <a:latin typeface="Arial"/>
                <a:cs typeface="Arial"/>
              </a:rPr>
              <a:t> </a:t>
            </a:r>
            <a:r>
              <a:rPr dirty="0" sz="2950" spc="-140">
                <a:latin typeface="Arial"/>
                <a:cs typeface="Arial"/>
              </a:rPr>
              <a:t>as</a:t>
            </a:r>
            <a:r>
              <a:rPr dirty="0" sz="2950" spc="-65">
                <a:latin typeface="Arial"/>
                <a:cs typeface="Arial"/>
              </a:rPr>
              <a:t> </a:t>
            </a:r>
            <a:r>
              <a:rPr dirty="0" sz="2950">
                <a:latin typeface="Arial"/>
                <a:cs typeface="Arial"/>
              </a:rPr>
              <a:t>a</a:t>
            </a:r>
            <a:r>
              <a:rPr dirty="0" sz="2950" spc="-110">
                <a:latin typeface="Arial"/>
                <a:cs typeface="Arial"/>
              </a:rPr>
              <a:t> </a:t>
            </a:r>
            <a:r>
              <a:rPr dirty="0" sz="2950" spc="-40">
                <a:latin typeface="Arial"/>
                <a:cs typeface="Arial"/>
              </a:rPr>
              <a:t>core</a:t>
            </a:r>
            <a:endParaRPr sz="29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9270" y="4618213"/>
            <a:ext cx="6604000" cy="4806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2819400" algn="l"/>
              </a:tabLst>
            </a:pPr>
            <a:r>
              <a:rPr dirty="0" sz="2950">
                <a:latin typeface="Arial"/>
                <a:cs typeface="Arial"/>
              </a:rPr>
              <a:t>product</a:t>
            </a:r>
            <a:r>
              <a:rPr dirty="0" sz="2950" spc="-130">
                <a:latin typeface="Arial"/>
                <a:cs typeface="Arial"/>
              </a:rPr>
              <a:t> </a:t>
            </a:r>
            <a:r>
              <a:rPr dirty="0" sz="2950" spc="-10">
                <a:latin typeface="Arial"/>
                <a:cs typeface="Arial"/>
              </a:rPr>
              <a:t>feature</a:t>
            </a:r>
            <a:r>
              <a:rPr dirty="0" sz="2950">
                <a:latin typeface="Arial"/>
                <a:cs typeface="Arial"/>
              </a:rPr>
              <a:t>	</a:t>
            </a:r>
            <a:r>
              <a:rPr dirty="0" sz="2950" spc="-35">
                <a:latin typeface="Arial"/>
                <a:cs typeface="Arial"/>
              </a:rPr>
              <a:t>refine</a:t>
            </a:r>
            <a:r>
              <a:rPr dirty="0" sz="2950" spc="-175">
                <a:latin typeface="Arial"/>
                <a:cs typeface="Arial"/>
              </a:rPr>
              <a:t> </a:t>
            </a:r>
            <a:r>
              <a:rPr dirty="0" sz="2950" spc="-290">
                <a:latin typeface="Arial"/>
                <a:cs typeface="Arial"/>
              </a:rPr>
              <a:t>UX</a:t>
            </a:r>
            <a:r>
              <a:rPr dirty="0" sz="2950" spc="90">
                <a:latin typeface="Arial"/>
                <a:cs typeface="Arial"/>
              </a:rPr>
              <a:t> </a:t>
            </a:r>
            <a:r>
              <a:rPr dirty="0" sz="2950">
                <a:latin typeface="Arial"/>
                <a:cs typeface="Arial"/>
              </a:rPr>
              <a:t>so</a:t>
            </a:r>
            <a:r>
              <a:rPr dirty="0" sz="2950" spc="-210">
                <a:latin typeface="Arial"/>
                <a:cs typeface="Arial"/>
              </a:rPr>
              <a:t> </a:t>
            </a:r>
            <a:r>
              <a:rPr dirty="0" sz="2950">
                <a:latin typeface="Arial"/>
                <a:cs typeface="Arial"/>
              </a:rPr>
              <a:t>the</a:t>
            </a:r>
            <a:r>
              <a:rPr dirty="0" sz="2950" spc="-60">
                <a:latin typeface="Arial"/>
                <a:cs typeface="Arial"/>
              </a:rPr>
              <a:t> </a:t>
            </a:r>
            <a:r>
              <a:rPr dirty="0" sz="2950" spc="-80">
                <a:latin typeface="Arial"/>
                <a:cs typeface="Arial"/>
              </a:rPr>
              <a:t>system</a:t>
            </a:r>
            <a:endParaRPr sz="29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72543" y="5037313"/>
            <a:ext cx="7392034" cy="4806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950" spc="-90">
                <a:latin typeface="Arial"/>
                <a:cs typeface="Arial"/>
              </a:rPr>
              <a:t>speaks</a:t>
            </a:r>
            <a:r>
              <a:rPr dirty="0" sz="2950" spc="-65">
                <a:latin typeface="Arial"/>
                <a:cs typeface="Arial"/>
              </a:rPr>
              <a:t> </a:t>
            </a:r>
            <a:r>
              <a:rPr dirty="0" sz="2950">
                <a:latin typeface="Arial"/>
                <a:cs typeface="Arial"/>
              </a:rPr>
              <a:t>the</a:t>
            </a:r>
            <a:r>
              <a:rPr dirty="0" sz="2950" spc="-200">
                <a:latin typeface="Arial"/>
                <a:cs typeface="Arial"/>
              </a:rPr>
              <a:t> </a:t>
            </a:r>
            <a:r>
              <a:rPr dirty="0" sz="2950" spc="-75">
                <a:latin typeface="Arial"/>
                <a:cs typeface="Arial"/>
              </a:rPr>
              <a:t>language</a:t>
            </a:r>
            <a:r>
              <a:rPr dirty="0" sz="2950" spc="-20">
                <a:latin typeface="Arial"/>
                <a:cs typeface="Arial"/>
              </a:rPr>
              <a:t> </a:t>
            </a:r>
            <a:r>
              <a:rPr dirty="0" sz="2950">
                <a:latin typeface="Arial"/>
                <a:cs typeface="Arial"/>
              </a:rPr>
              <a:t>of</a:t>
            </a:r>
            <a:r>
              <a:rPr dirty="0" sz="2950" spc="-85">
                <a:latin typeface="Arial"/>
                <a:cs typeface="Arial"/>
              </a:rPr>
              <a:t> </a:t>
            </a:r>
            <a:r>
              <a:rPr dirty="0" sz="2950">
                <a:latin typeface="Arial"/>
                <a:cs typeface="Arial"/>
              </a:rPr>
              <a:t>the</a:t>
            </a:r>
            <a:r>
              <a:rPr dirty="0" sz="2950" spc="-120">
                <a:latin typeface="Arial"/>
                <a:cs typeface="Arial"/>
              </a:rPr>
              <a:t> </a:t>
            </a:r>
            <a:r>
              <a:rPr dirty="0" sz="2950" spc="-85">
                <a:latin typeface="Arial"/>
                <a:cs typeface="Arial"/>
              </a:rPr>
              <a:t>business, </a:t>
            </a:r>
            <a:r>
              <a:rPr dirty="0" sz="2950" spc="-55">
                <a:latin typeface="Arial"/>
                <a:cs typeface="Arial"/>
              </a:rPr>
              <a:t>requiring</a:t>
            </a:r>
            <a:endParaRPr sz="29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83865" y="5327297"/>
            <a:ext cx="7891145" cy="3439160"/>
          </a:xfrm>
          <a:prstGeom prst="rect">
            <a:avLst/>
          </a:prstGeom>
        </p:spPr>
        <p:txBody>
          <a:bodyPr wrap="square" lIns="0" tIns="139700" rIns="0" bIns="0" rtlCol="0" vert="horz">
            <a:spAutoFit/>
          </a:bodyPr>
          <a:lstStyle/>
          <a:p>
            <a:pPr marL="292735">
              <a:lnSpc>
                <a:spcPct val="100000"/>
              </a:lnSpc>
              <a:spcBef>
                <a:spcPts val="1100"/>
              </a:spcBef>
            </a:pPr>
            <a:r>
              <a:rPr dirty="0" sz="2950" spc="-75">
                <a:latin typeface="Arial"/>
                <a:cs typeface="Arial"/>
              </a:rPr>
              <a:t>zero</a:t>
            </a:r>
            <a:r>
              <a:rPr dirty="0" sz="2950" spc="-125">
                <a:latin typeface="Arial"/>
                <a:cs typeface="Arial"/>
              </a:rPr>
              <a:t> </a:t>
            </a:r>
            <a:r>
              <a:rPr dirty="0" sz="2950" spc="-10">
                <a:latin typeface="Arial"/>
                <a:cs typeface="Arial"/>
              </a:rPr>
              <a:t>manuals.</a:t>
            </a:r>
            <a:endParaRPr sz="2950">
              <a:latin typeface="Arial"/>
              <a:cs typeface="Arial"/>
            </a:endParaRPr>
          </a:p>
          <a:p>
            <a:pPr marL="282575" marR="5080" indent="-269875">
              <a:lnSpc>
                <a:spcPts val="3300"/>
              </a:lnSpc>
              <a:spcBef>
                <a:spcPts val="1320"/>
              </a:spcBef>
              <a:buChar char="•"/>
              <a:tabLst>
                <a:tab pos="295275" algn="l"/>
              </a:tabLst>
            </a:pPr>
            <a:r>
              <a:rPr dirty="0" sz="2950" spc="-35">
                <a:latin typeface="Arial"/>
                <a:cs typeface="Arial"/>
              </a:rPr>
              <a:t>Ecosystem</a:t>
            </a:r>
            <a:r>
              <a:rPr dirty="0" sz="2950" spc="-175">
                <a:latin typeface="Arial"/>
                <a:cs typeface="Arial"/>
              </a:rPr>
              <a:t> </a:t>
            </a:r>
            <a:r>
              <a:rPr dirty="0" sz="2950" spc="-55">
                <a:latin typeface="Arial"/>
                <a:cs typeface="Arial"/>
              </a:rPr>
              <a:t>Scale:</a:t>
            </a:r>
            <a:r>
              <a:rPr dirty="0" sz="2950" spc="-175">
                <a:latin typeface="Arial"/>
                <a:cs typeface="Arial"/>
              </a:rPr>
              <a:t> </a:t>
            </a:r>
            <a:r>
              <a:rPr dirty="0" sz="2950" spc="-125">
                <a:latin typeface="Arial"/>
                <a:cs typeface="Arial"/>
              </a:rPr>
              <a:t>Expand</a:t>
            </a:r>
            <a:r>
              <a:rPr dirty="0" sz="2950" spc="-80">
                <a:latin typeface="Arial"/>
                <a:cs typeface="Arial"/>
              </a:rPr>
              <a:t> </a:t>
            </a:r>
            <a:r>
              <a:rPr dirty="0" sz="2950" spc="-10">
                <a:latin typeface="Arial"/>
                <a:cs typeface="Arial"/>
              </a:rPr>
              <a:t>platforms</a:t>
            </a:r>
            <a:r>
              <a:rPr dirty="0" sz="2950" spc="-165">
                <a:latin typeface="Arial"/>
                <a:cs typeface="Arial"/>
              </a:rPr>
              <a:t> </a:t>
            </a:r>
            <a:r>
              <a:rPr dirty="0" sz="2950" spc="-25">
                <a:latin typeface="Arial"/>
                <a:cs typeface="Arial"/>
              </a:rPr>
              <a:t>like</a:t>
            </a:r>
            <a:r>
              <a:rPr dirty="0" sz="2950" spc="-100">
                <a:latin typeface="Arial"/>
                <a:cs typeface="Arial"/>
              </a:rPr>
              <a:t> </a:t>
            </a:r>
            <a:r>
              <a:rPr dirty="0" sz="2950" spc="-125">
                <a:latin typeface="Arial"/>
                <a:cs typeface="Arial"/>
              </a:rPr>
              <a:t>AbbVie </a:t>
            </a:r>
            <a:r>
              <a:rPr dirty="0" sz="2950" spc="-125">
                <a:latin typeface="Arial"/>
                <a:cs typeface="Arial"/>
              </a:rPr>
              <a:t>	</a:t>
            </a:r>
            <a:r>
              <a:rPr dirty="0" sz="2950" spc="-100">
                <a:latin typeface="Arial"/>
                <a:cs typeface="Arial"/>
              </a:rPr>
              <a:t>Science</a:t>
            </a:r>
            <a:r>
              <a:rPr dirty="0" sz="2950" spc="-65">
                <a:latin typeface="Arial"/>
                <a:cs typeface="Arial"/>
              </a:rPr>
              <a:t> </a:t>
            </a:r>
            <a:r>
              <a:rPr dirty="0" sz="2950" spc="-10">
                <a:latin typeface="Arial"/>
                <a:cs typeface="Arial"/>
              </a:rPr>
              <a:t>Oncology.</a:t>
            </a:r>
            <a:endParaRPr sz="2950">
              <a:latin typeface="Arial"/>
              <a:cs typeface="Arial"/>
            </a:endParaRPr>
          </a:p>
          <a:p>
            <a:pPr marL="282575" marR="524510" indent="-269875">
              <a:lnSpc>
                <a:spcPts val="3300"/>
              </a:lnSpc>
              <a:spcBef>
                <a:spcPts val="1250"/>
              </a:spcBef>
              <a:buChar char="•"/>
              <a:tabLst>
                <a:tab pos="282575" algn="l"/>
              </a:tabLst>
            </a:pPr>
            <a:r>
              <a:rPr dirty="0" sz="3100" spc="-75">
                <a:latin typeface="Arial"/>
                <a:cs typeface="Arial"/>
              </a:rPr>
              <a:t>Digital</a:t>
            </a:r>
            <a:r>
              <a:rPr dirty="0" sz="3100" spc="-225">
                <a:latin typeface="Arial"/>
                <a:cs typeface="Arial"/>
              </a:rPr>
              <a:t> </a:t>
            </a:r>
            <a:r>
              <a:rPr dirty="0" sz="3100" spc="-95">
                <a:latin typeface="Arial"/>
                <a:cs typeface="Arial"/>
              </a:rPr>
              <a:t>Health</a:t>
            </a:r>
            <a:r>
              <a:rPr dirty="0" sz="3100" spc="-170">
                <a:latin typeface="Arial"/>
                <a:cs typeface="Arial"/>
              </a:rPr>
              <a:t> </a:t>
            </a:r>
            <a:r>
              <a:rPr dirty="0" sz="3100" spc="-114">
                <a:latin typeface="Arial"/>
                <a:cs typeface="Arial"/>
              </a:rPr>
              <a:t>Technology</a:t>
            </a:r>
            <a:r>
              <a:rPr dirty="0" sz="3100" spc="35">
                <a:latin typeface="Arial"/>
                <a:cs typeface="Arial"/>
              </a:rPr>
              <a:t> </a:t>
            </a:r>
            <a:r>
              <a:rPr dirty="0" sz="3100" spc="-180">
                <a:latin typeface="Arial"/>
                <a:cs typeface="Arial"/>
              </a:rPr>
              <a:t>(DHT):</a:t>
            </a:r>
            <a:r>
              <a:rPr dirty="0" sz="3100" spc="-200">
                <a:latin typeface="Arial"/>
                <a:cs typeface="Arial"/>
              </a:rPr>
              <a:t> </a:t>
            </a:r>
            <a:r>
              <a:rPr dirty="0" sz="3100" spc="-10">
                <a:latin typeface="Arial"/>
                <a:cs typeface="Arial"/>
              </a:rPr>
              <a:t>Integrate </a:t>
            </a:r>
            <a:r>
              <a:rPr dirty="0" sz="3100" spc="-325">
                <a:latin typeface="Arial"/>
                <a:cs typeface="Arial"/>
              </a:rPr>
              <a:t>DHT</a:t>
            </a:r>
            <a:r>
              <a:rPr dirty="0" sz="3100" spc="5">
                <a:latin typeface="Arial"/>
                <a:cs typeface="Arial"/>
              </a:rPr>
              <a:t> </a:t>
            </a:r>
            <a:r>
              <a:rPr dirty="0" sz="3100" spc="-125">
                <a:latin typeface="Arial"/>
                <a:cs typeface="Arial"/>
              </a:rPr>
              <a:t>endpoints,</a:t>
            </a:r>
            <a:r>
              <a:rPr dirty="0" sz="3100" spc="-95">
                <a:latin typeface="Arial"/>
                <a:cs typeface="Arial"/>
              </a:rPr>
              <a:t> </a:t>
            </a:r>
            <a:r>
              <a:rPr dirty="0" sz="3100" spc="-185">
                <a:latin typeface="Arial"/>
                <a:cs typeface="Arial"/>
              </a:rPr>
              <a:t>such</a:t>
            </a:r>
            <a:r>
              <a:rPr dirty="0" sz="3100" spc="-55">
                <a:latin typeface="Arial"/>
                <a:cs typeface="Arial"/>
              </a:rPr>
              <a:t> </a:t>
            </a:r>
            <a:r>
              <a:rPr dirty="0" sz="3100" spc="-229">
                <a:latin typeface="Arial"/>
                <a:cs typeface="Arial"/>
              </a:rPr>
              <a:t>as</a:t>
            </a:r>
            <a:r>
              <a:rPr dirty="0" sz="3100" spc="5">
                <a:latin typeface="Arial"/>
                <a:cs typeface="Arial"/>
              </a:rPr>
              <a:t> </a:t>
            </a:r>
            <a:r>
              <a:rPr dirty="0" sz="3100" spc="-175">
                <a:latin typeface="Arial"/>
                <a:cs typeface="Arial"/>
              </a:rPr>
              <a:t>wearables</a:t>
            </a:r>
            <a:r>
              <a:rPr dirty="0" sz="3100" spc="65">
                <a:latin typeface="Arial"/>
                <a:cs typeface="Arial"/>
              </a:rPr>
              <a:t> </a:t>
            </a:r>
            <a:r>
              <a:rPr dirty="0" sz="3100" spc="-10">
                <a:latin typeface="Arial"/>
                <a:cs typeface="Arial"/>
              </a:rPr>
              <a:t>data, </a:t>
            </a:r>
            <a:r>
              <a:rPr dirty="0" sz="3100" spc="-85">
                <a:latin typeface="Arial"/>
                <a:cs typeface="Arial"/>
              </a:rPr>
              <a:t>directly</a:t>
            </a:r>
            <a:r>
              <a:rPr dirty="0" sz="3100" spc="-130">
                <a:latin typeface="Arial"/>
                <a:cs typeface="Arial"/>
              </a:rPr>
              <a:t> </a:t>
            </a:r>
            <a:r>
              <a:rPr dirty="0" sz="3100" spc="-50">
                <a:latin typeface="Arial"/>
                <a:cs typeface="Arial"/>
              </a:rPr>
              <a:t>into</a:t>
            </a:r>
            <a:r>
              <a:rPr dirty="0" sz="3100" spc="-55">
                <a:latin typeface="Arial"/>
                <a:cs typeface="Arial"/>
              </a:rPr>
              <a:t> </a:t>
            </a:r>
            <a:r>
              <a:rPr dirty="0" sz="3100" spc="-80">
                <a:latin typeface="Arial"/>
                <a:cs typeface="Arial"/>
              </a:rPr>
              <a:t>the</a:t>
            </a:r>
            <a:r>
              <a:rPr dirty="0" sz="3100" spc="-135">
                <a:latin typeface="Arial"/>
                <a:cs typeface="Arial"/>
              </a:rPr>
              <a:t> </a:t>
            </a:r>
            <a:r>
              <a:rPr dirty="0" sz="3100" spc="-160">
                <a:latin typeface="Arial"/>
                <a:cs typeface="Arial"/>
              </a:rPr>
              <a:t>graph</a:t>
            </a:r>
            <a:r>
              <a:rPr dirty="0" sz="3100" spc="5">
                <a:latin typeface="Arial"/>
                <a:cs typeface="Arial"/>
              </a:rPr>
              <a:t> </a:t>
            </a:r>
            <a:r>
              <a:rPr dirty="0" sz="3100" spc="-114">
                <a:latin typeface="Arial"/>
                <a:cs typeface="Arial"/>
              </a:rPr>
              <a:t>to </a:t>
            </a:r>
            <a:r>
              <a:rPr dirty="0" sz="3100" spc="-204">
                <a:latin typeface="Arial"/>
                <a:cs typeface="Arial"/>
              </a:rPr>
              <a:t>measure</a:t>
            </a:r>
            <a:r>
              <a:rPr dirty="0" sz="3100" spc="-10">
                <a:latin typeface="Arial"/>
                <a:cs typeface="Arial"/>
              </a:rPr>
              <a:t> </a:t>
            </a:r>
            <a:r>
              <a:rPr dirty="0" sz="3100" spc="-125">
                <a:latin typeface="Arial"/>
                <a:cs typeface="Arial"/>
              </a:rPr>
              <a:t>real-</a:t>
            </a:r>
            <a:r>
              <a:rPr dirty="0" sz="3100" spc="-50">
                <a:latin typeface="Arial"/>
                <a:cs typeface="Arial"/>
              </a:rPr>
              <a:t>world </a:t>
            </a:r>
            <a:r>
              <a:rPr dirty="0" sz="3100" spc="-95">
                <a:latin typeface="Arial"/>
                <a:cs typeface="Arial"/>
              </a:rPr>
              <a:t>patient</a:t>
            </a:r>
            <a:r>
              <a:rPr dirty="0" sz="3100" spc="-80">
                <a:latin typeface="Arial"/>
                <a:cs typeface="Arial"/>
              </a:rPr>
              <a:t> </a:t>
            </a:r>
            <a:r>
              <a:rPr dirty="0" sz="3100" spc="-145">
                <a:latin typeface="Arial"/>
                <a:cs typeface="Arial"/>
              </a:rPr>
              <a:t>outcomes</a:t>
            </a:r>
            <a:r>
              <a:rPr dirty="0" sz="3100" spc="-50">
                <a:latin typeface="Arial"/>
                <a:cs typeface="Arial"/>
              </a:rPr>
              <a:t> </a:t>
            </a:r>
            <a:r>
              <a:rPr dirty="0" sz="3100" spc="-25">
                <a:latin typeface="Arial"/>
                <a:cs typeface="Arial"/>
              </a:rPr>
              <a:t>objectively.</a:t>
            </a:r>
            <a:endParaRPr sz="31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285061" y="4661252"/>
            <a:ext cx="1936114" cy="840740"/>
          </a:xfrm>
          <a:prstGeom prst="rect">
            <a:avLst/>
          </a:prstGeom>
        </p:spPr>
        <p:txBody>
          <a:bodyPr wrap="square" lIns="0" tIns="69215" rIns="0" bIns="0" rtlCol="0" vert="horz">
            <a:spAutoFit/>
          </a:bodyPr>
          <a:lstStyle/>
          <a:p>
            <a:pPr marL="12700" marR="5080" indent="175895">
              <a:lnSpc>
                <a:spcPts val="3000"/>
              </a:lnSpc>
              <a:spcBef>
                <a:spcPts val="545"/>
              </a:spcBef>
            </a:pPr>
            <a:r>
              <a:rPr dirty="0" sz="2850" spc="-60">
                <a:latin typeface="Arial"/>
                <a:cs typeface="Arial"/>
              </a:rPr>
              <a:t>Healthcare </a:t>
            </a:r>
            <a:r>
              <a:rPr dirty="0" sz="2850" spc="-170">
                <a:latin typeface="Arial"/>
                <a:cs typeface="Arial"/>
              </a:rPr>
              <a:t>Professionals</a:t>
            </a:r>
            <a:endParaRPr sz="28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575473" y="8171391"/>
            <a:ext cx="1379855" cy="8229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3045"/>
              </a:lnSpc>
              <a:spcBef>
                <a:spcPts val="105"/>
              </a:spcBef>
            </a:pPr>
            <a:r>
              <a:rPr dirty="0" sz="2700" spc="-110">
                <a:latin typeface="Arial"/>
                <a:cs typeface="Arial"/>
              </a:rPr>
              <a:t>Wearable</a:t>
            </a:r>
            <a:endParaRPr sz="2700">
              <a:latin typeface="Arial"/>
              <a:cs typeface="Arial"/>
            </a:endParaRPr>
          </a:p>
          <a:p>
            <a:pPr marL="115570">
              <a:lnSpc>
                <a:spcPts val="3225"/>
              </a:lnSpc>
            </a:pPr>
            <a:r>
              <a:rPr dirty="0" sz="2850" spc="-35">
                <a:latin typeface="Arial"/>
                <a:cs typeface="Arial"/>
              </a:rPr>
              <a:t>Devices</a:t>
            </a:r>
            <a:endParaRPr sz="2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5400" y="3060700"/>
            <a:ext cx="14884400" cy="3810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5049500" y="0"/>
            <a:ext cx="2044700" cy="2247900"/>
            <a:chOff x="15049500" y="0"/>
            <a:chExt cx="2044700" cy="22479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049500" y="1524000"/>
              <a:ext cx="1993900" cy="7239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5049500" y="0"/>
              <a:ext cx="2044700" cy="2235200"/>
            </a:xfrm>
            <a:custGeom>
              <a:avLst/>
              <a:gdLst/>
              <a:ahLst/>
              <a:cxnLst/>
              <a:rect l="l" t="t" r="r" b="b"/>
              <a:pathLst>
                <a:path w="2044700" h="2235200">
                  <a:moveTo>
                    <a:pt x="2044700" y="2235200"/>
                  </a:moveTo>
                  <a:lnTo>
                    <a:pt x="0" y="2235200"/>
                  </a:lnTo>
                  <a:lnTo>
                    <a:pt x="0" y="0"/>
                  </a:lnTo>
                  <a:lnTo>
                    <a:pt x="2044700" y="0"/>
                  </a:lnTo>
                  <a:lnTo>
                    <a:pt x="2044700" y="2235200"/>
                  </a:lnTo>
                  <a:close/>
                </a:path>
              </a:pathLst>
            </a:custGeom>
            <a:solidFill>
              <a:srgbClr val="D8D8D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15049500" y="0"/>
            <a:ext cx="2044700" cy="2235200"/>
          </a:xfrm>
          <a:prstGeom prst="rect">
            <a:avLst/>
          </a:prstGeom>
        </p:spPr>
        <p:txBody>
          <a:bodyPr wrap="square" lIns="0" tIns="2508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975"/>
              </a:spcBef>
            </a:pPr>
            <a:endParaRPr sz="2150">
              <a:latin typeface="Times New Roman"/>
              <a:cs typeface="Times New Roman"/>
            </a:endParaRPr>
          </a:p>
          <a:p>
            <a:pPr algn="ctr" marL="635">
              <a:lnSpc>
                <a:spcPts val="2315"/>
              </a:lnSpc>
            </a:pPr>
            <a:r>
              <a:rPr dirty="0" sz="2150" spc="-10">
                <a:solidFill>
                  <a:srgbClr val="FFFFFF"/>
                </a:solidFill>
                <a:latin typeface="Arial"/>
                <a:cs typeface="Arial"/>
              </a:rPr>
              <a:t>Brian</a:t>
            </a:r>
            <a:endParaRPr sz="2150">
              <a:latin typeface="Arial"/>
              <a:cs typeface="Arial"/>
            </a:endParaRPr>
          </a:p>
          <a:p>
            <a:pPr algn="ctr" marR="3175">
              <a:lnSpc>
                <a:spcPts val="2735"/>
              </a:lnSpc>
            </a:pPr>
            <a:r>
              <a:rPr dirty="0" sz="2500" spc="-10">
                <a:solidFill>
                  <a:srgbClr val="FFFFFF"/>
                </a:solidFill>
                <a:latin typeface="Arial"/>
                <a:cs typeface="Arial"/>
              </a:rPr>
              <a:t>Martin</a:t>
            </a:r>
            <a:endParaRPr sz="25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032000" y="4914900"/>
            <a:ext cx="1003300" cy="704850"/>
            <a:chOff x="2032000" y="4914900"/>
            <a:chExt cx="1003300" cy="70485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32000" y="4914900"/>
              <a:ext cx="660400" cy="4318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2000" y="5245100"/>
              <a:ext cx="1003300" cy="374650"/>
            </a:xfrm>
            <a:prstGeom prst="rect">
              <a:avLst/>
            </a:prstGeom>
          </p:spPr>
        </p:pic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786050" y="606424"/>
            <a:ext cx="11262995" cy="1651000"/>
          </a:xfrm>
          <a:prstGeom prst="rect"/>
        </p:spPr>
        <p:txBody>
          <a:bodyPr wrap="square" lIns="0" tIns="112395" rIns="0" bIns="0" rtlCol="0" vert="horz">
            <a:spAutoFit/>
          </a:bodyPr>
          <a:lstStyle/>
          <a:p>
            <a:pPr marL="12700" marR="5080" indent="22860">
              <a:lnSpc>
                <a:spcPts val="6050"/>
              </a:lnSpc>
              <a:spcBef>
                <a:spcPts val="885"/>
              </a:spcBef>
            </a:pPr>
            <a:r>
              <a:rPr dirty="0" sz="5600" spc="-40">
                <a:solidFill>
                  <a:srgbClr val="050F2B"/>
                </a:solidFill>
              </a:rPr>
              <a:t>The</a:t>
            </a:r>
            <a:r>
              <a:rPr dirty="0" sz="5600" spc="-240">
                <a:solidFill>
                  <a:srgbClr val="050F2B"/>
                </a:solidFill>
              </a:rPr>
              <a:t> </a:t>
            </a:r>
            <a:r>
              <a:rPr dirty="0" sz="5600" spc="70">
                <a:solidFill>
                  <a:srgbClr val="07152F"/>
                </a:solidFill>
              </a:rPr>
              <a:t>Strategic</a:t>
            </a:r>
            <a:r>
              <a:rPr dirty="0" sz="5600" spc="60">
                <a:solidFill>
                  <a:srgbClr val="07152F"/>
                </a:solidFill>
              </a:rPr>
              <a:t> </a:t>
            </a:r>
            <a:r>
              <a:rPr dirty="0" sz="5600">
                <a:solidFill>
                  <a:srgbClr val="030F24"/>
                </a:solidFill>
              </a:rPr>
              <a:t>Evolution</a:t>
            </a:r>
            <a:r>
              <a:rPr dirty="0" sz="5600" spc="-105">
                <a:solidFill>
                  <a:srgbClr val="030F24"/>
                </a:solidFill>
              </a:rPr>
              <a:t> </a:t>
            </a:r>
            <a:r>
              <a:rPr dirty="0" sz="5600" spc="114">
                <a:solidFill>
                  <a:srgbClr val="161616"/>
                </a:solidFill>
              </a:rPr>
              <a:t>from </a:t>
            </a:r>
            <a:r>
              <a:rPr dirty="0" sz="5600" spc="-10">
                <a:solidFill>
                  <a:srgbClr val="131313"/>
                </a:solidFill>
              </a:rPr>
              <a:t>Language</a:t>
            </a:r>
            <a:r>
              <a:rPr dirty="0" sz="5600" spc="-185">
                <a:solidFill>
                  <a:srgbClr val="131313"/>
                </a:solidFill>
              </a:rPr>
              <a:t> </a:t>
            </a:r>
            <a:r>
              <a:rPr dirty="0" sz="5600" spc="90">
                <a:solidFill>
                  <a:srgbClr val="030C26"/>
                </a:solidFill>
              </a:rPr>
              <a:t>Models</a:t>
            </a:r>
            <a:r>
              <a:rPr dirty="0" sz="5600" spc="-345">
                <a:solidFill>
                  <a:srgbClr val="030C26"/>
                </a:solidFill>
              </a:rPr>
              <a:t> </a:t>
            </a:r>
            <a:r>
              <a:rPr dirty="0" sz="5600" spc="65">
                <a:solidFill>
                  <a:srgbClr val="081834"/>
                </a:solidFill>
              </a:rPr>
              <a:t>to</a:t>
            </a:r>
            <a:r>
              <a:rPr dirty="0" sz="5600" spc="-40">
                <a:solidFill>
                  <a:srgbClr val="081834"/>
                </a:solidFill>
              </a:rPr>
              <a:t> </a:t>
            </a:r>
            <a:r>
              <a:rPr dirty="0" sz="5600" spc="95">
                <a:solidFill>
                  <a:srgbClr val="081836"/>
                </a:solidFill>
              </a:rPr>
              <a:t>Action</a:t>
            </a:r>
            <a:r>
              <a:rPr dirty="0" sz="5600" spc="-385">
                <a:solidFill>
                  <a:srgbClr val="081836"/>
                </a:solidFill>
              </a:rPr>
              <a:t> </a:t>
            </a:r>
            <a:r>
              <a:rPr dirty="0" sz="5600" spc="50">
                <a:solidFill>
                  <a:srgbClr val="051331"/>
                </a:solidFill>
              </a:rPr>
              <a:t>Models</a:t>
            </a:r>
            <a:endParaRPr sz="5600"/>
          </a:p>
        </p:txBody>
      </p:sp>
      <p:sp>
        <p:nvSpPr>
          <p:cNvPr id="11" name="object 11"/>
          <p:cNvSpPr txBox="1"/>
          <p:nvPr/>
        </p:nvSpPr>
        <p:spPr>
          <a:xfrm>
            <a:off x="3236859" y="4792133"/>
            <a:ext cx="1713230" cy="117602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ts val="3140"/>
              </a:lnSpc>
              <a:spcBef>
                <a:spcPts val="114"/>
              </a:spcBef>
            </a:pPr>
            <a:r>
              <a:rPr dirty="0" sz="2900" spc="-20">
                <a:latin typeface="Arial"/>
                <a:cs typeface="Arial"/>
              </a:rPr>
              <a:t>LLM:</a:t>
            </a:r>
            <a:endParaRPr sz="2900">
              <a:latin typeface="Arial"/>
              <a:cs typeface="Arial"/>
            </a:endParaRPr>
          </a:p>
          <a:p>
            <a:pPr marL="40005">
              <a:lnSpc>
                <a:spcPts val="2900"/>
              </a:lnSpc>
            </a:pPr>
            <a:r>
              <a:rPr dirty="0" sz="2900" spc="-55">
                <a:latin typeface="Arial"/>
                <a:cs typeface="Arial"/>
              </a:rPr>
              <a:t>Answering</a:t>
            </a:r>
            <a:endParaRPr sz="2900">
              <a:latin typeface="Arial"/>
              <a:cs typeface="Arial"/>
            </a:endParaRPr>
          </a:p>
          <a:p>
            <a:pPr marL="24765">
              <a:lnSpc>
                <a:spcPts val="3000"/>
              </a:lnSpc>
            </a:pPr>
            <a:r>
              <a:rPr dirty="0" sz="2700" spc="-10">
                <a:latin typeface="Arial"/>
                <a:cs typeface="Arial"/>
              </a:rPr>
              <a:t>Questions</a:t>
            </a:r>
            <a:endParaRPr sz="27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11490" y="7587191"/>
            <a:ext cx="4604385" cy="1559560"/>
          </a:xfrm>
          <a:prstGeom prst="rect">
            <a:avLst/>
          </a:prstGeom>
        </p:spPr>
        <p:txBody>
          <a:bodyPr wrap="square" lIns="0" tIns="62230" rIns="0" bIns="0" rtlCol="0" vert="horz">
            <a:spAutoFit/>
          </a:bodyPr>
          <a:lstStyle/>
          <a:p>
            <a:pPr marL="21590" marR="5080" indent="-9525">
              <a:lnSpc>
                <a:spcPct val="88100"/>
              </a:lnSpc>
              <a:spcBef>
                <a:spcPts val="490"/>
              </a:spcBef>
            </a:pPr>
            <a:r>
              <a:rPr dirty="0" sz="2700" spc="-160">
                <a:latin typeface="Arial"/>
                <a:cs typeface="Arial"/>
              </a:rPr>
              <a:t>Beyond</a:t>
            </a:r>
            <a:r>
              <a:rPr dirty="0" sz="2700" spc="-30">
                <a:latin typeface="Arial"/>
                <a:cs typeface="Arial"/>
              </a:rPr>
              <a:t> </a:t>
            </a:r>
            <a:r>
              <a:rPr dirty="0" sz="2700" spc="-280">
                <a:latin typeface="Arial"/>
                <a:cs typeface="Arial"/>
              </a:rPr>
              <a:t>Q&amp;A:</a:t>
            </a:r>
            <a:r>
              <a:rPr dirty="0" sz="2700" spc="-100">
                <a:latin typeface="Arial"/>
                <a:cs typeface="Arial"/>
              </a:rPr>
              <a:t> </a:t>
            </a:r>
            <a:r>
              <a:rPr dirty="0" sz="2700" spc="-165">
                <a:latin typeface="Arial"/>
                <a:cs typeface="Arial"/>
              </a:rPr>
              <a:t>Begin</a:t>
            </a:r>
            <a:r>
              <a:rPr dirty="0" sz="2700" spc="-20">
                <a:latin typeface="Arial"/>
                <a:cs typeface="Arial"/>
              </a:rPr>
              <a:t> </a:t>
            </a:r>
            <a:r>
              <a:rPr dirty="0" sz="2700" spc="-70">
                <a:latin typeface="Arial"/>
                <a:cs typeface="Arial"/>
              </a:rPr>
              <a:t>the</a:t>
            </a:r>
            <a:r>
              <a:rPr dirty="0" sz="2700" spc="-90">
                <a:latin typeface="Arial"/>
                <a:cs typeface="Arial"/>
              </a:rPr>
              <a:t> transition </a:t>
            </a:r>
            <a:r>
              <a:rPr dirty="0" sz="2750" spc="-130">
                <a:latin typeface="Arial"/>
                <a:cs typeface="Arial"/>
              </a:rPr>
              <a:t>from</a:t>
            </a:r>
            <a:r>
              <a:rPr dirty="0" sz="2750" spc="-145">
                <a:latin typeface="Arial"/>
                <a:cs typeface="Arial"/>
              </a:rPr>
              <a:t> </a:t>
            </a:r>
            <a:r>
              <a:rPr dirty="0" sz="2750" spc="-204">
                <a:latin typeface="Arial"/>
                <a:cs typeface="Arial"/>
              </a:rPr>
              <a:t>Large</a:t>
            </a:r>
            <a:r>
              <a:rPr dirty="0" sz="2750" spc="-5">
                <a:latin typeface="Arial"/>
                <a:cs typeface="Arial"/>
              </a:rPr>
              <a:t> </a:t>
            </a:r>
            <a:r>
              <a:rPr dirty="0" sz="2750" spc="-210">
                <a:latin typeface="Arial"/>
                <a:cs typeface="Arial"/>
              </a:rPr>
              <a:t>Language</a:t>
            </a:r>
            <a:r>
              <a:rPr dirty="0" sz="2750" spc="110">
                <a:latin typeface="Arial"/>
                <a:cs typeface="Arial"/>
              </a:rPr>
              <a:t> </a:t>
            </a:r>
            <a:r>
              <a:rPr dirty="0" sz="2750" spc="-10">
                <a:latin typeface="Arial"/>
                <a:cs typeface="Arial"/>
              </a:rPr>
              <a:t>Models </a:t>
            </a:r>
            <a:r>
              <a:rPr dirty="0" sz="2750" spc="-240">
                <a:latin typeface="Arial"/>
                <a:cs typeface="Arial"/>
              </a:rPr>
              <a:t>(LLMs)</a:t>
            </a:r>
            <a:r>
              <a:rPr dirty="0" sz="2750" spc="85">
                <a:latin typeface="Arial"/>
                <a:cs typeface="Arial"/>
              </a:rPr>
              <a:t> </a:t>
            </a:r>
            <a:r>
              <a:rPr dirty="0" sz="2750" spc="-35">
                <a:latin typeface="Arial"/>
                <a:cs typeface="Arial"/>
              </a:rPr>
              <a:t>to</a:t>
            </a:r>
            <a:r>
              <a:rPr dirty="0" sz="2750" spc="-130">
                <a:latin typeface="Arial"/>
                <a:cs typeface="Arial"/>
              </a:rPr>
              <a:t> </a:t>
            </a:r>
            <a:r>
              <a:rPr dirty="0" sz="2750" spc="-180">
                <a:latin typeface="Arial"/>
                <a:cs typeface="Arial"/>
              </a:rPr>
              <a:t>Large</a:t>
            </a:r>
            <a:r>
              <a:rPr dirty="0" sz="2750" spc="30">
                <a:latin typeface="Arial"/>
                <a:cs typeface="Arial"/>
              </a:rPr>
              <a:t> </a:t>
            </a:r>
            <a:r>
              <a:rPr dirty="0" sz="2750" spc="-165">
                <a:latin typeface="Arial"/>
                <a:cs typeface="Arial"/>
              </a:rPr>
              <a:t>Action</a:t>
            </a:r>
            <a:r>
              <a:rPr dirty="0" sz="2750" spc="-70">
                <a:latin typeface="Arial"/>
                <a:cs typeface="Arial"/>
              </a:rPr>
              <a:t> </a:t>
            </a:r>
            <a:r>
              <a:rPr dirty="0" sz="2750" spc="-10">
                <a:latin typeface="Arial"/>
                <a:cs typeface="Arial"/>
              </a:rPr>
              <a:t>Models </a:t>
            </a:r>
            <a:r>
              <a:rPr dirty="0" sz="2850" spc="-310">
                <a:latin typeface="Arial"/>
                <a:cs typeface="Arial"/>
              </a:rPr>
              <a:t>(LAMs)</a:t>
            </a:r>
            <a:r>
              <a:rPr dirty="0" sz="2850" spc="165">
                <a:latin typeface="Arial"/>
                <a:cs typeface="Arial"/>
              </a:rPr>
              <a:t> </a:t>
            </a:r>
            <a:r>
              <a:rPr dirty="0" sz="2850" spc="-275">
                <a:latin typeface="Arial"/>
                <a:cs typeface="Arial"/>
              </a:rPr>
              <a:t>and</a:t>
            </a:r>
            <a:r>
              <a:rPr dirty="0" sz="2850" spc="-70">
                <a:latin typeface="Arial"/>
                <a:cs typeface="Arial"/>
              </a:rPr>
              <a:t> </a:t>
            </a:r>
            <a:r>
              <a:rPr dirty="0" sz="2850" spc="-175">
                <a:latin typeface="Arial"/>
                <a:cs typeface="Arial"/>
              </a:rPr>
              <a:t>multi-</a:t>
            </a:r>
            <a:r>
              <a:rPr dirty="0" sz="2850" spc="-165">
                <a:latin typeface="Arial"/>
                <a:cs typeface="Arial"/>
              </a:rPr>
              <a:t>agent</a:t>
            </a:r>
            <a:r>
              <a:rPr dirty="0" sz="2850" spc="125">
                <a:latin typeface="Arial"/>
                <a:cs typeface="Arial"/>
              </a:rPr>
              <a:t> </a:t>
            </a:r>
            <a:r>
              <a:rPr dirty="0" sz="2850" spc="-180">
                <a:latin typeface="Arial"/>
                <a:cs typeface="Arial"/>
              </a:rPr>
              <a:t>systems.</a:t>
            </a:r>
            <a:endParaRPr sz="28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145171" y="3581752"/>
            <a:ext cx="1912620" cy="1170940"/>
          </a:xfrm>
          <a:prstGeom prst="rect">
            <a:avLst/>
          </a:prstGeom>
        </p:spPr>
        <p:txBody>
          <a:bodyPr wrap="square" lIns="0" tIns="89535" rIns="0" bIns="0" rtlCol="0" vert="horz">
            <a:spAutoFit/>
          </a:bodyPr>
          <a:lstStyle/>
          <a:p>
            <a:pPr marL="12700" marR="5080" indent="6350">
              <a:lnSpc>
                <a:spcPts val="2800"/>
              </a:lnSpc>
              <a:spcBef>
                <a:spcPts val="705"/>
              </a:spcBef>
            </a:pPr>
            <a:r>
              <a:rPr dirty="0" sz="2850">
                <a:latin typeface="Arial"/>
                <a:cs typeface="Arial"/>
              </a:rPr>
              <a:t>Multi-</a:t>
            </a:r>
            <a:r>
              <a:rPr dirty="0" sz="2850" spc="-10">
                <a:latin typeface="Arial"/>
                <a:cs typeface="Arial"/>
              </a:rPr>
              <a:t>Agent Systems: Interacting</a:t>
            </a:r>
            <a:endParaRPr sz="28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365980" y="7596010"/>
            <a:ext cx="4732655" cy="1539240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marL="12700" marR="5080" indent="9525">
              <a:lnSpc>
                <a:spcPct val="94700"/>
              </a:lnSpc>
              <a:spcBef>
                <a:spcPts val="305"/>
              </a:spcBef>
            </a:pPr>
            <a:r>
              <a:rPr dirty="0" sz="2600" spc="-95">
                <a:latin typeface="Arial"/>
                <a:cs typeface="Arial"/>
              </a:rPr>
              <a:t>Autonomous</a:t>
            </a:r>
            <a:r>
              <a:rPr dirty="0" sz="2600" spc="-15">
                <a:latin typeface="Arial"/>
                <a:cs typeface="Arial"/>
              </a:rPr>
              <a:t> </a:t>
            </a:r>
            <a:r>
              <a:rPr dirty="0" sz="2600" spc="-105">
                <a:latin typeface="Arial"/>
                <a:cs typeface="Arial"/>
              </a:rPr>
              <a:t>Execution:</a:t>
            </a:r>
            <a:r>
              <a:rPr dirty="0" sz="2600" spc="-75">
                <a:latin typeface="Arial"/>
                <a:cs typeface="Arial"/>
              </a:rPr>
              <a:t> </a:t>
            </a:r>
            <a:r>
              <a:rPr dirty="0" sz="2600" spc="-120">
                <a:latin typeface="Arial"/>
                <a:cs typeface="Arial"/>
              </a:rPr>
              <a:t>Enable</a:t>
            </a:r>
            <a:r>
              <a:rPr dirty="0" sz="2600" spc="20">
                <a:latin typeface="Arial"/>
                <a:cs typeface="Arial"/>
              </a:rPr>
              <a:t> </a:t>
            </a:r>
            <a:r>
              <a:rPr dirty="0" sz="2600" spc="-25">
                <a:latin typeface="Arial"/>
                <a:cs typeface="Arial"/>
              </a:rPr>
              <a:t>AI </a:t>
            </a:r>
            <a:r>
              <a:rPr dirty="0" sz="2550">
                <a:latin typeface="Arial"/>
                <a:cs typeface="Arial"/>
              </a:rPr>
              <a:t>to</a:t>
            </a:r>
            <a:r>
              <a:rPr dirty="0" sz="2550" spc="-120">
                <a:latin typeface="Arial"/>
                <a:cs typeface="Arial"/>
              </a:rPr>
              <a:t> </a:t>
            </a:r>
            <a:r>
              <a:rPr dirty="0" sz="2550" spc="-60">
                <a:latin typeface="Arial"/>
                <a:cs typeface="Arial"/>
              </a:rPr>
              <a:t>autonomously</a:t>
            </a:r>
            <a:r>
              <a:rPr dirty="0" sz="2550" spc="185">
                <a:latin typeface="Arial"/>
                <a:cs typeface="Arial"/>
              </a:rPr>
              <a:t> </a:t>
            </a:r>
            <a:r>
              <a:rPr dirty="0" sz="2550" spc="-70">
                <a:latin typeface="Arial"/>
                <a:cs typeface="Arial"/>
              </a:rPr>
              <a:t>execute</a:t>
            </a:r>
            <a:r>
              <a:rPr dirty="0" sz="2550" spc="-110">
                <a:latin typeface="Arial"/>
                <a:cs typeface="Arial"/>
              </a:rPr>
              <a:t> </a:t>
            </a:r>
            <a:r>
              <a:rPr dirty="0" sz="2550" spc="-40">
                <a:latin typeface="Arial"/>
                <a:cs typeface="Arial"/>
              </a:rPr>
              <a:t>complex </a:t>
            </a:r>
            <a:r>
              <a:rPr dirty="0" sz="2550" spc="-20">
                <a:latin typeface="Arial"/>
                <a:cs typeface="Arial"/>
              </a:rPr>
              <a:t>workflows</a:t>
            </a:r>
            <a:r>
              <a:rPr dirty="0" sz="2550" spc="30">
                <a:latin typeface="Arial"/>
                <a:cs typeface="Arial"/>
              </a:rPr>
              <a:t> </a:t>
            </a:r>
            <a:r>
              <a:rPr dirty="0" sz="2550" spc="-55">
                <a:latin typeface="Arial"/>
                <a:cs typeface="Arial"/>
              </a:rPr>
              <a:t>based</a:t>
            </a:r>
            <a:r>
              <a:rPr dirty="0" sz="2550" spc="-125">
                <a:latin typeface="Arial"/>
                <a:cs typeface="Arial"/>
              </a:rPr>
              <a:t> </a:t>
            </a:r>
            <a:r>
              <a:rPr dirty="0" sz="2550">
                <a:latin typeface="Arial"/>
                <a:cs typeface="Arial"/>
              </a:rPr>
              <a:t>on</a:t>
            </a:r>
            <a:r>
              <a:rPr dirty="0" sz="2550" spc="-180">
                <a:latin typeface="Arial"/>
                <a:cs typeface="Arial"/>
              </a:rPr>
              <a:t> </a:t>
            </a:r>
            <a:r>
              <a:rPr dirty="0" sz="2550" spc="-25">
                <a:latin typeface="Arial"/>
                <a:cs typeface="Arial"/>
              </a:rPr>
              <a:t>the </a:t>
            </a:r>
            <a:r>
              <a:rPr dirty="0" sz="2600" spc="-85">
                <a:latin typeface="Arial"/>
                <a:cs typeface="Arial"/>
              </a:rPr>
              <a:t>harmonized</a:t>
            </a:r>
            <a:r>
              <a:rPr dirty="0" sz="2600" spc="-40">
                <a:latin typeface="Arial"/>
                <a:cs typeface="Arial"/>
              </a:rPr>
              <a:t> </a:t>
            </a:r>
            <a:r>
              <a:rPr dirty="0" sz="2600" spc="-75">
                <a:latin typeface="Arial"/>
                <a:cs typeface="Arial"/>
              </a:rPr>
              <a:t>knowledge</a:t>
            </a:r>
            <a:r>
              <a:rPr dirty="0" sz="2600" spc="-90">
                <a:latin typeface="Arial"/>
                <a:cs typeface="Arial"/>
              </a:rPr>
              <a:t> </a:t>
            </a:r>
            <a:r>
              <a:rPr dirty="0" sz="2600" spc="-10">
                <a:latin typeface="Arial"/>
                <a:cs typeface="Arial"/>
              </a:rPr>
              <a:t>graph.</a:t>
            </a:r>
            <a:endParaRPr sz="26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245109" y="2527652"/>
            <a:ext cx="2480945" cy="4597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50" spc="-60">
                <a:latin typeface="Arial"/>
                <a:cs typeface="Arial"/>
              </a:rPr>
              <a:t>LAM:</a:t>
            </a:r>
            <a:r>
              <a:rPr dirty="0" sz="2850" spc="-190">
                <a:latin typeface="Arial"/>
                <a:cs typeface="Arial"/>
              </a:rPr>
              <a:t> </a:t>
            </a:r>
            <a:r>
              <a:rPr dirty="0" sz="2850" spc="-25">
                <a:latin typeface="Arial"/>
                <a:cs typeface="Arial"/>
              </a:rPr>
              <a:t>Executing</a:t>
            </a:r>
            <a:endParaRPr sz="28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846031" y="7201252"/>
            <a:ext cx="5004435" cy="1939289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12700" marR="5080" indent="6985">
              <a:lnSpc>
                <a:spcPct val="88700"/>
              </a:lnSpc>
              <a:spcBef>
                <a:spcPts val="480"/>
              </a:spcBef>
            </a:pPr>
            <a:r>
              <a:rPr dirty="0" sz="2850" spc="-204">
                <a:latin typeface="Arial"/>
                <a:cs typeface="Arial"/>
              </a:rPr>
              <a:t>The</a:t>
            </a:r>
            <a:r>
              <a:rPr dirty="0" sz="2850" spc="-225">
                <a:latin typeface="Arial"/>
                <a:cs typeface="Arial"/>
              </a:rPr>
              <a:t> </a:t>
            </a:r>
            <a:r>
              <a:rPr dirty="0" sz="2850" spc="-275">
                <a:latin typeface="Arial"/>
                <a:cs typeface="Arial"/>
              </a:rPr>
              <a:t>Gaia</a:t>
            </a:r>
            <a:r>
              <a:rPr dirty="0" sz="2850" spc="-130">
                <a:latin typeface="Arial"/>
                <a:cs typeface="Arial"/>
              </a:rPr>
              <a:t> </a:t>
            </a:r>
            <a:r>
              <a:rPr dirty="0" sz="2850" spc="-125">
                <a:latin typeface="Arial"/>
                <a:cs typeface="Arial"/>
              </a:rPr>
              <a:t>Platform:</a:t>
            </a:r>
            <a:r>
              <a:rPr dirty="0" sz="2850" spc="-40">
                <a:latin typeface="Arial"/>
                <a:cs typeface="Arial"/>
              </a:rPr>
              <a:t> </a:t>
            </a:r>
            <a:r>
              <a:rPr dirty="0" sz="2850" spc="-90">
                <a:latin typeface="Arial"/>
                <a:cs typeface="Arial"/>
              </a:rPr>
              <a:t>Specifically </a:t>
            </a:r>
            <a:r>
              <a:rPr dirty="0" sz="2700" spc="-85">
                <a:latin typeface="Arial"/>
                <a:cs typeface="Arial"/>
              </a:rPr>
              <a:t>target</a:t>
            </a:r>
            <a:r>
              <a:rPr dirty="0" sz="2700" spc="-90">
                <a:latin typeface="Arial"/>
                <a:cs typeface="Arial"/>
              </a:rPr>
              <a:t> </a:t>
            </a:r>
            <a:r>
              <a:rPr dirty="0" sz="2700" spc="-50">
                <a:latin typeface="Arial"/>
                <a:cs typeface="Arial"/>
              </a:rPr>
              <a:t>the</a:t>
            </a:r>
            <a:r>
              <a:rPr dirty="0" sz="2700" spc="-135">
                <a:latin typeface="Arial"/>
                <a:cs typeface="Arial"/>
              </a:rPr>
              <a:t> </a:t>
            </a:r>
            <a:r>
              <a:rPr dirty="0" sz="2700" spc="-125">
                <a:latin typeface="Arial"/>
                <a:cs typeface="Arial"/>
              </a:rPr>
              <a:t>automation</a:t>
            </a:r>
            <a:r>
              <a:rPr dirty="0" sz="2700" spc="-15">
                <a:latin typeface="Arial"/>
                <a:cs typeface="Arial"/>
              </a:rPr>
              <a:t> </a:t>
            </a:r>
            <a:r>
              <a:rPr dirty="0" sz="2700" spc="-50">
                <a:latin typeface="Arial"/>
                <a:cs typeface="Arial"/>
              </a:rPr>
              <a:t>of</a:t>
            </a:r>
            <a:r>
              <a:rPr dirty="0" sz="2700" spc="-120">
                <a:latin typeface="Arial"/>
                <a:cs typeface="Arial"/>
              </a:rPr>
              <a:t> </a:t>
            </a:r>
            <a:r>
              <a:rPr dirty="0" sz="2700" spc="-95">
                <a:latin typeface="Arial"/>
                <a:cs typeface="Arial"/>
              </a:rPr>
              <a:t>clinical</a:t>
            </a:r>
            <a:r>
              <a:rPr dirty="0" sz="2700" spc="-60">
                <a:latin typeface="Arial"/>
                <a:cs typeface="Arial"/>
              </a:rPr>
              <a:t> </a:t>
            </a:r>
            <a:r>
              <a:rPr dirty="0" sz="2700" spc="-90">
                <a:latin typeface="Arial"/>
                <a:cs typeface="Arial"/>
              </a:rPr>
              <a:t>and </a:t>
            </a:r>
            <a:r>
              <a:rPr dirty="0" sz="2700" spc="-95">
                <a:latin typeface="Arial"/>
                <a:cs typeface="Arial"/>
              </a:rPr>
              <a:t>regulatory</a:t>
            </a:r>
            <a:r>
              <a:rPr dirty="0" sz="2700" spc="-25">
                <a:latin typeface="Arial"/>
                <a:cs typeface="Arial"/>
              </a:rPr>
              <a:t> </a:t>
            </a:r>
            <a:r>
              <a:rPr dirty="0" sz="2700" spc="-130">
                <a:latin typeface="Arial"/>
                <a:cs typeface="Arial"/>
              </a:rPr>
              <a:t>document</a:t>
            </a:r>
            <a:r>
              <a:rPr dirty="0" sz="2700" spc="-50">
                <a:latin typeface="Arial"/>
                <a:cs typeface="Arial"/>
              </a:rPr>
              <a:t> </a:t>
            </a:r>
            <a:r>
              <a:rPr dirty="0" sz="2700" spc="-35">
                <a:latin typeface="Arial"/>
                <a:cs typeface="Arial"/>
              </a:rPr>
              <a:t>generation, </a:t>
            </a:r>
            <a:r>
              <a:rPr dirty="0" sz="2700" spc="-110">
                <a:latin typeface="Arial"/>
                <a:cs typeface="Arial"/>
              </a:rPr>
              <a:t>fundamentally</a:t>
            </a:r>
            <a:r>
              <a:rPr dirty="0" sz="2700" spc="-5">
                <a:latin typeface="Arial"/>
                <a:cs typeface="Arial"/>
              </a:rPr>
              <a:t> </a:t>
            </a:r>
            <a:r>
              <a:rPr dirty="0" sz="2700" spc="-95">
                <a:latin typeface="Arial"/>
                <a:cs typeface="Arial"/>
              </a:rPr>
              <a:t>altering</a:t>
            </a:r>
            <a:r>
              <a:rPr dirty="0" sz="2700" spc="-75">
                <a:latin typeface="Arial"/>
                <a:cs typeface="Arial"/>
              </a:rPr>
              <a:t> </a:t>
            </a:r>
            <a:r>
              <a:rPr dirty="0" sz="2700" spc="-95">
                <a:latin typeface="Arial"/>
                <a:cs typeface="Arial"/>
              </a:rPr>
              <a:t>the</a:t>
            </a:r>
            <a:r>
              <a:rPr dirty="0" sz="2700" spc="-90">
                <a:latin typeface="Arial"/>
                <a:cs typeface="Arial"/>
              </a:rPr>
              <a:t> </a:t>
            </a:r>
            <a:r>
              <a:rPr dirty="0" sz="2700" spc="-145">
                <a:latin typeface="Arial"/>
                <a:cs typeface="Arial"/>
              </a:rPr>
              <a:t>speed</a:t>
            </a:r>
            <a:r>
              <a:rPr dirty="0" sz="2700" spc="-45">
                <a:latin typeface="Arial"/>
                <a:cs typeface="Arial"/>
              </a:rPr>
              <a:t> </a:t>
            </a:r>
            <a:r>
              <a:rPr dirty="0" sz="2700" spc="-25">
                <a:latin typeface="Arial"/>
                <a:cs typeface="Arial"/>
              </a:rPr>
              <a:t>of </a:t>
            </a:r>
            <a:r>
              <a:rPr dirty="0" sz="2850" spc="-235">
                <a:latin typeface="Arial"/>
                <a:cs typeface="Arial"/>
              </a:rPr>
              <a:t>compliance</a:t>
            </a:r>
            <a:r>
              <a:rPr dirty="0" sz="2850" spc="90">
                <a:latin typeface="Arial"/>
                <a:cs typeface="Arial"/>
              </a:rPr>
              <a:t> </a:t>
            </a:r>
            <a:r>
              <a:rPr dirty="0" sz="2850" spc="-250">
                <a:latin typeface="Arial"/>
                <a:cs typeface="Arial"/>
              </a:rPr>
              <a:t>and</a:t>
            </a:r>
            <a:r>
              <a:rPr dirty="0" sz="2850" spc="-150">
                <a:latin typeface="Arial"/>
                <a:cs typeface="Arial"/>
              </a:rPr>
              <a:t> </a:t>
            </a:r>
            <a:r>
              <a:rPr dirty="0" sz="2850" spc="-50">
                <a:latin typeface="Arial"/>
                <a:cs typeface="Arial"/>
              </a:rPr>
              <a:t>reporting.</a:t>
            </a:r>
            <a:endParaRPr sz="28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6114293" y="9439980"/>
            <a:ext cx="1225550" cy="226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>
                <a:latin typeface="Arial"/>
                <a:cs typeface="Arial"/>
              </a:rPr>
              <a:t>W</a:t>
            </a:r>
            <a:r>
              <a:rPr dirty="0" sz="1300" spc="220">
                <a:latin typeface="Arial"/>
                <a:cs typeface="Arial"/>
              </a:rPr>
              <a:t> </a:t>
            </a:r>
            <a:r>
              <a:rPr dirty="0" sz="1300" spc="-10">
                <a:latin typeface="Arial"/>
                <a:cs typeface="Arial"/>
              </a:rPr>
              <a:t>NotebookLM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19014" y="558094"/>
            <a:ext cx="8180070" cy="2372995"/>
          </a:xfrm>
          <a:prstGeom prst="rect"/>
        </p:spPr>
        <p:txBody>
          <a:bodyPr wrap="square" lIns="0" tIns="118745" rIns="0" bIns="0" rtlCol="0" vert="horz">
            <a:spAutoFit/>
          </a:bodyPr>
          <a:lstStyle/>
          <a:p>
            <a:pPr marL="12700" marR="5080" indent="5715">
              <a:lnSpc>
                <a:spcPts val="5900"/>
              </a:lnSpc>
              <a:spcBef>
                <a:spcPts val="935"/>
              </a:spcBef>
            </a:pPr>
            <a:r>
              <a:rPr dirty="0" sz="5550" spc="-300">
                <a:solidFill>
                  <a:srgbClr val="000C31"/>
                </a:solidFill>
              </a:rPr>
              <a:t>A</a:t>
            </a:r>
            <a:r>
              <a:rPr dirty="0" sz="5550" spc="-320">
                <a:solidFill>
                  <a:srgbClr val="000C31"/>
                </a:solidFill>
              </a:rPr>
              <a:t> </a:t>
            </a:r>
            <a:r>
              <a:rPr dirty="0" sz="5550" spc="-190">
                <a:solidFill>
                  <a:srgbClr val="071338"/>
                </a:solidFill>
              </a:rPr>
              <a:t>Fully</a:t>
            </a:r>
            <a:r>
              <a:rPr dirty="0" sz="5550" spc="-220">
                <a:solidFill>
                  <a:srgbClr val="071338"/>
                </a:solidFill>
              </a:rPr>
              <a:t> </a:t>
            </a:r>
            <a:r>
              <a:rPr dirty="0" sz="5550" spc="-175">
                <a:solidFill>
                  <a:srgbClr val="031334"/>
                </a:solidFill>
              </a:rPr>
              <a:t>Realized</a:t>
            </a:r>
            <a:r>
              <a:rPr dirty="0" sz="5550" spc="-180">
                <a:solidFill>
                  <a:srgbClr val="031334"/>
                </a:solidFill>
              </a:rPr>
              <a:t> </a:t>
            </a:r>
            <a:r>
              <a:rPr dirty="0" sz="5550" spc="-150">
                <a:solidFill>
                  <a:srgbClr val="081134"/>
                </a:solidFill>
              </a:rPr>
              <a:t>Ecosystem </a:t>
            </a:r>
            <a:r>
              <a:rPr dirty="0" sz="5700" spc="-275">
                <a:solidFill>
                  <a:srgbClr val="0A1533"/>
                </a:solidFill>
              </a:rPr>
              <a:t>Powering</a:t>
            </a:r>
            <a:r>
              <a:rPr dirty="0" sz="5700" spc="55">
                <a:solidFill>
                  <a:srgbClr val="0A1533"/>
                </a:solidFill>
              </a:rPr>
              <a:t> </a:t>
            </a:r>
            <a:r>
              <a:rPr dirty="0" sz="5700" spc="-90">
                <a:solidFill>
                  <a:srgbClr val="081336"/>
                </a:solidFill>
              </a:rPr>
              <a:t>the</a:t>
            </a:r>
            <a:r>
              <a:rPr dirty="0" sz="5700" spc="-400">
                <a:solidFill>
                  <a:srgbClr val="081336"/>
                </a:solidFill>
              </a:rPr>
              <a:t> </a:t>
            </a:r>
            <a:r>
              <a:rPr dirty="0" sz="5700" spc="-229">
                <a:solidFill>
                  <a:srgbClr val="010C2A"/>
                </a:solidFill>
              </a:rPr>
              <a:t>Future</a:t>
            </a:r>
            <a:r>
              <a:rPr dirty="0" sz="5700" spc="-180">
                <a:solidFill>
                  <a:srgbClr val="010C2A"/>
                </a:solidFill>
              </a:rPr>
              <a:t> </a:t>
            </a:r>
            <a:r>
              <a:rPr dirty="0" sz="5700" spc="-25">
                <a:solidFill>
                  <a:srgbClr val="03112D"/>
                </a:solidFill>
              </a:rPr>
              <a:t>of </a:t>
            </a:r>
            <a:r>
              <a:rPr dirty="0" sz="5600" spc="-195">
                <a:solidFill>
                  <a:srgbClr val="051134"/>
                </a:solidFill>
              </a:rPr>
              <a:t>Drug</a:t>
            </a:r>
            <a:r>
              <a:rPr dirty="0" sz="5600" spc="-180">
                <a:solidFill>
                  <a:srgbClr val="051134"/>
                </a:solidFill>
              </a:rPr>
              <a:t> </a:t>
            </a:r>
            <a:r>
              <a:rPr dirty="0" sz="5600" spc="-75">
                <a:solidFill>
                  <a:srgbClr val="050F2F"/>
                </a:solidFill>
              </a:rPr>
              <a:t>Discovery</a:t>
            </a:r>
            <a:endParaRPr sz="5600"/>
          </a:p>
        </p:txBody>
      </p:sp>
      <p:sp>
        <p:nvSpPr>
          <p:cNvPr id="3" name="object 3"/>
          <p:cNvSpPr txBox="1"/>
          <p:nvPr/>
        </p:nvSpPr>
        <p:spPr>
          <a:xfrm>
            <a:off x="713352" y="7066139"/>
            <a:ext cx="4302760" cy="136715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600" spc="-100">
                <a:solidFill>
                  <a:srgbClr val="030F23"/>
                </a:solidFill>
                <a:latin typeface="Arial"/>
                <a:cs typeface="Arial"/>
              </a:rPr>
              <a:t>The</a:t>
            </a:r>
            <a:r>
              <a:rPr dirty="0" sz="3600" spc="-150">
                <a:solidFill>
                  <a:srgbClr val="030F23"/>
                </a:solidFill>
                <a:latin typeface="Arial"/>
                <a:cs typeface="Arial"/>
              </a:rPr>
              <a:t> </a:t>
            </a:r>
            <a:r>
              <a:rPr dirty="0" sz="3600" spc="-90">
                <a:solidFill>
                  <a:srgbClr val="0A0A0A"/>
                </a:solidFill>
                <a:latin typeface="Arial"/>
                <a:cs typeface="Arial"/>
              </a:rPr>
              <a:t>Result</a:t>
            </a:r>
            <a:r>
              <a:rPr dirty="0" sz="3600" spc="-160">
                <a:solidFill>
                  <a:srgbClr val="0A0A0A"/>
                </a:solidFill>
                <a:latin typeface="Arial"/>
                <a:cs typeface="Arial"/>
              </a:rPr>
              <a:t> </a:t>
            </a:r>
            <a:r>
              <a:rPr dirty="0" sz="3600">
                <a:solidFill>
                  <a:srgbClr val="050C28"/>
                </a:solidFill>
                <a:latin typeface="Arial"/>
                <a:cs typeface="Arial"/>
              </a:rPr>
              <a:t>of</a:t>
            </a:r>
            <a:r>
              <a:rPr dirty="0" sz="3600" spc="-55">
                <a:solidFill>
                  <a:srgbClr val="050C28"/>
                </a:solidFill>
                <a:latin typeface="Arial"/>
                <a:cs typeface="Arial"/>
              </a:rPr>
              <a:t> </a:t>
            </a:r>
            <a:r>
              <a:rPr dirty="0" sz="3600" spc="-20">
                <a:solidFill>
                  <a:srgbClr val="010A28"/>
                </a:solidFill>
                <a:latin typeface="Arial"/>
                <a:cs typeface="Arial"/>
              </a:rPr>
              <a:t>ARCH</a:t>
            </a:r>
            <a:endParaRPr sz="3600">
              <a:latin typeface="Arial"/>
              <a:cs typeface="Arial"/>
            </a:endParaRPr>
          </a:p>
          <a:p>
            <a:pPr marL="22860">
              <a:lnSpc>
                <a:spcPts val="2375"/>
              </a:lnSpc>
              <a:spcBef>
                <a:spcPts val="1480"/>
              </a:spcBef>
            </a:pPr>
            <a:r>
              <a:rPr dirty="0" sz="2000">
                <a:latin typeface="Trebuchet MS"/>
                <a:cs typeface="Trebuchet MS"/>
              </a:rPr>
              <a:t>A</a:t>
            </a:r>
            <a:r>
              <a:rPr dirty="0" sz="2000" spc="-55">
                <a:latin typeface="Trebuchet MS"/>
                <a:cs typeface="Trebuchet MS"/>
              </a:rPr>
              <a:t> </a:t>
            </a:r>
            <a:r>
              <a:rPr dirty="0" sz="2000" spc="-35">
                <a:latin typeface="Trebuchet MS"/>
                <a:cs typeface="Trebuchet MS"/>
              </a:rPr>
              <a:t>seamlessly</a:t>
            </a:r>
            <a:r>
              <a:rPr dirty="0" sz="2000">
                <a:latin typeface="Trebuchet MS"/>
                <a:cs typeface="Trebuchet MS"/>
              </a:rPr>
              <a:t> </a:t>
            </a:r>
            <a:r>
              <a:rPr dirty="0" sz="2000" spc="-95">
                <a:latin typeface="Trebuchet MS"/>
                <a:cs typeface="Trebuchet MS"/>
              </a:rPr>
              <a:t>integrated,</a:t>
            </a:r>
            <a:r>
              <a:rPr dirty="0" sz="2000" spc="-35">
                <a:latin typeface="Trebuchet MS"/>
                <a:cs typeface="Trebuchet MS"/>
              </a:rPr>
              <a:t> </a:t>
            </a:r>
            <a:r>
              <a:rPr dirty="0" sz="2000" spc="-40">
                <a:latin typeface="Trebuchet MS"/>
                <a:cs typeface="Trebuchet MS"/>
              </a:rPr>
              <a:t>zero-data-</a:t>
            </a:r>
            <a:r>
              <a:rPr dirty="0" sz="2000" spc="-20">
                <a:latin typeface="Trebuchet MS"/>
                <a:cs typeface="Trebuchet MS"/>
              </a:rPr>
              <a:t>loss</a:t>
            </a:r>
            <a:endParaRPr sz="2000">
              <a:latin typeface="Trebuchet MS"/>
              <a:cs typeface="Trebuchet MS"/>
            </a:endParaRPr>
          </a:p>
          <a:p>
            <a:pPr marL="13335">
              <a:lnSpc>
                <a:spcPts val="2375"/>
              </a:lnSpc>
            </a:pPr>
            <a:r>
              <a:rPr dirty="0" sz="2000" spc="-60">
                <a:latin typeface="Arial"/>
                <a:cs typeface="Arial"/>
              </a:rPr>
              <a:t>environment</a:t>
            </a:r>
            <a:r>
              <a:rPr dirty="0" sz="2000" spc="20">
                <a:latin typeface="Arial"/>
                <a:cs typeface="Arial"/>
              </a:rPr>
              <a:t> </a:t>
            </a:r>
            <a:r>
              <a:rPr dirty="0" sz="2000" spc="-55">
                <a:latin typeface="Arial"/>
                <a:cs typeface="Arial"/>
              </a:rPr>
              <a:t>powered</a:t>
            </a:r>
            <a:r>
              <a:rPr dirty="0" sz="2000" spc="-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by</a:t>
            </a:r>
            <a:r>
              <a:rPr dirty="0" sz="2000" spc="-11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MBSE.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13769" y="7066139"/>
            <a:ext cx="4747260" cy="167005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600" spc="-40">
                <a:solidFill>
                  <a:srgbClr val="01081F"/>
                </a:solidFill>
                <a:latin typeface="Arial"/>
                <a:cs typeface="Arial"/>
              </a:rPr>
              <a:t>Uncompromised</a:t>
            </a:r>
            <a:r>
              <a:rPr dirty="0" sz="3600" spc="-135">
                <a:solidFill>
                  <a:srgbClr val="01081F"/>
                </a:solidFill>
                <a:latin typeface="Arial"/>
                <a:cs typeface="Arial"/>
              </a:rPr>
              <a:t> </a:t>
            </a:r>
            <a:r>
              <a:rPr dirty="0" sz="3600" spc="-25">
                <a:solidFill>
                  <a:srgbClr val="010826"/>
                </a:solidFill>
                <a:latin typeface="Arial"/>
                <a:cs typeface="Arial"/>
              </a:rPr>
              <a:t>AI</a:t>
            </a:r>
            <a:endParaRPr sz="3600">
              <a:latin typeface="Arial"/>
              <a:cs typeface="Arial"/>
            </a:endParaRPr>
          </a:p>
          <a:p>
            <a:pPr marL="15240" marR="5080" indent="8255">
              <a:lnSpc>
                <a:spcPct val="100000"/>
              </a:lnSpc>
              <a:spcBef>
                <a:spcPts val="1480"/>
              </a:spcBef>
            </a:pPr>
            <a:r>
              <a:rPr dirty="0" sz="2000" spc="-285">
                <a:latin typeface="Arial"/>
                <a:cs typeface="Arial"/>
              </a:rPr>
              <a:t>A</a:t>
            </a:r>
            <a:r>
              <a:rPr dirty="0" sz="2000" spc="45">
                <a:latin typeface="Arial"/>
                <a:cs typeface="Arial"/>
              </a:rPr>
              <a:t> </a:t>
            </a:r>
            <a:r>
              <a:rPr dirty="0" sz="2000" spc="-20">
                <a:latin typeface="Arial"/>
                <a:cs typeface="Arial"/>
              </a:rPr>
              <a:t>platform</a:t>
            </a:r>
            <a:r>
              <a:rPr dirty="0" sz="2000" spc="-90">
                <a:latin typeface="Arial"/>
                <a:cs typeface="Arial"/>
              </a:rPr>
              <a:t> </a:t>
            </a:r>
            <a:r>
              <a:rPr dirty="0" sz="2000" spc="-75">
                <a:latin typeface="Arial"/>
                <a:cs typeface="Arial"/>
              </a:rPr>
              <a:t>where</a:t>
            </a:r>
            <a:r>
              <a:rPr dirty="0" sz="2000" spc="-65">
                <a:latin typeface="Arial"/>
                <a:cs typeface="Arial"/>
              </a:rPr>
              <a:t> </a:t>
            </a:r>
            <a:r>
              <a:rPr dirty="0" sz="2000" spc="-30">
                <a:latin typeface="Arial"/>
                <a:cs typeface="Arial"/>
              </a:rPr>
              <a:t>every</a:t>
            </a:r>
            <a:r>
              <a:rPr dirty="0" sz="2000" spc="10">
                <a:latin typeface="Arial"/>
                <a:cs typeface="Arial"/>
              </a:rPr>
              <a:t> </a:t>
            </a:r>
            <a:r>
              <a:rPr dirty="0" sz="2000" spc="-150">
                <a:latin typeface="Arial"/>
                <a:cs typeface="Arial"/>
              </a:rPr>
              <a:t>AI</a:t>
            </a:r>
            <a:r>
              <a:rPr dirty="0" sz="2000" spc="-110">
                <a:latin typeface="Arial"/>
                <a:cs typeface="Arial"/>
              </a:rPr>
              <a:t> </a:t>
            </a:r>
            <a:r>
              <a:rPr dirty="0" sz="2000" spc="-30">
                <a:latin typeface="Arial"/>
                <a:cs typeface="Arial"/>
              </a:rPr>
              <a:t>interaction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 spc="-25">
                <a:latin typeface="Arial"/>
                <a:cs typeface="Arial"/>
              </a:rPr>
              <a:t>is </a:t>
            </a:r>
            <a:r>
              <a:rPr dirty="0" sz="2000" spc="-50">
                <a:latin typeface="Arial"/>
                <a:cs typeface="Arial"/>
              </a:rPr>
              <a:t>grounded</a:t>
            </a:r>
            <a:r>
              <a:rPr dirty="0" sz="2000" spc="-9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in</a:t>
            </a:r>
            <a:r>
              <a:rPr dirty="0" sz="2000" spc="-135">
                <a:latin typeface="Arial"/>
                <a:cs typeface="Arial"/>
              </a:rPr>
              <a:t> </a:t>
            </a:r>
            <a:r>
              <a:rPr dirty="0" sz="2000" spc="-45">
                <a:latin typeface="Arial"/>
                <a:cs typeface="Arial"/>
              </a:rPr>
              <a:t>absolute</a:t>
            </a:r>
            <a:r>
              <a:rPr dirty="0" sz="2000" spc="35">
                <a:latin typeface="Arial"/>
                <a:cs typeface="Arial"/>
              </a:rPr>
              <a:t> </a:t>
            </a:r>
            <a:r>
              <a:rPr dirty="0" sz="2000" spc="-55">
                <a:latin typeface="Arial"/>
                <a:cs typeface="Arial"/>
              </a:rPr>
              <a:t>semantic</a:t>
            </a:r>
            <a:r>
              <a:rPr dirty="0" sz="2000" spc="2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truth,</a:t>
            </a:r>
            <a:r>
              <a:rPr dirty="0" sz="2000" spc="-135">
                <a:latin typeface="Arial"/>
                <a:cs typeface="Arial"/>
              </a:rPr>
              <a:t> </a:t>
            </a:r>
            <a:r>
              <a:rPr dirty="0" sz="2000" spc="-20">
                <a:latin typeface="Arial"/>
                <a:cs typeface="Arial"/>
              </a:rPr>
              <a:t>free</a:t>
            </a:r>
            <a:r>
              <a:rPr dirty="0" sz="2000" spc="-120">
                <a:latin typeface="Arial"/>
                <a:cs typeface="Arial"/>
              </a:rPr>
              <a:t> </a:t>
            </a:r>
            <a:r>
              <a:rPr dirty="0" sz="2000" spc="-25">
                <a:solidFill>
                  <a:srgbClr val="161616"/>
                </a:solidFill>
                <a:latin typeface="Arial"/>
                <a:cs typeface="Arial"/>
              </a:rPr>
              <a:t>of </a:t>
            </a:r>
            <a:r>
              <a:rPr dirty="0" sz="1950">
                <a:latin typeface="Arial"/>
                <a:cs typeface="Arial"/>
              </a:rPr>
              <a:t>of</a:t>
            </a:r>
            <a:r>
              <a:rPr dirty="0" sz="1950" spc="40">
                <a:latin typeface="Arial"/>
                <a:cs typeface="Arial"/>
              </a:rPr>
              <a:t> </a:t>
            </a:r>
            <a:r>
              <a:rPr dirty="0" sz="1950" spc="-10">
                <a:latin typeface="Arial"/>
                <a:cs typeface="Arial"/>
              </a:rPr>
              <a:t>hallucinations.</a:t>
            </a:r>
            <a:endParaRPr sz="19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919012" y="6783871"/>
            <a:ext cx="4678680" cy="2256155"/>
          </a:xfrm>
          <a:prstGeom prst="rect">
            <a:avLst/>
          </a:prstGeom>
        </p:spPr>
        <p:txBody>
          <a:bodyPr wrap="square" lIns="0" tIns="295910" rIns="0" bIns="0" rtlCol="0" vert="horz">
            <a:spAutoFit/>
          </a:bodyPr>
          <a:lstStyle/>
          <a:p>
            <a:pPr marL="19685">
              <a:lnSpc>
                <a:spcPct val="100000"/>
              </a:lnSpc>
              <a:spcBef>
                <a:spcPts val="2330"/>
              </a:spcBef>
            </a:pPr>
            <a:r>
              <a:rPr dirty="0" sz="3600" spc="-45">
                <a:solidFill>
                  <a:srgbClr val="010A2A"/>
                </a:solidFill>
                <a:latin typeface="Arial"/>
                <a:cs typeface="Arial"/>
              </a:rPr>
              <a:t>Accelerated</a:t>
            </a:r>
            <a:r>
              <a:rPr dirty="0" sz="3600" spc="-160">
                <a:solidFill>
                  <a:srgbClr val="010A2A"/>
                </a:solidFill>
                <a:latin typeface="Arial"/>
                <a:cs typeface="Arial"/>
              </a:rPr>
              <a:t> </a:t>
            </a:r>
            <a:r>
              <a:rPr dirty="0" sz="3600" spc="-10">
                <a:solidFill>
                  <a:srgbClr val="070E2A"/>
                </a:solidFill>
                <a:latin typeface="Arial"/>
                <a:cs typeface="Arial"/>
              </a:rPr>
              <a:t>Impact</a:t>
            </a:r>
            <a:endParaRPr sz="3600">
              <a:latin typeface="Arial"/>
              <a:cs typeface="Arial"/>
            </a:endParaRPr>
          </a:p>
          <a:p>
            <a:pPr marL="13335" marR="5080" indent="-1270">
              <a:lnSpc>
                <a:spcPct val="91700"/>
              </a:lnSpc>
              <a:spcBef>
                <a:spcPts val="1545"/>
              </a:spcBef>
            </a:pPr>
            <a:r>
              <a:rPr dirty="0" sz="2150" spc="-145">
                <a:latin typeface="Arial"/>
                <a:cs typeface="Arial"/>
              </a:rPr>
              <a:t>Translating</a:t>
            </a:r>
            <a:r>
              <a:rPr dirty="0" sz="2150" spc="-5">
                <a:latin typeface="Arial"/>
                <a:cs typeface="Arial"/>
              </a:rPr>
              <a:t> </a:t>
            </a:r>
            <a:r>
              <a:rPr dirty="0" sz="2150" spc="-140">
                <a:latin typeface="Arial"/>
                <a:cs typeface="Arial"/>
              </a:rPr>
              <a:t>complex</a:t>
            </a:r>
            <a:r>
              <a:rPr dirty="0" sz="2150" spc="25">
                <a:latin typeface="Arial"/>
                <a:cs typeface="Arial"/>
              </a:rPr>
              <a:t> </a:t>
            </a:r>
            <a:r>
              <a:rPr dirty="0" sz="2150" spc="-105">
                <a:latin typeface="Arial"/>
                <a:cs typeface="Arial"/>
              </a:rPr>
              <a:t>biological</a:t>
            </a:r>
            <a:r>
              <a:rPr dirty="0" sz="2150" spc="75">
                <a:latin typeface="Arial"/>
                <a:cs typeface="Arial"/>
              </a:rPr>
              <a:t> </a:t>
            </a:r>
            <a:r>
              <a:rPr dirty="0" sz="2150" spc="-114">
                <a:latin typeface="Arial"/>
                <a:cs typeface="Arial"/>
              </a:rPr>
              <a:t>relationships </a:t>
            </a:r>
            <a:r>
              <a:rPr dirty="0" sz="2150" spc="-70">
                <a:latin typeface="Arial"/>
                <a:cs typeface="Arial"/>
              </a:rPr>
              <a:t>into</a:t>
            </a:r>
            <a:r>
              <a:rPr dirty="0" sz="2150" spc="-80">
                <a:latin typeface="Arial"/>
                <a:cs typeface="Arial"/>
              </a:rPr>
              <a:t> </a:t>
            </a:r>
            <a:r>
              <a:rPr dirty="0" sz="2150" spc="-130">
                <a:latin typeface="Arial"/>
                <a:cs typeface="Arial"/>
              </a:rPr>
              <a:t>accelerated</a:t>
            </a:r>
            <a:r>
              <a:rPr dirty="0" sz="2150" spc="90">
                <a:latin typeface="Arial"/>
                <a:cs typeface="Arial"/>
              </a:rPr>
              <a:t> </a:t>
            </a:r>
            <a:r>
              <a:rPr dirty="0" sz="2150" spc="-170">
                <a:latin typeface="Arial"/>
                <a:cs typeface="Arial"/>
              </a:rPr>
              <a:t>Clinical</a:t>
            </a:r>
            <a:r>
              <a:rPr dirty="0" sz="2150" spc="40">
                <a:latin typeface="Arial"/>
                <a:cs typeface="Arial"/>
              </a:rPr>
              <a:t> </a:t>
            </a:r>
            <a:r>
              <a:rPr dirty="0" sz="2150" spc="-100">
                <a:latin typeface="Arial"/>
                <a:cs typeface="Arial"/>
              </a:rPr>
              <a:t>trials,</a:t>
            </a:r>
            <a:r>
              <a:rPr dirty="0" sz="2150" spc="-60">
                <a:latin typeface="Arial"/>
                <a:cs typeface="Arial"/>
              </a:rPr>
              <a:t> </a:t>
            </a:r>
            <a:r>
              <a:rPr dirty="0" sz="2150" spc="-65">
                <a:latin typeface="Arial"/>
                <a:cs typeface="Arial"/>
              </a:rPr>
              <a:t>autonomous </a:t>
            </a:r>
            <a:r>
              <a:rPr dirty="0" sz="2150" spc="-100">
                <a:latin typeface="Arial"/>
                <a:cs typeface="Arial"/>
              </a:rPr>
              <a:t>workflows,</a:t>
            </a:r>
            <a:r>
              <a:rPr dirty="0" sz="2150" spc="-35">
                <a:latin typeface="Arial"/>
                <a:cs typeface="Arial"/>
              </a:rPr>
              <a:t> </a:t>
            </a:r>
            <a:r>
              <a:rPr dirty="0" sz="2150" spc="-180">
                <a:latin typeface="Arial"/>
                <a:cs typeface="Arial"/>
              </a:rPr>
              <a:t>and</a:t>
            </a:r>
            <a:r>
              <a:rPr dirty="0" sz="2150" spc="-85">
                <a:latin typeface="Arial"/>
                <a:cs typeface="Arial"/>
              </a:rPr>
              <a:t> </a:t>
            </a:r>
            <a:r>
              <a:rPr dirty="0" sz="2150" spc="-105">
                <a:latin typeface="Arial"/>
                <a:cs typeface="Arial"/>
              </a:rPr>
              <a:t>ultimately,</a:t>
            </a:r>
            <a:r>
              <a:rPr dirty="0" sz="2150" spc="25">
                <a:latin typeface="Arial"/>
                <a:cs typeface="Arial"/>
              </a:rPr>
              <a:t> </a:t>
            </a:r>
            <a:r>
              <a:rPr dirty="0" sz="2150" spc="-110">
                <a:latin typeface="Arial"/>
                <a:cs typeface="Arial"/>
              </a:rPr>
              <a:t>faster</a:t>
            </a:r>
            <a:r>
              <a:rPr dirty="0" sz="2150" spc="-10">
                <a:latin typeface="Arial"/>
                <a:cs typeface="Arial"/>
              </a:rPr>
              <a:t> </a:t>
            </a:r>
            <a:r>
              <a:rPr dirty="0" sz="2150" spc="-100">
                <a:latin typeface="Arial"/>
                <a:cs typeface="Arial"/>
              </a:rPr>
              <a:t>delivery</a:t>
            </a:r>
            <a:r>
              <a:rPr dirty="0" sz="2150" spc="-5">
                <a:latin typeface="Arial"/>
                <a:cs typeface="Arial"/>
              </a:rPr>
              <a:t> </a:t>
            </a:r>
            <a:r>
              <a:rPr dirty="0" sz="2150" spc="-40">
                <a:latin typeface="Arial"/>
                <a:cs typeface="Arial"/>
              </a:rPr>
              <a:t>of </a:t>
            </a:r>
            <a:r>
              <a:rPr dirty="0" sz="2150" spc="-95">
                <a:latin typeface="Arial"/>
                <a:cs typeface="Arial"/>
              </a:rPr>
              <a:t>life-</a:t>
            </a:r>
            <a:r>
              <a:rPr dirty="0" sz="2150" spc="-120">
                <a:latin typeface="Arial"/>
                <a:cs typeface="Arial"/>
              </a:rPr>
              <a:t>changing</a:t>
            </a:r>
            <a:r>
              <a:rPr dirty="0" sz="2150" spc="80">
                <a:latin typeface="Arial"/>
                <a:cs typeface="Arial"/>
              </a:rPr>
              <a:t> </a:t>
            </a:r>
            <a:r>
              <a:rPr dirty="0" sz="2150" spc="-120">
                <a:latin typeface="Arial"/>
                <a:cs typeface="Arial"/>
              </a:rPr>
              <a:t>treatments</a:t>
            </a:r>
            <a:r>
              <a:rPr dirty="0" sz="2150" spc="15">
                <a:latin typeface="Arial"/>
                <a:cs typeface="Arial"/>
              </a:rPr>
              <a:t> </a:t>
            </a:r>
            <a:r>
              <a:rPr dirty="0" sz="2150" spc="-80">
                <a:latin typeface="Arial"/>
                <a:cs typeface="Arial"/>
              </a:rPr>
              <a:t>to </a:t>
            </a:r>
            <a:r>
              <a:rPr dirty="0" sz="2150" spc="-10">
                <a:latin typeface="Arial"/>
                <a:cs typeface="Arial"/>
              </a:rPr>
              <a:t>patients.</a:t>
            </a:r>
            <a:endParaRPr sz="21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107423" y="9439980"/>
            <a:ext cx="1232535" cy="226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>
                <a:latin typeface="Arial"/>
                <a:cs typeface="Arial"/>
              </a:rPr>
              <a:t>G</a:t>
            </a:r>
            <a:r>
              <a:rPr dirty="0" sz="1300" spc="490">
                <a:latin typeface="Arial"/>
                <a:cs typeface="Arial"/>
              </a:rPr>
              <a:t> </a:t>
            </a:r>
            <a:r>
              <a:rPr dirty="0" sz="1300" spc="-10">
                <a:latin typeface="Arial"/>
                <a:cs typeface="Arial"/>
              </a:rPr>
              <a:t>NotebookLM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2026-03-03T18:40:09Z</dcterms:created>
  <dcterms:modified xsi:type="dcterms:W3CDTF">2026-03-03T18:40:09Z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2026-03-03T00:00:00Z</vt:filetime>
  </property>
  <property fmtid="{D5CDD505-2E9C-101B-9397-08002B2CF9AE}" pid="3" name="LastSaved">
    <vt:filetime>2026-03-03T00:00:00Z</vt:filetime>
  </property>
</Properties>
</file>
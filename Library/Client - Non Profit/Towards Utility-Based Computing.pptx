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9"/>
  </p:notesMasterIdLst>
  <p:handoutMasterIdLst>
    <p:handoutMasterId r:id="rId20"/>
  </p:handoutMasterIdLst>
  <p:sldIdLst>
    <p:sldId id="257" r:id="rId2"/>
    <p:sldId id="281" r:id="rId3"/>
    <p:sldId id="282" r:id="rId4"/>
    <p:sldId id="296" r:id="rId5"/>
    <p:sldId id="293" r:id="rId6"/>
    <p:sldId id="294" r:id="rId7"/>
    <p:sldId id="270" r:id="rId8"/>
    <p:sldId id="279" r:id="rId9"/>
    <p:sldId id="283" r:id="rId10"/>
    <p:sldId id="295" r:id="rId11"/>
    <p:sldId id="280" r:id="rId12"/>
    <p:sldId id="271" r:id="rId13"/>
    <p:sldId id="272" r:id="rId14"/>
    <p:sldId id="273" r:id="rId15"/>
    <p:sldId id="274" r:id="rId16"/>
    <p:sldId id="275" r:id="rId17"/>
    <p:sldId id="276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0DB8C4-3BD2-47FE-B88A-0472FB3FC17F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3D4289C-8493-4E63-AF53-D90E3BD50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EE55AA-28B4-4551-B527-B786BD651246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FDE667A-B541-42EB-AFA1-818156A26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cs typeface="+mn-cs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9F18F26-F0A7-4867-9B50-B61B56729298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9B1A13B-7143-457F-9A83-279316F5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761283-92D1-465A-A9DE-39C1FE64F1B0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EA57725-A5CD-4197-8D5F-07A59FCA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DB4570B-824E-4710-9FE7-4999F7678D30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D5D752D-DB20-4E61-9C42-04CC536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18F216-1DCA-4CBA-98DA-01F0A8D357B0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6D9F4F0-59D6-4DAE-9DC1-E2C1EA9AE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9276F0D-77EE-4E97-972A-77DC7C07586C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F7AB826-232E-4629-97E5-A4AD76A053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8403592-4301-49FE-AB1B-72F22E9A6758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00D9CA1-F449-4B62-9FEE-53124E9D8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ED000F-6DD7-4B8F-B405-AB2F688E2F27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EDD0FC1-BF73-4473-9C32-E5565BB691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3246C29-74FE-4BDE-BB7E-48B722A004D5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638F575-5C92-4641-AC7D-93565BB5F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E62F3E-EB45-4360-8B66-20490B5DFFFD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6879031-AAC8-4347-9B22-776558086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B29E5D2-6DAA-4C51-856A-06DF7B1863BD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9003868-752D-4AF2-80DC-EFC2BFBF8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C23AB1-A186-4D17-B0BE-DBDC6EFF55B7}" type="datetimeFigureOut">
              <a:rPr lang="en-US"/>
              <a:pPr>
                <a:defRPr/>
              </a:pPr>
              <a:t>10/6/2009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0CFA1D-0092-447C-A60E-2973D07A7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7772400" cy="1069975"/>
          </a:xfrm>
        </p:spPr>
        <p:txBody>
          <a:bodyPr/>
          <a:lstStyle/>
          <a:p>
            <a:pPr eaLnBrk="1" hangingPunct="1"/>
            <a:r>
              <a:rPr lang="en-US" b="1" dirty="0" smtClean="0"/>
              <a:t>Building the Pipeline </a:t>
            </a:r>
            <a:br>
              <a:rPr lang="en-US" b="1" dirty="0" smtClean="0"/>
            </a:br>
            <a:r>
              <a:rPr lang="en-US" b="1" dirty="0" smtClean="0"/>
              <a:t>for Enterprise Services</a:t>
            </a:r>
            <a:endParaRPr lang="en-US" b="1" dirty="0" smtClean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962400"/>
            <a:ext cx="3200400" cy="1152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List of Ideas</a:t>
            </a:r>
            <a:endParaRPr lang="en-US" sz="2400" dirty="0" smtClean="0"/>
          </a:p>
          <a:p>
            <a:pPr lvl="0"/>
            <a:r>
              <a:rPr lang="en-US" sz="2400" dirty="0" smtClean="0"/>
              <a:t>Opportunity </a:t>
            </a:r>
            <a:r>
              <a:rPr lang="en-US" sz="2400" dirty="0" smtClean="0"/>
              <a:t>Alignment</a:t>
            </a:r>
            <a:endParaRPr lang="en-US" sz="2400" dirty="0" smtClean="0"/>
          </a:p>
          <a:p>
            <a:r>
              <a:rPr lang="en-US" sz="2400" dirty="0" smtClean="0"/>
              <a:t>Establish the Pipeline</a:t>
            </a:r>
          </a:p>
          <a:p>
            <a:r>
              <a:rPr lang="en-US" sz="2400" dirty="0" smtClean="0"/>
              <a:t>Building the Product Roadmap</a:t>
            </a:r>
          </a:p>
          <a:p>
            <a:pPr lvl="0"/>
            <a:r>
              <a:rPr lang="en-US" sz="2400" dirty="0" smtClean="0"/>
              <a:t>Suggeste</a:t>
            </a:r>
            <a:r>
              <a:rPr lang="en-US" sz="2400" dirty="0" smtClean="0"/>
              <a:t>d </a:t>
            </a:r>
            <a:r>
              <a:rPr lang="en-US" sz="2400" dirty="0" smtClean="0"/>
              <a:t>Next Steps</a:t>
            </a:r>
          </a:p>
          <a:p>
            <a:pPr lvl="0"/>
            <a:endParaRPr lang="en-US" sz="2400" dirty="0" smtClean="0"/>
          </a:p>
          <a:p>
            <a:pPr lvl="0"/>
            <a:r>
              <a:rPr lang="en-US" sz="2400" dirty="0" smtClean="0"/>
              <a:t>Appendix</a:t>
            </a:r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3581400"/>
            <a:ext cx="4419600" cy="0"/>
          </a:xfrm>
          <a:prstGeom prst="line">
            <a:avLst/>
          </a:prstGeom>
          <a:ln w="571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List of Ideas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1" y="1295399"/>
          <a:ext cx="8381999" cy="3999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199"/>
                <a:gridCol w="990600"/>
                <a:gridCol w="4267200"/>
              </a:tblGrid>
              <a:tr h="6162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Idea/Job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Domain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Opportunity (Desired Outcomes)</a:t>
                      </a:r>
                      <a:endParaRPr lang="en-US" dirty="0"/>
                    </a:p>
                  </a:txBody>
                  <a:tcPr anchor="b"/>
                </a:tc>
              </a:tr>
              <a:tr h="616258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Universal Registry Service for component architectures 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Reduce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the complexity required to manage service architectures (internal &amp; external to enterprises)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Improve the performance with utility-based services for 3</a:t>
                      </a:r>
                      <a:r>
                        <a:rPr lang="en-US" sz="1200" baseline="30000" dirty="0" smtClean="0">
                          <a:solidFill>
                            <a:schemeClr val="tx1"/>
                          </a:solidFill>
                        </a:rPr>
                        <a:t>rd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party service providers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medical devices can leverage remote computing resources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</a:tr>
              <a:tr h="10221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Virtual Service Bus with prioritization and queue management for services w/in a company, w/in a cloud, and w/ 3rd parties.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120650" marR="0" indent="-1206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3</a:t>
                      </a:r>
                      <a:r>
                        <a:rPr lang="en-US" sz="1200" baseline="30000" dirty="0" smtClean="0">
                          <a:solidFill>
                            <a:schemeClr val="tx1"/>
                          </a:solidFill>
                        </a:rPr>
                        <a:t>rd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party services can be aligned with enterprise services to create a holistic capability</a:t>
                      </a:r>
                    </a:p>
                    <a:p>
                      <a:pPr marL="120650" marR="0" indent="-1206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amount of time required for services to locate resources to complete complex transactions</a:t>
                      </a:r>
                    </a:p>
                    <a:p>
                      <a:pPr marL="120650" marR="0" indent="-1206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enterprises are able to consume 3</a:t>
                      </a:r>
                      <a:r>
                        <a:rPr lang="en-US" sz="1200" baseline="30000" dirty="0" smtClean="0">
                          <a:solidFill>
                            <a:schemeClr val="tx1"/>
                          </a:solidFill>
                        </a:rPr>
                        <a:t>rd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party services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</a:tr>
              <a:tr h="6504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Optimized routing for messaging services (key opportunity for utility-based computing)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120650" marR="0" indent="-1206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bandwidth costs associated with high volume computing in distributed environments</a:t>
                      </a:r>
                    </a:p>
                    <a:p>
                      <a:pPr marL="120650" marR="0" indent="-1206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companies are able to scale their business services for internal and external customers.</a:t>
                      </a:r>
                      <a:endParaRPr lang="en-US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List of Ideas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1" y="1295399"/>
          <a:ext cx="8381999" cy="4478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199"/>
                <a:gridCol w="990600"/>
                <a:gridCol w="4267200"/>
              </a:tblGrid>
              <a:tr h="6162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Idea/Job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Domain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Opportunity (Desired Outcomes)</a:t>
                      </a:r>
                      <a:endParaRPr lang="en-US" dirty="0"/>
                    </a:p>
                  </a:txBody>
                  <a:tcPr anchor="b"/>
                </a:tc>
              </a:tr>
              <a:tr h="13938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Separate management of private / stealth communications for government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Government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Increase the likelihood that government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resources are able to support secure communications with stealth resources (i.e. computing nodes, wireless objects, satellites). 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Reduce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the costs associated with routing information to stealth operations (esp. mobile operations)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Improve the ability to track activity associated with stealth communications.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</a:tr>
              <a:tr h="8363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14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party management for identity management</a:t>
                      </a:r>
                      <a:endParaRPr 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Increase the likelihood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that enterprise assets can be tracked and managed across distributed locations.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likelihood of enterprises needing to build and maintain their own identity management infrastructures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collaboration between enterprises can be managed in a secure manner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complexity associated with managing silos of resources (human, computing, logical, and physical assets).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security can be maintained as the number of corporate assets increase </a:t>
                      </a:r>
                    </a:p>
                    <a:p>
                      <a:pPr marL="120650" marR="0" indent="-1206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security can be maintained as the corporate assets are increasingly made accessible to 3</a:t>
                      </a:r>
                      <a:r>
                        <a:rPr lang="en-US" sz="1200" baseline="30000" dirty="0" smtClean="0">
                          <a:solidFill>
                            <a:schemeClr val="tx1"/>
                          </a:solidFill>
                        </a:rPr>
                        <a:t>rd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party assets. </a:t>
                      </a:r>
                      <a:endParaRPr 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List of Ideas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1" y="1295399"/>
          <a:ext cx="8381999" cy="3725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99"/>
                <a:gridCol w="990600"/>
                <a:gridCol w="5105400"/>
              </a:tblGrid>
              <a:tr h="6162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Idea/Job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Domain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Opportunity (Desired Outcomes)</a:t>
                      </a:r>
                      <a:endParaRPr lang="en-US" dirty="0"/>
                    </a:p>
                  </a:txBody>
                  <a:tcPr anchor="b"/>
                </a:tc>
              </a:tr>
              <a:tr h="616258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Metadata</a:t>
                      </a: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Management</a:t>
                      </a:r>
                      <a:endParaRPr 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Reduce the effort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required to support Metadata for business analytics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amount of time required to capture collaborative knowledge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likelihood that Metadata will not grow out of control 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knowledge workers are able to find the right knowledge for the job they are performing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corporate data can be more easily managed if metadata is abstracted from their operational data stores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</a:tr>
              <a:tr h="102214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Managing High</a:t>
                      </a:r>
                      <a:r>
                        <a:rPr lang="en-US" sz="1400" baseline="0" dirty="0" smtClean="0"/>
                        <a:t> Volume Computing/Analytics</a:t>
                      </a:r>
                      <a:endParaRPr lang="en-US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Reduce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the costs for maintaining large data stores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complexity associated with managing Very Large Databases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amount of time that information is not accessible due to backend performance issues (backup, restores, indexing)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Reduce the amount of time required to deliver business intelligence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customers are more proactive with identifying areas of opportunity </a:t>
                      </a:r>
                    </a:p>
                    <a:p>
                      <a:pPr marL="120650" indent="-120650">
                        <a:buFont typeface="Arial" pitchFamily="34" charset="0"/>
                        <a:buChar char="•"/>
                      </a:pP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Increase the likelihood that customers are more proactive with identifying areas of concern (problems  and/or patterns that might lead to problems)</a:t>
                      </a:r>
                      <a:r>
                        <a:rPr 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Opportunity Alignment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Align our thoughts on areas of opportunity.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Conduct a domain analysis to narrow the focus.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Conduct a Job Study to capture a list of jobs that we might want to study in detail.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Identify which jobs we want to study in more detail.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Establish a formal Customer Focus program for building an opportunity pipeline.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dirty="0" smtClean="0"/>
              <a:t>Establish the Pipeline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 findings to </a:t>
            </a:r>
            <a:r>
              <a:rPr lang="en-US" sz="2400" dirty="0" smtClean="0"/>
              <a:t>Leadership.</a:t>
            </a:r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05600" y="1676400"/>
            <a:ext cx="14478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buNone/>
            </a:pP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Based on the Strategyn Methodology (see appendix)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dirty="0" smtClean="0"/>
              <a:t>Establish the Pipeline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Establishing the opportunity pipeline</a:t>
            </a:r>
          </a:p>
          <a:p>
            <a:pPr lvl="1"/>
            <a:r>
              <a:rPr lang="en-US" sz="2000" dirty="0" smtClean="0"/>
              <a:t>Prioritize the list of opportunities</a:t>
            </a:r>
          </a:p>
          <a:p>
            <a:pPr lvl="1"/>
            <a:r>
              <a:rPr lang="en-US" sz="2000" dirty="0" smtClean="0"/>
              <a:t>Introduce tools for generating ideas (to address opportunities)</a:t>
            </a:r>
          </a:p>
          <a:p>
            <a:pPr lvl="1"/>
            <a:r>
              <a:rPr lang="en-US" sz="2000" dirty="0" smtClean="0"/>
              <a:t>Generate ideas that address one or more desired outcomes</a:t>
            </a:r>
            <a:endParaRPr lang="en-US" sz="2000" dirty="0" smtClean="0"/>
          </a:p>
          <a:p>
            <a:pPr lvl="1"/>
            <a:r>
              <a:rPr lang="en-US" sz="2000" dirty="0" smtClean="0"/>
              <a:t>Establish a process </a:t>
            </a:r>
            <a:r>
              <a:rPr lang="en-US" sz="2000" dirty="0" smtClean="0"/>
              <a:t>to select the best ideas </a:t>
            </a:r>
          </a:p>
          <a:p>
            <a:pPr lvl="2"/>
            <a:r>
              <a:rPr lang="en-US" sz="1600" dirty="0" smtClean="0"/>
              <a:t>Multi-Opportunity Ideas are usually the best</a:t>
            </a:r>
            <a:endParaRPr lang="en-US" sz="1600" dirty="0" smtClean="0"/>
          </a:p>
          <a:p>
            <a:pPr lvl="2"/>
            <a:r>
              <a:rPr lang="en-US" sz="1600" dirty="0" smtClean="0"/>
              <a:t>Select the best ideas &amp; agree upon list of recommendations to pursue</a:t>
            </a:r>
          </a:p>
          <a:p>
            <a:pPr lvl="1"/>
            <a:r>
              <a:rPr lang="en-US" sz="2000" dirty="0" smtClean="0"/>
              <a:t>Present top ideas to </a:t>
            </a:r>
            <a:r>
              <a:rPr lang="en-US" sz="2000" dirty="0" smtClean="0"/>
              <a:t>the leadership </a:t>
            </a:r>
            <a:r>
              <a:rPr lang="en-US" sz="2000" dirty="0" smtClean="0"/>
              <a:t>with recommendations</a:t>
            </a:r>
          </a:p>
          <a:p>
            <a:r>
              <a:rPr lang="en-US" sz="2400" dirty="0" smtClean="0"/>
              <a:t>Transition ideas to innovation</a:t>
            </a:r>
          </a:p>
          <a:p>
            <a:pPr lvl="1"/>
            <a:r>
              <a:rPr lang="en-US" sz="2000" dirty="0" smtClean="0"/>
              <a:t>Gain </a:t>
            </a:r>
            <a:r>
              <a:rPr lang="en-US" sz="2000" dirty="0" smtClean="0"/>
              <a:t>approval </a:t>
            </a:r>
            <a:r>
              <a:rPr lang="en-US" sz="2000" dirty="0" smtClean="0"/>
              <a:t>to pursue recommendations</a:t>
            </a:r>
          </a:p>
          <a:p>
            <a:pPr lvl="1"/>
            <a:r>
              <a:rPr lang="en-US" sz="2000" dirty="0" smtClean="0"/>
              <a:t>Assigns </a:t>
            </a:r>
            <a:r>
              <a:rPr lang="en-US" sz="2000" dirty="0" smtClean="0"/>
              <a:t>ownership to develop &amp; implement changes</a:t>
            </a:r>
          </a:p>
          <a:p>
            <a:pPr lvl="2"/>
            <a:r>
              <a:rPr lang="en-US" sz="1600" dirty="0" smtClean="0"/>
              <a:t>Create new products &amp; services</a:t>
            </a:r>
          </a:p>
          <a:p>
            <a:pPr lvl="2"/>
            <a:r>
              <a:rPr lang="en-US" sz="1600" dirty="0" smtClean="0"/>
              <a:t>Modify existing products &amp; services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Building the Product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305800" cy="4830763"/>
          </a:xfrm>
        </p:spPr>
        <p:txBody>
          <a:bodyPr/>
          <a:lstStyle/>
          <a:p>
            <a:r>
              <a:rPr lang="en-US" sz="2400" dirty="0" smtClean="0"/>
              <a:t>Create a reference model for defining the </a:t>
            </a:r>
            <a:r>
              <a:rPr lang="en-US" sz="2400" dirty="0" smtClean="0"/>
              <a:t>jobs </a:t>
            </a:r>
            <a:r>
              <a:rPr lang="en-US" sz="2400" dirty="0" smtClean="0"/>
              <a:t>from which </a:t>
            </a:r>
            <a:r>
              <a:rPr lang="en-US" sz="2400" dirty="0" smtClean="0"/>
              <a:t> </a:t>
            </a:r>
            <a:r>
              <a:rPr lang="en-US" sz="2400" dirty="0" smtClean="0"/>
              <a:t>value </a:t>
            </a:r>
            <a:r>
              <a:rPr lang="en-US" sz="2400" dirty="0" smtClean="0"/>
              <a:t>is </a:t>
            </a:r>
            <a:r>
              <a:rPr lang="en-US" sz="2400" dirty="0" smtClean="0"/>
              <a:t>derived.  </a:t>
            </a:r>
          </a:p>
          <a:p>
            <a:pPr eaLnBrk="1" hangingPunct="1"/>
            <a:r>
              <a:rPr lang="en-US" sz="2400" dirty="0" smtClean="0"/>
              <a:t>Build a repository of metrics that the </a:t>
            </a:r>
            <a:r>
              <a:rPr lang="en-US" sz="2400" dirty="0" smtClean="0"/>
              <a:t>company </a:t>
            </a:r>
            <a:r>
              <a:rPr lang="en-US" sz="2400" dirty="0" smtClean="0"/>
              <a:t>can use to measure the value that </a:t>
            </a:r>
            <a:r>
              <a:rPr lang="en-US" sz="2400" dirty="0" smtClean="0"/>
              <a:t>customers want to obtain.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Map the value metrics against the </a:t>
            </a:r>
            <a:r>
              <a:rPr lang="en-US" sz="2400" dirty="0" smtClean="0"/>
              <a:t>services </a:t>
            </a:r>
            <a:r>
              <a:rPr lang="en-US" sz="2400" dirty="0" smtClean="0"/>
              <a:t>and products </a:t>
            </a:r>
            <a:r>
              <a:rPr lang="en-US" sz="2400" dirty="0" smtClean="0"/>
              <a:t>used </a:t>
            </a:r>
            <a:r>
              <a:rPr lang="en-US" sz="2400" dirty="0" smtClean="0"/>
              <a:t>to deliver </a:t>
            </a:r>
            <a:r>
              <a:rPr lang="en-US" sz="2400" dirty="0" smtClean="0"/>
              <a:t>value </a:t>
            </a:r>
            <a:r>
              <a:rPr lang="en-US" sz="2400" dirty="0" smtClean="0"/>
              <a:t>to customers. </a:t>
            </a:r>
          </a:p>
          <a:p>
            <a:pPr eaLnBrk="1" hangingPunct="1"/>
            <a:r>
              <a:rPr lang="en-US" sz="2400" dirty="0" smtClean="0"/>
              <a:t>Identify opportunities (gaps between what is delivered versus what customers want) to improve services &amp; products.</a:t>
            </a:r>
          </a:p>
          <a:p>
            <a:pPr eaLnBrk="1" hangingPunct="1"/>
            <a:r>
              <a:rPr lang="en-US" sz="2400" dirty="0" smtClean="0"/>
              <a:t>Identify products &amp; services that the </a:t>
            </a:r>
            <a:r>
              <a:rPr lang="en-US" sz="2400" dirty="0" smtClean="0"/>
              <a:t>company </a:t>
            </a:r>
            <a:r>
              <a:rPr lang="en-US" sz="2400" dirty="0" smtClean="0"/>
              <a:t>can </a:t>
            </a:r>
            <a:r>
              <a:rPr lang="en-US" sz="2400" dirty="0" smtClean="0"/>
              <a:t>deliver sustainable value.</a:t>
            </a:r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Suggested 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Jeff to provide his ideas (template). </a:t>
            </a:r>
            <a:r>
              <a:rPr lang="en-US" dirty="0" smtClean="0">
                <a:solidFill>
                  <a:schemeClr val="tx2"/>
                </a:solidFill>
              </a:rPr>
              <a:t>Done</a:t>
            </a:r>
          </a:p>
          <a:p>
            <a:r>
              <a:rPr lang="en-US" dirty="0" smtClean="0"/>
              <a:t>Jeff to provide a </a:t>
            </a:r>
            <a:r>
              <a:rPr lang="en-US" dirty="0" err="1" smtClean="0"/>
              <a:t>strawman</a:t>
            </a:r>
            <a:r>
              <a:rPr lang="en-US" dirty="0" smtClean="0"/>
              <a:t> to establish a pipeline and move forward. </a:t>
            </a:r>
            <a:r>
              <a:rPr lang="en-US" dirty="0" smtClean="0">
                <a:solidFill>
                  <a:schemeClr val="tx2"/>
                </a:solidFill>
              </a:rPr>
              <a:t>Done</a:t>
            </a:r>
            <a:endParaRPr lang="en-US" dirty="0" smtClean="0"/>
          </a:p>
          <a:p>
            <a:r>
              <a:rPr lang="en-US" dirty="0" smtClean="0"/>
              <a:t>Mario &amp; Team to provide their ideas.</a:t>
            </a:r>
          </a:p>
          <a:p>
            <a:r>
              <a:rPr lang="en-US" dirty="0" smtClean="0"/>
              <a:t>All to review/align on the </a:t>
            </a:r>
            <a:r>
              <a:rPr lang="en-US" dirty="0" err="1" smtClean="0"/>
              <a:t>strawman</a:t>
            </a:r>
            <a:r>
              <a:rPr lang="en-US" dirty="0" smtClean="0"/>
              <a:t>.</a:t>
            </a:r>
          </a:p>
          <a:p>
            <a:r>
              <a:rPr lang="en-US" dirty="0" smtClean="0"/>
              <a:t>Agree on goals &amp; deliverables for dialogue.</a:t>
            </a:r>
          </a:p>
          <a:p>
            <a:r>
              <a:rPr lang="en-US" dirty="0" smtClean="0"/>
              <a:t>Schedule face-to-face dialogue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Appendix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(Overview of Strategyn Methodology)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a Job ?</a:t>
            </a:r>
            <a:endParaRPr lang="en-US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85233"/>
            <a:ext cx="7239000" cy="479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76400"/>
            <a:ext cx="743340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Model for Relating Jobs &amp; Outcomes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76400"/>
            <a:ext cx="61360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&amp; Measuring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981200"/>
            <a:ext cx="82470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Identifying &amp; Prioritizing Opportunities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1166" y="1676400"/>
            <a:ext cx="7029184" cy="496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sz="2400" b="1" dirty="0" smtClean="0"/>
              <a:t>Job of Storing &amp; Retrieving Music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96718"/>
            <a:ext cx="6427787" cy="4856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5353</TotalTime>
  <Words>964</Words>
  <Application>Microsoft Office PowerPoint</Application>
  <PresentationFormat>On-screen Show (4:3)</PresentationFormat>
  <Paragraphs>148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VEG</vt:lpstr>
      <vt:lpstr>Building the Pipeline  for Enterprise Services</vt:lpstr>
      <vt:lpstr>Outline</vt:lpstr>
      <vt:lpstr>List of Ideas</vt:lpstr>
      <vt:lpstr>List of Ideas</vt:lpstr>
      <vt:lpstr>List of Ideas</vt:lpstr>
      <vt:lpstr>Opportunity Alignment</vt:lpstr>
      <vt:lpstr>Establish the Pipeline</vt:lpstr>
      <vt:lpstr>Establish the Pipeline</vt:lpstr>
      <vt:lpstr>Building the Product Roadmap</vt:lpstr>
      <vt:lpstr>Suggested Next Steps</vt:lpstr>
      <vt:lpstr>Slide 11</vt:lpstr>
      <vt:lpstr>What is a Job ?</vt:lpstr>
      <vt:lpstr>What are outcomes ?</vt:lpstr>
      <vt:lpstr>Model for Relating Jobs &amp; Outcomes</vt:lpstr>
      <vt:lpstr>Capturing &amp; Measuring Value</vt:lpstr>
      <vt:lpstr>Identifying &amp; Prioritizing Opportunities</vt:lpstr>
      <vt:lpstr>Example: Job of Storing &amp; Retrieving Music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49</cp:revision>
  <dcterms:created xsi:type="dcterms:W3CDTF">2009-06-09T11:36:35Z</dcterms:created>
  <dcterms:modified xsi:type="dcterms:W3CDTF">2009-10-06T21:13:02Z</dcterms:modified>
</cp:coreProperties>
</file>
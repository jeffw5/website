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tags/tag16.xml" ContentType="application/vnd.openxmlformats-officedocument.presentationml.tags+xml"/>
  <Override PartName="/ppt/tags/tag18.xml" ContentType="application/vnd.openxmlformats-officedocument.presentationml.tags+xml"/>
  <Override PartName="/ppt/slideLayouts/slideLayout10.xml" ContentType="application/vnd.openxmlformats-officedocument.presentationml.slideLayout+xml"/>
  <Override PartName="/ppt/tags/tag14.xml" ContentType="application/vnd.openxmlformats-officedocument.presentationml.tags+xml"/>
  <Override PartName="/ppt/tags/tag15.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tags/tag17.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89" r:id="rId2"/>
    <p:sldId id="322" r:id="rId3"/>
    <p:sldId id="311" r:id="rId4"/>
    <p:sldId id="323" r:id="rId5"/>
    <p:sldId id="317" r:id="rId6"/>
    <p:sldId id="324" r:id="rId7"/>
    <p:sldId id="331" r:id="rId8"/>
    <p:sldId id="325" r:id="rId9"/>
    <p:sldId id="326" r:id="rId10"/>
    <p:sldId id="312" r:id="rId11"/>
    <p:sldId id="313" r:id="rId12"/>
    <p:sldId id="297" r:id="rId13"/>
    <p:sldId id="305" r:id="rId14"/>
    <p:sldId id="308" r:id="rId15"/>
    <p:sldId id="327" r:id="rId16"/>
    <p:sldId id="261" r:id="rId17"/>
    <p:sldId id="328" r:id="rId18"/>
    <p:sldId id="329" r:id="rId19"/>
    <p:sldId id="333" r:id="rId20"/>
    <p:sldId id="330" r:id="rId21"/>
    <p:sldId id="314" r:id="rId22"/>
    <p:sldId id="315" r:id="rId23"/>
  </p:sldIdLst>
  <p:sldSz cx="9144000" cy="6858000" type="screen4x3"/>
  <p:notesSz cx="9199563" cy="6858000"/>
  <p:defaultTextStyle>
    <a:defPPr>
      <a:defRPr lang="en-US"/>
    </a:defPPr>
    <a:lvl1pPr algn="l" rtl="0" fontAlgn="base">
      <a:spcBef>
        <a:spcPct val="0"/>
      </a:spcBef>
      <a:spcAft>
        <a:spcPct val="0"/>
      </a:spcAft>
      <a:defRPr sz="2800" kern="1200">
        <a:solidFill>
          <a:schemeClr val="tx1"/>
        </a:solidFill>
        <a:latin typeface="Arial" charset="0"/>
        <a:ea typeface="+mn-ea"/>
        <a:cs typeface="+mn-cs"/>
      </a:defRPr>
    </a:lvl1pPr>
    <a:lvl2pPr marL="457200" algn="l" rtl="0" fontAlgn="base">
      <a:spcBef>
        <a:spcPct val="0"/>
      </a:spcBef>
      <a:spcAft>
        <a:spcPct val="0"/>
      </a:spcAft>
      <a:defRPr sz="2800" kern="1200">
        <a:solidFill>
          <a:schemeClr val="tx1"/>
        </a:solidFill>
        <a:latin typeface="Arial" charset="0"/>
        <a:ea typeface="+mn-ea"/>
        <a:cs typeface="+mn-cs"/>
      </a:defRPr>
    </a:lvl2pPr>
    <a:lvl3pPr marL="914400" algn="l" rtl="0" fontAlgn="base">
      <a:spcBef>
        <a:spcPct val="0"/>
      </a:spcBef>
      <a:spcAft>
        <a:spcPct val="0"/>
      </a:spcAft>
      <a:defRPr sz="2800" kern="1200">
        <a:solidFill>
          <a:schemeClr val="tx1"/>
        </a:solidFill>
        <a:latin typeface="Arial" charset="0"/>
        <a:ea typeface="+mn-ea"/>
        <a:cs typeface="+mn-cs"/>
      </a:defRPr>
    </a:lvl3pPr>
    <a:lvl4pPr marL="1371600" algn="l" rtl="0" fontAlgn="base">
      <a:spcBef>
        <a:spcPct val="0"/>
      </a:spcBef>
      <a:spcAft>
        <a:spcPct val="0"/>
      </a:spcAft>
      <a:defRPr sz="2800" kern="1200">
        <a:solidFill>
          <a:schemeClr val="tx1"/>
        </a:solidFill>
        <a:latin typeface="Arial" charset="0"/>
        <a:ea typeface="+mn-ea"/>
        <a:cs typeface="+mn-cs"/>
      </a:defRPr>
    </a:lvl4pPr>
    <a:lvl5pPr marL="1828800" algn="l" rtl="0" fontAlgn="base">
      <a:spcBef>
        <a:spcPct val="0"/>
      </a:spcBef>
      <a:spcAft>
        <a:spcPct val="0"/>
      </a:spcAft>
      <a:defRPr sz="2800" kern="1200">
        <a:solidFill>
          <a:schemeClr val="tx1"/>
        </a:solidFill>
        <a:latin typeface="Arial" charset="0"/>
        <a:ea typeface="+mn-ea"/>
        <a:cs typeface="+mn-cs"/>
      </a:defRPr>
    </a:lvl5pPr>
    <a:lvl6pPr marL="2286000" algn="l" defTabSz="914400" rtl="0" eaLnBrk="1" latinLnBrk="0" hangingPunct="1">
      <a:defRPr sz="2800" kern="1200">
        <a:solidFill>
          <a:schemeClr val="tx1"/>
        </a:solidFill>
        <a:latin typeface="Arial" charset="0"/>
        <a:ea typeface="+mn-ea"/>
        <a:cs typeface="+mn-cs"/>
      </a:defRPr>
    </a:lvl6pPr>
    <a:lvl7pPr marL="2743200" algn="l" defTabSz="914400" rtl="0" eaLnBrk="1" latinLnBrk="0" hangingPunct="1">
      <a:defRPr sz="2800" kern="1200">
        <a:solidFill>
          <a:schemeClr val="tx1"/>
        </a:solidFill>
        <a:latin typeface="Arial" charset="0"/>
        <a:ea typeface="+mn-ea"/>
        <a:cs typeface="+mn-cs"/>
      </a:defRPr>
    </a:lvl7pPr>
    <a:lvl8pPr marL="3200400" algn="l" defTabSz="914400" rtl="0" eaLnBrk="1" latinLnBrk="0" hangingPunct="1">
      <a:defRPr sz="2800" kern="1200">
        <a:solidFill>
          <a:schemeClr val="tx1"/>
        </a:solidFill>
        <a:latin typeface="Arial" charset="0"/>
        <a:ea typeface="+mn-ea"/>
        <a:cs typeface="+mn-cs"/>
      </a:defRPr>
    </a:lvl8pPr>
    <a:lvl9pPr marL="3657600" algn="l" defTabSz="914400" rtl="0" eaLnBrk="1" latinLnBrk="0" hangingPunct="1">
      <a:defRPr sz="28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BFB9"/>
    <a:srgbClr val="000000"/>
    <a:srgbClr val="000099"/>
    <a:srgbClr val="FF0000"/>
    <a:srgbClr val="66FF33"/>
    <a:srgbClr val="009900"/>
    <a:srgbClr val="00CC00"/>
    <a:srgbClr val="66CC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52" autoAdjust="0"/>
    <p:restoredTop sz="90929"/>
  </p:normalViewPr>
  <p:slideViewPr>
    <p:cSldViewPr>
      <p:cViewPr varScale="1">
        <p:scale>
          <a:sx n="71" d="100"/>
          <a:sy n="71" d="100"/>
        </p:scale>
        <p:origin x="-149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0" d="100"/>
          <a:sy n="50" d="100"/>
        </p:scale>
        <p:origin x="-864" y="-78"/>
      </p:cViewPr>
      <p:guideLst>
        <p:guide orient="horz" pos="2160"/>
        <p:guide pos="2897"/>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986213"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endParaRPr lang="en-US"/>
          </a:p>
        </p:txBody>
      </p:sp>
      <p:sp>
        <p:nvSpPr>
          <p:cNvPr id="4099" name="Rectangle 3"/>
          <p:cNvSpPr>
            <a:spLocks noGrp="1" noChangeArrowheads="1"/>
          </p:cNvSpPr>
          <p:nvPr>
            <p:ph type="dt" sz="quarter" idx="1"/>
          </p:nvPr>
        </p:nvSpPr>
        <p:spPr bwMode="auto">
          <a:xfrm>
            <a:off x="5213350" y="0"/>
            <a:ext cx="3986213"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endParaRPr lang="en-US"/>
          </a:p>
        </p:txBody>
      </p:sp>
      <p:sp>
        <p:nvSpPr>
          <p:cNvPr id="4100" name="Rectangle 4"/>
          <p:cNvSpPr>
            <a:spLocks noGrp="1" noChangeArrowheads="1"/>
          </p:cNvSpPr>
          <p:nvPr>
            <p:ph type="ftr" sz="quarter" idx="2"/>
          </p:nvPr>
        </p:nvSpPr>
        <p:spPr bwMode="auto">
          <a:xfrm>
            <a:off x="0" y="6515100"/>
            <a:ext cx="3986213"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endParaRPr lang="en-US"/>
          </a:p>
        </p:txBody>
      </p:sp>
      <p:sp>
        <p:nvSpPr>
          <p:cNvPr id="4101" name="Rectangle 5"/>
          <p:cNvSpPr>
            <a:spLocks noGrp="1" noChangeArrowheads="1"/>
          </p:cNvSpPr>
          <p:nvPr>
            <p:ph type="sldNum" sz="quarter" idx="3"/>
          </p:nvPr>
        </p:nvSpPr>
        <p:spPr bwMode="auto">
          <a:xfrm>
            <a:off x="5213350" y="6515100"/>
            <a:ext cx="3986213"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fld id="{CB64998D-8C89-41BE-87CC-166E9E81C01A}"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986213" cy="344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40963" name="Rectangle 3"/>
          <p:cNvSpPr>
            <a:spLocks noGrp="1" noChangeArrowheads="1"/>
          </p:cNvSpPr>
          <p:nvPr>
            <p:ph type="dt" idx="1"/>
          </p:nvPr>
        </p:nvSpPr>
        <p:spPr bwMode="auto">
          <a:xfrm>
            <a:off x="5213350" y="0"/>
            <a:ext cx="3986213" cy="344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r>
              <a:rPr lang="en-US"/>
              <a:t>June 24,2002</a:t>
            </a:r>
          </a:p>
        </p:txBody>
      </p:sp>
      <p:sp>
        <p:nvSpPr>
          <p:cNvPr id="40964" name="Rectangle 4"/>
          <p:cNvSpPr>
            <a:spLocks noChangeArrowheads="1" noTextEdit="1"/>
          </p:cNvSpPr>
          <p:nvPr>
            <p:ph type="sldImg" idx="2"/>
          </p:nvPr>
        </p:nvSpPr>
        <p:spPr bwMode="auto">
          <a:xfrm>
            <a:off x="2882900" y="515938"/>
            <a:ext cx="3436938" cy="2578100"/>
          </a:xfrm>
          <a:prstGeom prst="rect">
            <a:avLst/>
          </a:prstGeom>
          <a:noFill/>
          <a:ln w="9525">
            <a:solidFill>
              <a:srgbClr val="000000"/>
            </a:solidFill>
            <a:miter lim="800000"/>
            <a:headEnd/>
            <a:tailEnd/>
          </a:ln>
          <a:effectLst/>
        </p:spPr>
      </p:sp>
      <p:sp>
        <p:nvSpPr>
          <p:cNvPr id="40965" name="Rectangle 5"/>
          <p:cNvSpPr>
            <a:spLocks noGrp="1" noChangeArrowheads="1"/>
          </p:cNvSpPr>
          <p:nvPr>
            <p:ph type="body" sz="quarter" idx="3"/>
          </p:nvPr>
        </p:nvSpPr>
        <p:spPr bwMode="auto">
          <a:xfrm>
            <a:off x="1227138" y="3267075"/>
            <a:ext cx="6745287" cy="30956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0966" name="Rectangle 6"/>
          <p:cNvSpPr>
            <a:spLocks noGrp="1" noChangeArrowheads="1"/>
          </p:cNvSpPr>
          <p:nvPr>
            <p:ph type="ftr" sz="quarter" idx="4"/>
          </p:nvPr>
        </p:nvSpPr>
        <p:spPr bwMode="auto">
          <a:xfrm>
            <a:off x="0" y="6534150"/>
            <a:ext cx="3986213" cy="3444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40967" name="Rectangle 7"/>
          <p:cNvSpPr>
            <a:spLocks noGrp="1" noChangeArrowheads="1"/>
          </p:cNvSpPr>
          <p:nvPr>
            <p:ph type="sldNum" sz="quarter" idx="5"/>
          </p:nvPr>
        </p:nvSpPr>
        <p:spPr bwMode="auto">
          <a:xfrm>
            <a:off x="5213350" y="6534150"/>
            <a:ext cx="3986213" cy="3444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7D14CEF-5BA3-4678-9745-61BA0C18F04B}" type="slidenum">
              <a:rPr lang="en-US"/>
              <a:pPr/>
              <a:t>‹#›</a:t>
            </a:fld>
            <a:endParaRPr lang="en-US"/>
          </a:p>
        </p:txBody>
      </p:sp>
    </p:spTree>
  </p:cSld>
  <p:clrMap bg1="lt1" tx1="dk1" bg2="lt2" tx2="dk2" accent1="accent1" accent2="accent2" accent3="accent3" accent4="accent4" accent5="accent5" accent6="accent6" hlink="hlink" folHlink="folHlink"/>
  <p:hf hdr="0" ftr="0"/>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r>
              <a:rPr lang="en-US" smtClean="0"/>
              <a:t>June 24,2002</a:t>
            </a:r>
            <a:endParaRPr lang="en-US"/>
          </a:p>
        </p:txBody>
      </p:sp>
      <p:sp>
        <p:nvSpPr>
          <p:cNvPr id="5" name="Slide Number Placeholder 4"/>
          <p:cNvSpPr>
            <a:spLocks noGrp="1"/>
          </p:cNvSpPr>
          <p:nvPr>
            <p:ph type="sldNum" sz="quarter" idx="11"/>
          </p:nvPr>
        </p:nvSpPr>
        <p:spPr/>
        <p:txBody>
          <a:bodyPr/>
          <a:lstStyle/>
          <a:p>
            <a:fld id="{37D14CEF-5BA3-4678-9745-61BA0C18F04B}"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r>
              <a:rPr lang="en-US"/>
              <a:t>June 24,2002</a:t>
            </a:r>
          </a:p>
        </p:txBody>
      </p:sp>
      <p:sp>
        <p:nvSpPr>
          <p:cNvPr id="7" name="Rectangle 7"/>
          <p:cNvSpPr>
            <a:spLocks noGrp="1" noChangeArrowheads="1"/>
          </p:cNvSpPr>
          <p:nvPr>
            <p:ph type="sldNum" sz="quarter" idx="5"/>
          </p:nvPr>
        </p:nvSpPr>
        <p:spPr>
          <a:ln/>
        </p:spPr>
        <p:txBody>
          <a:bodyPr/>
          <a:lstStyle/>
          <a:p>
            <a:fld id="{EE23F42D-CA6F-4F2C-86D7-0AA86AA28804}" type="slidenum">
              <a:rPr lang="en-US"/>
              <a:pPr/>
              <a:t>22</a:t>
            </a:fld>
            <a:endParaRPr lang="en-US"/>
          </a:p>
        </p:txBody>
      </p:sp>
      <p:sp>
        <p:nvSpPr>
          <p:cNvPr id="101378" name="Rectangle 2"/>
          <p:cNvSpPr>
            <a:spLocks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0179" name="Rectangle 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50180" name="Rectangle 4"/>
          <p:cNvSpPr>
            <a:spLocks noGrp="1" noChangeArrowheads="1"/>
          </p:cNvSpPr>
          <p:nvPr>
            <p:ph type="dt" sz="half" idx="2"/>
          </p:nvPr>
        </p:nvSpPr>
        <p:spPr>
          <a:xfrm>
            <a:off x="685800" y="6248400"/>
            <a:ext cx="1905000" cy="457200"/>
          </a:xfrm>
        </p:spPr>
        <p:txBody>
          <a:bodyPr/>
          <a:lstStyle>
            <a:lvl1pPr>
              <a:defRPr/>
            </a:lvl1pPr>
          </a:lstStyle>
          <a:p>
            <a:endParaRPr lang="en-US"/>
          </a:p>
        </p:txBody>
      </p:sp>
      <p:sp>
        <p:nvSpPr>
          <p:cNvPr id="50181" name="Rectangle 5"/>
          <p:cNvSpPr>
            <a:spLocks noGrp="1" noChangeArrowheads="1"/>
          </p:cNvSpPr>
          <p:nvPr>
            <p:ph type="ftr" sz="quarter" idx="3"/>
          </p:nvPr>
        </p:nvSpPr>
        <p:spPr>
          <a:xfrm>
            <a:off x="3124200" y="6248400"/>
            <a:ext cx="2895600" cy="457200"/>
          </a:xfrm>
        </p:spPr>
        <p:txBody>
          <a:bodyPr/>
          <a:lstStyle>
            <a:lvl1pPr>
              <a:defRPr/>
            </a:lvl1pPr>
          </a:lstStyle>
          <a:p>
            <a:r>
              <a:rPr lang="en-US"/>
              <a:t>The Arbor Consulting Group</a:t>
            </a:r>
          </a:p>
        </p:txBody>
      </p:sp>
      <p:sp>
        <p:nvSpPr>
          <p:cNvPr id="50182" name="Rectangle 6"/>
          <p:cNvSpPr>
            <a:spLocks noGrp="1" noChangeArrowheads="1"/>
          </p:cNvSpPr>
          <p:nvPr>
            <p:ph type="sldNum" sz="quarter" idx="4"/>
          </p:nvPr>
        </p:nvSpPr>
        <p:spPr>
          <a:xfrm>
            <a:off x="6553200" y="6248400"/>
            <a:ext cx="1905000" cy="457200"/>
          </a:xfrm>
        </p:spPr>
        <p:txBody>
          <a:bodyPr/>
          <a:lstStyle>
            <a:lvl1pPr>
              <a:defRPr/>
            </a:lvl1pPr>
          </a:lstStyle>
          <a:p>
            <a:fld id="{9F9D7F07-25EC-4878-8B9F-4A715F9E6FAC}"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The Arbor Consulting Group</a:t>
            </a:r>
          </a:p>
        </p:txBody>
      </p:sp>
      <p:sp>
        <p:nvSpPr>
          <p:cNvPr id="6" name="Slide Number Placeholder 5"/>
          <p:cNvSpPr>
            <a:spLocks noGrp="1"/>
          </p:cNvSpPr>
          <p:nvPr>
            <p:ph type="sldNum" sz="quarter" idx="12"/>
          </p:nvPr>
        </p:nvSpPr>
        <p:spPr/>
        <p:txBody>
          <a:bodyPr/>
          <a:lstStyle>
            <a:lvl1pPr>
              <a:defRPr/>
            </a:lvl1pPr>
          </a:lstStyle>
          <a:p>
            <a:fld id="{03F12C17-0B73-4771-8E1B-8B3D778A0262}"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The Arbor Consulting Group</a:t>
            </a:r>
          </a:p>
        </p:txBody>
      </p:sp>
      <p:sp>
        <p:nvSpPr>
          <p:cNvPr id="6" name="Slide Number Placeholder 5"/>
          <p:cNvSpPr>
            <a:spLocks noGrp="1"/>
          </p:cNvSpPr>
          <p:nvPr>
            <p:ph type="sldNum" sz="quarter" idx="12"/>
          </p:nvPr>
        </p:nvSpPr>
        <p:spPr/>
        <p:txBody>
          <a:bodyPr/>
          <a:lstStyle>
            <a:lvl1pPr>
              <a:defRPr/>
            </a:lvl1pPr>
          </a:lstStyle>
          <a:p>
            <a:fld id="{3F5D37A2-4A3A-4B75-B7C2-C720E8363CE9}"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The Arbor Consulting Group</a:t>
            </a:r>
          </a:p>
        </p:txBody>
      </p:sp>
      <p:sp>
        <p:nvSpPr>
          <p:cNvPr id="7" name="Slide Number Placeholder 6"/>
          <p:cNvSpPr>
            <a:spLocks noGrp="1"/>
          </p:cNvSpPr>
          <p:nvPr>
            <p:ph type="sldNum" sz="quarter" idx="12"/>
          </p:nvPr>
        </p:nvSpPr>
        <p:spPr/>
        <p:txBody>
          <a:bodyPr/>
          <a:lstStyle>
            <a:lvl1pPr>
              <a:defRPr/>
            </a:lvl1pPr>
          </a:lstStyle>
          <a:p>
            <a:fld id="{FD9C5FB9-D632-4855-BCD1-89BFA6B5CBBB}"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The Arbor Consulting Group</a:t>
            </a:r>
          </a:p>
        </p:txBody>
      </p:sp>
      <p:sp>
        <p:nvSpPr>
          <p:cNvPr id="9" name="Slide Number Placeholder 8"/>
          <p:cNvSpPr>
            <a:spLocks noGrp="1"/>
          </p:cNvSpPr>
          <p:nvPr>
            <p:ph type="sldNum" sz="quarter" idx="12"/>
          </p:nvPr>
        </p:nvSpPr>
        <p:spPr/>
        <p:txBody>
          <a:bodyPr/>
          <a:lstStyle>
            <a:lvl1pPr>
              <a:defRPr/>
            </a:lvl1pPr>
          </a:lstStyle>
          <a:p>
            <a:fld id="{06B24D44-D695-40F2-87E9-7585017C1FA2}"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The Arbor Consulting Group</a:t>
            </a:r>
          </a:p>
        </p:txBody>
      </p:sp>
      <p:sp>
        <p:nvSpPr>
          <p:cNvPr id="5" name="Slide Number Placeholder 4"/>
          <p:cNvSpPr>
            <a:spLocks noGrp="1"/>
          </p:cNvSpPr>
          <p:nvPr>
            <p:ph type="sldNum" sz="quarter" idx="12"/>
          </p:nvPr>
        </p:nvSpPr>
        <p:spPr/>
        <p:txBody>
          <a:bodyPr/>
          <a:lstStyle>
            <a:lvl1pPr>
              <a:defRPr/>
            </a:lvl1pPr>
          </a:lstStyle>
          <a:p>
            <a:fld id="{1075C984-28B3-4118-93DA-35F39B8326C9}"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The Arbor Consulting Group</a:t>
            </a:r>
          </a:p>
        </p:txBody>
      </p:sp>
      <p:sp>
        <p:nvSpPr>
          <p:cNvPr id="4" name="Slide Number Placeholder 3"/>
          <p:cNvSpPr>
            <a:spLocks noGrp="1"/>
          </p:cNvSpPr>
          <p:nvPr>
            <p:ph type="sldNum" sz="quarter" idx="12"/>
          </p:nvPr>
        </p:nvSpPr>
        <p:spPr/>
        <p:txBody>
          <a:bodyPr/>
          <a:lstStyle>
            <a:lvl1pPr>
              <a:defRPr/>
            </a:lvl1pPr>
          </a:lstStyle>
          <a:p>
            <a:fld id="{193377BD-C9C8-4B9A-A914-154235E082C8}"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The Arbor Consulting Group</a:t>
            </a:r>
          </a:p>
        </p:txBody>
      </p:sp>
      <p:sp>
        <p:nvSpPr>
          <p:cNvPr id="7" name="Slide Number Placeholder 6"/>
          <p:cNvSpPr>
            <a:spLocks noGrp="1"/>
          </p:cNvSpPr>
          <p:nvPr>
            <p:ph type="sldNum" sz="quarter" idx="12"/>
          </p:nvPr>
        </p:nvSpPr>
        <p:spPr/>
        <p:txBody>
          <a:bodyPr/>
          <a:lstStyle>
            <a:lvl1pPr>
              <a:defRPr/>
            </a:lvl1pPr>
          </a:lstStyle>
          <a:p>
            <a:fld id="{A8761F4E-C84F-4439-BFD4-BECB9927888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The Arbor Consulting Group</a:t>
            </a:r>
          </a:p>
        </p:txBody>
      </p:sp>
      <p:sp>
        <p:nvSpPr>
          <p:cNvPr id="7" name="Slide Number Placeholder 6"/>
          <p:cNvSpPr>
            <a:spLocks noGrp="1"/>
          </p:cNvSpPr>
          <p:nvPr>
            <p:ph type="sldNum" sz="quarter" idx="12"/>
          </p:nvPr>
        </p:nvSpPr>
        <p:spPr/>
        <p:txBody>
          <a:bodyPr/>
          <a:lstStyle>
            <a:lvl1pPr>
              <a:defRPr/>
            </a:lvl1pPr>
          </a:lstStyle>
          <a:p>
            <a:fld id="{3AF1B459-F5FD-454B-B51A-D03A52E0B250}"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The Arbor Consulting Group</a:t>
            </a:r>
          </a:p>
        </p:txBody>
      </p:sp>
      <p:sp>
        <p:nvSpPr>
          <p:cNvPr id="6" name="Slide Number Placeholder 5"/>
          <p:cNvSpPr>
            <a:spLocks noGrp="1"/>
          </p:cNvSpPr>
          <p:nvPr>
            <p:ph type="sldNum" sz="quarter" idx="12"/>
          </p:nvPr>
        </p:nvSpPr>
        <p:spPr/>
        <p:txBody>
          <a:bodyPr/>
          <a:lstStyle>
            <a:lvl1pPr>
              <a:defRPr/>
            </a:lvl1pPr>
          </a:lstStyle>
          <a:p>
            <a:fld id="{4B707DFB-4C90-4B37-9325-A153D6C4CF86}"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The Arbor Consulting Group</a:t>
            </a:r>
          </a:p>
        </p:txBody>
      </p:sp>
      <p:sp>
        <p:nvSpPr>
          <p:cNvPr id="6" name="Slide Number Placeholder 5"/>
          <p:cNvSpPr>
            <a:spLocks noGrp="1"/>
          </p:cNvSpPr>
          <p:nvPr>
            <p:ph type="sldNum" sz="quarter" idx="12"/>
          </p:nvPr>
        </p:nvSpPr>
        <p:spPr/>
        <p:txBody>
          <a:bodyPr/>
          <a:lstStyle>
            <a:lvl1pPr>
              <a:defRPr/>
            </a:lvl1pPr>
          </a:lstStyle>
          <a:p>
            <a:fld id="{933157D2-8E46-4113-B213-1A683A6B24DE}"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35814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endParaRPr lang="en-US"/>
          </a:p>
        </p:txBody>
      </p:sp>
      <p:sp>
        <p:nvSpPr>
          <p:cNvPr id="1029" name="Rectangle 5"/>
          <p:cNvSpPr>
            <a:spLocks noGrp="1" noChangeArrowheads="1"/>
          </p:cNvSpPr>
          <p:nvPr>
            <p:ph type="ftr" sz="quarter" idx="3"/>
          </p:nvPr>
        </p:nvSpPr>
        <p:spPr bwMode="auto">
          <a:xfrm>
            <a:off x="533400" y="64008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b="1" i="1">
                <a:solidFill>
                  <a:srgbClr val="0000CC"/>
                </a:solidFill>
                <a:effectLst>
                  <a:outerShdw blurRad="38100" dist="38100" dir="2700000" algn="tl">
                    <a:srgbClr val="C0C0C0"/>
                  </a:outerShdw>
                </a:effectLst>
              </a:defRPr>
            </a:lvl1pPr>
          </a:lstStyle>
          <a:p>
            <a:r>
              <a:rPr lang="en-US"/>
              <a:t>The Arbor Consulting Group</a:t>
            </a:r>
          </a:p>
        </p:txBody>
      </p:sp>
      <p:sp>
        <p:nvSpPr>
          <p:cNvPr id="1030" name="Rectangle 6"/>
          <p:cNvSpPr>
            <a:spLocks noGrp="1" noChangeArrowheads="1"/>
          </p:cNvSpPr>
          <p:nvPr>
            <p:ph type="sldNum" sz="quarter" idx="4"/>
          </p:nvPr>
        </p:nvSpPr>
        <p:spPr bwMode="auto">
          <a:xfrm>
            <a:off x="67818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1" i="1">
                <a:solidFill>
                  <a:srgbClr val="0000CC"/>
                </a:solidFill>
                <a:effectLst>
                  <a:outerShdw blurRad="38100" dist="38100" dir="2700000" algn="tl">
                    <a:srgbClr val="C0C0C0"/>
                  </a:outerShdw>
                </a:effectLst>
              </a:defRPr>
            </a:lvl1pPr>
          </a:lstStyle>
          <a:p>
            <a:fld id="{535FE2A8-AACA-49D8-AE80-77D0DBD460AE}" type="slidenum">
              <a:rPr lang="en-US"/>
              <a:pPr/>
              <a:t>‹#›</a:t>
            </a:fld>
            <a:endParaRPr lang="en-US"/>
          </a:p>
        </p:txBody>
      </p:sp>
      <p:pic>
        <p:nvPicPr>
          <p:cNvPr id="1031" name="Picture 7" descr="S:\Mrkmtrls\LOGOS\newlogo.bmp"/>
          <p:cNvPicPr>
            <a:picLocks noChangeAspect="1" noChangeArrowheads="1"/>
          </p:cNvPicPr>
          <p:nvPr userDrawn="1"/>
        </p:nvPicPr>
        <p:blipFill>
          <a:blip r:embed="rId14" cstate="print"/>
          <a:srcRect/>
          <a:stretch>
            <a:fillRect/>
          </a:stretch>
        </p:blipFill>
        <p:spPr bwMode="auto">
          <a:xfrm>
            <a:off x="228600" y="6118225"/>
            <a:ext cx="609600" cy="515938"/>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a:solidFill>
            <a:srgbClr val="000099"/>
          </a:solidFill>
          <a:latin typeface="+mj-lt"/>
          <a:ea typeface="+mj-ea"/>
          <a:cs typeface="+mj-cs"/>
        </a:defRPr>
      </a:lvl1pPr>
      <a:lvl2pPr algn="ctr" rtl="0" fontAlgn="base">
        <a:spcBef>
          <a:spcPct val="0"/>
        </a:spcBef>
        <a:spcAft>
          <a:spcPct val="0"/>
        </a:spcAft>
        <a:defRPr sz="4400">
          <a:solidFill>
            <a:srgbClr val="000099"/>
          </a:solidFill>
          <a:latin typeface="Arial" charset="0"/>
        </a:defRPr>
      </a:lvl2pPr>
      <a:lvl3pPr algn="ctr" rtl="0" fontAlgn="base">
        <a:spcBef>
          <a:spcPct val="0"/>
        </a:spcBef>
        <a:spcAft>
          <a:spcPct val="0"/>
        </a:spcAft>
        <a:defRPr sz="4400">
          <a:solidFill>
            <a:srgbClr val="000099"/>
          </a:solidFill>
          <a:latin typeface="Arial" charset="0"/>
        </a:defRPr>
      </a:lvl3pPr>
      <a:lvl4pPr algn="ctr" rtl="0" fontAlgn="base">
        <a:spcBef>
          <a:spcPct val="0"/>
        </a:spcBef>
        <a:spcAft>
          <a:spcPct val="0"/>
        </a:spcAft>
        <a:defRPr sz="4400">
          <a:solidFill>
            <a:srgbClr val="000099"/>
          </a:solidFill>
          <a:latin typeface="Arial" charset="0"/>
        </a:defRPr>
      </a:lvl4pPr>
      <a:lvl5pPr algn="ctr" rtl="0" fontAlgn="base">
        <a:spcBef>
          <a:spcPct val="0"/>
        </a:spcBef>
        <a:spcAft>
          <a:spcPct val="0"/>
        </a:spcAft>
        <a:defRPr sz="4400">
          <a:solidFill>
            <a:srgbClr val="000099"/>
          </a:solidFill>
          <a:latin typeface="Arial" charset="0"/>
        </a:defRPr>
      </a:lvl5pPr>
      <a:lvl6pPr marL="457200" algn="ctr" rtl="0" fontAlgn="base">
        <a:spcBef>
          <a:spcPct val="0"/>
        </a:spcBef>
        <a:spcAft>
          <a:spcPct val="0"/>
        </a:spcAft>
        <a:defRPr sz="4400">
          <a:solidFill>
            <a:srgbClr val="000099"/>
          </a:solidFill>
          <a:latin typeface="Arial" charset="0"/>
        </a:defRPr>
      </a:lvl6pPr>
      <a:lvl7pPr marL="914400" algn="ctr" rtl="0" fontAlgn="base">
        <a:spcBef>
          <a:spcPct val="0"/>
        </a:spcBef>
        <a:spcAft>
          <a:spcPct val="0"/>
        </a:spcAft>
        <a:defRPr sz="4400">
          <a:solidFill>
            <a:srgbClr val="000099"/>
          </a:solidFill>
          <a:latin typeface="Arial" charset="0"/>
        </a:defRPr>
      </a:lvl7pPr>
      <a:lvl8pPr marL="1371600" algn="ctr" rtl="0" fontAlgn="base">
        <a:spcBef>
          <a:spcPct val="0"/>
        </a:spcBef>
        <a:spcAft>
          <a:spcPct val="0"/>
        </a:spcAft>
        <a:defRPr sz="4400">
          <a:solidFill>
            <a:srgbClr val="000099"/>
          </a:solidFill>
          <a:latin typeface="Arial" charset="0"/>
        </a:defRPr>
      </a:lvl8pPr>
      <a:lvl9pPr marL="1828800" algn="ctr" rtl="0" fontAlgn="base">
        <a:spcBef>
          <a:spcPct val="0"/>
        </a:spcBef>
        <a:spcAft>
          <a:spcPct val="0"/>
        </a:spcAft>
        <a:defRPr sz="4400">
          <a:solidFill>
            <a:srgbClr val="000099"/>
          </a:solidFill>
          <a:latin typeface="Arial" charset="0"/>
        </a:defRPr>
      </a:lvl9pPr>
    </p:titleStyle>
    <p:bodyStyle>
      <a:lvl1pPr marL="609600" indent="-609600" algn="l" rtl="0" fontAlgn="base">
        <a:spcBef>
          <a:spcPct val="20000"/>
        </a:spcBef>
        <a:spcAft>
          <a:spcPct val="0"/>
        </a:spcAft>
        <a:buClr>
          <a:srgbClr val="009900"/>
        </a:buClr>
        <a:buFont typeface="Wingdings" pitchFamily="2" charset="2"/>
        <a:buAutoNum type="alphaLcPeriod"/>
        <a:defRPr sz="3200">
          <a:solidFill>
            <a:srgbClr val="000099"/>
          </a:solidFill>
          <a:latin typeface="+mn-lt"/>
          <a:ea typeface="+mn-ea"/>
          <a:cs typeface="+mn-cs"/>
        </a:defRPr>
      </a:lvl1pPr>
      <a:lvl2pPr marL="990600" indent="-533400" algn="l" rtl="0" fontAlgn="base">
        <a:spcBef>
          <a:spcPct val="20000"/>
        </a:spcBef>
        <a:spcAft>
          <a:spcPct val="0"/>
        </a:spcAft>
        <a:buClr>
          <a:srgbClr val="009900"/>
        </a:buClr>
        <a:buFont typeface="Wingdings" pitchFamily="2" charset="2"/>
        <a:buChar char="ü"/>
        <a:defRPr sz="2800">
          <a:solidFill>
            <a:srgbClr val="000099"/>
          </a:solidFill>
          <a:latin typeface="+mn-lt"/>
        </a:defRPr>
      </a:lvl2pPr>
      <a:lvl3pPr marL="1371600" indent="-457200" algn="l" rtl="0" fontAlgn="base">
        <a:spcBef>
          <a:spcPct val="20000"/>
        </a:spcBef>
        <a:spcAft>
          <a:spcPct val="0"/>
        </a:spcAft>
        <a:buClr>
          <a:srgbClr val="CC6600"/>
        </a:buClr>
        <a:buFont typeface="Wingdings" pitchFamily="2" charset="2"/>
        <a:buChar char="§"/>
        <a:defRPr sz="2400">
          <a:solidFill>
            <a:srgbClr val="000099"/>
          </a:solidFill>
          <a:latin typeface="+mn-lt"/>
        </a:defRPr>
      </a:lvl3pPr>
      <a:lvl4pPr marL="1752600" indent="-381000" algn="l" rtl="0" fontAlgn="base">
        <a:spcBef>
          <a:spcPct val="20000"/>
        </a:spcBef>
        <a:spcAft>
          <a:spcPct val="0"/>
        </a:spcAft>
        <a:buChar char="–"/>
        <a:defRPr sz="2000">
          <a:solidFill>
            <a:srgbClr val="000099"/>
          </a:solidFill>
          <a:latin typeface="+mn-lt"/>
        </a:defRPr>
      </a:lvl4pPr>
      <a:lvl5pPr marL="2209800" indent="-381000" algn="l" rtl="0" fontAlgn="base">
        <a:spcBef>
          <a:spcPct val="20000"/>
        </a:spcBef>
        <a:spcAft>
          <a:spcPct val="0"/>
        </a:spcAft>
        <a:buChar char="»"/>
        <a:defRPr sz="2000">
          <a:solidFill>
            <a:srgbClr val="000099"/>
          </a:solidFill>
          <a:latin typeface="+mn-lt"/>
        </a:defRPr>
      </a:lvl5pPr>
      <a:lvl6pPr marL="2667000" indent="-381000" algn="l" rtl="0" fontAlgn="base">
        <a:spcBef>
          <a:spcPct val="20000"/>
        </a:spcBef>
        <a:spcAft>
          <a:spcPct val="0"/>
        </a:spcAft>
        <a:buChar char="»"/>
        <a:defRPr sz="2000">
          <a:solidFill>
            <a:srgbClr val="000099"/>
          </a:solidFill>
          <a:latin typeface="+mn-lt"/>
        </a:defRPr>
      </a:lvl6pPr>
      <a:lvl7pPr marL="3124200" indent="-381000" algn="l" rtl="0" fontAlgn="base">
        <a:spcBef>
          <a:spcPct val="20000"/>
        </a:spcBef>
        <a:spcAft>
          <a:spcPct val="0"/>
        </a:spcAft>
        <a:buChar char="»"/>
        <a:defRPr sz="2000">
          <a:solidFill>
            <a:srgbClr val="000099"/>
          </a:solidFill>
          <a:latin typeface="+mn-lt"/>
        </a:defRPr>
      </a:lvl7pPr>
      <a:lvl8pPr marL="3581400" indent="-381000" algn="l" rtl="0" fontAlgn="base">
        <a:spcBef>
          <a:spcPct val="20000"/>
        </a:spcBef>
        <a:spcAft>
          <a:spcPct val="0"/>
        </a:spcAft>
        <a:buChar char="»"/>
        <a:defRPr sz="2000">
          <a:solidFill>
            <a:srgbClr val="000099"/>
          </a:solidFill>
          <a:latin typeface="+mn-lt"/>
        </a:defRPr>
      </a:lvl8pPr>
      <a:lvl9pPr marL="4038600" indent="-381000" algn="l" rtl="0" fontAlgn="base">
        <a:spcBef>
          <a:spcPct val="20000"/>
        </a:spcBef>
        <a:spcAft>
          <a:spcPct val="0"/>
        </a:spcAft>
        <a:buChar char="»"/>
        <a:defRPr sz="2000">
          <a:solidFill>
            <a:srgbClr val="000099"/>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2.xml"/><Relationship Id="rId5" Type="http://schemas.openxmlformats.org/officeDocument/2006/relationships/image" Target="../media/image3.pn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9" name="Picture 1029" descr="S:\Mrkmtrls\LOGOS\newlogo.bmp"/>
          <p:cNvPicPr>
            <a:picLocks noChangeAspect="1" noChangeArrowheads="1"/>
          </p:cNvPicPr>
          <p:nvPr/>
        </p:nvPicPr>
        <p:blipFill>
          <a:blip r:embed="rId4" cstate="print"/>
          <a:srcRect/>
          <a:stretch>
            <a:fillRect/>
          </a:stretch>
        </p:blipFill>
        <p:spPr bwMode="auto">
          <a:xfrm>
            <a:off x="3581400" y="381000"/>
            <a:ext cx="1981200" cy="1670050"/>
          </a:xfrm>
          <a:prstGeom prst="rect">
            <a:avLst/>
          </a:prstGeom>
          <a:noFill/>
        </p:spPr>
      </p:pic>
      <p:sp>
        <p:nvSpPr>
          <p:cNvPr id="52230" name="Text Box 1030"/>
          <p:cNvSpPr txBox="1">
            <a:spLocks noChangeArrowheads="1"/>
          </p:cNvSpPr>
          <p:nvPr/>
        </p:nvSpPr>
        <p:spPr bwMode="auto">
          <a:xfrm>
            <a:off x="2133600" y="4419600"/>
            <a:ext cx="5097463" cy="1857375"/>
          </a:xfrm>
          <a:prstGeom prst="rect">
            <a:avLst/>
          </a:prstGeom>
          <a:noFill/>
          <a:ln w="9525">
            <a:noFill/>
            <a:miter lim="800000"/>
            <a:headEnd/>
            <a:tailEnd/>
          </a:ln>
          <a:effectLst/>
        </p:spPr>
        <p:txBody>
          <a:bodyPr wrap="none">
            <a:spAutoFit/>
          </a:bodyPr>
          <a:lstStyle/>
          <a:p>
            <a:pPr algn="ctr">
              <a:spcBef>
                <a:spcPct val="20000"/>
              </a:spcBef>
            </a:pPr>
            <a:r>
              <a:rPr lang="en-US" sz="2000" b="1">
                <a:solidFill>
                  <a:srgbClr val="000099"/>
                </a:solidFill>
              </a:rPr>
              <a:t>Presented by:</a:t>
            </a:r>
          </a:p>
          <a:p>
            <a:pPr algn="ctr">
              <a:spcBef>
                <a:spcPct val="20000"/>
              </a:spcBef>
            </a:pPr>
            <a:r>
              <a:rPr lang="en-US" sz="2000" b="1">
                <a:solidFill>
                  <a:srgbClr val="000099"/>
                </a:solidFill>
              </a:rPr>
              <a:t>Joan E. Moore, J.D., SPHR</a:t>
            </a:r>
          </a:p>
          <a:p>
            <a:pPr algn="ctr">
              <a:spcBef>
                <a:spcPct val="20000"/>
              </a:spcBef>
            </a:pPr>
            <a:r>
              <a:rPr lang="en-US" sz="2000" b="1">
                <a:solidFill>
                  <a:srgbClr val="000099"/>
                </a:solidFill>
              </a:rPr>
              <a:t> President</a:t>
            </a:r>
          </a:p>
          <a:p>
            <a:pPr algn="ctr">
              <a:spcBef>
                <a:spcPct val="20000"/>
              </a:spcBef>
            </a:pPr>
            <a:r>
              <a:rPr lang="en-US" sz="2000" b="1">
                <a:solidFill>
                  <a:srgbClr val="000099"/>
                </a:solidFill>
              </a:rPr>
              <a:t>THE ARBOR CONSULTING GROUP, INC.</a:t>
            </a:r>
          </a:p>
          <a:p>
            <a:pPr algn="ctr">
              <a:spcBef>
                <a:spcPct val="20000"/>
              </a:spcBef>
            </a:pPr>
            <a:r>
              <a:rPr lang="en-US" sz="2000" b="1" i="1" u="sng">
                <a:solidFill>
                  <a:srgbClr val="000099"/>
                </a:solidFill>
              </a:rPr>
              <a:t>http://www.arborhr.com</a:t>
            </a:r>
          </a:p>
        </p:txBody>
      </p:sp>
      <p:sp>
        <p:nvSpPr>
          <p:cNvPr id="52238" name="Rectangle 1038"/>
          <p:cNvSpPr>
            <a:spLocks noChangeArrowheads="1"/>
          </p:cNvSpPr>
          <p:nvPr/>
        </p:nvSpPr>
        <p:spPr bwMode="auto">
          <a:xfrm>
            <a:off x="381000" y="2362200"/>
            <a:ext cx="8610600" cy="1739900"/>
          </a:xfrm>
          <a:prstGeom prst="rect">
            <a:avLst/>
          </a:prstGeom>
          <a:noFill/>
          <a:ln w="9525">
            <a:noFill/>
            <a:miter lim="800000"/>
            <a:headEnd/>
            <a:tailEnd/>
          </a:ln>
          <a:effectLst/>
        </p:spPr>
        <p:txBody>
          <a:bodyPr>
            <a:spAutoFit/>
          </a:bodyPr>
          <a:lstStyle/>
          <a:p>
            <a:pPr algn="ctr"/>
            <a:r>
              <a:rPr lang="en-US" sz="3600" b="1" u="sng">
                <a:solidFill>
                  <a:srgbClr val="000099"/>
                </a:solidFill>
              </a:rPr>
              <a:t>BUILDING YOUR CONSULTING BUSINESS ONE RELATIONSHIP </a:t>
            </a:r>
          </a:p>
          <a:p>
            <a:pPr algn="ctr"/>
            <a:r>
              <a:rPr lang="en-US" sz="3600" b="1" u="sng">
                <a:solidFill>
                  <a:srgbClr val="000099"/>
                </a:solidFill>
              </a:rPr>
              <a:t>AT A TIME</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dissolve">
                                      <p:cBhvr>
                                        <p:cTn id="7" dur="500"/>
                                        <p:tgtEl>
                                          <p:spTgt spid="52229"/>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52238">
                                            <p:txEl>
                                              <p:pRg st="0" end="0"/>
                                            </p:txEl>
                                          </p:spTgt>
                                        </p:tgtEl>
                                        <p:attrNameLst>
                                          <p:attrName>style.visibility</p:attrName>
                                        </p:attrNameLst>
                                      </p:cBhvr>
                                      <p:to>
                                        <p:strVal val="visible"/>
                                      </p:to>
                                    </p:set>
                                    <p:animEffect transition="in" filter="box(out)">
                                      <p:cBhvr>
                                        <p:cTn id="11" dur="500"/>
                                        <p:tgtEl>
                                          <p:spTgt spid="52238">
                                            <p:txEl>
                                              <p:pRg st="0" end="0"/>
                                            </p:txEl>
                                          </p:spTgt>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52238">
                                            <p:txEl>
                                              <p:pRg st="1" end="1"/>
                                            </p:txEl>
                                          </p:spTgt>
                                        </p:tgtEl>
                                        <p:attrNameLst>
                                          <p:attrName>style.visibility</p:attrName>
                                        </p:attrNameLst>
                                      </p:cBhvr>
                                      <p:to>
                                        <p:strVal val="visible"/>
                                      </p:to>
                                    </p:set>
                                    <p:animEffect transition="in" filter="box(out)">
                                      <p:cBhvr>
                                        <p:cTn id="15" dur="500"/>
                                        <p:tgtEl>
                                          <p:spTgt spid="52238">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1000"/>
                                  </p:stCondLst>
                                  <p:childTnLst>
                                    <p:set>
                                      <p:cBhvr>
                                        <p:cTn id="18" dur="1" fill="hold">
                                          <p:stCondLst>
                                            <p:cond delay="0"/>
                                          </p:stCondLst>
                                        </p:cTn>
                                        <p:tgtEl>
                                          <p:spTgt spid="52230"/>
                                        </p:tgtEl>
                                        <p:attrNameLst>
                                          <p:attrName>style.visibility</p:attrName>
                                        </p:attrNameLst>
                                      </p:cBhvr>
                                      <p:to>
                                        <p:strVal val="visible"/>
                                      </p:to>
                                    </p:set>
                                    <p:animEffect transition="in" filter="dissolve">
                                      <p:cBhvr>
                                        <p:cTn id="19" dur="5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0" grpId="0" autoUpdateAnimBg="0"/>
      <p:bldP spid="52238" grpId="0" build="p" autoUpdateAnimBg="0"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DD2B0810-15DD-493C-8612-49DBE74347B7}" type="slidenum">
              <a:rPr lang="en-US"/>
              <a:pPr/>
              <a:t>2</a:t>
            </a:fld>
            <a:endParaRPr lang="en-US"/>
          </a:p>
        </p:txBody>
      </p:sp>
      <p:sp>
        <p:nvSpPr>
          <p:cNvPr id="107522"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07523"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07524" name="Text Box 4"/>
          <p:cNvSpPr txBox="1">
            <a:spLocks noChangeArrowheads="1"/>
          </p:cNvSpPr>
          <p:nvPr/>
        </p:nvSpPr>
        <p:spPr bwMode="auto">
          <a:xfrm>
            <a:off x="1371600" y="381000"/>
            <a:ext cx="6705600" cy="946150"/>
          </a:xfrm>
          <a:prstGeom prst="rect">
            <a:avLst/>
          </a:prstGeom>
          <a:noFill/>
          <a:ln w="9525">
            <a:noFill/>
            <a:miter lim="800000"/>
            <a:headEnd/>
            <a:tailEnd/>
          </a:ln>
          <a:effectLst/>
        </p:spPr>
        <p:txBody>
          <a:bodyPr>
            <a:spAutoFit/>
          </a:bodyPr>
          <a:lstStyle/>
          <a:p>
            <a:pPr algn="ctr"/>
            <a:r>
              <a:rPr lang="en-US" b="1">
                <a:solidFill>
                  <a:srgbClr val="000099"/>
                </a:solidFill>
              </a:rPr>
              <a:t>Building Your Consulting Business One Relationship At A Time</a:t>
            </a:r>
          </a:p>
        </p:txBody>
      </p:sp>
      <p:sp>
        <p:nvSpPr>
          <p:cNvPr id="107525" name="Text Box 5"/>
          <p:cNvSpPr txBox="1">
            <a:spLocks noChangeArrowheads="1"/>
          </p:cNvSpPr>
          <p:nvPr/>
        </p:nvSpPr>
        <p:spPr bwMode="auto">
          <a:xfrm>
            <a:off x="1600200" y="1635125"/>
            <a:ext cx="6040438" cy="4259263"/>
          </a:xfrm>
          <a:prstGeom prst="rect">
            <a:avLst/>
          </a:prstGeom>
          <a:noFill/>
          <a:ln w="9525">
            <a:noFill/>
            <a:miter lim="800000"/>
            <a:headEnd/>
            <a:tailEnd/>
          </a:ln>
          <a:effectLst/>
        </p:spPr>
        <p:txBody>
          <a:bodyPr wrap="none">
            <a:spAutoFit/>
          </a:bodyPr>
          <a:lstStyle/>
          <a:p>
            <a:pPr marL="457200" indent="-457200">
              <a:lnSpc>
                <a:spcPct val="150000"/>
              </a:lnSpc>
              <a:buClr>
                <a:srgbClr val="009900"/>
              </a:buClr>
              <a:buFont typeface="Wingdings" pitchFamily="2" charset="2"/>
              <a:buAutoNum type="arabicPeriod"/>
            </a:pPr>
            <a:r>
              <a:rPr lang="en-US" sz="2600" b="1"/>
              <a:t>  </a:t>
            </a:r>
            <a:r>
              <a:rPr lang="en-US" sz="2600" b="1">
                <a:solidFill>
                  <a:srgbClr val="000099"/>
                </a:solidFill>
              </a:rPr>
              <a:t>Introduction</a:t>
            </a:r>
          </a:p>
          <a:p>
            <a:pPr marL="457200" indent="-457200">
              <a:lnSpc>
                <a:spcPct val="150000"/>
              </a:lnSpc>
              <a:buClr>
                <a:srgbClr val="009900"/>
              </a:buClr>
              <a:buFont typeface="Wingdings" pitchFamily="2" charset="2"/>
              <a:buAutoNum type="arabicPeriod"/>
            </a:pPr>
            <a:r>
              <a:rPr lang="en-US" sz="2600" b="1">
                <a:solidFill>
                  <a:srgbClr val="000099"/>
                </a:solidFill>
              </a:rPr>
              <a:t>  Lessons Learned</a:t>
            </a:r>
          </a:p>
          <a:p>
            <a:pPr marL="457200" indent="-457200">
              <a:lnSpc>
                <a:spcPct val="150000"/>
              </a:lnSpc>
              <a:buClr>
                <a:srgbClr val="009900"/>
              </a:buClr>
              <a:buFont typeface="Wingdings" pitchFamily="2" charset="2"/>
              <a:buAutoNum type="arabicPeriod"/>
            </a:pPr>
            <a:r>
              <a:rPr lang="en-US" sz="2600" b="1">
                <a:solidFill>
                  <a:srgbClr val="000099"/>
                </a:solidFill>
              </a:rPr>
              <a:t>  Building a National Practice</a:t>
            </a:r>
          </a:p>
          <a:p>
            <a:pPr marL="457200" indent="-457200">
              <a:lnSpc>
                <a:spcPct val="150000"/>
              </a:lnSpc>
              <a:buClr>
                <a:srgbClr val="009900"/>
              </a:buClr>
              <a:buFont typeface="Wingdings" pitchFamily="2" charset="2"/>
              <a:buAutoNum type="arabicPeriod"/>
            </a:pPr>
            <a:r>
              <a:rPr lang="en-US" sz="2600" b="1">
                <a:solidFill>
                  <a:srgbClr val="000099"/>
                </a:solidFill>
              </a:rPr>
              <a:t>  Networking Do’s and Don’ts</a:t>
            </a:r>
          </a:p>
          <a:p>
            <a:pPr marL="457200" indent="-457200">
              <a:lnSpc>
                <a:spcPct val="150000"/>
              </a:lnSpc>
              <a:buClr>
                <a:srgbClr val="009900"/>
              </a:buClr>
              <a:buFont typeface="Wingdings" pitchFamily="2" charset="2"/>
              <a:buAutoNum type="arabicPeriod"/>
            </a:pPr>
            <a:r>
              <a:rPr lang="en-US" sz="2600" b="1">
                <a:solidFill>
                  <a:srgbClr val="000099"/>
                </a:solidFill>
              </a:rPr>
              <a:t>  How To Keep Your Network Alive</a:t>
            </a:r>
          </a:p>
          <a:p>
            <a:pPr marL="457200" indent="-457200">
              <a:lnSpc>
                <a:spcPct val="150000"/>
              </a:lnSpc>
              <a:buClr>
                <a:srgbClr val="009900"/>
              </a:buClr>
              <a:buFont typeface="Wingdings" pitchFamily="2" charset="2"/>
              <a:buAutoNum type="arabicPeriod"/>
            </a:pPr>
            <a:r>
              <a:rPr lang="en-US" sz="2600" b="1">
                <a:solidFill>
                  <a:srgbClr val="000099"/>
                </a:solidFill>
              </a:rPr>
              <a:t>  Extending Your Reach</a:t>
            </a:r>
          </a:p>
          <a:p>
            <a:pPr marL="457200" indent="-457200">
              <a:lnSpc>
                <a:spcPct val="150000"/>
              </a:lnSpc>
              <a:buClr>
                <a:srgbClr val="009900"/>
              </a:buClr>
              <a:buFont typeface="Wingdings" pitchFamily="2" charset="2"/>
              <a:buAutoNum type="arabicPeriod"/>
            </a:pPr>
            <a:r>
              <a:rPr lang="en-US" sz="2600" b="1">
                <a:solidFill>
                  <a:srgbClr val="000099"/>
                </a:solidFill>
              </a:rPr>
              <a:t>  5 Immediate Steps for Success</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07524"/>
                                        </p:tgtEl>
                                        <p:attrNameLst>
                                          <p:attrName>style.visibility</p:attrName>
                                        </p:attrNameLst>
                                      </p:cBhvr>
                                      <p:to>
                                        <p:strVal val="visible"/>
                                      </p:to>
                                    </p:set>
                                    <p:animEffect transition="in" filter="dissolve">
                                      <p:cBhvr>
                                        <p:cTn id="7" dur="500"/>
                                        <p:tgtEl>
                                          <p:spTgt spid="10752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07525">
                                            <p:txEl>
                                              <p:pRg st="0" end="0"/>
                                            </p:txEl>
                                          </p:spTgt>
                                        </p:tgtEl>
                                        <p:attrNameLst>
                                          <p:attrName>style.visibility</p:attrName>
                                        </p:attrNameLst>
                                      </p:cBhvr>
                                      <p:to>
                                        <p:strVal val="visible"/>
                                      </p:to>
                                    </p:set>
                                    <p:animEffect transition="in" filter="dissolve">
                                      <p:cBhvr>
                                        <p:cTn id="11" dur="500"/>
                                        <p:tgtEl>
                                          <p:spTgt spid="107525">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07525">
                                            <p:txEl>
                                              <p:pRg st="1" end="1"/>
                                            </p:txEl>
                                          </p:spTgt>
                                        </p:tgtEl>
                                        <p:attrNameLst>
                                          <p:attrName>style.visibility</p:attrName>
                                        </p:attrNameLst>
                                      </p:cBhvr>
                                      <p:to>
                                        <p:strVal val="visible"/>
                                      </p:to>
                                    </p:set>
                                    <p:animEffect transition="in" filter="dissolve">
                                      <p:cBhvr>
                                        <p:cTn id="15" dur="500"/>
                                        <p:tgtEl>
                                          <p:spTgt spid="107525">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07525">
                                            <p:txEl>
                                              <p:pRg st="2" end="2"/>
                                            </p:txEl>
                                          </p:spTgt>
                                        </p:tgtEl>
                                        <p:attrNameLst>
                                          <p:attrName>style.visibility</p:attrName>
                                        </p:attrNameLst>
                                      </p:cBhvr>
                                      <p:to>
                                        <p:strVal val="visible"/>
                                      </p:to>
                                    </p:set>
                                    <p:animEffect transition="in" filter="dissolve">
                                      <p:cBhvr>
                                        <p:cTn id="19" dur="500"/>
                                        <p:tgtEl>
                                          <p:spTgt spid="107525">
                                            <p:txEl>
                                              <p:pRg st="2" end="2"/>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07525">
                                            <p:txEl>
                                              <p:pRg st="3" end="3"/>
                                            </p:txEl>
                                          </p:spTgt>
                                        </p:tgtEl>
                                        <p:attrNameLst>
                                          <p:attrName>style.visibility</p:attrName>
                                        </p:attrNameLst>
                                      </p:cBhvr>
                                      <p:to>
                                        <p:strVal val="visible"/>
                                      </p:to>
                                    </p:set>
                                    <p:animEffect transition="in" filter="dissolve">
                                      <p:cBhvr>
                                        <p:cTn id="23" dur="500"/>
                                        <p:tgtEl>
                                          <p:spTgt spid="107525">
                                            <p:txEl>
                                              <p:pRg st="3" end="3"/>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07525">
                                            <p:txEl>
                                              <p:pRg st="4" end="4"/>
                                            </p:txEl>
                                          </p:spTgt>
                                        </p:tgtEl>
                                        <p:attrNameLst>
                                          <p:attrName>style.visibility</p:attrName>
                                        </p:attrNameLst>
                                      </p:cBhvr>
                                      <p:to>
                                        <p:strVal val="visible"/>
                                      </p:to>
                                    </p:set>
                                    <p:animEffect transition="in" filter="dissolve">
                                      <p:cBhvr>
                                        <p:cTn id="27" dur="500"/>
                                        <p:tgtEl>
                                          <p:spTgt spid="107525">
                                            <p:txEl>
                                              <p:pRg st="4" end="4"/>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07525">
                                            <p:txEl>
                                              <p:pRg st="5" end="5"/>
                                            </p:txEl>
                                          </p:spTgt>
                                        </p:tgtEl>
                                        <p:attrNameLst>
                                          <p:attrName>style.visibility</p:attrName>
                                        </p:attrNameLst>
                                      </p:cBhvr>
                                      <p:to>
                                        <p:strVal val="visible"/>
                                      </p:to>
                                    </p:set>
                                    <p:animEffect transition="in" filter="dissolve">
                                      <p:cBhvr>
                                        <p:cTn id="31" dur="500"/>
                                        <p:tgtEl>
                                          <p:spTgt spid="107525">
                                            <p:txEl>
                                              <p:pRg st="5" end="5"/>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107525">
                                            <p:txEl>
                                              <p:pRg st="6" end="6"/>
                                            </p:txEl>
                                          </p:spTgt>
                                        </p:tgtEl>
                                        <p:attrNameLst>
                                          <p:attrName>style.visibility</p:attrName>
                                        </p:attrNameLst>
                                      </p:cBhvr>
                                      <p:to>
                                        <p:strVal val="visible"/>
                                      </p:to>
                                    </p:set>
                                    <p:animEffect transition="in" filter="dissolve">
                                      <p:cBhvr>
                                        <p:cTn id="35" dur="500"/>
                                        <p:tgtEl>
                                          <p:spTgt spid="10752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autoUpdateAnimBg="0"/>
      <p:bldP spid="107525" grpId="0" build="p" autoUpdateAnimBg="0"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18EB5DE2-4C40-479A-8188-E5CDEFF51840}" type="slidenum">
              <a:rPr lang="en-US"/>
              <a:pPr/>
              <a:t>3</a:t>
            </a:fld>
            <a:endParaRPr lang="en-US"/>
          </a:p>
        </p:txBody>
      </p:sp>
      <p:sp>
        <p:nvSpPr>
          <p:cNvPr id="79874" name="Text Box 1026"/>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79875" name="Text Box 1027"/>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79876" name="Text Box 1028"/>
          <p:cNvSpPr txBox="1">
            <a:spLocks noChangeArrowheads="1"/>
          </p:cNvSpPr>
          <p:nvPr/>
        </p:nvSpPr>
        <p:spPr bwMode="auto">
          <a:xfrm>
            <a:off x="1371600" y="381000"/>
            <a:ext cx="6705600" cy="946150"/>
          </a:xfrm>
          <a:prstGeom prst="rect">
            <a:avLst/>
          </a:prstGeom>
          <a:noFill/>
          <a:ln w="9525">
            <a:noFill/>
            <a:miter lim="800000"/>
            <a:headEnd/>
            <a:tailEnd/>
          </a:ln>
          <a:effectLst/>
        </p:spPr>
        <p:txBody>
          <a:bodyPr>
            <a:spAutoFit/>
          </a:bodyPr>
          <a:lstStyle/>
          <a:p>
            <a:pPr algn="ctr"/>
            <a:r>
              <a:rPr lang="en-US" b="1">
                <a:solidFill>
                  <a:srgbClr val="000099"/>
                </a:solidFill>
              </a:rPr>
              <a:t>Building Your Consulting Business One Relationship At A Time</a:t>
            </a:r>
          </a:p>
        </p:txBody>
      </p:sp>
      <p:sp>
        <p:nvSpPr>
          <p:cNvPr id="79877" name="Text Box 1029"/>
          <p:cNvSpPr txBox="1">
            <a:spLocks noChangeArrowheads="1"/>
          </p:cNvSpPr>
          <p:nvPr/>
        </p:nvSpPr>
        <p:spPr bwMode="auto">
          <a:xfrm>
            <a:off x="1600200" y="1635125"/>
            <a:ext cx="2751138" cy="687388"/>
          </a:xfrm>
          <a:prstGeom prst="rect">
            <a:avLst/>
          </a:prstGeom>
          <a:noFill/>
          <a:ln w="9525">
            <a:noFill/>
            <a:miter lim="800000"/>
            <a:headEnd/>
            <a:tailEnd/>
          </a:ln>
          <a:effectLst/>
        </p:spPr>
        <p:txBody>
          <a:bodyPr wrap="none">
            <a:spAutoFit/>
          </a:bodyPr>
          <a:lstStyle/>
          <a:p>
            <a:pPr marL="457200" indent="-457200">
              <a:lnSpc>
                <a:spcPct val="150000"/>
              </a:lnSpc>
              <a:buClr>
                <a:srgbClr val="009900"/>
              </a:buClr>
              <a:buFont typeface="Wingdings" pitchFamily="2" charset="2"/>
              <a:buAutoNum type="arabicPeriod"/>
            </a:pPr>
            <a:r>
              <a:rPr lang="en-US" sz="2600" b="1"/>
              <a:t>  </a:t>
            </a:r>
            <a:r>
              <a:rPr lang="en-US" sz="2600" b="1">
                <a:solidFill>
                  <a:srgbClr val="000099"/>
                </a:solidFill>
              </a:rPr>
              <a:t>Introduction</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79876"/>
                                        </p:tgtEl>
                                        <p:attrNameLst>
                                          <p:attrName>style.visibility</p:attrName>
                                        </p:attrNameLst>
                                      </p:cBhvr>
                                      <p:to>
                                        <p:strVal val="visible"/>
                                      </p:to>
                                    </p:set>
                                    <p:animEffect transition="in" filter="dissolve">
                                      <p:cBhvr>
                                        <p:cTn id="7" dur="500"/>
                                        <p:tgtEl>
                                          <p:spTgt spid="7987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9877">
                                            <p:txEl>
                                              <p:pRg st="0" end="0"/>
                                            </p:txEl>
                                          </p:spTgt>
                                        </p:tgtEl>
                                        <p:attrNameLst>
                                          <p:attrName>style.visibility</p:attrName>
                                        </p:attrNameLst>
                                      </p:cBhvr>
                                      <p:to>
                                        <p:strVal val="visible"/>
                                      </p:to>
                                    </p:set>
                                    <p:animEffect transition="in" filter="dissolve">
                                      <p:cBhvr>
                                        <p:cTn id="11" dur="500"/>
                                        <p:tgtEl>
                                          <p:spTgt spid="7987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5B3EB5AF-4B80-47D4-9F06-22A10A5F89F9}" type="slidenum">
              <a:rPr lang="en-US"/>
              <a:pPr/>
              <a:t>4</a:t>
            </a:fld>
            <a:endParaRPr lang="en-US"/>
          </a:p>
        </p:txBody>
      </p:sp>
      <p:sp>
        <p:nvSpPr>
          <p:cNvPr id="110594"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0595"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0596" name="Text Box 4"/>
          <p:cNvSpPr txBox="1">
            <a:spLocks noChangeArrowheads="1"/>
          </p:cNvSpPr>
          <p:nvPr/>
        </p:nvSpPr>
        <p:spPr bwMode="auto">
          <a:xfrm>
            <a:off x="1371600" y="381000"/>
            <a:ext cx="6705600" cy="946150"/>
          </a:xfrm>
          <a:prstGeom prst="rect">
            <a:avLst/>
          </a:prstGeom>
          <a:noFill/>
          <a:ln w="9525">
            <a:noFill/>
            <a:miter lim="800000"/>
            <a:headEnd/>
            <a:tailEnd/>
          </a:ln>
          <a:effectLst/>
        </p:spPr>
        <p:txBody>
          <a:bodyPr>
            <a:spAutoFit/>
          </a:bodyPr>
          <a:lstStyle/>
          <a:p>
            <a:pPr algn="ctr"/>
            <a:r>
              <a:rPr lang="en-US" b="1">
                <a:solidFill>
                  <a:srgbClr val="000099"/>
                </a:solidFill>
              </a:rPr>
              <a:t>Building Your Consulting Business One Relationship At A Time</a:t>
            </a:r>
          </a:p>
        </p:txBody>
      </p:sp>
      <p:sp>
        <p:nvSpPr>
          <p:cNvPr id="110597" name="Text Box 5"/>
          <p:cNvSpPr txBox="1">
            <a:spLocks noChangeArrowheads="1"/>
          </p:cNvSpPr>
          <p:nvPr/>
        </p:nvSpPr>
        <p:spPr bwMode="auto">
          <a:xfrm>
            <a:off x="1600200" y="1635125"/>
            <a:ext cx="3544888" cy="1282700"/>
          </a:xfrm>
          <a:prstGeom prst="rect">
            <a:avLst/>
          </a:prstGeom>
          <a:noFill/>
          <a:ln w="9525">
            <a:noFill/>
            <a:miter lim="800000"/>
            <a:headEnd/>
            <a:tailEnd/>
          </a:ln>
          <a:effectLst/>
        </p:spPr>
        <p:txBody>
          <a:bodyPr wrap="none">
            <a:spAutoFit/>
          </a:bodyPr>
          <a:lstStyle/>
          <a:p>
            <a:pPr marL="457200" indent="-457200">
              <a:lnSpc>
                <a:spcPct val="150000"/>
              </a:lnSpc>
              <a:buClr>
                <a:srgbClr val="009900"/>
              </a:buClr>
              <a:buFont typeface="Wingdings" pitchFamily="2" charset="2"/>
              <a:buAutoNum type="arabicPeriod"/>
            </a:pPr>
            <a:r>
              <a:rPr lang="en-US" sz="2600" b="1">
                <a:solidFill>
                  <a:srgbClr val="66CCFF"/>
                </a:solidFill>
              </a:rPr>
              <a:t>  Introduction</a:t>
            </a:r>
          </a:p>
          <a:p>
            <a:pPr marL="457200" indent="-457200">
              <a:lnSpc>
                <a:spcPct val="150000"/>
              </a:lnSpc>
              <a:buClr>
                <a:srgbClr val="009900"/>
              </a:buClr>
              <a:buFont typeface="Wingdings" pitchFamily="2" charset="2"/>
              <a:buAutoNum type="arabicPeriod"/>
            </a:pPr>
            <a:r>
              <a:rPr lang="en-US" sz="2600" b="1">
                <a:solidFill>
                  <a:srgbClr val="000099"/>
                </a:solidFill>
              </a:rPr>
              <a:t>  Lessons Learned</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0596"/>
                                        </p:tgtEl>
                                        <p:attrNameLst>
                                          <p:attrName>style.visibility</p:attrName>
                                        </p:attrNameLst>
                                      </p:cBhvr>
                                      <p:to>
                                        <p:strVal val="visible"/>
                                      </p:to>
                                    </p:set>
                                    <p:animEffect transition="in" filter="dissolve">
                                      <p:cBhvr>
                                        <p:cTn id="7" dur="500"/>
                                        <p:tgtEl>
                                          <p:spTgt spid="11059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0597">
                                            <p:txEl>
                                              <p:pRg st="0" end="0"/>
                                            </p:txEl>
                                          </p:spTgt>
                                        </p:tgtEl>
                                        <p:attrNameLst>
                                          <p:attrName>style.visibility</p:attrName>
                                        </p:attrNameLst>
                                      </p:cBhvr>
                                      <p:to>
                                        <p:strVal val="visible"/>
                                      </p:to>
                                    </p:set>
                                    <p:animEffect transition="in" filter="dissolve">
                                      <p:cBhvr>
                                        <p:cTn id="11" dur="500"/>
                                        <p:tgtEl>
                                          <p:spTgt spid="110597">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0597">
                                            <p:txEl>
                                              <p:pRg st="1" end="1"/>
                                            </p:txEl>
                                          </p:spTgt>
                                        </p:tgtEl>
                                        <p:attrNameLst>
                                          <p:attrName>style.visibility</p:attrName>
                                        </p:attrNameLst>
                                      </p:cBhvr>
                                      <p:to>
                                        <p:strVal val="visible"/>
                                      </p:to>
                                    </p:set>
                                    <p:animEffect transition="in" filter="dissolve">
                                      <p:cBhvr>
                                        <p:cTn id="15" dur="500"/>
                                        <p:tgtEl>
                                          <p:spTgt spid="1105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autoUpdateAnimBg="0"/>
      <p:bldP spid="110597"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2CBBD69B-25CA-449D-8B31-0554DA3F0B96}" type="slidenum">
              <a:rPr lang="en-US"/>
              <a:pPr/>
              <a:t>5</a:t>
            </a:fld>
            <a:endParaRPr lang="en-US"/>
          </a:p>
        </p:txBody>
      </p:sp>
      <p:sp>
        <p:nvSpPr>
          <p:cNvPr id="93186"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93187"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93189" name="Text Box 5"/>
          <p:cNvSpPr txBox="1">
            <a:spLocks noChangeArrowheads="1"/>
          </p:cNvSpPr>
          <p:nvPr/>
        </p:nvSpPr>
        <p:spPr bwMode="auto">
          <a:xfrm>
            <a:off x="152400" y="1168400"/>
            <a:ext cx="8558213" cy="4775200"/>
          </a:xfrm>
          <a:prstGeom prst="rect">
            <a:avLst/>
          </a:prstGeom>
          <a:noFill/>
          <a:ln w="9525">
            <a:noFill/>
            <a:miter lim="800000"/>
            <a:headEnd/>
            <a:tailEnd/>
          </a:ln>
          <a:effectLst/>
        </p:spPr>
        <p:txBody>
          <a:bodyPr wrap="none">
            <a:spAutoFit/>
          </a:bodyPr>
          <a:lstStyle/>
          <a:p>
            <a:pPr marL="457200" indent="-457200">
              <a:spcAft>
                <a:spcPct val="20000"/>
              </a:spcAft>
              <a:buClr>
                <a:srgbClr val="009900"/>
              </a:buClr>
              <a:buFont typeface="Wingdings" pitchFamily="2" charset="2"/>
              <a:buChar char="Ø"/>
            </a:pPr>
            <a:r>
              <a:rPr lang="en-US" sz="2600" b="1">
                <a:solidFill>
                  <a:srgbClr val="000099"/>
                </a:solidFill>
              </a:rPr>
              <a:t>Invest first</a:t>
            </a:r>
          </a:p>
          <a:p>
            <a:pPr marL="457200" indent="-457200">
              <a:spcAft>
                <a:spcPct val="20000"/>
              </a:spcAft>
              <a:buClr>
                <a:srgbClr val="009900"/>
              </a:buClr>
              <a:buFont typeface="Wingdings" pitchFamily="2" charset="2"/>
              <a:buChar char="Ø"/>
            </a:pPr>
            <a:r>
              <a:rPr lang="en-US" sz="2600" b="1">
                <a:solidFill>
                  <a:srgbClr val="000099"/>
                </a:solidFill>
              </a:rPr>
              <a:t>It takes time</a:t>
            </a:r>
          </a:p>
          <a:p>
            <a:pPr marL="457200" indent="-457200">
              <a:spcAft>
                <a:spcPct val="20000"/>
              </a:spcAft>
              <a:buClr>
                <a:srgbClr val="009900"/>
              </a:buClr>
              <a:buFont typeface="Wingdings" pitchFamily="2" charset="2"/>
              <a:buChar char="Ø"/>
            </a:pPr>
            <a:r>
              <a:rPr lang="en-US" sz="2600" b="1">
                <a:solidFill>
                  <a:srgbClr val="000099"/>
                </a:solidFill>
              </a:rPr>
              <a:t>You never know</a:t>
            </a:r>
          </a:p>
          <a:p>
            <a:pPr marL="457200" indent="-457200">
              <a:spcAft>
                <a:spcPct val="20000"/>
              </a:spcAft>
              <a:buClr>
                <a:srgbClr val="009900"/>
              </a:buClr>
              <a:buFont typeface="Wingdings" pitchFamily="2" charset="2"/>
              <a:buChar char="Ø"/>
            </a:pPr>
            <a:r>
              <a:rPr lang="en-US" sz="2600" b="1">
                <a:solidFill>
                  <a:srgbClr val="000099"/>
                </a:solidFill>
              </a:rPr>
              <a:t>You must give to get</a:t>
            </a:r>
          </a:p>
          <a:p>
            <a:pPr marL="457200" indent="-457200">
              <a:spcAft>
                <a:spcPct val="20000"/>
              </a:spcAft>
              <a:buClr>
                <a:srgbClr val="009900"/>
              </a:buClr>
              <a:buFont typeface="Wingdings" pitchFamily="2" charset="2"/>
              <a:buChar char="Ø"/>
            </a:pPr>
            <a:r>
              <a:rPr lang="en-US" sz="2600" b="1">
                <a:solidFill>
                  <a:srgbClr val="000099"/>
                </a:solidFill>
              </a:rPr>
              <a:t>Keep it alive and warm</a:t>
            </a:r>
          </a:p>
          <a:p>
            <a:pPr marL="457200" indent="-457200">
              <a:spcAft>
                <a:spcPct val="20000"/>
              </a:spcAft>
              <a:buClr>
                <a:srgbClr val="009900"/>
              </a:buClr>
              <a:buFont typeface="Wingdings" pitchFamily="2" charset="2"/>
              <a:buChar char="Ø"/>
            </a:pPr>
            <a:r>
              <a:rPr lang="en-US" sz="2600" b="1">
                <a:solidFill>
                  <a:srgbClr val="000099"/>
                </a:solidFill>
              </a:rPr>
              <a:t>Keep it growing</a:t>
            </a:r>
          </a:p>
          <a:p>
            <a:pPr marL="457200" indent="-457200">
              <a:spcAft>
                <a:spcPct val="20000"/>
              </a:spcAft>
              <a:buClr>
                <a:srgbClr val="009900"/>
              </a:buClr>
              <a:buFont typeface="Wingdings" pitchFamily="2" charset="2"/>
              <a:buChar char="Ø"/>
            </a:pPr>
            <a:r>
              <a:rPr lang="en-US" sz="2600" b="1">
                <a:solidFill>
                  <a:srgbClr val="000099"/>
                </a:solidFill>
              </a:rPr>
              <a:t>Understand what you do well and stick to it</a:t>
            </a:r>
          </a:p>
          <a:p>
            <a:pPr marL="457200" indent="-457200">
              <a:spcAft>
                <a:spcPct val="20000"/>
              </a:spcAft>
              <a:buClr>
                <a:srgbClr val="009900"/>
              </a:buClr>
              <a:buFont typeface="Wingdings" pitchFamily="2" charset="2"/>
              <a:buChar char="Ø"/>
            </a:pPr>
            <a:r>
              <a:rPr lang="en-US" sz="2600" b="1">
                <a:solidFill>
                  <a:srgbClr val="000099"/>
                </a:solidFill>
              </a:rPr>
              <a:t>Never underestimate the value of a thank you note</a:t>
            </a:r>
          </a:p>
          <a:p>
            <a:pPr marL="457200" indent="-457200">
              <a:spcAft>
                <a:spcPct val="20000"/>
              </a:spcAft>
              <a:buClr>
                <a:srgbClr val="009900"/>
              </a:buClr>
              <a:buFont typeface="Wingdings" pitchFamily="2" charset="2"/>
              <a:buChar char="Ø"/>
            </a:pPr>
            <a:r>
              <a:rPr lang="en-US" sz="2600" b="1">
                <a:solidFill>
                  <a:srgbClr val="000099"/>
                </a:solidFill>
              </a:rPr>
              <a:t>Understand the value of competitor relationships</a:t>
            </a:r>
          </a:p>
          <a:p>
            <a:pPr marL="457200" indent="-457200">
              <a:spcAft>
                <a:spcPct val="20000"/>
              </a:spcAft>
              <a:buClr>
                <a:srgbClr val="009900"/>
              </a:buClr>
              <a:buFont typeface="Wingdings" pitchFamily="2" charset="2"/>
              <a:buChar char="Ø"/>
            </a:pPr>
            <a:r>
              <a:rPr lang="en-US" sz="2600" b="1">
                <a:solidFill>
                  <a:srgbClr val="000099"/>
                </a:solidFill>
              </a:rPr>
              <a:t>Recognize the value of volunteer leadership</a:t>
            </a:r>
          </a:p>
        </p:txBody>
      </p:sp>
      <p:sp>
        <p:nvSpPr>
          <p:cNvPr id="93190" name="Text Box 6"/>
          <p:cNvSpPr txBox="1">
            <a:spLocks noChangeArrowheads="1"/>
          </p:cNvSpPr>
          <p:nvPr/>
        </p:nvSpPr>
        <p:spPr bwMode="auto">
          <a:xfrm>
            <a:off x="1143000" y="381000"/>
            <a:ext cx="6705600" cy="519113"/>
          </a:xfrm>
          <a:prstGeom prst="rect">
            <a:avLst/>
          </a:prstGeom>
          <a:noFill/>
          <a:ln w="9525">
            <a:noFill/>
            <a:miter lim="800000"/>
            <a:headEnd/>
            <a:tailEnd/>
          </a:ln>
          <a:effectLst/>
        </p:spPr>
        <p:txBody>
          <a:bodyPr>
            <a:spAutoFit/>
          </a:bodyPr>
          <a:lstStyle/>
          <a:p>
            <a:pPr algn="ctr"/>
            <a:r>
              <a:rPr lang="en-US" b="1">
                <a:solidFill>
                  <a:srgbClr val="000099"/>
                </a:solidFill>
              </a:rPr>
              <a:t>Lessons Learned</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93190"/>
                                        </p:tgtEl>
                                        <p:attrNameLst>
                                          <p:attrName>style.visibility</p:attrName>
                                        </p:attrNameLst>
                                      </p:cBhvr>
                                      <p:to>
                                        <p:strVal val="visible"/>
                                      </p:to>
                                    </p:set>
                                    <p:animEffect transition="in" filter="dissolve">
                                      <p:cBhvr>
                                        <p:cTn id="7" dur="500"/>
                                        <p:tgtEl>
                                          <p:spTgt spid="9319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3189">
                                            <p:txEl>
                                              <p:pRg st="0" end="0"/>
                                            </p:txEl>
                                          </p:spTgt>
                                        </p:tgtEl>
                                        <p:attrNameLst>
                                          <p:attrName>style.visibility</p:attrName>
                                        </p:attrNameLst>
                                      </p:cBhvr>
                                      <p:to>
                                        <p:strVal val="visible"/>
                                      </p:to>
                                    </p:set>
                                    <p:animEffect transition="in" filter="dissolve">
                                      <p:cBhvr>
                                        <p:cTn id="11" dur="500"/>
                                        <p:tgtEl>
                                          <p:spTgt spid="93189">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93189">
                                            <p:txEl>
                                              <p:pRg st="1" end="1"/>
                                            </p:txEl>
                                          </p:spTgt>
                                        </p:tgtEl>
                                        <p:attrNameLst>
                                          <p:attrName>style.visibility</p:attrName>
                                        </p:attrNameLst>
                                      </p:cBhvr>
                                      <p:to>
                                        <p:strVal val="visible"/>
                                      </p:to>
                                    </p:set>
                                    <p:animEffect transition="in" filter="dissolve">
                                      <p:cBhvr>
                                        <p:cTn id="15" dur="500"/>
                                        <p:tgtEl>
                                          <p:spTgt spid="93189">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93189">
                                            <p:txEl>
                                              <p:pRg st="2" end="2"/>
                                            </p:txEl>
                                          </p:spTgt>
                                        </p:tgtEl>
                                        <p:attrNameLst>
                                          <p:attrName>style.visibility</p:attrName>
                                        </p:attrNameLst>
                                      </p:cBhvr>
                                      <p:to>
                                        <p:strVal val="visible"/>
                                      </p:to>
                                    </p:set>
                                    <p:animEffect transition="in" filter="dissolve">
                                      <p:cBhvr>
                                        <p:cTn id="19" dur="500"/>
                                        <p:tgtEl>
                                          <p:spTgt spid="93189">
                                            <p:txEl>
                                              <p:pRg st="2" end="2"/>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93189">
                                            <p:txEl>
                                              <p:pRg st="3" end="3"/>
                                            </p:txEl>
                                          </p:spTgt>
                                        </p:tgtEl>
                                        <p:attrNameLst>
                                          <p:attrName>style.visibility</p:attrName>
                                        </p:attrNameLst>
                                      </p:cBhvr>
                                      <p:to>
                                        <p:strVal val="visible"/>
                                      </p:to>
                                    </p:set>
                                    <p:animEffect transition="in" filter="dissolve">
                                      <p:cBhvr>
                                        <p:cTn id="23" dur="500"/>
                                        <p:tgtEl>
                                          <p:spTgt spid="93189">
                                            <p:txEl>
                                              <p:pRg st="3" end="3"/>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93189">
                                            <p:txEl>
                                              <p:pRg st="4" end="4"/>
                                            </p:txEl>
                                          </p:spTgt>
                                        </p:tgtEl>
                                        <p:attrNameLst>
                                          <p:attrName>style.visibility</p:attrName>
                                        </p:attrNameLst>
                                      </p:cBhvr>
                                      <p:to>
                                        <p:strVal val="visible"/>
                                      </p:to>
                                    </p:set>
                                    <p:animEffect transition="in" filter="dissolve">
                                      <p:cBhvr>
                                        <p:cTn id="27" dur="500"/>
                                        <p:tgtEl>
                                          <p:spTgt spid="93189">
                                            <p:txEl>
                                              <p:pRg st="4" end="4"/>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93189">
                                            <p:txEl>
                                              <p:pRg st="5" end="5"/>
                                            </p:txEl>
                                          </p:spTgt>
                                        </p:tgtEl>
                                        <p:attrNameLst>
                                          <p:attrName>style.visibility</p:attrName>
                                        </p:attrNameLst>
                                      </p:cBhvr>
                                      <p:to>
                                        <p:strVal val="visible"/>
                                      </p:to>
                                    </p:set>
                                    <p:animEffect transition="in" filter="dissolve">
                                      <p:cBhvr>
                                        <p:cTn id="31" dur="500"/>
                                        <p:tgtEl>
                                          <p:spTgt spid="93189">
                                            <p:txEl>
                                              <p:pRg st="5" end="5"/>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93189">
                                            <p:txEl>
                                              <p:pRg st="6" end="6"/>
                                            </p:txEl>
                                          </p:spTgt>
                                        </p:tgtEl>
                                        <p:attrNameLst>
                                          <p:attrName>style.visibility</p:attrName>
                                        </p:attrNameLst>
                                      </p:cBhvr>
                                      <p:to>
                                        <p:strVal val="visible"/>
                                      </p:to>
                                    </p:set>
                                    <p:animEffect transition="in" filter="dissolve">
                                      <p:cBhvr>
                                        <p:cTn id="35" dur="500"/>
                                        <p:tgtEl>
                                          <p:spTgt spid="93189">
                                            <p:txEl>
                                              <p:pRg st="6" end="6"/>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93189">
                                            <p:txEl>
                                              <p:pRg st="7" end="7"/>
                                            </p:txEl>
                                          </p:spTgt>
                                        </p:tgtEl>
                                        <p:attrNameLst>
                                          <p:attrName>style.visibility</p:attrName>
                                        </p:attrNameLst>
                                      </p:cBhvr>
                                      <p:to>
                                        <p:strVal val="visible"/>
                                      </p:to>
                                    </p:set>
                                    <p:animEffect transition="in" filter="dissolve">
                                      <p:cBhvr>
                                        <p:cTn id="39" dur="500"/>
                                        <p:tgtEl>
                                          <p:spTgt spid="93189">
                                            <p:txEl>
                                              <p:pRg st="7" end="7"/>
                                            </p:txEl>
                                          </p:spTgt>
                                        </p:tgtEl>
                                      </p:cBhvr>
                                    </p:animEffect>
                                  </p:childTnLst>
                                </p:cTn>
                              </p:par>
                            </p:childTnLst>
                          </p:cTn>
                        </p:par>
                        <p:par>
                          <p:cTn id="40" fill="hold">
                            <p:stCondLst>
                              <p:cond delay="4500"/>
                            </p:stCondLst>
                            <p:childTnLst>
                              <p:par>
                                <p:cTn id="41" presetID="9" presetClass="entr" presetSubtype="0" fill="hold" grpId="0" nodeType="afterEffect">
                                  <p:stCondLst>
                                    <p:cond delay="0"/>
                                  </p:stCondLst>
                                  <p:childTnLst>
                                    <p:set>
                                      <p:cBhvr>
                                        <p:cTn id="42" dur="1" fill="hold">
                                          <p:stCondLst>
                                            <p:cond delay="0"/>
                                          </p:stCondLst>
                                        </p:cTn>
                                        <p:tgtEl>
                                          <p:spTgt spid="93189">
                                            <p:txEl>
                                              <p:pRg st="8" end="8"/>
                                            </p:txEl>
                                          </p:spTgt>
                                        </p:tgtEl>
                                        <p:attrNameLst>
                                          <p:attrName>style.visibility</p:attrName>
                                        </p:attrNameLst>
                                      </p:cBhvr>
                                      <p:to>
                                        <p:strVal val="visible"/>
                                      </p:to>
                                    </p:set>
                                    <p:animEffect transition="in" filter="dissolve">
                                      <p:cBhvr>
                                        <p:cTn id="43" dur="500"/>
                                        <p:tgtEl>
                                          <p:spTgt spid="93189">
                                            <p:txEl>
                                              <p:pRg st="8" end="8"/>
                                            </p:txEl>
                                          </p:spTgt>
                                        </p:tgtEl>
                                      </p:cBhvr>
                                    </p:animEffect>
                                  </p:childTnLst>
                                </p:cTn>
                              </p:par>
                            </p:childTnLst>
                          </p:cTn>
                        </p:par>
                        <p:par>
                          <p:cTn id="44" fill="hold">
                            <p:stCondLst>
                              <p:cond delay="5000"/>
                            </p:stCondLst>
                            <p:childTnLst>
                              <p:par>
                                <p:cTn id="45" presetID="9" presetClass="entr" presetSubtype="0" fill="hold" grpId="0" nodeType="afterEffect">
                                  <p:stCondLst>
                                    <p:cond delay="0"/>
                                  </p:stCondLst>
                                  <p:childTnLst>
                                    <p:set>
                                      <p:cBhvr>
                                        <p:cTn id="46" dur="1" fill="hold">
                                          <p:stCondLst>
                                            <p:cond delay="0"/>
                                          </p:stCondLst>
                                        </p:cTn>
                                        <p:tgtEl>
                                          <p:spTgt spid="93189">
                                            <p:txEl>
                                              <p:pRg st="9" end="9"/>
                                            </p:txEl>
                                          </p:spTgt>
                                        </p:tgtEl>
                                        <p:attrNameLst>
                                          <p:attrName>style.visibility</p:attrName>
                                        </p:attrNameLst>
                                      </p:cBhvr>
                                      <p:to>
                                        <p:strVal val="visible"/>
                                      </p:to>
                                    </p:set>
                                    <p:animEffect transition="in" filter="dissolve">
                                      <p:cBhvr>
                                        <p:cTn id="47" dur="500"/>
                                        <p:tgtEl>
                                          <p:spTgt spid="9318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build="p" autoUpdateAnimBg="0" advAuto="0"/>
      <p:bldP spid="93190"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499CB545-6289-4F13-8A9B-35BCAB269897}" type="slidenum">
              <a:rPr lang="en-US"/>
              <a:pPr/>
              <a:t>6</a:t>
            </a:fld>
            <a:endParaRPr lang="en-US"/>
          </a:p>
        </p:txBody>
      </p:sp>
      <p:sp>
        <p:nvSpPr>
          <p:cNvPr id="112642"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2643"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2644" name="Text Box 4"/>
          <p:cNvSpPr txBox="1">
            <a:spLocks noChangeArrowheads="1"/>
          </p:cNvSpPr>
          <p:nvPr/>
        </p:nvSpPr>
        <p:spPr bwMode="auto">
          <a:xfrm>
            <a:off x="1371600" y="381000"/>
            <a:ext cx="6705600" cy="946150"/>
          </a:xfrm>
          <a:prstGeom prst="rect">
            <a:avLst/>
          </a:prstGeom>
          <a:noFill/>
          <a:ln w="9525">
            <a:noFill/>
            <a:miter lim="800000"/>
            <a:headEnd/>
            <a:tailEnd/>
          </a:ln>
          <a:effectLst/>
        </p:spPr>
        <p:txBody>
          <a:bodyPr>
            <a:spAutoFit/>
          </a:bodyPr>
          <a:lstStyle/>
          <a:p>
            <a:pPr algn="ctr"/>
            <a:r>
              <a:rPr lang="en-US" b="1">
                <a:solidFill>
                  <a:srgbClr val="000099"/>
                </a:solidFill>
              </a:rPr>
              <a:t>Building Your Consulting Business One Relationship At A Time</a:t>
            </a:r>
          </a:p>
        </p:txBody>
      </p:sp>
      <p:sp>
        <p:nvSpPr>
          <p:cNvPr id="112645" name="Text Box 5"/>
          <p:cNvSpPr txBox="1">
            <a:spLocks noChangeArrowheads="1"/>
          </p:cNvSpPr>
          <p:nvPr/>
        </p:nvSpPr>
        <p:spPr bwMode="auto">
          <a:xfrm>
            <a:off x="1600200" y="1635125"/>
            <a:ext cx="5197475" cy="1878013"/>
          </a:xfrm>
          <a:prstGeom prst="rect">
            <a:avLst/>
          </a:prstGeom>
          <a:noFill/>
          <a:ln w="9525">
            <a:noFill/>
            <a:miter lim="800000"/>
            <a:headEnd/>
            <a:tailEnd/>
          </a:ln>
          <a:effectLst/>
        </p:spPr>
        <p:txBody>
          <a:bodyPr wrap="none">
            <a:spAutoFit/>
          </a:bodyPr>
          <a:lstStyle/>
          <a:p>
            <a:pPr marL="457200" indent="-457200">
              <a:lnSpc>
                <a:spcPct val="150000"/>
              </a:lnSpc>
              <a:buClr>
                <a:srgbClr val="009900"/>
              </a:buClr>
              <a:buFont typeface="Wingdings" pitchFamily="2" charset="2"/>
              <a:buAutoNum type="arabicPeriod"/>
            </a:pPr>
            <a:r>
              <a:rPr lang="en-US" sz="2600" b="1"/>
              <a:t>  </a:t>
            </a:r>
            <a:r>
              <a:rPr lang="en-US" sz="2600" b="1">
                <a:solidFill>
                  <a:srgbClr val="66CCFF"/>
                </a:solidFill>
              </a:rPr>
              <a:t>Introduction</a:t>
            </a:r>
          </a:p>
          <a:p>
            <a:pPr marL="457200" indent="-457200">
              <a:lnSpc>
                <a:spcPct val="150000"/>
              </a:lnSpc>
              <a:buClr>
                <a:srgbClr val="009900"/>
              </a:buClr>
              <a:buFont typeface="Wingdings" pitchFamily="2" charset="2"/>
              <a:buAutoNum type="arabicPeriod"/>
            </a:pPr>
            <a:r>
              <a:rPr lang="en-US" sz="2600" b="1">
                <a:solidFill>
                  <a:srgbClr val="66CCFF"/>
                </a:solidFill>
              </a:rPr>
              <a:t>  Lessons Learned</a:t>
            </a:r>
          </a:p>
          <a:p>
            <a:pPr marL="457200" indent="-457200">
              <a:lnSpc>
                <a:spcPct val="150000"/>
              </a:lnSpc>
              <a:buClr>
                <a:srgbClr val="009900"/>
              </a:buClr>
              <a:buFont typeface="Wingdings" pitchFamily="2" charset="2"/>
              <a:buAutoNum type="arabicPeriod"/>
            </a:pPr>
            <a:r>
              <a:rPr lang="en-US" sz="2600" b="1">
                <a:solidFill>
                  <a:srgbClr val="000099"/>
                </a:solidFill>
              </a:rPr>
              <a:t>  Building a National Practice</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2644"/>
                                        </p:tgtEl>
                                        <p:attrNameLst>
                                          <p:attrName>style.visibility</p:attrName>
                                        </p:attrNameLst>
                                      </p:cBhvr>
                                      <p:to>
                                        <p:strVal val="visible"/>
                                      </p:to>
                                    </p:set>
                                    <p:animEffect transition="in" filter="dissolve">
                                      <p:cBhvr>
                                        <p:cTn id="7" dur="500"/>
                                        <p:tgtEl>
                                          <p:spTgt spid="11264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2645">
                                            <p:txEl>
                                              <p:pRg st="0" end="0"/>
                                            </p:txEl>
                                          </p:spTgt>
                                        </p:tgtEl>
                                        <p:attrNameLst>
                                          <p:attrName>style.visibility</p:attrName>
                                        </p:attrNameLst>
                                      </p:cBhvr>
                                      <p:to>
                                        <p:strVal val="visible"/>
                                      </p:to>
                                    </p:set>
                                    <p:animEffect transition="in" filter="dissolve">
                                      <p:cBhvr>
                                        <p:cTn id="11" dur="500"/>
                                        <p:tgtEl>
                                          <p:spTgt spid="112645">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2645">
                                            <p:txEl>
                                              <p:pRg st="1" end="1"/>
                                            </p:txEl>
                                          </p:spTgt>
                                        </p:tgtEl>
                                        <p:attrNameLst>
                                          <p:attrName>style.visibility</p:attrName>
                                        </p:attrNameLst>
                                      </p:cBhvr>
                                      <p:to>
                                        <p:strVal val="visible"/>
                                      </p:to>
                                    </p:set>
                                    <p:animEffect transition="in" filter="dissolve">
                                      <p:cBhvr>
                                        <p:cTn id="15" dur="500"/>
                                        <p:tgtEl>
                                          <p:spTgt spid="112645">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2645">
                                            <p:txEl>
                                              <p:pRg st="2" end="2"/>
                                            </p:txEl>
                                          </p:spTgt>
                                        </p:tgtEl>
                                        <p:attrNameLst>
                                          <p:attrName>style.visibility</p:attrName>
                                        </p:attrNameLst>
                                      </p:cBhvr>
                                      <p:to>
                                        <p:strVal val="visible"/>
                                      </p:to>
                                    </p:set>
                                    <p:animEffect transition="in" filter="dissolve">
                                      <p:cBhvr>
                                        <p:cTn id="19" dur="500"/>
                                        <p:tgtEl>
                                          <p:spTgt spid="1126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autoUpdateAnimBg="0"/>
      <p:bldP spid="112645" grpId="0" build="p" autoUpdateAnimBg="0"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BF3B67EA-8EAC-4946-9436-31A021878869}" type="slidenum">
              <a:rPr lang="en-US"/>
              <a:pPr/>
              <a:t>7</a:t>
            </a:fld>
            <a:endParaRPr lang="en-US"/>
          </a:p>
        </p:txBody>
      </p:sp>
      <p:sp>
        <p:nvSpPr>
          <p:cNvPr id="119810" name="Text Box 1026"/>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9811" name="Text Box 1027"/>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9812" name="Text Box 1028"/>
          <p:cNvSpPr txBox="1">
            <a:spLocks noChangeArrowheads="1"/>
          </p:cNvSpPr>
          <p:nvPr/>
        </p:nvSpPr>
        <p:spPr bwMode="auto">
          <a:xfrm>
            <a:off x="609600" y="1131888"/>
            <a:ext cx="7823200" cy="4735512"/>
          </a:xfrm>
          <a:prstGeom prst="rect">
            <a:avLst/>
          </a:prstGeom>
          <a:noFill/>
          <a:ln w="9525">
            <a:noFill/>
            <a:miter lim="800000"/>
            <a:headEnd/>
            <a:tailEnd/>
          </a:ln>
          <a:effectLst/>
        </p:spPr>
        <p:txBody>
          <a:bodyPr wrap="none">
            <a:spAutoFit/>
          </a:bodyPr>
          <a:lstStyle/>
          <a:p>
            <a:pPr marL="457200" indent="-457200">
              <a:spcAft>
                <a:spcPct val="20000"/>
              </a:spcAft>
              <a:buClr>
                <a:srgbClr val="009900"/>
              </a:buClr>
              <a:buFont typeface="Wingdings" pitchFamily="2" charset="2"/>
              <a:buChar char="Ø"/>
            </a:pPr>
            <a:r>
              <a:rPr lang="en-US" sz="2600" b="1">
                <a:solidFill>
                  <a:srgbClr val="000099"/>
                </a:solidFill>
              </a:rPr>
              <a:t>Make connections with nationally recognized </a:t>
            </a:r>
          </a:p>
          <a:p>
            <a:pPr marL="457200" indent="-457200">
              <a:spcAft>
                <a:spcPct val="20000"/>
              </a:spcAft>
              <a:buClr>
                <a:srgbClr val="009900"/>
              </a:buClr>
              <a:buFont typeface="Wingdings" pitchFamily="2" charset="2"/>
              <a:buNone/>
            </a:pPr>
            <a:r>
              <a:rPr lang="en-US" sz="2600" b="1">
                <a:solidFill>
                  <a:srgbClr val="000099"/>
                </a:solidFill>
              </a:rPr>
              <a:t>	experts and contacts</a:t>
            </a:r>
          </a:p>
          <a:p>
            <a:pPr marL="457200" indent="-457200">
              <a:spcAft>
                <a:spcPct val="20000"/>
              </a:spcAft>
              <a:buClr>
                <a:srgbClr val="009900"/>
              </a:buClr>
              <a:buFont typeface="Wingdings" pitchFamily="2" charset="2"/>
              <a:buNone/>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Attend national programs</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Volunteer at the national level</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Leverage Fortune 500 clients</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Become a media contact person</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Write articles for national publications</a:t>
            </a:r>
          </a:p>
          <a:p>
            <a:pPr marL="457200" indent="-457200">
              <a:spcAft>
                <a:spcPct val="20000"/>
              </a:spcAft>
              <a:buClr>
                <a:srgbClr val="009900"/>
              </a:buClr>
              <a:buFont typeface="Wingdings" pitchFamily="2" charset="2"/>
              <a:buNone/>
            </a:pPr>
            <a:endParaRPr lang="en-US" sz="2600" b="1">
              <a:solidFill>
                <a:srgbClr val="000099"/>
              </a:solidFill>
            </a:endParaRPr>
          </a:p>
        </p:txBody>
      </p:sp>
      <p:sp>
        <p:nvSpPr>
          <p:cNvPr id="119813" name="Text Box 1029"/>
          <p:cNvSpPr txBox="1">
            <a:spLocks noChangeArrowheads="1"/>
          </p:cNvSpPr>
          <p:nvPr/>
        </p:nvSpPr>
        <p:spPr bwMode="auto">
          <a:xfrm>
            <a:off x="1143000" y="381000"/>
            <a:ext cx="6705600" cy="519113"/>
          </a:xfrm>
          <a:prstGeom prst="rect">
            <a:avLst/>
          </a:prstGeom>
          <a:noFill/>
          <a:ln w="9525">
            <a:noFill/>
            <a:miter lim="800000"/>
            <a:headEnd/>
            <a:tailEnd/>
          </a:ln>
          <a:effectLst/>
        </p:spPr>
        <p:txBody>
          <a:bodyPr>
            <a:spAutoFit/>
          </a:bodyPr>
          <a:lstStyle/>
          <a:p>
            <a:pPr algn="ctr"/>
            <a:r>
              <a:rPr lang="en-US" b="1">
                <a:solidFill>
                  <a:srgbClr val="000099"/>
                </a:solidFill>
              </a:rPr>
              <a:t>Building a National Practice</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9813"/>
                                        </p:tgtEl>
                                        <p:attrNameLst>
                                          <p:attrName>style.visibility</p:attrName>
                                        </p:attrNameLst>
                                      </p:cBhvr>
                                      <p:to>
                                        <p:strVal val="visible"/>
                                      </p:to>
                                    </p:set>
                                    <p:animEffect transition="in" filter="dissolve">
                                      <p:cBhvr>
                                        <p:cTn id="7" dur="500"/>
                                        <p:tgtEl>
                                          <p:spTgt spid="11981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9812">
                                            <p:txEl>
                                              <p:pRg st="0" end="0"/>
                                            </p:txEl>
                                          </p:spTgt>
                                        </p:tgtEl>
                                        <p:attrNameLst>
                                          <p:attrName>style.visibility</p:attrName>
                                        </p:attrNameLst>
                                      </p:cBhvr>
                                      <p:to>
                                        <p:strVal val="visible"/>
                                      </p:to>
                                    </p:set>
                                    <p:animEffect transition="in" filter="dissolve">
                                      <p:cBhvr>
                                        <p:cTn id="11" dur="500"/>
                                        <p:tgtEl>
                                          <p:spTgt spid="119812">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9812">
                                            <p:txEl>
                                              <p:pRg st="1" end="1"/>
                                            </p:txEl>
                                          </p:spTgt>
                                        </p:tgtEl>
                                        <p:attrNameLst>
                                          <p:attrName>style.visibility</p:attrName>
                                        </p:attrNameLst>
                                      </p:cBhvr>
                                      <p:to>
                                        <p:strVal val="visible"/>
                                      </p:to>
                                    </p:set>
                                    <p:animEffect transition="in" filter="dissolve">
                                      <p:cBhvr>
                                        <p:cTn id="15" dur="500"/>
                                        <p:tgtEl>
                                          <p:spTgt spid="119812">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9812">
                                            <p:txEl>
                                              <p:pRg st="3" end="3"/>
                                            </p:txEl>
                                          </p:spTgt>
                                        </p:tgtEl>
                                        <p:attrNameLst>
                                          <p:attrName>style.visibility</p:attrName>
                                        </p:attrNameLst>
                                      </p:cBhvr>
                                      <p:to>
                                        <p:strVal val="visible"/>
                                      </p:to>
                                    </p:set>
                                    <p:animEffect transition="in" filter="dissolve">
                                      <p:cBhvr>
                                        <p:cTn id="19" dur="500"/>
                                        <p:tgtEl>
                                          <p:spTgt spid="119812">
                                            <p:txEl>
                                              <p:pRg st="3" end="3"/>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19812">
                                            <p:txEl>
                                              <p:pRg st="5" end="5"/>
                                            </p:txEl>
                                          </p:spTgt>
                                        </p:tgtEl>
                                        <p:attrNameLst>
                                          <p:attrName>style.visibility</p:attrName>
                                        </p:attrNameLst>
                                      </p:cBhvr>
                                      <p:to>
                                        <p:strVal val="visible"/>
                                      </p:to>
                                    </p:set>
                                    <p:animEffect transition="in" filter="dissolve">
                                      <p:cBhvr>
                                        <p:cTn id="23" dur="500"/>
                                        <p:tgtEl>
                                          <p:spTgt spid="119812">
                                            <p:txEl>
                                              <p:pRg st="5" end="5"/>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19812">
                                            <p:txEl>
                                              <p:pRg st="7" end="7"/>
                                            </p:txEl>
                                          </p:spTgt>
                                        </p:tgtEl>
                                        <p:attrNameLst>
                                          <p:attrName>style.visibility</p:attrName>
                                        </p:attrNameLst>
                                      </p:cBhvr>
                                      <p:to>
                                        <p:strVal val="visible"/>
                                      </p:to>
                                    </p:set>
                                    <p:animEffect transition="in" filter="dissolve">
                                      <p:cBhvr>
                                        <p:cTn id="27" dur="500"/>
                                        <p:tgtEl>
                                          <p:spTgt spid="119812">
                                            <p:txEl>
                                              <p:pRg st="7" end="7"/>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19812">
                                            <p:txEl>
                                              <p:pRg st="9" end="9"/>
                                            </p:txEl>
                                          </p:spTgt>
                                        </p:tgtEl>
                                        <p:attrNameLst>
                                          <p:attrName>style.visibility</p:attrName>
                                        </p:attrNameLst>
                                      </p:cBhvr>
                                      <p:to>
                                        <p:strVal val="visible"/>
                                      </p:to>
                                    </p:set>
                                    <p:animEffect transition="in" filter="dissolve">
                                      <p:cBhvr>
                                        <p:cTn id="31" dur="500"/>
                                        <p:tgtEl>
                                          <p:spTgt spid="119812">
                                            <p:txEl>
                                              <p:pRg st="9" end="9"/>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119812">
                                            <p:txEl>
                                              <p:pRg st="11" end="11"/>
                                            </p:txEl>
                                          </p:spTgt>
                                        </p:tgtEl>
                                        <p:attrNameLst>
                                          <p:attrName>style.visibility</p:attrName>
                                        </p:attrNameLst>
                                      </p:cBhvr>
                                      <p:to>
                                        <p:strVal val="visible"/>
                                      </p:to>
                                    </p:set>
                                    <p:animEffect transition="in" filter="dissolve">
                                      <p:cBhvr>
                                        <p:cTn id="35" dur="500"/>
                                        <p:tgtEl>
                                          <p:spTgt spid="11981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build="p" autoUpdateAnimBg="0" advAuto="0"/>
      <p:bldP spid="11981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6B026572-1546-4A96-8FD1-75FFF923D0A5}" type="slidenum">
              <a:rPr lang="en-US"/>
              <a:pPr/>
              <a:t>8</a:t>
            </a:fld>
            <a:endParaRPr lang="en-US"/>
          </a:p>
        </p:txBody>
      </p:sp>
      <p:sp>
        <p:nvSpPr>
          <p:cNvPr id="113666"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3667"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3668" name="Text Box 4"/>
          <p:cNvSpPr txBox="1">
            <a:spLocks noChangeArrowheads="1"/>
          </p:cNvSpPr>
          <p:nvPr/>
        </p:nvSpPr>
        <p:spPr bwMode="auto">
          <a:xfrm>
            <a:off x="685800" y="1168400"/>
            <a:ext cx="7802563" cy="4735513"/>
          </a:xfrm>
          <a:prstGeom prst="rect">
            <a:avLst/>
          </a:prstGeom>
          <a:noFill/>
          <a:ln w="9525">
            <a:noFill/>
            <a:miter lim="800000"/>
            <a:headEnd/>
            <a:tailEnd/>
          </a:ln>
          <a:effectLst/>
        </p:spPr>
        <p:txBody>
          <a:bodyPr wrap="none">
            <a:spAutoFit/>
          </a:bodyPr>
          <a:lstStyle/>
          <a:p>
            <a:pPr marL="457200" indent="-457200">
              <a:spcAft>
                <a:spcPct val="20000"/>
              </a:spcAft>
              <a:buClr>
                <a:srgbClr val="009900"/>
              </a:buClr>
              <a:buFont typeface="Wingdings" pitchFamily="2" charset="2"/>
              <a:buChar char="Ø"/>
            </a:pPr>
            <a:r>
              <a:rPr lang="en-US" sz="2600" b="1">
                <a:solidFill>
                  <a:srgbClr val="000099"/>
                </a:solidFill>
              </a:rPr>
              <a:t>Partner with other recognized, </a:t>
            </a:r>
          </a:p>
          <a:p>
            <a:pPr marL="457200" indent="-457200">
              <a:spcAft>
                <a:spcPct val="20000"/>
              </a:spcAft>
              <a:buClr>
                <a:srgbClr val="009900"/>
              </a:buClr>
              <a:buFont typeface="Wingdings" pitchFamily="2" charset="2"/>
              <a:buNone/>
            </a:pPr>
            <a:r>
              <a:rPr lang="en-US" sz="2600" b="1">
                <a:solidFill>
                  <a:srgbClr val="000099"/>
                </a:solidFill>
              </a:rPr>
              <a:t>	high-quality organizations</a:t>
            </a:r>
          </a:p>
          <a:p>
            <a:pPr marL="457200" indent="-457200">
              <a:spcAft>
                <a:spcPct val="20000"/>
              </a:spcAft>
              <a:buClr>
                <a:srgbClr val="009900"/>
              </a:buClr>
              <a:buFont typeface="Wingdings" pitchFamily="2" charset="2"/>
              <a:buNone/>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Seek out national speaking engagements</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Tap into your local network </a:t>
            </a:r>
          </a:p>
          <a:p>
            <a:pPr marL="457200" indent="-457200">
              <a:spcAft>
                <a:spcPct val="20000"/>
              </a:spcAft>
              <a:buClr>
                <a:srgbClr val="009900"/>
              </a:buClr>
              <a:buFont typeface="Wingdings" pitchFamily="2" charset="2"/>
              <a:buNone/>
            </a:pPr>
            <a:r>
              <a:rPr lang="en-US" sz="2600" b="1">
                <a:solidFill>
                  <a:srgbClr val="000099"/>
                </a:solidFill>
              </a:rPr>
              <a:t>	with national contacts</a:t>
            </a:r>
          </a:p>
          <a:p>
            <a:pPr marL="457200" indent="-457200">
              <a:spcAft>
                <a:spcPct val="20000"/>
              </a:spcAft>
              <a:buClr>
                <a:srgbClr val="009900"/>
              </a:buClr>
              <a:buFont typeface="Wingdings" pitchFamily="2" charset="2"/>
              <a:buNone/>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Obtain national certifications</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Look national, not local</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Become the “Gold Standard” in your industry</a:t>
            </a:r>
          </a:p>
        </p:txBody>
      </p:sp>
      <p:sp>
        <p:nvSpPr>
          <p:cNvPr id="113669" name="Text Box 5"/>
          <p:cNvSpPr txBox="1">
            <a:spLocks noChangeArrowheads="1"/>
          </p:cNvSpPr>
          <p:nvPr/>
        </p:nvSpPr>
        <p:spPr bwMode="auto">
          <a:xfrm>
            <a:off x="1143000" y="381000"/>
            <a:ext cx="6705600" cy="519113"/>
          </a:xfrm>
          <a:prstGeom prst="rect">
            <a:avLst/>
          </a:prstGeom>
          <a:noFill/>
          <a:ln w="9525">
            <a:noFill/>
            <a:miter lim="800000"/>
            <a:headEnd/>
            <a:tailEnd/>
          </a:ln>
          <a:effectLst/>
        </p:spPr>
        <p:txBody>
          <a:bodyPr>
            <a:spAutoFit/>
          </a:bodyPr>
          <a:lstStyle/>
          <a:p>
            <a:pPr algn="ctr"/>
            <a:r>
              <a:rPr lang="en-US" b="1">
                <a:solidFill>
                  <a:srgbClr val="000099"/>
                </a:solidFill>
              </a:rPr>
              <a:t>Building a National Practice</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3669"/>
                                        </p:tgtEl>
                                        <p:attrNameLst>
                                          <p:attrName>style.visibility</p:attrName>
                                        </p:attrNameLst>
                                      </p:cBhvr>
                                      <p:to>
                                        <p:strVal val="visible"/>
                                      </p:to>
                                    </p:set>
                                    <p:animEffect transition="in" filter="dissolve">
                                      <p:cBhvr>
                                        <p:cTn id="7" dur="500"/>
                                        <p:tgtEl>
                                          <p:spTgt spid="11366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3668">
                                            <p:txEl>
                                              <p:pRg st="0" end="0"/>
                                            </p:txEl>
                                          </p:spTgt>
                                        </p:tgtEl>
                                        <p:attrNameLst>
                                          <p:attrName>style.visibility</p:attrName>
                                        </p:attrNameLst>
                                      </p:cBhvr>
                                      <p:to>
                                        <p:strVal val="visible"/>
                                      </p:to>
                                    </p:set>
                                    <p:animEffect transition="in" filter="dissolve">
                                      <p:cBhvr>
                                        <p:cTn id="11" dur="500"/>
                                        <p:tgtEl>
                                          <p:spTgt spid="113668">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3668">
                                            <p:txEl>
                                              <p:pRg st="1" end="1"/>
                                            </p:txEl>
                                          </p:spTgt>
                                        </p:tgtEl>
                                        <p:attrNameLst>
                                          <p:attrName>style.visibility</p:attrName>
                                        </p:attrNameLst>
                                      </p:cBhvr>
                                      <p:to>
                                        <p:strVal val="visible"/>
                                      </p:to>
                                    </p:set>
                                    <p:animEffect transition="in" filter="dissolve">
                                      <p:cBhvr>
                                        <p:cTn id="15" dur="500"/>
                                        <p:tgtEl>
                                          <p:spTgt spid="113668">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3668">
                                            <p:txEl>
                                              <p:pRg st="3" end="3"/>
                                            </p:txEl>
                                          </p:spTgt>
                                        </p:tgtEl>
                                        <p:attrNameLst>
                                          <p:attrName>style.visibility</p:attrName>
                                        </p:attrNameLst>
                                      </p:cBhvr>
                                      <p:to>
                                        <p:strVal val="visible"/>
                                      </p:to>
                                    </p:set>
                                    <p:animEffect transition="in" filter="dissolve">
                                      <p:cBhvr>
                                        <p:cTn id="19" dur="500"/>
                                        <p:tgtEl>
                                          <p:spTgt spid="113668">
                                            <p:txEl>
                                              <p:pRg st="3" end="3"/>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13668">
                                            <p:txEl>
                                              <p:pRg st="5" end="5"/>
                                            </p:txEl>
                                          </p:spTgt>
                                        </p:tgtEl>
                                        <p:attrNameLst>
                                          <p:attrName>style.visibility</p:attrName>
                                        </p:attrNameLst>
                                      </p:cBhvr>
                                      <p:to>
                                        <p:strVal val="visible"/>
                                      </p:to>
                                    </p:set>
                                    <p:animEffect transition="in" filter="dissolve">
                                      <p:cBhvr>
                                        <p:cTn id="23" dur="500"/>
                                        <p:tgtEl>
                                          <p:spTgt spid="113668">
                                            <p:txEl>
                                              <p:pRg st="5" end="5"/>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13668">
                                            <p:txEl>
                                              <p:pRg st="6" end="6"/>
                                            </p:txEl>
                                          </p:spTgt>
                                        </p:tgtEl>
                                        <p:attrNameLst>
                                          <p:attrName>style.visibility</p:attrName>
                                        </p:attrNameLst>
                                      </p:cBhvr>
                                      <p:to>
                                        <p:strVal val="visible"/>
                                      </p:to>
                                    </p:set>
                                    <p:animEffect transition="in" filter="dissolve">
                                      <p:cBhvr>
                                        <p:cTn id="27" dur="500"/>
                                        <p:tgtEl>
                                          <p:spTgt spid="113668">
                                            <p:txEl>
                                              <p:pRg st="6" end="6"/>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13668">
                                            <p:txEl>
                                              <p:pRg st="8" end="8"/>
                                            </p:txEl>
                                          </p:spTgt>
                                        </p:tgtEl>
                                        <p:attrNameLst>
                                          <p:attrName>style.visibility</p:attrName>
                                        </p:attrNameLst>
                                      </p:cBhvr>
                                      <p:to>
                                        <p:strVal val="visible"/>
                                      </p:to>
                                    </p:set>
                                    <p:animEffect transition="in" filter="dissolve">
                                      <p:cBhvr>
                                        <p:cTn id="31" dur="500"/>
                                        <p:tgtEl>
                                          <p:spTgt spid="113668">
                                            <p:txEl>
                                              <p:pRg st="8" end="8"/>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113668">
                                            <p:txEl>
                                              <p:pRg st="10" end="10"/>
                                            </p:txEl>
                                          </p:spTgt>
                                        </p:tgtEl>
                                        <p:attrNameLst>
                                          <p:attrName>style.visibility</p:attrName>
                                        </p:attrNameLst>
                                      </p:cBhvr>
                                      <p:to>
                                        <p:strVal val="visible"/>
                                      </p:to>
                                    </p:set>
                                    <p:animEffect transition="in" filter="dissolve">
                                      <p:cBhvr>
                                        <p:cTn id="35" dur="500"/>
                                        <p:tgtEl>
                                          <p:spTgt spid="113668">
                                            <p:txEl>
                                              <p:pRg st="10" end="10"/>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113668">
                                            <p:txEl>
                                              <p:pRg st="12" end="12"/>
                                            </p:txEl>
                                          </p:spTgt>
                                        </p:tgtEl>
                                        <p:attrNameLst>
                                          <p:attrName>style.visibility</p:attrName>
                                        </p:attrNameLst>
                                      </p:cBhvr>
                                      <p:to>
                                        <p:strVal val="visible"/>
                                      </p:to>
                                    </p:set>
                                    <p:animEffect transition="in" filter="dissolve">
                                      <p:cBhvr>
                                        <p:cTn id="39" dur="500"/>
                                        <p:tgtEl>
                                          <p:spTgt spid="11366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build="p" autoUpdateAnimBg="0" advAuto="0"/>
      <p:bldP spid="11366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F3C18320-6A89-412F-A5C5-926FCC5DD472}" type="slidenum">
              <a:rPr lang="en-US"/>
              <a:pPr/>
              <a:t>9</a:t>
            </a:fld>
            <a:endParaRPr lang="en-US"/>
          </a:p>
        </p:txBody>
      </p:sp>
      <p:sp>
        <p:nvSpPr>
          <p:cNvPr id="114690"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4691"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4692" name="Text Box 4"/>
          <p:cNvSpPr txBox="1">
            <a:spLocks noChangeArrowheads="1"/>
          </p:cNvSpPr>
          <p:nvPr/>
        </p:nvSpPr>
        <p:spPr bwMode="auto">
          <a:xfrm>
            <a:off x="1371600" y="381000"/>
            <a:ext cx="6705600" cy="946150"/>
          </a:xfrm>
          <a:prstGeom prst="rect">
            <a:avLst/>
          </a:prstGeom>
          <a:noFill/>
          <a:ln w="9525">
            <a:noFill/>
            <a:miter lim="800000"/>
            <a:headEnd/>
            <a:tailEnd/>
          </a:ln>
          <a:effectLst/>
        </p:spPr>
        <p:txBody>
          <a:bodyPr>
            <a:spAutoFit/>
          </a:bodyPr>
          <a:lstStyle/>
          <a:p>
            <a:pPr algn="ctr"/>
            <a:r>
              <a:rPr lang="en-US" b="1">
                <a:solidFill>
                  <a:srgbClr val="000099"/>
                </a:solidFill>
              </a:rPr>
              <a:t>Building Your Consulting Business One Relationship At A Time</a:t>
            </a:r>
          </a:p>
        </p:txBody>
      </p:sp>
      <p:sp>
        <p:nvSpPr>
          <p:cNvPr id="114693" name="Text Box 5"/>
          <p:cNvSpPr txBox="1">
            <a:spLocks noChangeArrowheads="1"/>
          </p:cNvSpPr>
          <p:nvPr/>
        </p:nvSpPr>
        <p:spPr bwMode="auto">
          <a:xfrm>
            <a:off x="1600200" y="1635125"/>
            <a:ext cx="5230813" cy="2473325"/>
          </a:xfrm>
          <a:prstGeom prst="rect">
            <a:avLst/>
          </a:prstGeom>
          <a:noFill/>
          <a:ln w="9525">
            <a:noFill/>
            <a:miter lim="800000"/>
            <a:headEnd/>
            <a:tailEnd/>
          </a:ln>
          <a:effectLst/>
        </p:spPr>
        <p:txBody>
          <a:bodyPr wrap="none">
            <a:spAutoFit/>
          </a:bodyPr>
          <a:lstStyle/>
          <a:p>
            <a:pPr marL="457200" indent="-457200">
              <a:lnSpc>
                <a:spcPct val="150000"/>
              </a:lnSpc>
              <a:buClr>
                <a:srgbClr val="009900"/>
              </a:buClr>
              <a:buFont typeface="Wingdings" pitchFamily="2" charset="2"/>
              <a:buAutoNum type="arabicPeriod"/>
            </a:pPr>
            <a:r>
              <a:rPr lang="en-US" sz="2600" b="1">
                <a:solidFill>
                  <a:srgbClr val="66CCFF"/>
                </a:solidFill>
              </a:rPr>
              <a:t>  Introduction</a:t>
            </a:r>
          </a:p>
          <a:p>
            <a:pPr marL="457200" indent="-457200">
              <a:lnSpc>
                <a:spcPct val="150000"/>
              </a:lnSpc>
              <a:buClr>
                <a:srgbClr val="009900"/>
              </a:buClr>
              <a:buFont typeface="Wingdings" pitchFamily="2" charset="2"/>
              <a:buAutoNum type="arabicPeriod"/>
            </a:pPr>
            <a:r>
              <a:rPr lang="en-US" sz="2600" b="1">
                <a:solidFill>
                  <a:srgbClr val="66CCFF"/>
                </a:solidFill>
              </a:rPr>
              <a:t>  Lessons Learned</a:t>
            </a:r>
          </a:p>
          <a:p>
            <a:pPr marL="457200" indent="-457200">
              <a:lnSpc>
                <a:spcPct val="150000"/>
              </a:lnSpc>
              <a:buClr>
                <a:srgbClr val="009900"/>
              </a:buClr>
              <a:buFont typeface="Wingdings" pitchFamily="2" charset="2"/>
              <a:buAutoNum type="arabicPeriod"/>
            </a:pPr>
            <a:r>
              <a:rPr lang="en-US" sz="2600" b="1">
                <a:solidFill>
                  <a:srgbClr val="66CCFF"/>
                </a:solidFill>
              </a:rPr>
              <a:t>  Building a National Practice</a:t>
            </a:r>
          </a:p>
          <a:p>
            <a:pPr marL="457200" indent="-457200">
              <a:lnSpc>
                <a:spcPct val="150000"/>
              </a:lnSpc>
              <a:buClr>
                <a:srgbClr val="009900"/>
              </a:buClr>
              <a:buFont typeface="Wingdings" pitchFamily="2" charset="2"/>
              <a:buAutoNum type="arabicPeriod"/>
            </a:pPr>
            <a:r>
              <a:rPr lang="en-US" sz="2600" b="1">
                <a:solidFill>
                  <a:srgbClr val="000099"/>
                </a:solidFill>
              </a:rPr>
              <a:t>  Networking Do’s and Don’ts</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4692"/>
                                        </p:tgtEl>
                                        <p:attrNameLst>
                                          <p:attrName>style.visibility</p:attrName>
                                        </p:attrNameLst>
                                      </p:cBhvr>
                                      <p:to>
                                        <p:strVal val="visible"/>
                                      </p:to>
                                    </p:set>
                                    <p:animEffect transition="in" filter="dissolve">
                                      <p:cBhvr>
                                        <p:cTn id="7" dur="500"/>
                                        <p:tgtEl>
                                          <p:spTgt spid="11469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4693">
                                            <p:txEl>
                                              <p:pRg st="0" end="0"/>
                                            </p:txEl>
                                          </p:spTgt>
                                        </p:tgtEl>
                                        <p:attrNameLst>
                                          <p:attrName>style.visibility</p:attrName>
                                        </p:attrNameLst>
                                      </p:cBhvr>
                                      <p:to>
                                        <p:strVal val="visible"/>
                                      </p:to>
                                    </p:set>
                                    <p:animEffect transition="in" filter="dissolve">
                                      <p:cBhvr>
                                        <p:cTn id="11" dur="500"/>
                                        <p:tgtEl>
                                          <p:spTgt spid="114693">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4693">
                                            <p:txEl>
                                              <p:pRg st="1" end="1"/>
                                            </p:txEl>
                                          </p:spTgt>
                                        </p:tgtEl>
                                        <p:attrNameLst>
                                          <p:attrName>style.visibility</p:attrName>
                                        </p:attrNameLst>
                                      </p:cBhvr>
                                      <p:to>
                                        <p:strVal val="visible"/>
                                      </p:to>
                                    </p:set>
                                    <p:animEffect transition="in" filter="dissolve">
                                      <p:cBhvr>
                                        <p:cTn id="15" dur="500"/>
                                        <p:tgtEl>
                                          <p:spTgt spid="114693">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4693">
                                            <p:txEl>
                                              <p:pRg st="2" end="2"/>
                                            </p:txEl>
                                          </p:spTgt>
                                        </p:tgtEl>
                                        <p:attrNameLst>
                                          <p:attrName>style.visibility</p:attrName>
                                        </p:attrNameLst>
                                      </p:cBhvr>
                                      <p:to>
                                        <p:strVal val="visible"/>
                                      </p:to>
                                    </p:set>
                                    <p:animEffect transition="in" filter="dissolve">
                                      <p:cBhvr>
                                        <p:cTn id="19" dur="500"/>
                                        <p:tgtEl>
                                          <p:spTgt spid="114693">
                                            <p:txEl>
                                              <p:pRg st="2" end="2"/>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14693">
                                            <p:txEl>
                                              <p:pRg st="3" end="3"/>
                                            </p:txEl>
                                          </p:spTgt>
                                        </p:tgtEl>
                                        <p:attrNameLst>
                                          <p:attrName>style.visibility</p:attrName>
                                        </p:attrNameLst>
                                      </p:cBhvr>
                                      <p:to>
                                        <p:strVal val="visible"/>
                                      </p:to>
                                    </p:set>
                                    <p:animEffect transition="in" filter="dissolve">
                                      <p:cBhvr>
                                        <p:cTn id="23" dur="500"/>
                                        <p:tgtEl>
                                          <p:spTgt spid="11469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autoUpdateAnimBg="0"/>
      <p:bldP spid="114693" grpId="0" build="p" autoUpdateAnimBg="0"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1"/>
          </p:nvPr>
        </p:nvSpPr>
        <p:spPr/>
        <p:txBody>
          <a:bodyPr/>
          <a:lstStyle/>
          <a:p>
            <a:r>
              <a:rPr lang="en-US"/>
              <a:t>The Arbor Consulting Group</a:t>
            </a:r>
          </a:p>
        </p:txBody>
      </p:sp>
      <p:sp>
        <p:nvSpPr>
          <p:cNvPr id="7" name="Slide Number Placeholder 3"/>
          <p:cNvSpPr>
            <a:spLocks noGrp="1"/>
          </p:cNvSpPr>
          <p:nvPr>
            <p:ph type="sldNum" sz="quarter" idx="12"/>
          </p:nvPr>
        </p:nvSpPr>
        <p:spPr/>
        <p:txBody>
          <a:bodyPr/>
          <a:lstStyle/>
          <a:p>
            <a:fld id="{DFB61E00-2641-449D-AFC9-92074056144F}" type="slidenum">
              <a:rPr lang="en-US"/>
              <a:pPr/>
              <a:t>10</a:t>
            </a:fld>
            <a:endParaRPr lang="en-US"/>
          </a:p>
        </p:txBody>
      </p:sp>
      <p:sp>
        <p:nvSpPr>
          <p:cNvPr id="80898"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80899" name="Text Box 3"/>
          <p:cNvSpPr txBox="1">
            <a:spLocks noChangeArrowheads="1"/>
          </p:cNvSpPr>
          <p:nvPr/>
        </p:nvSpPr>
        <p:spPr bwMode="auto">
          <a:xfrm>
            <a:off x="1036638" y="304800"/>
            <a:ext cx="7045325" cy="946150"/>
          </a:xfrm>
          <a:prstGeom prst="rect">
            <a:avLst/>
          </a:prstGeom>
          <a:noFill/>
          <a:ln w="9525">
            <a:noFill/>
            <a:miter lim="800000"/>
            <a:headEnd/>
            <a:tailEnd/>
          </a:ln>
          <a:effectLst/>
        </p:spPr>
        <p:txBody>
          <a:bodyPr wrap="none">
            <a:spAutoFit/>
          </a:bodyPr>
          <a:lstStyle/>
          <a:p>
            <a:pPr algn="ctr"/>
            <a:r>
              <a:rPr lang="en-US" b="1">
                <a:solidFill>
                  <a:srgbClr val="000099"/>
                </a:solidFill>
              </a:rPr>
              <a:t>Top Ten Do’s and Don'ts </a:t>
            </a:r>
          </a:p>
          <a:p>
            <a:pPr algn="ctr"/>
            <a:r>
              <a:rPr lang="en-US" b="1">
                <a:solidFill>
                  <a:srgbClr val="000099"/>
                </a:solidFill>
              </a:rPr>
              <a:t>of Networking and Relationship Building</a:t>
            </a:r>
          </a:p>
        </p:txBody>
      </p:sp>
      <p:sp>
        <p:nvSpPr>
          <p:cNvPr id="80900" name="Text Box 4"/>
          <p:cNvSpPr txBox="1">
            <a:spLocks noChangeArrowheads="1"/>
          </p:cNvSpPr>
          <p:nvPr/>
        </p:nvSpPr>
        <p:spPr bwMode="auto">
          <a:xfrm>
            <a:off x="685800" y="1666875"/>
            <a:ext cx="7799388" cy="3743325"/>
          </a:xfrm>
          <a:prstGeom prst="rect">
            <a:avLst/>
          </a:prstGeom>
          <a:noFill/>
          <a:ln w="9525">
            <a:noFill/>
            <a:miter lim="800000"/>
            <a:headEnd/>
            <a:tailEnd/>
          </a:ln>
          <a:effectLst/>
        </p:spPr>
        <p:txBody>
          <a:bodyPr wrap="none">
            <a:spAutoFit/>
          </a:bodyPr>
          <a:lstStyle/>
          <a:p>
            <a:pPr marL="457200" indent="-457200">
              <a:buClr>
                <a:srgbClr val="009900"/>
              </a:buClr>
              <a:buFontTx/>
              <a:buAutoNum type="arabicPeriod"/>
            </a:pPr>
            <a:r>
              <a:rPr lang="en-US" sz="2400" b="1">
                <a:solidFill>
                  <a:srgbClr val="000099"/>
                </a:solidFill>
              </a:rPr>
              <a:t>DON’T USE NETWORKING AS A ONE-WAY TOOL</a:t>
            </a:r>
          </a:p>
          <a:p>
            <a:pPr marL="457200" indent="-457200">
              <a:buClr>
                <a:srgbClr val="009900"/>
              </a:buClr>
              <a:buFontTx/>
              <a:buAutoNum type="arabicPeriod"/>
            </a:pPr>
            <a:endParaRPr lang="en-US" sz="2400" b="1">
              <a:solidFill>
                <a:srgbClr val="000099"/>
              </a:solidFill>
            </a:endParaRPr>
          </a:p>
          <a:p>
            <a:pPr marL="457200" indent="-457200">
              <a:buClr>
                <a:srgbClr val="009900"/>
              </a:buClr>
              <a:buFontTx/>
              <a:buAutoNum type="arabicPeriod"/>
            </a:pPr>
            <a:r>
              <a:rPr lang="en-US" sz="2400" b="1">
                <a:solidFill>
                  <a:srgbClr val="000099"/>
                </a:solidFill>
              </a:rPr>
              <a:t>DO ENGAGE IN POSITIVE CONVERSATION</a:t>
            </a:r>
            <a:endParaRPr lang="en-US" sz="2400" b="1" u="sng">
              <a:solidFill>
                <a:srgbClr val="000099"/>
              </a:solidFill>
            </a:endParaRPr>
          </a:p>
          <a:p>
            <a:pPr marL="457200" indent="-457200">
              <a:buClr>
                <a:srgbClr val="009900"/>
              </a:buClr>
              <a:buFontTx/>
              <a:buAutoNum type="arabicPeriod"/>
            </a:pPr>
            <a:endParaRPr lang="en-US" sz="2400" b="1">
              <a:solidFill>
                <a:srgbClr val="000099"/>
              </a:solidFill>
            </a:endParaRPr>
          </a:p>
          <a:p>
            <a:pPr marL="457200" indent="-457200">
              <a:buClr>
                <a:srgbClr val="009900"/>
              </a:buClr>
              <a:buFontTx/>
              <a:buAutoNum type="arabicPeriod"/>
            </a:pPr>
            <a:r>
              <a:rPr lang="en-US" sz="2400" b="1">
                <a:solidFill>
                  <a:srgbClr val="000099"/>
                </a:solidFill>
              </a:rPr>
              <a:t>DON’T TREAT NETWORKING LIKE SELLING</a:t>
            </a:r>
          </a:p>
          <a:p>
            <a:pPr marL="457200" indent="-457200">
              <a:buClr>
                <a:srgbClr val="009900"/>
              </a:buClr>
              <a:buFontTx/>
              <a:buAutoNum type="arabicPeriod"/>
            </a:pPr>
            <a:endParaRPr lang="en-US" sz="2400" b="1">
              <a:solidFill>
                <a:srgbClr val="000099"/>
              </a:solidFill>
            </a:endParaRPr>
          </a:p>
          <a:p>
            <a:pPr marL="457200" indent="-457200">
              <a:buClr>
                <a:srgbClr val="009900"/>
              </a:buClr>
              <a:buFontTx/>
              <a:buAutoNum type="arabicPeriod"/>
            </a:pPr>
            <a:r>
              <a:rPr lang="en-US" sz="2400" b="1">
                <a:solidFill>
                  <a:srgbClr val="000099"/>
                </a:solidFill>
              </a:rPr>
              <a:t>DO SET MODEST GOALS WHEN NETWORKING</a:t>
            </a:r>
          </a:p>
          <a:p>
            <a:pPr marL="457200" indent="-457200">
              <a:buClr>
                <a:srgbClr val="009900"/>
              </a:buClr>
              <a:buFontTx/>
              <a:buAutoNum type="arabicPeriod"/>
            </a:pPr>
            <a:endParaRPr lang="en-US" sz="2400" b="1">
              <a:solidFill>
                <a:srgbClr val="000099"/>
              </a:solidFill>
            </a:endParaRPr>
          </a:p>
          <a:p>
            <a:pPr marL="457200" indent="-457200">
              <a:buClr>
                <a:srgbClr val="009900"/>
              </a:buClr>
              <a:buFontTx/>
              <a:buAutoNum type="arabicPeriod"/>
            </a:pPr>
            <a:r>
              <a:rPr lang="en-US" sz="2400" b="1">
                <a:solidFill>
                  <a:srgbClr val="000099"/>
                </a:solidFill>
              </a:rPr>
              <a:t>DON’T EXPECT THAT A SOURCE </a:t>
            </a:r>
          </a:p>
          <a:p>
            <a:pPr marL="457200" indent="-457200">
              <a:buClr>
                <a:srgbClr val="009900"/>
              </a:buClr>
            </a:pPr>
            <a:r>
              <a:rPr lang="en-US" sz="2400" b="1">
                <a:solidFill>
                  <a:srgbClr val="000099"/>
                </a:solidFill>
              </a:rPr>
              <a:t>	KNOWS HOW TO HELP</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1000"/>
                                  </p:stCondLst>
                                  <p:childTnLst>
                                    <p:set>
                                      <p:cBhvr>
                                        <p:cTn id="6" dur="1" fill="hold">
                                          <p:stCondLst>
                                            <p:cond delay="0"/>
                                          </p:stCondLst>
                                        </p:cTn>
                                        <p:tgtEl>
                                          <p:spTgt spid="80899"/>
                                        </p:tgtEl>
                                        <p:attrNameLst>
                                          <p:attrName>style.visibility</p:attrName>
                                        </p:attrNameLst>
                                      </p:cBhvr>
                                      <p:to>
                                        <p:strVal val="visible"/>
                                      </p:to>
                                    </p:set>
                                    <p:animEffect transition="in" filter="box(out)">
                                      <p:cBhvr>
                                        <p:cTn id="7" dur="500"/>
                                        <p:tgtEl>
                                          <p:spTgt spid="80899"/>
                                        </p:tgtEl>
                                      </p:cBhvr>
                                    </p:animEffect>
                                  </p:childTnLst>
                                </p:cTn>
                              </p:par>
                            </p:childTnLst>
                          </p:cTn>
                        </p:par>
                        <p:par>
                          <p:cTn id="8" fill="hold">
                            <p:stCondLst>
                              <p:cond delay="1500"/>
                            </p:stCondLst>
                            <p:childTnLst>
                              <p:par>
                                <p:cTn id="9" presetID="9" presetClass="entr" presetSubtype="0" fill="hold" grpId="0" nodeType="afterEffect">
                                  <p:stCondLst>
                                    <p:cond delay="1000"/>
                                  </p:stCondLst>
                                  <p:childTnLst>
                                    <p:set>
                                      <p:cBhvr>
                                        <p:cTn id="10" dur="1" fill="hold">
                                          <p:stCondLst>
                                            <p:cond delay="0"/>
                                          </p:stCondLst>
                                        </p:cTn>
                                        <p:tgtEl>
                                          <p:spTgt spid="80900">
                                            <p:txEl>
                                              <p:pRg st="0" end="0"/>
                                            </p:txEl>
                                          </p:spTgt>
                                        </p:tgtEl>
                                        <p:attrNameLst>
                                          <p:attrName>style.visibility</p:attrName>
                                        </p:attrNameLst>
                                      </p:cBhvr>
                                      <p:to>
                                        <p:strVal val="visible"/>
                                      </p:to>
                                    </p:set>
                                    <p:animEffect transition="in" filter="dissolve">
                                      <p:cBhvr>
                                        <p:cTn id="11" dur="500"/>
                                        <p:tgtEl>
                                          <p:spTgt spid="80900">
                                            <p:txEl>
                                              <p:pRg st="0" end="0"/>
                                            </p:txEl>
                                          </p:spTgt>
                                        </p:tgtEl>
                                      </p:cBhvr>
                                    </p:animEffect>
                                  </p:childTnLst>
                                </p:cTn>
                              </p:par>
                            </p:childTnLst>
                          </p:cTn>
                        </p:par>
                        <p:par>
                          <p:cTn id="12" fill="hold">
                            <p:stCondLst>
                              <p:cond delay="3000"/>
                            </p:stCondLst>
                            <p:childTnLst>
                              <p:par>
                                <p:cTn id="13" presetID="9" presetClass="entr" presetSubtype="0" fill="hold" grpId="0" nodeType="afterEffect">
                                  <p:stCondLst>
                                    <p:cond delay="1000"/>
                                  </p:stCondLst>
                                  <p:childTnLst>
                                    <p:set>
                                      <p:cBhvr>
                                        <p:cTn id="14" dur="1" fill="hold">
                                          <p:stCondLst>
                                            <p:cond delay="0"/>
                                          </p:stCondLst>
                                        </p:cTn>
                                        <p:tgtEl>
                                          <p:spTgt spid="80900">
                                            <p:txEl>
                                              <p:pRg st="2" end="2"/>
                                            </p:txEl>
                                          </p:spTgt>
                                        </p:tgtEl>
                                        <p:attrNameLst>
                                          <p:attrName>style.visibility</p:attrName>
                                        </p:attrNameLst>
                                      </p:cBhvr>
                                      <p:to>
                                        <p:strVal val="visible"/>
                                      </p:to>
                                    </p:set>
                                    <p:animEffect transition="in" filter="dissolve">
                                      <p:cBhvr>
                                        <p:cTn id="15" dur="500"/>
                                        <p:tgtEl>
                                          <p:spTgt spid="80900">
                                            <p:txEl>
                                              <p:pRg st="2" end="2"/>
                                            </p:txEl>
                                          </p:spTgt>
                                        </p:tgtEl>
                                      </p:cBhvr>
                                    </p:animEffect>
                                  </p:childTnLst>
                                </p:cTn>
                              </p:par>
                            </p:childTnLst>
                          </p:cTn>
                        </p:par>
                        <p:par>
                          <p:cTn id="16" fill="hold">
                            <p:stCondLst>
                              <p:cond delay="4500"/>
                            </p:stCondLst>
                            <p:childTnLst>
                              <p:par>
                                <p:cTn id="17" presetID="9" presetClass="entr" presetSubtype="0" fill="hold" grpId="0" nodeType="afterEffect">
                                  <p:stCondLst>
                                    <p:cond delay="1000"/>
                                  </p:stCondLst>
                                  <p:childTnLst>
                                    <p:set>
                                      <p:cBhvr>
                                        <p:cTn id="18" dur="1" fill="hold">
                                          <p:stCondLst>
                                            <p:cond delay="0"/>
                                          </p:stCondLst>
                                        </p:cTn>
                                        <p:tgtEl>
                                          <p:spTgt spid="80900">
                                            <p:txEl>
                                              <p:pRg st="4" end="4"/>
                                            </p:txEl>
                                          </p:spTgt>
                                        </p:tgtEl>
                                        <p:attrNameLst>
                                          <p:attrName>style.visibility</p:attrName>
                                        </p:attrNameLst>
                                      </p:cBhvr>
                                      <p:to>
                                        <p:strVal val="visible"/>
                                      </p:to>
                                    </p:set>
                                    <p:animEffect transition="in" filter="dissolve">
                                      <p:cBhvr>
                                        <p:cTn id="19" dur="500"/>
                                        <p:tgtEl>
                                          <p:spTgt spid="80900">
                                            <p:txEl>
                                              <p:pRg st="4" end="4"/>
                                            </p:txEl>
                                          </p:spTgt>
                                        </p:tgtEl>
                                      </p:cBhvr>
                                    </p:animEffect>
                                  </p:childTnLst>
                                </p:cTn>
                              </p:par>
                            </p:childTnLst>
                          </p:cTn>
                        </p:par>
                        <p:par>
                          <p:cTn id="20" fill="hold">
                            <p:stCondLst>
                              <p:cond delay="6000"/>
                            </p:stCondLst>
                            <p:childTnLst>
                              <p:par>
                                <p:cTn id="21" presetID="9" presetClass="entr" presetSubtype="0" fill="hold" grpId="0" nodeType="afterEffect">
                                  <p:stCondLst>
                                    <p:cond delay="1000"/>
                                  </p:stCondLst>
                                  <p:childTnLst>
                                    <p:set>
                                      <p:cBhvr>
                                        <p:cTn id="22" dur="1" fill="hold">
                                          <p:stCondLst>
                                            <p:cond delay="0"/>
                                          </p:stCondLst>
                                        </p:cTn>
                                        <p:tgtEl>
                                          <p:spTgt spid="80900">
                                            <p:txEl>
                                              <p:pRg st="6" end="6"/>
                                            </p:txEl>
                                          </p:spTgt>
                                        </p:tgtEl>
                                        <p:attrNameLst>
                                          <p:attrName>style.visibility</p:attrName>
                                        </p:attrNameLst>
                                      </p:cBhvr>
                                      <p:to>
                                        <p:strVal val="visible"/>
                                      </p:to>
                                    </p:set>
                                    <p:animEffect transition="in" filter="dissolve">
                                      <p:cBhvr>
                                        <p:cTn id="23" dur="500"/>
                                        <p:tgtEl>
                                          <p:spTgt spid="80900">
                                            <p:txEl>
                                              <p:pRg st="6" end="6"/>
                                            </p:txEl>
                                          </p:spTgt>
                                        </p:tgtEl>
                                      </p:cBhvr>
                                    </p:animEffect>
                                  </p:childTnLst>
                                </p:cTn>
                              </p:par>
                            </p:childTnLst>
                          </p:cTn>
                        </p:par>
                        <p:par>
                          <p:cTn id="24" fill="hold">
                            <p:stCondLst>
                              <p:cond delay="7500"/>
                            </p:stCondLst>
                            <p:childTnLst>
                              <p:par>
                                <p:cTn id="25" presetID="9" presetClass="entr" presetSubtype="0" fill="hold" grpId="0" nodeType="afterEffect">
                                  <p:stCondLst>
                                    <p:cond delay="1000"/>
                                  </p:stCondLst>
                                  <p:childTnLst>
                                    <p:set>
                                      <p:cBhvr>
                                        <p:cTn id="26" dur="1" fill="hold">
                                          <p:stCondLst>
                                            <p:cond delay="0"/>
                                          </p:stCondLst>
                                        </p:cTn>
                                        <p:tgtEl>
                                          <p:spTgt spid="80900">
                                            <p:txEl>
                                              <p:pRg st="8" end="8"/>
                                            </p:txEl>
                                          </p:spTgt>
                                        </p:tgtEl>
                                        <p:attrNameLst>
                                          <p:attrName>style.visibility</p:attrName>
                                        </p:attrNameLst>
                                      </p:cBhvr>
                                      <p:to>
                                        <p:strVal val="visible"/>
                                      </p:to>
                                    </p:set>
                                    <p:animEffect transition="in" filter="dissolve">
                                      <p:cBhvr>
                                        <p:cTn id="27" dur="500"/>
                                        <p:tgtEl>
                                          <p:spTgt spid="80900">
                                            <p:txEl>
                                              <p:pRg st="8" end="8"/>
                                            </p:txEl>
                                          </p:spTgt>
                                        </p:tgtEl>
                                      </p:cBhvr>
                                    </p:animEffect>
                                  </p:childTnLst>
                                </p:cTn>
                              </p:par>
                            </p:childTnLst>
                          </p:cTn>
                        </p:par>
                        <p:par>
                          <p:cTn id="28" fill="hold">
                            <p:stCondLst>
                              <p:cond delay="9000"/>
                            </p:stCondLst>
                            <p:childTnLst>
                              <p:par>
                                <p:cTn id="29" presetID="9" presetClass="entr" presetSubtype="0" fill="hold" grpId="0" nodeType="afterEffect">
                                  <p:stCondLst>
                                    <p:cond delay="1000"/>
                                  </p:stCondLst>
                                  <p:childTnLst>
                                    <p:set>
                                      <p:cBhvr>
                                        <p:cTn id="30" dur="1" fill="hold">
                                          <p:stCondLst>
                                            <p:cond delay="0"/>
                                          </p:stCondLst>
                                        </p:cTn>
                                        <p:tgtEl>
                                          <p:spTgt spid="80900">
                                            <p:txEl>
                                              <p:pRg st="9" end="9"/>
                                            </p:txEl>
                                          </p:spTgt>
                                        </p:tgtEl>
                                        <p:attrNameLst>
                                          <p:attrName>style.visibility</p:attrName>
                                        </p:attrNameLst>
                                      </p:cBhvr>
                                      <p:to>
                                        <p:strVal val="visible"/>
                                      </p:to>
                                    </p:set>
                                    <p:animEffect transition="in" filter="dissolve">
                                      <p:cBhvr>
                                        <p:cTn id="31" dur="500"/>
                                        <p:tgtEl>
                                          <p:spTgt spid="8090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autoUpdateAnimBg="0"/>
      <p:bldP spid="80900" grpId="0" build="p" autoUpdateAnimBg="0" advAuto="100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C927807C-9958-48C7-B3A5-C49A91CB8FEE}" type="slidenum">
              <a:rPr lang="en-US"/>
              <a:pPr/>
              <a:t>11</a:t>
            </a:fld>
            <a:endParaRPr lang="en-US"/>
          </a:p>
        </p:txBody>
      </p:sp>
      <p:sp>
        <p:nvSpPr>
          <p:cNvPr id="81922" name="Text Box 4098"/>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81923" name="Text Box 4099"/>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81925" name="Text Box 4101"/>
          <p:cNvSpPr txBox="1">
            <a:spLocks noChangeArrowheads="1"/>
          </p:cNvSpPr>
          <p:nvPr/>
        </p:nvSpPr>
        <p:spPr bwMode="auto">
          <a:xfrm>
            <a:off x="685800" y="1546225"/>
            <a:ext cx="7848600" cy="4473575"/>
          </a:xfrm>
          <a:prstGeom prst="rect">
            <a:avLst/>
          </a:prstGeom>
          <a:noFill/>
          <a:ln w="9525">
            <a:noFill/>
            <a:miter lim="800000"/>
            <a:headEnd/>
            <a:tailEnd/>
          </a:ln>
          <a:effectLst/>
        </p:spPr>
        <p:txBody>
          <a:bodyPr>
            <a:spAutoFit/>
          </a:bodyPr>
          <a:lstStyle/>
          <a:p>
            <a:pPr marL="457200" indent="-457200">
              <a:buClr>
                <a:srgbClr val="009900"/>
              </a:buClr>
              <a:buFontTx/>
              <a:buAutoNum type="arabicPeriod" startAt="6"/>
            </a:pPr>
            <a:r>
              <a:rPr lang="en-US" sz="2400" b="1">
                <a:solidFill>
                  <a:srgbClr val="000099"/>
                </a:solidFill>
              </a:rPr>
              <a:t>DO KEEP NETWORK WARM</a:t>
            </a:r>
          </a:p>
          <a:p>
            <a:pPr marL="457200" indent="-457200">
              <a:buClr>
                <a:srgbClr val="009900"/>
              </a:buClr>
              <a:buFontTx/>
              <a:buAutoNum type="arabicPeriod" startAt="6"/>
            </a:pPr>
            <a:endParaRPr lang="en-US" sz="2400" b="1">
              <a:solidFill>
                <a:srgbClr val="000099"/>
              </a:solidFill>
            </a:endParaRPr>
          </a:p>
          <a:p>
            <a:pPr marL="457200" indent="-457200">
              <a:buClr>
                <a:srgbClr val="009900"/>
              </a:buClr>
              <a:buFontTx/>
              <a:buAutoNum type="arabicPeriod" startAt="6"/>
            </a:pPr>
            <a:r>
              <a:rPr lang="en-US" sz="2400" b="1">
                <a:solidFill>
                  <a:srgbClr val="000099"/>
                </a:solidFill>
              </a:rPr>
              <a:t>DO REMEMBER NETWORKING IS A LONG-TERM COMMITMENT</a:t>
            </a:r>
          </a:p>
          <a:p>
            <a:pPr marL="457200" indent="-457200">
              <a:buClr>
                <a:srgbClr val="009900"/>
              </a:buClr>
              <a:buFontTx/>
              <a:buAutoNum type="arabicPeriod" startAt="6"/>
            </a:pPr>
            <a:endParaRPr lang="en-US" sz="2400" b="1">
              <a:solidFill>
                <a:srgbClr val="000099"/>
              </a:solidFill>
            </a:endParaRPr>
          </a:p>
          <a:p>
            <a:pPr marL="457200" indent="-457200">
              <a:buClr>
                <a:srgbClr val="009900"/>
              </a:buClr>
              <a:buFontTx/>
              <a:buAutoNum type="arabicPeriod" startAt="6"/>
            </a:pPr>
            <a:r>
              <a:rPr lang="en-US" sz="2400" b="1">
                <a:solidFill>
                  <a:srgbClr val="000099"/>
                </a:solidFill>
              </a:rPr>
              <a:t>DON’T REQUEST MORE THAN ONE FAVOR </a:t>
            </a:r>
          </a:p>
          <a:p>
            <a:pPr marL="457200" indent="-457200">
              <a:buClr>
                <a:srgbClr val="009900"/>
              </a:buClr>
            </a:pPr>
            <a:r>
              <a:rPr lang="en-US" sz="2400" b="1">
                <a:solidFill>
                  <a:srgbClr val="000099"/>
                </a:solidFill>
              </a:rPr>
              <a:t>	FROM A CONTACT</a:t>
            </a:r>
          </a:p>
          <a:p>
            <a:pPr marL="457200" indent="-457200">
              <a:buClr>
                <a:srgbClr val="009900"/>
              </a:buClr>
              <a:buFontTx/>
              <a:buAutoNum type="arabicPeriod" startAt="6"/>
            </a:pPr>
            <a:endParaRPr lang="en-US" sz="2400" b="1">
              <a:solidFill>
                <a:srgbClr val="000099"/>
              </a:solidFill>
            </a:endParaRPr>
          </a:p>
          <a:p>
            <a:pPr marL="457200" indent="-457200">
              <a:buClr>
                <a:srgbClr val="009900"/>
              </a:buClr>
              <a:buFontTx/>
              <a:buAutoNum type="arabicPeriod" startAt="9"/>
            </a:pPr>
            <a:r>
              <a:rPr lang="en-US" sz="2400" b="1">
                <a:solidFill>
                  <a:srgbClr val="000099"/>
                </a:solidFill>
              </a:rPr>
              <a:t>DO REWARD/THANK CONTACTS</a:t>
            </a:r>
          </a:p>
          <a:p>
            <a:pPr marL="457200" indent="-457200">
              <a:buClr>
                <a:srgbClr val="009900"/>
              </a:buClr>
              <a:buFontTx/>
              <a:buAutoNum type="arabicPeriod" startAt="9"/>
            </a:pPr>
            <a:endParaRPr lang="en-US" sz="2400" b="1">
              <a:solidFill>
                <a:srgbClr val="000099"/>
              </a:solidFill>
            </a:endParaRPr>
          </a:p>
          <a:p>
            <a:pPr marL="457200" indent="-457200">
              <a:buClr>
                <a:srgbClr val="009900"/>
              </a:buClr>
              <a:buFontTx/>
              <a:buAutoNum type="arabicPeriod" startAt="9"/>
            </a:pPr>
            <a:r>
              <a:rPr lang="en-US" sz="2400" b="1">
                <a:solidFill>
                  <a:srgbClr val="000099"/>
                </a:solidFill>
              </a:rPr>
              <a:t>DO FOLLOW UP TO INFORM CONTACTS OF SIGNIFICANT EVENTS</a:t>
            </a:r>
          </a:p>
        </p:txBody>
      </p:sp>
      <p:sp>
        <p:nvSpPr>
          <p:cNvPr id="81958" name="Text Box 4134"/>
          <p:cNvSpPr txBox="1">
            <a:spLocks noChangeArrowheads="1"/>
          </p:cNvSpPr>
          <p:nvPr/>
        </p:nvSpPr>
        <p:spPr bwMode="auto">
          <a:xfrm>
            <a:off x="1036638" y="304800"/>
            <a:ext cx="7045325" cy="946150"/>
          </a:xfrm>
          <a:prstGeom prst="rect">
            <a:avLst/>
          </a:prstGeom>
          <a:noFill/>
          <a:ln w="9525">
            <a:noFill/>
            <a:miter lim="800000"/>
            <a:headEnd/>
            <a:tailEnd/>
          </a:ln>
          <a:effectLst/>
        </p:spPr>
        <p:txBody>
          <a:bodyPr wrap="none">
            <a:spAutoFit/>
          </a:bodyPr>
          <a:lstStyle/>
          <a:p>
            <a:pPr algn="ctr"/>
            <a:r>
              <a:rPr lang="en-US" b="1">
                <a:solidFill>
                  <a:srgbClr val="000099"/>
                </a:solidFill>
              </a:rPr>
              <a:t>Top Ten Do’s and Don'ts </a:t>
            </a:r>
          </a:p>
          <a:p>
            <a:pPr algn="ctr"/>
            <a:r>
              <a:rPr lang="en-US" b="1">
                <a:solidFill>
                  <a:srgbClr val="000099"/>
                </a:solidFill>
              </a:rPr>
              <a:t>of Networking and Relationship Building</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1000"/>
                                  </p:stCondLst>
                                  <p:childTnLst>
                                    <p:set>
                                      <p:cBhvr>
                                        <p:cTn id="6" dur="1" fill="hold">
                                          <p:stCondLst>
                                            <p:cond delay="0"/>
                                          </p:stCondLst>
                                        </p:cTn>
                                        <p:tgtEl>
                                          <p:spTgt spid="81958"/>
                                        </p:tgtEl>
                                        <p:attrNameLst>
                                          <p:attrName>style.visibility</p:attrName>
                                        </p:attrNameLst>
                                      </p:cBhvr>
                                      <p:to>
                                        <p:strVal val="visible"/>
                                      </p:to>
                                    </p:set>
                                    <p:animEffect transition="in" filter="box(out)">
                                      <p:cBhvr>
                                        <p:cTn id="7" dur="500"/>
                                        <p:tgtEl>
                                          <p:spTgt spid="81958"/>
                                        </p:tgtEl>
                                      </p:cBhvr>
                                    </p:animEffect>
                                  </p:childTnLst>
                                </p:cTn>
                              </p:par>
                            </p:childTnLst>
                          </p:cTn>
                        </p:par>
                        <p:par>
                          <p:cTn id="8" fill="hold">
                            <p:stCondLst>
                              <p:cond delay="1500"/>
                            </p:stCondLst>
                            <p:childTnLst>
                              <p:par>
                                <p:cTn id="9" presetID="9" presetClass="entr" presetSubtype="0" fill="hold" grpId="0" nodeType="afterEffect">
                                  <p:stCondLst>
                                    <p:cond delay="1000"/>
                                  </p:stCondLst>
                                  <p:childTnLst>
                                    <p:set>
                                      <p:cBhvr>
                                        <p:cTn id="10" dur="1" fill="hold">
                                          <p:stCondLst>
                                            <p:cond delay="0"/>
                                          </p:stCondLst>
                                        </p:cTn>
                                        <p:tgtEl>
                                          <p:spTgt spid="81925">
                                            <p:txEl>
                                              <p:pRg st="0" end="0"/>
                                            </p:txEl>
                                          </p:spTgt>
                                        </p:tgtEl>
                                        <p:attrNameLst>
                                          <p:attrName>style.visibility</p:attrName>
                                        </p:attrNameLst>
                                      </p:cBhvr>
                                      <p:to>
                                        <p:strVal val="visible"/>
                                      </p:to>
                                    </p:set>
                                    <p:animEffect transition="in" filter="dissolve">
                                      <p:cBhvr>
                                        <p:cTn id="11" dur="500"/>
                                        <p:tgtEl>
                                          <p:spTgt spid="81925">
                                            <p:txEl>
                                              <p:pRg st="0" end="0"/>
                                            </p:txEl>
                                          </p:spTgt>
                                        </p:tgtEl>
                                      </p:cBhvr>
                                    </p:animEffect>
                                  </p:childTnLst>
                                </p:cTn>
                              </p:par>
                            </p:childTnLst>
                          </p:cTn>
                        </p:par>
                        <p:par>
                          <p:cTn id="12" fill="hold">
                            <p:stCondLst>
                              <p:cond delay="3000"/>
                            </p:stCondLst>
                            <p:childTnLst>
                              <p:par>
                                <p:cTn id="13" presetID="9" presetClass="entr" presetSubtype="0" fill="hold" grpId="0" nodeType="afterEffect">
                                  <p:stCondLst>
                                    <p:cond delay="1000"/>
                                  </p:stCondLst>
                                  <p:childTnLst>
                                    <p:set>
                                      <p:cBhvr>
                                        <p:cTn id="14" dur="1" fill="hold">
                                          <p:stCondLst>
                                            <p:cond delay="0"/>
                                          </p:stCondLst>
                                        </p:cTn>
                                        <p:tgtEl>
                                          <p:spTgt spid="81925">
                                            <p:txEl>
                                              <p:pRg st="2" end="2"/>
                                            </p:txEl>
                                          </p:spTgt>
                                        </p:tgtEl>
                                        <p:attrNameLst>
                                          <p:attrName>style.visibility</p:attrName>
                                        </p:attrNameLst>
                                      </p:cBhvr>
                                      <p:to>
                                        <p:strVal val="visible"/>
                                      </p:to>
                                    </p:set>
                                    <p:animEffect transition="in" filter="dissolve">
                                      <p:cBhvr>
                                        <p:cTn id="15" dur="500"/>
                                        <p:tgtEl>
                                          <p:spTgt spid="81925">
                                            <p:txEl>
                                              <p:pRg st="2" end="2"/>
                                            </p:txEl>
                                          </p:spTgt>
                                        </p:tgtEl>
                                      </p:cBhvr>
                                    </p:animEffect>
                                  </p:childTnLst>
                                </p:cTn>
                              </p:par>
                            </p:childTnLst>
                          </p:cTn>
                        </p:par>
                        <p:par>
                          <p:cTn id="16" fill="hold">
                            <p:stCondLst>
                              <p:cond delay="4500"/>
                            </p:stCondLst>
                            <p:childTnLst>
                              <p:par>
                                <p:cTn id="17" presetID="9" presetClass="entr" presetSubtype="0" fill="hold" grpId="0" nodeType="afterEffect">
                                  <p:stCondLst>
                                    <p:cond delay="1000"/>
                                  </p:stCondLst>
                                  <p:childTnLst>
                                    <p:set>
                                      <p:cBhvr>
                                        <p:cTn id="18" dur="1" fill="hold">
                                          <p:stCondLst>
                                            <p:cond delay="0"/>
                                          </p:stCondLst>
                                        </p:cTn>
                                        <p:tgtEl>
                                          <p:spTgt spid="81925">
                                            <p:txEl>
                                              <p:pRg st="4" end="4"/>
                                            </p:txEl>
                                          </p:spTgt>
                                        </p:tgtEl>
                                        <p:attrNameLst>
                                          <p:attrName>style.visibility</p:attrName>
                                        </p:attrNameLst>
                                      </p:cBhvr>
                                      <p:to>
                                        <p:strVal val="visible"/>
                                      </p:to>
                                    </p:set>
                                    <p:animEffect transition="in" filter="dissolve">
                                      <p:cBhvr>
                                        <p:cTn id="19" dur="500"/>
                                        <p:tgtEl>
                                          <p:spTgt spid="81925">
                                            <p:txEl>
                                              <p:pRg st="4" end="4"/>
                                            </p:txEl>
                                          </p:spTgt>
                                        </p:tgtEl>
                                      </p:cBhvr>
                                    </p:animEffect>
                                  </p:childTnLst>
                                </p:cTn>
                              </p:par>
                            </p:childTnLst>
                          </p:cTn>
                        </p:par>
                        <p:par>
                          <p:cTn id="20" fill="hold">
                            <p:stCondLst>
                              <p:cond delay="6000"/>
                            </p:stCondLst>
                            <p:childTnLst>
                              <p:par>
                                <p:cTn id="21" presetID="9" presetClass="entr" presetSubtype="0" fill="hold" grpId="0" nodeType="afterEffect">
                                  <p:stCondLst>
                                    <p:cond delay="1000"/>
                                  </p:stCondLst>
                                  <p:childTnLst>
                                    <p:set>
                                      <p:cBhvr>
                                        <p:cTn id="22" dur="1" fill="hold">
                                          <p:stCondLst>
                                            <p:cond delay="0"/>
                                          </p:stCondLst>
                                        </p:cTn>
                                        <p:tgtEl>
                                          <p:spTgt spid="81925">
                                            <p:txEl>
                                              <p:pRg st="5" end="5"/>
                                            </p:txEl>
                                          </p:spTgt>
                                        </p:tgtEl>
                                        <p:attrNameLst>
                                          <p:attrName>style.visibility</p:attrName>
                                        </p:attrNameLst>
                                      </p:cBhvr>
                                      <p:to>
                                        <p:strVal val="visible"/>
                                      </p:to>
                                    </p:set>
                                    <p:animEffect transition="in" filter="dissolve">
                                      <p:cBhvr>
                                        <p:cTn id="23" dur="500"/>
                                        <p:tgtEl>
                                          <p:spTgt spid="81925">
                                            <p:txEl>
                                              <p:pRg st="5" end="5"/>
                                            </p:txEl>
                                          </p:spTgt>
                                        </p:tgtEl>
                                      </p:cBhvr>
                                    </p:animEffect>
                                  </p:childTnLst>
                                </p:cTn>
                              </p:par>
                            </p:childTnLst>
                          </p:cTn>
                        </p:par>
                        <p:par>
                          <p:cTn id="24" fill="hold">
                            <p:stCondLst>
                              <p:cond delay="7500"/>
                            </p:stCondLst>
                            <p:childTnLst>
                              <p:par>
                                <p:cTn id="25" presetID="9" presetClass="entr" presetSubtype="0" fill="hold" grpId="0" nodeType="afterEffect">
                                  <p:stCondLst>
                                    <p:cond delay="1000"/>
                                  </p:stCondLst>
                                  <p:childTnLst>
                                    <p:set>
                                      <p:cBhvr>
                                        <p:cTn id="26" dur="1" fill="hold">
                                          <p:stCondLst>
                                            <p:cond delay="0"/>
                                          </p:stCondLst>
                                        </p:cTn>
                                        <p:tgtEl>
                                          <p:spTgt spid="81925">
                                            <p:txEl>
                                              <p:pRg st="7" end="7"/>
                                            </p:txEl>
                                          </p:spTgt>
                                        </p:tgtEl>
                                        <p:attrNameLst>
                                          <p:attrName>style.visibility</p:attrName>
                                        </p:attrNameLst>
                                      </p:cBhvr>
                                      <p:to>
                                        <p:strVal val="visible"/>
                                      </p:to>
                                    </p:set>
                                    <p:animEffect transition="in" filter="dissolve">
                                      <p:cBhvr>
                                        <p:cTn id="27" dur="500"/>
                                        <p:tgtEl>
                                          <p:spTgt spid="81925">
                                            <p:txEl>
                                              <p:pRg st="7" end="7"/>
                                            </p:txEl>
                                          </p:spTgt>
                                        </p:tgtEl>
                                      </p:cBhvr>
                                    </p:animEffect>
                                  </p:childTnLst>
                                </p:cTn>
                              </p:par>
                            </p:childTnLst>
                          </p:cTn>
                        </p:par>
                        <p:par>
                          <p:cTn id="28" fill="hold">
                            <p:stCondLst>
                              <p:cond delay="9000"/>
                            </p:stCondLst>
                            <p:childTnLst>
                              <p:par>
                                <p:cTn id="29" presetID="9" presetClass="entr" presetSubtype="0" fill="hold" grpId="0" nodeType="afterEffect">
                                  <p:stCondLst>
                                    <p:cond delay="1000"/>
                                  </p:stCondLst>
                                  <p:childTnLst>
                                    <p:set>
                                      <p:cBhvr>
                                        <p:cTn id="30" dur="1" fill="hold">
                                          <p:stCondLst>
                                            <p:cond delay="0"/>
                                          </p:stCondLst>
                                        </p:cTn>
                                        <p:tgtEl>
                                          <p:spTgt spid="81925">
                                            <p:txEl>
                                              <p:pRg st="9" end="9"/>
                                            </p:txEl>
                                          </p:spTgt>
                                        </p:tgtEl>
                                        <p:attrNameLst>
                                          <p:attrName>style.visibility</p:attrName>
                                        </p:attrNameLst>
                                      </p:cBhvr>
                                      <p:to>
                                        <p:strVal val="visible"/>
                                      </p:to>
                                    </p:set>
                                    <p:animEffect transition="in" filter="dissolve">
                                      <p:cBhvr>
                                        <p:cTn id="31" dur="500"/>
                                        <p:tgtEl>
                                          <p:spTgt spid="8192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build="p" autoUpdateAnimBg="0" advAuto="1000"/>
      <p:bldP spid="81958"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1F146BC8-5D6C-48B1-B8BC-4D26F0DC7FA6}" type="slidenum">
              <a:rPr lang="en-US"/>
              <a:pPr/>
              <a:t>12</a:t>
            </a:fld>
            <a:endParaRPr lang="en-US"/>
          </a:p>
        </p:txBody>
      </p:sp>
      <p:sp>
        <p:nvSpPr>
          <p:cNvPr id="63490" name="Text Box 2"/>
          <p:cNvSpPr txBox="1">
            <a:spLocks noChangeArrowheads="1"/>
          </p:cNvSpPr>
          <p:nvPr/>
        </p:nvSpPr>
        <p:spPr bwMode="auto">
          <a:xfrm>
            <a:off x="4038600" y="1600200"/>
            <a:ext cx="5105400" cy="3724275"/>
          </a:xfrm>
          <a:prstGeom prst="rect">
            <a:avLst/>
          </a:prstGeom>
          <a:solidFill>
            <a:srgbClr val="FFFFFF">
              <a:alpha val="50000"/>
            </a:srgbClr>
          </a:solidFill>
          <a:ln w="9525">
            <a:noFill/>
            <a:miter lim="800000"/>
            <a:headEnd/>
            <a:tailEnd/>
          </a:ln>
          <a:effectLst/>
        </p:spPr>
        <p:txBody>
          <a:bodyPr>
            <a:spAutoFit/>
          </a:bodyPr>
          <a:lstStyle/>
          <a:p>
            <a:pPr>
              <a:spcBef>
                <a:spcPct val="50000"/>
              </a:spcBef>
              <a:buFontTx/>
              <a:buChar char="•"/>
            </a:pPr>
            <a:r>
              <a:rPr lang="en-US" b="1">
                <a:solidFill>
                  <a:srgbClr val="000099"/>
                </a:solidFill>
              </a:rPr>
              <a:t>Doesn’t understand 1 favor rule</a:t>
            </a:r>
          </a:p>
          <a:p>
            <a:pPr>
              <a:spcBef>
                <a:spcPct val="50000"/>
              </a:spcBef>
              <a:buFontTx/>
              <a:buChar char="•"/>
            </a:pPr>
            <a:r>
              <a:rPr lang="en-US" b="1">
                <a:solidFill>
                  <a:srgbClr val="000099"/>
                </a:solidFill>
              </a:rPr>
              <a:t>You already have been helpful and made extra effort</a:t>
            </a:r>
          </a:p>
          <a:p>
            <a:pPr>
              <a:spcBef>
                <a:spcPct val="50000"/>
              </a:spcBef>
              <a:buFontTx/>
              <a:buChar char="•"/>
            </a:pPr>
            <a:r>
              <a:rPr lang="en-US" b="1">
                <a:solidFill>
                  <a:srgbClr val="000099"/>
                </a:solidFill>
              </a:rPr>
              <a:t>Keeps coming back for more</a:t>
            </a:r>
          </a:p>
          <a:p>
            <a:pPr>
              <a:spcBef>
                <a:spcPct val="50000"/>
              </a:spcBef>
              <a:buFontTx/>
              <a:buChar char="•"/>
            </a:pPr>
            <a:r>
              <a:rPr lang="en-US" b="1">
                <a:solidFill>
                  <a:srgbClr val="000099"/>
                </a:solidFill>
              </a:rPr>
              <a:t>Offers nothing in return</a:t>
            </a:r>
            <a:endParaRPr lang="en-US" sz="3200" b="1">
              <a:solidFill>
                <a:srgbClr val="000099"/>
              </a:solidFill>
            </a:endParaRPr>
          </a:p>
        </p:txBody>
      </p:sp>
      <p:grpSp>
        <p:nvGrpSpPr>
          <p:cNvPr id="63493" name="Group 5"/>
          <p:cNvGrpSpPr>
            <a:grpSpLocks/>
          </p:cNvGrpSpPr>
          <p:nvPr/>
        </p:nvGrpSpPr>
        <p:grpSpPr bwMode="auto">
          <a:xfrm>
            <a:off x="228600" y="228600"/>
            <a:ext cx="8153400" cy="5867400"/>
            <a:chOff x="144" y="144"/>
            <a:chExt cx="5136" cy="3696"/>
          </a:xfrm>
        </p:grpSpPr>
        <p:pic>
          <p:nvPicPr>
            <p:cNvPr id="63491" name="Picture 3" descr="D:\CARTOON3\CRTN112.WMF"/>
            <p:cNvPicPr>
              <a:picLocks noChangeAspect="1" noChangeArrowheads="1"/>
            </p:cNvPicPr>
            <p:nvPr/>
          </p:nvPicPr>
          <p:blipFill>
            <a:blip r:embed="rId3" cstate="print"/>
            <a:srcRect/>
            <a:stretch>
              <a:fillRect/>
            </a:stretch>
          </p:blipFill>
          <p:spPr bwMode="auto">
            <a:xfrm>
              <a:off x="144" y="144"/>
              <a:ext cx="2464" cy="3696"/>
            </a:xfrm>
            <a:prstGeom prst="rect">
              <a:avLst/>
            </a:prstGeom>
            <a:noFill/>
          </p:spPr>
        </p:pic>
        <p:sp>
          <p:nvSpPr>
            <p:cNvPr id="63492" name="Text Box 4"/>
            <p:cNvSpPr txBox="1">
              <a:spLocks noChangeArrowheads="1"/>
            </p:cNvSpPr>
            <p:nvPr/>
          </p:nvSpPr>
          <p:spPr bwMode="auto">
            <a:xfrm>
              <a:off x="2736" y="336"/>
              <a:ext cx="2544" cy="923"/>
            </a:xfrm>
            <a:prstGeom prst="rect">
              <a:avLst/>
            </a:prstGeom>
            <a:noFill/>
            <a:ln w="9525">
              <a:noFill/>
              <a:miter lim="800000"/>
              <a:headEnd/>
              <a:tailEnd/>
            </a:ln>
            <a:effectLst/>
          </p:spPr>
          <p:txBody>
            <a:bodyPr>
              <a:spAutoFit/>
            </a:bodyPr>
            <a:lstStyle/>
            <a:p>
              <a:pPr algn="ctr">
                <a:spcBef>
                  <a:spcPct val="50000"/>
                </a:spcBef>
              </a:pPr>
              <a:r>
                <a:rPr lang="en-US" sz="3600" b="1" u="sng"/>
                <a:t>Wally At The Well</a:t>
              </a:r>
            </a:p>
            <a:p>
              <a:pPr>
                <a:spcBef>
                  <a:spcPct val="50000"/>
                </a:spcBef>
              </a:pPr>
              <a:endParaRPr lang="en-US" sz="3600"/>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63493"/>
                                        </p:tgtEl>
                                        <p:attrNameLst>
                                          <p:attrName>style.visibility</p:attrName>
                                        </p:attrNameLst>
                                      </p:cBhvr>
                                      <p:to>
                                        <p:strVal val="visible"/>
                                      </p:to>
                                    </p:set>
                                    <p:animEffect transition="in" filter="box(out)">
                                      <p:cBhvr>
                                        <p:cTn id="7" dur="500"/>
                                        <p:tgtEl>
                                          <p:spTgt spid="63493"/>
                                        </p:tgtEl>
                                      </p:cBhvr>
                                    </p:animEffect>
                                  </p:childTnLst>
                                </p:cTn>
                              </p:par>
                            </p:childTnLst>
                          </p:cTn>
                        </p:par>
                        <p:par>
                          <p:cTn id="8" fill="hold">
                            <p:stCondLst>
                              <p:cond delay="500"/>
                            </p:stCondLst>
                            <p:childTnLst>
                              <p:par>
                                <p:cTn id="9" presetID="9" presetClass="entr" presetSubtype="0" fill="hold" grpId="0" nodeType="afterEffect">
                                  <p:stCondLst>
                                    <p:cond delay="1000"/>
                                  </p:stCondLst>
                                  <p:childTnLst>
                                    <p:set>
                                      <p:cBhvr>
                                        <p:cTn id="10" dur="1" fill="hold">
                                          <p:stCondLst>
                                            <p:cond delay="0"/>
                                          </p:stCondLst>
                                        </p:cTn>
                                        <p:tgtEl>
                                          <p:spTgt spid="63490">
                                            <p:bg/>
                                          </p:spTgt>
                                        </p:tgtEl>
                                        <p:attrNameLst>
                                          <p:attrName>style.visibility</p:attrName>
                                        </p:attrNameLst>
                                      </p:cBhvr>
                                      <p:to>
                                        <p:strVal val="visible"/>
                                      </p:to>
                                    </p:set>
                                    <p:animEffect transition="in" filter="dissolve">
                                      <p:cBhvr>
                                        <p:cTn id="11" dur="500"/>
                                        <p:tgtEl>
                                          <p:spTgt spid="63490">
                                            <p:bg/>
                                          </p:spTgt>
                                        </p:tgtEl>
                                      </p:cBhvr>
                                    </p:animEffect>
                                  </p:childTnLst>
                                </p:cTn>
                              </p:par>
                            </p:childTnLst>
                          </p:cTn>
                        </p:par>
                        <p:par>
                          <p:cTn id="12" fill="hold">
                            <p:stCondLst>
                              <p:cond delay="2000"/>
                            </p:stCondLst>
                            <p:childTnLst>
                              <p:par>
                                <p:cTn id="13" presetID="9" presetClass="entr" presetSubtype="0" fill="hold" grpId="0" nodeType="afterEffect">
                                  <p:stCondLst>
                                    <p:cond delay="1000"/>
                                  </p:stCondLst>
                                  <p:childTnLst>
                                    <p:set>
                                      <p:cBhvr>
                                        <p:cTn id="14" dur="1" fill="hold">
                                          <p:stCondLst>
                                            <p:cond delay="0"/>
                                          </p:stCondLst>
                                        </p:cTn>
                                        <p:tgtEl>
                                          <p:spTgt spid="63490">
                                            <p:txEl>
                                              <p:pRg st="0" end="0"/>
                                            </p:txEl>
                                          </p:spTgt>
                                        </p:tgtEl>
                                        <p:attrNameLst>
                                          <p:attrName>style.visibility</p:attrName>
                                        </p:attrNameLst>
                                      </p:cBhvr>
                                      <p:to>
                                        <p:strVal val="visible"/>
                                      </p:to>
                                    </p:set>
                                    <p:animEffect transition="in" filter="dissolve">
                                      <p:cBhvr>
                                        <p:cTn id="15" dur="500"/>
                                        <p:tgtEl>
                                          <p:spTgt spid="63490">
                                            <p:txEl>
                                              <p:pRg st="0" end="0"/>
                                            </p:txEl>
                                          </p:spTgt>
                                        </p:tgtEl>
                                      </p:cBhvr>
                                    </p:animEffect>
                                  </p:childTnLst>
                                </p:cTn>
                              </p:par>
                            </p:childTnLst>
                          </p:cTn>
                        </p:par>
                        <p:par>
                          <p:cTn id="16" fill="hold">
                            <p:stCondLst>
                              <p:cond delay="3500"/>
                            </p:stCondLst>
                            <p:childTnLst>
                              <p:par>
                                <p:cTn id="17" presetID="9" presetClass="entr" presetSubtype="0" fill="hold" grpId="0" nodeType="afterEffect">
                                  <p:stCondLst>
                                    <p:cond delay="1000"/>
                                  </p:stCondLst>
                                  <p:childTnLst>
                                    <p:set>
                                      <p:cBhvr>
                                        <p:cTn id="18" dur="1" fill="hold">
                                          <p:stCondLst>
                                            <p:cond delay="0"/>
                                          </p:stCondLst>
                                        </p:cTn>
                                        <p:tgtEl>
                                          <p:spTgt spid="63490">
                                            <p:txEl>
                                              <p:pRg st="1" end="1"/>
                                            </p:txEl>
                                          </p:spTgt>
                                        </p:tgtEl>
                                        <p:attrNameLst>
                                          <p:attrName>style.visibility</p:attrName>
                                        </p:attrNameLst>
                                      </p:cBhvr>
                                      <p:to>
                                        <p:strVal val="visible"/>
                                      </p:to>
                                    </p:set>
                                    <p:animEffect transition="in" filter="dissolve">
                                      <p:cBhvr>
                                        <p:cTn id="19" dur="500"/>
                                        <p:tgtEl>
                                          <p:spTgt spid="63490">
                                            <p:txEl>
                                              <p:pRg st="1" end="1"/>
                                            </p:txEl>
                                          </p:spTgt>
                                        </p:tgtEl>
                                      </p:cBhvr>
                                    </p:animEffect>
                                  </p:childTnLst>
                                </p:cTn>
                              </p:par>
                            </p:childTnLst>
                          </p:cTn>
                        </p:par>
                        <p:par>
                          <p:cTn id="20" fill="hold">
                            <p:stCondLst>
                              <p:cond delay="5000"/>
                            </p:stCondLst>
                            <p:childTnLst>
                              <p:par>
                                <p:cTn id="21" presetID="9" presetClass="entr" presetSubtype="0" fill="hold" grpId="0" nodeType="afterEffect">
                                  <p:stCondLst>
                                    <p:cond delay="1000"/>
                                  </p:stCondLst>
                                  <p:childTnLst>
                                    <p:set>
                                      <p:cBhvr>
                                        <p:cTn id="22" dur="1" fill="hold">
                                          <p:stCondLst>
                                            <p:cond delay="0"/>
                                          </p:stCondLst>
                                        </p:cTn>
                                        <p:tgtEl>
                                          <p:spTgt spid="63490">
                                            <p:txEl>
                                              <p:pRg st="2" end="2"/>
                                            </p:txEl>
                                          </p:spTgt>
                                        </p:tgtEl>
                                        <p:attrNameLst>
                                          <p:attrName>style.visibility</p:attrName>
                                        </p:attrNameLst>
                                      </p:cBhvr>
                                      <p:to>
                                        <p:strVal val="visible"/>
                                      </p:to>
                                    </p:set>
                                    <p:animEffect transition="in" filter="dissolve">
                                      <p:cBhvr>
                                        <p:cTn id="23" dur="500"/>
                                        <p:tgtEl>
                                          <p:spTgt spid="63490">
                                            <p:txEl>
                                              <p:pRg st="2" end="2"/>
                                            </p:txEl>
                                          </p:spTgt>
                                        </p:tgtEl>
                                      </p:cBhvr>
                                    </p:animEffect>
                                  </p:childTnLst>
                                </p:cTn>
                              </p:par>
                            </p:childTnLst>
                          </p:cTn>
                        </p:par>
                        <p:par>
                          <p:cTn id="24" fill="hold">
                            <p:stCondLst>
                              <p:cond delay="6500"/>
                            </p:stCondLst>
                            <p:childTnLst>
                              <p:par>
                                <p:cTn id="25" presetID="9" presetClass="entr" presetSubtype="0" fill="hold" grpId="0" nodeType="afterEffect">
                                  <p:stCondLst>
                                    <p:cond delay="1000"/>
                                  </p:stCondLst>
                                  <p:childTnLst>
                                    <p:set>
                                      <p:cBhvr>
                                        <p:cTn id="26" dur="1" fill="hold">
                                          <p:stCondLst>
                                            <p:cond delay="0"/>
                                          </p:stCondLst>
                                        </p:cTn>
                                        <p:tgtEl>
                                          <p:spTgt spid="63490">
                                            <p:txEl>
                                              <p:pRg st="3" end="3"/>
                                            </p:txEl>
                                          </p:spTgt>
                                        </p:tgtEl>
                                        <p:attrNameLst>
                                          <p:attrName>style.visibility</p:attrName>
                                        </p:attrNameLst>
                                      </p:cBhvr>
                                      <p:to>
                                        <p:strVal val="visible"/>
                                      </p:to>
                                    </p:set>
                                    <p:animEffect transition="in" filter="dissolve">
                                      <p:cBhvr>
                                        <p:cTn id="27" dur="500"/>
                                        <p:tgtEl>
                                          <p:spTgt spid="6349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build="p" animBg="1" autoUpdateAnimBg="0" advAuto="100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8CCC3022-3BC8-4760-A451-1449CAEC8B55}" type="slidenum">
              <a:rPr lang="en-US"/>
              <a:pPr/>
              <a:t>13</a:t>
            </a:fld>
            <a:endParaRPr lang="en-US"/>
          </a:p>
        </p:txBody>
      </p:sp>
      <p:sp>
        <p:nvSpPr>
          <p:cNvPr id="71682" name="Text Box 2"/>
          <p:cNvSpPr txBox="1">
            <a:spLocks noChangeArrowheads="1"/>
          </p:cNvSpPr>
          <p:nvPr/>
        </p:nvSpPr>
        <p:spPr bwMode="auto">
          <a:xfrm>
            <a:off x="3810000" y="1524000"/>
            <a:ext cx="5105400" cy="4365625"/>
          </a:xfrm>
          <a:prstGeom prst="rect">
            <a:avLst/>
          </a:prstGeom>
          <a:solidFill>
            <a:srgbClr val="FFFFFF">
              <a:alpha val="50000"/>
            </a:srgbClr>
          </a:solidFill>
          <a:ln w="9525">
            <a:noFill/>
            <a:miter lim="800000"/>
            <a:headEnd/>
            <a:tailEnd/>
          </a:ln>
          <a:effectLst/>
        </p:spPr>
        <p:txBody>
          <a:bodyPr>
            <a:spAutoFit/>
          </a:bodyPr>
          <a:lstStyle/>
          <a:p>
            <a:pPr>
              <a:spcBef>
                <a:spcPct val="50000"/>
              </a:spcBef>
              <a:buFontTx/>
              <a:buChar char="•"/>
            </a:pPr>
            <a:r>
              <a:rPr lang="en-US" b="1">
                <a:solidFill>
                  <a:srgbClr val="000099"/>
                </a:solidFill>
              </a:rPr>
              <a:t>Desperate and acts like it</a:t>
            </a:r>
          </a:p>
          <a:p>
            <a:pPr>
              <a:spcBef>
                <a:spcPct val="50000"/>
              </a:spcBef>
              <a:buFontTx/>
              <a:buChar char="•"/>
            </a:pPr>
            <a:r>
              <a:rPr lang="en-US" b="1">
                <a:solidFill>
                  <a:srgbClr val="000099"/>
                </a:solidFill>
              </a:rPr>
              <a:t>Brings you down just to talk to him</a:t>
            </a:r>
          </a:p>
          <a:p>
            <a:pPr>
              <a:spcBef>
                <a:spcPct val="50000"/>
              </a:spcBef>
              <a:buFontTx/>
              <a:buChar char="•"/>
            </a:pPr>
            <a:r>
              <a:rPr lang="en-US" b="1">
                <a:solidFill>
                  <a:srgbClr val="000099"/>
                </a:solidFill>
              </a:rPr>
              <a:t>You would be afraid to refer him to anyone</a:t>
            </a:r>
          </a:p>
          <a:p>
            <a:pPr>
              <a:spcBef>
                <a:spcPct val="50000"/>
              </a:spcBef>
              <a:buFontTx/>
              <a:buChar char="•"/>
            </a:pPr>
            <a:r>
              <a:rPr lang="en-US" b="1">
                <a:solidFill>
                  <a:srgbClr val="000099"/>
                </a:solidFill>
              </a:rPr>
              <a:t>Wants to turn his life over to you and use your energy</a:t>
            </a:r>
          </a:p>
          <a:p>
            <a:pPr>
              <a:spcBef>
                <a:spcPct val="50000"/>
              </a:spcBef>
            </a:pPr>
            <a:endParaRPr lang="en-US" b="1">
              <a:solidFill>
                <a:srgbClr val="000099"/>
              </a:solidFill>
            </a:endParaRPr>
          </a:p>
        </p:txBody>
      </p:sp>
      <p:grpSp>
        <p:nvGrpSpPr>
          <p:cNvPr id="71688" name="Group 8"/>
          <p:cNvGrpSpPr>
            <a:grpSpLocks/>
          </p:cNvGrpSpPr>
          <p:nvPr/>
        </p:nvGrpSpPr>
        <p:grpSpPr bwMode="auto">
          <a:xfrm>
            <a:off x="914400" y="304800"/>
            <a:ext cx="7467600" cy="5638800"/>
            <a:chOff x="528" y="192"/>
            <a:chExt cx="4704" cy="3552"/>
          </a:xfrm>
        </p:grpSpPr>
        <p:sp>
          <p:nvSpPr>
            <p:cNvPr id="71685" name="Text Box 5"/>
            <p:cNvSpPr txBox="1">
              <a:spLocks noChangeArrowheads="1"/>
            </p:cNvSpPr>
            <p:nvPr/>
          </p:nvSpPr>
          <p:spPr bwMode="auto">
            <a:xfrm>
              <a:off x="2688" y="192"/>
              <a:ext cx="2544" cy="923"/>
            </a:xfrm>
            <a:prstGeom prst="rect">
              <a:avLst/>
            </a:prstGeom>
            <a:noFill/>
            <a:ln w="9525">
              <a:noFill/>
              <a:miter lim="800000"/>
              <a:headEnd/>
              <a:tailEnd/>
            </a:ln>
            <a:effectLst/>
          </p:spPr>
          <p:txBody>
            <a:bodyPr>
              <a:spAutoFit/>
            </a:bodyPr>
            <a:lstStyle/>
            <a:p>
              <a:pPr algn="ctr">
                <a:spcBef>
                  <a:spcPct val="50000"/>
                </a:spcBef>
              </a:pPr>
              <a:r>
                <a:rPr lang="en-US" sz="3600" b="1" u="sng"/>
                <a:t>Desperate Dave</a:t>
              </a:r>
            </a:p>
            <a:p>
              <a:pPr>
                <a:spcBef>
                  <a:spcPct val="50000"/>
                </a:spcBef>
              </a:pPr>
              <a:endParaRPr lang="en-US" sz="3600"/>
            </a:p>
          </p:txBody>
        </p:sp>
        <p:pic>
          <p:nvPicPr>
            <p:cNvPr id="71687" name="Picture 7" descr="E:\Desperate Dave 1.gif"/>
            <p:cNvPicPr>
              <a:picLocks noChangeAspect="1" noChangeArrowheads="1"/>
            </p:cNvPicPr>
            <p:nvPr/>
          </p:nvPicPr>
          <p:blipFill>
            <a:blip r:embed="rId3" cstate="print"/>
            <a:srcRect/>
            <a:stretch>
              <a:fillRect/>
            </a:stretch>
          </p:blipFill>
          <p:spPr bwMode="auto">
            <a:xfrm>
              <a:off x="528" y="192"/>
              <a:ext cx="1727" cy="3552"/>
            </a:xfrm>
            <a:prstGeom prst="rect">
              <a:avLst/>
            </a:prstGeom>
            <a:noFill/>
          </p:spPr>
        </p:pic>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71688"/>
                                        </p:tgtEl>
                                        <p:attrNameLst>
                                          <p:attrName>style.visibility</p:attrName>
                                        </p:attrNameLst>
                                      </p:cBhvr>
                                      <p:to>
                                        <p:strVal val="visible"/>
                                      </p:to>
                                    </p:set>
                                    <p:animEffect transition="in" filter="box(out)">
                                      <p:cBhvr>
                                        <p:cTn id="7" dur="500"/>
                                        <p:tgtEl>
                                          <p:spTgt spid="71688"/>
                                        </p:tgtEl>
                                      </p:cBhvr>
                                    </p:animEffect>
                                  </p:childTnLst>
                                  <p:subTnLst>
                                    <p:cmd type="evt" cmd="onstopaudio">
                                      <p:cBhvr>
                                        <p:cTn display="0" masterRel="sameClick">
                                          <p:stCondLst>
                                            <p:cond evt="begin" delay="0">
                                              <p:tn val="5"/>
                                            </p:cond>
                                          </p:stCondLst>
                                        </p:cTn>
                                        <p:tgtEl>
                                          <p:sldTgt/>
                                        </p:tgtEl>
                                      </p:cBhvr>
                                    </p:cmd>
                                  </p:subTnLst>
                                </p:cTn>
                              </p:par>
                            </p:childTnLst>
                          </p:cTn>
                        </p:par>
                        <p:par>
                          <p:cTn id="8" fill="hold">
                            <p:stCondLst>
                              <p:cond delay="500"/>
                            </p:stCondLst>
                            <p:childTnLst>
                              <p:par>
                                <p:cTn id="9" presetID="9" presetClass="entr" presetSubtype="0" fill="hold" grpId="0" nodeType="afterEffect">
                                  <p:stCondLst>
                                    <p:cond delay="1000"/>
                                  </p:stCondLst>
                                  <p:childTnLst>
                                    <p:set>
                                      <p:cBhvr>
                                        <p:cTn id="10" dur="1" fill="hold">
                                          <p:stCondLst>
                                            <p:cond delay="0"/>
                                          </p:stCondLst>
                                        </p:cTn>
                                        <p:tgtEl>
                                          <p:spTgt spid="71682">
                                            <p:bg/>
                                          </p:spTgt>
                                        </p:tgtEl>
                                        <p:attrNameLst>
                                          <p:attrName>style.visibility</p:attrName>
                                        </p:attrNameLst>
                                      </p:cBhvr>
                                      <p:to>
                                        <p:strVal val="visible"/>
                                      </p:to>
                                    </p:set>
                                    <p:animEffect transition="in" filter="dissolve">
                                      <p:cBhvr>
                                        <p:cTn id="11" dur="500"/>
                                        <p:tgtEl>
                                          <p:spTgt spid="71682">
                                            <p:bg/>
                                          </p:spTgt>
                                        </p:tgtEl>
                                      </p:cBhvr>
                                    </p:animEffect>
                                  </p:childTnLst>
                                </p:cTn>
                              </p:par>
                            </p:childTnLst>
                          </p:cTn>
                        </p:par>
                        <p:par>
                          <p:cTn id="12" fill="hold">
                            <p:stCondLst>
                              <p:cond delay="2000"/>
                            </p:stCondLst>
                            <p:childTnLst>
                              <p:par>
                                <p:cTn id="13" presetID="9" presetClass="entr" presetSubtype="0" fill="hold" grpId="0" nodeType="afterEffect">
                                  <p:stCondLst>
                                    <p:cond delay="1000"/>
                                  </p:stCondLst>
                                  <p:childTnLst>
                                    <p:set>
                                      <p:cBhvr>
                                        <p:cTn id="14" dur="1" fill="hold">
                                          <p:stCondLst>
                                            <p:cond delay="0"/>
                                          </p:stCondLst>
                                        </p:cTn>
                                        <p:tgtEl>
                                          <p:spTgt spid="71682">
                                            <p:txEl>
                                              <p:pRg st="0" end="0"/>
                                            </p:txEl>
                                          </p:spTgt>
                                        </p:tgtEl>
                                        <p:attrNameLst>
                                          <p:attrName>style.visibility</p:attrName>
                                        </p:attrNameLst>
                                      </p:cBhvr>
                                      <p:to>
                                        <p:strVal val="visible"/>
                                      </p:to>
                                    </p:set>
                                    <p:animEffect transition="in" filter="dissolve">
                                      <p:cBhvr>
                                        <p:cTn id="15" dur="500"/>
                                        <p:tgtEl>
                                          <p:spTgt spid="71682">
                                            <p:txEl>
                                              <p:pRg st="0" end="0"/>
                                            </p:txEl>
                                          </p:spTgt>
                                        </p:tgtEl>
                                      </p:cBhvr>
                                    </p:animEffect>
                                  </p:childTnLst>
                                </p:cTn>
                              </p:par>
                            </p:childTnLst>
                          </p:cTn>
                        </p:par>
                        <p:par>
                          <p:cTn id="16" fill="hold">
                            <p:stCondLst>
                              <p:cond delay="3500"/>
                            </p:stCondLst>
                            <p:childTnLst>
                              <p:par>
                                <p:cTn id="17" presetID="9" presetClass="entr" presetSubtype="0" fill="hold" grpId="0" nodeType="afterEffect">
                                  <p:stCondLst>
                                    <p:cond delay="1000"/>
                                  </p:stCondLst>
                                  <p:childTnLst>
                                    <p:set>
                                      <p:cBhvr>
                                        <p:cTn id="18" dur="1" fill="hold">
                                          <p:stCondLst>
                                            <p:cond delay="0"/>
                                          </p:stCondLst>
                                        </p:cTn>
                                        <p:tgtEl>
                                          <p:spTgt spid="71682">
                                            <p:txEl>
                                              <p:pRg st="1" end="1"/>
                                            </p:txEl>
                                          </p:spTgt>
                                        </p:tgtEl>
                                        <p:attrNameLst>
                                          <p:attrName>style.visibility</p:attrName>
                                        </p:attrNameLst>
                                      </p:cBhvr>
                                      <p:to>
                                        <p:strVal val="visible"/>
                                      </p:to>
                                    </p:set>
                                    <p:animEffect transition="in" filter="dissolve">
                                      <p:cBhvr>
                                        <p:cTn id="19" dur="500"/>
                                        <p:tgtEl>
                                          <p:spTgt spid="71682">
                                            <p:txEl>
                                              <p:pRg st="1" end="1"/>
                                            </p:txEl>
                                          </p:spTgt>
                                        </p:tgtEl>
                                      </p:cBhvr>
                                    </p:animEffect>
                                  </p:childTnLst>
                                </p:cTn>
                              </p:par>
                            </p:childTnLst>
                          </p:cTn>
                        </p:par>
                        <p:par>
                          <p:cTn id="20" fill="hold">
                            <p:stCondLst>
                              <p:cond delay="5000"/>
                            </p:stCondLst>
                            <p:childTnLst>
                              <p:par>
                                <p:cTn id="21" presetID="9" presetClass="entr" presetSubtype="0" fill="hold" grpId="0" nodeType="afterEffect">
                                  <p:stCondLst>
                                    <p:cond delay="1000"/>
                                  </p:stCondLst>
                                  <p:childTnLst>
                                    <p:set>
                                      <p:cBhvr>
                                        <p:cTn id="22" dur="1" fill="hold">
                                          <p:stCondLst>
                                            <p:cond delay="0"/>
                                          </p:stCondLst>
                                        </p:cTn>
                                        <p:tgtEl>
                                          <p:spTgt spid="71682">
                                            <p:txEl>
                                              <p:pRg st="2" end="2"/>
                                            </p:txEl>
                                          </p:spTgt>
                                        </p:tgtEl>
                                        <p:attrNameLst>
                                          <p:attrName>style.visibility</p:attrName>
                                        </p:attrNameLst>
                                      </p:cBhvr>
                                      <p:to>
                                        <p:strVal val="visible"/>
                                      </p:to>
                                    </p:set>
                                    <p:animEffect transition="in" filter="dissolve">
                                      <p:cBhvr>
                                        <p:cTn id="23" dur="500"/>
                                        <p:tgtEl>
                                          <p:spTgt spid="71682">
                                            <p:txEl>
                                              <p:pRg st="2" end="2"/>
                                            </p:txEl>
                                          </p:spTgt>
                                        </p:tgtEl>
                                      </p:cBhvr>
                                    </p:animEffect>
                                  </p:childTnLst>
                                </p:cTn>
                              </p:par>
                            </p:childTnLst>
                          </p:cTn>
                        </p:par>
                        <p:par>
                          <p:cTn id="24" fill="hold">
                            <p:stCondLst>
                              <p:cond delay="6500"/>
                            </p:stCondLst>
                            <p:childTnLst>
                              <p:par>
                                <p:cTn id="25" presetID="9" presetClass="entr" presetSubtype="0" fill="hold" grpId="0" nodeType="afterEffect">
                                  <p:stCondLst>
                                    <p:cond delay="1000"/>
                                  </p:stCondLst>
                                  <p:childTnLst>
                                    <p:set>
                                      <p:cBhvr>
                                        <p:cTn id="26" dur="1" fill="hold">
                                          <p:stCondLst>
                                            <p:cond delay="0"/>
                                          </p:stCondLst>
                                        </p:cTn>
                                        <p:tgtEl>
                                          <p:spTgt spid="71682">
                                            <p:txEl>
                                              <p:pRg st="3" end="3"/>
                                            </p:txEl>
                                          </p:spTgt>
                                        </p:tgtEl>
                                        <p:attrNameLst>
                                          <p:attrName>style.visibility</p:attrName>
                                        </p:attrNameLst>
                                      </p:cBhvr>
                                      <p:to>
                                        <p:strVal val="visible"/>
                                      </p:to>
                                    </p:set>
                                    <p:animEffect transition="in" filter="dissolve">
                                      <p:cBhvr>
                                        <p:cTn id="27" dur="500"/>
                                        <p:tgtEl>
                                          <p:spTgt spid="716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build="p" animBg="1" autoUpdateAnimBg="0" advAuto="100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49C6255A-2CF3-4663-B29A-EBAC9D0DC7D0}" type="slidenum">
              <a:rPr lang="en-US"/>
              <a:pPr/>
              <a:t>14</a:t>
            </a:fld>
            <a:endParaRPr lang="en-US"/>
          </a:p>
        </p:txBody>
      </p:sp>
      <p:sp>
        <p:nvSpPr>
          <p:cNvPr id="74754" name="Text Box 1026"/>
          <p:cNvSpPr txBox="1">
            <a:spLocks noChangeArrowheads="1"/>
          </p:cNvSpPr>
          <p:nvPr/>
        </p:nvSpPr>
        <p:spPr bwMode="auto">
          <a:xfrm>
            <a:off x="4038600" y="1600200"/>
            <a:ext cx="5105400" cy="4364038"/>
          </a:xfrm>
          <a:prstGeom prst="rect">
            <a:avLst/>
          </a:prstGeom>
          <a:solidFill>
            <a:srgbClr val="FFFFFF">
              <a:alpha val="50000"/>
            </a:srgbClr>
          </a:solidFill>
          <a:ln w="9525">
            <a:noFill/>
            <a:miter lim="800000"/>
            <a:headEnd/>
            <a:tailEnd/>
          </a:ln>
          <a:effectLst/>
        </p:spPr>
        <p:txBody>
          <a:bodyPr>
            <a:spAutoFit/>
          </a:bodyPr>
          <a:lstStyle/>
          <a:p>
            <a:pPr>
              <a:spcBef>
                <a:spcPct val="50000"/>
              </a:spcBef>
              <a:buFontTx/>
              <a:buChar char="•"/>
            </a:pPr>
            <a:r>
              <a:rPr lang="en-US" b="1">
                <a:solidFill>
                  <a:srgbClr val="000099"/>
                </a:solidFill>
              </a:rPr>
              <a:t>You offer to help her network at a professional meeting – then she no shows!!</a:t>
            </a:r>
          </a:p>
          <a:p>
            <a:pPr>
              <a:spcBef>
                <a:spcPct val="50000"/>
              </a:spcBef>
              <a:buFontTx/>
              <a:buChar char="•"/>
            </a:pPr>
            <a:r>
              <a:rPr lang="en-US" b="1">
                <a:solidFill>
                  <a:srgbClr val="000099"/>
                </a:solidFill>
              </a:rPr>
              <a:t>You offer to look at her marketing materials, but they never arrive</a:t>
            </a:r>
          </a:p>
          <a:p>
            <a:pPr>
              <a:spcBef>
                <a:spcPct val="50000"/>
              </a:spcBef>
              <a:buFontTx/>
              <a:buChar char="•"/>
            </a:pPr>
            <a:r>
              <a:rPr lang="en-US" b="1">
                <a:solidFill>
                  <a:srgbClr val="000099"/>
                </a:solidFill>
              </a:rPr>
              <a:t>Lost windows of opportunity </a:t>
            </a:r>
            <a:endParaRPr lang="en-US" sz="3200" b="1">
              <a:solidFill>
                <a:srgbClr val="000099"/>
              </a:solidFill>
            </a:endParaRPr>
          </a:p>
        </p:txBody>
      </p:sp>
      <p:grpSp>
        <p:nvGrpSpPr>
          <p:cNvPr id="74759" name="Group 1031"/>
          <p:cNvGrpSpPr>
            <a:grpSpLocks/>
          </p:cNvGrpSpPr>
          <p:nvPr/>
        </p:nvGrpSpPr>
        <p:grpSpPr bwMode="auto">
          <a:xfrm>
            <a:off x="228600" y="228600"/>
            <a:ext cx="8686800" cy="5257800"/>
            <a:chOff x="144" y="144"/>
            <a:chExt cx="5472" cy="3312"/>
          </a:xfrm>
        </p:grpSpPr>
        <p:sp>
          <p:nvSpPr>
            <p:cNvPr id="74757" name="Text Box 1029"/>
            <p:cNvSpPr txBox="1">
              <a:spLocks noChangeArrowheads="1"/>
            </p:cNvSpPr>
            <p:nvPr/>
          </p:nvSpPr>
          <p:spPr bwMode="auto">
            <a:xfrm>
              <a:off x="2544" y="144"/>
              <a:ext cx="3072" cy="750"/>
            </a:xfrm>
            <a:prstGeom prst="rect">
              <a:avLst/>
            </a:prstGeom>
            <a:noFill/>
            <a:ln w="9525">
              <a:noFill/>
              <a:miter lim="800000"/>
              <a:headEnd/>
              <a:tailEnd/>
            </a:ln>
            <a:effectLst/>
          </p:spPr>
          <p:txBody>
            <a:bodyPr>
              <a:spAutoFit/>
            </a:bodyPr>
            <a:lstStyle/>
            <a:p>
              <a:pPr algn="ctr">
                <a:spcBef>
                  <a:spcPct val="50000"/>
                </a:spcBef>
              </a:pPr>
              <a:r>
                <a:rPr lang="en-US" sz="3600" b="1" u="sng"/>
                <a:t>Missed Opportunity Melissa</a:t>
              </a:r>
              <a:endParaRPr lang="en-US" sz="3600"/>
            </a:p>
          </p:txBody>
        </p:sp>
        <p:pic>
          <p:nvPicPr>
            <p:cNvPr id="74758" name="Picture 1030" descr="E:\Poor Reputation Rhonda.gif"/>
            <p:cNvPicPr>
              <a:picLocks noChangeAspect="1" noChangeArrowheads="1"/>
            </p:cNvPicPr>
            <p:nvPr/>
          </p:nvPicPr>
          <p:blipFill>
            <a:blip r:embed="rId3" cstate="print"/>
            <a:srcRect/>
            <a:stretch>
              <a:fillRect/>
            </a:stretch>
          </p:blipFill>
          <p:spPr bwMode="auto">
            <a:xfrm>
              <a:off x="144" y="624"/>
              <a:ext cx="2418" cy="2832"/>
            </a:xfrm>
            <a:prstGeom prst="rect">
              <a:avLst/>
            </a:prstGeom>
            <a:noFill/>
          </p:spPr>
        </p:pic>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74759"/>
                                        </p:tgtEl>
                                        <p:attrNameLst>
                                          <p:attrName>style.visibility</p:attrName>
                                        </p:attrNameLst>
                                      </p:cBhvr>
                                      <p:to>
                                        <p:strVal val="visible"/>
                                      </p:to>
                                    </p:set>
                                    <p:animEffect transition="in" filter="box(out)">
                                      <p:cBhvr>
                                        <p:cTn id="7" dur="500"/>
                                        <p:tgtEl>
                                          <p:spTgt spid="74759"/>
                                        </p:tgtEl>
                                      </p:cBhvr>
                                    </p:animEffect>
                                  </p:childTnLst>
                                </p:cTn>
                              </p:par>
                            </p:childTnLst>
                          </p:cTn>
                        </p:par>
                        <p:par>
                          <p:cTn id="8" fill="hold">
                            <p:stCondLst>
                              <p:cond delay="500"/>
                            </p:stCondLst>
                            <p:childTnLst>
                              <p:par>
                                <p:cTn id="9" presetID="9" presetClass="entr" presetSubtype="0" fill="hold" grpId="0" nodeType="afterEffect">
                                  <p:stCondLst>
                                    <p:cond delay="1000"/>
                                  </p:stCondLst>
                                  <p:childTnLst>
                                    <p:set>
                                      <p:cBhvr>
                                        <p:cTn id="10" dur="1" fill="hold">
                                          <p:stCondLst>
                                            <p:cond delay="0"/>
                                          </p:stCondLst>
                                        </p:cTn>
                                        <p:tgtEl>
                                          <p:spTgt spid="74754">
                                            <p:bg/>
                                          </p:spTgt>
                                        </p:tgtEl>
                                        <p:attrNameLst>
                                          <p:attrName>style.visibility</p:attrName>
                                        </p:attrNameLst>
                                      </p:cBhvr>
                                      <p:to>
                                        <p:strVal val="visible"/>
                                      </p:to>
                                    </p:set>
                                    <p:animEffect transition="in" filter="dissolve">
                                      <p:cBhvr>
                                        <p:cTn id="11" dur="500"/>
                                        <p:tgtEl>
                                          <p:spTgt spid="74754">
                                            <p:bg/>
                                          </p:spTgt>
                                        </p:tgtEl>
                                      </p:cBhvr>
                                    </p:animEffect>
                                  </p:childTnLst>
                                </p:cTn>
                              </p:par>
                            </p:childTnLst>
                          </p:cTn>
                        </p:par>
                        <p:par>
                          <p:cTn id="12" fill="hold">
                            <p:stCondLst>
                              <p:cond delay="2000"/>
                            </p:stCondLst>
                            <p:childTnLst>
                              <p:par>
                                <p:cTn id="13" presetID="9" presetClass="entr" presetSubtype="0" fill="hold" grpId="0" nodeType="afterEffect">
                                  <p:stCondLst>
                                    <p:cond delay="1000"/>
                                  </p:stCondLst>
                                  <p:childTnLst>
                                    <p:set>
                                      <p:cBhvr>
                                        <p:cTn id="14" dur="1" fill="hold">
                                          <p:stCondLst>
                                            <p:cond delay="0"/>
                                          </p:stCondLst>
                                        </p:cTn>
                                        <p:tgtEl>
                                          <p:spTgt spid="74754">
                                            <p:txEl>
                                              <p:pRg st="0" end="0"/>
                                            </p:txEl>
                                          </p:spTgt>
                                        </p:tgtEl>
                                        <p:attrNameLst>
                                          <p:attrName>style.visibility</p:attrName>
                                        </p:attrNameLst>
                                      </p:cBhvr>
                                      <p:to>
                                        <p:strVal val="visible"/>
                                      </p:to>
                                    </p:set>
                                    <p:animEffect transition="in" filter="dissolve">
                                      <p:cBhvr>
                                        <p:cTn id="15" dur="500"/>
                                        <p:tgtEl>
                                          <p:spTgt spid="74754">
                                            <p:txEl>
                                              <p:pRg st="0" end="0"/>
                                            </p:txEl>
                                          </p:spTgt>
                                        </p:tgtEl>
                                      </p:cBhvr>
                                    </p:animEffect>
                                  </p:childTnLst>
                                </p:cTn>
                              </p:par>
                            </p:childTnLst>
                          </p:cTn>
                        </p:par>
                        <p:par>
                          <p:cTn id="16" fill="hold">
                            <p:stCondLst>
                              <p:cond delay="3500"/>
                            </p:stCondLst>
                            <p:childTnLst>
                              <p:par>
                                <p:cTn id="17" presetID="9" presetClass="entr" presetSubtype="0" fill="hold" grpId="0" nodeType="afterEffect">
                                  <p:stCondLst>
                                    <p:cond delay="1000"/>
                                  </p:stCondLst>
                                  <p:childTnLst>
                                    <p:set>
                                      <p:cBhvr>
                                        <p:cTn id="18" dur="1" fill="hold">
                                          <p:stCondLst>
                                            <p:cond delay="0"/>
                                          </p:stCondLst>
                                        </p:cTn>
                                        <p:tgtEl>
                                          <p:spTgt spid="74754">
                                            <p:txEl>
                                              <p:pRg st="1" end="1"/>
                                            </p:txEl>
                                          </p:spTgt>
                                        </p:tgtEl>
                                        <p:attrNameLst>
                                          <p:attrName>style.visibility</p:attrName>
                                        </p:attrNameLst>
                                      </p:cBhvr>
                                      <p:to>
                                        <p:strVal val="visible"/>
                                      </p:to>
                                    </p:set>
                                    <p:animEffect transition="in" filter="dissolve">
                                      <p:cBhvr>
                                        <p:cTn id="19" dur="500"/>
                                        <p:tgtEl>
                                          <p:spTgt spid="74754">
                                            <p:txEl>
                                              <p:pRg st="1" end="1"/>
                                            </p:txEl>
                                          </p:spTgt>
                                        </p:tgtEl>
                                      </p:cBhvr>
                                    </p:animEffect>
                                  </p:childTnLst>
                                </p:cTn>
                              </p:par>
                            </p:childTnLst>
                          </p:cTn>
                        </p:par>
                        <p:par>
                          <p:cTn id="20" fill="hold">
                            <p:stCondLst>
                              <p:cond delay="5000"/>
                            </p:stCondLst>
                            <p:childTnLst>
                              <p:par>
                                <p:cTn id="21" presetID="9" presetClass="entr" presetSubtype="0" fill="hold" grpId="0" nodeType="afterEffect">
                                  <p:stCondLst>
                                    <p:cond delay="1000"/>
                                  </p:stCondLst>
                                  <p:childTnLst>
                                    <p:set>
                                      <p:cBhvr>
                                        <p:cTn id="22" dur="1" fill="hold">
                                          <p:stCondLst>
                                            <p:cond delay="0"/>
                                          </p:stCondLst>
                                        </p:cTn>
                                        <p:tgtEl>
                                          <p:spTgt spid="74754">
                                            <p:txEl>
                                              <p:pRg st="2" end="2"/>
                                            </p:txEl>
                                          </p:spTgt>
                                        </p:tgtEl>
                                        <p:attrNameLst>
                                          <p:attrName>style.visibility</p:attrName>
                                        </p:attrNameLst>
                                      </p:cBhvr>
                                      <p:to>
                                        <p:strVal val="visible"/>
                                      </p:to>
                                    </p:set>
                                    <p:animEffect transition="in" filter="dissolve">
                                      <p:cBhvr>
                                        <p:cTn id="23" dur="500"/>
                                        <p:tgtEl>
                                          <p:spTgt spid="747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uild="p" animBg="1" autoUpdateAnimBg="0" advAuto="100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8C6AE289-9D84-4695-BF82-A51EA2CE8D53}" type="slidenum">
              <a:rPr lang="en-US"/>
              <a:pPr/>
              <a:t>15</a:t>
            </a:fld>
            <a:endParaRPr lang="en-US"/>
          </a:p>
        </p:txBody>
      </p:sp>
      <p:sp>
        <p:nvSpPr>
          <p:cNvPr id="115714" name="Text Box 2050"/>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5715" name="Text Box 2051"/>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5716" name="Text Box 2052"/>
          <p:cNvSpPr txBox="1">
            <a:spLocks noChangeArrowheads="1"/>
          </p:cNvSpPr>
          <p:nvPr/>
        </p:nvSpPr>
        <p:spPr bwMode="auto">
          <a:xfrm>
            <a:off x="1371600" y="381000"/>
            <a:ext cx="6705600" cy="946150"/>
          </a:xfrm>
          <a:prstGeom prst="rect">
            <a:avLst/>
          </a:prstGeom>
          <a:noFill/>
          <a:ln w="9525">
            <a:noFill/>
            <a:miter lim="800000"/>
            <a:headEnd/>
            <a:tailEnd/>
          </a:ln>
          <a:effectLst/>
        </p:spPr>
        <p:txBody>
          <a:bodyPr>
            <a:spAutoFit/>
          </a:bodyPr>
          <a:lstStyle/>
          <a:p>
            <a:pPr algn="ctr"/>
            <a:r>
              <a:rPr lang="en-US" b="1">
                <a:solidFill>
                  <a:srgbClr val="000099"/>
                </a:solidFill>
              </a:rPr>
              <a:t>Building Your Consulting Business One Relationship At A Time</a:t>
            </a:r>
          </a:p>
        </p:txBody>
      </p:sp>
      <p:sp>
        <p:nvSpPr>
          <p:cNvPr id="115717" name="Text Box 2053"/>
          <p:cNvSpPr txBox="1">
            <a:spLocks noChangeArrowheads="1"/>
          </p:cNvSpPr>
          <p:nvPr/>
        </p:nvSpPr>
        <p:spPr bwMode="auto">
          <a:xfrm>
            <a:off x="1600200" y="1635125"/>
            <a:ext cx="6040438" cy="3068638"/>
          </a:xfrm>
          <a:prstGeom prst="rect">
            <a:avLst/>
          </a:prstGeom>
          <a:noFill/>
          <a:ln w="9525">
            <a:noFill/>
            <a:miter lim="800000"/>
            <a:headEnd/>
            <a:tailEnd/>
          </a:ln>
          <a:effectLst/>
        </p:spPr>
        <p:txBody>
          <a:bodyPr wrap="none">
            <a:spAutoFit/>
          </a:bodyPr>
          <a:lstStyle/>
          <a:p>
            <a:pPr marL="457200" indent="-457200">
              <a:lnSpc>
                <a:spcPct val="150000"/>
              </a:lnSpc>
              <a:buClr>
                <a:srgbClr val="009900"/>
              </a:buClr>
              <a:buFont typeface="Wingdings" pitchFamily="2" charset="2"/>
              <a:buAutoNum type="arabicPeriod"/>
            </a:pPr>
            <a:r>
              <a:rPr lang="en-US" sz="2600" b="1">
                <a:solidFill>
                  <a:srgbClr val="66CCFF"/>
                </a:solidFill>
              </a:rPr>
              <a:t>  Introduction</a:t>
            </a:r>
          </a:p>
          <a:p>
            <a:pPr marL="457200" indent="-457200">
              <a:lnSpc>
                <a:spcPct val="150000"/>
              </a:lnSpc>
              <a:buClr>
                <a:srgbClr val="009900"/>
              </a:buClr>
              <a:buFont typeface="Wingdings" pitchFamily="2" charset="2"/>
              <a:buAutoNum type="arabicPeriod"/>
            </a:pPr>
            <a:r>
              <a:rPr lang="en-US" sz="2600" b="1">
                <a:solidFill>
                  <a:srgbClr val="66CCFF"/>
                </a:solidFill>
              </a:rPr>
              <a:t>  Lessons Learned</a:t>
            </a:r>
          </a:p>
          <a:p>
            <a:pPr marL="457200" indent="-457200">
              <a:lnSpc>
                <a:spcPct val="150000"/>
              </a:lnSpc>
              <a:buClr>
                <a:srgbClr val="009900"/>
              </a:buClr>
              <a:buFont typeface="Wingdings" pitchFamily="2" charset="2"/>
              <a:buAutoNum type="arabicPeriod"/>
            </a:pPr>
            <a:r>
              <a:rPr lang="en-US" sz="2600" b="1">
                <a:solidFill>
                  <a:srgbClr val="66CCFF"/>
                </a:solidFill>
              </a:rPr>
              <a:t>  Building a National Practice</a:t>
            </a:r>
          </a:p>
          <a:p>
            <a:pPr marL="457200" indent="-457200">
              <a:lnSpc>
                <a:spcPct val="150000"/>
              </a:lnSpc>
              <a:buClr>
                <a:srgbClr val="009900"/>
              </a:buClr>
              <a:buFont typeface="Wingdings" pitchFamily="2" charset="2"/>
              <a:buAutoNum type="arabicPeriod"/>
            </a:pPr>
            <a:r>
              <a:rPr lang="en-US" sz="2600" b="1">
                <a:solidFill>
                  <a:srgbClr val="66CCFF"/>
                </a:solidFill>
              </a:rPr>
              <a:t>  Networking Do’s and Don’ts</a:t>
            </a:r>
          </a:p>
          <a:p>
            <a:pPr marL="457200" indent="-457200">
              <a:lnSpc>
                <a:spcPct val="150000"/>
              </a:lnSpc>
              <a:buClr>
                <a:srgbClr val="009900"/>
              </a:buClr>
              <a:buFont typeface="Wingdings" pitchFamily="2" charset="2"/>
              <a:buAutoNum type="arabicPeriod"/>
            </a:pPr>
            <a:r>
              <a:rPr lang="en-US" sz="2600" b="1">
                <a:solidFill>
                  <a:srgbClr val="000099"/>
                </a:solidFill>
              </a:rPr>
              <a:t>  How To Keep Your Network Alive</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5716"/>
                                        </p:tgtEl>
                                        <p:attrNameLst>
                                          <p:attrName>style.visibility</p:attrName>
                                        </p:attrNameLst>
                                      </p:cBhvr>
                                      <p:to>
                                        <p:strVal val="visible"/>
                                      </p:to>
                                    </p:set>
                                    <p:animEffect transition="in" filter="dissolve">
                                      <p:cBhvr>
                                        <p:cTn id="7" dur="500"/>
                                        <p:tgtEl>
                                          <p:spTgt spid="11571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5717">
                                            <p:txEl>
                                              <p:pRg st="0" end="0"/>
                                            </p:txEl>
                                          </p:spTgt>
                                        </p:tgtEl>
                                        <p:attrNameLst>
                                          <p:attrName>style.visibility</p:attrName>
                                        </p:attrNameLst>
                                      </p:cBhvr>
                                      <p:to>
                                        <p:strVal val="visible"/>
                                      </p:to>
                                    </p:set>
                                    <p:animEffect transition="in" filter="dissolve">
                                      <p:cBhvr>
                                        <p:cTn id="11" dur="500"/>
                                        <p:tgtEl>
                                          <p:spTgt spid="115717">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5717">
                                            <p:txEl>
                                              <p:pRg st="1" end="1"/>
                                            </p:txEl>
                                          </p:spTgt>
                                        </p:tgtEl>
                                        <p:attrNameLst>
                                          <p:attrName>style.visibility</p:attrName>
                                        </p:attrNameLst>
                                      </p:cBhvr>
                                      <p:to>
                                        <p:strVal val="visible"/>
                                      </p:to>
                                    </p:set>
                                    <p:animEffect transition="in" filter="dissolve">
                                      <p:cBhvr>
                                        <p:cTn id="15" dur="500"/>
                                        <p:tgtEl>
                                          <p:spTgt spid="115717">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5717">
                                            <p:txEl>
                                              <p:pRg st="2" end="2"/>
                                            </p:txEl>
                                          </p:spTgt>
                                        </p:tgtEl>
                                        <p:attrNameLst>
                                          <p:attrName>style.visibility</p:attrName>
                                        </p:attrNameLst>
                                      </p:cBhvr>
                                      <p:to>
                                        <p:strVal val="visible"/>
                                      </p:to>
                                    </p:set>
                                    <p:animEffect transition="in" filter="dissolve">
                                      <p:cBhvr>
                                        <p:cTn id="19" dur="500"/>
                                        <p:tgtEl>
                                          <p:spTgt spid="115717">
                                            <p:txEl>
                                              <p:pRg st="2" end="2"/>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15717">
                                            <p:txEl>
                                              <p:pRg st="3" end="3"/>
                                            </p:txEl>
                                          </p:spTgt>
                                        </p:tgtEl>
                                        <p:attrNameLst>
                                          <p:attrName>style.visibility</p:attrName>
                                        </p:attrNameLst>
                                      </p:cBhvr>
                                      <p:to>
                                        <p:strVal val="visible"/>
                                      </p:to>
                                    </p:set>
                                    <p:animEffect transition="in" filter="dissolve">
                                      <p:cBhvr>
                                        <p:cTn id="23" dur="500"/>
                                        <p:tgtEl>
                                          <p:spTgt spid="115717">
                                            <p:txEl>
                                              <p:pRg st="3" end="3"/>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15717">
                                            <p:txEl>
                                              <p:pRg st="4" end="4"/>
                                            </p:txEl>
                                          </p:spTgt>
                                        </p:tgtEl>
                                        <p:attrNameLst>
                                          <p:attrName>style.visibility</p:attrName>
                                        </p:attrNameLst>
                                      </p:cBhvr>
                                      <p:to>
                                        <p:strVal val="visible"/>
                                      </p:to>
                                    </p:set>
                                    <p:animEffect transition="in" filter="dissolve">
                                      <p:cBhvr>
                                        <p:cTn id="27" dur="500"/>
                                        <p:tgtEl>
                                          <p:spTgt spid="1157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utoUpdateAnimBg="0"/>
      <p:bldP spid="115717" grpId="0" build="p" autoUpdateAnimBg="0"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ooter Placeholder 2"/>
          <p:cNvSpPr>
            <a:spLocks noGrp="1"/>
          </p:cNvSpPr>
          <p:nvPr>
            <p:ph type="ftr" sz="quarter" idx="11"/>
          </p:nvPr>
        </p:nvSpPr>
        <p:spPr/>
        <p:txBody>
          <a:bodyPr/>
          <a:lstStyle/>
          <a:p>
            <a:r>
              <a:rPr lang="en-US"/>
              <a:t>The Arbor Consulting Group</a:t>
            </a:r>
          </a:p>
        </p:txBody>
      </p:sp>
      <p:sp>
        <p:nvSpPr>
          <p:cNvPr id="49" name="Slide Number Placeholder 3"/>
          <p:cNvSpPr>
            <a:spLocks noGrp="1"/>
          </p:cNvSpPr>
          <p:nvPr>
            <p:ph type="sldNum" sz="quarter" idx="12"/>
          </p:nvPr>
        </p:nvSpPr>
        <p:spPr/>
        <p:txBody>
          <a:bodyPr/>
          <a:lstStyle/>
          <a:p>
            <a:fld id="{AF51C4C0-213E-4C2F-83B2-3E32C5C1DC3A}" type="slidenum">
              <a:rPr lang="en-US"/>
              <a:pPr/>
              <a:t>16</a:t>
            </a:fld>
            <a:endParaRPr lang="en-US"/>
          </a:p>
        </p:txBody>
      </p:sp>
      <p:grpSp>
        <p:nvGrpSpPr>
          <p:cNvPr id="9324" name="Group 108"/>
          <p:cNvGrpSpPr>
            <a:grpSpLocks/>
          </p:cNvGrpSpPr>
          <p:nvPr/>
        </p:nvGrpSpPr>
        <p:grpSpPr bwMode="auto">
          <a:xfrm>
            <a:off x="457200" y="3009900"/>
            <a:ext cx="7848600" cy="1524000"/>
            <a:chOff x="288" y="1896"/>
            <a:chExt cx="4944" cy="960"/>
          </a:xfrm>
        </p:grpSpPr>
        <p:sp>
          <p:nvSpPr>
            <p:cNvPr id="9325" name="Text Box 109"/>
            <p:cNvSpPr txBox="1">
              <a:spLocks noChangeArrowheads="1"/>
            </p:cNvSpPr>
            <p:nvPr/>
          </p:nvSpPr>
          <p:spPr bwMode="auto">
            <a:xfrm>
              <a:off x="288" y="2208"/>
              <a:ext cx="680" cy="326"/>
            </a:xfrm>
            <a:prstGeom prst="rect">
              <a:avLst/>
            </a:prstGeom>
            <a:noFill/>
            <a:ln w="9525">
              <a:noFill/>
              <a:miter lim="800000"/>
              <a:headEnd/>
              <a:tailEnd/>
            </a:ln>
            <a:effectLst/>
          </p:spPr>
          <p:txBody>
            <a:bodyPr wrap="none">
              <a:spAutoFit/>
            </a:bodyPr>
            <a:lstStyle/>
            <a:p>
              <a:r>
                <a:rPr lang="en-US" sz="1400" b="1">
                  <a:solidFill>
                    <a:srgbClr val="000099"/>
                  </a:solidFill>
                </a:rPr>
                <a:t>Scheduled</a:t>
              </a:r>
            </a:p>
            <a:p>
              <a:r>
                <a:rPr lang="en-US" sz="1400" b="1">
                  <a:solidFill>
                    <a:srgbClr val="000099"/>
                  </a:solidFill>
                </a:rPr>
                <a:t>Events</a:t>
              </a:r>
            </a:p>
          </p:txBody>
        </p:sp>
        <p:sp>
          <p:nvSpPr>
            <p:cNvPr id="9326" name="AutoShape 110"/>
            <p:cNvSpPr>
              <a:spLocks noChangeArrowheads="1"/>
            </p:cNvSpPr>
            <p:nvPr/>
          </p:nvSpPr>
          <p:spPr bwMode="auto">
            <a:xfrm>
              <a:off x="1152" y="1896"/>
              <a:ext cx="4080" cy="960"/>
            </a:xfrm>
            <a:prstGeom prst="rightArrow">
              <a:avLst>
                <a:gd name="adj1" fmla="val 50000"/>
                <a:gd name="adj2" fmla="val 106250"/>
              </a:avLst>
            </a:prstGeom>
            <a:noFill/>
            <a:ln w="9525">
              <a:solidFill>
                <a:schemeClr val="tx1"/>
              </a:solidFill>
              <a:miter lim="800000"/>
              <a:headEnd/>
              <a:tailEnd/>
            </a:ln>
            <a:effectLst/>
          </p:spPr>
          <p:txBody>
            <a:bodyPr wrap="none" anchor="ctr"/>
            <a:lstStyle/>
            <a:p>
              <a:endParaRPr lang="en-US"/>
            </a:p>
          </p:txBody>
        </p:sp>
        <p:sp>
          <p:nvSpPr>
            <p:cNvPr id="9327" name="Text Box 111"/>
            <p:cNvSpPr txBox="1">
              <a:spLocks noChangeArrowheads="1"/>
            </p:cNvSpPr>
            <p:nvPr/>
          </p:nvSpPr>
          <p:spPr bwMode="auto">
            <a:xfrm>
              <a:off x="1200" y="2160"/>
              <a:ext cx="116" cy="192"/>
            </a:xfrm>
            <a:prstGeom prst="rect">
              <a:avLst/>
            </a:prstGeom>
            <a:noFill/>
            <a:ln w="9525">
              <a:noFill/>
              <a:miter lim="800000"/>
              <a:headEnd/>
              <a:tailEnd/>
            </a:ln>
            <a:effectLst/>
          </p:spPr>
          <p:txBody>
            <a:bodyPr wrap="none">
              <a:spAutoFit/>
            </a:bodyPr>
            <a:lstStyle/>
            <a:p>
              <a:endParaRPr lang="en-US" sz="1400"/>
            </a:p>
          </p:txBody>
        </p:sp>
        <p:sp>
          <p:nvSpPr>
            <p:cNvPr id="9328" name="Text Box 112"/>
            <p:cNvSpPr txBox="1">
              <a:spLocks noChangeArrowheads="1"/>
            </p:cNvSpPr>
            <p:nvPr/>
          </p:nvSpPr>
          <p:spPr bwMode="auto">
            <a:xfrm>
              <a:off x="3648" y="2208"/>
              <a:ext cx="116" cy="192"/>
            </a:xfrm>
            <a:prstGeom prst="rect">
              <a:avLst/>
            </a:prstGeom>
            <a:noFill/>
            <a:ln w="9525">
              <a:noFill/>
              <a:miter lim="800000"/>
              <a:headEnd/>
              <a:tailEnd/>
            </a:ln>
            <a:effectLst/>
          </p:spPr>
          <p:txBody>
            <a:bodyPr wrap="none">
              <a:spAutoFit/>
            </a:bodyPr>
            <a:lstStyle/>
            <a:p>
              <a:endParaRPr lang="en-US" sz="1400"/>
            </a:p>
          </p:txBody>
        </p:sp>
        <p:sp>
          <p:nvSpPr>
            <p:cNvPr id="9329" name="Text Box 113"/>
            <p:cNvSpPr txBox="1">
              <a:spLocks noChangeArrowheads="1"/>
            </p:cNvSpPr>
            <p:nvPr/>
          </p:nvSpPr>
          <p:spPr bwMode="auto">
            <a:xfrm>
              <a:off x="2736" y="2160"/>
              <a:ext cx="699" cy="460"/>
            </a:xfrm>
            <a:prstGeom prst="rect">
              <a:avLst/>
            </a:prstGeom>
            <a:noFill/>
            <a:ln w="9525">
              <a:noFill/>
              <a:miter lim="800000"/>
              <a:headEnd/>
              <a:tailEnd/>
            </a:ln>
            <a:effectLst/>
          </p:spPr>
          <p:txBody>
            <a:bodyPr wrap="none">
              <a:spAutoFit/>
            </a:bodyPr>
            <a:lstStyle/>
            <a:p>
              <a:pPr algn="ctr"/>
              <a:r>
                <a:rPr lang="en-US" sz="1400"/>
                <a:t>Chamber of</a:t>
              </a:r>
            </a:p>
            <a:p>
              <a:pPr algn="ctr"/>
              <a:r>
                <a:rPr lang="en-US" sz="1400"/>
                <a:t>Commerce</a:t>
              </a:r>
            </a:p>
            <a:p>
              <a:pPr algn="ctr"/>
              <a:r>
                <a:rPr lang="en-US" sz="1400"/>
                <a:t>events</a:t>
              </a:r>
            </a:p>
          </p:txBody>
        </p:sp>
        <p:sp>
          <p:nvSpPr>
            <p:cNvPr id="9330" name="Text Box 114"/>
            <p:cNvSpPr txBox="1">
              <a:spLocks noChangeArrowheads="1"/>
            </p:cNvSpPr>
            <p:nvPr/>
          </p:nvSpPr>
          <p:spPr bwMode="auto">
            <a:xfrm>
              <a:off x="1824" y="2160"/>
              <a:ext cx="798" cy="460"/>
            </a:xfrm>
            <a:prstGeom prst="rect">
              <a:avLst/>
            </a:prstGeom>
            <a:noFill/>
            <a:ln w="9525">
              <a:noFill/>
              <a:miter lim="800000"/>
              <a:headEnd/>
              <a:tailEnd/>
            </a:ln>
            <a:effectLst/>
          </p:spPr>
          <p:txBody>
            <a:bodyPr wrap="none">
              <a:spAutoFit/>
            </a:bodyPr>
            <a:lstStyle/>
            <a:p>
              <a:r>
                <a:rPr lang="en-US" sz="1400"/>
                <a:t>Business</a:t>
              </a:r>
            </a:p>
            <a:p>
              <a:r>
                <a:rPr lang="en-US" sz="1400"/>
                <a:t>entertainment</a:t>
              </a:r>
            </a:p>
            <a:p>
              <a:r>
                <a:rPr lang="en-US" sz="1400"/>
                <a:t>events</a:t>
              </a:r>
            </a:p>
          </p:txBody>
        </p:sp>
        <p:sp>
          <p:nvSpPr>
            <p:cNvPr id="9331" name="Text Box 115"/>
            <p:cNvSpPr txBox="1">
              <a:spLocks noChangeArrowheads="1"/>
            </p:cNvSpPr>
            <p:nvPr/>
          </p:nvSpPr>
          <p:spPr bwMode="auto">
            <a:xfrm>
              <a:off x="4272" y="2160"/>
              <a:ext cx="532" cy="460"/>
            </a:xfrm>
            <a:prstGeom prst="rect">
              <a:avLst/>
            </a:prstGeom>
            <a:noFill/>
            <a:ln w="9525">
              <a:noFill/>
              <a:miter lim="800000"/>
              <a:headEnd/>
              <a:tailEnd/>
            </a:ln>
            <a:effectLst/>
          </p:spPr>
          <p:txBody>
            <a:bodyPr wrap="none">
              <a:spAutoFit/>
            </a:bodyPr>
            <a:lstStyle/>
            <a:p>
              <a:r>
                <a:rPr lang="en-US" sz="1400"/>
                <a:t>Training</a:t>
              </a:r>
            </a:p>
            <a:p>
              <a:r>
                <a:rPr lang="en-US" sz="1400"/>
                <a:t>seminar</a:t>
              </a:r>
            </a:p>
            <a:p>
              <a:r>
                <a:rPr lang="en-US" sz="1400"/>
                <a:t>program</a:t>
              </a:r>
            </a:p>
          </p:txBody>
        </p:sp>
        <p:sp>
          <p:nvSpPr>
            <p:cNvPr id="9332" name="Line 116"/>
            <p:cNvSpPr>
              <a:spLocks noChangeShapeType="1"/>
            </p:cNvSpPr>
            <p:nvPr/>
          </p:nvSpPr>
          <p:spPr bwMode="auto">
            <a:xfrm>
              <a:off x="1776" y="2208"/>
              <a:ext cx="0" cy="384"/>
            </a:xfrm>
            <a:prstGeom prst="line">
              <a:avLst/>
            </a:prstGeom>
            <a:noFill/>
            <a:ln w="9525">
              <a:solidFill>
                <a:schemeClr val="tx1"/>
              </a:solidFill>
              <a:round/>
              <a:headEnd/>
              <a:tailEnd/>
            </a:ln>
            <a:effectLst/>
          </p:spPr>
          <p:txBody>
            <a:bodyPr/>
            <a:lstStyle/>
            <a:p>
              <a:endParaRPr lang="en-US"/>
            </a:p>
          </p:txBody>
        </p:sp>
        <p:sp>
          <p:nvSpPr>
            <p:cNvPr id="9333" name="Line 117"/>
            <p:cNvSpPr>
              <a:spLocks noChangeShapeType="1"/>
            </p:cNvSpPr>
            <p:nvPr/>
          </p:nvSpPr>
          <p:spPr bwMode="auto">
            <a:xfrm>
              <a:off x="2640" y="2208"/>
              <a:ext cx="0" cy="384"/>
            </a:xfrm>
            <a:prstGeom prst="line">
              <a:avLst/>
            </a:prstGeom>
            <a:noFill/>
            <a:ln w="9525">
              <a:solidFill>
                <a:schemeClr val="tx1"/>
              </a:solidFill>
              <a:round/>
              <a:headEnd/>
              <a:tailEnd/>
            </a:ln>
            <a:effectLst/>
          </p:spPr>
          <p:txBody>
            <a:bodyPr/>
            <a:lstStyle/>
            <a:p>
              <a:endParaRPr lang="en-US"/>
            </a:p>
          </p:txBody>
        </p:sp>
        <p:sp>
          <p:nvSpPr>
            <p:cNvPr id="9334" name="Line 118"/>
            <p:cNvSpPr>
              <a:spLocks noChangeShapeType="1"/>
            </p:cNvSpPr>
            <p:nvPr/>
          </p:nvSpPr>
          <p:spPr bwMode="auto">
            <a:xfrm>
              <a:off x="3504" y="2208"/>
              <a:ext cx="0" cy="384"/>
            </a:xfrm>
            <a:prstGeom prst="line">
              <a:avLst/>
            </a:prstGeom>
            <a:noFill/>
            <a:ln w="9525">
              <a:solidFill>
                <a:schemeClr val="tx1"/>
              </a:solidFill>
              <a:round/>
              <a:headEnd/>
              <a:tailEnd/>
            </a:ln>
            <a:effectLst/>
          </p:spPr>
          <p:txBody>
            <a:bodyPr/>
            <a:lstStyle/>
            <a:p>
              <a:endParaRPr lang="en-US"/>
            </a:p>
          </p:txBody>
        </p:sp>
        <p:sp>
          <p:nvSpPr>
            <p:cNvPr id="9335" name="Line 119"/>
            <p:cNvSpPr>
              <a:spLocks noChangeShapeType="1"/>
            </p:cNvSpPr>
            <p:nvPr/>
          </p:nvSpPr>
          <p:spPr bwMode="auto">
            <a:xfrm>
              <a:off x="4224" y="2208"/>
              <a:ext cx="0" cy="384"/>
            </a:xfrm>
            <a:prstGeom prst="line">
              <a:avLst/>
            </a:prstGeom>
            <a:noFill/>
            <a:ln w="9525">
              <a:solidFill>
                <a:schemeClr val="tx1"/>
              </a:solidFill>
              <a:round/>
              <a:headEnd/>
              <a:tailEnd/>
            </a:ln>
            <a:effectLst/>
          </p:spPr>
          <p:txBody>
            <a:bodyPr/>
            <a:lstStyle/>
            <a:p>
              <a:endParaRPr lang="en-US"/>
            </a:p>
          </p:txBody>
        </p:sp>
      </p:grpSp>
      <p:sp>
        <p:nvSpPr>
          <p:cNvPr id="9218" name="Text Box 2"/>
          <p:cNvSpPr txBox="1">
            <a:spLocks noChangeArrowheads="1"/>
          </p:cNvSpPr>
          <p:nvPr/>
        </p:nvSpPr>
        <p:spPr bwMode="auto">
          <a:xfrm>
            <a:off x="452438" y="433388"/>
            <a:ext cx="8158162" cy="822325"/>
          </a:xfrm>
          <a:prstGeom prst="rect">
            <a:avLst/>
          </a:prstGeom>
          <a:noFill/>
          <a:ln w="9525">
            <a:noFill/>
            <a:miter lim="800000"/>
            <a:headEnd/>
            <a:tailEnd/>
          </a:ln>
          <a:effectLst/>
        </p:spPr>
        <p:txBody>
          <a:bodyPr wrap="none">
            <a:spAutoFit/>
          </a:bodyPr>
          <a:lstStyle/>
          <a:p>
            <a:pPr algn="ctr"/>
            <a:r>
              <a:rPr lang="en-US" sz="2400" b="1">
                <a:solidFill>
                  <a:srgbClr val="000099"/>
                </a:solidFill>
              </a:rPr>
              <a:t>MULTI-DIMENSIONAL ACTION PLAN</a:t>
            </a:r>
          </a:p>
          <a:p>
            <a:pPr algn="ctr"/>
            <a:r>
              <a:rPr lang="en-US" sz="2400" b="1">
                <a:solidFill>
                  <a:srgbClr val="000099"/>
                </a:solidFill>
              </a:rPr>
              <a:t>FOR KEEPING YOUR NETWORK ALIVE AND HEALTHY</a:t>
            </a:r>
          </a:p>
        </p:txBody>
      </p:sp>
      <p:sp>
        <p:nvSpPr>
          <p:cNvPr id="9219" name="Text Box 3"/>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9221" name="Text Box 5"/>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grpSp>
        <p:nvGrpSpPr>
          <p:cNvPr id="9273" name="Group 57"/>
          <p:cNvGrpSpPr>
            <a:grpSpLocks/>
          </p:cNvGrpSpPr>
          <p:nvPr/>
        </p:nvGrpSpPr>
        <p:grpSpPr bwMode="auto">
          <a:xfrm>
            <a:off x="457200" y="4648200"/>
            <a:ext cx="7848600" cy="1524000"/>
            <a:chOff x="288" y="2928"/>
            <a:chExt cx="4944" cy="960"/>
          </a:xfrm>
        </p:grpSpPr>
        <p:sp>
          <p:nvSpPr>
            <p:cNvPr id="9231" name="Text Box 15"/>
            <p:cNvSpPr txBox="1">
              <a:spLocks noChangeArrowheads="1"/>
            </p:cNvSpPr>
            <p:nvPr/>
          </p:nvSpPr>
          <p:spPr bwMode="auto">
            <a:xfrm>
              <a:off x="288" y="3168"/>
              <a:ext cx="847" cy="460"/>
            </a:xfrm>
            <a:prstGeom prst="rect">
              <a:avLst/>
            </a:prstGeom>
            <a:noFill/>
            <a:ln w="9525">
              <a:noFill/>
              <a:miter lim="800000"/>
              <a:headEnd/>
              <a:tailEnd/>
            </a:ln>
            <a:effectLst/>
          </p:spPr>
          <p:txBody>
            <a:bodyPr wrap="none">
              <a:spAutoFit/>
            </a:bodyPr>
            <a:lstStyle/>
            <a:p>
              <a:r>
                <a:rPr lang="en-US" sz="1400" b="1">
                  <a:solidFill>
                    <a:srgbClr val="000099"/>
                  </a:solidFill>
                </a:rPr>
                <a:t>Creating</a:t>
              </a:r>
            </a:p>
            <a:p>
              <a:r>
                <a:rPr lang="en-US" sz="1400" b="1">
                  <a:solidFill>
                    <a:srgbClr val="000099"/>
                  </a:solidFill>
                </a:rPr>
                <a:t>Special</a:t>
              </a:r>
            </a:p>
            <a:p>
              <a:r>
                <a:rPr lang="en-US" sz="1400" b="1">
                  <a:solidFill>
                    <a:srgbClr val="000099"/>
                  </a:solidFill>
                </a:rPr>
                <a:t>Opportunities</a:t>
              </a:r>
            </a:p>
          </p:txBody>
        </p:sp>
        <p:sp>
          <p:nvSpPr>
            <p:cNvPr id="9233" name="AutoShape 17"/>
            <p:cNvSpPr>
              <a:spLocks noChangeArrowheads="1"/>
            </p:cNvSpPr>
            <p:nvPr/>
          </p:nvSpPr>
          <p:spPr bwMode="auto">
            <a:xfrm>
              <a:off x="1152" y="2928"/>
              <a:ext cx="4080" cy="960"/>
            </a:xfrm>
            <a:prstGeom prst="rightArrow">
              <a:avLst>
                <a:gd name="adj1" fmla="val 50000"/>
                <a:gd name="adj2" fmla="val 106250"/>
              </a:avLst>
            </a:prstGeom>
            <a:noFill/>
            <a:ln w="9525">
              <a:solidFill>
                <a:schemeClr val="tx1"/>
              </a:solidFill>
              <a:miter lim="800000"/>
              <a:headEnd/>
              <a:tailEnd/>
            </a:ln>
            <a:effectLst/>
          </p:spPr>
          <p:txBody>
            <a:bodyPr wrap="none" anchor="ctr"/>
            <a:lstStyle/>
            <a:p>
              <a:endParaRPr lang="en-US"/>
            </a:p>
          </p:txBody>
        </p:sp>
        <p:sp>
          <p:nvSpPr>
            <p:cNvPr id="9239" name="Text Box 23"/>
            <p:cNvSpPr txBox="1">
              <a:spLocks noChangeArrowheads="1"/>
            </p:cNvSpPr>
            <p:nvPr/>
          </p:nvSpPr>
          <p:spPr bwMode="auto">
            <a:xfrm>
              <a:off x="1152" y="3264"/>
              <a:ext cx="116" cy="192"/>
            </a:xfrm>
            <a:prstGeom prst="rect">
              <a:avLst/>
            </a:prstGeom>
            <a:noFill/>
            <a:ln w="9525">
              <a:noFill/>
              <a:miter lim="800000"/>
              <a:headEnd/>
              <a:tailEnd/>
            </a:ln>
            <a:effectLst/>
          </p:spPr>
          <p:txBody>
            <a:bodyPr wrap="none">
              <a:spAutoFit/>
            </a:bodyPr>
            <a:lstStyle/>
            <a:p>
              <a:endParaRPr lang="en-US" sz="1400"/>
            </a:p>
          </p:txBody>
        </p:sp>
        <p:sp>
          <p:nvSpPr>
            <p:cNvPr id="9240" name="Text Box 24"/>
            <p:cNvSpPr txBox="1">
              <a:spLocks noChangeArrowheads="1"/>
            </p:cNvSpPr>
            <p:nvPr/>
          </p:nvSpPr>
          <p:spPr bwMode="auto">
            <a:xfrm>
              <a:off x="1920" y="3264"/>
              <a:ext cx="743" cy="192"/>
            </a:xfrm>
            <a:prstGeom prst="rect">
              <a:avLst/>
            </a:prstGeom>
            <a:noFill/>
            <a:ln w="9525">
              <a:noFill/>
              <a:miter lim="800000"/>
              <a:headEnd/>
              <a:tailEnd/>
            </a:ln>
            <a:effectLst/>
          </p:spPr>
          <p:txBody>
            <a:bodyPr wrap="none">
              <a:spAutoFit/>
            </a:bodyPr>
            <a:lstStyle/>
            <a:p>
              <a:r>
                <a:rPr lang="en-US" sz="1400"/>
                <a:t>Roundtables</a:t>
              </a:r>
            </a:p>
          </p:txBody>
        </p:sp>
        <p:sp>
          <p:nvSpPr>
            <p:cNvPr id="9241" name="Text Box 25"/>
            <p:cNvSpPr txBox="1">
              <a:spLocks noChangeArrowheads="1"/>
            </p:cNvSpPr>
            <p:nvPr/>
          </p:nvSpPr>
          <p:spPr bwMode="auto">
            <a:xfrm>
              <a:off x="2875" y="3226"/>
              <a:ext cx="917" cy="326"/>
            </a:xfrm>
            <a:prstGeom prst="rect">
              <a:avLst/>
            </a:prstGeom>
            <a:noFill/>
            <a:ln w="9525">
              <a:noFill/>
              <a:miter lim="800000"/>
              <a:headEnd/>
              <a:tailEnd/>
            </a:ln>
            <a:effectLst/>
          </p:spPr>
          <p:txBody>
            <a:bodyPr wrap="none">
              <a:spAutoFit/>
            </a:bodyPr>
            <a:lstStyle/>
            <a:p>
              <a:pPr algn="ctr"/>
              <a:r>
                <a:rPr lang="en-US" sz="1400"/>
                <a:t>Mini-Networking</a:t>
              </a:r>
            </a:p>
            <a:p>
              <a:pPr algn="ctr"/>
              <a:r>
                <a:rPr lang="en-US" sz="1400"/>
                <a:t>Sessions</a:t>
              </a:r>
            </a:p>
          </p:txBody>
        </p:sp>
        <p:sp>
          <p:nvSpPr>
            <p:cNvPr id="9242" name="Text Box 26"/>
            <p:cNvSpPr txBox="1">
              <a:spLocks noChangeArrowheads="1"/>
            </p:cNvSpPr>
            <p:nvPr/>
          </p:nvSpPr>
          <p:spPr bwMode="auto">
            <a:xfrm>
              <a:off x="3894" y="3312"/>
              <a:ext cx="116" cy="192"/>
            </a:xfrm>
            <a:prstGeom prst="rect">
              <a:avLst/>
            </a:prstGeom>
            <a:noFill/>
            <a:ln w="9525">
              <a:noFill/>
              <a:miter lim="800000"/>
              <a:headEnd/>
              <a:tailEnd/>
            </a:ln>
            <a:effectLst/>
          </p:spPr>
          <p:txBody>
            <a:bodyPr wrap="none">
              <a:spAutoFit/>
            </a:bodyPr>
            <a:lstStyle/>
            <a:p>
              <a:endParaRPr lang="en-US" sz="1400"/>
            </a:p>
          </p:txBody>
        </p:sp>
        <p:sp>
          <p:nvSpPr>
            <p:cNvPr id="9251" name="Line 35"/>
            <p:cNvSpPr>
              <a:spLocks noChangeShapeType="1"/>
            </p:cNvSpPr>
            <p:nvPr/>
          </p:nvSpPr>
          <p:spPr bwMode="auto">
            <a:xfrm>
              <a:off x="1824" y="3216"/>
              <a:ext cx="0" cy="384"/>
            </a:xfrm>
            <a:prstGeom prst="line">
              <a:avLst/>
            </a:prstGeom>
            <a:noFill/>
            <a:ln w="9525">
              <a:solidFill>
                <a:schemeClr val="tx1"/>
              </a:solidFill>
              <a:round/>
              <a:headEnd/>
              <a:tailEnd/>
            </a:ln>
            <a:effectLst/>
          </p:spPr>
          <p:txBody>
            <a:bodyPr/>
            <a:lstStyle/>
            <a:p>
              <a:endParaRPr lang="en-US"/>
            </a:p>
          </p:txBody>
        </p:sp>
        <p:sp>
          <p:nvSpPr>
            <p:cNvPr id="9252" name="Line 36"/>
            <p:cNvSpPr>
              <a:spLocks noChangeShapeType="1"/>
            </p:cNvSpPr>
            <p:nvPr/>
          </p:nvSpPr>
          <p:spPr bwMode="auto">
            <a:xfrm>
              <a:off x="2736" y="3216"/>
              <a:ext cx="0" cy="384"/>
            </a:xfrm>
            <a:prstGeom prst="line">
              <a:avLst/>
            </a:prstGeom>
            <a:noFill/>
            <a:ln w="9525">
              <a:solidFill>
                <a:schemeClr val="tx1"/>
              </a:solidFill>
              <a:round/>
              <a:headEnd/>
              <a:tailEnd/>
            </a:ln>
            <a:effectLst/>
          </p:spPr>
          <p:txBody>
            <a:bodyPr/>
            <a:lstStyle/>
            <a:p>
              <a:endParaRPr lang="en-US"/>
            </a:p>
          </p:txBody>
        </p:sp>
        <p:sp>
          <p:nvSpPr>
            <p:cNvPr id="9253" name="Line 37"/>
            <p:cNvSpPr>
              <a:spLocks noChangeShapeType="1"/>
            </p:cNvSpPr>
            <p:nvPr/>
          </p:nvSpPr>
          <p:spPr bwMode="auto">
            <a:xfrm>
              <a:off x="3888" y="3216"/>
              <a:ext cx="0" cy="384"/>
            </a:xfrm>
            <a:prstGeom prst="line">
              <a:avLst/>
            </a:prstGeom>
            <a:noFill/>
            <a:ln w="9525">
              <a:solidFill>
                <a:schemeClr val="tx1"/>
              </a:solidFill>
              <a:round/>
              <a:headEnd/>
              <a:tailEnd/>
            </a:ln>
            <a:effectLst/>
          </p:spPr>
          <p:txBody>
            <a:bodyPr/>
            <a:lstStyle/>
            <a:p>
              <a:endParaRPr lang="en-US"/>
            </a:p>
          </p:txBody>
        </p:sp>
      </p:grpSp>
      <p:grpSp>
        <p:nvGrpSpPr>
          <p:cNvPr id="9271" name="Group 55"/>
          <p:cNvGrpSpPr>
            <a:grpSpLocks/>
          </p:cNvGrpSpPr>
          <p:nvPr/>
        </p:nvGrpSpPr>
        <p:grpSpPr bwMode="auto">
          <a:xfrm>
            <a:off x="457200" y="1447800"/>
            <a:ext cx="7848600" cy="1524000"/>
            <a:chOff x="288" y="864"/>
            <a:chExt cx="4944" cy="960"/>
          </a:xfrm>
        </p:grpSpPr>
        <p:sp>
          <p:nvSpPr>
            <p:cNvPr id="9223" name="AutoShape 7"/>
            <p:cNvSpPr>
              <a:spLocks noChangeArrowheads="1"/>
            </p:cNvSpPr>
            <p:nvPr/>
          </p:nvSpPr>
          <p:spPr bwMode="auto">
            <a:xfrm>
              <a:off x="1152" y="864"/>
              <a:ext cx="4080" cy="960"/>
            </a:xfrm>
            <a:prstGeom prst="rightArrow">
              <a:avLst>
                <a:gd name="adj1" fmla="val 50000"/>
                <a:gd name="adj2" fmla="val 106250"/>
              </a:avLst>
            </a:prstGeom>
            <a:noFill/>
            <a:ln w="9525">
              <a:solidFill>
                <a:schemeClr val="tx1"/>
              </a:solidFill>
              <a:miter lim="800000"/>
              <a:headEnd/>
              <a:tailEnd/>
            </a:ln>
            <a:effectLst/>
          </p:spPr>
          <p:txBody>
            <a:bodyPr wrap="none" anchor="ctr"/>
            <a:lstStyle/>
            <a:p>
              <a:endParaRPr lang="en-US"/>
            </a:p>
          </p:txBody>
        </p:sp>
        <p:sp>
          <p:nvSpPr>
            <p:cNvPr id="9224" name="Text Box 8"/>
            <p:cNvSpPr txBox="1">
              <a:spLocks noChangeArrowheads="1"/>
            </p:cNvSpPr>
            <p:nvPr/>
          </p:nvSpPr>
          <p:spPr bwMode="auto">
            <a:xfrm>
              <a:off x="1200" y="1104"/>
              <a:ext cx="116" cy="192"/>
            </a:xfrm>
            <a:prstGeom prst="rect">
              <a:avLst/>
            </a:prstGeom>
            <a:noFill/>
            <a:ln w="9525">
              <a:noFill/>
              <a:miter lim="800000"/>
              <a:headEnd/>
              <a:tailEnd/>
            </a:ln>
            <a:effectLst/>
          </p:spPr>
          <p:txBody>
            <a:bodyPr wrap="none">
              <a:spAutoFit/>
            </a:bodyPr>
            <a:lstStyle/>
            <a:p>
              <a:endParaRPr lang="en-US" sz="1400"/>
            </a:p>
          </p:txBody>
        </p:sp>
        <p:sp>
          <p:nvSpPr>
            <p:cNvPr id="9225" name="Text Box 9"/>
            <p:cNvSpPr txBox="1">
              <a:spLocks noChangeArrowheads="1"/>
            </p:cNvSpPr>
            <p:nvPr/>
          </p:nvSpPr>
          <p:spPr bwMode="auto">
            <a:xfrm>
              <a:off x="1680" y="1124"/>
              <a:ext cx="526" cy="460"/>
            </a:xfrm>
            <a:prstGeom prst="rect">
              <a:avLst/>
            </a:prstGeom>
            <a:noFill/>
            <a:ln w="9525">
              <a:noFill/>
              <a:miter lim="800000"/>
              <a:headEnd/>
              <a:tailEnd/>
            </a:ln>
            <a:effectLst/>
          </p:spPr>
          <p:txBody>
            <a:bodyPr wrap="none">
              <a:spAutoFit/>
            </a:bodyPr>
            <a:lstStyle/>
            <a:p>
              <a:pPr algn="ctr"/>
              <a:r>
                <a:rPr lang="en-US" sz="1400"/>
                <a:t>Mailings</a:t>
              </a:r>
            </a:p>
            <a:p>
              <a:pPr algn="ctr"/>
              <a:r>
                <a:rPr lang="en-US" sz="1400"/>
                <a:t>to </a:t>
              </a:r>
            </a:p>
            <a:p>
              <a:pPr algn="ctr"/>
              <a:r>
                <a:rPr lang="en-US" sz="1400"/>
                <a:t>network</a:t>
              </a:r>
            </a:p>
          </p:txBody>
        </p:sp>
        <p:sp>
          <p:nvSpPr>
            <p:cNvPr id="9226" name="Text Box 10"/>
            <p:cNvSpPr txBox="1">
              <a:spLocks noChangeArrowheads="1"/>
            </p:cNvSpPr>
            <p:nvPr/>
          </p:nvSpPr>
          <p:spPr bwMode="auto">
            <a:xfrm>
              <a:off x="2256" y="1124"/>
              <a:ext cx="694" cy="460"/>
            </a:xfrm>
            <a:prstGeom prst="rect">
              <a:avLst/>
            </a:prstGeom>
            <a:noFill/>
            <a:ln w="9525">
              <a:noFill/>
              <a:miter lim="800000"/>
              <a:headEnd/>
              <a:tailEnd/>
            </a:ln>
            <a:effectLst/>
          </p:spPr>
          <p:txBody>
            <a:bodyPr wrap="none">
              <a:spAutoFit/>
            </a:bodyPr>
            <a:lstStyle/>
            <a:p>
              <a:pPr algn="ctr"/>
              <a:r>
                <a:rPr lang="en-US" sz="1400"/>
                <a:t>Saw you in </a:t>
              </a:r>
            </a:p>
            <a:p>
              <a:pPr algn="ctr"/>
              <a:r>
                <a:rPr lang="en-US" sz="1400"/>
                <a:t>the paper</a:t>
              </a:r>
            </a:p>
            <a:p>
              <a:pPr algn="ctr"/>
              <a:r>
                <a:rPr lang="en-US" sz="1400"/>
                <a:t>notes</a:t>
              </a:r>
            </a:p>
          </p:txBody>
        </p:sp>
        <p:sp>
          <p:nvSpPr>
            <p:cNvPr id="9227" name="Text Box 11"/>
            <p:cNvSpPr txBox="1">
              <a:spLocks noChangeArrowheads="1"/>
            </p:cNvSpPr>
            <p:nvPr/>
          </p:nvSpPr>
          <p:spPr bwMode="auto">
            <a:xfrm>
              <a:off x="3536" y="1124"/>
              <a:ext cx="904" cy="460"/>
            </a:xfrm>
            <a:prstGeom prst="rect">
              <a:avLst/>
            </a:prstGeom>
            <a:noFill/>
            <a:ln w="9525">
              <a:noFill/>
              <a:miter lim="800000"/>
              <a:headEnd/>
              <a:tailEnd/>
            </a:ln>
            <a:effectLst/>
          </p:spPr>
          <p:txBody>
            <a:bodyPr wrap="none">
              <a:spAutoFit/>
            </a:bodyPr>
            <a:lstStyle/>
            <a:p>
              <a:pPr algn="ctr"/>
              <a:r>
                <a:rPr lang="en-US" sz="1400"/>
                <a:t>Congratulations</a:t>
              </a:r>
            </a:p>
            <a:p>
              <a:pPr algn="ctr"/>
              <a:r>
                <a:rPr lang="en-US" sz="1400"/>
                <a:t>on professional </a:t>
              </a:r>
            </a:p>
            <a:p>
              <a:pPr algn="ctr"/>
              <a:r>
                <a:rPr lang="en-US" sz="1400"/>
                <a:t>success</a:t>
              </a:r>
            </a:p>
          </p:txBody>
        </p:sp>
        <p:sp>
          <p:nvSpPr>
            <p:cNvPr id="9228" name="Text Box 12"/>
            <p:cNvSpPr txBox="1">
              <a:spLocks noChangeArrowheads="1"/>
            </p:cNvSpPr>
            <p:nvPr/>
          </p:nvSpPr>
          <p:spPr bwMode="auto">
            <a:xfrm>
              <a:off x="4437" y="1152"/>
              <a:ext cx="116" cy="192"/>
            </a:xfrm>
            <a:prstGeom prst="rect">
              <a:avLst/>
            </a:prstGeom>
            <a:noFill/>
            <a:ln w="9525">
              <a:noFill/>
              <a:miter lim="800000"/>
              <a:headEnd/>
              <a:tailEnd/>
            </a:ln>
            <a:effectLst/>
          </p:spPr>
          <p:txBody>
            <a:bodyPr wrap="none">
              <a:spAutoFit/>
            </a:bodyPr>
            <a:lstStyle/>
            <a:p>
              <a:endParaRPr lang="en-US" sz="1400"/>
            </a:p>
          </p:txBody>
        </p:sp>
        <p:sp>
          <p:nvSpPr>
            <p:cNvPr id="9229" name="Text Box 13"/>
            <p:cNvSpPr txBox="1">
              <a:spLocks noChangeArrowheads="1"/>
            </p:cNvSpPr>
            <p:nvPr/>
          </p:nvSpPr>
          <p:spPr bwMode="auto">
            <a:xfrm>
              <a:off x="288" y="1152"/>
              <a:ext cx="630" cy="326"/>
            </a:xfrm>
            <a:prstGeom prst="rect">
              <a:avLst/>
            </a:prstGeom>
            <a:noFill/>
            <a:ln w="9525">
              <a:noFill/>
              <a:miter lim="800000"/>
              <a:headEnd/>
              <a:tailEnd/>
            </a:ln>
            <a:effectLst/>
          </p:spPr>
          <p:txBody>
            <a:bodyPr wrap="none">
              <a:spAutoFit/>
            </a:bodyPr>
            <a:lstStyle/>
            <a:p>
              <a:r>
                <a:rPr lang="en-US" sz="1400" b="1">
                  <a:solidFill>
                    <a:srgbClr val="000099"/>
                  </a:solidFill>
                </a:rPr>
                <a:t>On-Going</a:t>
              </a:r>
            </a:p>
            <a:p>
              <a:r>
                <a:rPr lang="en-US" sz="1400" b="1">
                  <a:solidFill>
                    <a:srgbClr val="000099"/>
                  </a:solidFill>
                </a:rPr>
                <a:t>Activities</a:t>
              </a:r>
            </a:p>
          </p:txBody>
        </p:sp>
        <p:sp>
          <p:nvSpPr>
            <p:cNvPr id="9243" name="Line 27"/>
            <p:cNvSpPr>
              <a:spLocks noChangeShapeType="1"/>
            </p:cNvSpPr>
            <p:nvPr/>
          </p:nvSpPr>
          <p:spPr bwMode="auto">
            <a:xfrm>
              <a:off x="1632" y="1152"/>
              <a:ext cx="0" cy="384"/>
            </a:xfrm>
            <a:prstGeom prst="line">
              <a:avLst/>
            </a:prstGeom>
            <a:noFill/>
            <a:ln w="9525">
              <a:solidFill>
                <a:schemeClr val="tx1"/>
              </a:solidFill>
              <a:round/>
              <a:headEnd/>
              <a:tailEnd/>
            </a:ln>
            <a:effectLst/>
          </p:spPr>
          <p:txBody>
            <a:bodyPr/>
            <a:lstStyle/>
            <a:p>
              <a:endParaRPr lang="en-US"/>
            </a:p>
          </p:txBody>
        </p:sp>
        <p:sp>
          <p:nvSpPr>
            <p:cNvPr id="9244" name="Line 28"/>
            <p:cNvSpPr>
              <a:spLocks noChangeShapeType="1"/>
            </p:cNvSpPr>
            <p:nvPr/>
          </p:nvSpPr>
          <p:spPr bwMode="auto">
            <a:xfrm>
              <a:off x="2208" y="1152"/>
              <a:ext cx="0" cy="384"/>
            </a:xfrm>
            <a:prstGeom prst="line">
              <a:avLst/>
            </a:prstGeom>
            <a:noFill/>
            <a:ln w="9525">
              <a:solidFill>
                <a:schemeClr val="tx1"/>
              </a:solidFill>
              <a:round/>
              <a:headEnd/>
              <a:tailEnd/>
            </a:ln>
            <a:effectLst/>
          </p:spPr>
          <p:txBody>
            <a:bodyPr/>
            <a:lstStyle/>
            <a:p>
              <a:endParaRPr lang="en-US"/>
            </a:p>
          </p:txBody>
        </p:sp>
        <p:sp>
          <p:nvSpPr>
            <p:cNvPr id="9245" name="Line 29"/>
            <p:cNvSpPr>
              <a:spLocks noChangeShapeType="1"/>
            </p:cNvSpPr>
            <p:nvPr/>
          </p:nvSpPr>
          <p:spPr bwMode="auto">
            <a:xfrm>
              <a:off x="2928" y="1152"/>
              <a:ext cx="0" cy="384"/>
            </a:xfrm>
            <a:prstGeom prst="line">
              <a:avLst/>
            </a:prstGeom>
            <a:noFill/>
            <a:ln w="9525">
              <a:solidFill>
                <a:schemeClr val="tx1"/>
              </a:solidFill>
              <a:round/>
              <a:headEnd/>
              <a:tailEnd/>
            </a:ln>
            <a:effectLst/>
          </p:spPr>
          <p:txBody>
            <a:bodyPr/>
            <a:lstStyle/>
            <a:p>
              <a:endParaRPr lang="en-US"/>
            </a:p>
          </p:txBody>
        </p:sp>
        <p:sp>
          <p:nvSpPr>
            <p:cNvPr id="9246" name="Line 30"/>
            <p:cNvSpPr>
              <a:spLocks noChangeShapeType="1"/>
            </p:cNvSpPr>
            <p:nvPr/>
          </p:nvSpPr>
          <p:spPr bwMode="auto">
            <a:xfrm>
              <a:off x="4437" y="1104"/>
              <a:ext cx="0" cy="528"/>
            </a:xfrm>
            <a:prstGeom prst="line">
              <a:avLst/>
            </a:prstGeom>
            <a:noFill/>
            <a:ln w="9525">
              <a:solidFill>
                <a:schemeClr val="tx1"/>
              </a:solidFill>
              <a:round/>
              <a:headEnd/>
              <a:tailEnd/>
            </a:ln>
            <a:effectLst/>
          </p:spPr>
          <p:txBody>
            <a:bodyPr/>
            <a:lstStyle/>
            <a:p>
              <a:endParaRPr lang="en-US"/>
            </a:p>
          </p:txBody>
        </p:sp>
        <p:sp>
          <p:nvSpPr>
            <p:cNvPr id="9254" name="Line 38"/>
            <p:cNvSpPr>
              <a:spLocks noChangeShapeType="1"/>
            </p:cNvSpPr>
            <p:nvPr/>
          </p:nvSpPr>
          <p:spPr bwMode="auto">
            <a:xfrm>
              <a:off x="3552" y="1152"/>
              <a:ext cx="0" cy="384"/>
            </a:xfrm>
            <a:prstGeom prst="line">
              <a:avLst/>
            </a:prstGeom>
            <a:noFill/>
            <a:ln w="9525">
              <a:solidFill>
                <a:schemeClr val="tx1"/>
              </a:solidFill>
              <a:round/>
              <a:headEnd/>
              <a:tailEnd/>
            </a:ln>
            <a:effectLst/>
          </p:spPr>
          <p:txBody>
            <a:bodyPr/>
            <a:lstStyle/>
            <a:p>
              <a:endParaRPr lang="en-US"/>
            </a:p>
          </p:txBody>
        </p:sp>
        <p:sp>
          <p:nvSpPr>
            <p:cNvPr id="9255" name="Text Box 39"/>
            <p:cNvSpPr txBox="1">
              <a:spLocks noChangeArrowheads="1"/>
            </p:cNvSpPr>
            <p:nvPr/>
          </p:nvSpPr>
          <p:spPr bwMode="auto">
            <a:xfrm>
              <a:off x="2928" y="1152"/>
              <a:ext cx="632" cy="326"/>
            </a:xfrm>
            <a:prstGeom prst="rect">
              <a:avLst/>
            </a:prstGeom>
            <a:noFill/>
            <a:ln w="9525">
              <a:noFill/>
              <a:miter lim="800000"/>
              <a:headEnd/>
              <a:tailEnd/>
            </a:ln>
            <a:effectLst/>
          </p:spPr>
          <p:txBody>
            <a:bodyPr wrap="none">
              <a:spAutoFit/>
            </a:bodyPr>
            <a:lstStyle/>
            <a:p>
              <a:r>
                <a:rPr lang="en-US" sz="1400"/>
                <a:t>Business</a:t>
              </a:r>
            </a:p>
            <a:p>
              <a:r>
                <a:rPr lang="en-US" sz="1400"/>
                <a:t>socializing</a:t>
              </a:r>
            </a:p>
          </p:txBody>
        </p:sp>
      </p:grpSp>
      <p:sp>
        <p:nvSpPr>
          <p:cNvPr id="9305" name="Text Box 89"/>
          <p:cNvSpPr txBox="1">
            <a:spLocks noChangeArrowheads="1"/>
          </p:cNvSpPr>
          <p:nvPr/>
        </p:nvSpPr>
        <p:spPr bwMode="auto">
          <a:xfrm>
            <a:off x="1600200" y="1676400"/>
            <a:ext cx="995363" cy="1165225"/>
          </a:xfrm>
          <a:prstGeom prst="rect">
            <a:avLst/>
          </a:prstGeom>
          <a:solidFill>
            <a:srgbClr val="FFFF00"/>
          </a:solidFill>
          <a:ln w="9525">
            <a:solidFill>
              <a:srgbClr val="FF0000"/>
            </a:solidFill>
            <a:miter lim="800000"/>
            <a:headEnd/>
            <a:tailEnd/>
          </a:ln>
          <a:effectLst/>
        </p:spPr>
        <p:txBody>
          <a:bodyPr>
            <a:spAutoFit/>
          </a:bodyPr>
          <a:lstStyle/>
          <a:p>
            <a:pPr algn="ctr"/>
            <a:endParaRPr lang="en-US" sz="1400">
              <a:solidFill>
                <a:srgbClr val="FF0000"/>
              </a:solidFill>
            </a:endParaRPr>
          </a:p>
          <a:p>
            <a:pPr algn="ctr"/>
            <a:r>
              <a:rPr lang="en-US" sz="1400">
                <a:solidFill>
                  <a:srgbClr val="FF0000"/>
                </a:solidFill>
              </a:rPr>
              <a:t>Thank</a:t>
            </a:r>
          </a:p>
          <a:p>
            <a:pPr algn="ctr"/>
            <a:r>
              <a:rPr lang="en-US" sz="1400">
                <a:solidFill>
                  <a:srgbClr val="FF0000"/>
                </a:solidFill>
              </a:rPr>
              <a:t>You</a:t>
            </a:r>
          </a:p>
          <a:p>
            <a:pPr algn="ctr"/>
            <a:r>
              <a:rPr lang="en-US" sz="1400">
                <a:solidFill>
                  <a:srgbClr val="FF0000"/>
                </a:solidFill>
              </a:rPr>
              <a:t>Notes</a:t>
            </a:r>
          </a:p>
          <a:p>
            <a:pPr algn="ctr"/>
            <a:endParaRPr lang="en-US" sz="1400">
              <a:solidFill>
                <a:srgbClr val="FF0000"/>
              </a:solidFill>
            </a:endParaRPr>
          </a:p>
        </p:txBody>
      </p:sp>
      <p:sp>
        <p:nvSpPr>
          <p:cNvPr id="9306" name="Text Box 90"/>
          <p:cNvSpPr txBox="1">
            <a:spLocks noChangeArrowheads="1"/>
          </p:cNvSpPr>
          <p:nvPr/>
        </p:nvSpPr>
        <p:spPr bwMode="auto">
          <a:xfrm>
            <a:off x="7010400" y="1600200"/>
            <a:ext cx="1143000" cy="1165225"/>
          </a:xfrm>
          <a:prstGeom prst="rect">
            <a:avLst/>
          </a:prstGeom>
          <a:solidFill>
            <a:srgbClr val="FFFF00"/>
          </a:solidFill>
          <a:ln w="9525">
            <a:solidFill>
              <a:srgbClr val="FF0000"/>
            </a:solidFill>
            <a:miter lim="800000"/>
            <a:headEnd/>
            <a:tailEnd/>
          </a:ln>
          <a:effectLst/>
        </p:spPr>
        <p:txBody>
          <a:bodyPr>
            <a:spAutoFit/>
          </a:bodyPr>
          <a:lstStyle/>
          <a:p>
            <a:pPr algn="ctr"/>
            <a:endParaRPr lang="en-US" sz="1400">
              <a:solidFill>
                <a:srgbClr val="FF0000"/>
              </a:solidFill>
            </a:endParaRPr>
          </a:p>
          <a:p>
            <a:pPr algn="ctr"/>
            <a:r>
              <a:rPr lang="en-US" sz="1400">
                <a:solidFill>
                  <a:srgbClr val="FF0000"/>
                </a:solidFill>
              </a:rPr>
              <a:t>Update</a:t>
            </a:r>
          </a:p>
          <a:p>
            <a:pPr algn="ctr"/>
            <a:r>
              <a:rPr lang="en-US" sz="1400">
                <a:solidFill>
                  <a:srgbClr val="FF0000"/>
                </a:solidFill>
              </a:rPr>
              <a:t>Mailing</a:t>
            </a:r>
          </a:p>
          <a:p>
            <a:pPr algn="ctr"/>
            <a:r>
              <a:rPr lang="en-US" sz="1400">
                <a:solidFill>
                  <a:srgbClr val="FF0000"/>
                </a:solidFill>
              </a:rPr>
              <a:t>List</a:t>
            </a:r>
          </a:p>
          <a:p>
            <a:pPr algn="ctr"/>
            <a:endParaRPr lang="en-US" sz="1400">
              <a:solidFill>
                <a:srgbClr val="FF0000"/>
              </a:solidFill>
            </a:endParaRPr>
          </a:p>
        </p:txBody>
      </p:sp>
      <p:sp>
        <p:nvSpPr>
          <p:cNvPr id="9307" name="Text Box 91"/>
          <p:cNvSpPr txBox="1">
            <a:spLocks noChangeArrowheads="1"/>
          </p:cNvSpPr>
          <p:nvPr/>
        </p:nvSpPr>
        <p:spPr bwMode="auto">
          <a:xfrm>
            <a:off x="1524000" y="3276600"/>
            <a:ext cx="1295400" cy="952500"/>
          </a:xfrm>
          <a:prstGeom prst="rect">
            <a:avLst/>
          </a:prstGeom>
          <a:solidFill>
            <a:srgbClr val="FFFF00"/>
          </a:solidFill>
          <a:ln w="9525">
            <a:solidFill>
              <a:srgbClr val="FF0000"/>
            </a:solidFill>
            <a:miter lim="800000"/>
            <a:headEnd/>
            <a:tailEnd/>
          </a:ln>
          <a:effectLst/>
        </p:spPr>
        <p:txBody>
          <a:bodyPr>
            <a:spAutoFit/>
          </a:bodyPr>
          <a:lstStyle/>
          <a:p>
            <a:pPr algn="ctr"/>
            <a:endParaRPr lang="en-US" sz="1400">
              <a:solidFill>
                <a:srgbClr val="FF0000"/>
              </a:solidFill>
            </a:endParaRPr>
          </a:p>
          <a:p>
            <a:pPr algn="ctr"/>
            <a:r>
              <a:rPr lang="en-US" sz="1400">
                <a:solidFill>
                  <a:srgbClr val="FF0000"/>
                </a:solidFill>
              </a:rPr>
              <a:t>Professional</a:t>
            </a:r>
          </a:p>
          <a:p>
            <a:pPr algn="ctr"/>
            <a:r>
              <a:rPr lang="en-US" sz="1400">
                <a:solidFill>
                  <a:srgbClr val="FF0000"/>
                </a:solidFill>
              </a:rPr>
              <a:t>Meetings</a:t>
            </a:r>
          </a:p>
          <a:p>
            <a:pPr algn="ctr"/>
            <a:endParaRPr lang="en-US" sz="1400">
              <a:solidFill>
                <a:srgbClr val="FF0000"/>
              </a:solidFill>
            </a:endParaRPr>
          </a:p>
        </p:txBody>
      </p:sp>
      <p:sp>
        <p:nvSpPr>
          <p:cNvPr id="9308" name="Text Box 92"/>
          <p:cNvSpPr txBox="1">
            <a:spLocks noChangeArrowheads="1"/>
          </p:cNvSpPr>
          <p:nvPr/>
        </p:nvSpPr>
        <p:spPr bwMode="auto">
          <a:xfrm>
            <a:off x="5638800" y="3352800"/>
            <a:ext cx="995363" cy="952500"/>
          </a:xfrm>
          <a:prstGeom prst="rect">
            <a:avLst/>
          </a:prstGeom>
          <a:solidFill>
            <a:srgbClr val="FFFF00"/>
          </a:solidFill>
          <a:ln w="9525">
            <a:solidFill>
              <a:srgbClr val="FF0000"/>
            </a:solidFill>
            <a:miter lim="800000"/>
            <a:headEnd/>
            <a:tailEnd/>
          </a:ln>
          <a:effectLst/>
        </p:spPr>
        <p:txBody>
          <a:bodyPr>
            <a:spAutoFit/>
          </a:bodyPr>
          <a:lstStyle/>
          <a:p>
            <a:pPr algn="ctr"/>
            <a:endParaRPr lang="en-US" sz="1400">
              <a:solidFill>
                <a:srgbClr val="FF0000"/>
              </a:solidFill>
            </a:endParaRPr>
          </a:p>
          <a:p>
            <a:pPr algn="ctr"/>
            <a:r>
              <a:rPr lang="en-US" sz="1400">
                <a:solidFill>
                  <a:srgbClr val="FF0000"/>
                </a:solidFill>
              </a:rPr>
              <a:t>Holiday</a:t>
            </a:r>
          </a:p>
          <a:p>
            <a:pPr algn="ctr"/>
            <a:r>
              <a:rPr lang="en-US" sz="1400">
                <a:solidFill>
                  <a:srgbClr val="FF0000"/>
                </a:solidFill>
              </a:rPr>
              <a:t>Cards</a:t>
            </a:r>
          </a:p>
          <a:p>
            <a:pPr algn="ctr"/>
            <a:endParaRPr lang="en-US" sz="1400">
              <a:solidFill>
                <a:srgbClr val="FF0000"/>
              </a:solidFill>
            </a:endParaRPr>
          </a:p>
        </p:txBody>
      </p:sp>
      <p:sp>
        <p:nvSpPr>
          <p:cNvPr id="9310" name="Text Box 94"/>
          <p:cNvSpPr txBox="1">
            <a:spLocks noChangeArrowheads="1"/>
          </p:cNvSpPr>
          <p:nvPr/>
        </p:nvSpPr>
        <p:spPr bwMode="auto">
          <a:xfrm>
            <a:off x="1828800" y="5029200"/>
            <a:ext cx="995363" cy="739775"/>
          </a:xfrm>
          <a:prstGeom prst="rect">
            <a:avLst/>
          </a:prstGeom>
          <a:solidFill>
            <a:srgbClr val="FFFF00"/>
          </a:solidFill>
          <a:ln w="9525">
            <a:solidFill>
              <a:srgbClr val="FF0000"/>
            </a:solidFill>
            <a:miter lim="800000"/>
            <a:headEnd/>
            <a:tailEnd/>
          </a:ln>
          <a:effectLst/>
        </p:spPr>
        <p:txBody>
          <a:bodyPr>
            <a:spAutoFit/>
          </a:bodyPr>
          <a:lstStyle/>
          <a:p>
            <a:pPr algn="ctr"/>
            <a:endParaRPr lang="en-US" sz="1400">
              <a:solidFill>
                <a:srgbClr val="FF0000"/>
              </a:solidFill>
            </a:endParaRPr>
          </a:p>
          <a:p>
            <a:pPr algn="ctr"/>
            <a:r>
              <a:rPr lang="en-US" sz="1400">
                <a:solidFill>
                  <a:srgbClr val="FF0000"/>
                </a:solidFill>
              </a:rPr>
              <a:t>Speeches</a:t>
            </a:r>
          </a:p>
          <a:p>
            <a:pPr algn="ctr"/>
            <a:endParaRPr lang="en-US" sz="1400">
              <a:solidFill>
                <a:srgbClr val="FF0000"/>
              </a:solidFill>
            </a:endParaRPr>
          </a:p>
        </p:txBody>
      </p:sp>
      <p:sp>
        <p:nvSpPr>
          <p:cNvPr id="9311" name="Text Box 95"/>
          <p:cNvSpPr txBox="1">
            <a:spLocks noChangeArrowheads="1"/>
          </p:cNvSpPr>
          <p:nvPr/>
        </p:nvSpPr>
        <p:spPr bwMode="auto">
          <a:xfrm>
            <a:off x="6400800" y="4876800"/>
            <a:ext cx="1524000" cy="952500"/>
          </a:xfrm>
          <a:prstGeom prst="rect">
            <a:avLst/>
          </a:prstGeom>
          <a:solidFill>
            <a:srgbClr val="FFFF00"/>
          </a:solidFill>
          <a:ln w="9525">
            <a:solidFill>
              <a:srgbClr val="FF0000"/>
            </a:solidFill>
            <a:miter lim="800000"/>
            <a:headEnd/>
            <a:tailEnd/>
          </a:ln>
          <a:effectLst/>
        </p:spPr>
        <p:txBody>
          <a:bodyPr>
            <a:spAutoFit/>
          </a:bodyPr>
          <a:lstStyle/>
          <a:p>
            <a:pPr algn="ctr"/>
            <a:endParaRPr lang="en-US" sz="1400">
              <a:solidFill>
                <a:srgbClr val="FF0000"/>
              </a:solidFill>
            </a:endParaRPr>
          </a:p>
          <a:p>
            <a:pPr algn="ctr"/>
            <a:r>
              <a:rPr lang="en-US" sz="1400">
                <a:solidFill>
                  <a:srgbClr val="FF0000"/>
                </a:solidFill>
              </a:rPr>
              <a:t>Job Seekers Clubs</a:t>
            </a:r>
          </a:p>
          <a:p>
            <a:pPr algn="ctr"/>
            <a:endParaRPr lang="en-US" sz="1400">
              <a:solidFill>
                <a:srgbClr val="FF0000"/>
              </a:solidFill>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box(out)">
                                      <p:cBhvr>
                                        <p:cTn id="7" dur="500"/>
                                        <p:tgtEl>
                                          <p:spTgt spid="9218"/>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9271"/>
                                        </p:tgtEl>
                                        <p:attrNameLst>
                                          <p:attrName>style.visibility</p:attrName>
                                        </p:attrNameLst>
                                      </p:cBhvr>
                                      <p:to>
                                        <p:strVal val="visible"/>
                                      </p:to>
                                    </p:set>
                                    <p:anim calcmode="lin" valueType="num">
                                      <p:cBhvr additive="base">
                                        <p:cTn id="11" dur="500" fill="hold"/>
                                        <p:tgtEl>
                                          <p:spTgt spid="9271"/>
                                        </p:tgtEl>
                                        <p:attrNameLst>
                                          <p:attrName>ppt_x</p:attrName>
                                        </p:attrNameLst>
                                      </p:cBhvr>
                                      <p:tavLst>
                                        <p:tav tm="0">
                                          <p:val>
                                            <p:strVal val="0-#ppt_w/2"/>
                                          </p:val>
                                        </p:tav>
                                        <p:tav tm="100000">
                                          <p:val>
                                            <p:strVal val="#ppt_x"/>
                                          </p:val>
                                        </p:tav>
                                      </p:tavLst>
                                    </p:anim>
                                    <p:anim calcmode="lin" valueType="num">
                                      <p:cBhvr additive="base">
                                        <p:cTn id="12" dur="500" fill="hold"/>
                                        <p:tgtEl>
                                          <p:spTgt spid="9271"/>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9324"/>
                                        </p:tgtEl>
                                        <p:attrNameLst>
                                          <p:attrName>style.visibility</p:attrName>
                                        </p:attrNameLst>
                                      </p:cBhvr>
                                      <p:to>
                                        <p:strVal val="visible"/>
                                      </p:to>
                                    </p:set>
                                    <p:anim calcmode="lin" valueType="num">
                                      <p:cBhvr additive="base">
                                        <p:cTn id="16" dur="500" fill="hold"/>
                                        <p:tgtEl>
                                          <p:spTgt spid="9324"/>
                                        </p:tgtEl>
                                        <p:attrNameLst>
                                          <p:attrName>ppt_x</p:attrName>
                                        </p:attrNameLst>
                                      </p:cBhvr>
                                      <p:tavLst>
                                        <p:tav tm="0">
                                          <p:val>
                                            <p:strVal val="0-#ppt_w/2"/>
                                          </p:val>
                                        </p:tav>
                                        <p:tav tm="100000">
                                          <p:val>
                                            <p:strVal val="#ppt_x"/>
                                          </p:val>
                                        </p:tav>
                                      </p:tavLst>
                                    </p:anim>
                                    <p:anim calcmode="lin" valueType="num">
                                      <p:cBhvr additive="base">
                                        <p:cTn id="17" dur="500" fill="hold"/>
                                        <p:tgtEl>
                                          <p:spTgt spid="9324"/>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8" fill="hold" nodeType="afterEffect">
                                  <p:stCondLst>
                                    <p:cond delay="0"/>
                                  </p:stCondLst>
                                  <p:childTnLst>
                                    <p:set>
                                      <p:cBhvr>
                                        <p:cTn id="20" dur="1" fill="hold">
                                          <p:stCondLst>
                                            <p:cond delay="0"/>
                                          </p:stCondLst>
                                        </p:cTn>
                                        <p:tgtEl>
                                          <p:spTgt spid="9273"/>
                                        </p:tgtEl>
                                        <p:attrNameLst>
                                          <p:attrName>style.visibility</p:attrName>
                                        </p:attrNameLst>
                                      </p:cBhvr>
                                      <p:to>
                                        <p:strVal val="visible"/>
                                      </p:to>
                                    </p:set>
                                    <p:anim calcmode="lin" valueType="num">
                                      <p:cBhvr additive="base">
                                        <p:cTn id="21" dur="500" fill="hold"/>
                                        <p:tgtEl>
                                          <p:spTgt spid="9273"/>
                                        </p:tgtEl>
                                        <p:attrNameLst>
                                          <p:attrName>ppt_x</p:attrName>
                                        </p:attrNameLst>
                                      </p:cBhvr>
                                      <p:tavLst>
                                        <p:tav tm="0">
                                          <p:val>
                                            <p:strVal val="0-#ppt_w/2"/>
                                          </p:val>
                                        </p:tav>
                                        <p:tav tm="100000">
                                          <p:val>
                                            <p:strVal val="#ppt_x"/>
                                          </p:val>
                                        </p:tav>
                                      </p:tavLst>
                                    </p:anim>
                                    <p:anim calcmode="lin" valueType="num">
                                      <p:cBhvr additive="base">
                                        <p:cTn id="22" dur="500" fill="hold"/>
                                        <p:tgtEl>
                                          <p:spTgt spid="9273"/>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8" fill="hold" grpId="0" nodeType="afterEffect">
                                  <p:stCondLst>
                                    <p:cond delay="0"/>
                                  </p:stCondLst>
                                  <p:childTnLst>
                                    <p:set>
                                      <p:cBhvr>
                                        <p:cTn id="25" dur="1" fill="hold">
                                          <p:stCondLst>
                                            <p:cond delay="0"/>
                                          </p:stCondLst>
                                        </p:cTn>
                                        <p:tgtEl>
                                          <p:spTgt spid="9305"/>
                                        </p:tgtEl>
                                        <p:attrNameLst>
                                          <p:attrName>style.visibility</p:attrName>
                                        </p:attrNameLst>
                                      </p:cBhvr>
                                      <p:to>
                                        <p:strVal val="visible"/>
                                      </p:to>
                                    </p:set>
                                    <p:anim calcmode="lin" valueType="num">
                                      <p:cBhvr additive="base">
                                        <p:cTn id="26" dur="500" fill="hold"/>
                                        <p:tgtEl>
                                          <p:spTgt spid="9305"/>
                                        </p:tgtEl>
                                        <p:attrNameLst>
                                          <p:attrName>ppt_x</p:attrName>
                                        </p:attrNameLst>
                                      </p:cBhvr>
                                      <p:tavLst>
                                        <p:tav tm="0">
                                          <p:val>
                                            <p:strVal val="0-#ppt_w/2"/>
                                          </p:val>
                                        </p:tav>
                                        <p:tav tm="100000">
                                          <p:val>
                                            <p:strVal val="#ppt_x"/>
                                          </p:val>
                                        </p:tav>
                                      </p:tavLst>
                                    </p:anim>
                                    <p:anim calcmode="lin" valueType="num">
                                      <p:cBhvr additive="base">
                                        <p:cTn id="27" dur="500" fill="hold"/>
                                        <p:tgtEl>
                                          <p:spTgt spid="9305"/>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8" fill="hold" grpId="0" nodeType="afterEffect">
                                  <p:stCondLst>
                                    <p:cond delay="0"/>
                                  </p:stCondLst>
                                  <p:childTnLst>
                                    <p:set>
                                      <p:cBhvr>
                                        <p:cTn id="30" dur="1" fill="hold">
                                          <p:stCondLst>
                                            <p:cond delay="0"/>
                                          </p:stCondLst>
                                        </p:cTn>
                                        <p:tgtEl>
                                          <p:spTgt spid="9306"/>
                                        </p:tgtEl>
                                        <p:attrNameLst>
                                          <p:attrName>style.visibility</p:attrName>
                                        </p:attrNameLst>
                                      </p:cBhvr>
                                      <p:to>
                                        <p:strVal val="visible"/>
                                      </p:to>
                                    </p:set>
                                    <p:anim calcmode="lin" valueType="num">
                                      <p:cBhvr additive="base">
                                        <p:cTn id="31" dur="500" fill="hold"/>
                                        <p:tgtEl>
                                          <p:spTgt spid="9306"/>
                                        </p:tgtEl>
                                        <p:attrNameLst>
                                          <p:attrName>ppt_x</p:attrName>
                                        </p:attrNameLst>
                                      </p:cBhvr>
                                      <p:tavLst>
                                        <p:tav tm="0">
                                          <p:val>
                                            <p:strVal val="0-#ppt_w/2"/>
                                          </p:val>
                                        </p:tav>
                                        <p:tav tm="100000">
                                          <p:val>
                                            <p:strVal val="#ppt_x"/>
                                          </p:val>
                                        </p:tav>
                                      </p:tavLst>
                                    </p:anim>
                                    <p:anim calcmode="lin" valueType="num">
                                      <p:cBhvr additive="base">
                                        <p:cTn id="32" dur="500" fill="hold"/>
                                        <p:tgtEl>
                                          <p:spTgt spid="9306"/>
                                        </p:tgtEl>
                                        <p:attrNameLst>
                                          <p:attrName>ppt_y</p:attrName>
                                        </p:attrNameLst>
                                      </p:cBhvr>
                                      <p:tavLst>
                                        <p:tav tm="0">
                                          <p:val>
                                            <p:strVal val="#ppt_y"/>
                                          </p:val>
                                        </p:tav>
                                        <p:tav tm="100000">
                                          <p:val>
                                            <p:strVal val="#ppt_y"/>
                                          </p:val>
                                        </p:tav>
                                      </p:tavLst>
                                    </p:anim>
                                  </p:childTnLst>
                                </p:cTn>
                              </p:par>
                            </p:childTnLst>
                          </p:cTn>
                        </p:par>
                        <p:par>
                          <p:cTn id="33" fill="hold">
                            <p:stCondLst>
                              <p:cond delay="3000"/>
                            </p:stCondLst>
                            <p:childTnLst>
                              <p:par>
                                <p:cTn id="34" presetID="2" presetClass="entr" presetSubtype="8" fill="hold" grpId="0" nodeType="afterEffect">
                                  <p:stCondLst>
                                    <p:cond delay="0"/>
                                  </p:stCondLst>
                                  <p:childTnLst>
                                    <p:set>
                                      <p:cBhvr>
                                        <p:cTn id="35" dur="1" fill="hold">
                                          <p:stCondLst>
                                            <p:cond delay="0"/>
                                          </p:stCondLst>
                                        </p:cTn>
                                        <p:tgtEl>
                                          <p:spTgt spid="9307"/>
                                        </p:tgtEl>
                                        <p:attrNameLst>
                                          <p:attrName>style.visibility</p:attrName>
                                        </p:attrNameLst>
                                      </p:cBhvr>
                                      <p:to>
                                        <p:strVal val="visible"/>
                                      </p:to>
                                    </p:set>
                                    <p:anim calcmode="lin" valueType="num">
                                      <p:cBhvr additive="base">
                                        <p:cTn id="36" dur="500" fill="hold"/>
                                        <p:tgtEl>
                                          <p:spTgt spid="9307"/>
                                        </p:tgtEl>
                                        <p:attrNameLst>
                                          <p:attrName>ppt_x</p:attrName>
                                        </p:attrNameLst>
                                      </p:cBhvr>
                                      <p:tavLst>
                                        <p:tav tm="0">
                                          <p:val>
                                            <p:strVal val="0-#ppt_w/2"/>
                                          </p:val>
                                        </p:tav>
                                        <p:tav tm="100000">
                                          <p:val>
                                            <p:strVal val="#ppt_x"/>
                                          </p:val>
                                        </p:tav>
                                      </p:tavLst>
                                    </p:anim>
                                    <p:anim calcmode="lin" valueType="num">
                                      <p:cBhvr additive="base">
                                        <p:cTn id="37" dur="500" fill="hold"/>
                                        <p:tgtEl>
                                          <p:spTgt spid="9307"/>
                                        </p:tgtEl>
                                        <p:attrNameLst>
                                          <p:attrName>ppt_y</p:attrName>
                                        </p:attrNameLst>
                                      </p:cBhvr>
                                      <p:tavLst>
                                        <p:tav tm="0">
                                          <p:val>
                                            <p:strVal val="#ppt_y"/>
                                          </p:val>
                                        </p:tav>
                                        <p:tav tm="100000">
                                          <p:val>
                                            <p:strVal val="#ppt_y"/>
                                          </p:val>
                                        </p:tav>
                                      </p:tavLst>
                                    </p:anim>
                                  </p:childTnLst>
                                </p:cTn>
                              </p:par>
                            </p:childTnLst>
                          </p:cTn>
                        </p:par>
                        <p:par>
                          <p:cTn id="38" fill="hold">
                            <p:stCondLst>
                              <p:cond delay="3500"/>
                            </p:stCondLst>
                            <p:childTnLst>
                              <p:par>
                                <p:cTn id="39" presetID="2" presetClass="entr" presetSubtype="8" fill="hold" grpId="0" nodeType="afterEffect">
                                  <p:stCondLst>
                                    <p:cond delay="0"/>
                                  </p:stCondLst>
                                  <p:childTnLst>
                                    <p:set>
                                      <p:cBhvr>
                                        <p:cTn id="40" dur="1" fill="hold">
                                          <p:stCondLst>
                                            <p:cond delay="0"/>
                                          </p:stCondLst>
                                        </p:cTn>
                                        <p:tgtEl>
                                          <p:spTgt spid="9308"/>
                                        </p:tgtEl>
                                        <p:attrNameLst>
                                          <p:attrName>style.visibility</p:attrName>
                                        </p:attrNameLst>
                                      </p:cBhvr>
                                      <p:to>
                                        <p:strVal val="visible"/>
                                      </p:to>
                                    </p:set>
                                    <p:anim calcmode="lin" valueType="num">
                                      <p:cBhvr additive="base">
                                        <p:cTn id="41" dur="500" fill="hold"/>
                                        <p:tgtEl>
                                          <p:spTgt spid="9308"/>
                                        </p:tgtEl>
                                        <p:attrNameLst>
                                          <p:attrName>ppt_x</p:attrName>
                                        </p:attrNameLst>
                                      </p:cBhvr>
                                      <p:tavLst>
                                        <p:tav tm="0">
                                          <p:val>
                                            <p:strVal val="0-#ppt_w/2"/>
                                          </p:val>
                                        </p:tav>
                                        <p:tav tm="100000">
                                          <p:val>
                                            <p:strVal val="#ppt_x"/>
                                          </p:val>
                                        </p:tav>
                                      </p:tavLst>
                                    </p:anim>
                                    <p:anim calcmode="lin" valueType="num">
                                      <p:cBhvr additive="base">
                                        <p:cTn id="42" dur="500" fill="hold"/>
                                        <p:tgtEl>
                                          <p:spTgt spid="9308"/>
                                        </p:tgtEl>
                                        <p:attrNameLst>
                                          <p:attrName>ppt_y</p:attrName>
                                        </p:attrNameLst>
                                      </p:cBhvr>
                                      <p:tavLst>
                                        <p:tav tm="0">
                                          <p:val>
                                            <p:strVal val="#ppt_y"/>
                                          </p:val>
                                        </p:tav>
                                        <p:tav tm="100000">
                                          <p:val>
                                            <p:strVal val="#ppt_y"/>
                                          </p:val>
                                        </p:tav>
                                      </p:tavLst>
                                    </p:anim>
                                  </p:childTnLst>
                                </p:cTn>
                              </p:par>
                            </p:childTnLst>
                          </p:cTn>
                        </p:par>
                        <p:par>
                          <p:cTn id="43" fill="hold">
                            <p:stCondLst>
                              <p:cond delay="4000"/>
                            </p:stCondLst>
                            <p:childTnLst>
                              <p:par>
                                <p:cTn id="44" presetID="2" presetClass="entr" presetSubtype="8" fill="hold" grpId="0" nodeType="afterEffect">
                                  <p:stCondLst>
                                    <p:cond delay="0"/>
                                  </p:stCondLst>
                                  <p:childTnLst>
                                    <p:set>
                                      <p:cBhvr>
                                        <p:cTn id="45" dur="1" fill="hold">
                                          <p:stCondLst>
                                            <p:cond delay="0"/>
                                          </p:stCondLst>
                                        </p:cTn>
                                        <p:tgtEl>
                                          <p:spTgt spid="9310"/>
                                        </p:tgtEl>
                                        <p:attrNameLst>
                                          <p:attrName>style.visibility</p:attrName>
                                        </p:attrNameLst>
                                      </p:cBhvr>
                                      <p:to>
                                        <p:strVal val="visible"/>
                                      </p:to>
                                    </p:set>
                                    <p:anim calcmode="lin" valueType="num">
                                      <p:cBhvr additive="base">
                                        <p:cTn id="46" dur="500" fill="hold"/>
                                        <p:tgtEl>
                                          <p:spTgt spid="9310"/>
                                        </p:tgtEl>
                                        <p:attrNameLst>
                                          <p:attrName>ppt_x</p:attrName>
                                        </p:attrNameLst>
                                      </p:cBhvr>
                                      <p:tavLst>
                                        <p:tav tm="0">
                                          <p:val>
                                            <p:strVal val="0-#ppt_w/2"/>
                                          </p:val>
                                        </p:tav>
                                        <p:tav tm="100000">
                                          <p:val>
                                            <p:strVal val="#ppt_x"/>
                                          </p:val>
                                        </p:tav>
                                      </p:tavLst>
                                    </p:anim>
                                    <p:anim calcmode="lin" valueType="num">
                                      <p:cBhvr additive="base">
                                        <p:cTn id="47" dur="500" fill="hold"/>
                                        <p:tgtEl>
                                          <p:spTgt spid="9310"/>
                                        </p:tgtEl>
                                        <p:attrNameLst>
                                          <p:attrName>ppt_y</p:attrName>
                                        </p:attrNameLst>
                                      </p:cBhvr>
                                      <p:tavLst>
                                        <p:tav tm="0">
                                          <p:val>
                                            <p:strVal val="#ppt_y"/>
                                          </p:val>
                                        </p:tav>
                                        <p:tav tm="100000">
                                          <p:val>
                                            <p:strVal val="#ppt_y"/>
                                          </p:val>
                                        </p:tav>
                                      </p:tavLst>
                                    </p:anim>
                                  </p:childTnLst>
                                </p:cTn>
                              </p:par>
                            </p:childTnLst>
                          </p:cTn>
                        </p:par>
                        <p:par>
                          <p:cTn id="48" fill="hold">
                            <p:stCondLst>
                              <p:cond delay="4500"/>
                            </p:stCondLst>
                            <p:childTnLst>
                              <p:par>
                                <p:cTn id="49" presetID="2" presetClass="entr" presetSubtype="8" fill="hold" grpId="0" nodeType="afterEffect">
                                  <p:stCondLst>
                                    <p:cond delay="0"/>
                                  </p:stCondLst>
                                  <p:childTnLst>
                                    <p:set>
                                      <p:cBhvr>
                                        <p:cTn id="50" dur="1" fill="hold">
                                          <p:stCondLst>
                                            <p:cond delay="0"/>
                                          </p:stCondLst>
                                        </p:cTn>
                                        <p:tgtEl>
                                          <p:spTgt spid="9311"/>
                                        </p:tgtEl>
                                        <p:attrNameLst>
                                          <p:attrName>style.visibility</p:attrName>
                                        </p:attrNameLst>
                                      </p:cBhvr>
                                      <p:to>
                                        <p:strVal val="visible"/>
                                      </p:to>
                                    </p:set>
                                    <p:anim calcmode="lin" valueType="num">
                                      <p:cBhvr additive="base">
                                        <p:cTn id="51" dur="500" fill="hold"/>
                                        <p:tgtEl>
                                          <p:spTgt spid="9311"/>
                                        </p:tgtEl>
                                        <p:attrNameLst>
                                          <p:attrName>ppt_x</p:attrName>
                                        </p:attrNameLst>
                                      </p:cBhvr>
                                      <p:tavLst>
                                        <p:tav tm="0">
                                          <p:val>
                                            <p:strVal val="0-#ppt_w/2"/>
                                          </p:val>
                                        </p:tav>
                                        <p:tav tm="100000">
                                          <p:val>
                                            <p:strVal val="#ppt_x"/>
                                          </p:val>
                                        </p:tav>
                                      </p:tavLst>
                                    </p:anim>
                                    <p:anim calcmode="lin" valueType="num">
                                      <p:cBhvr additive="base">
                                        <p:cTn id="52" dur="500" fill="hold"/>
                                        <p:tgtEl>
                                          <p:spTgt spid="93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305" grpId="0" animBg="1" autoUpdateAnimBg="0"/>
      <p:bldP spid="9306" grpId="0" animBg="1" autoUpdateAnimBg="0"/>
      <p:bldP spid="9307" grpId="0" animBg="1" autoUpdateAnimBg="0"/>
      <p:bldP spid="9308" grpId="0" animBg="1" autoUpdateAnimBg="0"/>
      <p:bldP spid="9310" grpId="0" animBg="1" autoUpdateAnimBg="0"/>
      <p:bldP spid="9311"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854E2B02-F5D6-4710-9971-262F5A5D325F}" type="slidenum">
              <a:rPr lang="en-US"/>
              <a:pPr/>
              <a:t>17</a:t>
            </a:fld>
            <a:endParaRPr lang="en-US"/>
          </a:p>
        </p:txBody>
      </p:sp>
      <p:sp>
        <p:nvSpPr>
          <p:cNvPr id="116738"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6739"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6740" name="Text Box 4"/>
          <p:cNvSpPr txBox="1">
            <a:spLocks noChangeArrowheads="1"/>
          </p:cNvSpPr>
          <p:nvPr/>
        </p:nvSpPr>
        <p:spPr bwMode="auto">
          <a:xfrm>
            <a:off x="1371600" y="381000"/>
            <a:ext cx="6705600" cy="946150"/>
          </a:xfrm>
          <a:prstGeom prst="rect">
            <a:avLst/>
          </a:prstGeom>
          <a:noFill/>
          <a:ln w="9525">
            <a:noFill/>
            <a:miter lim="800000"/>
            <a:headEnd/>
            <a:tailEnd/>
          </a:ln>
          <a:effectLst/>
        </p:spPr>
        <p:txBody>
          <a:bodyPr>
            <a:spAutoFit/>
          </a:bodyPr>
          <a:lstStyle/>
          <a:p>
            <a:pPr algn="ctr"/>
            <a:r>
              <a:rPr lang="en-US" b="1">
                <a:solidFill>
                  <a:srgbClr val="000099"/>
                </a:solidFill>
              </a:rPr>
              <a:t>Building Your Consulting Business One Relationship At A Time</a:t>
            </a:r>
          </a:p>
        </p:txBody>
      </p:sp>
      <p:sp>
        <p:nvSpPr>
          <p:cNvPr id="116741" name="Text Box 5"/>
          <p:cNvSpPr txBox="1">
            <a:spLocks noChangeArrowheads="1"/>
          </p:cNvSpPr>
          <p:nvPr/>
        </p:nvSpPr>
        <p:spPr bwMode="auto">
          <a:xfrm>
            <a:off x="1600200" y="1635125"/>
            <a:ext cx="6040438" cy="3663950"/>
          </a:xfrm>
          <a:prstGeom prst="rect">
            <a:avLst/>
          </a:prstGeom>
          <a:noFill/>
          <a:ln w="9525">
            <a:noFill/>
            <a:miter lim="800000"/>
            <a:headEnd/>
            <a:tailEnd/>
          </a:ln>
          <a:effectLst/>
        </p:spPr>
        <p:txBody>
          <a:bodyPr wrap="none">
            <a:spAutoFit/>
          </a:bodyPr>
          <a:lstStyle/>
          <a:p>
            <a:pPr marL="457200" indent="-457200">
              <a:lnSpc>
                <a:spcPct val="150000"/>
              </a:lnSpc>
              <a:buClr>
                <a:srgbClr val="009900"/>
              </a:buClr>
              <a:buFont typeface="Wingdings" pitchFamily="2" charset="2"/>
              <a:buAutoNum type="arabicPeriod"/>
            </a:pPr>
            <a:r>
              <a:rPr lang="en-US" sz="2600" b="1">
                <a:solidFill>
                  <a:srgbClr val="66CCFF"/>
                </a:solidFill>
              </a:rPr>
              <a:t>  Introduction</a:t>
            </a:r>
          </a:p>
          <a:p>
            <a:pPr marL="457200" indent="-457200">
              <a:lnSpc>
                <a:spcPct val="150000"/>
              </a:lnSpc>
              <a:buClr>
                <a:srgbClr val="009900"/>
              </a:buClr>
              <a:buFont typeface="Wingdings" pitchFamily="2" charset="2"/>
              <a:buAutoNum type="arabicPeriod"/>
            </a:pPr>
            <a:r>
              <a:rPr lang="en-US" sz="2600" b="1">
                <a:solidFill>
                  <a:srgbClr val="66CCFF"/>
                </a:solidFill>
              </a:rPr>
              <a:t>  Lessons Learned</a:t>
            </a:r>
          </a:p>
          <a:p>
            <a:pPr marL="457200" indent="-457200">
              <a:lnSpc>
                <a:spcPct val="150000"/>
              </a:lnSpc>
              <a:buClr>
                <a:srgbClr val="009900"/>
              </a:buClr>
              <a:buFont typeface="Wingdings" pitchFamily="2" charset="2"/>
              <a:buAutoNum type="arabicPeriod"/>
            </a:pPr>
            <a:r>
              <a:rPr lang="en-US" sz="2600" b="1">
                <a:solidFill>
                  <a:srgbClr val="66CCFF"/>
                </a:solidFill>
              </a:rPr>
              <a:t>  Building a National Practice</a:t>
            </a:r>
          </a:p>
          <a:p>
            <a:pPr marL="457200" indent="-457200">
              <a:lnSpc>
                <a:spcPct val="150000"/>
              </a:lnSpc>
              <a:buClr>
                <a:srgbClr val="009900"/>
              </a:buClr>
              <a:buFont typeface="Wingdings" pitchFamily="2" charset="2"/>
              <a:buAutoNum type="arabicPeriod"/>
            </a:pPr>
            <a:r>
              <a:rPr lang="en-US" sz="2600" b="1">
                <a:solidFill>
                  <a:srgbClr val="66CCFF"/>
                </a:solidFill>
              </a:rPr>
              <a:t>  Networking Do’s and Don’ts</a:t>
            </a:r>
          </a:p>
          <a:p>
            <a:pPr marL="457200" indent="-457200">
              <a:lnSpc>
                <a:spcPct val="150000"/>
              </a:lnSpc>
              <a:buClr>
                <a:srgbClr val="009900"/>
              </a:buClr>
              <a:buFont typeface="Wingdings" pitchFamily="2" charset="2"/>
              <a:buAutoNum type="arabicPeriod"/>
            </a:pPr>
            <a:r>
              <a:rPr lang="en-US" sz="2600" b="1">
                <a:solidFill>
                  <a:srgbClr val="66CCFF"/>
                </a:solidFill>
              </a:rPr>
              <a:t>  How To Keep Your Network Alive</a:t>
            </a:r>
          </a:p>
          <a:p>
            <a:pPr marL="457200" indent="-457200">
              <a:lnSpc>
                <a:spcPct val="150000"/>
              </a:lnSpc>
              <a:buClr>
                <a:srgbClr val="009900"/>
              </a:buClr>
              <a:buFont typeface="Wingdings" pitchFamily="2" charset="2"/>
              <a:buAutoNum type="arabicPeriod"/>
            </a:pPr>
            <a:r>
              <a:rPr lang="en-US" sz="2600" b="1">
                <a:solidFill>
                  <a:srgbClr val="000099"/>
                </a:solidFill>
              </a:rPr>
              <a:t>  Extending Your Reach</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6740"/>
                                        </p:tgtEl>
                                        <p:attrNameLst>
                                          <p:attrName>style.visibility</p:attrName>
                                        </p:attrNameLst>
                                      </p:cBhvr>
                                      <p:to>
                                        <p:strVal val="visible"/>
                                      </p:to>
                                    </p:set>
                                    <p:animEffect transition="in" filter="dissolve">
                                      <p:cBhvr>
                                        <p:cTn id="7" dur="500"/>
                                        <p:tgtEl>
                                          <p:spTgt spid="11674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6741">
                                            <p:txEl>
                                              <p:pRg st="0" end="0"/>
                                            </p:txEl>
                                          </p:spTgt>
                                        </p:tgtEl>
                                        <p:attrNameLst>
                                          <p:attrName>style.visibility</p:attrName>
                                        </p:attrNameLst>
                                      </p:cBhvr>
                                      <p:to>
                                        <p:strVal val="visible"/>
                                      </p:to>
                                    </p:set>
                                    <p:animEffect transition="in" filter="dissolve">
                                      <p:cBhvr>
                                        <p:cTn id="11" dur="500"/>
                                        <p:tgtEl>
                                          <p:spTgt spid="116741">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6741">
                                            <p:txEl>
                                              <p:pRg st="1" end="1"/>
                                            </p:txEl>
                                          </p:spTgt>
                                        </p:tgtEl>
                                        <p:attrNameLst>
                                          <p:attrName>style.visibility</p:attrName>
                                        </p:attrNameLst>
                                      </p:cBhvr>
                                      <p:to>
                                        <p:strVal val="visible"/>
                                      </p:to>
                                    </p:set>
                                    <p:animEffect transition="in" filter="dissolve">
                                      <p:cBhvr>
                                        <p:cTn id="15" dur="500"/>
                                        <p:tgtEl>
                                          <p:spTgt spid="116741">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6741">
                                            <p:txEl>
                                              <p:pRg st="2" end="2"/>
                                            </p:txEl>
                                          </p:spTgt>
                                        </p:tgtEl>
                                        <p:attrNameLst>
                                          <p:attrName>style.visibility</p:attrName>
                                        </p:attrNameLst>
                                      </p:cBhvr>
                                      <p:to>
                                        <p:strVal val="visible"/>
                                      </p:to>
                                    </p:set>
                                    <p:animEffect transition="in" filter="dissolve">
                                      <p:cBhvr>
                                        <p:cTn id="19" dur="500"/>
                                        <p:tgtEl>
                                          <p:spTgt spid="116741">
                                            <p:txEl>
                                              <p:pRg st="2" end="2"/>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16741">
                                            <p:txEl>
                                              <p:pRg st="3" end="3"/>
                                            </p:txEl>
                                          </p:spTgt>
                                        </p:tgtEl>
                                        <p:attrNameLst>
                                          <p:attrName>style.visibility</p:attrName>
                                        </p:attrNameLst>
                                      </p:cBhvr>
                                      <p:to>
                                        <p:strVal val="visible"/>
                                      </p:to>
                                    </p:set>
                                    <p:animEffect transition="in" filter="dissolve">
                                      <p:cBhvr>
                                        <p:cTn id="23" dur="500"/>
                                        <p:tgtEl>
                                          <p:spTgt spid="116741">
                                            <p:txEl>
                                              <p:pRg st="3" end="3"/>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16741">
                                            <p:txEl>
                                              <p:pRg st="4" end="4"/>
                                            </p:txEl>
                                          </p:spTgt>
                                        </p:tgtEl>
                                        <p:attrNameLst>
                                          <p:attrName>style.visibility</p:attrName>
                                        </p:attrNameLst>
                                      </p:cBhvr>
                                      <p:to>
                                        <p:strVal val="visible"/>
                                      </p:to>
                                    </p:set>
                                    <p:animEffect transition="in" filter="dissolve">
                                      <p:cBhvr>
                                        <p:cTn id="27" dur="500"/>
                                        <p:tgtEl>
                                          <p:spTgt spid="116741">
                                            <p:txEl>
                                              <p:pRg st="4" end="4"/>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16741">
                                            <p:txEl>
                                              <p:pRg st="5" end="5"/>
                                            </p:txEl>
                                          </p:spTgt>
                                        </p:tgtEl>
                                        <p:attrNameLst>
                                          <p:attrName>style.visibility</p:attrName>
                                        </p:attrNameLst>
                                      </p:cBhvr>
                                      <p:to>
                                        <p:strVal val="visible"/>
                                      </p:to>
                                    </p:set>
                                    <p:animEffect transition="in" filter="dissolve">
                                      <p:cBhvr>
                                        <p:cTn id="31" dur="500"/>
                                        <p:tgtEl>
                                          <p:spTgt spid="11674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autoUpdateAnimBg="0"/>
      <p:bldP spid="116741" grpId="0" build="p" autoUpdateAnimBg="0"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3CD7760C-A0D7-4FAC-82C6-7921A08540AD}" type="slidenum">
              <a:rPr lang="en-US"/>
              <a:pPr/>
              <a:t>18</a:t>
            </a:fld>
            <a:endParaRPr lang="en-US"/>
          </a:p>
        </p:txBody>
      </p:sp>
      <p:sp>
        <p:nvSpPr>
          <p:cNvPr id="117762"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7763"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7764" name="Text Box 4"/>
          <p:cNvSpPr txBox="1">
            <a:spLocks noChangeArrowheads="1"/>
          </p:cNvSpPr>
          <p:nvPr/>
        </p:nvSpPr>
        <p:spPr bwMode="auto">
          <a:xfrm>
            <a:off x="838200" y="1181100"/>
            <a:ext cx="7399338" cy="4076700"/>
          </a:xfrm>
          <a:prstGeom prst="rect">
            <a:avLst/>
          </a:prstGeom>
          <a:noFill/>
          <a:ln w="9525">
            <a:noFill/>
            <a:miter lim="800000"/>
            <a:headEnd/>
            <a:tailEnd/>
          </a:ln>
          <a:effectLst/>
        </p:spPr>
        <p:txBody>
          <a:bodyPr wrap="none">
            <a:spAutoFit/>
          </a:bodyPr>
          <a:lstStyle/>
          <a:p>
            <a:pPr marL="457200" indent="-457200">
              <a:spcAft>
                <a:spcPct val="20000"/>
              </a:spcAft>
              <a:buClr>
                <a:srgbClr val="009900"/>
              </a:buClr>
              <a:buFont typeface="Wingdings" pitchFamily="2" charset="2"/>
              <a:buChar char="Ø"/>
            </a:pPr>
            <a:r>
              <a:rPr lang="en-US" sz="2600" b="1">
                <a:solidFill>
                  <a:srgbClr val="000099"/>
                </a:solidFill>
              </a:rPr>
              <a:t>Help your client think through </a:t>
            </a:r>
          </a:p>
          <a:p>
            <a:pPr marL="457200" indent="-457200">
              <a:spcAft>
                <a:spcPct val="20000"/>
              </a:spcAft>
              <a:buClr>
                <a:srgbClr val="009900"/>
              </a:buClr>
              <a:buFont typeface="Wingdings" pitchFamily="2" charset="2"/>
              <a:buNone/>
            </a:pPr>
            <a:r>
              <a:rPr lang="en-US" sz="2600" b="1">
                <a:solidFill>
                  <a:srgbClr val="000099"/>
                </a:solidFill>
              </a:rPr>
              <a:t>	the business case for the project</a:t>
            </a:r>
          </a:p>
          <a:p>
            <a:pPr marL="457200" indent="-457200">
              <a:spcAft>
                <a:spcPct val="20000"/>
              </a:spcAft>
              <a:buClr>
                <a:srgbClr val="009900"/>
              </a:buClr>
              <a:buFont typeface="Wingdings" pitchFamily="2" charset="2"/>
              <a:buNone/>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Prompt the discussion about buy-in issues</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Prepare talking points, notes, slides </a:t>
            </a:r>
          </a:p>
          <a:p>
            <a:pPr marL="457200" indent="-457200">
              <a:spcAft>
                <a:spcPct val="20000"/>
              </a:spcAft>
              <a:buClr>
                <a:srgbClr val="009900"/>
              </a:buClr>
              <a:buFont typeface="Wingdings" pitchFamily="2" charset="2"/>
              <a:buNone/>
            </a:pPr>
            <a:r>
              <a:rPr lang="en-US" sz="2600" b="1">
                <a:solidFill>
                  <a:srgbClr val="000099"/>
                </a:solidFill>
              </a:rPr>
              <a:t>	and materials</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Coach on selling and marketing</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Ask critical questions</a:t>
            </a:r>
          </a:p>
        </p:txBody>
      </p:sp>
      <p:sp>
        <p:nvSpPr>
          <p:cNvPr id="117765" name="Text Box 5"/>
          <p:cNvSpPr txBox="1">
            <a:spLocks noChangeArrowheads="1"/>
          </p:cNvSpPr>
          <p:nvPr/>
        </p:nvSpPr>
        <p:spPr bwMode="auto">
          <a:xfrm>
            <a:off x="1143000" y="381000"/>
            <a:ext cx="6705600" cy="519113"/>
          </a:xfrm>
          <a:prstGeom prst="rect">
            <a:avLst/>
          </a:prstGeom>
          <a:noFill/>
          <a:ln w="9525">
            <a:noFill/>
            <a:miter lim="800000"/>
            <a:headEnd/>
            <a:tailEnd/>
          </a:ln>
          <a:effectLst/>
        </p:spPr>
        <p:txBody>
          <a:bodyPr>
            <a:spAutoFit/>
          </a:bodyPr>
          <a:lstStyle/>
          <a:p>
            <a:pPr algn="ctr"/>
            <a:r>
              <a:rPr lang="en-US" b="1">
                <a:solidFill>
                  <a:srgbClr val="000099"/>
                </a:solidFill>
              </a:rPr>
              <a:t>Extending Your Reach</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7765"/>
                                        </p:tgtEl>
                                        <p:attrNameLst>
                                          <p:attrName>style.visibility</p:attrName>
                                        </p:attrNameLst>
                                      </p:cBhvr>
                                      <p:to>
                                        <p:strVal val="visible"/>
                                      </p:to>
                                    </p:set>
                                    <p:animEffect transition="in" filter="dissolve">
                                      <p:cBhvr>
                                        <p:cTn id="7" dur="500"/>
                                        <p:tgtEl>
                                          <p:spTgt spid="11776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7764">
                                            <p:txEl>
                                              <p:pRg st="0" end="0"/>
                                            </p:txEl>
                                          </p:spTgt>
                                        </p:tgtEl>
                                        <p:attrNameLst>
                                          <p:attrName>style.visibility</p:attrName>
                                        </p:attrNameLst>
                                      </p:cBhvr>
                                      <p:to>
                                        <p:strVal val="visible"/>
                                      </p:to>
                                    </p:set>
                                    <p:animEffect transition="in" filter="dissolve">
                                      <p:cBhvr>
                                        <p:cTn id="11" dur="500"/>
                                        <p:tgtEl>
                                          <p:spTgt spid="117764">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7764">
                                            <p:txEl>
                                              <p:pRg st="1" end="1"/>
                                            </p:txEl>
                                          </p:spTgt>
                                        </p:tgtEl>
                                        <p:attrNameLst>
                                          <p:attrName>style.visibility</p:attrName>
                                        </p:attrNameLst>
                                      </p:cBhvr>
                                      <p:to>
                                        <p:strVal val="visible"/>
                                      </p:to>
                                    </p:set>
                                    <p:animEffect transition="in" filter="dissolve">
                                      <p:cBhvr>
                                        <p:cTn id="15" dur="500"/>
                                        <p:tgtEl>
                                          <p:spTgt spid="117764">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7764">
                                            <p:txEl>
                                              <p:pRg st="3" end="3"/>
                                            </p:txEl>
                                          </p:spTgt>
                                        </p:tgtEl>
                                        <p:attrNameLst>
                                          <p:attrName>style.visibility</p:attrName>
                                        </p:attrNameLst>
                                      </p:cBhvr>
                                      <p:to>
                                        <p:strVal val="visible"/>
                                      </p:to>
                                    </p:set>
                                    <p:animEffect transition="in" filter="dissolve">
                                      <p:cBhvr>
                                        <p:cTn id="19" dur="500"/>
                                        <p:tgtEl>
                                          <p:spTgt spid="117764">
                                            <p:txEl>
                                              <p:pRg st="3" end="3"/>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17764">
                                            <p:txEl>
                                              <p:pRg st="5" end="5"/>
                                            </p:txEl>
                                          </p:spTgt>
                                        </p:tgtEl>
                                        <p:attrNameLst>
                                          <p:attrName>style.visibility</p:attrName>
                                        </p:attrNameLst>
                                      </p:cBhvr>
                                      <p:to>
                                        <p:strVal val="visible"/>
                                      </p:to>
                                    </p:set>
                                    <p:animEffect transition="in" filter="dissolve">
                                      <p:cBhvr>
                                        <p:cTn id="23" dur="500"/>
                                        <p:tgtEl>
                                          <p:spTgt spid="117764">
                                            <p:txEl>
                                              <p:pRg st="5" end="5"/>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17764">
                                            <p:txEl>
                                              <p:pRg st="6" end="6"/>
                                            </p:txEl>
                                          </p:spTgt>
                                        </p:tgtEl>
                                        <p:attrNameLst>
                                          <p:attrName>style.visibility</p:attrName>
                                        </p:attrNameLst>
                                      </p:cBhvr>
                                      <p:to>
                                        <p:strVal val="visible"/>
                                      </p:to>
                                    </p:set>
                                    <p:animEffect transition="in" filter="dissolve">
                                      <p:cBhvr>
                                        <p:cTn id="27" dur="500"/>
                                        <p:tgtEl>
                                          <p:spTgt spid="117764">
                                            <p:txEl>
                                              <p:pRg st="6" end="6"/>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17764">
                                            <p:txEl>
                                              <p:pRg st="8" end="8"/>
                                            </p:txEl>
                                          </p:spTgt>
                                        </p:tgtEl>
                                        <p:attrNameLst>
                                          <p:attrName>style.visibility</p:attrName>
                                        </p:attrNameLst>
                                      </p:cBhvr>
                                      <p:to>
                                        <p:strVal val="visible"/>
                                      </p:to>
                                    </p:set>
                                    <p:animEffect transition="in" filter="dissolve">
                                      <p:cBhvr>
                                        <p:cTn id="31" dur="500"/>
                                        <p:tgtEl>
                                          <p:spTgt spid="117764">
                                            <p:txEl>
                                              <p:pRg st="8" end="8"/>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117764">
                                            <p:txEl>
                                              <p:pRg st="10" end="10"/>
                                            </p:txEl>
                                          </p:spTgt>
                                        </p:tgtEl>
                                        <p:attrNameLst>
                                          <p:attrName>style.visibility</p:attrName>
                                        </p:attrNameLst>
                                      </p:cBhvr>
                                      <p:to>
                                        <p:strVal val="visible"/>
                                      </p:to>
                                    </p:set>
                                    <p:animEffect transition="in" filter="dissolve">
                                      <p:cBhvr>
                                        <p:cTn id="35" dur="500"/>
                                        <p:tgtEl>
                                          <p:spTgt spid="11776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build="p" autoUpdateAnimBg="0" advAuto="0"/>
      <p:bldP spid="11776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A70BDA9C-4B0D-467E-99B6-1DBBAC6455E6}" type="slidenum">
              <a:rPr lang="en-US"/>
              <a:pPr/>
              <a:t>19</a:t>
            </a:fld>
            <a:endParaRPr lang="en-US"/>
          </a:p>
        </p:txBody>
      </p:sp>
      <p:sp>
        <p:nvSpPr>
          <p:cNvPr id="121858"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21859"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21860" name="Text Box 4"/>
          <p:cNvSpPr txBox="1">
            <a:spLocks noChangeArrowheads="1"/>
          </p:cNvSpPr>
          <p:nvPr/>
        </p:nvSpPr>
        <p:spPr bwMode="auto">
          <a:xfrm>
            <a:off x="1066800" y="1306513"/>
            <a:ext cx="6964363" cy="3417887"/>
          </a:xfrm>
          <a:prstGeom prst="rect">
            <a:avLst/>
          </a:prstGeom>
          <a:noFill/>
          <a:ln w="9525">
            <a:noFill/>
            <a:miter lim="800000"/>
            <a:headEnd/>
            <a:tailEnd/>
          </a:ln>
          <a:effectLst/>
        </p:spPr>
        <p:txBody>
          <a:bodyPr wrap="none">
            <a:spAutoFit/>
          </a:bodyPr>
          <a:lstStyle/>
          <a:p>
            <a:pPr marL="457200" indent="-457200">
              <a:spcAft>
                <a:spcPct val="20000"/>
              </a:spcAft>
              <a:buClr>
                <a:srgbClr val="009900"/>
              </a:buClr>
              <a:buFont typeface="Wingdings" pitchFamily="2" charset="2"/>
              <a:buChar char="Ø"/>
            </a:pPr>
            <a:r>
              <a:rPr lang="en-US" sz="2600" b="1">
                <a:solidFill>
                  <a:srgbClr val="000099"/>
                </a:solidFill>
              </a:rPr>
              <a:t>Provide success stories, benchmarking </a:t>
            </a:r>
          </a:p>
          <a:p>
            <a:pPr marL="457200" indent="-457200">
              <a:spcAft>
                <a:spcPct val="20000"/>
              </a:spcAft>
              <a:buClr>
                <a:srgbClr val="009900"/>
              </a:buClr>
              <a:buFont typeface="Wingdings" pitchFamily="2" charset="2"/>
              <a:buNone/>
            </a:pPr>
            <a:r>
              <a:rPr lang="en-US" sz="2600" b="1">
                <a:solidFill>
                  <a:srgbClr val="000099"/>
                </a:solidFill>
              </a:rPr>
              <a:t>	and persuasive points</a:t>
            </a:r>
          </a:p>
          <a:p>
            <a:pPr marL="457200" indent="-457200">
              <a:spcAft>
                <a:spcPct val="20000"/>
              </a:spcAft>
              <a:buClr>
                <a:srgbClr val="009900"/>
              </a:buClr>
              <a:buFont typeface="Wingdings" pitchFamily="2" charset="2"/>
              <a:buNone/>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Coach on lining up support </a:t>
            </a:r>
          </a:p>
          <a:p>
            <a:pPr marL="457200" indent="-457200">
              <a:spcAft>
                <a:spcPct val="20000"/>
              </a:spcAft>
              <a:buClr>
                <a:srgbClr val="009900"/>
              </a:buClr>
              <a:buFont typeface="Wingdings" pitchFamily="2" charset="2"/>
              <a:buNone/>
            </a:pPr>
            <a:r>
              <a:rPr lang="en-US" sz="2600" b="1">
                <a:solidFill>
                  <a:srgbClr val="000099"/>
                </a:solidFill>
              </a:rPr>
              <a:t>	for the project/recommendations</a:t>
            </a:r>
          </a:p>
          <a:p>
            <a:pPr marL="457200" indent="-457200">
              <a:spcAft>
                <a:spcPct val="20000"/>
              </a:spcAft>
              <a:buClr>
                <a:srgbClr val="009900"/>
              </a:buClr>
              <a:buFont typeface="Wingdings" pitchFamily="2" charset="2"/>
              <a:buNone/>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Structure the project for success</a:t>
            </a:r>
          </a:p>
          <a:p>
            <a:pPr marL="457200" indent="-457200">
              <a:spcAft>
                <a:spcPct val="20000"/>
              </a:spcAft>
              <a:buClr>
                <a:srgbClr val="009900"/>
              </a:buClr>
              <a:buFont typeface="Wingdings" pitchFamily="2" charset="2"/>
              <a:buChar char="Ø"/>
            </a:pPr>
            <a:endParaRPr lang="en-US" sz="1000" b="1">
              <a:solidFill>
                <a:srgbClr val="000099"/>
              </a:solidFill>
            </a:endParaRPr>
          </a:p>
          <a:p>
            <a:pPr marL="457200" indent="-457200">
              <a:spcAft>
                <a:spcPct val="20000"/>
              </a:spcAft>
              <a:buClr>
                <a:srgbClr val="009900"/>
              </a:buClr>
              <a:buFont typeface="Wingdings" pitchFamily="2" charset="2"/>
              <a:buChar char="Ø"/>
            </a:pPr>
            <a:r>
              <a:rPr lang="en-US" sz="2600" b="1">
                <a:solidFill>
                  <a:srgbClr val="000099"/>
                </a:solidFill>
              </a:rPr>
              <a:t>Partner in the marketing process</a:t>
            </a:r>
          </a:p>
        </p:txBody>
      </p:sp>
      <p:sp>
        <p:nvSpPr>
          <p:cNvPr id="121861" name="Text Box 5"/>
          <p:cNvSpPr txBox="1">
            <a:spLocks noChangeArrowheads="1"/>
          </p:cNvSpPr>
          <p:nvPr/>
        </p:nvSpPr>
        <p:spPr bwMode="auto">
          <a:xfrm>
            <a:off x="1143000" y="381000"/>
            <a:ext cx="6705600" cy="519113"/>
          </a:xfrm>
          <a:prstGeom prst="rect">
            <a:avLst/>
          </a:prstGeom>
          <a:noFill/>
          <a:ln w="9525">
            <a:noFill/>
            <a:miter lim="800000"/>
            <a:headEnd/>
            <a:tailEnd/>
          </a:ln>
          <a:effectLst/>
        </p:spPr>
        <p:txBody>
          <a:bodyPr>
            <a:spAutoFit/>
          </a:bodyPr>
          <a:lstStyle/>
          <a:p>
            <a:pPr algn="ctr"/>
            <a:r>
              <a:rPr lang="en-US" b="1">
                <a:solidFill>
                  <a:srgbClr val="000099"/>
                </a:solidFill>
              </a:rPr>
              <a:t>Extending Your Reach</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1861"/>
                                        </p:tgtEl>
                                        <p:attrNameLst>
                                          <p:attrName>style.visibility</p:attrName>
                                        </p:attrNameLst>
                                      </p:cBhvr>
                                      <p:to>
                                        <p:strVal val="visible"/>
                                      </p:to>
                                    </p:set>
                                    <p:animEffect transition="in" filter="dissolve">
                                      <p:cBhvr>
                                        <p:cTn id="7" dur="500"/>
                                        <p:tgtEl>
                                          <p:spTgt spid="121861"/>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21860">
                                            <p:txEl>
                                              <p:pRg st="0" end="0"/>
                                            </p:txEl>
                                          </p:spTgt>
                                        </p:tgtEl>
                                        <p:attrNameLst>
                                          <p:attrName>style.visibility</p:attrName>
                                        </p:attrNameLst>
                                      </p:cBhvr>
                                      <p:to>
                                        <p:strVal val="visible"/>
                                      </p:to>
                                    </p:set>
                                    <p:animEffect transition="in" filter="dissolve">
                                      <p:cBhvr>
                                        <p:cTn id="11" dur="500"/>
                                        <p:tgtEl>
                                          <p:spTgt spid="121860">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21860">
                                            <p:txEl>
                                              <p:pRg st="1" end="1"/>
                                            </p:txEl>
                                          </p:spTgt>
                                        </p:tgtEl>
                                        <p:attrNameLst>
                                          <p:attrName>style.visibility</p:attrName>
                                        </p:attrNameLst>
                                      </p:cBhvr>
                                      <p:to>
                                        <p:strVal val="visible"/>
                                      </p:to>
                                    </p:set>
                                    <p:animEffect transition="in" filter="dissolve">
                                      <p:cBhvr>
                                        <p:cTn id="15" dur="500"/>
                                        <p:tgtEl>
                                          <p:spTgt spid="121860">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21860">
                                            <p:txEl>
                                              <p:pRg st="3" end="3"/>
                                            </p:txEl>
                                          </p:spTgt>
                                        </p:tgtEl>
                                        <p:attrNameLst>
                                          <p:attrName>style.visibility</p:attrName>
                                        </p:attrNameLst>
                                      </p:cBhvr>
                                      <p:to>
                                        <p:strVal val="visible"/>
                                      </p:to>
                                    </p:set>
                                    <p:animEffect transition="in" filter="dissolve">
                                      <p:cBhvr>
                                        <p:cTn id="19" dur="500"/>
                                        <p:tgtEl>
                                          <p:spTgt spid="121860">
                                            <p:txEl>
                                              <p:pRg st="3" end="3"/>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21860">
                                            <p:txEl>
                                              <p:pRg st="4" end="4"/>
                                            </p:txEl>
                                          </p:spTgt>
                                        </p:tgtEl>
                                        <p:attrNameLst>
                                          <p:attrName>style.visibility</p:attrName>
                                        </p:attrNameLst>
                                      </p:cBhvr>
                                      <p:to>
                                        <p:strVal val="visible"/>
                                      </p:to>
                                    </p:set>
                                    <p:animEffect transition="in" filter="dissolve">
                                      <p:cBhvr>
                                        <p:cTn id="23" dur="500"/>
                                        <p:tgtEl>
                                          <p:spTgt spid="121860">
                                            <p:txEl>
                                              <p:pRg st="4" end="4"/>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21860">
                                            <p:txEl>
                                              <p:pRg st="6" end="6"/>
                                            </p:txEl>
                                          </p:spTgt>
                                        </p:tgtEl>
                                        <p:attrNameLst>
                                          <p:attrName>style.visibility</p:attrName>
                                        </p:attrNameLst>
                                      </p:cBhvr>
                                      <p:to>
                                        <p:strVal val="visible"/>
                                      </p:to>
                                    </p:set>
                                    <p:animEffect transition="in" filter="dissolve">
                                      <p:cBhvr>
                                        <p:cTn id="27" dur="500"/>
                                        <p:tgtEl>
                                          <p:spTgt spid="121860">
                                            <p:txEl>
                                              <p:pRg st="6" end="6"/>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21860">
                                            <p:txEl>
                                              <p:pRg st="8" end="8"/>
                                            </p:txEl>
                                          </p:spTgt>
                                        </p:tgtEl>
                                        <p:attrNameLst>
                                          <p:attrName>style.visibility</p:attrName>
                                        </p:attrNameLst>
                                      </p:cBhvr>
                                      <p:to>
                                        <p:strVal val="visible"/>
                                      </p:to>
                                    </p:set>
                                    <p:animEffect transition="in" filter="dissolve">
                                      <p:cBhvr>
                                        <p:cTn id="31" dur="500"/>
                                        <p:tgtEl>
                                          <p:spTgt spid="12186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build="p" autoUpdateAnimBg="0" advAuto="0"/>
      <p:bldP spid="121861"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1"/>
          </p:nvPr>
        </p:nvSpPr>
        <p:spPr/>
        <p:txBody>
          <a:bodyPr/>
          <a:lstStyle/>
          <a:p>
            <a:r>
              <a:rPr lang="en-US"/>
              <a:t>The Arbor Consulting Group</a:t>
            </a:r>
          </a:p>
        </p:txBody>
      </p:sp>
      <p:sp>
        <p:nvSpPr>
          <p:cNvPr id="8" name="Slide Number Placeholder 3"/>
          <p:cNvSpPr>
            <a:spLocks noGrp="1"/>
          </p:cNvSpPr>
          <p:nvPr>
            <p:ph type="sldNum" sz="quarter" idx="12"/>
          </p:nvPr>
        </p:nvSpPr>
        <p:spPr/>
        <p:txBody>
          <a:bodyPr/>
          <a:lstStyle/>
          <a:p>
            <a:fld id="{2F5DB45C-EDA2-4836-AE42-F6231720FB4A}" type="slidenum">
              <a:rPr lang="en-US"/>
              <a:pPr/>
              <a:t>20</a:t>
            </a:fld>
            <a:endParaRPr lang="en-US"/>
          </a:p>
        </p:txBody>
      </p:sp>
      <p:sp>
        <p:nvSpPr>
          <p:cNvPr id="118786" name="Text Box 2"/>
          <p:cNvSpPr txBox="1">
            <a:spLocks noChangeArrowheads="1"/>
          </p:cNvSpPr>
          <p:nvPr/>
        </p:nvSpPr>
        <p:spPr bwMode="auto">
          <a:xfrm>
            <a:off x="212725" y="422275"/>
            <a:ext cx="184150" cy="457200"/>
          </a:xfrm>
          <a:prstGeom prst="rect">
            <a:avLst/>
          </a:prstGeom>
          <a:noFill/>
          <a:ln w="9525">
            <a:noFill/>
            <a:miter lim="800000"/>
            <a:headEnd/>
            <a:tailEnd/>
          </a:ln>
          <a:effectLst/>
        </p:spPr>
        <p:txBody>
          <a:bodyPr wrap="none">
            <a:spAutoFit/>
          </a:bodyPr>
          <a:lstStyle/>
          <a:p>
            <a:endParaRPr lang="en-US" sz="2400">
              <a:latin typeface="Times New Roman" pitchFamily="18" charset="0"/>
            </a:endParaRPr>
          </a:p>
        </p:txBody>
      </p:sp>
      <p:sp>
        <p:nvSpPr>
          <p:cNvPr id="118787" name="Text Box 3"/>
          <p:cNvSpPr txBox="1">
            <a:spLocks noChangeArrowheads="1"/>
          </p:cNvSpPr>
          <p:nvPr/>
        </p:nvSpPr>
        <p:spPr bwMode="auto">
          <a:xfrm>
            <a:off x="5867400" y="6248400"/>
            <a:ext cx="184150" cy="336550"/>
          </a:xfrm>
          <a:prstGeom prst="rect">
            <a:avLst/>
          </a:prstGeom>
          <a:noFill/>
          <a:ln w="9525">
            <a:noFill/>
            <a:miter lim="800000"/>
            <a:headEnd/>
            <a:tailEnd/>
          </a:ln>
          <a:effectLst/>
        </p:spPr>
        <p:txBody>
          <a:bodyPr wrap="none">
            <a:spAutoFit/>
          </a:bodyPr>
          <a:lstStyle/>
          <a:p>
            <a:endParaRPr lang="en-US" sz="1600">
              <a:latin typeface="Times New Roman" pitchFamily="18" charset="0"/>
            </a:endParaRPr>
          </a:p>
        </p:txBody>
      </p:sp>
      <p:sp>
        <p:nvSpPr>
          <p:cNvPr id="118788" name="Text Box 4"/>
          <p:cNvSpPr txBox="1">
            <a:spLocks noChangeArrowheads="1"/>
          </p:cNvSpPr>
          <p:nvPr/>
        </p:nvSpPr>
        <p:spPr bwMode="auto">
          <a:xfrm>
            <a:off x="1371600" y="381000"/>
            <a:ext cx="6705600" cy="946150"/>
          </a:xfrm>
          <a:prstGeom prst="rect">
            <a:avLst/>
          </a:prstGeom>
          <a:noFill/>
          <a:ln w="9525">
            <a:noFill/>
            <a:miter lim="800000"/>
            <a:headEnd/>
            <a:tailEnd/>
          </a:ln>
          <a:effectLst/>
        </p:spPr>
        <p:txBody>
          <a:bodyPr>
            <a:spAutoFit/>
          </a:bodyPr>
          <a:lstStyle/>
          <a:p>
            <a:pPr algn="ctr"/>
            <a:r>
              <a:rPr lang="en-US" b="1">
                <a:solidFill>
                  <a:srgbClr val="000099"/>
                </a:solidFill>
              </a:rPr>
              <a:t>Building Your Consulting Business One Relationship At A Time</a:t>
            </a:r>
          </a:p>
        </p:txBody>
      </p:sp>
      <p:sp>
        <p:nvSpPr>
          <p:cNvPr id="118789" name="Text Box 5"/>
          <p:cNvSpPr txBox="1">
            <a:spLocks noChangeArrowheads="1"/>
          </p:cNvSpPr>
          <p:nvPr/>
        </p:nvSpPr>
        <p:spPr bwMode="auto">
          <a:xfrm>
            <a:off x="1600200" y="1635125"/>
            <a:ext cx="6040438" cy="4259263"/>
          </a:xfrm>
          <a:prstGeom prst="rect">
            <a:avLst/>
          </a:prstGeom>
          <a:noFill/>
          <a:ln w="9525">
            <a:noFill/>
            <a:miter lim="800000"/>
            <a:headEnd/>
            <a:tailEnd/>
          </a:ln>
          <a:effectLst/>
        </p:spPr>
        <p:txBody>
          <a:bodyPr wrap="none">
            <a:spAutoFit/>
          </a:bodyPr>
          <a:lstStyle/>
          <a:p>
            <a:pPr marL="457200" indent="-457200">
              <a:lnSpc>
                <a:spcPct val="150000"/>
              </a:lnSpc>
              <a:buClr>
                <a:srgbClr val="009900"/>
              </a:buClr>
              <a:buFont typeface="Wingdings" pitchFamily="2" charset="2"/>
              <a:buAutoNum type="arabicPeriod"/>
            </a:pPr>
            <a:r>
              <a:rPr lang="en-US" sz="2600" b="1">
                <a:solidFill>
                  <a:srgbClr val="66CCFF"/>
                </a:solidFill>
              </a:rPr>
              <a:t>  Introduction</a:t>
            </a:r>
          </a:p>
          <a:p>
            <a:pPr marL="457200" indent="-457200">
              <a:lnSpc>
                <a:spcPct val="150000"/>
              </a:lnSpc>
              <a:buClr>
                <a:srgbClr val="009900"/>
              </a:buClr>
              <a:buFont typeface="Wingdings" pitchFamily="2" charset="2"/>
              <a:buAutoNum type="arabicPeriod"/>
            </a:pPr>
            <a:r>
              <a:rPr lang="en-US" sz="2600" b="1">
                <a:solidFill>
                  <a:srgbClr val="66CCFF"/>
                </a:solidFill>
              </a:rPr>
              <a:t>  Lessons Learned</a:t>
            </a:r>
          </a:p>
          <a:p>
            <a:pPr marL="457200" indent="-457200">
              <a:lnSpc>
                <a:spcPct val="150000"/>
              </a:lnSpc>
              <a:buClr>
                <a:srgbClr val="009900"/>
              </a:buClr>
              <a:buFont typeface="Wingdings" pitchFamily="2" charset="2"/>
              <a:buAutoNum type="arabicPeriod"/>
            </a:pPr>
            <a:r>
              <a:rPr lang="en-US" sz="2600" b="1">
                <a:solidFill>
                  <a:srgbClr val="66CCFF"/>
                </a:solidFill>
              </a:rPr>
              <a:t>  Building a National Practice</a:t>
            </a:r>
          </a:p>
          <a:p>
            <a:pPr marL="457200" indent="-457200">
              <a:lnSpc>
                <a:spcPct val="150000"/>
              </a:lnSpc>
              <a:buClr>
                <a:srgbClr val="009900"/>
              </a:buClr>
              <a:buFont typeface="Wingdings" pitchFamily="2" charset="2"/>
              <a:buAutoNum type="arabicPeriod"/>
            </a:pPr>
            <a:r>
              <a:rPr lang="en-US" sz="2600" b="1">
                <a:solidFill>
                  <a:srgbClr val="66CCFF"/>
                </a:solidFill>
              </a:rPr>
              <a:t>  Networking Do’s and Don’ts</a:t>
            </a:r>
          </a:p>
          <a:p>
            <a:pPr marL="457200" indent="-457200">
              <a:lnSpc>
                <a:spcPct val="150000"/>
              </a:lnSpc>
              <a:buClr>
                <a:srgbClr val="009900"/>
              </a:buClr>
              <a:buFont typeface="Wingdings" pitchFamily="2" charset="2"/>
              <a:buAutoNum type="arabicPeriod"/>
            </a:pPr>
            <a:r>
              <a:rPr lang="en-US" sz="2600" b="1">
                <a:solidFill>
                  <a:srgbClr val="66CCFF"/>
                </a:solidFill>
              </a:rPr>
              <a:t>  How To Keep Your Network Alive</a:t>
            </a:r>
          </a:p>
          <a:p>
            <a:pPr marL="457200" indent="-457200">
              <a:lnSpc>
                <a:spcPct val="150000"/>
              </a:lnSpc>
              <a:buClr>
                <a:srgbClr val="009900"/>
              </a:buClr>
              <a:buFont typeface="Wingdings" pitchFamily="2" charset="2"/>
              <a:buAutoNum type="arabicPeriod"/>
            </a:pPr>
            <a:r>
              <a:rPr lang="en-US" sz="2600" b="1">
                <a:solidFill>
                  <a:srgbClr val="66CCFF"/>
                </a:solidFill>
              </a:rPr>
              <a:t>  Extending Your Reach</a:t>
            </a:r>
          </a:p>
          <a:p>
            <a:pPr marL="457200" indent="-457200">
              <a:lnSpc>
                <a:spcPct val="150000"/>
              </a:lnSpc>
              <a:buClr>
                <a:srgbClr val="009900"/>
              </a:buClr>
              <a:buFont typeface="Wingdings" pitchFamily="2" charset="2"/>
              <a:buAutoNum type="arabicPeriod"/>
            </a:pPr>
            <a:r>
              <a:rPr lang="en-US" sz="2600" b="1">
                <a:solidFill>
                  <a:srgbClr val="000099"/>
                </a:solidFill>
              </a:rPr>
              <a:t>  5 Immediate Steps for Success</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dissolve">
                                      <p:cBhvr>
                                        <p:cTn id="7" dur="500"/>
                                        <p:tgtEl>
                                          <p:spTgt spid="11878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8789">
                                            <p:txEl>
                                              <p:pRg st="0" end="0"/>
                                            </p:txEl>
                                          </p:spTgt>
                                        </p:tgtEl>
                                        <p:attrNameLst>
                                          <p:attrName>style.visibility</p:attrName>
                                        </p:attrNameLst>
                                      </p:cBhvr>
                                      <p:to>
                                        <p:strVal val="visible"/>
                                      </p:to>
                                    </p:set>
                                    <p:animEffect transition="in" filter="dissolve">
                                      <p:cBhvr>
                                        <p:cTn id="11" dur="500"/>
                                        <p:tgtEl>
                                          <p:spTgt spid="118789">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18789">
                                            <p:txEl>
                                              <p:pRg st="1" end="1"/>
                                            </p:txEl>
                                          </p:spTgt>
                                        </p:tgtEl>
                                        <p:attrNameLst>
                                          <p:attrName>style.visibility</p:attrName>
                                        </p:attrNameLst>
                                      </p:cBhvr>
                                      <p:to>
                                        <p:strVal val="visible"/>
                                      </p:to>
                                    </p:set>
                                    <p:animEffect transition="in" filter="dissolve">
                                      <p:cBhvr>
                                        <p:cTn id="15" dur="500"/>
                                        <p:tgtEl>
                                          <p:spTgt spid="118789">
                                            <p:txEl>
                                              <p:pRg st="1" end="1"/>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8789">
                                            <p:txEl>
                                              <p:pRg st="2" end="2"/>
                                            </p:txEl>
                                          </p:spTgt>
                                        </p:tgtEl>
                                        <p:attrNameLst>
                                          <p:attrName>style.visibility</p:attrName>
                                        </p:attrNameLst>
                                      </p:cBhvr>
                                      <p:to>
                                        <p:strVal val="visible"/>
                                      </p:to>
                                    </p:set>
                                    <p:animEffect transition="in" filter="dissolve">
                                      <p:cBhvr>
                                        <p:cTn id="19" dur="500"/>
                                        <p:tgtEl>
                                          <p:spTgt spid="118789">
                                            <p:txEl>
                                              <p:pRg st="2" end="2"/>
                                            </p:txEl>
                                          </p:spTgt>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18789">
                                            <p:txEl>
                                              <p:pRg st="3" end="3"/>
                                            </p:txEl>
                                          </p:spTgt>
                                        </p:tgtEl>
                                        <p:attrNameLst>
                                          <p:attrName>style.visibility</p:attrName>
                                        </p:attrNameLst>
                                      </p:cBhvr>
                                      <p:to>
                                        <p:strVal val="visible"/>
                                      </p:to>
                                    </p:set>
                                    <p:animEffect transition="in" filter="dissolve">
                                      <p:cBhvr>
                                        <p:cTn id="23" dur="500"/>
                                        <p:tgtEl>
                                          <p:spTgt spid="118789">
                                            <p:txEl>
                                              <p:pRg st="3" end="3"/>
                                            </p:txEl>
                                          </p:spTgt>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118789">
                                            <p:txEl>
                                              <p:pRg st="4" end="4"/>
                                            </p:txEl>
                                          </p:spTgt>
                                        </p:tgtEl>
                                        <p:attrNameLst>
                                          <p:attrName>style.visibility</p:attrName>
                                        </p:attrNameLst>
                                      </p:cBhvr>
                                      <p:to>
                                        <p:strVal val="visible"/>
                                      </p:to>
                                    </p:set>
                                    <p:animEffect transition="in" filter="dissolve">
                                      <p:cBhvr>
                                        <p:cTn id="27" dur="500"/>
                                        <p:tgtEl>
                                          <p:spTgt spid="118789">
                                            <p:txEl>
                                              <p:pRg st="4" end="4"/>
                                            </p:txEl>
                                          </p:spTgt>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18789">
                                            <p:txEl>
                                              <p:pRg st="5" end="5"/>
                                            </p:txEl>
                                          </p:spTgt>
                                        </p:tgtEl>
                                        <p:attrNameLst>
                                          <p:attrName>style.visibility</p:attrName>
                                        </p:attrNameLst>
                                      </p:cBhvr>
                                      <p:to>
                                        <p:strVal val="visible"/>
                                      </p:to>
                                    </p:set>
                                    <p:animEffect transition="in" filter="dissolve">
                                      <p:cBhvr>
                                        <p:cTn id="31" dur="500"/>
                                        <p:tgtEl>
                                          <p:spTgt spid="118789">
                                            <p:txEl>
                                              <p:pRg st="5" end="5"/>
                                            </p:txEl>
                                          </p:spTgt>
                                        </p:tgtEl>
                                      </p:cBhvr>
                                    </p:animEffect>
                                  </p:childTnLst>
                                </p:cTn>
                              </p:par>
                            </p:childTnLst>
                          </p:cTn>
                        </p:par>
                        <p:par>
                          <p:cTn id="32" fill="hold">
                            <p:stCondLst>
                              <p:cond delay="3500"/>
                            </p:stCondLst>
                            <p:childTnLst>
                              <p:par>
                                <p:cTn id="33" presetID="9" presetClass="entr" presetSubtype="0" fill="hold" grpId="0" nodeType="afterEffect">
                                  <p:stCondLst>
                                    <p:cond delay="0"/>
                                  </p:stCondLst>
                                  <p:childTnLst>
                                    <p:set>
                                      <p:cBhvr>
                                        <p:cTn id="34" dur="1" fill="hold">
                                          <p:stCondLst>
                                            <p:cond delay="0"/>
                                          </p:stCondLst>
                                        </p:cTn>
                                        <p:tgtEl>
                                          <p:spTgt spid="118789">
                                            <p:txEl>
                                              <p:pRg st="6" end="6"/>
                                            </p:txEl>
                                          </p:spTgt>
                                        </p:tgtEl>
                                        <p:attrNameLst>
                                          <p:attrName>style.visibility</p:attrName>
                                        </p:attrNameLst>
                                      </p:cBhvr>
                                      <p:to>
                                        <p:strVal val="visible"/>
                                      </p:to>
                                    </p:set>
                                    <p:animEffect transition="in" filter="dissolve">
                                      <p:cBhvr>
                                        <p:cTn id="35" dur="500"/>
                                        <p:tgtEl>
                                          <p:spTgt spid="11878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autoUpdateAnimBg="0"/>
      <p:bldP spid="118789"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2"/>
          <p:cNvSpPr>
            <a:spLocks noGrp="1"/>
          </p:cNvSpPr>
          <p:nvPr>
            <p:ph type="ftr" sz="quarter" idx="11"/>
          </p:nvPr>
        </p:nvSpPr>
        <p:spPr/>
        <p:txBody>
          <a:bodyPr/>
          <a:lstStyle/>
          <a:p>
            <a:r>
              <a:rPr lang="en-US"/>
              <a:t>The Arbor Consulting Group</a:t>
            </a:r>
          </a:p>
        </p:txBody>
      </p:sp>
      <p:sp>
        <p:nvSpPr>
          <p:cNvPr id="12" name="Slide Number Placeholder 3"/>
          <p:cNvSpPr>
            <a:spLocks noGrp="1"/>
          </p:cNvSpPr>
          <p:nvPr>
            <p:ph type="sldNum" sz="quarter" idx="12"/>
          </p:nvPr>
        </p:nvSpPr>
        <p:spPr/>
        <p:txBody>
          <a:bodyPr/>
          <a:lstStyle/>
          <a:p>
            <a:fld id="{6A95CFC2-4586-45BF-8F01-728C9507FEF1}" type="slidenum">
              <a:rPr lang="en-US"/>
              <a:pPr/>
              <a:t>21</a:t>
            </a:fld>
            <a:endParaRPr lang="en-US"/>
          </a:p>
        </p:txBody>
      </p:sp>
      <p:sp>
        <p:nvSpPr>
          <p:cNvPr id="82946" name="Text Box 2"/>
          <p:cNvSpPr txBox="1">
            <a:spLocks noChangeArrowheads="1"/>
          </p:cNvSpPr>
          <p:nvPr/>
        </p:nvSpPr>
        <p:spPr bwMode="auto">
          <a:xfrm>
            <a:off x="1752600" y="457200"/>
            <a:ext cx="5715000" cy="519113"/>
          </a:xfrm>
          <a:prstGeom prst="rect">
            <a:avLst/>
          </a:prstGeom>
          <a:noFill/>
          <a:ln w="9525">
            <a:noFill/>
            <a:miter lim="800000"/>
            <a:headEnd/>
            <a:tailEnd/>
          </a:ln>
          <a:effectLst/>
        </p:spPr>
        <p:txBody>
          <a:bodyPr>
            <a:spAutoFit/>
          </a:bodyPr>
          <a:lstStyle/>
          <a:p>
            <a:pPr>
              <a:spcBef>
                <a:spcPct val="50000"/>
              </a:spcBef>
            </a:pPr>
            <a:r>
              <a:rPr lang="en-US" b="1">
                <a:solidFill>
                  <a:srgbClr val="000099"/>
                </a:solidFill>
              </a:rPr>
              <a:t>5 Immediate Steps For Success</a:t>
            </a:r>
          </a:p>
        </p:txBody>
      </p:sp>
      <p:sp>
        <p:nvSpPr>
          <p:cNvPr id="82958" name="Rectangle 14"/>
          <p:cNvSpPr>
            <a:spLocks noChangeArrowheads="1"/>
          </p:cNvSpPr>
          <p:nvPr/>
        </p:nvSpPr>
        <p:spPr bwMode="auto">
          <a:xfrm>
            <a:off x="1905000" y="3429000"/>
            <a:ext cx="1752600" cy="1676400"/>
          </a:xfrm>
          <a:prstGeom prst="rect">
            <a:avLst/>
          </a:prstGeom>
          <a:gradFill rotWithShape="0">
            <a:gsLst>
              <a:gs pos="0">
                <a:schemeClr val="accent2"/>
              </a:gs>
              <a:gs pos="100000">
                <a:schemeClr val="accent2">
                  <a:gamma/>
                  <a:shade val="90980"/>
                  <a:invGamma/>
                </a:schemeClr>
              </a:gs>
            </a:gsLst>
            <a:lin ang="5400000" scaled="1"/>
          </a:gradFill>
          <a:ln w="9525">
            <a:noFill/>
            <a:miter lim="800000"/>
            <a:headEnd/>
            <a:tailEnd/>
          </a:ln>
          <a:effectLst/>
        </p:spPr>
        <p:txBody>
          <a:bodyPr wrap="none" anchor="ctr"/>
          <a:lstStyle/>
          <a:p>
            <a:pPr algn="ctr"/>
            <a:r>
              <a:rPr lang="en-US" sz="2000" b="1">
                <a:solidFill>
                  <a:srgbClr val="00CC00"/>
                </a:solidFill>
              </a:rPr>
              <a:t>Keep</a:t>
            </a:r>
          </a:p>
          <a:p>
            <a:pPr algn="ctr"/>
            <a:r>
              <a:rPr lang="en-US" sz="2000" b="1">
                <a:solidFill>
                  <a:srgbClr val="00CC00"/>
                </a:solidFill>
              </a:rPr>
              <a:t>your</a:t>
            </a:r>
          </a:p>
          <a:p>
            <a:pPr algn="ctr"/>
            <a:r>
              <a:rPr lang="en-US" sz="2000" b="1">
                <a:solidFill>
                  <a:srgbClr val="00CC00"/>
                </a:solidFill>
              </a:rPr>
              <a:t>network</a:t>
            </a:r>
          </a:p>
          <a:p>
            <a:pPr algn="ctr"/>
            <a:r>
              <a:rPr lang="en-US" sz="2000" b="1">
                <a:solidFill>
                  <a:srgbClr val="00CC00"/>
                </a:solidFill>
              </a:rPr>
              <a:t>alive</a:t>
            </a:r>
            <a:endParaRPr lang="en-US" sz="2400">
              <a:solidFill>
                <a:srgbClr val="00CC00"/>
              </a:solidFill>
            </a:endParaRPr>
          </a:p>
        </p:txBody>
      </p:sp>
      <p:sp>
        <p:nvSpPr>
          <p:cNvPr id="82959" name="Rectangle 15"/>
          <p:cNvSpPr>
            <a:spLocks noChangeArrowheads="1"/>
          </p:cNvSpPr>
          <p:nvPr/>
        </p:nvSpPr>
        <p:spPr bwMode="auto">
          <a:xfrm>
            <a:off x="3733800" y="2590800"/>
            <a:ext cx="1752600" cy="1676400"/>
          </a:xfrm>
          <a:prstGeom prst="rect">
            <a:avLst/>
          </a:prstGeom>
          <a:gradFill rotWithShape="0">
            <a:gsLst>
              <a:gs pos="0">
                <a:schemeClr val="accent2"/>
              </a:gs>
              <a:gs pos="100000">
                <a:schemeClr val="accent2">
                  <a:gamma/>
                  <a:shade val="87843"/>
                  <a:invGamma/>
                </a:schemeClr>
              </a:gs>
            </a:gsLst>
            <a:lin ang="5400000" scaled="1"/>
          </a:gradFill>
          <a:ln w="9525">
            <a:noFill/>
            <a:miter lim="800000"/>
            <a:headEnd/>
            <a:tailEnd/>
          </a:ln>
          <a:effectLst/>
        </p:spPr>
        <p:txBody>
          <a:bodyPr wrap="none" anchor="ctr"/>
          <a:lstStyle/>
          <a:p>
            <a:pPr algn="ctr"/>
            <a:endParaRPr lang="en-US" sz="2000" b="1">
              <a:solidFill>
                <a:srgbClr val="FFFF00"/>
              </a:solidFill>
            </a:endParaRPr>
          </a:p>
          <a:p>
            <a:pPr algn="ctr"/>
            <a:r>
              <a:rPr lang="en-US" sz="2000" b="1">
                <a:solidFill>
                  <a:srgbClr val="00CC00"/>
                </a:solidFill>
              </a:rPr>
              <a:t>Develop</a:t>
            </a:r>
          </a:p>
          <a:p>
            <a:pPr algn="ctr"/>
            <a:r>
              <a:rPr lang="en-US" sz="2000" b="1">
                <a:solidFill>
                  <a:srgbClr val="00CC00"/>
                </a:solidFill>
              </a:rPr>
              <a:t>your</a:t>
            </a:r>
          </a:p>
          <a:p>
            <a:pPr algn="ctr"/>
            <a:r>
              <a:rPr lang="en-US" sz="2000" b="1">
                <a:solidFill>
                  <a:srgbClr val="00CC00"/>
                </a:solidFill>
              </a:rPr>
              <a:t>client’s</a:t>
            </a:r>
          </a:p>
          <a:p>
            <a:pPr algn="ctr"/>
            <a:r>
              <a:rPr lang="en-US" sz="2000" b="1">
                <a:solidFill>
                  <a:srgbClr val="00CC00"/>
                </a:solidFill>
              </a:rPr>
              <a:t>marketing</a:t>
            </a:r>
          </a:p>
          <a:p>
            <a:pPr algn="ctr"/>
            <a:r>
              <a:rPr lang="en-US" sz="2000" b="1">
                <a:solidFill>
                  <a:srgbClr val="00CC00"/>
                </a:solidFill>
              </a:rPr>
              <a:t>skills</a:t>
            </a:r>
          </a:p>
          <a:p>
            <a:pPr algn="ctr"/>
            <a:endParaRPr lang="en-US" sz="2400">
              <a:solidFill>
                <a:srgbClr val="FFFF00"/>
              </a:solidFill>
            </a:endParaRPr>
          </a:p>
        </p:txBody>
      </p:sp>
      <p:sp>
        <p:nvSpPr>
          <p:cNvPr id="82960" name="Rectangle 16"/>
          <p:cNvSpPr>
            <a:spLocks noChangeArrowheads="1"/>
          </p:cNvSpPr>
          <p:nvPr/>
        </p:nvSpPr>
        <p:spPr bwMode="auto">
          <a:xfrm>
            <a:off x="5562600" y="1752600"/>
            <a:ext cx="1752600" cy="1676400"/>
          </a:xfrm>
          <a:prstGeom prst="rect">
            <a:avLst/>
          </a:prstGeom>
          <a:gradFill rotWithShape="0">
            <a:gsLst>
              <a:gs pos="0">
                <a:schemeClr val="accent2"/>
              </a:gs>
              <a:gs pos="100000">
                <a:schemeClr val="accent2">
                  <a:gamma/>
                  <a:shade val="84706"/>
                  <a:invGamma/>
                </a:schemeClr>
              </a:gs>
            </a:gsLst>
            <a:lin ang="5400000" scaled="1"/>
          </a:gradFill>
          <a:ln w="9525">
            <a:noFill/>
            <a:miter lim="800000"/>
            <a:headEnd/>
            <a:tailEnd/>
          </a:ln>
          <a:effectLst/>
        </p:spPr>
        <p:txBody>
          <a:bodyPr wrap="none" anchor="ctr"/>
          <a:lstStyle/>
          <a:p>
            <a:pPr algn="ctr"/>
            <a:endParaRPr lang="en-US" sz="2000" b="1">
              <a:solidFill>
                <a:srgbClr val="FFFF00"/>
              </a:solidFill>
            </a:endParaRPr>
          </a:p>
          <a:p>
            <a:pPr algn="ctr"/>
            <a:r>
              <a:rPr lang="en-US" sz="2000" b="1">
                <a:solidFill>
                  <a:srgbClr val="00CC00"/>
                </a:solidFill>
              </a:rPr>
              <a:t>Use the </a:t>
            </a:r>
          </a:p>
          <a:p>
            <a:pPr algn="ctr"/>
            <a:r>
              <a:rPr lang="en-US" sz="2000" b="1">
                <a:solidFill>
                  <a:srgbClr val="00CC00"/>
                </a:solidFill>
              </a:rPr>
              <a:t>continuous</a:t>
            </a:r>
          </a:p>
          <a:p>
            <a:pPr algn="ctr"/>
            <a:r>
              <a:rPr lang="en-US" sz="2000" b="1">
                <a:solidFill>
                  <a:srgbClr val="00CC00"/>
                </a:solidFill>
              </a:rPr>
              <a:t>improvement</a:t>
            </a:r>
          </a:p>
          <a:p>
            <a:pPr algn="ctr"/>
            <a:r>
              <a:rPr lang="en-US" sz="2000" b="1">
                <a:solidFill>
                  <a:srgbClr val="00CC00"/>
                </a:solidFill>
              </a:rPr>
              <a:t>model</a:t>
            </a:r>
          </a:p>
          <a:p>
            <a:pPr algn="ctr"/>
            <a:endParaRPr lang="en-US" sz="2400"/>
          </a:p>
        </p:txBody>
      </p:sp>
      <p:sp>
        <p:nvSpPr>
          <p:cNvPr id="82961" name="Rectangle 17"/>
          <p:cNvSpPr>
            <a:spLocks noChangeArrowheads="1"/>
          </p:cNvSpPr>
          <p:nvPr/>
        </p:nvSpPr>
        <p:spPr bwMode="auto">
          <a:xfrm>
            <a:off x="7391400" y="914400"/>
            <a:ext cx="1600200" cy="1600200"/>
          </a:xfrm>
          <a:prstGeom prst="rect">
            <a:avLst/>
          </a:prstGeom>
          <a:gradFill rotWithShape="0">
            <a:gsLst>
              <a:gs pos="0">
                <a:schemeClr val="accent2"/>
              </a:gs>
              <a:gs pos="100000">
                <a:schemeClr val="accent2">
                  <a:gamma/>
                  <a:shade val="84706"/>
                  <a:invGamma/>
                </a:schemeClr>
              </a:gs>
            </a:gsLst>
            <a:lin ang="5400000" scaled="1"/>
          </a:gradFill>
          <a:ln w="9525">
            <a:noFill/>
            <a:miter lim="800000"/>
            <a:headEnd/>
            <a:tailEnd/>
          </a:ln>
          <a:effectLst/>
        </p:spPr>
        <p:txBody>
          <a:bodyPr wrap="none" anchor="ctr"/>
          <a:lstStyle/>
          <a:p>
            <a:pPr algn="ctr"/>
            <a:r>
              <a:rPr lang="en-US" sz="2000" b="1">
                <a:solidFill>
                  <a:srgbClr val="00CC00"/>
                </a:solidFill>
              </a:rPr>
              <a:t>Follow</a:t>
            </a:r>
          </a:p>
          <a:p>
            <a:pPr algn="ctr"/>
            <a:r>
              <a:rPr lang="en-US" sz="2000" b="1">
                <a:solidFill>
                  <a:srgbClr val="00CC00"/>
                </a:solidFill>
              </a:rPr>
              <a:t>through</a:t>
            </a:r>
          </a:p>
        </p:txBody>
      </p:sp>
      <p:sp>
        <p:nvSpPr>
          <p:cNvPr id="83008" name="AutoShape 64"/>
          <p:cNvSpPr>
            <a:spLocks noChangeArrowheads="1"/>
          </p:cNvSpPr>
          <p:nvPr/>
        </p:nvSpPr>
        <p:spPr bwMode="auto">
          <a:xfrm rot="-1324406">
            <a:off x="3916363" y="4170363"/>
            <a:ext cx="5029200" cy="1538287"/>
          </a:xfrm>
          <a:prstGeom prst="rightArrow">
            <a:avLst>
              <a:gd name="adj1" fmla="val 50000"/>
              <a:gd name="adj2" fmla="val 81734"/>
            </a:avLst>
          </a:prstGeom>
          <a:gradFill rotWithShape="0">
            <a:gsLst>
              <a:gs pos="0">
                <a:schemeClr val="accent2"/>
              </a:gs>
              <a:gs pos="100000">
                <a:schemeClr val="accent2">
                  <a:gamma/>
                  <a:tint val="63529"/>
                  <a:invGamma/>
                </a:schemeClr>
              </a:gs>
            </a:gsLst>
            <a:lin ang="5400000" scaled="1"/>
          </a:gradFill>
          <a:ln w="12700">
            <a:solidFill>
              <a:schemeClr val="tx1"/>
            </a:solidFill>
            <a:miter lim="800000"/>
            <a:headEnd/>
            <a:tailEnd/>
          </a:ln>
          <a:effectLst/>
        </p:spPr>
        <p:txBody>
          <a:bodyPr wrap="none" anchor="ctr"/>
          <a:lstStyle/>
          <a:p>
            <a:pPr algn="ctr"/>
            <a:r>
              <a:rPr lang="en-US" sz="3200" b="1" i="1">
                <a:solidFill>
                  <a:srgbClr val="00CC00"/>
                </a:solidFill>
                <a:effectLst>
                  <a:outerShdw blurRad="38100" dist="38100" dir="2700000" algn="tl">
                    <a:srgbClr val="000000"/>
                  </a:outerShdw>
                </a:effectLst>
              </a:rPr>
              <a:t>S  U  C  C  E  S  S</a:t>
            </a:r>
          </a:p>
        </p:txBody>
      </p:sp>
      <p:sp>
        <p:nvSpPr>
          <p:cNvPr id="83013" name="Line 69"/>
          <p:cNvSpPr>
            <a:spLocks noChangeShapeType="1"/>
          </p:cNvSpPr>
          <p:nvPr/>
        </p:nvSpPr>
        <p:spPr bwMode="auto">
          <a:xfrm rot="60000" flipV="1">
            <a:off x="4494213" y="4419600"/>
            <a:ext cx="3657600" cy="1598613"/>
          </a:xfrm>
          <a:prstGeom prst="line">
            <a:avLst/>
          </a:prstGeom>
          <a:noFill/>
          <a:ln w="60325">
            <a:solidFill>
              <a:srgbClr val="00CC00"/>
            </a:solidFill>
            <a:round/>
            <a:headEnd/>
            <a:tailEnd type="triangle" w="med" len="med"/>
          </a:ln>
          <a:effectLst/>
        </p:spPr>
        <p:txBody>
          <a:bodyPr/>
          <a:lstStyle/>
          <a:p>
            <a:endParaRPr lang="en-US"/>
          </a:p>
        </p:txBody>
      </p:sp>
      <p:sp>
        <p:nvSpPr>
          <p:cNvPr id="83014" name="Rectangle 70"/>
          <p:cNvSpPr>
            <a:spLocks noChangeArrowheads="1"/>
          </p:cNvSpPr>
          <p:nvPr/>
        </p:nvSpPr>
        <p:spPr bwMode="auto">
          <a:xfrm>
            <a:off x="76200" y="4343400"/>
            <a:ext cx="1752600" cy="1676400"/>
          </a:xfrm>
          <a:prstGeom prst="rect">
            <a:avLst/>
          </a:prstGeom>
          <a:gradFill rotWithShape="0">
            <a:gsLst>
              <a:gs pos="0">
                <a:schemeClr val="accent2"/>
              </a:gs>
              <a:gs pos="100000">
                <a:schemeClr val="accent2">
                  <a:gamma/>
                  <a:shade val="90980"/>
                  <a:invGamma/>
                </a:schemeClr>
              </a:gs>
            </a:gsLst>
            <a:lin ang="5400000" scaled="1"/>
          </a:gradFill>
          <a:ln w="9525">
            <a:noFill/>
            <a:miter lim="800000"/>
            <a:headEnd/>
            <a:tailEnd/>
          </a:ln>
          <a:effectLst/>
        </p:spPr>
        <p:txBody>
          <a:bodyPr wrap="none" anchor="ctr"/>
          <a:lstStyle/>
          <a:p>
            <a:pPr algn="ctr"/>
            <a:r>
              <a:rPr lang="en-US" sz="2000" b="1">
                <a:solidFill>
                  <a:srgbClr val="00CC00"/>
                </a:solidFill>
              </a:rPr>
              <a:t>Constantly </a:t>
            </a:r>
          </a:p>
          <a:p>
            <a:pPr algn="ctr"/>
            <a:r>
              <a:rPr lang="en-US" sz="2000" b="1">
                <a:solidFill>
                  <a:srgbClr val="00CC00"/>
                </a:solidFill>
              </a:rPr>
              <a:t>update </a:t>
            </a:r>
          </a:p>
          <a:p>
            <a:pPr algn="ctr"/>
            <a:r>
              <a:rPr lang="en-US" sz="2000" b="1">
                <a:solidFill>
                  <a:srgbClr val="00CC00"/>
                </a:solidFill>
              </a:rPr>
              <a:t>your </a:t>
            </a:r>
          </a:p>
          <a:p>
            <a:pPr algn="ctr"/>
            <a:r>
              <a:rPr lang="en-US" sz="2000" b="1">
                <a:solidFill>
                  <a:srgbClr val="00CC00"/>
                </a:solidFill>
              </a:rPr>
              <a:t>“commercial”</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box(out)">
                                      <p:cBhvr>
                                        <p:cTn id="7" dur="500"/>
                                        <p:tgtEl>
                                          <p:spTgt spid="82946"/>
                                        </p:tgtEl>
                                      </p:cBhvr>
                                    </p:animEffect>
                                  </p:childTnLst>
                                </p:cTn>
                              </p:par>
                            </p:childTnLst>
                          </p:cTn>
                        </p:par>
                        <p:par>
                          <p:cTn id="8" fill="hold">
                            <p:stCondLst>
                              <p:cond delay="500"/>
                            </p:stCondLst>
                            <p:childTnLst>
                              <p:par>
                                <p:cTn id="9" presetID="17" presetClass="entr" presetSubtype="4" fill="hold" grpId="0" nodeType="afterEffect">
                                  <p:stCondLst>
                                    <p:cond delay="1000"/>
                                  </p:stCondLst>
                                  <p:childTnLst>
                                    <p:set>
                                      <p:cBhvr>
                                        <p:cTn id="10" dur="1" fill="hold">
                                          <p:stCondLst>
                                            <p:cond delay="0"/>
                                          </p:stCondLst>
                                        </p:cTn>
                                        <p:tgtEl>
                                          <p:spTgt spid="83014"/>
                                        </p:tgtEl>
                                        <p:attrNameLst>
                                          <p:attrName>style.visibility</p:attrName>
                                        </p:attrNameLst>
                                      </p:cBhvr>
                                      <p:to>
                                        <p:strVal val="visible"/>
                                      </p:to>
                                    </p:set>
                                    <p:anim calcmode="lin" valueType="num">
                                      <p:cBhvr>
                                        <p:cTn id="11" dur="500" fill="hold"/>
                                        <p:tgtEl>
                                          <p:spTgt spid="83014"/>
                                        </p:tgtEl>
                                        <p:attrNameLst>
                                          <p:attrName>ppt_x</p:attrName>
                                        </p:attrNameLst>
                                      </p:cBhvr>
                                      <p:tavLst>
                                        <p:tav tm="0">
                                          <p:val>
                                            <p:strVal val="#ppt_x"/>
                                          </p:val>
                                        </p:tav>
                                        <p:tav tm="100000">
                                          <p:val>
                                            <p:strVal val="#ppt_x"/>
                                          </p:val>
                                        </p:tav>
                                      </p:tavLst>
                                    </p:anim>
                                    <p:anim calcmode="lin" valueType="num">
                                      <p:cBhvr>
                                        <p:cTn id="12" dur="500" fill="hold"/>
                                        <p:tgtEl>
                                          <p:spTgt spid="83014"/>
                                        </p:tgtEl>
                                        <p:attrNameLst>
                                          <p:attrName>ppt_y</p:attrName>
                                        </p:attrNameLst>
                                      </p:cBhvr>
                                      <p:tavLst>
                                        <p:tav tm="0">
                                          <p:val>
                                            <p:strVal val="#ppt_y+#ppt_h/2"/>
                                          </p:val>
                                        </p:tav>
                                        <p:tav tm="100000">
                                          <p:val>
                                            <p:strVal val="#ppt_y"/>
                                          </p:val>
                                        </p:tav>
                                      </p:tavLst>
                                    </p:anim>
                                    <p:anim calcmode="lin" valueType="num">
                                      <p:cBhvr>
                                        <p:cTn id="13" dur="500" fill="hold"/>
                                        <p:tgtEl>
                                          <p:spTgt spid="83014"/>
                                        </p:tgtEl>
                                        <p:attrNameLst>
                                          <p:attrName>ppt_w</p:attrName>
                                        </p:attrNameLst>
                                      </p:cBhvr>
                                      <p:tavLst>
                                        <p:tav tm="0">
                                          <p:val>
                                            <p:strVal val="#ppt_w"/>
                                          </p:val>
                                        </p:tav>
                                        <p:tav tm="100000">
                                          <p:val>
                                            <p:strVal val="#ppt_w"/>
                                          </p:val>
                                        </p:tav>
                                      </p:tavLst>
                                    </p:anim>
                                    <p:anim calcmode="lin" valueType="num">
                                      <p:cBhvr>
                                        <p:cTn id="14" dur="500" fill="hold"/>
                                        <p:tgtEl>
                                          <p:spTgt spid="83014"/>
                                        </p:tgtEl>
                                        <p:attrNameLst>
                                          <p:attrName>ppt_h</p:attrName>
                                        </p:attrNameLst>
                                      </p:cBhvr>
                                      <p:tavLst>
                                        <p:tav tm="0">
                                          <p:val>
                                            <p:fltVal val="0"/>
                                          </p:val>
                                        </p:tav>
                                        <p:tav tm="100000">
                                          <p:val>
                                            <p:strVal val="#ppt_h"/>
                                          </p:val>
                                        </p:tav>
                                      </p:tavLst>
                                    </p:anim>
                                  </p:childTnLst>
                                </p:cTn>
                              </p:par>
                            </p:childTnLst>
                          </p:cTn>
                        </p:par>
                        <p:par>
                          <p:cTn id="15" fill="hold">
                            <p:stCondLst>
                              <p:cond delay="2000"/>
                            </p:stCondLst>
                            <p:childTnLst>
                              <p:par>
                                <p:cTn id="16" presetID="9" presetClass="entr" presetSubtype="0" fill="hold" grpId="0" nodeType="afterEffect">
                                  <p:stCondLst>
                                    <p:cond delay="1000"/>
                                  </p:stCondLst>
                                  <p:childTnLst>
                                    <p:set>
                                      <p:cBhvr>
                                        <p:cTn id="17" dur="1" fill="hold">
                                          <p:stCondLst>
                                            <p:cond delay="0"/>
                                          </p:stCondLst>
                                        </p:cTn>
                                        <p:tgtEl>
                                          <p:spTgt spid="82958"/>
                                        </p:tgtEl>
                                        <p:attrNameLst>
                                          <p:attrName>style.visibility</p:attrName>
                                        </p:attrNameLst>
                                      </p:cBhvr>
                                      <p:to>
                                        <p:strVal val="visible"/>
                                      </p:to>
                                    </p:set>
                                    <p:animEffect transition="in" filter="dissolve">
                                      <p:cBhvr>
                                        <p:cTn id="18" dur="500"/>
                                        <p:tgtEl>
                                          <p:spTgt spid="82958"/>
                                        </p:tgtEl>
                                      </p:cBhvr>
                                    </p:animEffect>
                                  </p:childTnLst>
                                </p:cTn>
                              </p:par>
                            </p:childTnLst>
                          </p:cTn>
                        </p:par>
                        <p:par>
                          <p:cTn id="19" fill="hold">
                            <p:stCondLst>
                              <p:cond delay="3500"/>
                            </p:stCondLst>
                            <p:childTnLst>
                              <p:par>
                                <p:cTn id="20" presetID="17" presetClass="entr" presetSubtype="10" fill="hold" grpId="0" nodeType="afterEffect">
                                  <p:stCondLst>
                                    <p:cond delay="1000"/>
                                  </p:stCondLst>
                                  <p:childTnLst>
                                    <p:set>
                                      <p:cBhvr>
                                        <p:cTn id="21" dur="1" fill="hold">
                                          <p:stCondLst>
                                            <p:cond delay="0"/>
                                          </p:stCondLst>
                                        </p:cTn>
                                        <p:tgtEl>
                                          <p:spTgt spid="82959"/>
                                        </p:tgtEl>
                                        <p:attrNameLst>
                                          <p:attrName>style.visibility</p:attrName>
                                        </p:attrNameLst>
                                      </p:cBhvr>
                                      <p:to>
                                        <p:strVal val="visible"/>
                                      </p:to>
                                    </p:set>
                                    <p:anim calcmode="lin" valueType="num">
                                      <p:cBhvr>
                                        <p:cTn id="22" dur="500" fill="hold"/>
                                        <p:tgtEl>
                                          <p:spTgt spid="82959"/>
                                        </p:tgtEl>
                                        <p:attrNameLst>
                                          <p:attrName>ppt_w</p:attrName>
                                        </p:attrNameLst>
                                      </p:cBhvr>
                                      <p:tavLst>
                                        <p:tav tm="0">
                                          <p:val>
                                            <p:fltVal val="0"/>
                                          </p:val>
                                        </p:tav>
                                        <p:tav tm="100000">
                                          <p:val>
                                            <p:strVal val="#ppt_w"/>
                                          </p:val>
                                        </p:tav>
                                      </p:tavLst>
                                    </p:anim>
                                    <p:anim calcmode="lin" valueType="num">
                                      <p:cBhvr>
                                        <p:cTn id="23" dur="500" fill="hold"/>
                                        <p:tgtEl>
                                          <p:spTgt spid="82959"/>
                                        </p:tgtEl>
                                        <p:attrNameLst>
                                          <p:attrName>ppt_h</p:attrName>
                                        </p:attrNameLst>
                                      </p:cBhvr>
                                      <p:tavLst>
                                        <p:tav tm="0">
                                          <p:val>
                                            <p:strVal val="#ppt_h"/>
                                          </p:val>
                                        </p:tav>
                                        <p:tav tm="100000">
                                          <p:val>
                                            <p:strVal val="#ppt_h"/>
                                          </p:val>
                                        </p:tav>
                                      </p:tavLst>
                                    </p:anim>
                                  </p:childTnLst>
                                </p:cTn>
                              </p:par>
                            </p:childTnLst>
                          </p:cTn>
                        </p:par>
                        <p:par>
                          <p:cTn id="24" fill="hold">
                            <p:stCondLst>
                              <p:cond delay="5000"/>
                            </p:stCondLst>
                            <p:childTnLst>
                              <p:par>
                                <p:cTn id="25" presetID="16" presetClass="entr" presetSubtype="42" fill="hold" grpId="0" nodeType="afterEffect">
                                  <p:stCondLst>
                                    <p:cond delay="1000"/>
                                  </p:stCondLst>
                                  <p:childTnLst>
                                    <p:set>
                                      <p:cBhvr>
                                        <p:cTn id="26" dur="1" fill="hold">
                                          <p:stCondLst>
                                            <p:cond delay="0"/>
                                          </p:stCondLst>
                                        </p:cTn>
                                        <p:tgtEl>
                                          <p:spTgt spid="82960"/>
                                        </p:tgtEl>
                                        <p:attrNameLst>
                                          <p:attrName>style.visibility</p:attrName>
                                        </p:attrNameLst>
                                      </p:cBhvr>
                                      <p:to>
                                        <p:strVal val="visible"/>
                                      </p:to>
                                    </p:set>
                                    <p:animEffect transition="in" filter="barn(outHorizontal)">
                                      <p:cBhvr>
                                        <p:cTn id="27" dur="500"/>
                                        <p:tgtEl>
                                          <p:spTgt spid="82960"/>
                                        </p:tgtEl>
                                      </p:cBhvr>
                                    </p:animEffect>
                                  </p:childTnLst>
                                </p:cTn>
                              </p:par>
                            </p:childTnLst>
                          </p:cTn>
                        </p:par>
                        <p:par>
                          <p:cTn id="28" fill="hold">
                            <p:stCondLst>
                              <p:cond delay="6500"/>
                            </p:stCondLst>
                            <p:childTnLst>
                              <p:par>
                                <p:cTn id="29" presetID="2" presetClass="entr" presetSubtype="1" fill="hold" grpId="0" nodeType="afterEffect">
                                  <p:stCondLst>
                                    <p:cond delay="1000"/>
                                  </p:stCondLst>
                                  <p:childTnLst>
                                    <p:set>
                                      <p:cBhvr>
                                        <p:cTn id="30" dur="1" fill="hold">
                                          <p:stCondLst>
                                            <p:cond delay="0"/>
                                          </p:stCondLst>
                                        </p:cTn>
                                        <p:tgtEl>
                                          <p:spTgt spid="82961"/>
                                        </p:tgtEl>
                                        <p:attrNameLst>
                                          <p:attrName>style.visibility</p:attrName>
                                        </p:attrNameLst>
                                      </p:cBhvr>
                                      <p:to>
                                        <p:strVal val="visible"/>
                                      </p:to>
                                    </p:set>
                                    <p:anim calcmode="lin" valueType="num">
                                      <p:cBhvr additive="base">
                                        <p:cTn id="31" dur="500" fill="hold"/>
                                        <p:tgtEl>
                                          <p:spTgt spid="82961"/>
                                        </p:tgtEl>
                                        <p:attrNameLst>
                                          <p:attrName>ppt_x</p:attrName>
                                        </p:attrNameLst>
                                      </p:cBhvr>
                                      <p:tavLst>
                                        <p:tav tm="0">
                                          <p:val>
                                            <p:strVal val="#ppt_x"/>
                                          </p:val>
                                        </p:tav>
                                        <p:tav tm="100000">
                                          <p:val>
                                            <p:strVal val="#ppt_x"/>
                                          </p:val>
                                        </p:tav>
                                      </p:tavLst>
                                    </p:anim>
                                    <p:anim calcmode="lin" valueType="num">
                                      <p:cBhvr additive="base">
                                        <p:cTn id="32" dur="500" fill="hold"/>
                                        <p:tgtEl>
                                          <p:spTgt spid="82961"/>
                                        </p:tgtEl>
                                        <p:attrNameLst>
                                          <p:attrName>ppt_y</p:attrName>
                                        </p:attrNameLst>
                                      </p:cBhvr>
                                      <p:tavLst>
                                        <p:tav tm="0">
                                          <p:val>
                                            <p:strVal val="0-#ppt_h/2"/>
                                          </p:val>
                                        </p:tav>
                                        <p:tav tm="100000">
                                          <p:val>
                                            <p:strVal val="#ppt_y"/>
                                          </p:val>
                                        </p:tav>
                                      </p:tavLst>
                                    </p:anim>
                                  </p:childTnLst>
                                </p:cTn>
                              </p:par>
                            </p:childTnLst>
                          </p:cTn>
                        </p:par>
                        <p:par>
                          <p:cTn id="33" fill="hold">
                            <p:stCondLst>
                              <p:cond delay="8000"/>
                            </p:stCondLst>
                            <p:childTnLst>
                              <p:par>
                                <p:cTn id="34" presetID="9" presetClass="entr" presetSubtype="0" fill="hold" grpId="0" nodeType="afterEffect">
                                  <p:stCondLst>
                                    <p:cond delay="1000"/>
                                  </p:stCondLst>
                                  <p:iterate type="lt">
                                    <p:tmPct val="100000"/>
                                  </p:iterate>
                                  <p:childTnLst>
                                    <p:set>
                                      <p:cBhvr>
                                        <p:cTn id="35" dur="1" fill="hold">
                                          <p:stCondLst>
                                            <p:cond delay="0"/>
                                          </p:stCondLst>
                                        </p:cTn>
                                        <p:tgtEl>
                                          <p:spTgt spid="83008"/>
                                        </p:tgtEl>
                                        <p:attrNameLst>
                                          <p:attrName>style.visibility</p:attrName>
                                        </p:attrNameLst>
                                      </p:cBhvr>
                                      <p:to>
                                        <p:strVal val="visible"/>
                                      </p:to>
                                    </p:set>
                                    <p:animEffect transition="in" filter="dissolve">
                                      <p:cBhvr>
                                        <p:cTn id="36" dur="75"/>
                                        <p:tgtEl>
                                          <p:spTgt spid="83008"/>
                                        </p:tgtEl>
                                      </p:cBhvr>
                                    </p:animEffect>
                                  </p:childTnLst>
                                </p:cTn>
                              </p:par>
                            </p:childTnLst>
                          </p:cTn>
                        </p:par>
                        <p:par>
                          <p:cTn id="37" fill="hold">
                            <p:stCondLst>
                              <p:cond delay="9525"/>
                            </p:stCondLst>
                            <p:childTnLst>
                              <p:par>
                                <p:cTn id="38" presetID="23" presetClass="entr" presetSubtype="16" fill="hold" grpId="0" nodeType="afterEffect">
                                  <p:stCondLst>
                                    <p:cond delay="0"/>
                                  </p:stCondLst>
                                  <p:childTnLst>
                                    <p:set>
                                      <p:cBhvr>
                                        <p:cTn id="39" dur="1" fill="hold">
                                          <p:stCondLst>
                                            <p:cond delay="0"/>
                                          </p:stCondLst>
                                        </p:cTn>
                                        <p:tgtEl>
                                          <p:spTgt spid="83013"/>
                                        </p:tgtEl>
                                        <p:attrNameLst>
                                          <p:attrName>style.visibility</p:attrName>
                                        </p:attrNameLst>
                                      </p:cBhvr>
                                      <p:to>
                                        <p:strVal val="visible"/>
                                      </p:to>
                                    </p:set>
                                    <p:anim calcmode="lin" valueType="num">
                                      <p:cBhvr>
                                        <p:cTn id="40" dur="500" fill="hold"/>
                                        <p:tgtEl>
                                          <p:spTgt spid="83013"/>
                                        </p:tgtEl>
                                        <p:attrNameLst>
                                          <p:attrName>ppt_w</p:attrName>
                                        </p:attrNameLst>
                                      </p:cBhvr>
                                      <p:tavLst>
                                        <p:tav tm="0">
                                          <p:val>
                                            <p:fltVal val="0"/>
                                          </p:val>
                                        </p:tav>
                                        <p:tav tm="100000">
                                          <p:val>
                                            <p:strVal val="#ppt_w"/>
                                          </p:val>
                                        </p:tav>
                                      </p:tavLst>
                                    </p:anim>
                                    <p:anim calcmode="lin" valueType="num">
                                      <p:cBhvr>
                                        <p:cTn id="41" dur="500" fill="hold"/>
                                        <p:tgtEl>
                                          <p:spTgt spid="830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autoUpdateAnimBg="0"/>
      <p:bldP spid="82958" grpId="0" animBg="1" autoUpdateAnimBg="0"/>
      <p:bldP spid="82959" grpId="0" animBg="1" autoUpdateAnimBg="0"/>
      <p:bldP spid="82960" grpId="0" animBg="1" autoUpdateAnimBg="0"/>
      <p:bldP spid="82961" grpId="0" animBg="1" autoUpdateAnimBg="0"/>
      <p:bldP spid="83008" grpId="0" animBg="1" autoUpdateAnimBg="0"/>
      <p:bldP spid="83013" grpId="0" animBg="1"/>
      <p:bldP spid="83014"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ooter Placeholder 2"/>
          <p:cNvSpPr>
            <a:spLocks noGrp="1"/>
          </p:cNvSpPr>
          <p:nvPr>
            <p:ph type="ftr" sz="quarter" idx="11"/>
          </p:nvPr>
        </p:nvSpPr>
        <p:spPr/>
        <p:txBody>
          <a:bodyPr/>
          <a:lstStyle/>
          <a:p>
            <a:r>
              <a:rPr lang="en-US"/>
              <a:t>The Arbor Consulting Group</a:t>
            </a:r>
          </a:p>
        </p:txBody>
      </p:sp>
      <p:sp>
        <p:nvSpPr>
          <p:cNvPr id="18" name="Slide Number Placeholder 3"/>
          <p:cNvSpPr>
            <a:spLocks noGrp="1"/>
          </p:cNvSpPr>
          <p:nvPr>
            <p:ph type="sldNum" sz="quarter" idx="12"/>
          </p:nvPr>
        </p:nvSpPr>
        <p:spPr/>
        <p:txBody>
          <a:bodyPr/>
          <a:lstStyle/>
          <a:p>
            <a:fld id="{207DA89D-811F-4E9A-98E2-E37BD1E68F2F}" type="slidenum">
              <a:rPr lang="en-US"/>
              <a:pPr/>
              <a:t>22</a:t>
            </a:fld>
            <a:endParaRPr lang="en-US"/>
          </a:p>
        </p:txBody>
      </p:sp>
      <p:pic>
        <p:nvPicPr>
          <p:cNvPr id="85008" name="Picture 16" descr="C:\Personal\My Pictures\PowerPlugs Backgrounds\PowerPlugs BGs 2 G07D.jpg"/>
          <p:cNvPicPr>
            <a:picLocks noChangeAspect="1" noChangeArrowheads="1"/>
          </p:cNvPicPr>
          <p:nvPr/>
        </p:nvPicPr>
        <p:blipFill>
          <a:blip r:embed="rId4" cstate="print"/>
          <a:srcRect/>
          <a:stretch>
            <a:fillRect/>
          </a:stretch>
        </p:blipFill>
        <p:spPr bwMode="auto">
          <a:xfrm>
            <a:off x="0" y="30163"/>
            <a:ext cx="9144000" cy="6827837"/>
          </a:xfrm>
          <a:prstGeom prst="rect">
            <a:avLst/>
          </a:prstGeom>
          <a:noFill/>
        </p:spPr>
      </p:pic>
      <p:pic>
        <p:nvPicPr>
          <p:cNvPr id="84994" name="Picture 2" descr="S:\Mrkmtrls\LOGOS\newlogo.bmp"/>
          <p:cNvPicPr>
            <a:picLocks noChangeAspect="1" noChangeArrowheads="1"/>
          </p:cNvPicPr>
          <p:nvPr/>
        </p:nvPicPr>
        <p:blipFill>
          <a:blip r:embed="rId5" cstate="print"/>
          <a:srcRect/>
          <a:stretch>
            <a:fillRect/>
          </a:stretch>
        </p:blipFill>
        <p:spPr bwMode="auto">
          <a:xfrm>
            <a:off x="698500" y="1177925"/>
            <a:ext cx="1600200" cy="1347788"/>
          </a:xfrm>
          <a:prstGeom prst="rect">
            <a:avLst/>
          </a:prstGeom>
          <a:noFill/>
        </p:spPr>
      </p:pic>
      <p:sp>
        <p:nvSpPr>
          <p:cNvPr id="84995" name="Text Box 3"/>
          <p:cNvSpPr txBox="1">
            <a:spLocks noChangeArrowheads="1"/>
          </p:cNvSpPr>
          <p:nvPr/>
        </p:nvSpPr>
        <p:spPr bwMode="auto">
          <a:xfrm>
            <a:off x="3124200" y="327025"/>
            <a:ext cx="2971800" cy="6318250"/>
          </a:xfrm>
          <a:prstGeom prst="rect">
            <a:avLst/>
          </a:prstGeom>
          <a:noFill/>
          <a:ln w="9525">
            <a:noFill/>
            <a:miter lim="800000"/>
            <a:headEnd/>
            <a:tailEnd/>
          </a:ln>
          <a:effectLst/>
        </p:spPr>
        <p:txBody>
          <a:bodyPr>
            <a:spAutoFit/>
          </a:bodyPr>
          <a:lstStyle/>
          <a:p>
            <a:pPr algn="just"/>
            <a:r>
              <a:rPr lang="en-US" sz="1100">
                <a:cs typeface="Arial" charset="0"/>
              </a:rPr>
              <a:t>Joan E. Moore is the founder and President of The Arbor Consulting Group, Inc. Ms. Moore's expertise is in organization reviews, employee relations, project management, and EEO/affirmative action planning and regulatory compliance. She holds a doctor of jurisprudence degree from the School of Law at Case Western Reserve University and is a member of the Ohio Bar </a:t>
            </a:r>
          </a:p>
          <a:p>
            <a:pPr algn="just"/>
            <a:endParaRPr lang="en-US" sz="1100">
              <a:cs typeface="Arial" charset="0"/>
            </a:endParaRPr>
          </a:p>
          <a:p>
            <a:pPr algn="just"/>
            <a:r>
              <a:rPr lang="en-US" sz="1100">
                <a:cs typeface="Arial" charset="0"/>
              </a:rPr>
              <a:t>Ms. Moore is a frequent lecturer and seminar leader and is often quoted on human resources trends and issues. Her expertise includes employment law compliance in the areas of affirmative action, sexual harassment and ADA; and employee relations issues, such as employee climate assessments, employee opinion surveys, performance coaching and counseling, management development, networking and consulting.</a:t>
            </a:r>
          </a:p>
          <a:p>
            <a:pPr algn="just"/>
            <a:endParaRPr lang="en-US" sz="1100">
              <a:cs typeface="Arial" charset="0"/>
            </a:endParaRPr>
          </a:p>
          <a:p>
            <a:pPr algn="just"/>
            <a:r>
              <a:rPr lang="en-US" sz="1100">
                <a:cs typeface="Arial" charset="0"/>
              </a:rPr>
              <a:t>Ms. Moore was recently recognized by </a:t>
            </a:r>
            <a:r>
              <a:rPr lang="en-US" sz="1100" i="1">
                <a:cs typeface="Arial" charset="0"/>
              </a:rPr>
              <a:t>Crain’s Detroit Business</a:t>
            </a:r>
            <a:r>
              <a:rPr lang="en-US" sz="1100">
                <a:cs typeface="Arial" charset="0"/>
              </a:rPr>
              <a:t> as one of its Most Influential Women.  Ms. Moore is a Past President of the Human Resources Association of Greater Detroit (HRA), and is a member of the Greater Ann Arbor Area SHRM (GAASHRM). She presently serves on a National Expert Panel for SHRM, was a National HRD Committee member, was on the SHRM Committee Task Force and the National SHRM Area III Board.  She also founded the Arbor Awards for Excellence, recognizing innovative human resource practices in Michigan. </a:t>
            </a:r>
          </a:p>
          <a:p>
            <a:pPr algn="just"/>
            <a:endParaRPr lang="en-US" sz="1100">
              <a:cs typeface="Arial" charset="0"/>
            </a:endParaRPr>
          </a:p>
        </p:txBody>
      </p:sp>
      <p:sp>
        <p:nvSpPr>
          <p:cNvPr id="84996" name="Text Box 4"/>
          <p:cNvSpPr txBox="1">
            <a:spLocks noChangeArrowheads="1"/>
          </p:cNvSpPr>
          <p:nvPr/>
        </p:nvSpPr>
        <p:spPr bwMode="auto">
          <a:xfrm>
            <a:off x="6280150" y="327025"/>
            <a:ext cx="2743200" cy="1438275"/>
          </a:xfrm>
          <a:prstGeom prst="rect">
            <a:avLst/>
          </a:prstGeom>
          <a:noFill/>
          <a:ln w="9525">
            <a:noFill/>
            <a:miter lim="800000"/>
            <a:headEnd/>
            <a:tailEnd/>
          </a:ln>
          <a:effectLst/>
        </p:spPr>
        <p:txBody>
          <a:bodyPr>
            <a:spAutoFit/>
          </a:bodyPr>
          <a:lstStyle/>
          <a:p>
            <a:pPr algn="just"/>
            <a:r>
              <a:rPr lang="en-US" sz="1100">
                <a:cs typeface="Arial" charset="0"/>
              </a:rPr>
              <a:t>The consultants of Arbor are experienced human resources professionals with complementary skills in project management, organization analysis, employee relations, management development, program evaluation and regulatory and legal compliance.</a:t>
            </a:r>
          </a:p>
          <a:p>
            <a:pPr algn="just"/>
            <a:endParaRPr lang="en-US" sz="1100"/>
          </a:p>
        </p:txBody>
      </p:sp>
      <p:sp>
        <p:nvSpPr>
          <p:cNvPr id="84997" name="Text Box 5"/>
          <p:cNvSpPr txBox="1">
            <a:spLocks noChangeArrowheads="1"/>
          </p:cNvSpPr>
          <p:nvPr/>
        </p:nvSpPr>
        <p:spPr bwMode="auto">
          <a:xfrm>
            <a:off x="0" y="4029075"/>
            <a:ext cx="2865438" cy="2447925"/>
          </a:xfrm>
          <a:prstGeom prst="rect">
            <a:avLst/>
          </a:prstGeom>
          <a:noFill/>
          <a:ln w="9525">
            <a:noFill/>
            <a:miter lim="800000"/>
            <a:headEnd/>
            <a:tailEnd/>
          </a:ln>
          <a:effectLst/>
        </p:spPr>
        <p:txBody>
          <a:bodyPr>
            <a:spAutoFit/>
          </a:bodyPr>
          <a:lstStyle/>
          <a:p>
            <a:pPr algn="just"/>
            <a:r>
              <a:rPr lang="en-US" sz="1100">
                <a:cs typeface="Arial" charset="0"/>
              </a:rPr>
              <a:t>The Arbor Consulting Group, Inc. is a national human resources management consulting firm specializing in affirmative action and human resources/employment law compliance, HR audits and investigations and employee relations and retention.</a:t>
            </a:r>
          </a:p>
          <a:p>
            <a:pPr algn="just"/>
            <a:endParaRPr lang="en-US" sz="1100">
              <a:cs typeface="Arial" charset="0"/>
            </a:endParaRPr>
          </a:p>
          <a:p>
            <a:pPr algn="just"/>
            <a:r>
              <a:rPr lang="en-US" sz="1100">
                <a:cs typeface="Arial" charset="0"/>
              </a:rPr>
              <a:t>Founded in 1983, Arbor has earned a reputation for designing and implementing quality, timely, and cost-effective human resources applications in local, national, and international arenas.</a:t>
            </a:r>
          </a:p>
          <a:p>
            <a:pPr algn="just"/>
            <a:endParaRPr lang="en-US" sz="1100"/>
          </a:p>
        </p:txBody>
      </p:sp>
      <p:sp>
        <p:nvSpPr>
          <p:cNvPr id="84998" name="Text Box 6"/>
          <p:cNvSpPr txBox="1">
            <a:spLocks noChangeArrowheads="1"/>
          </p:cNvSpPr>
          <p:nvPr/>
        </p:nvSpPr>
        <p:spPr bwMode="auto">
          <a:xfrm>
            <a:off x="6280150" y="2054225"/>
            <a:ext cx="2743200" cy="765175"/>
          </a:xfrm>
          <a:prstGeom prst="rect">
            <a:avLst/>
          </a:prstGeom>
          <a:noFill/>
          <a:ln w="9525">
            <a:noFill/>
            <a:miter lim="800000"/>
            <a:headEnd/>
            <a:tailEnd/>
          </a:ln>
          <a:effectLst/>
        </p:spPr>
        <p:txBody>
          <a:bodyPr>
            <a:spAutoFit/>
          </a:bodyPr>
          <a:lstStyle/>
          <a:p>
            <a:pPr algn="just"/>
            <a:r>
              <a:rPr lang="en-US" sz="1100">
                <a:cs typeface="Arial" charset="0"/>
              </a:rPr>
              <a:t>Arbor provides consulting services in the following areas of human resources management:</a:t>
            </a:r>
          </a:p>
          <a:p>
            <a:pPr algn="just"/>
            <a:endParaRPr lang="en-US" sz="1100"/>
          </a:p>
        </p:txBody>
      </p:sp>
      <p:sp>
        <p:nvSpPr>
          <p:cNvPr id="84999" name="Text Box 7"/>
          <p:cNvSpPr txBox="1">
            <a:spLocks noChangeArrowheads="1"/>
          </p:cNvSpPr>
          <p:nvPr/>
        </p:nvSpPr>
        <p:spPr bwMode="auto">
          <a:xfrm>
            <a:off x="6280150" y="2682875"/>
            <a:ext cx="2863850" cy="2616200"/>
          </a:xfrm>
          <a:prstGeom prst="rect">
            <a:avLst/>
          </a:prstGeom>
          <a:noFill/>
          <a:ln w="9525">
            <a:noFill/>
            <a:miter lim="800000"/>
            <a:headEnd/>
            <a:tailEnd/>
          </a:ln>
          <a:effectLst/>
        </p:spPr>
        <p:txBody>
          <a:bodyPr>
            <a:spAutoFit/>
          </a:bodyPr>
          <a:lstStyle/>
          <a:p>
            <a:pPr>
              <a:buFontTx/>
              <a:buChar char="•"/>
              <a:tabLst>
                <a:tab pos="114300" algn="l"/>
              </a:tabLst>
            </a:pPr>
            <a:r>
              <a:rPr lang="en-US" sz="1100">
                <a:cs typeface="Arial" charset="0"/>
              </a:rPr>
              <a:t> HR/Employment Law Compliance</a:t>
            </a:r>
          </a:p>
          <a:p>
            <a:pPr>
              <a:buFontTx/>
              <a:buChar char="•"/>
              <a:tabLst>
                <a:tab pos="114300" algn="l"/>
              </a:tabLst>
            </a:pPr>
            <a:r>
              <a:rPr lang="en-US" sz="1100">
                <a:cs typeface="Arial" charset="0"/>
              </a:rPr>
              <a:t> Affirmative Action</a:t>
            </a:r>
          </a:p>
          <a:p>
            <a:pPr marL="114300" lvl="1">
              <a:tabLst>
                <a:tab pos="114300" algn="l"/>
              </a:tabLst>
            </a:pPr>
            <a:r>
              <a:rPr lang="en-US" sz="1100">
                <a:cs typeface="Arial" charset="0"/>
              </a:rPr>
              <a:t>     - Affirmative Action Plan Preparation    </a:t>
            </a:r>
          </a:p>
          <a:p>
            <a:pPr marL="114300" lvl="1">
              <a:tabLst>
                <a:tab pos="114300" algn="l"/>
              </a:tabLst>
            </a:pPr>
            <a:r>
              <a:rPr lang="en-US" sz="1100">
                <a:cs typeface="Arial" charset="0"/>
              </a:rPr>
              <a:t>       &amp; Implementation</a:t>
            </a:r>
          </a:p>
          <a:p>
            <a:pPr marL="114300" lvl="1">
              <a:tabLst>
                <a:tab pos="114300" algn="l"/>
              </a:tabLst>
            </a:pPr>
            <a:r>
              <a:rPr lang="en-US" sz="1100">
                <a:cs typeface="Arial" charset="0"/>
              </a:rPr>
              <a:t>     - Audit Support</a:t>
            </a:r>
          </a:p>
          <a:p>
            <a:pPr marL="114300" lvl="1">
              <a:tabLst>
                <a:tab pos="114300" algn="l"/>
              </a:tabLst>
            </a:pPr>
            <a:r>
              <a:rPr lang="en-US" sz="1100">
                <a:cs typeface="Arial" charset="0"/>
              </a:rPr>
              <a:t>     - Training</a:t>
            </a:r>
          </a:p>
          <a:p>
            <a:pPr>
              <a:buFontTx/>
              <a:buChar char="•"/>
              <a:tabLst>
                <a:tab pos="114300" algn="l"/>
              </a:tabLst>
            </a:pPr>
            <a:r>
              <a:rPr lang="en-US" sz="1100">
                <a:cs typeface="Arial" charset="0"/>
              </a:rPr>
              <a:t> Human Resources Audits</a:t>
            </a:r>
          </a:p>
          <a:p>
            <a:pPr>
              <a:buFontTx/>
              <a:buChar char="•"/>
              <a:tabLst>
                <a:tab pos="114300" algn="l"/>
              </a:tabLst>
            </a:pPr>
            <a:r>
              <a:rPr lang="en-US" sz="1100">
                <a:cs typeface="Arial" charset="0"/>
              </a:rPr>
              <a:t> Human Resources Investigations </a:t>
            </a:r>
          </a:p>
          <a:p>
            <a:pPr>
              <a:buFontTx/>
              <a:buChar char="•"/>
              <a:tabLst>
                <a:tab pos="114300" algn="l"/>
              </a:tabLst>
            </a:pPr>
            <a:r>
              <a:rPr lang="en-US" sz="1100">
                <a:cs typeface="Arial" charset="0"/>
              </a:rPr>
              <a:t> Employee Relations Culture/Climate                    	Assessments</a:t>
            </a:r>
          </a:p>
          <a:p>
            <a:pPr>
              <a:buFontTx/>
              <a:buChar char="•"/>
              <a:tabLst>
                <a:tab pos="114300" algn="l"/>
              </a:tabLst>
            </a:pPr>
            <a:r>
              <a:rPr lang="en-US" sz="1100">
                <a:cs typeface="Arial" charset="0"/>
              </a:rPr>
              <a:t> Workplace Problem/Risk Evaluations</a:t>
            </a:r>
          </a:p>
          <a:p>
            <a:pPr>
              <a:buFontTx/>
              <a:buChar char="•"/>
              <a:tabLst>
                <a:tab pos="114300" algn="l"/>
              </a:tabLst>
            </a:pPr>
            <a:r>
              <a:rPr lang="en-US" sz="1100">
                <a:cs typeface="Arial" charset="0"/>
              </a:rPr>
              <a:t> Retention, Succession Planning and 	Leadership Development</a:t>
            </a:r>
          </a:p>
          <a:p>
            <a:pPr>
              <a:buFontTx/>
              <a:buChar char="•"/>
              <a:tabLst>
                <a:tab pos="114300" algn="l"/>
              </a:tabLst>
            </a:pPr>
            <a:r>
              <a:rPr lang="en-US" sz="1100">
                <a:cs typeface="Arial" charset="0"/>
              </a:rPr>
              <a:t> Exit Interview Surveys</a:t>
            </a:r>
          </a:p>
          <a:p>
            <a:pPr>
              <a:buFontTx/>
              <a:buChar char="•"/>
              <a:tabLst>
                <a:tab pos="114300" algn="l"/>
              </a:tabLst>
            </a:pPr>
            <a:r>
              <a:rPr lang="en-US" sz="1100">
                <a:cs typeface="Arial" charset="0"/>
              </a:rPr>
              <a:t> Policy and Procedure Manuals</a:t>
            </a:r>
            <a:endParaRPr lang="en-US" sz="1100"/>
          </a:p>
        </p:txBody>
      </p:sp>
      <p:sp>
        <p:nvSpPr>
          <p:cNvPr id="85000" name="Text Box 8"/>
          <p:cNvSpPr txBox="1">
            <a:spLocks noChangeArrowheads="1"/>
          </p:cNvSpPr>
          <p:nvPr/>
        </p:nvSpPr>
        <p:spPr bwMode="auto">
          <a:xfrm>
            <a:off x="6280150" y="30163"/>
            <a:ext cx="1057275" cy="274637"/>
          </a:xfrm>
          <a:prstGeom prst="rect">
            <a:avLst/>
          </a:prstGeom>
          <a:noFill/>
          <a:ln w="9525">
            <a:noFill/>
            <a:miter lim="800000"/>
            <a:headEnd/>
            <a:tailEnd/>
          </a:ln>
          <a:effectLst/>
        </p:spPr>
        <p:txBody>
          <a:bodyPr wrap="none">
            <a:spAutoFit/>
          </a:bodyPr>
          <a:lstStyle/>
          <a:p>
            <a:r>
              <a:rPr lang="en-US" sz="1200" b="1"/>
              <a:t>OUR STAFF</a:t>
            </a:r>
          </a:p>
        </p:txBody>
      </p:sp>
      <p:sp>
        <p:nvSpPr>
          <p:cNvPr id="85001" name="Text Box 9"/>
          <p:cNvSpPr txBox="1">
            <a:spLocks noChangeArrowheads="1"/>
          </p:cNvSpPr>
          <p:nvPr/>
        </p:nvSpPr>
        <p:spPr bwMode="auto">
          <a:xfrm>
            <a:off x="6280150" y="1782763"/>
            <a:ext cx="1335088" cy="274637"/>
          </a:xfrm>
          <a:prstGeom prst="rect">
            <a:avLst/>
          </a:prstGeom>
          <a:noFill/>
          <a:ln w="9525">
            <a:noFill/>
            <a:miter lim="800000"/>
            <a:headEnd/>
            <a:tailEnd/>
          </a:ln>
          <a:effectLst/>
        </p:spPr>
        <p:txBody>
          <a:bodyPr wrap="none">
            <a:spAutoFit/>
          </a:bodyPr>
          <a:lstStyle/>
          <a:p>
            <a:r>
              <a:rPr lang="en-US" sz="1200" b="1"/>
              <a:t>OUR SERVICES</a:t>
            </a:r>
          </a:p>
        </p:txBody>
      </p:sp>
      <p:sp>
        <p:nvSpPr>
          <p:cNvPr id="85002" name="Text Box 10"/>
          <p:cNvSpPr txBox="1">
            <a:spLocks noChangeArrowheads="1"/>
          </p:cNvSpPr>
          <p:nvPr/>
        </p:nvSpPr>
        <p:spPr bwMode="auto">
          <a:xfrm>
            <a:off x="3124200" y="30163"/>
            <a:ext cx="2286000" cy="274637"/>
          </a:xfrm>
          <a:prstGeom prst="rect">
            <a:avLst/>
          </a:prstGeom>
          <a:noFill/>
          <a:ln w="9525">
            <a:noFill/>
            <a:miter lim="800000"/>
            <a:headEnd/>
            <a:tailEnd/>
          </a:ln>
          <a:effectLst/>
        </p:spPr>
        <p:txBody>
          <a:bodyPr wrap="none">
            <a:spAutoFit/>
          </a:bodyPr>
          <a:lstStyle/>
          <a:p>
            <a:r>
              <a:rPr lang="en-US" sz="1200" b="1"/>
              <a:t>JOAN E. MOORE, J.D., SPHR</a:t>
            </a:r>
          </a:p>
        </p:txBody>
      </p:sp>
      <p:sp>
        <p:nvSpPr>
          <p:cNvPr id="85003" name="Text Box 11"/>
          <p:cNvSpPr txBox="1">
            <a:spLocks noChangeArrowheads="1"/>
          </p:cNvSpPr>
          <p:nvPr/>
        </p:nvSpPr>
        <p:spPr bwMode="auto">
          <a:xfrm>
            <a:off x="0" y="3800475"/>
            <a:ext cx="979488" cy="274638"/>
          </a:xfrm>
          <a:prstGeom prst="rect">
            <a:avLst/>
          </a:prstGeom>
          <a:noFill/>
          <a:ln w="9525">
            <a:noFill/>
            <a:miter lim="800000"/>
            <a:headEnd/>
            <a:tailEnd/>
          </a:ln>
          <a:effectLst/>
        </p:spPr>
        <p:txBody>
          <a:bodyPr wrap="none">
            <a:spAutoFit/>
          </a:bodyPr>
          <a:lstStyle/>
          <a:p>
            <a:r>
              <a:rPr lang="en-US" sz="1200" b="1"/>
              <a:t>ABOUT US</a:t>
            </a:r>
          </a:p>
        </p:txBody>
      </p:sp>
      <p:sp>
        <p:nvSpPr>
          <p:cNvPr id="85004" name="Text Box 12"/>
          <p:cNvSpPr txBox="1">
            <a:spLocks noChangeArrowheads="1"/>
          </p:cNvSpPr>
          <p:nvPr/>
        </p:nvSpPr>
        <p:spPr bwMode="auto">
          <a:xfrm>
            <a:off x="241300" y="30163"/>
            <a:ext cx="2514600" cy="517525"/>
          </a:xfrm>
          <a:prstGeom prst="rect">
            <a:avLst/>
          </a:prstGeom>
          <a:noFill/>
          <a:ln w="9525">
            <a:noFill/>
            <a:miter lim="800000"/>
            <a:headEnd/>
            <a:tailEnd/>
          </a:ln>
          <a:effectLst/>
        </p:spPr>
        <p:txBody>
          <a:bodyPr wrap="none">
            <a:spAutoFit/>
          </a:bodyPr>
          <a:lstStyle/>
          <a:p>
            <a:pPr algn="ctr"/>
            <a:r>
              <a:rPr lang="en-US" sz="1400" b="1"/>
              <a:t>THE ARBOR</a:t>
            </a:r>
          </a:p>
          <a:p>
            <a:pPr algn="ctr"/>
            <a:r>
              <a:rPr lang="en-US" sz="1400" b="1"/>
              <a:t>CONSULTING GROUP, INC.</a:t>
            </a:r>
          </a:p>
        </p:txBody>
      </p:sp>
      <p:sp>
        <p:nvSpPr>
          <p:cNvPr id="85005" name="Text Box 13"/>
          <p:cNvSpPr txBox="1">
            <a:spLocks noChangeArrowheads="1"/>
          </p:cNvSpPr>
          <p:nvPr/>
        </p:nvSpPr>
        <p:spPr bwMode="auto">
          <a:xfrm>
            <a:off x="758825" y="2514600"/>
            <a:ext cx="1481138" cy="274638"/>
          </a:xfrm>
          <a:prstGeom prst="rect">
            <a:avLst/>
          </a:prstGeom>
          <a:noFill/>
          <a:ln w="9525">
            <a:noFill/>
            <a:miter lim="800000"/>
            <a:headEnd/>
            <a:tailEnd/>
          </a:ln>
          <a:effectLst/>
        </p:spPr>
        <p:txBody>
          <a:bodyPr wrap="none">
            <a:spAutoFit/>
          </a:bodyPr>
          <a:lstStyle/>
          <a:p>
            <a:r>
              <a:rPr lang="en-US" sz="1200" b="1"/>
              <a:t>www.arborhr.com</a:t>
            </a:r>
          </a:p>
        </p:txBody>
      </p:sp>
      <p:sp>
        <p:nvSpPr>
          <p:cNvPr id="85006" name="Text Box 14"/>
          <p:cNvSpPr txBox="1">
            <a:spLocks noChangeArrowheads="1"/>
          </p:cNvSpPr>
          <p:nvPr/>
        </p:nvSpPr>
        <p:spPr bwMode="auto">
          <a:xfrm>
            <a:off x="228600" y="6553200"/>
            <a:ext cx="8915400" cy="244475"/>
          </a:xfrm>
          <a:prstGeom prst="rect">
            <a:avLst/>
          </a:prstGeom>
          <a:noFill/>
          <a:ln w="9525">
            <a:noFill/>
            <a:miter lim="800000"/>
            <a:headEnd/>
            <a:tailEnd/>
          </a:ln>
          <a:effectLst/>
        </p:spPr>
        <p:txBody>
          <a:bodyPr>
            <a:spAutoFit/>
          </a:bodyPr>
          <a:lstStyle/>
          <a:p>
            <a:r>
              <a:rPr lang="en-US" sz="1000" b="1"/>
              <a:t>186 E. Main Street, Suite 201, Northville, MI  48167           Phone:  (248) 349-9002               Fax:  (248) 349-9029             Web site:  www.arborhr.com</a:t>
            </a:r>
          </a:p>
        </p:txBody>
      </p:sp>
    </p:spTree>
    <p:custDataLst>
      <p:tags r:id="rId1"/>
    </p:custData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POWER3D TRANSITION" val="Diamond.p3d 2"/>
  <p:tag name="POWER3D OPTIONS" val="Fast "/>
  <p:tag name="POWER3D SOUND" val="Twirling Diamond"/>
</p:tagLst>
</file>

<file path=ppt/tags/tag2.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3.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4.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5.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6.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7.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8.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9.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10.xml><?xml version="1.0" encoding="utf-8"?>
<p:tagLst xmlns:a="http://schemas.openxmlformats.org/drawingml/2006/main" xmlns:r="http://schemas.openxmlformats.org/officeDocument/2006/relationships" xmlns:p="http://schemas.openxmlformats.org/presentationml/2006/main">
  <p:tag name="POWER3D TRANSITION" val="RasTiles.p3d 0"/>
  <p:tag name="POWER3D OPTIONS" val="Fast "/>
  <p:tag name="POWER3D SOUND" val="Reassembling Tiles"/>
</p:tagLst>
</file>

<file path=ppt/tags/tag11.xml><?xml version="1.0" encoding="utf-8"?>
<p:tagLst xmlns:a="http://schemas.openxmlformats.org/drawingml/2006/main" xmlns:r="http://schemas.openxmlformats.org/officeDocument/2006/relationships" xmlns:p="http://schemas.openxmlformats.org/presentationml/2006/main">
  <p:tag name="POWER3D TRANSITION" val="Shutup.p3d 3"/>
  <p:tag name="POWER3D OPTIONS" val="Fast "/>
  <p:tag name="POWER3D SOUND" val="Shut Up"/>
</p:tagLst>
</file>

<file path=ppt/tags/tag12.xml><?xml version="1.0" encoding="utf-8"?>
<p:tagLst xmlns:a="http://schemas.openxmlformats.org/drawingml/2006/main" xmlns:r="http://schemas.openxmlformats.org/officeDocument/2006/relationships" xmlns:p="http://schemas.openxmlformats.org/presentationml/2006/main">
  <p:tag name="POWER3D TRANSITION" val="Pwrpanel.p3d 4"/>
  <p:tag name="POWER3D OPTIONS" val="Fast "/>
  <p:tag name="POWER3D SOUND" val="Power Panels"/>
</p:tagLst>
</file>

<file path=ppt/tags/tag13.xml><?xml version="1.0" encoding="utf-8"?>
<p:tagLst xmlns:a="http://schemas.openxmlformats.org/drawingml/2006/main" xmlns:r="http://schemas.openxmlformats.org/officeDocument/2006/relationships" xmlns:p="http://schemas.openxmlformats.org/presentationml/2006/main">
  <p:tag name="POWER3D TRANSITION" val="Shutup.p3d 2"/>
  <p:tag name="POWER3D OPTIONS" val="Fast "/>
  <p:tag name="POWER3D SOUND" val="Shut Up"/>
</p:tagLst>
</file>

<file path=ppt/tags/tag14.xml><?xml version="1.0" encoding="utf-8"?>
<p:tagLst xmlns:a="http://schemas.openxmlformats.org/drawingml/2006/main" xmlns:r="http://schemas.openxmlformats.org/officeDocument/2006/relationships" xmlns:p="http://schemas.openxmlformats.org/presentationml/2006/main">
  <p:tag name="POWER3D TRANSITION" val="Tsquares.p3d 2"/>
  <p:tag name="POWER3D OPTIONS" val="Fast "/>
  <p:tag name="POWER3D SOUND" val="Twirling Squares"/>
</p:tagLst>
</file>

<file path=ppt/tags/tag15.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16.xml><?xml version="1.0" encoding="utf-8"?>
<p:tagLst xmlns:a="http://schemas.openxmlformats.org/drawingml/2006/main" xmlns:r="http://schemas.openxmlformats.org/officeDocument/2006/relationships" xmlns:p="http://schemas.openxmlformats.org/presentationml/2006/main">
  <p:tag name="POWER3D TRANSITION" val="Tsquares.p3d 0"/>
  <p:tag name="POWER3D OPTIONS" val="Fast "/>
  <p:tag name="POWER3D SOUND" val="Twirling Squares"/>
</p:tagLst>
</file>

<file path=ppt/tags/tag17.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18.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19.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20.xml><?xml version="1.0" encoding="utf-8"?>
<p:tagLst xmlns:a="http://schemas.openxmlformats.org/drawingml/2006/main" xmlns:r="http://schemas.openxmlformats.org/officeDocument/2006/relationships" xmlns:p="http://schemas.openxmlformats.org/presentationml/2006/main">
  <p:tag name="POWER3D TRANSITION" val="Falplace.p3d 7"/>
  <p:tag name="POWER3D OPTIONS" val="Fast "/>
  <p:tag name="POWER3D SOUND" val="Fall In Place"/>
</p:tagLst>
</file>

<file path=ppt/tags/tag21.xml><?xml version="1.0" encoding="utf-8"?>
<p:tagLst xmlns:a="http://schemas.openxmlformats.org/drawingml/2006/main" xmlns:r="http://schemas.openxmlformats.org/officeDocument/2006/relationships" xmlns:p="http://schemas.openxmlformats.org/presentationml/2006/main">
  <p:tag name="POWER3D TRANSITION" val="CrPanels.p3d 1"/>
  <p:tag name="POWER3D OPTIONS" val="Fast "/>
  <p:tag name="POWER3D SOUND" val="Counterrotating Panels"/>
</p:tagLst>
</file>

<file path=ppt/tags/tag22.xml><?xml version="1.0" encoding="utf-8"?>
<p:tagLst xmlns:a="http://schemas.openxmlformats.org/drawingml/2006/main" xmlns:r="http://schemas.openxmlformats.org/officeDocument/2006/relationships" xmlns:p="http://schemas.openxmlformats.org/presentationml/2006/main">
  <p:tag name="POWER3D TRANSITION" val="Fallout.p3d 0"/>
  <p:tag name="POWER3D OPTIONS" val="Fast "/>
  <p:tag name="POWER3D SOUND" val="Fall Out"/>
</p:tagLst>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Settings\temerson.FLINTINK\Application Data\Microsoft\Templates\PowerPlugs\PowerPlugs BGs 2 P05.pot</Template>
  <TotalTime>2852</TotalTime>
  <Words>1132</Words>
  <Application>Microsoft Office PowerPoint</Application>
  <PresentationFormat>On-screen Show (4:3)</PresentationFormat>
  <Paragraphs>298</Paragraphs>
  <Slides>22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Times New Roman</vt:lpstr>
      <vt:lpstr>Arial</vt:lpstr>
      <vt:lpstr>Wingdings</vt:lpstr>
      <vt:lpstr>Default Design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The Arbor Consulting Group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JEFF</cp:lastModifiedBy>
  <cp:revision>127</cp:revision>
  <dcterms:created xsi:type="dcterms:W3CDTF">2002-03-06T18:54:03Z</dcterms:created>
  <dcterms:modified xsi:type="dcterms:W3CDTF">2010-01-21T21:57:54Z</dcterms:modified>
</cp:coreProperties>
</file>